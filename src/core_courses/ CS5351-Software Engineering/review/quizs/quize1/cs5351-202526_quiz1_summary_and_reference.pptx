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Override2.xml" ContentType="application/vnd.openxmlformats-officedocument.themeOverrid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62"/>
  </p:notesMasterIdLst>
  <p:sldIdLst>
    <p:sldId id="384" r:id="rId2"/>
    <p:sldId id="432" r:id="rId3"/>
    <p:sldId id="428" r:id="rId4"/>
    <p:sldId id="464" r:id="rId5"/>
    <p:sldId id="468" r:id="rId6"/>
    <p:sldId id="469" r:id="rId7"/>
    <p:sldId id="470" r:id="rId8"/>
    <p:sldId id="472" r:id="rId9"/>
    <p:sldId id="473" r:id="rId10"/>
    <p:sldId id="474" r:id="rId11"/>
    <p:sldId id="475" r:id="rId12"/>
    <p:sldId id="490" r:id="rId13"/>
    <p:sldId id="491" r:id="rId14"/>
    <p:sldId id="492" r:id="rId15"/>
    <p:sldId id="493" r:id="rId16"/>
    <p:sldId id="494" r:id="rId17"/>
    <p:sldId id="499" r:id="rId18"/>
    <p:sldId id="500" r:id="rId19"/>
    <p:sldId id="501" r:id="rId20"/>
    <p:sldId id="477" r:id="rId21"/>
    <p:sldId id="478" r:id="rId22"/>
    <p:sldId id="479" r:id="rId23"/>
    <p:sldId id="480" r:id="rId24"/>
    <p:sldId id="451" r:id="rId25"/>
    <p:sldId id="482" r:id="rId26"/>
    <p:sldId id="483" r:id="rId27"/>
    <p:sldId id="485" r:id="rId28"/>
    <p:sldId id="481" r:id="rId29"/>
    <p:sldId id="486" r:id="rId30"/>
    <p:sldId id="421" r:id="rId31"/>
    <p:sldId id="423" r:id="rId32"/>
    <p:sldId id="437" r:id="rId33"/>
    <p:sldId id="488" r:id="rId34"/>
    <p:sldId id="455" r:id="rId35"/>
    <p:sldId id="489" r:id="rId36"/>
    <p:sldId id="434" r:id="rId37"/>
    <p:sldId id="435" r:id="rId38"/>
    <p:sldId id="438" r:id="rId39"/>
    <p:sldId id="441" r:id="rId40"/>
    <p:sldId id="496" r:id="rId41"/>
    <p:sldId id="442" r:id="rId42"/>
    <p:sldId id="444" r:id="rId43"/>
    <p:sldId id="445" r:id="rId44"/>
    <p:sldId id="446" r:id="rId45"/>
    <p:sldId id="447" r:id="rId46"/>
    <p:sldId id="448" r:id="rId47"/>
    <p:sldId id="449" r:id="rId48"/>
    <p:sldId id="450" r:id="rId49"/>
    <p:sldId id="495" r:id="rId50"/>
    <p:sldId id="497" r:id="rId51"/>
    <p:sldId id="456" r:id="rId52"/>
    <p:sldId id="458" r:id="rId53"/>
    <p:sldId id="498" r:id="rId54"/>
    <p:sldId id="457" r:id="rId55"/>
    <p:sldId id="459" r:id="rId56"/>
    <p:sldId id="460" r:id="rId57"/>
    <p:sldId id="461" r:id="rId58"/>
    <p:sldId id="476" r:id="rId59"/>
    <p:sldId id="462" r:id="rId60"/>
    <p:sldId id="463"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B0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AE3A16-5A21-DAD0-2FBC-2C35DBF95B5E}" v="207" dt="2025-11-24T03:58:28.580"/>
    <p1510:client id="{C1A89CBF-2A6F-4F45-B9FC-25485DC0BBF2}" v="3" dt="2025-11-23T14:41:09.5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3" Type="http://schemas.openxmlformats.org/officeDocument/2006/relationships/oleObject" Target="https://portland-my.sharepoint.com/personal/qlzhou4-c_my_cityu_edu_hk/Documents/2025-11-11_Quiz1_summary.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HK" sz="3600"/>
              <a:t>Distribution</a:t>
            </a:r>
            <a:endParaRPr lang="en-HK"/>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HK"/>
        </a:p>
      </c:txPr>
    </c:title>
    <c:autoTitleDeleted val="0"/>
    <c:plotArea>
      <c:layout/>
      <c:barChart>
        <c:barDir val="col"/>
        <c:grouping val="clustered"/>
        <c:varyColors val="0"/>
        <c:ser>
          <c:idx val="0"/>
          <c:order val="0"/>
          <c:spPr>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'2025-11-11_Quiz1_summary'!$H$6:$H$14</c:f>
              <c:strCache>
                <c:ptCount val="9"/>
                <c:pt idx="0">
                  <c:v>A+</c:v>
                </c:pt>
                <c:pt idx="1">
                  <c:v>A</c:v>
                </c:pt>
                <c:pt idx="2">
                  <c:v>A-</c:v>
                </c:pt>
                <c:pt idx="3">
                  <c:v>B+</c:v>
                </c:pt>
                <c:pt idx="4">
                  <c:v>B</c:v>
                </c:pt>
                <c:pt idx="5">
                  <c:v>B-</c:v>
                </c:pt>
                <c:pt idx="6">
                  <c:v>C+</c:v>
                </c:pt>
                <c:pt idx="7">
                  <c:v>C</c:v>
                </c:pt>
                <c:pt idx="8">
                  <c:v>F</c:v>
                </c:pt>
              </c:strCache>
            </c:strRef>
          </c:cat>
          <c:val>
            <c:numRef>
              <c:f>'2025-11-11_Quiz1_summary'!$J$6:$J$14</c:f>
              <c:numCache>
                <c:formatCode>General</c:formatCode>
                <c:ptCount val="9"/>
                <c:pt idx="0">
                  <c:v>2</c:v>
                </c:pt>
                <c:pt idx="1">
                  <c:v>0</c:v>
                </c:pt>
                <c:pt idx="2">
                  <c:v>8</c:v>
                </c:pt>
                <c:pt idx="3">
                  <c:v>11</c:v>
                </c:pt>
                <c:pt idx="4">
                  <c:v>13</c:v>
                </c:pt>
                <c:pt idx="5">
                  <c:v>23</c:v>
                </c:pt>
                <c:pt idx="6">
                  <c:v>74</c:v>
                </c:pt>
                <c:pt idx="7">
                  <c:v>40</c:v>
                </c:pt>
                <c:pt idx="8">
                  <c:v>16</c:v>
                </c:pt>
              </c:numCache>
            </c:numRef>
          </c:val>
          <c:extLst>
            <c:ext xmlns:c16="http://schemas.microsoft.com/office/drawing/2014/chart" uri="{C3380CC4-5D6E-409C-BE32-E72D297353CC}">
              <c16:uniqueId val="{00000000-9F4B-4426-90B6-C36E66CF1946}"/>
            </c:ext>
          </c:extLst>
        </c:ser>
        <c:dLbls>
          <c:showLegendKey val="0"/>
          <c:showVal val="0"/>
          <c:showCatName val="0"/>
          <c:showSerName val="0"/>
          <c:showPercent val="0"/>
          <c:showBubbleSize val="0"/>
        </c:dLbls>
        <c:gapWidth val="100"/>
        <c:overlap val="-24"/>
        <c:axId val="1197913711"/>
        <c:axId val="1197903311"/>
      </c:barChart>
      <c:catAx>
        <c:axId val="1197913711"/>
        <c:scaling>
          <c:orientation val="minMax"/>
        </c:scaling>
        <c:delete val="1"/>
        <c:axPos val="b"/>
        <c:title>
          <c:tx>
            <c:rich>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HK" sz="2400"/>
                  <a:t>Bins</a:t>
                </a:r>
              </a:p>
            </c:rich>
          </c:tx>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crossAx val="1197903311"/>
        <c:crosses val="autoZero"/>
        <c:auto val="1"/>
        <c:lblAlgn val="ctr"/>
        <c:lblOffset val="100"/>
        <c:noMultiLvlLbl val="0"/>
      </c:catAx>
      <c:valAx>
        <c:axId val="119790331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HK" sz="3600"/>
                  <a:t>Frequency</a:t>
                </a:r>
              </a:p>
            </c:rich>
          </c:tx>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zh-CN"/>
          </a:p>
        </c:txPr>
        <c:crossAx val="119791371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8BB7C6-06CC-4210-8F09-19ACEBF2B0CA}" type="datetimeFigureOut">
              <a:rPr lang="en-HK" smtClean="0"/>
              <a:t>23/11/2025</a:t>
            </a:fld>
            <a:endParaRPr lang="en-H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H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097B1C-60C7-45D1-AA95-42ECB37D1A11}" type="slidenum">
              <a:rPr lang="en-HK" smtClean="0"/>
              <a:t>‹#›</a:t>
            </a:fld>
            <a:endParaRPr lang="en-HK"/>
          </a:p>
        </p:txBody>
      </p:sp>
    </p:spTree>
    <p:extLst>
      <p:ext uri="{BB962C8B-B14F-4D97-AF65-F5344CB8AC3E}">
        <p14:creationId xmlns:p14="http://schemas.microsoft.com/office/powerpoint/2010/main" val="2019472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41375">
              <a:defRPr sz="2800">
                <a:solidFill>
                  <a:schemeClr val="tx1"/>
                </a:solidFill>
                <a:latin typeface="Times New Roman" pitchFamily="18" charset="0"/>
              </a:defRPr>
            </a:lvl1pPr>
            <a:lvl2pPr marL="742950" indent="-285750" defTabSz="841375">
              <a:defRPr sz="2800">
                <a:solidFill>
                  <a:schemeClr val="tx1"/>
                </a:solidFill>
                <a:latin typeface="Times New Roman" pitchFamily="18" charset="0"/>
              </a:defRPr>
            </a:lvl2pPr>
            <a:lvl3pPr marL="1143000" indent="-228600" defTabSz="841375">
              <a:defRPr sz="2800">
                <a:solidFill>
                  <a:schemeClr val="tx1"/>
                </a:solidFill>
                <a:latin typeface="Times New Roman" pitchFamily="18" charset="0"/>
              </a:defRPr>
            </a:lvl3pPr>
            <a:lvl4pPr marL="1600200" indent="-228600" defTabSz="841375">
              <a:defRPr sz="2800">
                <a:solidFill>
                  <a:schemeClr val="tx1"/>
                </a:solidFill>
                <a:latin typeface="Times New Roman" pitchFamily="18" charset="0"/>
              </a:defRPr>
            </a:lvl4pPr>
            <a:lvl5pPr marL="2057400" indent="-228600" defTabSz="841375">
              <a:defRPr sz="2800">
                <a:solidFill>
                  <a:schemeClr val="tx1"/>
                </a:solidFill>
                <a:latin typeface="Times New Roman" pitchFamily="18" charset="0"/>
              </a:defRPr>
            </a:lvl5pPr>
            <a:lvl6pPr marL="2514600" indent="-228600" defTabSz="841375" eaLnBrk="0" fontAlgn="base" hangingPunct="0">
              <a:spcBef>
                <a:spcPct val="0"/>
              </a:spcBef>
              <a:spcAft>
                <a:spcPct val="0"/>
              </a:spcAft>
              <a:defRPr sz="2800">
                <a:solidFill>
                  <a:schemeClr val="tx1"/>
                </a:solidFill>
                <a:latin typeface="Times New Roman" pitchFamily="18" charset="0"/>
              </a:defRPr>
            </a:lvl6pPr>
            <a:lvl7pPr marL="2971800" indent="-228600" defTabSz="841375" eaLnBrk="0" fontAlgn="base" hangingPunct="0">
              <a:spcBef>
                <a:spcPct val="0"/>
              </a:spcBef>
              <a:spcAft>
                <a:spcPct val="0"/>
              </a:spcAft>
              <a:defRPr sz="2800">
                <a:solidFill>
                  <a:schemeClr val="tx1"/>
                </a:solidFill>
                <a:latin typeface="Times New Roman" pitchFamily="18" charset="0"/>
              </a:defRPr>
            </a:lvl7pPr>
            <a:lvl8pPr marL="3429000" indent="-228600" defTabSz="841375" eaLnBrk="0" fontAlgn="base" hangingPunct="0">
              <a:spcBef>
                <a:spcPct val="0"/>
              </a:spcBef>
              <a:spcAft>
                <a:spcPct val="0"/>
              </a:spcAft>
              <a:defRPr sz="2800">
                <a:solidFill>
                  <a:schemeClr val="tx1"/>
                </a:solidFill>
                <a:latin typeface="Times New Roman" pitchFamily="18" charset="0"/>
              </a:defRPr>
            </a:lvl8pPr>
            <a:lvl9pPr marL="3886200" indent="-228600" defTabSz="841375" eaLnBrk="0" fontAlgn="base" hangingPunct="0">
              <a:spcBef>
                <a:spcPct val="0"/>
              </a:spcBef>
              <a:spcAft>
                <a:spcPct val="0"/>
              </a:spcAft>
              <a:defRPr sz="2800">
                <a:solidFill>
                  <a:schemeClr val="tx1"/>
                </a:solidFill>
                <a:latin typeface="Times New Roman" pitchFamily="18" charset="0"/>
              </a:defRPr>
            </a:lvl9pPr>
          </a:lstStyle>
          <a:p>
            <a:pPr marL="0" marR="0" lvl="0" indent="0" algn="l" defTabSz="841375" rtl="0" eaLnBrk="0" fontAlgn="base" latinLnBrk="0" hangingPunct="0">
              <a:lnSpc>
                <a:spcPct val="100000"/>
              </a:lnSpc>
              <a:spcBef>
                <a:spcPct val="0"/>
              </a:spcBef>
              <a:spcAft>
                <a:spcPct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Times New Roman" pitchFamily="18" charset="0"/>
                <a:ea typeface="+mn-ea"/>
                <a:cs typeface="+mn-cs"/>
              </a:rPr>
              <a:t>Software Design</a:t>
            </a:r>
          </a:p>
        </p:txBody>
      </p:sp>
      <p:sp>
        <p:nvSpPr>
          <p:cNvPr id="1331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41375">
              <a:defRPr sz="2800">
                <a:solidFill>
                  <a:schemeClr val="tx1"/>
                </a:solidFill>
                <a:latin typeface="Times New Roman" pitchFamily="18" charset="0"/>
              </a:defRPr>
            </a:lvl1pPr>
            <a:lvl2pPr marL="742950" indent="-285750" defTabSz="841375">
              <a:defRPr sz="2800">
                <a:solidFill>
                  <a:schemeClr val="tx1"/>
                </a:solidFill>
                <a:latin typeface="Times New Roman" pitchFamily="18" charset="0"/>
              </a:defRPr>
            </a:lvl2pPr>
            <a:lvl3pPr marL="1143000" indent="-228600" defTabSz="841375">
              <a:defRPr sz="2800">
                <a:solidFill>
                  <a:schemeClr val="tx1"/>
                </a:solidFill>
                <a:latin typeface="Times New Roman" pitchFamily="18" charset="0"/>
              </a:defRPr>
            </a:lvl3pPr>
            <a:lvl4pPr marL="1600200" indent="-228600" defTabSz="841375">
              <a:defRPr sz="2800">
                <a:solidFill>
                  <a:schemeClr val="tx1"/>
                </a:solidFill>
                <a:latin typeface="Times New Roman" pitchFamily="18" charset="0"/>
              </a:defRPr>
            </a:lvl4pPr>
            <a:lvl5pPr marL="2057400" indent="-228600" defTabSz="841375">
              <a:defRPr sz="2800">
                <a:solidFill>
                  <a:schemeClr val="tx1"/>
                </a:solidFill>
                <a:latin typeface="Times New Roman" pitchFamily="18" charset="0"/>
              </a:defRPr>
            </a:lvl5pPr>
            <a:lvl6pPr marL="2514600" indent="-228600" defTabSz="841375" eaLnBrk="0" fontAlgn="base" hangingPunct="0">
              <a:spcBef>
                <a:spcPct val="0"/>
              </a:spcBef>
              <a:spcAft>
                <a:spcPct val="0"/>
              </a:spcAft>
              <a:defRPr sz="2800">
                <a:solidFill>
                  <a:schemeClr val="tx1"/>
                </a:solidFill>
                <a:latin typeface="Times New Roman" pitchFamily="18" charset="0"/>
              </a:defRPr>
            </a:lvl6pPr>
            <a:lvl7pPr marL="2971800" indent="-228600" defTabSz="841375" eaLnBrk="0" fontAlgn="base" hangingPunct="0">
              <a:spcBef>
                <a:spcPct val="0"/>
              </a:spcBef>
              <a:spcAft>
                <a:spcPct val="0"/>
              </a:spcAft>
              <a:defRPr sz="2800">
                <a:solidFill>
                  <a:schemeClr val="tx1"/>
                </a:solidFill>
                <a:latin typeface="Times New Roman" pitchFamily="18" charset="0"/>
              </a:defRPr>
            </a:lvl7pPr>
            <a:lvl8pPr marL="3429000" indent="-228600" defTabSz="841375" eaLnBrk="0" fontAlgn="base" hangingPunct="0">
              <a:spcBef>
                <a:spcPct val="0"/>
              </a:spcBef>
              <a:spcAft>
                <a:spcPct val="0"/>
              </a:spcAft>
              <a:defRPr sz="2800">
                <a:solidFill>
                  <a:schemeClr val="tx1"/>
                </a:solidFill>
                <a:latin typeface="Times New Roman" pitchFamily="18" charset="0"/>
              </a:defRPr>
            </a:lvl8pPr>
            <a:lvl9pPr marL="3886200" indent="-228600" defTabSz="841375" eaLnBrk="0" fontAlgn="base" hangingPunct="0">
              <a:spcBef>
                <a:spcPct val="0"/>
              </a:spcBef>
              <a:spcAft>
                <a:spcPct val="0"/>
              </a:spcAft>
              <a:defRPr sz="2800">
                <a:solidFill>
                  <a:schemeClr val="tx1"/>
                </a:solidFill>
                <a:latin typeface="Times New Roman" pitchFamily="18" charset="0"/>
              </a:defRPr>
            </a:lvl9pPr>
          </a:lstStyle>
          <a:p>
            <a:pPr marL="0" marR="0" lvl="0" indent="0" algn="r" defTabSz="841375" rtl="0" eaLnBrk="0" fontAlgn="base" latinLnBrk="0" hangingPunct="0">
              <a:lnSpc>
                <a:spcPct val="100000"/>
              </a:lnSpc>
              <a:spcBef>
                <a:spcPct val="0"/>
              </a:spcBef>
              <a:spcAft>
                <a:spcPct val="0"/>
              </a:spcAft>
              <a:buClrTx/>
              <a:buSzTx/>
              <a:buFontTx/>
              <a:buNone/>
              <a:tabLst/>
              <a:defRPr/>
            </a:pPr>
            <a:fld id="{9230C636-ECB8-47BE-92DE-F91BE5C0FACE}" type="slidenum">
              <a:rPr kumimoji="0" lang="en-US" sz="1000" b="0" i="1"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841375" rtl="0" eaLnBrk="0" fontAlgn="base" latinLnBrk="0" hangingPunct="0">
                <a:lnSpc>
                  <a:spcPct val="100000"/>
                </a:lnSpc>
                <a:spcBef>
                  <a:spcPct val="0"/>
                </a:spcBef>
                <a:spcAft>
                  <a:spcPct val="0"/>
                </a:spcAft>
                <a:buClrTx/>
                <a:buSzTx/>
                <a:buFontTx/>
                <a:buNone/>
                <a:tabLst/>
                <a:defRPr/>
              </a:pPr>
              <a:t>1</a:t>
            </a:fld>
            <a:endParaRPr kumimoji="0" lang="en-US" sz="10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284031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2097B1C-60C7-45D1-AA95-42ECB37D1A11}" type="slidenum">
              <a:rPr lang="en-HK" smtClean="0"/>
              <a:t>4</a:t>
            </a:fld>
            <a:endParaRPr lang="en-HK"/>
          </a:p>
        </p:txBody>
      </p:sp>
    </p:spTree>
    <p:extLst>
      <p:ext uri="{BB962C8B-B14F-4D97-AF65-F5344CB8AC3E}">
        <p14:creationId xmlns:p14="http://schemas.microsoft.com/office/powerpoint/2010/main" val="3250074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0D222-176C-21F3-D7B4-817C0ED90A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4829C7-D31A-E5CA-7A58-99D3C1845F7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1D65E8-7FC4-6DAB-CEF0-D003A70593E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17D591E-0C1C-4F85-B9FF-FE334873F4A6}"/>
              </a:ext>
            </a:extLst>
          </p:cNvPr>
          <p:cNvSpPr>
            <a:spLocks noGrp="1"/>
          </p:cNvSpPr>
          <p:nvPr>
            <p:ph type="sldNum" sz="quarter" idx="5"/>
          </p:nvPr>
        </p:nvSpPr>
        <p:spPr/>
        <p:txBody>
          <a:bodyPr/>
          <a:lstStyle/>
          <a:p>
            <a:fld id="{32097B1C-60C7-45D1-AA95-42ECB37D1A11}" type="slidenum">
              <a:rPr lang="en-HK" smtClean="0"/>
              <a:t>5</a:t>
            </a:fld>
            <a:endParaRPr lang="en-HK"/>
          </a:p>
        </p:txBody>
      </p:sp>
    </p:spTree>
    <p:extLst>
      <p:ext uri="{BB962C8B-B14F-4D97-AF65-F5344CB8AC3E}">
        <p14:creationId xmlns:p14="http://schemas.microsoft.com/office/powerpoint/2010/main" val="172471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82FC-366F-63EF-8A4B-27F5CFE203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9D55A7-27DD-9FFC-D0D8-8CD57A6EAA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CF721A-F676-35D0-5013-EC774CF8570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AC89CB4-098C-38ED-D271-D2BEB0AEB335}"/>
              </a:ext>
            </a:extLst>
          </p:cNvPr>
          <p:cNvSpPr>
            <a:spLocks noGrp="1"/>
          </p:cNvSpPr>
          <p:nvPr>
            <p:ph type="sldNum" sz="quarter" idx="5"/>
          </p:nvPr>
        </p:nvSpPr>
        <p:spPr/>
        <p:txBody>
          <a:bodyPr/>
          <a:lstStyle/>
          <a:p>
            <a:fld id="{32097B1C-60C7-45D1-AA95-42ECB37D1A11}" type="slidenum">
              <a:rPr lang="en-HK" smtClean="0"/>
              <a:t>6</a:t>
            </a:fld>
            <a:endParaRPr lang="en-HK"/>
          </a:p>
        </p:txBody>
      </p:sp>
    </p:spTree>
    <p:extLst>
      <p:ext uri="{BB962C8B-B14F-4D97-AF65-F5344CB8AC3E}">
        <p14:creationId xmlns:p14="http://schemas.microsoft.com/office/powerpoint/2010/main" val="2697031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9F200-B517-941A-EB13-4924CEA66F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A56DBE-C99F-5F2E-9645-1B840BDE43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4084EE-75C4-4370-35ED-63EBD5CC889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88E1107-B898-C060-310A-8029CB6A7071}"/>
              </a:ext>
            </a:extLst>
          </p:cNvPr>
          <p:cNvSpPr>
            <a:spLocks noGrp="1"/>
          </p:cNvSpPr>
          <p:nvPr>
            <p:ph type="sldNum" sz="quarter" idx="5"/>
          </p:nvPr>
        </p:nvSpPr>
        <p:spPr/>
        <p:txBody>
          <a:bodyPr/>
          <a:lstStyle/>
          <a:p>
            <a:fld id="{32097B1C-60C7-45D1-AA95-42ECB37D1A11}" type="slidenum">
              <a:rPr lang="en-HK" smtClean="0"/>
              <a:t>7</a:t>
            </a:fld>
            <a:endParaRPr lang="en-HK"/>
          </a:p>
        </p:txBody>
      </p:sp>
    </p:spTree>
    <p:extLst>
      <p:ext uri="{BB962C8B-B14F-4D97-AF65-F5344CB8AC3E}">
        <p14:creationId xmlns:p14="http://schemas.microsoft.com/office/powerpoint/2010/main" val="1871163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FD9E9-C58D-BC24-0BE8-1CAA8F8072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6AF32E-C689-9027-74A6-B05A3D2691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4EFCD3-7859-7430-3559-B4E861CD602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8901646-8764-FD4C-BBDA-5977709A864C}"/>
              </a:ext>
            </a:extLst>
          </p:cNvPr>
          <p:cNvSpPr>
            <a:spLocks noGrp="1"/>
          </p:cNvSpPr>
          <p:nvPr>
            <p:ph type="sldNum" sz="quarter" idx="5"/>
          </p:nvPr>
        </p:nvSpPr>
        <p:spPr/>
        <p:txBody>
          <a:bodyPr/>
          <a:lstStyle/>
          <a:p>
            <a:fld id="{32097B1C-60C7-45D1-AA95-42ECB37D1A11}" type="slidenum">
              <a:rPr lang="en-HK" smtClean="0"/>
              <a:t>8</a:t>
            </a:fld>
            <a:endParaRPr lang="en-HK"/>
          </a:p>
        </p:txBody>
      </p:sp>
    </p:spTree>
    <p:extLst>
      <p:ext uri="{BB962C8B-B14F-4D97-AF65-F5344CB8AC3E}">
        <p14:creationId xmlns:p14="http://schemas.microsoft.com/office/powerpoint/2010/main" val="3412840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EEC04-AB93-7996-1BD5-EA641DE970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B7B113-9B91-FC5C-A58E-FDD62E47DE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651533-D0E6-7EC9-7C0E-F591AE0F55B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BFD6321-C05D-97E9-9649-E2B2F2953594}"/>
              </a:ext>
            </a:extLst>
          </p:cNvPr>
          <p:cNvSpPr>
            <a:spLocks noGrp="1"/>
          </p:cNvSpPr>
          <p:nvPr>
            <p:ph type="sldNum" sz="quarter" idx="5"/>
          </p:nvPr>
        </p:nvSpPr>
        <p:spPr/>
        <p:txBody>
          <a:bodyPr/>
          <a:lstStyle/>
          <a:p>
            <a:fld id="{32097B1C-60C7-45D1-AA95-42ECB37D1A11}" type="slidenum">
              <a:rPr lang="en-HK" smtClean="0"/>
              <a:t>9</a:t>
            </a:fld>
            <a:endParaRPr lang="en-HK"/>
          </a:p>
        </p:txBody>
      </p:sp>
    </p:spTree>
    <p:extLst>
      <p:ext uri="{BB962C8B-B14F-4D97-AF65-F5344CB8AC3E}">
        <p14:creationId xmlns:p14="http://schemas.microsoft.com/office/powerpoint/2010/main" val="2277386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46A0D-3925-E743-3201-93AADAAFB4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541E42-3A08-1BA9-A8C9-CFD377C018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770288-799B-D0C5-DD51-CB101EC47ED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0FD4CE1-D4E9-071A-D22E-846EFB358884}"/>
              </a:ext>
            </a:extLst>
          </p:cNvPr>
          <p:cNvSpPr>
            <a:spLocks noGrp="1"/>
          </p:cNvSpPr>
          <p:nvPr>
            <p:ph type="sldNum" sz="quarter" idx="5"/>
          </p:nvPr>
        </p:nvSpPr>
        <p:spPr/>
        <p:txBody>
          <a:bodyPr/>
          <a:lstStyle/>
          <a:p>
            <a:fld id="{32097B1C-60C7-45D1-AA95-42ECB37D1A11}" type="slidenum">
              <a:rPr lang="en-HK" smtClean="0"/>
              <a:t>10</a:t>
            </a:fld>
            <a:endParaRPr lang="en-HK"/>
          </a:p>
        </p:txBody>
      </p:sp>
    </p:spTree>
    <p:extLst>
      <p:ext uri="{BB962C8B-B14F-4D97-AF65-F5344CB8AC3E}">
        <p14:creationId xmlns:p14="http://schemas.microsoft.com/office/powerpoint/2010/main" val="3424689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81CE8-E016-033A-78F8-825A395971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147A21-287D-8CCC-F37E-2E7FF19659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BF0AD8-81BA-39EF-8507-694E2B9E8E8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D638B47-4977-D6DA-5CEF-8A25C2827219}"/>
              </a:ext>
            </a:extLst>
          </p:cNvPr>
          <p:cNvSpPr>
            <a:spLocks noGrp="1"/>
          </p:cNvSpPr>
          <p:nvPr>
            <p:ph type="sldNum" sz="quarter" idx="5"/>
          </p:nvPr>
        </p:nvSpPr>
        <p:spPr/>
        <p:txBody>
          <a:bodyPr/>
          <a:lstStyle/>
          <a:p>
            <a:fld id="{32097B1C-60C7-45D1-AA95-42ECB37D1A11}" type="slidenum">
              <a:rPr lang="en-HK" smtClean="0"/>
              <a:t>11</a:t>
            </a:fld>
            <a:endParaRPr lang="en-HK"/>
          </a:p>
        </p:txBody>
      </p:sp>
    </p:spTree>
    <p:extLst>
      <p:ext uri="{BB962C8B-B14F-4D97-AF65-F5344CB8AC3E}">
        <p14:creationId xmlns:p14="http://schemas.microsoft.com/office/powerpoint/2010/main" val="2485906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6BE65-7A2A-C56B-6007-7F39DEE0436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4EB7A6-9B3E-5025-E3CD-DC97E83A83A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0C741A-92FF-54AF-B544-183CCDDB3B9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BB74908-152A-7A97-199B-3B16685B4D73}"/>
              </a:ext>
            </a:extLst>
          </p:cNvPr>
          <p:cNvSpPr>
            <a:spLocks noGrp="1"/>
          </p:cNvSpPr>
          <p:nvPr>
            <p:ph type="sldNum" sz="quarter" idx="5"/>
          </p:nvPr>
        </p:nvSpPr>
        <p:spPr/>
        <p:txBody>
          <a:bodyPr/>
          <a:lstStyle/>
          <a:p>
            <a:fld id="{32097B1C-60C7-45D1-AA95-42ECB37D1A11}" type="slidenum">
              <a:rPr lang="en-HK" smtClean="0"/>
              <a:t>12</a:t>
            </a:fld>
            <a:endParaRPr lang="en-HK"/>
          </a:p>
        </p:txBody>
      </p:sp>
    </p:spTree>
    <p:extLst>
      <p:ext uri="{BB962C8B-B14F-4D97-AF65-F5344CB8AC3E}">
        <p14:creationId xmlns:p14="http://schemas.microsoft.com/office/powerpoint/2010/main" val="238111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15B5D-008B-1304-F67D-63E5D7BDDA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CFF093-52EE-5F0D-31E8-D19C534651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4E140FC-40DE-1AB8-70F7-A2D24D851FC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887055E-313C-DF74-8EB2-4295D40AE230}"/>
              </a:ext>
            </a:extLst>
          </p:cNvPr>
          <p:cNvSpPr>
            <a:spLocks noGrp="1"/>
          </p:cNvSpPr>
          <p:nvPr>
            <p:ph type="sldNum" sz="quarter" idx="5"/>
          </p:nvPr>
        </p:nvSpPr>
        <p:spPr/>
        <p:txBody>
          <a:bodyPr/>
          <a:lstStyle/>
          <a:p>
            <a:fld id="{32097B1C-60C7-45D1-AA95-42ECB37D1A11}" type="slidenum">
              <a:rPr lang="en-HK" smtClean="0"/>
              <a:t>13</a:t>
            </a:fld>
            <a:endParaRPr lang="en-HK"/>
          </a:p>
        </p:txBody>
      </p:sp>
    </p:spTree>
    <p:extLst>
      <p:ext uri="{BB962C8B-B14F-4D97-AF65-F5344CB8AC3E}">
        <p14:creationId xmlns:p14="http://schemas.microsoft.com/office/powerpoint/2010/main" val="2318657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ABED1-4E4C-0D8B-E52F-0BDF476A060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2EE708-47CC-FBB4-D807-F0E2AC7674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DDAABE-75D7-70D6-B223-F5BD402364A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DE81010-56FD-93E0-3C56-D18756303630}"/>
              </a:ext>
            </a:extLst>
          </p:cNvPr>
          <p:cNvSpPr>
            <a:spLocks noGrp="1"/>
          </p:cNvSpPr>
          <p:nvPr>
            <p:ph type="sldNum" sz="quarter" idx="5"/>
          </p:nvPr>
        </p:nvSpPr>
        <p:spPr/>
        <p:txBody>
          <a:bodyPr/>
          <a:lstStyle/>
          <a:p>
            <a:fld id="{32097B1C-60C7-45D1-AA95-42ECB37D1A11}" type="slidenum">
              <a:rPr lang="en-HK" smtClean="0"/>
              <a:t>14</a:t>
            </a:fld>
            <a:endParaRPr lang="en-HK"/>
          </a:p>
        </p:txBody>
      </p:sp>
    </p:spTree>
    <p:extLst>
      <p:ext uri="{BB962C8B-B14F-4D97-AF65-F5344CB8AC3E}">
        <p14:creationId xmlns:p14="http://schemas.microsoft.com/office/powerpoint/2010/main" val="1774947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40E3E-49CB-F158-159E-9A17618C98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F0E7AD-1B36-C2CE-6884-4D99F7EDB2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8775F4-546C-404A-444F-3A5094219A0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BFA086F-5D2A-51BB-1B96-9505043C36DE}"/>
              </a:ext>
            </a:extLst>
          </p:cNvPr>
          <p:cNvSpPr>
            <a:spLocks noGrp="1"/>
          </p:cNvSpPr>
          <p:nvPr>
            <p:ph type="sldNum" sz="quarter" idx="5"/>
          </p:nvPr>
        </p:nvSpPr>
        <p:spPr/>
        <p:txBody>
          <a:bodyPr/>
          <a:lstStyle/>
          <a:p>
            <a:fld id="{32097B1C-60C7-45D1-AA95-42ECB37D1A11}" type="slidenum">
              <a:rPr lang="en-HK" smtClean="0"/>
              <a:t>15</a:t>
            </a:fld>
            <a:endParaRPr lang="en-HK"/>
          </a:p>
        </p:txBody>
      </p:sp>
    </p:spTree>
    <p:extLst>
      <p:ext uri="{BB962C8B-B14F-4D97-AF65-F5344CB8AC3E}">
        <p14:creationId xmlns:p14="http://schemas.microsoft.com/office/powerpoint/2010/main" val="3036047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BCF06-5982-1F66-5AC7-F9D9E8D8F6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8A1AFC-9397-0D97-EC77-D89575B427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9E6470-9317-332B-EBFF-A0A09B02777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C04F7F3-80D4-ED89-F900-4A17E0F6D337}"/>
              </a:ext>
            </a:extLst>
          </p:cNvPr>
          <p:cNvSpPr>
            <a:spLocks noGrp="1"/>
          </p:cNvSpPr>
          <p:nvPr>
            <p:ph type="sldNum" sz="quarter" idx="5"/>
          </p:nvPr>
        </p:nvSpPr>
        <p:spPr/>
        <p:txBody>
          <a:bodyPr/>
          <a:lstStyle/>
          <a:p>
            <a:fld id="{32097B1C-60C7-45D1-AA95-42ECB37D1A11}" type="slidenum">
              <a:rPr lang="en-HK" smtClean="0"/>
              <a:t>20</a:t>
            </a:fld>
            <a:endParaRPr lang="en-HK"/>
          </a:p>
        </p:txBody>
      </p:sp>
    </p:spTree>
    <p:extLst>
      <p:ext uri="{BB962C8B-B14F-4D97-AF65-F5344CB8AC3E}">
        <p14:creationId xmlns:p14="http://schemas.microsoft.com/office/powerpoint/2010/main" val="4627900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E9B7-2834-E668-DBCE-8738BC1552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81C759-691D-381D-4685-70F9106601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395541-02FF-6840-FCF2-86190A19719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8FE6D81-D39C-8471-9526-815A30C8FA9D}"/>
              </a:ext>
            </a:extLst>
          </p:cNvPr>
          <p:cNvSpPr>
            <a:spLocks noGrp="1"/>
          </p:cNvSpPr>
          <p:nvPr>
            <p:ph type="sldNum" sz="quarter" idx="5"/>
          </p:nvPr>
        </p:nvSpPr>
        <p:spPr/>
        <p:txBody>
          <a:bodyPr/>
          <a:lstStyle/>
          <a:p>
            <a:fld id="{32097B1C-60C7-45D1-AA95-42ECB37D1A11}" type="slidenum">
              <a:rPr lang="en-HK" smtClean="0"/>
              <a:t>21</a:t>
            </a:fld>
            <a:endParaRPr lang="en-HK"/>
          </a:p>
        </p:txBody>
      </p:sp>
    </p:spTree>
    <p:extLst>
      <p:ext uri="{BB962C8B-B14F-4D97-AF65-F5344CB8AC3E}">
        <p14:creationId xmlns:p14="http://schemas.microsoft.com/office/powerpoint/2010/main" val="4008673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5AA91-43C5-A274-AE4F-CE4A66FE01B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AFDA9E-B216-5746-7D91-8B495E4F33A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0F5E78-3441-A931-69CE-79CF331A306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D033FF6-F91E-D63C-6976-A6E0FE02DB5D}"/>
              </a:ext>
            </a:extLst>
          </p:cNvPr>
          <p:cNvSpPr>
            <a:spLocks noGrp="1"/>
          </p:cNvSpPr>
          <p:nvPr>
            <p:ph type="sldNum" sz="quarter" idx="5"/>
          </p:nvPr>
        </p:nvSpPr>
        <p:spPr/>
        <p:txBody>
          <a:bodyPr/>
          <a:lstStyle/>
          <a:p>
            <a:fld id="{32097B1C-60C7-45D1-AA95-42ECB37D1A11}" type="slidenum">
              <a:rPr lang="en-HK" smtClean="0"/>
              <a:t>22</a:t>
            </a:fld>
            <a:endParaRPr lang="en-HK"/>
          </a:p>
        </p:txBody>
      </p:sp>
    </p:spTree>
    <p:extLst>
      <p:ext uri="{BB962C8B-B14F-4D97-AF65-F5344CB8AC3E}">
        <p14:creationId xmlns:p14="http://schemas.microsoft.com/office/powerpoint/2010/main" val="8068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68C54-DF18-3047-B3EC-403ABD39DE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CA1DEE-6C86-CF06-C588-3E0AA8DD0B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B0FC9B-2AE9-65D9-6947-DF8BFDEE02E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B201B22-7F4E-0EA4-2B0D-1800C3438E35}"/>
              </a:ext>
            </a:extLst>
          </p:cNvPr>
          <p:cNvSpPr>
            <a:spLocks noGrp="1"/>
          </p:cNvSpPr>
          <p:nvPr>
            <p:ph type="sldNum" sz="quarter" idx="5"/>
          </p:nvPr>
        </p:nvSpPr>
        <p:spPr/>
        <p:txBody>
          <a:bodyPr/>
          <a:lstStyle/>
          <a:p>
            <a:fld id="{32097B1C-60C7-45D1-AA95-42ECB37D1A11}" type="slidenum">
              <a:rPr lang="en-HK" smtClean="0"/>
              <a:t>23</a:t>
            </a:fld>
            <a:endParaRPr lang="en-HK"/>
          </a:p>
        </p:txBody>
      </p:sp>
    </p:spTree>
    <p:extLst>
      <p:ext uri="{BB962C8B-B14F-4D97-AF65-F5344CB8AC3E}">
        <p14:creationId xmlns:p14="http://schemas.microsoft.com/office/powerpoint/2010/main" val="822017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4BF9C-F627-AC29-EB4F-14594EC67E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BA4D87-0B2D-1594-178B-F5CB2A72CF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239B10-D3BE-2943-1CE8-00798327B0DE}"/>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1C927E47-5096-FCB5-B747-C2525E0B122F}"/>
              </a:ext>
            </a:extLst>
          </p:cNvPr>
          <p:cNvSpPr>
            <a:spLocks noGrp="1"/>
          </p:cNvSpPr>
          <p:nvPr>
            <p:ph type="sldNum" sz="quarter" idx="5"/>
          </p:nvPr>
        </p:nvSpPr>
        <p:spPr/>
        <p:txBody>
          <a:bodyPr/>
          <a:lstStyle/>
          <a:p>
            <a:fld id="{32097B1C-60C7-45D1-AA95-42ECB37D1A11}" type="slidenum">
              <a:rPr lang="en-HK" smtClean="0"/>
              <a:t>25</a:t>
            </a:fld>
            <a:endParaRPr lang="en-HK"/>
          </a:p>
        </p:txBody>
      </p:sp>
    </p:spTree>
    <p:extLst>
      <p:ext uri="{BB962C8B-B14F-4D97-AF65-F5344CB8AC3E}">
        <p14:creationId xmlns:p14="http://schemas.microsoft.com/office/powerpoint/2010/main" val="29894614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A40A2-3533-FEF0-21E5-49415A6BA9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DED204-D155-FBE6-0949-D558F77DCB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7657F0-3F49-A201-B22A-0AAF3082CCA5}"/>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2ADBC1DB-7013-4EF8-692A-34EF09031E1A}"/>
              </a:ext>
            </a:extLst>
          </p:cNvPr>
          <p:cNvSpPr>
            <a:spLocks noGrp="1"/>
          </p:cNvSpPr>
          <p:nvPr>
            <p:ph type="sldNum" sz="quarter" idx="5"/>
          </p:nvPr>
        </p:nvSpPr>
        <p:spPr/>
        <p:txBody>
          <a:bodyPr/>
          <a:lstStyle/>
          <a:p>
            <a:fld id="{32097B1C-60C7-45D1-AA95-42ECB37D1A11}" type="slidenum">
              <a:rPr lang="en-HK" smtClean="0"/>
              <a:t>26</a:t>
            </a:fld>
            <a:endParaRPr lang="en-HK"/>
          </a:p>
        </p:txBody>
      </p:sp>
    </p:spTree>
    <p:extLst>
      <p:ext uri="{BB962C8B-B14F-4D97-AF65-F5344CB8AC3E}">
        <p14:creationId xmlns:p14="http://schemas.microsoft.com/office/powerpoint/2010/main" val="34531595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993A4-0D60-B2F5-FD19-08B6586849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AE16E3-F121-0DF3-6ED5-AD1B628BF3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B2C0525-202F-F01C-C47B-C16FFAA5C8DC}"/>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C924B180-2183-507F-4E3E-B1A07F3721CD}"/>
              </a:ext>
            </a:extLst>
          </p:cNvPr>
          <p:cNvSpPr>
            <a:spLocks noGrp="1"/>
          </p:cNvSpPr>
          <p:nvPr>
            <p:ph type="sldNum" sz="quarter" idx="5"/>
          </p:nvPr>
        </p:nvSpPr>
        <p:spPr/>
        <p:txBody>
          <a:bodyPr/>
          <a:lstStyle/>
          <a:p>
            <a:fld id="{32097B1C-60C7-45D1-AA95-42ECB37D1A11}" type="slidenum">
              <a:rPr lang="en-HK" smtClean="0"/>
              <a:t>27</a:t>
            </a:fld>
            <a:endParaRPr lang="en-HK"/>
          </a:p>
        </p:txBody>
      </p:sp>
    </p:spTree>
    <p:extLst>
      <p:ext uri="{BB962C8B-B14F-4D97-AF65-F5344CB8AC3E}">
        <p14:creationId xmlns:p14="http://schemas.microsoft.com/office/powerpoint/2010/main" val="22870276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EC91E-7E86-EC02-378D-564A9D988B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6BEFDF-5179-2C65-A42E-AEAD077EB1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1B0D3E-10DA-BCB7-6C60-FEBFE72312F9}"/>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294A8484-F77C-81BC-8293-AD8F66364A28}"/>
              </a:ext>
            </a:extLst>
          </p:cNvPr>
          <p:cNvSpPr>
            <a:spLocks noGrp="1"/>
          </p:cNvSpPr>
          <p:nvPr>
            <p:ph type="sldNum" sz="quarter" idx="5"/>
          </p:nvPr>
        </p:nvSpPr>
        <p:spPr/>
        <p:txBody>
          <a:bodyPr/>
          <a:lstStyle/>
          <a:p>
            <a:fld id="{32097B1C-60C7-45D1-AA95-42ECB37D1A11}" type="slidenum">
              <a:rPr lang="en-HK" smtClean="0"/>
              <a:t>28</a:t>
            </a:fld>
            <a:endParaRPr lang="en-HK"/>
          </a:p>
        </p:txBody>
      </p:sp>
    </p:spTree>
    <p:extLst>
      <p:ext uri="{BB962C8B-B14F-4D97-AF65-F5344CB8AC3E}">
        <p14:creationId xmlns:p14="http://schemas.microsoft.com/office/powerpoint/2010/main" val="3482102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AF4C4-E4E4-D7B1-69B2-D1A580DCF3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FE639B-B7F2-63EC-3CED-F2542413AF4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8EA7F4-FC73-194D-4D3D-8AE86658790B}"/>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9AFA17CE-1817-9D49-1D96-052CBCA77CC3}"/>
              </a:ext>
            </a:extLst>
          </p:cNvPr>
          <p:cNvSpPr>
            <a:spLocks noGrp="1"/>
          </p:cNvSpPr>
          <p:nvPr>
            <p:ph type="sldNum" sz="quarter" idx="5"/>
          </p:nvPr>
        </p:nvSpPr>
        <p:spPr/>
        <p:txBody>
          <a:bodyPr/>
          <a:lstStyle/>
          <a:p>
            <a:fld id="{32097B1C-60C7-45D1-AA95-42ECB37D1A11}" type="slidenum">
              <a:rPr lang="en-HK" smtClean="0"/>
              <a:t>29</a:t>
            </a:fld>
            <a:endParaRPr lang="en-HK"/>
          </a:p>
        </p:txBody>
      </p:sp>
    </p:spTree>
    <p:extLst>
      <p:ext uri="{BB962C8B-B14F-4D97-AF65-F5344CB8AC3E}">
        <p14:creationId xmlns:p14="http://schemas.microsoft.com/office/powerpoint/2010/main" val="38050440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2097B1C-60C7-45D1-AA95-42ECB37D1A11}" type="slidenum">
              <a:rPr lang="en-HK" smtClean="0"/>
              <a:t>30</a:t>
            </a:fld>
            <a:endParaRPr lang="en-HK"/>
          </a:p>
        </p:txBody>
      </p:sp>
    </p:spTree>
    <p:extLst>
      <p:ext uri="{BB962C8B-B14F-4D97-AF65-F5344CB8AC3E}">
        <p14:creationId xmlns:p14="http://schemas.microsoft.com/office/powerpoint/2010/main" val="23902569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1D421-117E-6D26-B913-7AE15F6807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FA82F3-B2EA-C13E-1C88-84EF9FA733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1AEA07-9F00-0583-7C92-90E9F0057ED8}"/>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C055FABD-6C45-7C00-0913-E1E0945A94C7}"/>
              </a:ext>
            </a:extLst>
          </p:cNvPr>
          <p:cNvSpPr>
            <a:spLocks noGrp="1"/>
          </p:cNvSpPr>
          <p:nvPr>
            <p:ph type="sldNum" sz="quarter" idx="5"/>
          </p:nvPr>
        </p:nvSpPr>
        <p:spPr/>
        <p:txBody>
          <a:bodyPr/>
          <a:lstStyle/>
          <a:p>
            <a:fld id="{32097B1C-60C7-45D1-AA95-42ECB37D1A11}" type="slidenum">
              <a:rPr lang="en-HK" smtClean="0"/>
              <a:t>33</a:t>
            </a:fld>
            <a:endParaRPr lang="en-HK"/>
          </a:p>
        </p:txBody>
      </p:sp>
    </p:spTree>
    <p:extLst>
      <p:ext uri="{BB962C8B-B14F-4D97-AF65-F5344CB8AC3E}">
        <p14:creationId xmlns:p14="http://schemas.microsoft.com/office/powerpoint/2010/main" val="37161829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694C8-2058-C165-DF81-D3C76FB0B4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95B5C2-3537-ABCF-C6CF-B4C7CF9613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0E87C9-34BD-A878-13D3-90E9296A772F}"/>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5DD27F95-0733-80CE-1F6D-A848A1BB050D}"/>
              </a:ext>
            </a:extLst>
          </p:cNvPr>
          <p:cNvSpPr>
            <a:spLocks noGrp="1"/>
          </p:cNvSpPr>
          <p:nvPr>
            <p:ph type="sldNum" sz="quarter" idx="5"/>
          </p:nvPr>
        </p:nvSpPr>
        <p:spPr/>
        <p:txBody>
          <a:bodyPr/>
          <a:lstStyle/>
          <a:p>
            <a:fld id="{32097B1C-60C7-45D1-AA95-42ECB37D1A11}" type="slidenum">
              <a:rPr lang="en-HK" smtClean="0"/>
              <a:t>35</a:t>
            </a:fld>
            <a:endParaRPr lang="en-HK"/>
          </a:p>
        </p:txBody>
      </p:sp>
    </p:spTree>
    <p:extLst>
      <p:ext uri="{BB962C8B-B14F-4D97-AF65-F5344CB8AC3E}">
        <p14:creationId xmlns:p14="http://schemas.microsoft.com/office/powerpoint/2010/main" val="7086181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EC940-55A3-3588-E602-B8ACBD7108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2F3B32-B93F-7736-00A2-C2CBA97399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B255CE4-14A8-FC24-9D8E-0B4BB99D41E2}"/>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6AC57985-984B-DCE0-FB63-D17886C35129}"/>
              </a:ext>
            </a:extLst>
          </p:cNvPr>
          <p:cNvSpPr>
            <a:spLocks noGrp="1"/>
          </p:cNvSpPr>
          <p:nvPr>
            <p:ph type="sldNum" sz="quarter" idx="5"/>
          </p:nvPr>
        </p:nvSpPr>
        <p:spPr/>
        <p:txBody>
          <a:bodyPr/>
          <a:lstStyle/>
          <a:p>
            <a:fld id="{32097B1C-60C7-45D1-AA95-42ECB37D1A11}" type="slidenum">
              <a:rPr lang="en-HK" smtClean="0"/>
              <a:t>52</a:t>
            </a:fld>
            <a:endParaRPr lang="en-HK"/>
          </a:p>
        </p:txBody>
      </p:sp>
    </p:spTree>
    <p:extLst>
      <p:ext uri="{BB962C8B-B14F-4D97-AF65-F5344CB8AC3E}">
        <p14:creationId xmlns:p14="http://schemas.microsoft.com/office/powerpoint/2010/main" val="31249010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41EB8-0046-2A77-C4C7-4A0105FA6F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F3D57B-5B00-345C-27AF-7B93EC131D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61DD57-5F66-278B-2AD4-2A836DA72D8C}"/>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7899EBB2-2A37-0CB2-D62B-E591D16816F2}"/>
              </a:ext>
            </a:extLst>
          </p:cNvPr>
          <p:cNvSpPr>
            <a:spLocks noGrp="1"/>
          </p:cNvSpPr>
          <p:nvPr>
            <p:ph type="sldNum" sz="quarter" idx="5"/>
          </p:nvPr>
        </p:nvSpPr>
        <p:spPr/>
        <p:txBody>
          <a:bodyPr/>
          <a:lstStyle/>
          <a:p>
            <a:fld id="{32097B1C-60C7-45D1-AA95-42ECB37D1A11}" type="slidenum">
              <a:rPr lang="en-HK" smtClean="0"/>
              <a:t>53</a:t>
            </a:fld>
            <a:endParaRPr lang="en-HK"/>
          </a:p>
        </p:txBody>
      </p:sp>
    </p:spTree>
    <p:extLst>
      <p:ext uri="{BB962C8B-B14F-4D97-AF65-F5344CB8AC3E}">
        <p14:creationId xmlns:p14="http://schemas.microsoft.com/office/powerpoint/2010/main" val="14504434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827DD-DAAA-F38B-56B6-DEC2DF118D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39051F-BD0F-4239-873F-DD594453CA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AC8929-43BC-DCD1-27F4-C412DF24C7AA}"/>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E8DF4CD4-AAE7-6A44-737A-5CD0B3C2784C}"/>
              </a:ext>
            </a:extLst>
          </p:cNvPr>
          <p:cNvSpPr>
            <a:spLocks noGrp="1"/>
          </p:cNvSpPr>
          <p:nvPr>
            <p:ph type="sldNum" sz="quarter" idx="5"/>
          </p:nvPr>
        </p:nvSpPr>
        <p:spPr/>
        <p:txBody>
          <a:bodyPr/>
          <a:lstStyle/>
          <a:p>
            <a:fld id="{32097B1C-60C7-45D1-AA95-42ECB37D1A11}" type="slidenum">
              <a:rPr lang="en-HK" smtClean="0"/>
              <a:t>54</a:t>
            </a:fld>
            <a:endParaRPr lang="en-HK"/>
          </a:p>
        </p:txBody>
      </p:sp>
    </p:spTree>
    <p:extLst>
      <p:ext uri="{BB962C8B-B14F-4D97-AF65-F5344CB8AC3E}">
        <p14:creationId xmlns:p14="http://schemas.microsoft.com/office/powerpoint/2010/main" val="26683887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D3288-52C5-255B-3155-6821E92FBB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F892D2-4091-AD89-82C0-252822996C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3ED35F1-F3F1-77F1-40BB-FA33F5D7B1E9}"/>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09457963-6542-0FA7-AD57-BF66B4FE6C0D}"/>
              </a:ext>
            </a:extLst>
          </p:cNvPr>
          <p:cNvSpPr>
            <a:spLocks noGrp="1"/>
          </p:cNvSpPr>
          <p:nvPr>
            <p:ph type="sldNum" sz="quarter" idx="5"/>
          </p:nvPr>
        </p:nvSpPr>
        <p:spPr/>
        <p:txBody>
          <a:bodyPr/>
          <a:lstStyle/>
          <a:p>
            <a:fld id="{32097B1C-60C7-45D1-AA95-42ECB37D1A11}" type="slidenum">
              <a:rPr lang="en-HK" smtClean="0"/>
              <a:t>56</a:t>
            </a:fld>
            <a:endParaRPr lang="en-HK"/>
          </a:p>
        </p:txBody>
      </p:sp>
    </p:spTree>
    <p:extLst>
      <p:ext uri="{BB962C8B-B14F-4D97-AF65-F5344CB8AC3E}">
        <p14:creationId xmlns:p14="http://schemas.microsoft.com/office/powerpoint/2010/main" val="41069689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F31FC-7392-FC7F-1932-74DB15083B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6B8F17-DEC3-F427-CD07-498EF5DC4E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019326-8359-AEB0-750D-A20CD9EB66B1}"/>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D601FD92-9ED1-4885-D79A-2D39D7E266C4}"/>
              </a:ext>
            </a:extLst>
          </p:cNvPr>
          <p:cNvSpPr>
            <a:spLocks noGrp="1"/>
          </p:cNvSpPr>
          <p:nvPr>
            <p:ph type="sldNum" sz="quarter" idx="5"/>
          </p:nvPr>
        </p:nvSpPr>
        <p:spPr/>
        <p:txBody>
          <a:bodyPr/>
          <a:lstStyle/>
          <a:p>
            <a:fld id="{32097B1C-60C7-45D1-AA95-42ECB37D1A11}" type="slidenum">
              <a:rPr lang="en-HK" smtClean="0"/>
              <a:t>59</a:t>
            </a:fld>
            <a:endParaRPr lang="en-HK"/>
          </a:p>
        </p:txBody>
      </p:sp>
    </p:spTree>
    <p:extLst>
      <p:ext uri="{BB962C8B-B14F-4D97-AF65-F5344CB8AC3E}">
        <p14:creationId xmlns:p14="http://schemas.microsoft.com/office/powerpoint/2010/main" val="41109807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Line 1026"/>
          <p:cNvSpPr>
            <a:spLocks noChangeShapeType="1"/>
          </p:cNvSpPr>
          <p:nvPr/>
        </p:nvSpPr>
        <p:spPr bwMode="auto">
          <a:xfrm>
            <a:off x="0" y="3429000"/>
            <a:ext cx="10702692"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800"/>
          </a:p>
        </p:txBody>
      </p:sp>
      <p:sp>
        <p:nvSpPr>
          <p:cNvPr id="3075" name="Rectangle 1027"/>
          <p:cNvSpPr>
            <a:spLocks noGrp="1" noChangeArrowheads="1"/>
          </p:cNvSpPr>
          <p:nvPr>
            <p:ph type="ctrTitle" sz="quarter"/>
          </p:nvPr>
        </p:nvSpPr>
        <p:spPr>
          <a:xfrm>
            <a:off x="469074" y="381000"/>
            <a:ext cx="11163947" cy="3048000"/>
          </a:xfrm>
        </p:spPr>
        <p:txBody>
          <a:bodyPr/>
          <a:lstStyle>
            <a:lvl1pPr>
              <a:defRPr sz="6600"/>
            </a:lvl1pPr>
          </a:lstStyle>
          <a:p>
            <a:r>
              <a:rPr lang="en-US"/>
              <a:t>Click to edit Master title style</a:t>
            </a:r>
          </a:p>
        </p:txBody>
      </p:sp>
      <p:sp>
        <p:nvSpPr>
          <p:cNvPr id="3076" name="Rectangle 1028"/>
          <p:cNvSpPr>
            <a:spLocks noGrp="1" noChangeArrowheads="1"/>
          </p:cNvSpPr>
          <p:nvPr>
            <p:ph type="subTitle" sz="quarter" idx="1"/>
          </p:nvPr>
        </p:nvSpPr>
        <p:spPr>
          <a:xfrm>
            <a:off x="494482" y="3886200"/>
            <a:ext cx="11163947" cy="2819400"/>
          </a:xfrm>
        </p:spPr>
        <p:txBody>
          <a:bodyPr/>
          <a:lstStyle>
            <a:lvl1pPr marL="0" indent="0">
              <a:buFont typeface="Wingdings" pitchFamily="2" charset="2"/>
              <a:buNone/>
              <a:defRPr/>
            </a:lvl1pPr>
          </a:lstStyle>
          <a:p>
            <a:r>
              <a:rPr lang="en-US"/>
              <a:t>Click to edit Master subtitle style</a:t>
            </a:r>
          </a:p>
        </p:txBody>
      </p:sp>
      <p:sp>
        <p:nvSpPr>
          <p:cNvPr id="5" name="Rectangle 1029"/>
          <p:cNvSpPr>
            <a:spLocks noGrp="1" noChangeArrowheads="1"/>
          </p:cNvSpPr>
          <p:nvPr>
            <p:ph type="dt" sz="quarter" idx="10"/>
          </p:nvPr>
        </p:nvSpPr>
        <p:spPr>
          <a:xfrm>
            <a:off x="494482" y="6248400"/>
            <a:ext cx="2538859" cy="457200"/>
          </a:xfrm>
        </p:spPr>
        <p:txBody>
          <a:bodyPr/>
          <a:lstStyle>
            <a:lvl1pPr>
              <a:defRPr/>
            </a:lvl1pPr>
          </a:lstStyle>
          <a:p>
            <a:pPr>
              <a:defRPr/>
            </a:pPr>
            <a:endParaRPr lang="en-US"/>
          </a:p>
        </p:txBody>
      </p:sp>
      <p:sp>
        <p:nvSpPr>
          <p:cNvPr id="6" name="Rectangle 1030"/>
          <p:cNvSpPr>
            <a:spLocks noGrp="1" noChangeArrowheads="1"/>
          </p:cNvSpPr>
          <p:nvPr>
            <p:ph type="ftr" sz="quarter" idx="11"/>
          </p:nvPr>
        </p:nvSpPr>
        <p:spPr>
          <a:xfrm>
            <a:off x="4145437" y="6248400"/>
            <a:ext cx="3862038" cy="457200"/>
          </a:xfrm>
        </p:spPr>
        <p:txBody>
          <a:bodyPr/>
          <a:lstStyle>
            <a:lvl1pPr>
              <a:defRPr/>
            </a:lvl1pPr>
          </a:lstStyle>
          <a:p>
            <a:pPr>
              <a:defRPr/>
            </a:pPr>
            <a:r>
              <a:rPr lang="en-US"/>
              <a:t>Software Quality</a:t>
            </a:r>
          </a:p>
        </p:txBody>
      </p:sp>
      <p:sp>
        <p:nvSpPr>
          <p:cNvPr id="7" name="Rectangle 1031"/>
          <p:cNvSpPr>
            <a:spLocks noGrp="1" noChangeArrowheads="1"/>
          </p:cNvSpPr>
          <p:nvPr>
            <p:ph type="sldNum" sz="quarter" idx="12"/>
          </p:nvPr>
        </p:nvSpPr>
        <p:spPr>
          <a:xfrm>
            <a:off x="9119569" y="6248400"/>
            <a:ext cx="2538861" cy="457200"/>
          </a:xfrm>
        </p:spPr>
        <p:txBody>
          <a:bodyPr/>
          <a:lstStyle>
            <a:lvl1pPr>
              <a:defRPr/>
            </a:lvl1pPr>
          </a:lstStyle>
          <a:p>
            <a:pPr>
              <a:defRPr/>
            </a:pPr>
            <a:fld id="{C9E3E309-C4F3-40C3-813B-7A36DC967DF9}" type="slidenum">
              <a:rPr lang="en-US"/>
              <a:pPr>
                <a:defRPr/>
              </a:pPr>
              <a:t>‹#›</a:t>
            </a:fld>
            <a:endParaRPr lang="en-US"/>
          </a:p>
        </p:txBody>
      </p:sp>
    </p:spTree>
    <p:extLst>
      <p:ext uri="{BB962C8B-B14F-4D97-AF65-F5344CB8AC3E}">
        <p14:creationId xmlns:p14="http://schemas.microsoft.com/office/powerpoint/2010/main" val="22210348"/>
      </p:ext>
    </p:extLst>
  </p:cSld>
  <p:clrMapOvr>
    <a:overrideClrMapping bg1="lt1" tx1="dk1" bg2="lt2" tx2="dk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6" name="Rectangle 7"/>
          <p:cNvSpPr>
            <a:spLocks noGrp="1" noChangeArrowheads="1"/>
          </p:cNvSpPr>
          <p:nvPr>
            <p:ph type="sldNum" sz="quarter" idx="12"/>
          </p:nvPr>
        </p:nvSpPr>
        <p:spPr>
          <a:ln/>
        </p:spPr>
        <p:txBody>
          <a:bodyPr/>
          <a:lstStyle>
            <a:lvl1pPr>
              <a:defRPr/>
            </a:lvl1pPr>
          </a:lstStyle>
          <a:p>
            <a:pPr>
              <a:defRPr/>
            </a:pPr>
            <a:fld id="{63B8F44C-0EDE-4D7D-9086-BD1CF3CE7AF7}" type="slidenum">
              <a:rPr lang="en-US"/>
              <a:pPr>
                <a:defRPr/>
              </a:pPr>
              <a:t>‹#›</a:t>
            </a:fld>
            <a:endParaRPr lang="en-US"/>
          </a:p>
        </p:txBody>
      </p:sp>
    </p:spTree>
    <p:extLst>
      <p:ext uri="{BB962C8B-B14F-4D97-AF65-F5344CB8AC3E}">
        <p14:creationId xmlns:p14="http://schemas.microsoft.com/office/powerpoint/2010/main" val="379305537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556" y="4406901"/>
            <a:ext cx="10362614"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556" y="2906713"/>
            <a:ext cx="10362614"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6" name="Rectangle 7"/>
          <p:cNvSpPr>
            <a:spLocks noGrp="1" noChangeArrowheads="1"/>
          </p:cNvSpPr>
          <p:nvPr>
            <p:ph type="sldNum" sz="quarter" idx="12"/>
          </p:nvPr>
        </p:nvSpPr>
        <p:spPr>
          <a:ln/>
        </p:spPr>
        <p:txBody>
          <a:bodyPr/>
          <a:lstStyle>
            <a:lvl1pPr>
              <a:defRPr/>
            </a:lvl1pPr>
          </a:lstStyle>
          <a:p>
            <a:pPr>
              <a:defRPr/>
            </a:pPr>
            <a:fld id="{ECCD115F-8D68-417D-BE51-0997C55306EF}" type="slidenum">
              <a:rPr lang="en-US"/>
              <a:pPr>
                <a:defRPr/>
              </a:pPr>
              <a:t>‹#›</a:t>
            </a:fld>
            <a:endParaRPr lang="en-US"/>
          </a:p>
        </p:txBody>
      </p:sp>
    </p:spTree>
    <p:extLst>
      <p:ext uri="{BB962C8B-B14F-4D97-AF65-F5344CB8AC3E}">
        <p14:creationId xmlns:p14="http://schemas.microsoft.com/office/powerpoint/2010/main" val="334934791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164" y="1676400"/>
            <a:ext cx="5468614"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64407" y="1676400"/>
            <a:ext cx="5468614"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7" name="Rectangle 7"/>
          <p:cNvSpPr>
            <a:spLocks noGrp="1" noChangeArrowheads="1"/>
          </p:cNvSpPr>
          <p:nvPr>
            <p:ph type="sldNum" sz="quarter" idx="12"/>
          </p:nvPr>
        </p:nvSpPr>
        <p:spPr>
          <a:ln/>
        </p:spPr>
        <p:txBody>
          <a:bodyPr/>
          <a:lstStyle>
            <a:lvl1pPr>
              <a:defRPr/>
            </a:lvl1pPr>
          </a:lstStyle>
          <a:p>
            <a:pPr>
              <a:defRPr/>
            </a:pPr>
            <a:fld id="{D6C972CB-25A0-49CA-A04F-81E0CCB967DE}" type="slidenum">
              <a:rPr lang="en-US"/>
              <a:pPr>
                <a:defRPr/>
              </a:pPr>
              <a:t>‹#›</a:t>
            </a:fld>
            <a:endParaRPr lang="en-US"/>
          </a:p>
        </p:txBody>
      </p:sp>
    </p:spTree>
    <p:extLst>
      <p:ext uri="{BB962C8B-B14F-4D97-AF65-F5344CB8AC3E}">
        <p14:creationId xmlns:p14="http://schemas.microsoft.com/office/powerpoint/2010/main" val="298654069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796" y="274638"/>
            <a:ext cx="10972409"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796" y="1535113"/>
            <a:ext cx="538652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796" y="2174875"/>
            <a:ext cx="538652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725" y="1535113"/>
            <a:ext cx="53884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725" y="2174875"/>
            <a:ext cx="538848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9" name="Rectangle 7"/>
          <p:cNvSpPr>
            <a:spLocks noGrp="1" noChangeArrowheads="1"/>
          </p:cNvSpPr>
          <p:nvPr>
            <p:ph type="sldNum" sz="quarter" idx="12"/>
          </p:nvPr>
        </p:nvSpPr>
        <p:spPr>
          <a:ln/>
        </p:spPr>
        <p:txBody>
          <a:bodyPr/>
          <a:lstStyle>
            <a:lvl1pPr>
              <a:defRPr/>
            </a:lvl1pPr>
          </a:lstStyle>
          <a:p>
            <a:pPr>
              <a:defRPr/>
            </a:pPr>
            <a:fld id="{65FA675B-1F56-4A1F-B974-9460B94FF877}" type="slidenum">
              <a:rPr lang="en-US"/>
              <a:pPr>
                <a:defRPr/>
              </a:pPr>
              <a:t>‹#›</a:t>
            </a:fld>
            <a:endParaRPr lang="en-US"/>
          </a:p>
        </p:txBody>
      </p:sp>
    </p:spTree>
    <p:extLst>
      <p:ext uri="{BB962C8B-B14F-4D97-AF65-F5344CB8AC3E}">
        <p14:creationId xmlns:p14="http://schemas.microsoft.com/office/powerpoint/2010/main" val="238811373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5" name="Rectangle 7"/>
          <p:cNvSpPr>
            <a:spLocks noGrp="1" noChangeArrowheads="1"/>
          </p:cNvSpPr>
          <p:nvPr>
            <p:ph type="sldNum" sz="quarter" idx="12"/>
          </p:nvPr>
        </p:nvSpPr>
        <p:spPr>
          <a:ln/>
        </p:spPr>
        <p:txBody>
          <a:bodyPr/>
          <a:lstStyle>
            <a:lvl1pPr>
              <a:defRPr/>
            </a:lvl1pPr>
          </a:lstStyle>
          <a:p>
            <a:pPr>
              <a:defRPr/>
            </a:pPr>
            <a:fld id="{C55598A2-17A2-444F-952B-9804449BE04B}" type="slidenum">
              <a:rPr lang="en-US"/>
              <a:pPr>
                <a:defRPr/>
              </a:pPr>
              <a:t>‹#›</a:t>
            </a:fld>
            <a:endParaRPr lang="en-US"/>
          </a:p>
        </p:txBody>
      </p:sp>
    </p:spTree>
    <p:extLst>
      <p:ext uri="{BB962C8B-B14F-4D97-AF65-F5344CB8AC3E}">
        <p14:creationId xmlns:p14="http://schemas.microsoft.com/office/powerpoint/2010/main" val="150585216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4" name="Rectangle 7"/>
          <p:cNvSpPr>
            <a:spLocks noGrp="1" noChangeArrowheads="1"/>
          </p:cNvSpPr>
          <p:nvPr>
            <p:ph type="sldNum" sz="quarter" idx="12"/>
          </p:nvPr>
        </p:nvSpPr>
        <p:spPr>
          <a:ln/>
        </p:spPr>
        <p:txBody>
          <a:bodyPr/>
          <a:lstStyle>
            <a:lvl1pPr>
              <a:defRPr/>
            </a:lvl1pPr>
          </a:lstStyle>
          <a:p>
            <a:pPr>
              <a:defRPr/>
            </a:pPr>
            <a:fld id="{1AD18685-0001-4CA4-BB9B-682137D85FB6}" type="slidenum">
              <a:rPr lang="en-US"/>
              <a:pPr>
                <a:defRPr/>
              </a:pPr>
              <a:t>‹#›</a:t>
            </a:fld>
            <a:endParaRPr lang="en-US"/>
          </a:p>
        </p:txBody>
      </p:sp>
    </p:spTree>
    <p:extLst>
      <p:ext uri="{BB962C8B-B14F-4D97-AF65-F5344CB8AC3E}">
        <p14:creationId xmlns:p14="http://schemas.microsoft.com/office/powerpoint/2010/main" val="293175534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95" y="273050"/>
            <a:ext cx="4010578"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959" y="273051"/>
            <a:ext cx="681524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795" y="1435101"/>
            <a:ext cx="401057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7" name="Rectangle 7"/>
          <p:cNvSpPr>
            <a:spLocks noGrp="1" noChangeArrowheads="1"/>
          </p:cNvSpPr>
          <p:nvPr>
            <p:ph type="sldNum" sz="quarter" idx="12"/>
          </p:nvPr>
        </p:nvSpPr>
        <p:spPr>
          <a:ln/>
        </p:spPr>
        <p:txBody>
          <a:bodyPr/>
          <a:lstStyle>
            <a:lvl1pPr>
              <a:defRPr/>
            </a:lvl1pPr>
          </a:lstStyle>
          <a:p>
            <a:pPr>
              <a:defRPr/>
            </a:pPr>
            <a:fld id="{A00572DE-3297-44C9-8095-AE1A459C6662}" type="slidenum">
              <a:rPr lang="en-US"/>
              <a:pPr>
                <a:defRPr/>
              </a:pPr>
              <a:t>‹#›</a:t>
            </a:fld>
            <a:endParaRPr lang="en-US"/>
          </a:p>
        </p:txBody>
      </p:sp>
    </p:spTree>
    <p:extLst>
      <p:ext uri="{BB962C8B-B14F-4D97-AF65-F5344CB8AC3E}">
        <p14:creationId xmlns:p14="http://schemas.microsoft.com/office/powerpoint/2010/main" val="413886253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21" y="4800600"/>
            <a:ext cx="7313636"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90321" y="612775"/>
            <a:ext cx="7313636"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90321" y="5367338"/>
            <a:ext cx="7313636"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7" name="Rectangle 7"/>
          <p:cNvSpPr>
            <a:spLocks noGrp="1" noChangeArrowheads="1"/>
          </p:cNvSpPr>
          <p:nvPr>
            <p:ph type="sldNum" sz="quarter" idx="12"/>
          </p:nvPr>
        </p:nvSpPr>
        <p:spPr>
          <a:ln/>
        </p:spPr>
        <p:txBody>
          <a:bodyPr/>
          <a:lstStyle>
            <a:lvl1pPr>
              <a:defRPr/>
            </a:lvl1pPr>
          </a:lstStyle>
          <a:p>
            <a:pPr>
              <a:defRPr/>
            </a:pPr>
            <a:fld id="{C68E5FA2-5579-48D2-AAEA-0395A9685864}" type="slidenum">
              <a:rPr lang="en-US"/>
              <a:pPr>
                <a:defRPr/>
              </a:pPr>
              <a:t>‹#›</a:t>
            </a:fld>
            <a:endParaRPr lang="en-US"/>
          </a:p>
        </p:txBody>
      </p:sp>
    </p:spTree>
    <p:extLst>
      <p:ext uri="{BB962C8B-B14F-4D97-AF65-F5344CB8AC3E}">
        <p14:creationId xmlns:p14="http://schemas.microsoft.com/office/powerpoint/2010/main" val="53830667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6" name="Rectangle 7"/>
          <p:cNvSpPr>
            <a:spLocks noGrp="1" noChangeArrowheads="1"/>
          </p:cNvSpPr>
          <p:nvPr>
            <p:ph type="sldNum" sz="quarter" idx="12"/>
          </p:nvPr>
        </p:nvSpPr>
        <p:spPr>
          <a:ln/>
        </p:spPr>
        <p:txBody>
          <a:bodyPr/>
          <a:lstStyle>
            <a:lvl1pPr>
              <a:defRPr/>
            </a:lvl1pPr>
          </a:lstStyle>
          <a:p>
            <a:pPr>
              <a:defRPr/>
            </a:pPr>
            <a:fld id="{4EDE836C-C506-41B6-AE73-6EC51D540379}" type="slidenum">
              <a:rPr lang="en-US"/>
              <a:pPr>
                <a:defRPr/>
              </a:pPr>
              <a:t>‹#›</a:t>
            </a:fld>
            <a:endParaRPr lang="en-US"/>
          </a:p>
        </p:txBody>
      </p:sp>
    </p:spTree>
    <p:extLst>
      <p:ext uri="{BB962C8B-B14F-4D97-AF65-F5344CB8AC3E}">
        <p14:creationId xmlns:p14="http://schemas.microsoft.com/office/powerpoint/2010/main" val="233417166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51807" y="266700"/>
            <a:ext cx="2781214" cy="6362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8163" y="266700"/>
            <a:ext cx="8156015" cy="6362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6" name="Rectangle 7"/>
          <p:cNvSpPr>
            <a:spLocks noGrp="1" noChangeArrowheads="1"/>
          </p:cNvSpPr>
          <p:nvPr>
            <p:ph type="sldNum" sz="quarter" idx="12"/>
          </p:nvPr>
        </p:nvSpPr>
        <p:spPr>
          <a:ln/>
        </p:spPr>
        <p:txBody>
          <a:bodyPr/>
          <a:lstStyle>
            <a:lvl1pPr>
              <a:defRPr/>
            </a:lvl1pPr>
          </a:lstStyle>
          <a:p>
            <a:pPr>
              <a:defRPr/>
            </a:pPr>
            <a:fld id="{C807D62A-A25F-4874-AB67-6CF4C9C4736C}" type="slidenum">
              <a:rPr lang="en-US"/>
              <a:pPr>
                <a:defRPr/>
              </a:pPr>
              <a:t>‹#›</a:t>
            </a:fld>
            <a:endParaRPr lang="en-US"/>
          </a:p>
        </p:txBody>
      </p:sp>
    </p:spTree>
    <p:extLst>
      <p:ext uri="{BB962C8B-B14F-4D97-AF65-F5344CB8AC3E}">
        <p14:creationId xmlns:p14="http://schemas.microsoft.com/office/powerpoint/2010/main" val="73130898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08163" y="266700"/>
            <a:ext cx="11124858" cy="1104900"/>
          </a:xfrm>
        </p:spPr>
        <p:txBody>
          <a:bodyPr/>
          <a:lstStyle/>
          <a:p>
            <a:r>
              <a:rPr lang="en-US"/>
              <a:t>Click to edit Master title style</a:t>
            </a:r>
          </a:p>
        </p:txBody>
      </p:sp>
      <p:sp>
        <p:nvSpPr>
          <p:cNvPr id="3" name="Table Placeholder 2"/>
          <p:cNvSpPr>
            <a:spLocks noGrp="1"/>
          </p:cNvSpPr>
          <p:nvPr>
            <p:ph type="tbl" idx="1"/>
          </p:nvPr>
        </p:nvSpPr>
        <p:spPr>
          <a:xfrm>
            <a:off x="508163" y="1676400"/>
            <a:ext cx="11124858" cy="4953000"/>
          </a:xfrm>
        </p:spPr>
        <p:txBody>
          <a:bodyPr/>
          <a:lstStyle/>
          <a:p>
            <a:pPr lvl="0"/>
            <a:endParaRPr lang="en-US" noProof="0"/>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Software Quality</a:t>
            </a:r>
          </a:p>
        </p:txBody>
      </p:sp>
      <p:sp>
        <p:nvSpPr>
          <p:cNvPr id="6" name="Rectangle 7"/>
          <p:cNvSpPr>
            <a:spLocks noGrp="1" noChangeArrowheads="1"/>
          </p:cNvSpPr>
          <p:nvPr>
            <p:ph type="sldNum" sz="quarter" idx="12"/>
          </p:nvPr>
        </p:nvSpPr>
        <p:spPr>
          <a:ln/>
        </p:spPr>
        <p:txBody>
          <a:bodyPr/>
          <a:lstStyle>
            <a:lvl1pPr>
              <a:defRPr/>
            </a:lvl1pPr>
          </a:lstStyle>
          <a:p>
            <a:pPr>
              <a:defRPr/>
            </a:pPr>
            <a:fld id="{5792DDC3-EFA3-4647-8A6E-E8039DA1A91A}" type="slidenum">
              <a:rPr lang="en-US"/>
              <a:pPr>
                <a:defRPr/>
              </a:pPr>
              <a:t>‹#›</a:t>
            </a:fld>
            <a:endParaRPr lang="en-US"/>
          </a:p>
        </p:txBody>
      </p:sp>
    </p:spTree>
    <p:extLst>
      <p:ext uri="{BB962C8B-B14F-4D97-AF65-F5344CB8AC3E}">
        <p14:creationId xmlns:p14="http://schemas.microsoft.com/office/powerpoint/2010/main" val="410125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1371600"/>
            <a:ext cx="10702692"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1800"/>
          </a:p>
        </p:txBody>
      </p:sp>
      <p:sp>
        <p:nvSpPr>
          <p:cNvPr id="1027" name="Rectangle 3"/>
          <p:cNvSpPr>
            <a:spLocks noGrp="1" noChangeArrowheads="1"/>
          </p:cNvSpPr>
          <p:nvPr>
            <p:ph type="title"/>
          </p:nvPr>
        </p:nvSpPr>
        <p:spPr bwMode="auto">
          <a:xfrm>
            <a:off x="508163" y="266700"/>
            <a:ext cx="11124858"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t>Click to edit Master title style</a:t>
            </a:r>
          </a:p>
        </p:txBody>
      </p:sp>
      <p:sp>
        <p:nvSpPr>
          <p:cNvPr id="1028" name="Rectangle 4"/>
          <p:cNvSpPr>
            <a:spLocks noGrp="1" noChangeArrowheads="1"/>
          </p:cNvSpPr>
          <p:nvPr>
            <p:ph type="body" idx="1"/>
          </p:nvPr>
        </p:nvSpPr>
        <p:spPr bwMode="auto">
          <a:xfrm>
            <a:off x="508163" y="1676400"/>
            <a:ext cx="1112485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dt" sz="half" idx="2"/>
          </p:nvPr>
        </p:nvSpPr>
        <p:spPr bwMode="auto">
          <a:xfrm>
            <a:off x="508163" y="6172200"/>
            <a:ext cx="2538861"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solidFill>
                  <a:schemeClr val="folHlink"/>
                </a:solidFill>
              </a:defRPr>
            </a:lvl1pPr>
          </a:lstStyle>
          <a:p>
            <a:pPr>
              <a:defRPr/>
            </a:pPr>
            <a:endParaRPr lang="en-US"/>
          </a:p>
        </p:txBody>
      </p:sp>
      <p:sp>
        <p:nvSpPr>
          <p:cNvPr id="1030" name="Rectangle 6"/>
          <p:cNvSpPr>
            <a:spLocks noGrp="1" noChangeArrowheads="1"/>
          </p:cNvSpPr>
          <p:nvPr>
            <p:ph type="ftr" sz="quarter" idx="3"/>
          </p:nvPr>
        </p:nvSpPr>
        <p:spPr bwMode="auto">
          <a:xfrm>
            <a:off x="4164982" y="6172200"/>
            <a:ext cx="3862038"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a:solidFill>
                  <a:schemeClr val="folHlink"/>
                </a:solidFill>
              </a:defRPr>
            </a:lvl1pPr>
          </a:lstStyle>
          <a:p>
            <a:pPr>
              <a:defRPr/>
            </a:pPr>
            <a:r>
              <a:rPr lang="en-US"/>
              <a:t>Software Quality</a:t>
            </a:r>
          </a:p>
        </p:txBody>
      </p:sp>
      <p:sp>
        <p:nvSpPr>
          <p:cNvPr id="1031" name="Rectangle 7"/>
          <p:cNvSpPr>
            <a:spLocks noGrp="1" noChangeArrowheads="1"/>
          </p:cNvSpPr>
          <p:nvPr>
            <p:ph type="sldNum" sz="quarter" idx="4"/>
          </p:nvPr>
        </p:nvSpPr>
        <p:spPr bwMode="auto">
          <a:xfrm>
            <a:off x="9144978" y="6172200"/>
            <a:ext cx="2538859"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a:solidFill>
                  <a:schemeClr val="folHlink"/>
                </a:solidFill>
              </a:defRPr>
            </a:lvl1pPr>
          </a:lstStyle>
          <a:p>
            <a:pPr>
              <a:defRPr/>
            </a:pPr>
            <a:fld id="{BD8E331F-9D83-4245-9A62-97CA84DE22F4}" type="slidenum">
              <a:rPr lang="en-US"/>
              <a:pPr>
                <a:defRPr/>
              </a:pPr>
              <a:t>‹#›</a:t>
            </a:fld>
            <a:endParaRPr lang="en-US"/>
          </a:p>
        </p:txBody>
      </p:sp>
    </p:spTree>
    <p:extLst>
      <p:ext uri="{BB962C8B-B14F-4D97-AF65-F5344CB8AC3E}">
        <p14:creationId xmlns:p14="http://schemas.microsoft.com/office/powerpoint/2010/main" val="384816753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rtl="0" eaLnBrk="0" fontAlgn="base" hangingPunct="0">
        <a:lnSpc>
          <a:spcPct val="90000"/>
        </a:lnSpc>
        <a:spcBef>
          <a:spcPct val="0"/>
        </a:spcBef>
        <a:spcAft>
          <a:spcPct val="0"/>
        </a:spcAft>
        <a:defRPr sz="4400" b="1">
          <a:solidFill>
            <a:schemeClr val="tx2"/>
          </a:solidFill>
          <a:latin typeface="+mj-lt"/>
          <a:ea typeface="+mj-ea"/>
          <a:cs typeface="+mj-cs"/>
        </a:defRPr>
      </a:lvl1pPr>
      <a:lvl2pPr algn="l" rtl="0" eaLnBrk="0" fontAlgn="base" hangingPunct="0">
        <a:lnSpc>
          <a:spcPct val="90000"/>
        </a:lnSpc>
        <a:spcBef>
          <a:spcPct val="0"/>
        </a:spcBef>
        <a:spcAft>
          <a:spcPct val="0"/>
        </a:spcAft>
        <a:defRPr sz="4400" b="1">
          <a:solidFill>
            <a:schemeClr val="tx2"/>
          </a:solidFill>
          <a:latin typeface="Times New Roman" pitchFamily="18" charset="0"/>
        </a:defRPr>
      </a:lvl2pPr>
      <a:lvl3pPr algn="l" rtl="0" eaLnBrk="0" fontAlgn="base" hangingPunct="0">
        <a:lnSpc>
          <a:spcPct val="90000"/>
        </a:lnSpc>
        <a:spcBef>
          <a:spcPct val="0"/>
        </a:spcBef>
        <a:spcAft>
          <a:spcPct val="0"/>
        </a:spcAft>
        <a:defRPr sz="4400" b="1">
          <a:solidFill>
            <a:schemeClr val="tx2"/>
          </a:solidFill>
          <a:latin typeface="Times New Roman" pitchFamily="18" charset="0"/>
        </a:defRPr>
      </a:lvl3pPr>
      <a:lvl4pPr algn="l" rtl="0" eaLnBrk="0" fontAlgn="base" hangingPunct="0">
        <a:lnSpc>
          <a:spcPct val="90000"/>
        </a:lnSpc>
        <a:spcBef>
          <a:spcPct val="0"/>
        </a:spcBef>
        <a:spcAft>
          <a:spcPct val="0"/>
        </a:spcAft>
        <a:defRPr sz="4400" b="1">
          <a:solidFill>
            <a:schemeClr val="tx2"/>
          </a:solidFill>
          <a:latin typeface="Times New Roman" pitchFamily="18" charset="0"/>
        </a:defRPr>
      </a:lvl4pPr>
      <a:lvl5pPr algn="l" rtl="0" eaLnBrk="0" fontAlgn="base" hangingPunct="0">
        <a:lnSpc>
          <a:spcPct val="90000"/>
        </a:lnSpc>
        <a:spcBef>
          <a:spcPct val="0"/>
        </a:spcBef>
        <a:spcAft>
          <a:spcPct val="0"/>
        </a:spcAft>
        <a:defRPr sz="4400" b="1">
          <a:solidFill>
            <a:schemeClr val="tx2"/>
          </a:solidFill>
          <a:latin typeface="Times New Roman" pitchFamily="18" charset="0"/>
        </a:defRPr>
      </a:lvl5pPr>
      <a:lvl6pPr marL="457200" algn="l" rtl="0" eaLnBrk="0" fontAlgn="base" hangingPunct="0">
        <a:lnSpc>
          <a:spcPct val="90000"/>
        </a:lnSpc>
        <a:spcBef>
          <a:spcPct val="0"/>
        </a:spcBef>
        <a:spcAft>
          <a:spcPct val="0"/>
        </a:spcAft>
        <a:defRPr sz="4400" b="1">
          <a:solidFill>
            <a:schemeClr val="tx2"/>
          </a:solidFill>
          <a:latin typeface="Times New Roman" pitchFamily="18" charset="0"/>
        </a:defRPr>
      </a:lvl6pPr>
      <a:lvl7pPr marL="914400" algn="l" rtl="0" eaLnBrk="0" fontAlgn="base" hangingPunct="0">
        <a:lnSpc>
          <a:spcPct val="90000"/>
        </a:lnSpc>
        <a:spcBef>
          <a:spcPct val="0"/>
        </a:spcBef>
        <a:spcAft>
          <a:spcPct val="0"/>
        </a:spcAft>
        <a:defRPr sz="4400" b="1">
          <a:solidFill>
            <a:schemeClr val="tx2"/>
          </a:solidFill>
          <a:latin typeface="Times New Roman" pitchFamily="18" charset="0"/>
        </a:defRPr>
      </a:lvl7pPr>
      <a:lvl8pPr marL="1371600" algn="l" rtl="0" eaLnBrk="0" fontAlgn="base" hangingPunct="0">
        <a:lnSpc>
          <a:spcPct val="90000"/>
        </a:lnSpc>
        <a:spcBef>
          <a:spcPct val="0"/>
        </a:spcBef>
        <a:spcAft>
          <a:spcPct val="0"/>
        </a:spcAft>
        <a:defRPr sz="4400" b="1">
          <a:solidFill>
            <a:schemeClr val="tx2"/>
          </a:solidFill>
          <a:latin typeface="Times New Roman" pitchFamily="18" charset="0"/>
        </a:defRPr>
      </a:lvl8pPr>
      <a:lvl9pPr marL="1828800" algn="l" rtl="0" eaLnBrk="0" fontAlgn="base" hangingPunct="0">
        <a:lnSpc>
          <a:spcPct val="90000"/>
        </a:lnSpc>
        <a:spcBef>
          <a:spcPct val="0"/>
        </a:spcBef>
        <a:spcAft>
          <a:spcPct val="0"/>
        </a:spcAft>
        <a:defRPr sz="4400" b="1">
          <a:solidFill>
            <a:schemeClr val="tx2"/>
          </a:solidFill>
          <a:latin typeface="Times New Roman" pitchFamily="18" charset="0"/>
        </a:defRPr>
      </a:lvl9pPr>
    </p:titleStyle>
    <p:bodyStyle>
      <a:lvl1pPr marL="398463" indent="-398463" algn="l" rtl="0" eaLnBrk="0" fontAlgn="base" hangingPunct="0">
        <a:spcBef>
          <a:spcPct val="20000"/>
        </a:spcBef>
        <a:spcAft>
          <a:spcPct val="0"/>
        </a:spcAft>
        <a:buClr>
          <a:schemeClr val="tx2"/>
        </a:buClr>
        <a:buSzPct val="60000"/>
        <a:buFont typeface="Wingdings" pitchFamily="2" charset="2"/>
        <a:buChar char="u"/>
        <a:defRPr sz="3200">
          <a:solidFill>
            <a:schemeClr val="tx1"/>
          </a:solidFill>
          <a:latin typeface="+mn-lt"/>
          <a:ea typeface="+mn-ea"/>
          <a:cs typeface="+mn-cs"/>
        </a:defRPr>
      </a:lvl1pPr>
      <a:lvl2pPr marL="862013" indent="-349250" algn="l" rtl="0" eaLnBrk="0" fontAlgn="base" hangingPunct="0">
        <a:spcBef>
          <a:spcPct val="20000"/>
        </a:spcBef>
        <a:spcAft>
          <a:spcPct val="0"/>
        </a:spcAft>
        <a:buClr>
          <a:schemeClr val="tx2"/>
        </a:buClr>
        <a:buSzPct val="60000"/>
        <a:buFont typeface="Wingdings" pitchFamily="2" charset="2"/>
        <a:buChar char="n"/>
        <a:defRPr sz="2800">
          <a:solidFill>
            <a:schemeClr val="tx1"/>
          </a:solidFill>
          <a:latin typeface="+mn-lt"/>
        </a:defRPr>
      </a:lvl2pPr>
      <a:lvl3pPr marL="1262063" indent="-285750" algn="l" rtl="0" eaLnBrk="0" fontAlgn="base" hangingPunct="0">
        <a:spcBef>
          <a:spcPct val="20000"/>
        </a:spcBef>
        <a:spcAft>
          <a:spcPct val="0"/>
        </a:spcAft>
        <a:buClr>
          <a:schemeClr val="tx1"/>
        </a:buClr>
        <a:buSzPct val="60000"/>
        <a:buFont typeface="Wingdings" pitchFamily="2" charset="2"/>
        <a:buChar char="n"/>
        <a:defRPr sz="2400">
          <a:solidFill>
            <a:schemeClr val="tx1"/>
          </a:solidFill>
          <a:latin typeface="+mn-lt"/>
        </a:defRPr>
      </a:lvl3pPr>
      <a:lvl4pPr marL="1660525" indent="-284163" algn="l" rtl="0" eaLnBrk="0" fontAlgn="base" hangingPunct="0">
        <a:spcBef>
          <a:spcPct val="20000"/>
        </a:spcBef>
        <a:spcAft>
          <a:spcPct val="0"/>
        </a:spcAft>
        <a:buClr>
          <a:schemeClr val="tx1"/>
        </a:buClr>
        <a:buSzPct val="60000"/>
        <a:buFont typeface="Wingdings" pitchFamily="2" charset="2"/>
        <a:buChar char="u"/>
        <a:defRPr sz="2000">
          <a:solidFill>
            <a:schemeClr val="tx1"/>
          </a:solidFill>
          <a:latin typeface="+mn-lt"/>
        </a:defRPr>
      </a:lvl4pPr>
      <a:lvl5pPr marL="20589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5pPr>
      <a:lvl6pPr marL="25161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6pPr>
      <a:lvl7pPr marL="29733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7pPr>
      <a:lvl8pPr marL="34305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8pPr>
      <a:lvl9pPr marL="3887788" indent="-284163" algn="l" rtl="0" eaLnBrk="0" fontAlgn="base" hangingPunct="0">
        <a:spcBef>
          <a:spcPct val="20000"/>
        </a:spcBef>
        <a:spcAft>
          <a:spcPct val="0"/>
        </a:spcAft>
        <a:buClr>
          <a:schemeClr val="tx1"/>
        </a:buClr>
        <a:buSzPct val="6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31"/>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New Roman" pitchFamily="18" charset="0"/>
              </a:defRPr>
            </a:lvl1pPr>
            <a:lvl2pPr marL="742950" indent="-285750">
              <a:defRPr sz="2800">
                <a:solidFill>
                  <a:schemeClr val="tx1"/>
                </a:solidFill>
                <a:latin typeface="Times New Roman" pitchFamily="18" charset="0"/>
              </a:defRPr>
            </a:lvl2pPr>
            <a:lvl3pPr marL="1143000" indent="-228600">
              <a:defRPr sz="2800">
                <a:solidFill>
                  <a:schemeClr val="tx1"/>
                </a:solidFill>
                <a:latin typeface="Times New Roman" pitchFamily="18" charset="0"/>
              </a:defRPr>
            </a:lvl3pPr>
            <a:lvl4pPr marL="1600200" indent="-228600">
              <a:defRPr sz="2800">
                <a:solidFill>
                  <a:schemeClr val="tx1"/>
                </a:solidFill>
                <a:latin typeface="Times New Roman" pitchFamily="18" charset="0"/>
              </a:defRPr>
            </a:lvl4pPr>
            <a:lvl5pPr marL="2057400" indent="-228600">
              <a:defRPr sz="2800">
                <a:solidFill>
                  <a:schemeClr val="tx1"/>
                </a:solidFill>
                <a:latin typeface="Times New Roman" pitchFamily="18" charset="0"/>
              </a:defRPr>
            </a:lvl5pPr>
            <a:lvl6pPr marL="2514600" indent="-228600" eaLnBrk="0" fontAlgn="base" hangingPunct="0">
              <a:spcBef>
                <a:spcPct val="0"/>
              </a:spcBef>
              <a:spcAft>
                <a:spcPct val="0"/>
              </a:spcAft>
              <a:defRPr sz="2800">
                <a:solidFill>
                  <a:schemeClr val="tx1"/>
                </a:solidFill>
                <a:latin typeface="Times New Roman" pitchFamily="18" charset="0"/>
              </a:defRPr>
            </a:lvl6pPr>
            <a:lvl7pPr marL="2971800" indent="-228600" eaLnBrk="0" fontAlgn="base" hangingPunct="0">
              <a:spcBef>
                <a:spcPct val="0"/>
              </a:spcBef>
              <a:spcAft>
                <a:spcPct val="0"/>
              </a:spcAft>
              <a:defRPr sz="2800">
                <a:solidFill>
                  <a:schemeClr val="tx1"/>
                </a:solidFill>
                <a:latin typeface="Times New Roman" pitchFamily="18" charset="0"/>
              </a:defRPr>
            </a:lvl7pPr>
            <a:lvl8pPr marL="3429000" indent="-228600" eaLnBrk="0" fontAlgn="base" hangingPunct="0">
              <a:spcBef>
                <a:spcPct val="0"/>
              </a:spcBef>
              <a:spcAft>
                <a:spcPct val="0"/>
              </a:spcAft>
              <a:defRPr sz="2800">
                <a:solidFill>
                  <a:schemeClr val="tx1"/>
                </a:solidFill>
                <a:latin typeface="Times New Roman" pitchFamily="18" charset="0"/>
              </a:defRPr>
            </a:lvl8pPr>
            <a:lvl9pPr marL="3886200" indent="-228600" eaLnBrk="0" fontAlgn="base" hangingPunct="0">
              <a:spcBef>
                <a:spcPct val="0"/>
              </a:spcBef>
              <a:spcAft>
                <a:spcPct val="0"/>
              </a:spcAft>
              <a:defRPr sz="2800">
                <a:solidFill>
                  <a:schemeClr val="tx1"/>
                </a:solidFill>
                <a:latin typeface="Times New Roman" pitchFamily="18" charset="0"/>
              </a:defRPr>
            </a:lvl9pPr>
          </a:lstStyle>
          <a:p>
            <a:pPr defTabSz="914400" eaLnBrk="0" fontAlgn="base" hangingPunct="0">
              <a:spcBef>
                <a:spcPct val="0"/>
              </a:spcBef>
              <a:spcAft>
                <a:spcPct val="0"/>
              </a:spcAft>
            </a:pPr>
            <a:fld id="{0465E2E4-7374-46A0-BB59-F56978D5F671}" type="slidenum">
              <a:rPr lang="en-US" sz="1400">
                <a:solidFill>
                  <a:srgbClr val="808080"/>
                </a:solidFill>
              </a:rPr>
              <a:pPr defTabSz="914400" eaLnBrk="0" fontAlgn="base" hangingPunct="0">
                <a:spcBef>
                  <a:spcPct val="0"/>
                </a:spcBef>
                <a:spcAft>
                  <a:spcPct val="0"/>
                </a:spcAft>
              </a:pPr>
              <a:t>1</a:t>
            </a:fld>
            <a:endParaRPr lang="en-US" sz="1400">
              <a:solidFill>
                <a:srgbClr val="808080"/>
              </a:solidFill>
            </a:endParaRPr>
          </a:p>
        </p:txBody>
      </p:sp>
      <p:sp>
        <p:nvSpPr>
          <p:cNvPr id="3075" name="Rectangle 2"/>
          <p:cNvSpPr>
            <a:spLocks noGrp="1" noChangeArrowheads="1"/>
          </p:cNvSpPr>
          <p:nvPr>
            <p:ph type="ctrTitle"/>
          </p:nvPr>
        </p:nvSpPr>
        <p:spPr>
          <a:xfrm>
            <a:off x="446424" y="497305"/>
            <a:ext cx="10518284" cy="2743200"/>
          </a:xfrm>
          <a:noFill/>
        </p:spPr>
        <p:txBody>
          <a:bodyPr/>
          <a:lstStyle/>
          <a:p>
            <a:r>
              <a:rPr lang="en-US" sz="4400" i="1"/>
              <a:t>CS5351 Software Engineering</a:t>
            </a:r>
            <a:br>
              <a:rPr lang="en-US" sz="4400" i="1"/>
            </a:br>
            <a:r>
              <a:rPr lang="en-US" sz="4400" i="1"/>
              <a:t>202</a:t>
            </a:r>
            <a:r>
              <a:rPr lang="en-US" altLang="zh-CN" sz="4400" i="1"/>
              <a:t>5</a:t>
            </a:r>
            <a:r>
              <a:rPr lang="en-US" sz="4400" i="1"/>
              <a:t>/2</a:t>
            </a:r>
            <a:r>
              <a:rPr lang="en-US" altLang="zh-CN" sz="4400" i="1"/>
              <a:t>6</a:t>
            </a:r>
            <a:r>
              <a:rPr lang="en-US" sz="4400" i="1"/>
              <a:t> Semester A</a:t>
            </a:r>
            <a:br>
              <a:rPr lang="en-US" sz="7200"/>
            </a:br>
            <a:r>
              <a:rPr lang="en-US" sz="6000"/>
              <a:t>Quiz 1</a:t>
            </a:r>
            <a:endParaRPr lang="en-US" sz="4400"/>
          </a:p>
        </p:txBody>
      </p:sp>
    </p:spTree>
  </p:cSld>
  <p:clrMapOvr>
    <a:overrideClrMapping bg1="lt1" tx1="dk1" bg2="lt2" tx2="dk2" accent1="accent1" accent2="accent2" accent3="accent3" accent4="accent4" accent5="accent5" accent6="accent6" hlink="hlink" folHlink="folHlink"/>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96EC9-025B-4C70-98E9-EC54DF677976}"/>
              </a:ext>
            </a:extLst>
          </p:cNvPr>
          <p:cNvSpPr>
            <a:spLocks noGrp="1"/>
          </p:cNvSpPr>
          <p:nvPr>
            <p:ph type="title"/>
          </p:nvPr>
        </p:nvSpPr>
        <p:spPr>
          <a:xfrm>
            <a:off x="508163" y="266700"/>
            <a:ext cx="11124858" cy="1104900"/>
          </a:xfrm>
        </p:spPr>
        <p:txBody>
          <a:bodyPr wrap="square" anchor="b">
            <a:normAutofit/>
          </a:bodyPr>
          <a:lstStyle/>
          <a:p>
            <a:r>
              <a:rPr lang="en-HK"/>
              <a:t>Summary</a:t>
            </a:r>
          </a:p>
        </p:txBody>
      </p:sp>
      <p:graphicFrame>
        <p:nvGraphicFramePr>
          <p:cNvPr id="6" name="Table 5">
            <a:extLst>
              <a:ext uri="{FF2B5EF4-FFF2-40B4-BE49-F238E27FC236}">
                <a16:creationId xmlns:a16="http://schemas.microsoft.com/office/drawing/2014/main" id="{BC2404AB-19AA-B2BC-B853-CDC0537A20EB}"/>
              </a:ext>
            </a:extLst>
          </p:cNvPr>
          <p:cNvGraphicFramePr>
            <a:graphicFrameLocks noGrp="1"/>
          </p:cNvGraphicFramePr>
          <p:nvPr>
            <p:extLst>
              <p:ext uri="{D42A27DB-BD31-4B8C-83A1-F6EECF244321}">
                <p14:modId xmlns:p14="http://schemas.microsoft.com/office/powerpoint/2010/main" val="784623812"/>
              </p:ext>
            </p:extLst>
          </p:nvPr>
        </p:nvGraphicFramePr>
        <p:xfrm>
          <a:off x="615439" y="1612048"/>
          <a:ext cx="2293103" cy="4863490"/>
        </p:xfrm>
        <a:graphic>
          <a:graphicData uri="http://schemas.openxmlformats.org/drawingml/2006/table">
            <a:tbl>
              <a:tblPr bandRow="1">
                <a:tableStyleId>{08FB837D-C827-4EFA-A057-4D05807E0F7C}</a:tableStyleId>
              </a:tblPr>
              <a:tblGrid>
                <a:gridCol w="1234748">
                  <a:extLst>
                    <a:ext uri="{9D8B030D-6E8A-4147-A177-3AD203B41FA5}">
                      <a16:colId xmlns:a16="http://schemas.microsoft.com/office/drawing/2014/main" val="2808482295"/>
                    </a:ext>
                  </a:extLst>
                </a:gridCol>
                <a:gridCol w="1058355">
                  <a:extLst>
                    <a:ext uri="{9D8B030D-6E8A-4147-A177-3AD203B41FA5}">
                      <a16:colId xmlns:a16="http://schemas.microsoft.com/office/drawing/2014/main" val="1800337744"/>
                    </a:ext>
                  </a:extLst>
                </a:gridCol>
              </a:tblGrid>
              <a:tr h="486349">
                <a:tc>
                  <a:txBody>
                    <a:bodyPr/>
                    <a:lstStyle/>
                    <a:p>
                      <a:pPr algn="ctr" fontAlgn="ctr"/>
                      <a:r>
                        <a:rPr lang="en-US" sz="2200">
                          <a:effectLst/>
                        </a:rPr>
                        <a:t>Bins</a:t>
                      </a:r>
                    </a:p>
                  </a:txBody>
                  <a:tcPr marL="9525" marR="9525" marT="9525" anchor="ctr"/>
                </a:tc>
                <a:tc>
                  <a:txBody>
                    <a:bodyPr/>
                    <a:lstStyle/>
                    <a:p>
                      <a:pPr algn="ctr" fontAlgn="ctr"/>
                      <a:r>
                        <a:rPr lang="en-US" sz="2200">
                          <a:effectLst/>
                        </a:rPr>
                        <a:t>Num</a:t>
                      </a:r>
                    </a:p>
                  </a:txBody>
                  <a:tcPr marL="9525" marR="9525" marT="9525" anchor="ctr"/>
                </a:tc>
                <a:extLst>
                  <a:ext uri="{0D108BD9-81ED-4DB2-BD59-A6C34878D82A}">
                    <a16:rowId xmlns:a16="http://schemas.microsoft.com/office/drawing/2014/main" val="2507004938"/>
                  </a:ext>
                </a:extLst>
              </a:tr>
              <a:tr h="486349">
                <a:tc>
                  <a:txBody>
                    <a:bodyPr/>
                    <a:lstStyle/>
                    <a:p>
                      <a:pPr algn="ctr" fontAlgn="ctr"/>
                      <a:r>
                        <a:rPr lang="en-US" sz="2200">
                          <a:effectLst/>
                        </a:rPr>
                        <a:t>100</a:t>
                      </a:r>
                    </a:p>
                  </a:txBody>
                  <a:tcPr marL="9525" marR="9525" marT="9525" anchor="ctr"/>
                </a:tc>
                <a:tc>
                  <a:txBody>
                    <a:bodyPr/>
                    <a:lstStyle/>
                    <a:p>
                      <a:pPr algn="ctr" fontAlgn="ctr">
                        <a:buNone/>
                      </a:pPr>
                      <a:r>
                        <a:rPr lang="en-US" altLang="zh-CN" sz="2400" b="0" i="0" u="none" strike="noStrike">
                          <a:solidFill>
                            <a:srgbClr val="000000"/>
                          </a:solidFill>
                          <a:effectLst/>
                          <a:latin typeface="+mn-lt"/>
                          <a:ea typeface="等线" panose="02010600030101010101" pitchFamily="2" charset="-122"/>
                        </a:rPr>
                        <a:t>2</a:t>
                      </a:r>
                    </a:p>
                  </a:txBody>
                  <a:tcPr marL="9525" marR="9525" marT="9525" marB="0" anchor="ctr"/>
                </a:tc>
                <a:extLst>
                  <a:ext uri="{0D108BD9-81ED-4DB2-BD59-A6C34878D82A}">
                    <a16:rowId xmlns:a16="http://schemas.microsoft.com/office/drawing/2014/main" val="1805990066"/>
                  </a:ext>
                </a:extLst>
              </a:tr>
              <a:tr h="486349">
                <a:tc>
                  <a:txBody>
                    <a:bodyPr/>
                    <a:lstStyle/>
                    <a:p>
                      <a:pPr algn="ctr" fontAlgn="ctr"/>
                      <a:r>
                        <a:rPr lang="en-US" sz="2200">
                          <a:effectLst/>
                        </a:rPr>
                        <a:t>85</a:t>
                      </a:r>
                    </a:p>
                  </a:txBody>
                  <a:tcPr marL="9525" marR="9525" marT="9525" anchor="ctr"/>
                </a:tc>
                <a:tc>
                  <a:txBody>
                    <a:bodyPr/>
                    <a:lstStyle/>
                    <a:p>
                      <a:pPr algn="ctr" fontAlgn="ctr">
                        <a:buNone/>
                      </a:pPr>
                      <a:r>
                        <a:rPr lang="en-US" altLang="zh-CN" sz="2400" b="0" i="0" u="none" strike="noStrike">
                          <a:solidFill>
                            <a:srgbClr val="000000"/>
                          </a:solidFill>
                          <a:effectLst/>
                          <a:latin typeface="+mn-lt"/>
                          <a:ea typeface="等线" panose="02010600030101010101" pitchFamily="2" charset="-122"/>
                        </a:rPr>
                        <a:t>0</a:t>
                      </a:r>
                    </a:p>
                  </a:txBody>
                  <a:tcPr marL="9525" marR="9525" marT="9525" marB="0" anchor="ctr"/>
                </a:tc>
                <a:extLst>
                  <a:ext uri="{0D108BD9-81ED-4DB2-BD59-A6C34878D82A}">
                    <a16:rowId xmlns:a16="http://schemas.microsoft.com/office/drawing/2014/main" val="3429761555"/>
                  </a:ext>
                </a:extLst>
              </a:tr>
              <a:tr h="486349">
                <a:tc>
                  <a:txBody>
                    <a:bodyPr/>
                    <a:lstStyle/>
                    <a:p>
                      <a:pPr algn="ctr" fontAlgn="ctr"/>
                      <a:r>
                        <a:rPr lang="en-US" sz="2200">
                          <a:effectLst/>
                        </a:rPr>
                        <a:t>80</a:t>
                      </a:r>
                    </a:p>
                  </a:txBody>
                  <a:tcPr marL="9525" marR="9525" marT="9525" anchor="ctr"/>
                </a:tc>
                <a:tc>
                  <a:txBody>
                    <a:bodyPr/>
                    <a:lstStyle/>
                    <a:p>
                      <a:pPr algn="ctr" fontAlgn="ctr">
                        <a:buNone/>
                      </a:pPr>
                      <a:r>
                        <a:rPr lang="en-US" altLang="zh-CN" sz="2400" b="0" i="0" u="none" strike="noStrike">
                          <a:solidFill>
                            <a:srgbClr val="000000"/>
                          </a:solidFill>
                          <a:effectLst/>
                          <a:latin typeface="+mn-lt"/>
                          <a:ea typeface="等线" panose="02010600030101010101" pitchFamily="2" charset="-122"/>
                        </a:rPr>
                        <a:t>8</a:t>
                      </a:r>
                    </a:p>
                  </a:txBody>
                  <a:tcPr marL="9525" marR="9525" marT="9525" marB="0" anchor="ctr"/>
                </a:tc>
                <a:extLst>
                  <a:ext uri="{0D108BD9-81ED-4DB2-BD59-A6C34878D82A}">
                    <a16:rowId xmlns:a16="http://schemas.microsoft.com/office/drawing/2014/main" val="1197401478"/>
                  </a:ext>
                </a:extLst>
              </a:tr>
              <a:tr h="486349">
                <a:tc>
                  <a:txBody>
                    <a:bodyPr/>
                    <a:lstStyle/>
                    <a:p>
                      <a:pPr algn="ctr" fontAlgn="ctr"/>
                      <a:r>
                        <a:rPr lang="en-US" sz="2200">
                          <a:effectLst/>
                        </a:rPr>
                        <a:t>75</a:t>
                      </a:r>
                    </a:p>
                  </a:txBody>
                  <a:tcPr marL="9525" marR="9525" marT="9525" anchor="ctr"/>
                </a:tc>
                <a:tc>
                  <a:txBody>
                    <a:bodyPr/>
                    <a:lstStyle/>
                    <a:p>
                      <a:pPr algn="ctr" fontAlgn="ctr">
                        <a:buNone/>
                      </a:pPr>
                      <a:r>
                        <a:rPr lang="en-US" altLang="zh-CN" sz="2400" b="0" i="0" u="none" strike="noStrike">
                          <a:solidFill>
                            <a:srgbClr val="000000"/>
                          </a:solidFill>
                          <a:effectLst/>
                          <a:latin typeface="+mn-lt"/>
                          <a:ea typeface="等线" panose="02010600030101010101" pitchFamily="2" charset="-122"/>
                        </a:rPr>
                        <a:t>11</a:t>
                      </a:r>
                    </a:p>
                  </a:txBody>
                  <a:tcPr marL="9525" marR="9525" marT="9525" marB="0" anchor="ctr"/>
                </a:tc>
                <a:extLst>
                  <a:ext uri="{0D108BD9-81ED-4DB2-BD59-A6C34878D82A}">
                    <a16:rowId xmlns:a16="http://schemas.microsoft.com/office/drawing/2014/main" val="2852977060"/>
                  </a:ext>
                </a:extLst>
              </a:tr>
              <a:tr h="486349">
                <a:tc>
                  <a:txBody>
                    <a:bodyPr/>
                    <a:lstStyle/>
                    <a:p>
                      <a:pPr algn="ctr" fontAlgn="ctr"/>
                      <a:r>
                        <a:rPr lang="en-US" sz="2200">
                          <a:effectLst/>
                        </a:rPr>
                        <a:t>70</a:t>
                      </a:r>
                    </a:p>
                  </a:txBody>
                  <a:tcPr marL="9525" marR="9525" marT="9525" anchor="ctr"/>
                </a:tc>
                <a:tc>
                  <a:txBody>
                    <a:bodyPr/>
                    <a:lstStyle/>
                    <a:p>
                      <a:pPr algn="ctr" fontAlgn="ctr">
                        <a:buNone/>
                      </a:pPr>
                      <a:r>
                        <a:rPr lang="en-US" altLang="zh-CN" sz="2400" b="0" i="0" u="none" strike="noStrike">
                          <a:solidFill>
                            <a:srgbClr val="000000"/>
                          </a:solidFill>
                          <a:effectLst/>
                          <a:latin typeface="+mn-lt"/>
                          <a:ea typeface="等线" panose="02010600030101010101" pitchFamily="2" charset="-122"/>
                        </a:rPr>
                        <a:t>13</a:t>
                      </a:r>
                    </a:p>
                  </a:txBody>
                  <a:tcPr marL="9525" marR="9525" marT="9525" marB="0" anchor="ctr"/>
                </a:tc>
                <a:extLst>
                  <a:ext uri="{0D108BD9-81ED-4DB2-BD59-A6C34878D82A}">
                    <a16:rowId xmlns:a16="http://schemas.microsoft.com/office/drawing/2014/main" val="3785117688"/>
                  </a:ext>
                </a:extLst>
              </a:tr>
              <a:tr h="486349">
                <a:tc>
                  <a:txBody>
                    <a:bodyPr/>
                    <a:lstStyle/>
                    <a:p>
                      <a:pPr algn="ctr" fontAlgn="ctr"/>
                      <a:r>
                        <a:rPr lang="en-US" sz="2200">
                          <a:effectLst/>
                        </a:rPr>
                        <a:t>65</a:t>
                      </a:r>
                    </a:p>
                  </a:txBody>
                  <a:tcPr marL="9525" marR="9525" marT="9525" anchor="ctr"/>
                </a:tc>
                <a:tc>
                  <a:txBody>
                    <a:bodyPr/>
                    <a:lstStyle/>
                    <a:p>
                      <a:pPr algn="ctr" fontAlgn="ctr">
                        <a:buNone/>
                      </a:pPr>
                      <a:r>
                        <a:rPr lang="en-US" altLang="zh-CN" sz="2400" b="0" i="0" u="none" strike="noStrike">
                          <a:solidFill>
                            <a:srgbClr val="000000"/>
                          </a:solidFill>
                          <a:effectLst/>
                          <a:latin typeface="+mn-lt"/>
                          <a:ea typeface="等线" panose="02010600030101010101" pitchFamily="2" charset="-122"/>
                        </a:rPr>
                        <a:t>23</a:t>
                      </a:r>
                    </a:p>
                  </a:txBody>
                  <a:tcPr marL="9525" marR="9525" marT="9525" marB="0" anchor="ctr"/>
                </a:tc>
                <a:extLst>
                  <a:ext uri="{0D108BD9-81ED-4DB2-BD59-A6C34878D82A}">
                    <a16:rowId xmlns:a16="http://schemas.microsoft.com/office/drawing/2014/main" val="4184626627"/>
                  </a:ext>
                </a:extLst>
              </a:tr>
              <a:tr h="486349">
                <a:tc>
                  <a:txBody>
                    <a:bodyPr/>
                    <a:lstStyle/>
                    <a:p>
                      <a:pPr algn="ctr" fontAlgn="ctr"/>
                      <a:r>
                        <a:rPr lang="en-US" sz="2200">
                          <a:effectLst/>
                        </a:rPr>
                        <a:t>60</a:t>
                      </a:r>
                    </a:p>
                  </a:txBody>
                  <a:tcPr marL="9525" marR="9525" marT="9525" anchor="ctr"/>
                </a:tc>
                <a:tc>
                  <a:txBody>
                    <a:bodyPr/>
                    <a:lstStyle/>
                    <a:p>
                      <a:pPr algn="ctr" fontAlgn="ctr">
                        <a:buNone/>
                      </a:pPr>
                      <a:r>
                        <a:rPr lang="en-US" altLang="zh-CN" sz="2400" b="0" i="0" u="none" strike="noStrike">
                          <a:solidFill>
                            <a:srgbClr val="000000"/>
                          </a:solidFill>
                          <a:effectLst/>
                          <a:latin typeface="+mn-lt"/>
                          <a:ea typeface="等线" panose="02010600030101010101" pitchFamily="2" charset="-122"/>
                        </a:rPr>
                        <a:t>74</a:t>
                      </a:r>
                    </a:p>
                  </a:txBody>
                  <a:tcPr marL="9525" marR="9525" marT="9525" marB="0" anchor="ctr"/>
                </a:tc>
                <a:extLst>
                  <a:ext uri="{0D108BD9-81ED-4DB2-BD59-A6C34878D82A}">
                    <a16:rowId xmlns:a16="http://schemas.microsoft.com/office/drawing/2014/main" val="1823949683"/>
                  </a:ext>
                </a:extLst>
              </a:tr>
              <a:tr h="486349">
                <a:tc>
                  <a:txBody>
                    <a:bodyPr/>
                    <a:lstStyle/>
                    <a:p>
                      <a:pPr algn="ctr" fontAlgn="ctr"/>
                      <a:r>
                        <a:rPr lang="en-US" sz="2200">
                          <a:effectLst/>
                        </a:rPr>
                        <a:t>47</a:t>
                      </a:r>
                    </a:p>
                  </a:txBody>
                  <a:tcPr marL="9525" marR="9525" marT="9525" anchor="ctr"/>
                </a:tc>
                <a:tc>
                  <a:txBody>
                    <a:bodyPr/>
                    <a:lstStyle/>
                    <a:p>
                      <a:pPr algn="ctr" fontAlgn="ctr">
                        <a:buNone/>
                      </a:pPr>
                      <a:r>
                        <a:rPr lang="en-US" altLang="zh-CN" sz="2400" b="0" i="0" u="none" strike="noStrike">
                          <a:solidFill>
                            <a:srgbClr val="000000"/>
                          </a:solidFill>
                          <a:effectLst/>
                          <a:latin typeface="+mn-lt"/>
                          <a:ea typeface="等线" panose="02010600030101010101" pitchFamily="2" charset="-122"/>
                        </a:rPr>
                        <a:t>40</a:t>
                      </a:r>
                    </a:p>
                  </a:txBody>
                  <a:tcPr marL="9525" marR="9525" marT="9525" marB="0" anchor="ctr"/>
                </a:tc>
                <a:extLst>
                  <a:ext uri="{0D108BD9-81ED-4DB2-BD59-A6C34878D82A}">
                    <a16:rowId xmlns:a16="http://schemas.microsoft.com/office/drawing/2014/main" val="2861320841"/>
                  </a:ext>
                </a:extLst>
              </a:tr>
              <a:tr h="486349">
                <a:tc>
                  <a:txBody>
                    <a:bodyPr/>
                    <a:lstStyle/>
                    <a:p>
                      <a:pPr algn="ctr" fontAlgn="ctr"/>
                      <a:r>
                        <a:rPr lang="en-US" sz="2200">
                          <a:effectLst/>
                        </a:rPr>
                        <a:t>32</a:t>
                      </a:r>
                    </a:p>
                  </a:txBody>
                  <a:tcPr marL="9525" marR="9525" marT="9525" anchor="ctr"/>
                </a:tc>
                <a:tc>
                  <a:txBody>
                    <a:bodyPr/>
                    <a:lstStyle/>
                    <a:p>
                      <a:pPr algn="ctr" fontAlgn="ctr">
                        <a:buNone/>
                      </a:pPr>
                      <a:r>
                        <a:rPr lang="en-US" altLang="zh-CN" sz="2400" b="0" i="0" u="none" strike="noStrike">
                          <a:solidFill>
                            <a:srgbClr val="000000"/>
                          </a:solidFill>
                          <a:effectLst/>
                          <a:latin typeface="+mn-lt"/>
                          <a:ea typeface="等线" panose="02010600030101010101" pitchFamily="2" charset="-122"/>
                        </a:rPr>
                        <a:t>16</a:t>
                      </a:r>
                    </a:p>
                  </a:txBody>
                  <a:tcPr marL="9525" marR="9525" marT="9525" marB="0" anchor="ctr"/>
                </a:tc>
                <a:extLst>
                  <a:ext uri="{0D108BD9-81ED-4DB2-BD59-A6C34878D82A}">
                    <a16:rowId xmlns:a16="http://schemas.microsoft.com/office/drawing/2014/main" val="1737766377"/>
                  </a:ext>
                </a:extLst>
              </a:tr>
            </a:tbl>
          </a:graphicData>
        </a:graphic>
      </p:graphicFrame>
      <p:graphicFrame>
        <p:nvGraphicFramePr>
          <p:cNvPr id="3" name="Chart 3">
            <a:extLst>
              <a:ext uri="{FF2B5EF4-FFF2-40B4-BE49-F238E27FC236}">
                <a16:creationId xmlns:a16="http://schemas.microsoft.com/office/drawing/2014/main" id="{0486A944-8086-4440-8ECD-0FB9EE11503E}"/>
              </a:ext>
            </a:extLst>
          </p:cNvPr>
          <p:cNvGraphicFramePr>
            <a:graphicFrameLocks/>
          </p:cNvGraphicFramePr>
          <p:nvPr>
            <p:extLst>
              <p:ext uri="{D42A27DB-BD31-4B8C-83A1-F6EECF244321}">
                <p14:modId xmlns:p14="http://schemas.microsoft.com/office/powerpoint/2010/main" val="1287258299"/>
              </p:ext>
            </p:extLst>
          </p:nvPr>
        </p:nvGraphicFramePr>
        <p:xfrm>
          <a:off x="3203732" y="2975842"/>
          <a:ext cx="8169977" cy="38821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able 13">
            <a:extLst>
              <a:ext uri="{FF2B5EF4-FFF2-40B4-BE49-F238E27FC236}">
                <a16:creationId xmlns:a16="http://schemas.microsoft.com/office/drawing/2014/main" id="{868B95A9-24B6-B507-F374-D38C17E9D81C}"/>
              </a:ext>
            </a:extLst>
          </p:cNvPr>
          <p:cNvGraphicFramePr>
            <a:graphicFrameLocks noGrp="1"/>
          </p:cNvGraphicFramePr>
          <p:nvPr>
            <p:extLst>
              <p:ext uri="{D42A27DB-BD31-4B8C-83A1-F6EECF244321}">
                <p14:modId xmlns:p14="http://schemas.microsoft.com/office/powerpoint/2010/main" val="295611656"/>
              </p:ext>
            </p:extLst>
          </p:nvPr>
        </p:nvGraphicFramePr>
        <p:xfrm>
          <a:off x="4767476" y="1612048"/>
          <a:ext cx="5295468" cy="1260392"/>
        </p:xfrm>
        <a:graphic>
          <a:graphicData uri="http://schemas.openxmlformats.org/drawingml/2006/table">
            <a:tbl>
              <a:tblPr bandRow="1">
                <a:tableStyleId>{08FB837D-C827-4EFA-A057-4D05807E0F7C}</a:tableStyleId>
              </a:tblPr>
              <a:tblGrid>
                <a:gridCol w="1323867">
                  <a:extLst>
                    <a:ext uri="{9D8B030D-6E8A-4147-A177-3AD203B41FA5}">
                      <a16:colId xmlns:a16="http://schemas.microsoft.com/office/drawing/2014/main" val="3668399417"/>
                    </a:ext>
                  </a:extLst>
                </a:gridCol>
                <a:gridCol w="1323867">
                  <a:extLst>
                    <a:ext uri="{9D8B030D-6E8A-4147-A177-3AD203B41FA5}">
                      <a16:colId xmlns:a16="http://schemas.microsoft.com/office/drawing/2014/main" val="1962079121"/>
                    </a:ext>
                  </a:extLst>
                </a:gridCol>
                <a:gridCol w="1323867">
                  <a:extLst>
                    <a:ext uri="{9D8B030D-6E8A-4147-A177-3AD203B41FA5}">
                      <a16:colId xmlns:a16="http://schemas.microsoft.com/office/drawing/2014/main" val="3899606736"/>
                    </a:ext>
                  </a:extLst>
                </a:gridCol>
                <a:gridCol w="1323867">
                  <a:extLst>
                    <a:ext uri="{9D8B030D-6E8A-4147-A177-3AD203B41FA5}">
                      <a16:colId xmlns:a16="http://schemas.microsoft.com/office/drawing/2014/main" val="3660791605"/>
                    </a:ext>
                  </a:extLst>
                </a:gridCol>
              </a:tblGrid>
              <a:tr h="462856">
                <a:tc>
                  <a:txBody>
                    <a:bodyPr/>
                    <a:lstStyle/>
                    <a:p>
                      <a:pPr algn="ctr" fontAlgn="ctr"/>
                      <a:r>
                        <a:rPr lang="en-US" altLang="zh-CN" sz="2400">
                          <a:effectLst/>
                        </a:rPr>
                        <a:t>Mean</a:t>
                      </a:r>
                      <a:endParaRPr lang="en-US" sz="2400">
                        <a:effectLst/>
                      </a:endParaRPr>
                    </a:p>
                  </a:txBody>
                  <a:tcPr marL="9525" marR="9525" marT="9525" anchor="ctr"/>
                </a:tc>
                <a:tc>
                  <a:txBody>
                    <a:bodyPr/>
                    <a:lstStyle/>
                    <a:p>
                      <a:pPr algn="ctr" fontAlgn="ctr"/>
                      <a:r>
                        <a:rPr lang="en-US" altLang="zh-CN" sz="2400">
                          <a:effectLst/>
                        </a:rPr>
                        <a:t>Median</a:t>
                      </a:r>
                      <a:endParaRPr lang="en-US" sz="2400">
                        <a:effectLst/>
                      </a:endParaRPr>
                    </a:p>
                  </a:txBody>
                  <a:tcPr marL="9525" marR="9525" marT="9525" anchor="ctr"/>
                </a:tc>
                <a:tc>
                  <a:txBody>
                    <a:bodyPr/>
                    <a:lstStyle/>
                    <a:p>
                      <a:pPr algn="ctr" fontAlgn="ctr"/>
                      <a:r>
                        <a:rPr lang="en-US" altLang="zh-CN" sz="2400">
                          <a:effectLst/>
                        </a:rPr>
                        <a:t>Max</a:t>
                      </a:r>
                      <a:endParaRPr lang="en-US" sz="2400">
                        <a:effectLst/>
                      </a:endParaRPr>
                    </a:p>
                  </a:txBody>
                  <a:tcPr marL="9525" marR="9525" marT="9525" anchor="ctr"/>
                </a:tc>
                <a:tc>
                  <a:txBody>
                    <a:bodyPr/>
                    <a:lstStyle/>
                    <a:p>
                      <a:pPr algn="ctr" fontAlgn="ctr"/>
                      <a:r>
                        <a:rPr lang="en-US" altLang="zh-CN" sz="2400">
                          <a:effectLst/>
                        </a:rPr>
                        <a:t>Min</a:t>
                      </a:r>
                      <a:endParaRPr lang="en-US" sz="2400">
                        <a:effectLst/>
                      </a:endParaRPr>
                    </a:p>
                  </a:txBody>
                  <a:tcPr marL="9525" marR="9525" marT="9525" anchor="ctr"/>
                </a:tc>
                <a:extLst>
                  <a:ext uri="{0D108BD9-81ED-4DB2-BD59-A6C34878D82A}">
                    <a16:rowId xmlns:a16="http://schemas.microsoft.com/office/drawing/2014/main" val="225563364"/>
                  </a:ext>
                </a:extLst>
              </a:tr>
              <a:tr h="797536">
                <a:tc>
                  <a:txBody>
                    <a:bodyPr/>
                    <a:lstStyle/>
                    <a:p>
                      <a:pPr algn="ctr" fontAlgn="ctr"/>
                      <a:r>
                        <a:rPr lang="en-US" sz="2400">
                          <a:effectLst/>
                        </a:rPr>
                        <a:t>53.6</a:t>
                      </a:r>
                    </a:p>
                  </a:txBody>
                  <a:tcPr marL="9525" marR="9525" marT="9525" anchor="ctr"/>
                </a:tc>
                <a:tc>
                  <a:txBody>
                    <a:bodyPr/>
                    <a:lstStyle/>
                    <a:p>
                      <a:pPr algn="ctr" fontAlgn="ctr"/>
                      <a:r>
                        <a:rPr lang="en-US" sz="2400">
                          <a:effectLst/>
                        </a:rPr>
                        <a:t>53</a:t>
                      </a:r>
                    </a:p>
                  </a:txBody>
                  <a:tcPr marL="9525" marR="9525" marT="9525" anchor="ctr"/>
                </a:tc>
                <a:tc>
                  <a:txBody>
                    <a:bodyPr/>
                    <a:lstStyle/>
                    <a:p>
                      <a:pPr algn="ctr" fontAlgn="ctr"/>
                      <a:r>
                        <a:rPr lang="en-US" sz="2400">
                          <a:effectLst/>
                        </a:rPr>
                        <a:t>88</a:t>
                      </a:r>
                      <a:endParaRPr lang="en-US" sz="2400"/>
                    </a:p>
                  </a:txBody>
                  <a:tcPr marL="9525" marR="9525" marT="9525" anchor="ctr"/>
                </a:tc>
                <a:tc>
                  <a:txBody>
                    <a:bodyPr/>
                    <a:lstStyle/>
                    <a:p>
                      <a:pPr algn="ctr" fontAlgn="ctr"/>
                      <a:r>
                        <a:rPr lang="en-US" sz="2400">
                          <a:effectLst/>
                        </a:rPr>
                        <a:t>14</a:t>
                      </a:r>
                      <a:endParaRPr lang="en-US" sz="2400"/>
                    </a:p>
                  </a:txBody>
                  <a:tcPr marL="9525" marR="9525" marT="9525" anchor="ctr"/>
                </a:tc>
                <a:extLst>
                  <a:ext uri="{0D108BD9-81ED-4DB2-BD59-A6C34878D82A}">
                    <a16:rowId xmlns:a16="http://schemas.microsoft.com/office/drawing/2014/main" val="2491092708"/>
                  </a:ext>
                </a:extLst>
              </a:tr>
            </a:tbl>
          </a:graphicData>
        </a:graphic>
      </p:graphicFrame>
    </p:spTree>
    <p:extLst>
      <p:ext uri="{BB962C8B-B14F-4D97-AF65-F5344CB8AC3E}">
        <p14:creationId xmlns:p14="http://schemas.microsoft.com/office/powerpoint/2010/main" val="28154506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96EC9-025B-4C70-98E9-EC54DF677976}"/>
              </a:ext>
            </a:extLst>
          </p:cNvPr>
          <p:cNvSpPr>
            <a:spLocks noGrp="1"/>
          </p:cNvSpPr>
          <p:nvPr>
            <p:ph type="title"/>
          </p:nvPr>
        </p:nvSpPr>
        <p:spPr>
          <a:xfrm>
            <a:off x="508163" y="266700"/>
            <a:ext cx="11124858" cy="1104900"/>
          </a:xfrm>
        </p:spPr>
        <p:txBody>
          <a:bodyPr wrap="square" anchor="b">
            <a:normAutofit/>
          </a:bodyPr>
          <a:lstStyle/>
          <a:p>
            <a:r>
              <a:rPr lang="en-HK"/>
              <a:t>Summary</a:t>
            </a:r>
          </a:p>
        </p:txBody>
      </p:sp>
      <p:sp>
        <p:nvSpPr>
          <p:cNvPr id="4" name="Slide Number Placeholder 3">
            <a:extLst>
              <a:ext uri="{FF2B5EF4-FFF2-40B4-BE49-F238E27FC236}">
                <a16:creationId xmlns:a16="http://schemas.microsoft.com/office/drawing/2014/main" id="{12D334DE-3289-4B86-8AAC-E5CC8F7E8F21}"/>
              </a:ext>
            </a:extLst>
          </p:cNvPr>
          <p:cNvSpPr>
            <a:spLocks noGrp="1"/>
          </p:cNvSpPr>
          <p:nvPr>
            <p:ph type="sldNum" sz="quarter" idx="12"/>
          </p:nvPr>
        </p:nvSpPr>
        <p:spPr>
          <a:xfrm>
            <a:off x="9144978" y="6172200"/>
            <a:ext cx="2538859" cy="457200"/>
          </a:xfrm>
        </p:spPr>
        <p:txBody>
          <a:bodyPr wrap="none" anchor="ctr">
            <a:normAutofit/>
          </a:bodyPr>
          <a:lstStyle/>
          <a:p>
            <a:pPr>
              <a:spcAft>
                <a:spcPts val="600"/>
              </a:spcAft>
              <a:defRPr/>
            </a:pPr>
            <a:fld id="{63B8F44C-0EDE-4D7D-9086-BD1CF3CE7AF7}" type="slidenum">
              <a:rPr lang="en-US" smtClean="0"/>
              <a:pPr>
                <a:spcAft>
                  <a:spcPts val="600"/>
                </a:spcAft>
                <a:defRPr/>
              </a:pPr>
              <a:t>3</a:t>
            </a:fld>
            <a:endParaRPr lang="en-US"/>
          </a:p>
        </p:txBody>
      </p:sp>
      <p:graphicFrame>
        <p:nvGraphicFramePr>
          <p:cNvPr id="6" name="Table 5">
            <a:extLst>
              <a:ext uri="{FF2B5EF4-FFF2-40B4-BE49-F238E27FC236}">
                <a16:creationId xmlns:a16="http://schemas.microsoft.com/office/drawing/2014/main" id="{D970E762-BCC1-A10E-974B-875E04FB5987}"/>
              </a:ext>
            </a:extLst>
          </p:cNvPr>
          <p:cNvGraphicFramePr>
            <a:graphicFrameLocks noGrp="1"/>
          </p:cNvGraphicFramePr>
          <p:nvPr>
            <p:extLst>
              <p:ext uri="{D42A27DB-BD31-4B8C-83A1-F6EECF244321}">
                <p14:modId xmlns:p14="http://schemas.microsoft.com/office/powerpoint/2010/main" val="1333504031"/>
              </p:ext>
            </p:extLst>
          </p:nvPr>
        </p:nvGraphicFramePr>
        <p:xfrm>
          <a:off x="703006" y="2421431"/>
          <a:ext cx="9759430" cy="3175284"/>
        </p:xfrm>
        <a:graphic>
          <a:graphicData uri="http://schemas.openxmlformats.org/drawingml/2006/table">
            <a:tbl>
              <a:tblPr bandRow="1">
                <a:tableStyleId>{284E427A-3D55-4303-BF80-6455036E1DE7}</a:tableStyleId>
              </a:tblPr>
              <a:tblGrid>
                <a:gridCol w="1765065">
                  <a:extLst>
                    <a:ext uri="{9D8B030D-6E8A-4147-A177-3AD203B41FA5}">
                      <a16:colId xmlns:a16="http://schemas.microsoft.com/office/drawing/2014/main" val="2478923416"/>
                    </a:ext>
                  </a:extLst>
                </a:gridCol>
                <a:gridCol w="2116014">
                  <a:extLst>
                    <a:ext uri="{9D8B030D-6E8A-4147-A177-3AD203B41FA5}">
                      <a16:colId xmlns:a16="http://schemas.microsoft.com/office/drawing/2014/main" val="896591903"/>
                    </a:ext>
                  </a:extLst>
                </a:gridCol>
                <a:gridCol w="5878351">
                  <a:extLst>
                    <a:ext uri="{9D8B030D-6E8A-4147-A177-3AD203B41FA5}">
                      <a16:colId xmlns:a16="http://schemas.microsoft.com/office/drawing/2014/main" val="1965083422"/>
                    </a:ext>
                  </a:extLst>
                </a:gridCol>
              </a:tblGrid>
              <a:tr h="544391">
                <a:tc>
                  <a:txBody>
                    <a:bodyPr/>
                    <a:lstStyle/>
                    <a:p>
                      <a:pPr algn="ctr" rtl="0" fontAlgn="base">
                        <a:lnSpc>
                          <a:spcPts val="2625"/>
                        </a:lnSpc>
                      </a:pPr>
                      <a:r>
                        <a:rPr lang="en-US" sz="2500">
                          <a:effectLst/>
                        </a:rPr>
                        <a:t>Questions</a:t>
                      </a:r>
                    </a:p>
                  </a:txBody>
                  <a:tcPr marL="7468" marR="7468" marT="7468" marB="35843" anchor="ctr"/>
                </a:tc>
                <a:tc>
                  <a:txBody>
                    <a:bodyPr/>
                    <a:lstStyle/>
                    <a:p>
                      <a:pPr algn="ctr" rtl="0" fontAlgn="base">
                        <a:lnSpc>
                          <a:spcPts val="2625"/>
                        </a:lnSpc>
                      </a:pPr>
                      <a:r>
                        <a:rPr lang="en-US" sz="2500">
                          <a:effectLst/>
                        </a:rPr>
                        <a:t>TA</a:t>
                      </a:r>
                    </a:p>
                  </a:txBody>
                  <a:tcPr marL="7468" marR="7468" marT="7468" marB="35843" anchor="ctr"/>
                </a:tc>
                <a:tc>
                  <a:txBody>
                    <a:bodyPr/>
                    <a:lstStyle/>
                    <a:p>
                      <a:pPr algn="ctr" rtl="0" fontAlgn="base">
                        <a:lnSpc>
                          <a:spcPts val="2625"/>
                        </a:lnSpc>
                      </a:pPr>
                      <a:r>
                        <a:rPr lang="en-US" sz="2500">
                          <a:effectLst/>
                        </a:rPr>
                        <a:t>Email</a:t>
                      </a:r>
                    </a:p>
                  </a:txBody>
                  <a:tcPr marL="7468" marR="7468" marT="7468" marB="35843" anchor="ctr"/>
                </a:tc>
                <a:extLst>
                  <a:ext uri="{0D108BD9-81ED-4DB2-BD59-A6C34878D82A}">
                    <a16:rowId xmlns:a16="http://schemas.microsoft.com/office/drawing/2014/main" val="2056267349"/>
                  </a:ext>
                </a:extLst>
              </a:tr>
              <a:tr h="461246">
                <a:tc>
                  <a:txBody>
                    <a:bodyPr/>
                    <a:lstStyle/>
                    <a:p>
                      <a:pPr algn="ctr" rtl="0" fontAlgn="base">
                        <a:lnSpc>
                          <a:spcPts val="2625"/>
                        </a:lnSpc>
                      </a:pPr>
                      <a:r>
                        <a:rPr lang="en-US" sz="2500">
                          <a:effectLst/>
                        </a:rPr>
                        <a:t>Q1, Q3 of S1</a:t>
                      </a:r>
                    </a:p>
                  </a:txBody>
                  <a:tcPr marL="7468" marR="7468" marT="7468" marB="35843" anchor="ctr"/>
                </a:tc>
                <a:tc>
                  <a:txBody>
                    <a:bodyPr/>
                    <a:lstStyle/>
                    <a:p>
                      <a:pPr algn="ctr" rtl="0" fontAlgn="base">
                        <a:lnSpc>
                          <a:spcPts val="2625"/>
                        </a:lnSpc>
                      </a:pPr>
                      <a:r>
                        <a:rPr lang="en-US" sz="2500">
                          <a:effectLst/>
                        </a:rPr>
                        <a:t>Xiaona LI</a:t>
                      </a:r>
                    </a:p>
                  </a:txBody>
                  <a:tcPr marL="7468" marR="7468" marT="7468" marB="35843" anchor="ctr"/>
                </a:tc>
                <a:tc>
                  <a:txBody>
                    <a:bodyPr/>
                    <a:lstStyle/>
                    <a:p>
                      <a:pPr lvl="0" algn="ctr">
                        <a:lnSpc>
                          <a:spcPts val="2625"/>
                        </a:lnSpc>
                        <a:buNone/>
                      </a:pPr>
                      <a:r>
                        <a:rPr lang="en-US" sz="2500" u="none" strike="noStrike" baseline="0" noProof="0">
                          <a:solidFill>
                            <a:srgbClr val="000000"/>
                          </a:solidFill>
                          <a:effectLst/>
                        </a:rPr>
                        <a:t>xiaonali3-c@my.cityu.edu.hk</a:t>
                      </a:r>
                      <a:endParaRPr lang="en-US" sz="2500"/>
                    </a:p>
                  </a:txBody>
                  <a:tcPr marL="7468" marR="7468" marT="7468" marB="35843" anchor="ctr"/>
                </a:tc>
                <a:extLst>
                  <a:ext uri="{0D108BD9-81ED-4DB2-BD59-A6C34878D82A}">
                    <a16:rowId xmlns:a16="http://schemas.microsoft.com/office/drawing/2014/main" val="1416023240"/>
                  </a:ext>
                </a:extLst>
              </a:tr>
              <a:tr h="388714">
                <a:tc>
                  <a:txBody>
                    <a:bodyPr/>
                    <a:lstStyle/>
                    <a:p>
                      <a:pPr algn="ctr" rtl="0" fontAlgn="base">
                        <a:lnSpc>
                          <a:spcPts val="2625"/>
                        </a:lnSpc>
                      </a:pPr>
                      <a:r>
                        <a:rPr lang="en-US" sz="2500">
                          <a:effectLst/>
                        </a:rPr>
                        <a:t>Q2, Q4 of S1</a:t>
                      </a:r>
                    </a:p>
                  </a:txBody>
                  <a:tcPr marL="7468" marR="7468" marT="7468" marB="35843" anchor="ctr"/>
                </a:tc>
                <a:tc>
                  <a:txBody>
                    <a:bodyPr/>
                    <a:lstStyle/>
                    <a:p>
                      <a:pPr algn="ctr" rtl="0" fontAlgn="base">
                        <a:lnSpc>
                          <a:spcPts val="2625"/>
                        </a:lnSpc>
                      </a:pPr>
                      <a:r>
                        <a:rPr lang="en-US" sz="2500">
                          <a:effectLst/>
                        </a:rPr>
                        <a:t>Qilin ZHOU</a:t>
                      </a:r>
                    </a:p>
                  </a:txBody>
                  <a:tcPr marL="7468" marR="7468" marT="7468" marB="35843" anchor="ctr"/>
                </a:tc>
                <a:tc>
                  <a:txBody>
                    <a:bodyPr/>
                    <a:lstStyle/>
                    <a:p>
                      <a:pPr lvl="0" algn="ctr">
                        <a:lnSpc>
                          <a:spcPts val="2625"/>
                        </a:lnSpc>
                        <a:buNone/>
                      </a:pPr>
                      <a:r>
                        <a:rPr lang="en-US" sz="2500" u="none" strike="noStrike" noProof="0">
                          <a:effectLst/>
                        </a:rPr>
                        <a:t>qlzhou4-c@my.cityu.edu.hk</a:t>
                      </a:r>
                      <a:endParaRPr lang="en-US" sz="2500"/>
                    </a:p>
                  </a:txBody>
                  <a:tcPr marL="7468" marR="7468" marT="7468" marB="35843" anchor="ctr"/>
                </a:tc>
                <a:extLst>
                  <a:ext uri="{0D108BD9-81ED-4DB2-BD59-A6C34878D82A}">
                    <a16:rowId xmlns:a16="http://schemas.microsoft.com/office/drawing/2014/main" val="1337975614"/>
                  </a:ext>
                </a:extLst>
              </a:tr>
              <a:tr h="478023">
                <a:tc>
                  <a:txBody>
                    <a:bodyPr/>
                    <a:lstStyle/>
                    <a:p>
                      <a:pPr algn="ctr" rtl="0" fontAlgn="base">
                        <a:lnSpc>
                          <a:spcPts val="2625"/>
                        </a:lnSpc>
                      </a:pPr>
                      <a:r>
                        <a:rPr lang="en-US" sz="2500">
                          <a:effectLst/>
                        </a:rPr>
                        <a:t>Q2, Q3, Q4 of S2</a:t>
                      </a:r>
                    </a:p>
                  </a:txBody>
                  <a:tcPr marL="7468" marR="7468" marT="7468" marB="35843" anchor="ctr"/>
                </a:tc>
                <a:tc>
                  <a:txBody>
                    <a:bodyPr/>
                    <a:lstStyle/>
                    <a:p>
                      <a:pPr algn="ctr" rtl="0" fontAlgn="base">
                        <a:lnSpc>
                          <a:spcPts val="2625"/>
                        </a:lnSpc>
                      </a:pPr>
                      <a:r>
                        <a:rPr lang="en-US" sz="2500">
                          <a:effectLst/>
                        </a:rPr>
                        <a:t>Yue LI</a:t>
                      </a:r>
                    </a:p>
                  </a:txBody>
                  <a:tcPr marL="7468" marR="7468" marT="7468" marB="35843" anchor="ctr"/>
                </a:tc>
                <a:tc>
                  <a:txBody>
                    <a:bodyPr/>
                    <a:lstStyle/>
                    <a:p>
                      <a:pPr lvl="0" algn="ctr">
                        <a:lnSpc>
                          <a:spcPts val="2625"/>
                        </a:lnSpc>
                        <a:buNone/>
                      </a:pPr>
                      <a:r>
                        <a:rPr lang="en-US" sz="2500" u="none" strike="noStrike" noProof="0">
                          <a:effectLst/>
                        </a:rPr>
                        <a:t>yueli345-c@my.cityu.edu.hk</a:t>
                      </a:r>
                      <a:endParaRPr lang="en-US" sz="2500"/>
                    </a:p>
                  </a:txBody>
                  <a:tcPr marL="7468" marR="7468" marT="7468" marB="35843" anchor="ctr"/>
                </a:tc>
                <a:extLst>
                  <a:ext uri="{0D108BD9-81ED-4DB2-BD59-A6C34878D82A}">
                    <a16:rowId xmlns:a16="http://schemas.microsoft.com/office/drawing/2014/main" val="3061764690"/>
                  </a:ext>
                </a:extLst>
              </a:tr>
              <a:tr h="0">
                <a:tc>
                  <a:txBody>
                    <a:bodyPr/>
                    <a:lstStyle/>
                    <a:p>
                      <a:pPr algn="ctr" rtl="0" fontAlgn="base">
                        <a:lnSpc>
                          <a:spcPts val="2625"/>
                        </a:lnSpc>
                      </a:pPr>
                      <a:r>
                        <a:rPr lang="en-US" sz="2500">
                          <a:effectLst/>
                        </a:rPr>
                        <a:t>Q1, Q5 of S2, Q1 of S3</a:t>
                      </a:r>
                    </a:p>
                  </a:txBody>
                  <a:tcPr marL="7468" marR="7468" marT="7468" marB="35843" anchor="ctr"/>
                </a:tc>
                <a:tc>
                  <a:txBody>
                    <a:bodyPr/>
                    <a:lstStyle/>
                    <a:p>
                      <a:pPr algn="ctr" rtl="0" fontAlgn="base">
                        <a:lnSpc>
                          <a:spcPts val="2625"/>
                        </a:lnSpc>
                      </a:pPr>
                      <a:r>
                        <a:rPr lang="en-US" sz="2500">
                          <a:effectLst/>
                        </a:rPr>
                        <a:t>Xiangrui ZENG</a:t>
                      </a:r>
                    </a:p>
                  </a:txBody>
                  <a:tcPr marL="7468" marR="7468" marT="7468" marB="35843" anchor="ctr"/>
                </a:tc>
                <a:tc>
                  <a:txBody>
                    <a:bodyPr/>
                    <a:lstStyle/>
                    <a:p>
                      <a:pPr lvl="0" algn="ctr">
                        <a:lnSpc>
                          <a:spcPts val="2625"/>
                        </a:lnSpc>
                        <a:buNone/>
                      </a:pPr>
                      <a:r>
                        <a:rPr lang="en-US" sz="2500" u="none" strike="noStrike" noProof="0">
                          <a:effectLst/>
                        </a:rPr>
                        <a:t>xiazeng9-c@my.cityu.edu.hk</a:t>
                      </a:r>
                      <a:endParaRPr lang="en-US" sz="2500"/>
                    </a:p>
                  </a:txBody>
                  <a:tcPr marL="7468" marR="7468" marT="7468" marB="35843" anchor="ctr"/>
                </a:tc>
                <a:extLst>
                  <a:ext uri="{0D108BD9-81ED-4DB2-BD59-A6C34878D82A}">
                    <a16:rowId xmlns:a16="http://schemas.microsoft.com/office/drawing/2014/main" val="4266077764"/>
                  </a:ext>
                </a:extLst>
              </a:tr>
              <a:tr h="0">
                <a:tc>
                  <a:txBody>
                    <a:bodyPr/>
                    <a:lstStyle/>
                    <a:p>
                      <a:pPr algn="ctr" rtl="0" fontAlgn="base">
                        <a:lnSpc>
                          <a:spcPts val="2625"/>
                        </a:lnSpc>
                      </a:pPr>
                      <a:r>
                        <a:rPr lang="en-US" sz="2500">
                          <a:effectLst/>
                        </a:rPr>
                        <a:t>Q2, Q3 of S3</a:t>
                      </a:r>
                    </a:p>
                  </a:txBody>
                  <a:tcPr marL="7468" marR="7468" marT="7468" marB="35843" anchor="ctr"/>
                </a:tc>
                <a:tc>
                  <a:txBody>
                    <a:bodyPr/>
                    <a:lstStyle/>
                    <a:p>
                      <a:pPr algn="ctr" rtl="0" fontAlgn="base">
                        <a:lnSpc>
                          <a:spcPts val="2625"/>
                        </a:lnSpc>
                      </a:pPr>
                      <a:r>
                        <a:rPr lang="en-US" sz="2500">
                          <a:effectLst/>
                        </a:rPr>
                        <a:t>Zhuo WANG</a:t>
                      </a:r>
                    </a:p>
                  </a:txBody>
                  <a:tcPr marL="7468" marR="7468" marT="7468" marB="35843" anchor="ctr"/>
                </a:tc>
                <a:tc>
                  <a:txBody>
                    <a:bodyPr/>
                    <a:lstStyle/>
                    <a:p>
                      <a:pPr lvl="0" algn="ctr">
                        <a:lnSpc>
                          <a:spcPts val="2625"/>
                        </a:lnSpc>
                        <a:buNone/>
                      </a:pPr>
                      <a:r>
                        <a:rPr lang="en-US" sz="2500"/>
                        <a:t>zwang2346-c@my.cityu.edu.hk</a:t>
                      </a:r>
                    </a:p>
                  </a:txBody>
                  <a:tcPr marL="7468" marR="7468" marT="7468" marB="35843" anchor="ctr"/>
                </a:tc>
                <a:extLst>
                  <a:ext uri="{0D108BD9-81ED-4DB2-BD59-A6C34878D82A}">
                    <a16:rowId xmlns:a16="http://schemas.microsoft.com/office/drawing/2014/main" val="2379412215"/>
                  </a:ext>
                </a:extLst>
              </a:tr>
            </a:tbl>
          </a:graphicData>
        </a:graphic>
      </p:graphicFrame>
      <p:sp>
        <p:nvSpPr>
          <p:cNvPr id="7" name="TextBox 6">
            <a:extLst>
              <a:ext uri="{FF2B5EF4-FFF2-40B4-BE49-F238E27FC236}">
                <a16:creationId xmlns:a16="http://schemas.microsoft.com/office/drawing/2014/main" id="{839DB5EF-FFC9-63EE-B5D1-315A148CBAA2}"/>
              </a:ext>
            </a:extLst>
          </p:cNvPr>
          <p:cNvSpPr txBox="1"/>
          <p:nvPr/>
        </p:nvSpPr>
        <p:spPr>
          <a:xfrm>
            <a:off x="751036" y="1371600"/>
            <a:ext cx="966337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a:solidFill>
                  <a:srgbClr val="000000"/>
                </a:solidFill>
                <a:ea typeface="+mn-lt"/>
                <a:cs typeface="+mn-lt"/>
              </a:rPr>
              <a:t>Inquiries and reviews regarding quiz scores will only be accepted within one week</a:t>
            </a:r>
            <a:r>
              <a:rPr lang="en-US" sz="2700">
                <a:cs typeface="Times New Roman"/>
              </a:rPr>
              <a:t> (Until </a:t>
            </a:r>
            <a:r>
              <a:rPr lang="en-US" sz="2700" b="1" u="sng">
                <a:cs typeface="Times New Roman"/>
              </a:rPr>
              <a:t>Dec </a:t>
            </a:r>
            <a:r>
              <a:rPr lang="en-US" altLang="zh-CN" sz="2700" b="1" u="sng">
                <a:cs typeface="Times New Roman"/>
              </a:rPr>
              <a:t>1</a:t>
            </a:r>
            <a:r>
              <a:rPr lang="en-US" sz="2700">
                <a:cs typeface="Times New Roman"/>
              </a:rPr>
              <a:t>). </a:t>
            </a:r>
            <a:r>
              <a:rPr lang="en-US" sz="2700">
                <a:ea typeface="Lato"/>
                <a:cs typeface="Times New Roman"/>
              </a:rPr>
              <a:t>No late request will be considered.</a:t>
            </a:r>
            <a:endParaRPr lang="en-US" sz="2700">
              <a:cs typeface="Times New Roman"/>
            </a:endParaRPr>
          </a:p>
          <a:p>
            <a:br>
              <a:rPr lang="en-US"/>
            </a:br>
            <a:endParaRPr lang="en-US"/>
          </a:p>
        </p:txBody>
      </p:sp>
      <p:sp>
        <p:nvSpPr>
          <p:cNvPr id="3" name="TextBox 6">
            <a:extLst>
              <a:ext uri="{FF2B5EF4-FFF2-40B4-BE49-F238E27FC236}">
                <a16:creationId xmlns:a16="http://schemas.microsoft.com/office/drawing/2014/main" id="{04A71E27-7913-2328-9557-A63B96B7F7C1}"/>
              </a:ext>
            </a:extLst>
          </p:cNvPr>
          <p:cNvSpPr txBox="1"/>
          <p:nvPr/>
        </p:nvSpPr>
        <p:spPr>
          <a:xfrm>
            <a:off x="703006" y="5699791"/>
            <a:ext cx="966337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000000"/>
                </a:solidFill>
                <a:ea typeface="+mn-lt"/>
                <a:cs typeface="+mn-lt"/>
              </a:rPr>
              <a:t>Note: Q is short for Question, and S is short for Scenario.</a:t>
            </a:r>
            <a:endParaRPr lang="en-US" sz="1600"/>
          </a:p>
        </p:txBody>
      </p:sp>
    </p:spTree>
    <p:extLst>
      <p:ext uri="{BB962C8B-B14F-4D97-AF65-F5344CB8AC3E}">
        <p14:creationId xmlns:p14="http://schemas.microsoft.com/office/powerpoint/2010/main" val="11015534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E16EB6-832F-9E7C-2C44-B0EEF1689A6F}"/>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B3B03C08-0B38-E4CA-3C79-88494976D60C}"/>
              </a:ext>
            </a:extLst>
          </p:cNvPr>
          <p:cNvSpPr>
            <a:spLocks noGrp="1"/>
          </p:cNvSpPr>
          <p:nvPr>
            <p:ph type="tbl" idx="1"/>
          </p:nvPr>
        </p:nvSpPr>
        <p:spPr>
          <a:xfrm>
            <a:off x="355763" y="1371600"/>
            <a:ext cx="11124858" cy="4953000"/>
          </a:xfrm>
        </p:spPr>
        <p:txBody>
          <a:bodyPr/>
          <a:lstStyle/>
          <a:p>
            <a:r>
              <a:rPr lang="en-US" altLang="zh-CN" sz="2400" b="1"/>
              <a:t>Software Process</a:t>
            </a:r>
            <a:endParaRPr lang="zh-CN" altLang="zh-CN" sz="2400" b="1"/>
          </a:p>
          <a:p>
            <a:r>
              <a:rPr lang="en-HK" altLang="zh-CN" sz="2400"/>
              <a:t>1. Which of the following is a missing element in a Scrum process that prevents tracking progress against a schedule?</a:t>
            </a:r>
            <a:endParaRPr lang="zh-CN" altLang="zh-CN" sz="2400"/>
          </a:p>
          <a:p>
            <a:r>
              <a:rPr lang="en-HK" altLang="zh-CN" sz="2400"/>
              <a:t>   A. Daily stand-up meetings</a:t>
            </a:r>
            <a:endParaRPr lang="zh-CN" altLang="zh-CN" sz="2400"/>
          </a:p>
          <a:p>
            <a:r>
              <a:rPr lang="en-HK" altLang="zh-CN" sz="2400" b="1">
                <a:solidFill>
                  <a:srgbClr val="FF0000"/>
                </a:solidFill>
              </a:rPr>
              <a:t>   B. None of the other choices.</a:t>
            </a:r>
            <a:endParaRPr lang="zh-CN" altLang="zh-CN" sz="2400" b="1">
              <a:solidFill>
                <a:srgbClr val="FF0000"/>
              </a:solidFill>
            </a:endParaRPr>
          </a:p>
          <a:p>
            <a:r>
              <a:rPr lang="en-HK" altLang="zh-CN" sz="2400"/>
              <a:t>   C. User stories</a:t>
            </a:r>
            <a:endParaRPr lang="zh-CN" altLang="zh-CN" sz="2400"/>
          </a:p>
          <a:p>
            <a:r>
              <a:rPr lang="en-HK" altLang="zh-CN" sz="2400"/>
              <a:t>   D. Code review</a:t>
            </a:r>
            <a:endParaRPr lang="zh-CN" altLang="zh-CN" sz="2400"/>
          </a:p>
          <a:p>
            <a:r>
              <a:rPr lang="en-HK" altLang="zh-CN" sz="2400"/>
              <a:t>   E. Release notes</a:t>
            </a:r>
            <a:endParaRPr lang="zh-CN" altLang="zh-CN" sz="2400"/>
          </a:p>
          <a:p>
            <a:pPr marL="0" indent="0">
              <a:buNone/>
            </a:pPr>
            <a:endParaRPr lang="en-US" altLang="zh-CN" sz="2400"/>
          </a:p>
          <a:p>
            <a:pPr marL="0" indent="0">
              <a:buNone/>
            </a:pPr>
            <a:r>
              <a:rPr lang="en-HK" altLang="zh-CN" sz="2400"/>
              <a:t>Explanation: None of the other choices</a:t>
            </a:r>
            <a:r>
              <a:rPr lang="en-US" altLang="zh-CN" sz="2400"/>
              <a:t>.</a:t>
            </a:r>
            <a:r>
              <a:rPr lang="zh-CN" altLang="en-US" sz="2400"/>
              <a:t> </a:t>
            </a:r>
            <a:r>
              <a:rPr lang="en-US" altLang="zh-CN" sz="2400"/>
              <a:t>E</a:t>
            </a:r>
            <a:r>
              <a:rPr lang="en-HK" altLang="zh-CN" sz="2400"/>
              <a:t>.g., the lack of burndown charts may </a:t>
            </a:r>
            <a:r>
              <a:rPr lang="en-US" altLang="zh-CN" sz="2400"/>
              <a:t>prevent tracking progress against a schedule (see cs5351-process Pages 65-66).</a:t>
            </a:r>
            <a:endParaRPr lang="zh-CN" altLang="en-US" sz="1800"/>
          </a:p>
        </p:txBody>
      </p:sp>
      <p:sp>
        <p:nvSpPr>
          <p:cNvPr id="4" name="灯片编号占位符 3">
            <a:extLst>
              <a:ext uri="{FF2B5EF4-FFF2-40B4-BE49-F238E27FC236}">
                <a16:creationId xmlns:a16="http://schemas.microsoft.com/office/drawing/2014/main" id="{98D6B549-B1CF-72A4-80F1-67AEE86D00CE}"/>
              </a:ext>
            </a:extLst>
          </p:cNvPr>
          <p:cNvSpPr>
            <a:spLocks noGrp="1"/>
          </p:cNvSpPr>
          <p:nvPr>
            <p:ph type="sldNum" sz="quarter" idx="12"/>
          </p:nvPr>
        </p:nvSpPr>
        <p:spPr/>
        <p:txBody>
          <a:bodyPr/>
          <a:lstStyle/>
          <a:p>
            <a:pPr>
              <a:defRPr/>
            </a:pPr>
            <a:fld id="{5792DDC3-EFA3-4647-8A6E-E8039DA1A91A}" type="slidenum">
              <a:rPr lang="en-US" smtClean="0"/>
              <a:pPr>
                <a:defRPr/>
              </a:pPr>
              <a:t>4</a:t>
            </a:fld>
            <a:endParaRPr lang="en-US"/>
          </a:p>
        </p:txBody>
      </p:sp>
    </p:spTree>
    <p:extLst>
      <p:ext uri="{BB962C8B-B14F-4D97-AF65-F5344CB8AC3E}">
        <p14:creationId xmlns:p14="http://schemas.microsoft.com/office/powerpoint/2010/main" val="342607901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E58CF-D942-5163-5084-4D0DDAC28F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96D9E36-62F5-1D00-9EB2-7F1F080C2DD4}"/>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F4753E5C-EE0A-73BE-7DFB-43A698B4EA2F}"/>
              </a:ext>
            </a:extLst>
          </p:cNvPr>
          <p:cNvSpPr>
            <a:spLocks noGrp="1"/>
          </p:cNvSpPr>
          <p:nvPr>
            <p:ph type="tbl" idx="1"/>
          </p:nvPr>
        </p:nvSpPr>
        <p:spPr>
          <a:xfrm>
            <a:off x="449548" y="1524001"/>
            <a:ext cx="11124858" cy="4953000"/>
          </a:xfrm>
        </p:spPr>
        <p:txBody>
          <a:bodyPr/>
          <a:lstStyle/>
          <a:p>
            <a:r>
              <a:rPr lang="en-US" altLang="zh-CN" sz="2400"/>
              <a:t>2. In Scrum, what is the purpose of estimating story points for backlog items?</a:t>
            </a:r>
          </a:p>
          <a:p>
            <a:r>
              <a:rPr lang="en-US" altLang="zh-CN" sz="2400"/>
              <a:t>   A. To assign tasks to developers</a:t>
            </a:r>
          </a:p>
          <a:p>
            <a:r>
              <a:rPr lang="en-US" altLang="zh-CN" sz="2400"/>
              <a:t>   B. To determine the cost of development</a:t>
            </a:r>
          </a:p>
          <a:p>
            <a:r>
              <a:rPr lang="en-US" altLang="zh-CN" sz="2400" b="1">
                <a:solidFill>
                  <a:srgbClr val="FF0000"/>
                </a:solidFill>
              </a:rPr>
              <a:t>   C. To predict sprint velocity</a:t>
            </a:r>
          </a:p>
          <a:p>
            <a:r>
              <a:rPr lang="en-US" altLang="zh-CN" sz="2400"/>
              <a:t>   D. To validate requirements</a:t>
            </a:r>
          </a:p>
          <a:p>
            <a:r>
              <a:rPr lang="en-US" altLang="zh-CN" sz="2400"/>
              <a:t>   E. To prioritize bugs</a:t>
            </a:r>
          </a:p>
          <a:p>
            <a:pPr marL="0" indent="0">
              <a:buNone/>
            </a:pPr>
            <a:endParaRPr lang="en-US" altLang="zh-CN" sz="2400"/>
          </a:p>
          <a:p>
            <a:pPr marL="0" indent="0">
              <a:buNone/>
            </a:pPr>
            <a:r>
              <a:rPr lang="en-US" altLang="zh-CN" sz="2400"/>
              <a:t> Explanation: Estimating story points helps predict sprint velocity and plan deliverables.</a:t>
            </a:r>
          </a:p>
          <a:p>
            <a:pPr marL="0" indent="0">
              <a:buNone/>
            </a:pPr>
            <a:r>
              <a:rPr lang="en-US" altLang="zh-CN" sz="2400"/>
              <a:t>(see cs5351-process.pptx Page 64)</a:t>
            </a:r>
            <a:endParaRPr lang="zh-CN" altLang="en-US" sz="1800"/>
          </a:p>
        </p:txBody>
      </p:sp>
      <p:sp>
        <p:nvSpPr>
          <p:cNvPr id="4" name="灯片编号占位符 3">
            <a:extLst>
              <a:ext uri="{FF2B5EF4-FFF2-40B4-BE49-F238E27FC236}">
                <a16:creationId xmlns:a16="http://schemas.microsoft.com/office/drawing/2014/main" id="{3F8A4AB5-92E5-08BC-FED6-637C61E521FD}"/>
              </a:ext>
            </a:extLst>
          </p:cNvPr>
          <p:cNvSpPr>
            <a:spLocks noGrp="1"/>
          </p:cNvSpPr>
          <p:nvPr>
            <p:ph type="sldNum" sz="quarter" idx="12"/>
          </p:nvPr>
        </p:nvSpPr>
        <p:spPr/>
        <p:txBody>
          <a:bodyPr/>
          <a:lstStyle/>
          <a:p>
            <a:pPr>
              <a:defRPr/>
            </a:pPr>
            <a:fld id="{5792DDC3-EFA3-4647-8A6E-E8039DA1A91A}" type="slidenum">
              <a:rPr lang="en-US" smtClean="0"/>
              <a:pPr>
                <a:defRPr/>
              </a:pPr>
              <a:t>5</a:t>
            </a:fld>
            <a:endParaRPr lang="en-US"/>
          </a:p>
        </p:txBody>
      </p:sp>
    </p:spTree>
    <p:extLst>
      <p:ext uri="{BB962C8B-B14F-4D97-AF65-F5344CB8AC3E}">
        <p14:creationId xmlns:p14="http://schemas.microsoft.com/office/powerpoint/2010/main" val="18170291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ACE74-0B6A-6FEA-73DA-FFB87726A85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842862A-B3F5-424A-D05C-D766D32C9EB0}"/>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55E15D34-ABB6-420D-C72F-8D5684CAA0D4}"/>
              </a:ext>
            </a:extLst>
          </p:cNvPr>
          <p:cNvSpPr>
            <a:spLocks noGrp="1"/>
          </p:cNvSpPr>
          <p:nvPr>
            <p:ph type="tbl" idx="1"/>
          </p:nvPr>
        </p:nvSpPr>
        <p:spPr>
          <a:xfrm>
            <a:off x="449548" y="1524001"/>
            <a:ext cx="11124858" cy="4953000"/>
          </a:xfrm>
        </p:spPr>
        <p:txBody>
          <a:bodyPr/>
          <a:lstStyle/>
          <a:p>
            <a:r>
              <a:rPr lang="en-US" altLang="zh-CN" sz="2400"/>
              <a:t>3. Which metric is essential for forecasting project completion in Scrum?</a:t>
            </a:r>
          </a:p>
          <a:p>
            <a:r>
              <a:rPr lang="en-US" altLang="zh-CN" sz="2400"/>
              <a:t>   A. Code coverage</a:t>
            </a:r>
          </a:p>
          <a:p>
            <a:r>
              <a:rPr lang="en-US" altLang="zh-CN" sz="2400"/>
              <a:t>   B. Bug count</a:t>
            </a:r>
          </a:p>
          <a:p>
            <a:r>
              <a:rPr lang="en-US" altLang="zh-CN" sz="2400" b="1">
                <a:solidFill>
                  <a:srgbClr val="FF0000"/>
                </a:solidFill>
              </a:rPr>
              <a:t>   C. Project velocity</a:t>
            </a:r>
          </a:p>
          <a:p>
            <a:r>
              <a:rPr lang="en-US" altLang="zh-CN" sz="2400"/>
              <a:t>   D. Team size</a:t>
            </a:r>
          </a:p>
          <a:p>
            <a:r>
              <a:rPr lang="en-US" altLang="zh-CN" sz="2400"/>
              <a:t>   E. Release frequency</a:t>
            </a:r>
          </a:p>
          <a:p>
            <a:pPr marL="0" indent="0">
              <a:buNone/>
            </a:pPr>
            <a:endParaRPr lang="en-US" altLang="zh-CN" sz="2400"/>
          </a:p>
          <a:p>
            <a:pPr marL="0" indent="0">
              <a:buNone/>
            </a:pPr>
            <a:r>
              <a:rPr lang="en-US" altLang="zh-CN" sz="2400"/>
              <a:t>Explanation: Velocity measures the amount of work completed in a sprint and helps forecast project completion. (see cs5351-process.pptx Pages 64-66)</a:t>
            </a:r>
          </a:p>
          <a:p>
            <a:pPr marL="0" indent="0">
              <a:buNone/>
            </a:pPr>
            <a:endParaRPr lang="zh-CN" altLang="en-US" sz="1800"/>
          </a:p>
        </p:txBody>
      </p:sp>
      <p:sp>
        <p:nvSpPr>
          <p:cNvPr id="4" name="灯片编号占位符 3">
            <a:extLst>
              <a:ext uri="{FF2B5EF4-FFF2-40B4-BE49-F238E27FC236}">
                <a16:creationId xmlns:a16="http://schemas.microsoft.com/office/drawing/2014/main" id="{5497DBAC-D839-29AF-64C4-5AF3C333CC91}"/>
              </a:ext>
            </a:extLst>
          </p:cNvPr>
          <p:cNvSpPr>
            <a:spLocks noGrp="1"/>
          </p:cNvSpPr>
          <p:nvPr>
            <p:ph type="sldNum" sz="quarter" idx="12"/>
          </p:nvPr>
        </p:nvSpPr>
        <p:spPr/>
        <p:txBody>
          <a:bodyPr/>
          <a:lstStyle/>
          <a:p>
            <a:pPr>
              <a:defRPr/>
            </a:pPr>
            <a:fld id="{5792DDC3-EFA3-4647-8A6E-E8039DA1A91A}" type="slidenum">
              <a:rPr lang="en-US" smtClean="0"/>
              <a:pPr>
                <a:defRPr/>
              </a:pPr>
              <a:t>6</a:t>
            </a:fld>
            <a:endParaRPr lang="en-US"/>
          </a:p>
        </p:txBody>
      </p:sp>
    </p:spTree>
    <p:extLst>
      <p:ext uri="{BB962C8B-B14F-4D97-AF65-F5344CB8AC3E}">
        <p14:creationId xmlns:p14="http://schemas.microsoft.com/office/powerpoint/2010/main" val="155135876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17453-FFB5-0DF7-50C9-F3E6BB97E09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2BBE63B-BAEC-F8DB-AAA5-780765AB9082}"/>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692C8269-A6B5-5399-3D3F-3964D19E01B7}"/>
              </a:ext>
            </a:extLst>
          </p:cNvPr>
          <p:cNvSpPr>
            <a:spLocks noGrp="1"/>
          </p:cNvSpPr>
          <p:nvPr>
            <p:ph type="tbl" idx="1"/>
          </p:nvPr>
        </p:nvSpPr>
        <p:spPr>
          <a:xfrm>
            <a:off x="449548" y="1524001"/>
            <a:ext cx="11124858" cy="4953000"/>
          </a:xfrm>
        </p:spPr>
        <p:txBody>
          <a:bodyPr/>
          <a:lstStyle/>
          <a:p>
            <a:r>
              <a:rPr lang="en-US" altLang="zh-CN" sz="2400"/>
              <a:t>4. Why is tracking technical debt important in a Scrum project?</a:t>
            </a:r>
          </a:p>
          <a:p>
            <a:r>
              <a:rPr lang="en-US" altLang="zh-CN" sz="2400"/>
              <a:t>   A. To reduce team size</a:t>
            </a:r>
          </a:p>
          <a:p>
            <a:r>
              <a:rPr lang="en-US" altLang="zh-CN" sz="2400"/>
              <a:t>   B. To improve UI design</a:t>
            </a:r>
          </a:p>
          <a:p>
            <a:r>
              <a:rPr lang="en-US" altLang="zh-CN" sz="2400" b="1">
                <a:solidFill>
                  <a:srgbClr val="FF0000"/>
                </a:solidFill>
              </a:rPr>
              <a:t>   C. To ensure realistic project timelines</a:t>
            </a:r>
          </a:p>
          <a:p>
            <a:r>
              <a:rPr lang="en-US" altLang="zh-CN" sz="2400"/>
              <a:t>   D. To increase code reuse</a:t>
            </a:r>
          </a:p>
          <a:p>
            <a:r>
              <a:rPr lang="en-US" altLang="zh-CN" sz="2400"/>
              <a:t>   E. To automate testing</a:t>
            </a:r>
          </a:p>
          <a:p>
            <a:pPr marL="0" indent="0">
              <a:buNone/>
            </a:pPr>
            <a:endParaRPr lang="en-US" altLang="zh-CN" sz="2400"/>
          </a:p>
          <a:p>
            <a:pPr marL="0" indent="0">
              <a:buNone/>
            </a:pPr>
            <a:r>
              <a:rPr lang="en-US" altLang="zh-CN" sz="2400"/>
              <a:t> Explanation: Tracking technical debt ensures realistic timelines and helps prioritize refactoring tasks. (see cs5351-technica-debt-v5.pptx Page 7)</a:t>
            </a:r>
            <a:endParaRPr lang="zh-CN" altLang="en-US" sz="2400"/>
          </a:p>
        </p:txBody>
      </p:sp>
      <p:sp>
        <p:nvSpPr>
          <p:cNvPr id="4" name="灯片编号占位符 3">
            <a:extLst>
              <a:ext uri="{FF2B5EF4-FFF2-40B4-BE49-F238E27FC236}">
                <a16:creationId xmlns:a16="http://schemas.microsoft.com/office/drawing/2014/main" id="{DE1E88FB-6129-3D91-B107-27A6AD47EE8E}"/>
              </a:ext>
            </a:extLst>
          </p:cNvPr>
          <p:cNvSpPr>
            <a:spLocks noGrp="1"/>
          </p:cNvSpPr>
          <p:nvPr>
            <p:ph type="sldNum" sz="quarter" idx="12"/>
          </p:nvPr>
        </p:nvSpPr>
        <p:spPr/>
        <p:txBody>
          <a:bodyPr/>
          <a:lstStyle/>
          <a:p>
            <a:pPr>
              <a:defRPr/>
            </a:pPr>
            <a:fld id="{5792DDC3-EFA3-4647-8A6E-E8039DA1A91A}" type="slidenum">
              <a:rPr lang="en-US" smtClean="0"/>
              <a:pPr>
                <a:defRPr/>
              </a:pPr>
              <a:t>7</a:t>
            </a:fld>
            <a:endParaRPr lang="en-US"/>
          </a:p>
        </p:txBody>
      </p:sp>
    </p:spTree>
    <p:extLst>
      <p:ext uri="{BB962C8B-B14F-4D97-AF65-F5344CB8AC3E}">
        <p14:creationId xmlns:p14="http://schemas.microsoft.com/office/powerpoint/2010/main" val="14148643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C444F-B2E6-C08C-4C59-BB50D90FC66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7D01402-7EED-4067-4BBB-0D0B92C65C41}"/>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C0F824B3-5B40-357A-CE6D-FD9233111C6D}"/>
              </a:ext>
            </a:extLst>
          </p:cNvPr>
          <p:cNvSpPr>
            <a:spLocks noGrp="1"/>
          </p:cNvSpPr>
          <p:nvPr>
            <p:ph type="tbl" idx="1"/>
          </p:nvPr>
        </p:nvSpPr>
        <p:spPr>
          <a:xfrm>
            <a:off x="449548" y="1524001"/>
            <a:ext cx="11124858" cy="4953000"/>
          </a:xfrm>
        </p:spPr>
        <p:txBody>
          <a:bodyPr/>
          <a:lstStyle/>
          <a:p>
            <a:pPr marL="398145" indent="-398145"/>
            <a:r>
              <a:rPr lang="en-US" altLang="zh-CN" sz="2400"/>
              <a:t>5. </a:t>
            </a:r>
            <a:r>
              <a:rPr lang="en-US" sz="2400"/>
              <a:t>Which practice enforces the implementation of high-priority tasks in Scrum?</a:t>
            </a:r>
            <a:endParaRPr lang="zh-CN" altLang="en-US" sz="2400"/>
          </a:p>
          <a:p>
            <a:pPr marL="398145" indent="-398145"/>
            <a:r>
              <a:rPr lang="en-US" altLang="zh-CN" sz="2400"/>
              <a:t>   </a:t>
            </a:r>
            <a:r>
              <a:rPr lang="en-US" altLang="zh-CN" sz="2400" b="1">
                <a:solidFill>
                  <a:srgbClr val="FF0000"/>
                </a:solidFill>
              </a:rPr>
              <a:t>A. </a:t>
            </a:r>
            <a:r>
              <a:rPr lang="en-US" sz="2400" b="1">
                <a:solidFill>
                  <a:srgbClr val="FF0000"/>
                </a:solidFill>
              </a:rPr>
              <a:t>Sprint planning (e.g., determine which backlog item to be included in the         sprint backlog)</a:t>
            </a:r>
            <a:endParaRPr lang="en-US" altLang="zh-CN" sz="2400" b="1">
              <a:solidFill>
                <a:srgbClr val="FF0000"/>
              </a:solidFill>
            </a:endParaRPr>
          </a:p>
          <a:p>
            <a:pPr marL="398145" indent="-398145"/>
            <a:r>
              <a:rPr lang="en-US" altLang="zh-CN" sz="2400"/>
              <a:t>   B. </a:t>
            </a:r>
            <a:r>
              <a:rPr lang="en-US" sz="2400"/>
              <a:t>Retrospective meetings (e.g., review of how to do better)</a:t>
            </a:r>
            <a:endParaRPr lang="en-US" altLang="zh-CN" sz="2400"/>
          </a:p>
          <a:p>
            <a:pPr marL="398145" indent="-398145"/>
            <a:r>
              <a:rPr lang="en-US" altLang="zh-CN" sz="2400"/>
              <a:t>   C. </a:t>
            </a:r>
            <a:r>
              <a:rPr lang="en-US" sz="2400"/>
              <a:t>Daily stand-ups (e.g., report what will do and the obstacle)</a:t>
            </a:r>
            <a:endParaRPr lang="en-US" altLang="zh-CN" sz="2400"/>
          </a:p>
          <a:p>
            <a:pPr marL="398145" indent="-398145"/>
            <a:r>
              <a:rPr lang="en-US" altLang="zh-CN" sz="2400"/>
              <a:t>   D. </a:t>
            </a:r>
            <a:r>
              <a:rPr lang="en-US" sz="2400"/>
              <a:t>Release</a:t>
            </a:r>
            <a:r>
              <a:rPr lang="en-US" sz="2400">
                <a:ea typeface="+mn-lt"/>
                <a:cs typeface="+mn-lt"/>
              </a:rPr>
              <a:t> management (e.g., manage the features to release at the end of a sprint)</a:t>
            </a:r>
            <a:endParaRPr lang="en-US" altLang="zh-CN" sz="2400"/>
          </a:p>
          <a:p>
            <a:pPr marL="0" indent="0">
              <a:buNone/>
            </a:pPr>
            <a:endParaRPr lang="en-US" altLang="zh-CN" sz="2400">
              <a:cs typeface="Times New Roman"/>
            </a:endParaRPr>
          </a:p>
          <a:p>
            <a:pPr marL="0" indent="0">
              <a:buNone/>
            </a:pPr>
            <a:r>
              <a:rPr lang="en-US" altLang="zh-CN" sz="2400"/>
              <a:t>Explanation: </a:t>
            </a:r>
            <a:r>
              <a:rPr lang="en-US" sz="2400"/>
              <a:t>Sprint planning ensures high-priority tasks are selected for the current sprint.</a:t>
            </a:r>
            <a:r>
              <a:rPr lang="en-US" altLang="zh-CN" sz="2400"/>
              <a:t> (</a:t>
            </a:r>
            <a:r>
              <a:rPr lang="en-US" sz="2400"/>
              <a:t>see cs5351-process.pptx Page 68</a:t>
            </a:r>
            <a:r>
              <a:rPr lang="en-US" altLang="zh-CN" sz="2400"/>
              <a:t>)</a:t>
            </a:r>
            <a:endParaRPr lang="zh-CN" altLang="en-US" sz="2400">
              <a:cs typeface="Times New Roman"/>
            </a:endParaRPr>
          </a:p>
        </p:txBody>
      </p:sp>
      <p:sp>
        <p:nvSpPr>
          <p:cNvPr id="4" name="灯片编号占位符 3">
            <a:extLst>
              <a:ext uri="{FF2B5EF4-FFF2-40B4-BE49-F238E27FC236}">
                <a16:creationId xmlns:a16="http://schemas.microsoft.com/office/drawing/2014/main" id="{02A8F8D7-1BF2-8BD1-79C5-7C1D9EE930DB}"/>
              </a:ext>
            </a:extLst>
          </p:cNvPr>
          <p:cNvSpPr>
            <a:spLocks noGrp="1"/>
          </p:cNvSpPr>
          <p:nvPr>
            <p:ph type="sldNum" sz="quarter" idx="12"/>
          </p:nvPr>
        </p:nvSpPr>
        <p:spPr/>
        <p:txBody>
          <a:bodyPr/>
          <a:lstStyle/>
          <a:p>
            <a:pPr>
              <a:defRPr/>
            </a:pPr>
            <a:fld id="{5792DDC3-EFA3-4647-8A6E-E8039DA1A91A}" type="slidenum">
              <a:rPr lang="en-US" smtClean="0"/>
              <a:pPr>
                <a:defRPr/>
              </a:pPr>
              <a:t>8</a:t>
            </a:fld>
            <a:endParaRPr lang="en-US"/>
          </a:p>
        </p:txBody>
      </p:sp>
    </p:spTree>
    <p:extLst>
      <p:ext uri="{BB962C8B-B14F-4D97-AF65-F5344CB8AC3E}">
        <p14:creationId xmlns:p14="http://schemas.microsoft.com/office/powerpoint/2010/main" val="291945506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ABB8F-D248-683B-0432-9E2DA061552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9114190-DBFA-5A4C-59AC-B0B9AB5A49CC}"/>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A9E4BC79-E8E4-EC7D-BB1F-D026DA8A1530}"/>
              </a:ext>
            </a:extLst>
          </p:cNvPr>
          <p:cNvSpPr>
            <a:spLocks noGrp="1"/>
          </p:cNvSpPr>
          <p:nvPr>
            <p:ph type="tbl" idx="1"/>
          </p:nvPr>
        </p:nvSpPr>
        <p:spPr>
          <a:xfrm>
            <a:off x="355763" y="1371600"/>
            <a:ext cx="11124858" cy="4953000"/>
          </a:xfrm>
        </p:spPr>
        <p:txBody>
          <a:bodyPr/>
          <a:lstStyle/>
          <a:p>
            <a:pPr marL="398145" indent="-398145"/>
            <a:r>
              <a:rPr lang="en-US" altLang="zh-CN" sz="2400" b="1"/>
              <a:t>Software Requirements</a:t>
            </a:r>
            <a:endParaRPr lang="zh-CN" altLang="zh-CN" sz="2400" b="1">
              <a:cs typeface="Times New Roman"/>
            </a:endParaRPr>
          </a:p>
          <a:p>
            <a:pPr marL="398145" indent="-398145"/>
            <a:r>
              <a:rPr lang="en-HK" altLang="zh-CN" sz="2400"/>
              <a:t>6. </a:t>
            </a:r>
            <a:r>
              <a:rPr lang="en-HK" sz="2400"/>
              <a:t>Which of the following best describes a non-functional requirement?</a:t>
            </a:r>
            <a:endParaRPr lang="zh-CN" altLang="zh-CN" sz="2400"/>
          </a:p>
          <a:p>
            <a:pPr marL="398145" indent="-398145"/>
            <a:r>
              <a:rPr lang="en-HK" altLang="zh-CN" sz="2400"/>
              <a:t>   A. </a:t>
            </a:r>
            <a:r>
              <a:rPr lang="en-HK" sz="2400"/>
              <a:t>The system shall allow users to log in</a:t>
            </a:r>
            <a:endParaRPr lang="zh-CN" altLang="zh-CN" sz="2400"/>
          </a:p>
          <a:p>
            <a:pPr marL="398145" indent="-398145"/>
            <a:r>
              <a:rPr lang="en-HK" altLang="zh-CN" sz="2400" b="1">
                <a:solidFill>
                  <a:srgbClr val="FF0000"/>
                </a:solidFill>
              </a:rPr>
              <a:t>   </a:t>
            </a:r>
            <a:r>
              <a:rPr lang="en-HK" altLang="zh-CN" sz="2400"/>
              <a:t>B. The system shall process payments</a:t>
            </a:r>
            <a:endParaRPr lang="zh-CN" altLang="en-US" sz="2400"/>
          </a:p>
          <a:p>
            <a:pPr marL="398145" indent="-398145"/>
            <a:r>
              <a:rPr lang="en-HK" altLang="zh-CN" sz="2400"/>
              <a:t>  </a:t>
            </a:r>
            <a:r>
              <a:rPr lang="en-HK" altLang="zh-CN" sz="2400" b="1">
                <a:solidFill>
                  <a:srgbClr val="FF0000"/>
                </a:solidFill>
              </a:rPr>
              <a:t> C. </a:t>
            </a:r>
            <a:r>
              <a:rPr lang="en-HK" sz="2400" b="1">
                <a:solidFill>
                  <a:srgbClr val="FF0000"/>
                </a:solidFill>
              </a:rPr>
              <a:t>The system shall respond within 2 seconds</a:t>
            </a:r>
            <a:endParaRPr lang="zh-CN" altLang="en-US" sz="2400" b="1">
              <a:solidFill>
                <a:srgbClr val="FF0000"/>
              </a:solidFill>
            </a:endParaRPr>
          </a:p>
          <a:p>
            <a:pPr marL="398145" indent="-398145"/>
            <a:r>
              <a:rPr lang="en-HK" altLang="zh-CN" sz="2400"/>
              <a:t>   D. </a:t>
            </a:r>
            <a:r>
              <a:rPr lang="en-HK" sz="2400"/>
              <a:t>The system shall support user registration</a:t>
            </a:r>
            <a:endParaRPr lang="zh-CN" altLang="zh-CN" sz="2400"/>
          </a:p>
          <a:p>
            <a:pPr marL="398145" indent="-398145"/>
            <a:r>
              <a:rPr lang="en-HK" altLang="zh-CN" sz="2400"/>
              <a:t>   E. </a:t>
            </a:r>
            <a:r>
              <a:rPr lang="en-HK" sz="2400"/>
              <a:t>The system shall generate reports</a:t>
            </a:r>
            <a:endParaRPr lang="zh-CN" altLang="zh-CN" sz="2400"/>
          </a:p>
          <a:p>
            <a:pPr marL="0" indent="0">
              <a:buNone/>
            </a:pPr>
            <a:endParaRPr lang="en-US" altLang="zh-CN" sz="2400"/>
          </a:p>
          <a:p>
            <a:pPr marL="0" indent="0">
              <a:buNone/>
            </a:pPr>
            <a:r>
              <a:rPr lang="en-HK" altLang="zh-CN" sz="2400"/>
              <a:t>Explanation: </a:t>
            </a:r>
            <a:r>
              <a:rPr lang="en-HK" sz="2400"/>
              <a:t>Non-functional requirements describe system attributes like performance, not specific functions. </a:t>
            </a:r>
            <a:r>
              <a:rPr lang="en-US" sz="2400"/>
              <a:t>(see </a:t>
            </a:r>
            <a:r>
              <a:rPr lang="en-US" sz="2400">
                <a:solidFill>
                  <a:srgbClr val="000000"/>
                </a:solidFill>
              </a:rPr>
              <a:t>cs5351-requirement-v8.pptx Pages</a:t>
            </a:r>
            <a:r>
              <a:rPr lang="en-US" sz="2400"/>
              <a:t> 3-5)</a:t>
            </a:r>
            <a:endParaRPr lang="en-HK" altLang="zh-CN" sz="2400">
              <a:cs typeface="Times New Roman"/>
            </a:endParaRPr>
          </a:p>
        </p:txBody>
      </p:sp>
      <p:sp>
        <p:nvSpPr>
          <p:cNvPr id="4" name="灯片编号占位符 3">
            <a:extLst>
              <a:ext uri="{FF2B5EF4-FFF2-40B4-BE49-F238E27FC236}">
                <a16:creationId xmlns:a16="http://schemas.microsoft.com/office/drawing/2014/main" id="{DBF51D67-E32E-D4F0-2B28-5D1304C5ADE8}"/>
              </a:ext>
            </a:extLst>
          </p:cNvPr>
          <p:cNvSpPr>
            <a:spLocks noGrp="1"/>
          </p:cNvSpPr>
          <p:nvPr>
            <p:ph type="sldNum" sz="quarter" idx="12"/>
          </p:nvPr>
        </p:nvSpPr>
        <p:spPr/>
        <p:txBody>
          <a:bodyPr/>
          <a:lstStyle/>
          <a:p>
            <a:pPr>
              <a:defRPr/>
            </a:pPr>
            <a:fld id="{5792DDC3-EFA3-4647-8A6E-E8039DA1A91A}" type="slidenum">
              <a:rPr lang="en-US" smtClean="0"/>
              <a:pPr>
                <a:defRPr/>
              </a:pPr>
              <a:t>9</a:t>
            </a:fld>
            <a:endParaRPr lang="en-US"/>
          </a:p>
        </p:txBody>
      </p:sp>
    </p:spTree>
    <p:extLst>
      <p:ext uri="{BB962C8B-B14F-4D97-AF65-F5344CB8AC3E}">
        <p14:creationId xmlns:p14="http://schemas.microsoft.com/office/powerpoint/2010/main" val="309457509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C742D-8151-A325-D441-620E0B97DA3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C0470D0-00D4-25C2-0ECE-42EFE73CF2AC}"/>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477B85AF-3C10-AFA2-E45E-C0E88CCD3A75}"/>
              </a:ext>
            </a:extLst>
          </p:cNvPr>
          <p:cNvSpPr>
            <a:spLocks noGrp="1"/>
          </p:cNvSpPr>
          <p:nvPr>
            <p:ph type="tbl" idx="1"/>
          </p:nvPr>
        </p:nvSpPr>
        <p:spPr>
          <a:xfrm>
            <a:off x="449548" y="1524001"/>
            <a:ext cx="11124858" cy="4953000"/>
          </a:xfrm>
        </p:spPr>
        <p:txBody>
          <a:bodyPr/>
          <a:lstStyle/>
          <a:p>
            <a:pPr marL="398145" indent="-398145"/>
            <a:r>
              <a:rPr lang="en-US" altLang="zh-CN" sz="2400"/>
              <a:t>7. </a:t>
            </a:r>
            <a:r>
              <a:rPr lang="en-US" sz="2400"/>
              <a:t>What is the consequence of collecting but not implementing non-functional requirements?</a:t>
            </a:r>
            <a:endParaRPr lang="zh-CN" altLang="en-US" sz="2400"/>
          </a:p>
          <a:p>
            <a:pPr marL="398145" indent="-398145"/>
            <a:r>
              <a:rPr lang="en-US" altLang="zh-CN" sz="2400"/>
              <a:t>   A. </a:t>
            </a:r>
            <a:r>
              <a:rPr lang="en-US" sz="2400"/>
              <a:t>The system will crash</a:t>
            </a:r>
            <a:endParaRPr lang="en-US" altLang="zh-CN" sz="2400"/>
          </a:p>
          <a:p>
            <a:pPr marL="398145" indent="-398145"/>
            <a:r>
              <a:rPr lang="en-US" altLang="zh-CN" sz="2400"/>
              <a:t>   </a:t>
            </a:r>
            <a:r>
              <a:rPr lang="en-US" altLang="zh-CN" sz="2400" b="1">
                <a:solidFill>
                  <a:srgbClr val="FF0000"/>
                </a:solidFill>
              </a:rPr>
              <a:t>B. </a:t>
            </a:r>
            <a:r>
              <a:rPr lang="en-US" sz="2400" b="1">
                <a:solidFill>
                  <a:srgbClr val="FF0000"/>
                </a:solidFill>
              </a:rPr>
              <a:t>The system may not meet business goals</a:t>
            </a:r>
            <a:endParaRPr lang="en-US" altLang="zh-CN" sz="2400" b="1">
              <a:solidFill>
                <a:srgbClr val="FF0000"/>
              </a:solidFill>
            </a:endParaRPr>
          </a:p>
          <a:p>
            <a:pPr marL="398145" indent="-398145"/>
            <a:r>
              <a:rPr lang="en-US" altLang="zh-CN" sz="2400"/>
              <a:t>   C. </a:t>
            </a:r>
            <a:r>
              <a:rPr lang="en-US" sz="2400"/>
              <a:t>The system will be faster</a:t>
            </a:r>
            <a:endParaRPr lang="en-US" altLang="zh-CN" sz="2400"/>
          </a:p>
          <a:p>
            <a:pPr marL="398145" indent="-398145"/>
            <a:r>
              <a:rPr lang="en-US" altLang="zh-CN" sz="2400"/>
              <a:t>   D. </a:t>
            </a:r>
            <a:r>
              <a:rPr lang="en-US" sz="2400">
                <a:ea typeface="+mn-lt"/>
                <a:cs typeface="+mn-lt"/>
              </a:rPr>
              <a:t>The system will be more secure</a:t>
            </a:r>
            <a:endParaRPr lang="en-US" altLang="zh-CN" sz="2400"/>
          </a:p>
          <a:p>
            <a:pPr marL="398145" indent="-398145"/>
            <a:r>
              <a:rPr lang="en-US" sz="2400">
                <a:cs typeface="Times New Roman"/>
              </a:rPr>
              <a:t>   E. </a:t>
            </a:r>
            <a:r>
              <a:rPr lang="en-US" sz="2400">
                <a:ea typeface="+mn-lt"/>
                <a:cs typeface="+mn-lt"/>
              </a:rPr>
              <a:t>The system will be easier to maintain</a:t>
            </a:r>
          </a:p>
          <a:p>
            <a:pPr marL="0" indent="0">
              <a:buNone/>
            </a:pPr>
            <a:endParaRPr lang="en-US" altLang="zh-CN" sz="2400">
              <a:cs typeface="Times New Roman"/>
            </a:endParaRPr>
          </a:p>
          <a:p>
            <a:pPr marL="0" indent="0">
              <a:buNone/>
            </a:pPr>
            <a:r>
              <a:rPr lang="en-US" altLang="zh-CN" sz="2400"/>
              <a:t>Explanation: </a:t>
            </a:r>
            <a:r>
              <a:rPr lang="en-US" sz="2400"/>
              <a:t>Non-functional requirements are critical to business constraints. Option A refers to functional failures, while options C, D, and E describe potential improvements. (see cs5351-requirement-v8.pptx Pages 3-5)</a:t>
            </a:r>
            <a:endParaRPr lang="en-US" altLang="zh-CN" sz="2400">
              <a:cs typeface="Times New Roman"/>
            </a:endParaRPr>
          </a:p>
        </p:txBody>
      </p:sp>
      <p:sp>
        <p:nvSpPr>
          <p:cNvPr id="4" name="灯片编号占位符 3">
            <a:extLst>
              <a:ext uri="{FF2B5EF4-FFF2-40B4-BE49-F238E27FC236}">
                <a16:creationId xmlns:a16="http://schemas.microsoft.com/office/drawing/2014/main" id="{AC7289D0-9C23-1A88-22F1-B5B9010877A9}"/>
              </a:ext>
            </a:extLst>
          </p:cNvPr>
          <p:cNvSpPr>
            <a:spLocks noGrp="1"/>
          </p:cNvSpPr>
          <p:nvPr>
            <p:ph type="sldNum" sz="quarter" idx="12"/>
          </p:nvPr>
        </p:nvSpPr>
        <p:spPr/>
        <p:txBody>
          <a:bodyPr/>
          <a:lstStyle/>
          <a:p>
            <a:pPr>
              <a:defRPr/>
            </a:pPr>
            <a:fld id="{5792DDC3-EFA3-4647-8A6E-E8039DA1A91A}" type="slidenum">
              <a:rPr lang="en-US" smtClean="0"/>
              <a:pPr>
                <a:defRPr/>
              </a:pPr>
              <a:t>10</a:t>
            </a:fld>
            <a:endParaRPr lang="en-US"/>
          </a:p>
        </p:txBody>
      </p:sp>
    </p:spTree>
    <p:extLst>
      <p:ext uri="{BB962C8B-B14F-4D97-AF65-F5344CB8AC3E}">
        <p14:creationId xmlns:p14="http://schemas.microsoft.com/office/powerpoint/2010/main" val="208731565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22A67-4A03-15A2-628B-017FDBC8C65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81B87A-5A49-76EF-3599-944ACC41BD5A}"/>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356F6810-016A-F950-9EC7-0A786714F136}"/>
              </a:ext>
            </a:extLst>
          </p:cNvPr>
          <p:cNvSpPr>
            <a:spLocks noGrp="1"/>
          </p:cNvSpPr>
          <p:nvPr>
            <p:ph type="tbl" idx="1"/>
          </p:nvPr>
        </p:nvSpPr>
        <p:spPr>
          <a:xfrm>
            <a:off x="449548" y="1524001"/>
            <a:ext cx="11124858" cy="4953000"/>
          </a:xfrm>
        </p:spPr>
        <p:txBody>
          <a:bodyPr/>
          <a:lstStyle/>
          <a:p>
            <a:pPr marL="398145" indent="-398145"/>
            <a:r>
              <a:rPr lang="en-US" altLang="zh-CN" sz="2400"/>
              <a:t>8. </a:t>
            </a:r>
            <a:r>
              <a:rPr lang="en-US" sz="2400"/>
              <a:t>Which requirement engineering activity ensures requirements are feasible and correctly understood?</a:t>
            </a:r>
            <a:endParaRPr lang="zh-CN" altLang="en-US" sz="2400"/>
          </a:p>
          <a:p>
            <a:pPr marL="398145" indent="-398145"/>
            <a:r>
              <a:rPr lang="en-US" altLang="zh-CN" sz="2400"/>
              <a:t>   A. </a:t>
            </a:r>
            <a:r>
              <a:rPr lang="en-US" sz="2400"/>
              <a:t>Specification</a:t>
            </a:r>
            <a:endParaRPr lang="en-US" altLang="zh-CN" sz="2400"/>
          </a:p>
          <a:p>
            <a:pPr marL="398145" indent="-398145"/>
            <a:r>
              <a:rPr lang="en-US" altLang="zh-CN" sz="2400"/>
              <a:t>   B. </a:t>
            </a:r>
            <a:r>
              <a:rPr lang="en-US" sz="2400"/>
              <a:t>Negotiation</a:t>
            </a:r>
            <a:endParaRPr lang="en-US" altLang="zh-CN" sz="2400"/>
          </a:p>
          <a:p>
            <a:pPr marL="398145" indent="-398145"/>
            <a:r>
              <a:rPr lang="en-US" altLang="zh-CN" sz="2400"/>
              <a:t>   </a:t>
            </a:r>
            <a:r>
              <a:rPr lang="en-US" altLang="zh-CN" sz="2400" b="1">
                <a:solidFill>
                  <a:srgbClr val="FF0000"/>
                </a:solidFill>
              </a:rPr>
              <a:t>C. </a:t>
            </a:r>
            <a:r>
              <a:rPr lang="en-US" sz="2400" b="1">
                <a:solidFill>
                  <a:srgbClr val="FF0000"/>
                </a:solidFill>
              </a:rPr>
              <a:t>Validation</a:t>
            </a:r>
            <a:endParaRPr lang="en-US" altLang="zh-CN" sz="2400" b="1">
              <a:solidFill>
                <a:srgbClr val="FF0000"/>
              </a:solidFill>
            </a:endParaRPr>
          </a:p>
          <a:p>
            <a:pPr marL="398145" indent="-398145"/>
            <a:r>
              <a:rPr lang="en-US" altLang="zh-CN" sz="2400"/>
              <a:t>   D. </a:t>
            </a:r>
            <a:r>
              <a:rPr lang="en-US" sz="2400">
                <a:ea typeface="+mn-lt"/>
                <a:cs typeface="+mn-lt"/>
              </a:rPr>
              <a:t>Elicitation</a:t>
            </a:r>
            <a:endParaRPr lang="en-US" altLang="zh-CN" sz="2400"/>
          </a:p>
          <a:p>
            <a:pPr marL="398145" indent="-398145"/>
            <a:r>
              <a:rPr lang="en-US" sz="2400">
                <a:cs typeface="Times New Roman"/>
              </a:rPr>
              <a:t>   E. </a:t>
            </a:r>
            <a:r>
              <a:rPr lang="en-US" sz="2400">
                <a:ea typeface="+mn-lt"/>
                <a:cs typeface="+mn-lt"/>
              </a:rPr>
              <a:t>Prioritization</a:t>
            </a:r>
          </a:p>
          <a:p>
            <a:pPr marL="0" indent="0">
              <a:buNone/>
            </a:pPr>
            <a:endParaRPr lang="en-US" altLang="zh-CN" sz="2400">
              <a:cs typeface="Times New Roman"/>
            </a:endParaRPr>
          </a:p>
          <a:p>
            <a:pPr marL="0" indent="0">
              <a:buNone/>
            </a:pPr>
            <a:r>
              <a:rPr lang="en-US" altLang="zh-CN" sz="2400"/>
              <a:t>Explanation: </a:t>
            </a:r>
            <a:r>
              <a:rPr lang="en-US" sz="2400"/>
              <a:t>Validation </a:t>
            </a:r>
            <a:r>
              <a:rPr lang="en-US" sz="2400">
                <a:solidFill>
                  <a:srgbClr val="000000"/>
                </a:solidFill>
                <a:latin typeface="Times New Roman"/>
                <a:cs typeface="Times New Roman"/>
              </a:rPr>
              <a:t>inspection</a:t>
            </a:r>
            <a:r>
              <a:rPr lang="en-US" sz="2400"/>
              <a:t> of the requirement specification </a:t>
            </a:r>
            <a:r>
              <a:rPr lang="en-US" sz="2400" err="1"/>
              <a:t>w.r.t.</a:t>
            </a:r>
            <a:r>
              <a:rPr lang="en-US" sz="2400"/>
              <a:t> correctness, completeness, consistency, accuracy, and testability. (see cs5351-requirement-v8.pptx Page 43)</a:t>
            </a:r>
            <a:endParaRPr lang="en-US" sz="2400">
              <a:cs typeface="Times New Roman"/>
            </a:endParaRPr>
          </a:p>
          <a:p>
            <a:pPr marL="0" indent="0">
              <a:buNone/>
            </a:pPr>
            <a:endParaRPr lang="en-US" sz="2400">
              <a:cs typeface="Times New Roman"/>
            </a:endParaRPr>
          </a:p>
          <a:p>
            <a:pPr marL="0" indent="0">
              <a:buNone/>
            </a:pPr>
            <a:endParaRPr lang="en-US" sz="2400">
              <a:cs typeface="Times New Roman"/>
            </a:endParaRPr>
          </a:p>
        </p:txBody>
      </p:sp>
      <p:sp>
        <p:nvSpPr>
          <p:cNvPr id="4" name="灯片编号占位符 3">
            <a:extLst>
              <a:ext uri="{FF2B5EF4-FFF2-40B4-BE49-F238E27FC236}">
                <a16:creationId xmlns:a16="http://schemas.microsoft.com/office/drawing/2014/main" id="{41C2122E-134B-D1BD-74A2-9BB13D59EC9E}"/>
              </a:ext>
            </a:extLst>
          </p:cNvPr>
          <p:cNvSpPr>
            <a:spLocks noGrp="1"/>
          </p:cNvSpPr>
          <p:nvPr>
            <p:ph type="sldNum" sz="quarter" idx="12"/>
          </p:nvPr>
        </p:nvSpPr>
        <p:spPr/>
        <p:txBody>
          <a:bodyPr/>
          <a:lstStyle/>
          <a:p>
            <a:pPr>
              <a:defRPr/>
            </a:pPr>
            <a:fld id="{5792DDC3-EFA3-4647-8A6E-E8039DA1A91A}" type="slidenum">
              <a:rPr lang="en-US" smtClean="0"/>
              <a:pPr>
                <a:defRPr/>
              </a:pPr>
              <a:t>11</a:t>
            </a:fld>
            <a:endParaRPr lang="en-US"/>
          </a:p>
        </p:txBody>
      </p:sp>
    </p:spTree>
    <p:extLst>
      <p:ext uri="{BB962C8B-B14F-4D97-AF65-F5344CB8AC3E}">
        <p14:creationId xmlns:p14="http://schemas.microsoft.com/office/powerpoint/2010/main" val="263339240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2BC19-1DFE-A403-EBEB-B251EE6FF26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ED05E6C-A5F7-BC77-3D59-46D2D0434776}"/>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9B026D80-A35F-FA59-12DC-9D93E93FF310}"/>
              </a:ext>
            </a:extLst>
          </p:cNvPr>
          <p:cNvSpPr>
            <a:spLocks noGrp="1"/>
          </p:cNvSpPr>
          <p:nvPr>
            <p:ph type="tbl" idx="1"/>
          </p:nvPr>
        </p:nvSpPr>
        <p:spPr>
          <a:xfrm>
            <a:off x="449548" y="1524001"/>
            <a:ext cx="11124858" cy="4953000"/>
          </a:xfrm>
        </p:spPr>
        <p:txBody>
          <a:bodyPr/>
          <a:lstStyle/>
          <a:p>
            <a:pPr marL="398145" indent="-398145"/>
            <a:r>
              <a:rPr lang="en-US" altLang="zh-CN" sz="2800"/>
              <a:t>9. Which elicitation technique is most suitable under social relativism</a:t>
            </a:r>
            <a:r>
              <a:rPr lang="en-US" sz="2800"/>
              <a:t>?</a:t>
            </a:r>
            <a:endParaRPr lang="zh-CN" altLang="en-US" sz="2800">
              <a:cs typeface="Times New Roman"/>
            </a:endParaRPr>
          </a:p>
          <a:p>
            <a:pPr marL="398145" indent="-398145"/>
            <a:r>
              <a:rPr lang="en-US" altLang="zh-CN" sz="2800"/>
              <a:t>   A. Interview</a:t>
            </a:r>
            <a:endParaRPr lang="en-US" sz="2800">
              <a:cs typeface="Times New Roman"/>
            </a:endParaRPr>
          </a:p>
          <a:p>
            <a:pPr marL="398145" indent="-398145"/>
            <a:r>
              <a:rPr lang="en-US" altLang="zh-CN" sz="2800"/>
              <a:t>   B. Observation</a:t>
            </a:r>
            <a:endParaRPr lang="en-US" sz="2800">
              <a:cs typeface="Times New Roman"/>
            </a:endParaRPr>
          </a:p>
          <a:p>
            <a:pPr marL="398145" indent="-398145"/>
            <a:r>
              <a:rPr lang="en-US" altLang="zh-CN" sz="2800"/>
              <a:t>   C. Prototyping</a:t>
            </a:r>
            <a:endParaRPr lang="en-US" sz="2800">
              <a:cs typeface="Times New Roman"/>
            </a:endParaRPr>
          </a:p>
          <a:p>
            <a:pPr marL="398145" indent="-398145"/>
            <a:r>
              <a:rPr lang="en-US" altLang="zh-CN" sz="2800"/>
              <a:t>   D. Document analysis</a:t>
            </a:r>
            <a:endParaRPr lang="en-US" sz="2800">
              <a:cs typeface="Times New Roman"/>
            </a:endParaRPr>
          </a:p>
          <a:p>
            <a:pPr marL="398145" indent="-398145"/>
            <a:r>
              <a:rPr lang="en-US" sz="2800" b="1">
                <a:solidFill>
                  <a:schemeClr val="accent1">
                    <a:lumMod val="49000"/>
                  </a:schemeClr>
                </a:solidFill>
              </a:rPr>
              <a:t>   E. Facilitated workshop</a:t>
            </a:r>
            <a:endParaRPr lang="en-US" sz="2800" b="1">
              <a:solidFill>
                <a:schemeClr val="accent1">
                  <a:lumMod val="49000"/>
                </a:schemeClr>
              </a:solidFill>
              <a:cs typeface="Times New Roman"/>
            </a:endParaRPr>
          </a:p>
          <a:p>
            <a:pPr marL="0" indent="0">
              <a:spcBef>
                <a:spcPts val="20"/>
              </a:spcBef>
              <a:buNone/>
            </a:pPr>
            <a:endParaRPr lang="en-US" sz="2400">
              <a:cs typeface="Times New Roman"/>
            </a:endParaRPr>
          </a:p>
          <a:p>
            <a:pPr marL="0" indent="0">
              <a:spcBef>
                <a:spcPts val="20"/>
              </a:spcBef>
              <a:buNone/>
            </a:pPr>
            <a:r>
              <a:rPr lang="en-US" sz="2400">
                <a:cs typeface="Times New Roman"/>
              </a:rPr>
              <a:t>Facilitated workshops are a group technique where multiple stakeholders discuss and negotiate requirements under the guidance of a facilitator. This directly addresses social relativism by enabling stakeholders from diverse backgrounds and perspectives to openly discuss, debate, and reach consensus, thereby managing social relativity.</a:t>
            </a:r>
            <a:endParaRPr lang="en-US"/>
          </a:p>
          <a:p>
            <a:pPr marL="0" indent="0">
              <a:buNone/>
            </a:pPr>
            <a:endParaRPr lang="en-US" altLang="zh-CN" sz="2400">
              <a:cs typeface="Times New Roman"/>
            </a:endParaRPr>
          </a:p>
          <a:p>
            <a:pPr marL="0" indent="0">
              <a:buNone/>
            </a:pPr>
            <a:endParaRPr lang="en-US" altLang="zh-CN" sz="2800">
              <a:cs typeface="Times New Roman"/>
            </a:endParaRPr>
          </a:p>
          <a:p>
            <a:pPr marL="0" indent="0">
              <a:buNone/>
            </a:pPr>
            <a:endParaRPr lang="en-US" sz="2800">
              <a:cs typeface="Times New Roman"/>
            </a:endParaRPr>
          </a:p>
          <a:p>
            <a:pPr marL="0" indent="0">
              <a:buNone/>
            </a:pPr>
            <a:endParaRPr lang="en-US" sz="2800">
              <a:cs typeface="Times New Roman"/>
            </a:endParaRPr>
          </a:p>
        </p:txBody>
      </p:sp>
      <p:sp>
        <p:nvSpPr>
          <p:cNvPr id="4" name="灯片编号占位符 3">
            <a:extLst>
              <a:ext uri="{FF2B5EF4-FFF2-40B4-BE49-F238E27FC236}">
                <a16:creationId xmlns:a16="http://schemas.microsoft.com/office/drawing/2014/main" id="{5618CA84-6498-CBB7-E65D-A2AB267A79FE}"/>
              </a:ext>
            </a:extLst>
          </p:cNvPr>
          <p:cNvSpPr>
            <a:spLocks noGrp="1"/>
          </p:cNvSpPr>
          <p:nvPr>
            <p:ph type="sldNum" sz="quarter" idx="12"/>
          </p:nvPr>
        </p:nvSpPr>
        <p:spPr/>
        <p:txBody>
          <a:bodyPr/>
          <a:lstStyle/>
          <a:p>
            <a:pPr>
              <a:defRPr/>
            </a:pPr>
            <a:fld id="{5792DDC3-EFA3-4647-8A6E-E8039DA1A91A}" type="slidenum">
              <a:rPr lang="en-US" smtClean="0"/>
              <a:pPr>
                <a:defRPr/>
              </a:pPr>
              <a:t>12</a:t>
            </a:fld>
            <a:endParaRPr lang="en-US"/>
          </a:p>
        </p:txBody>
      </p:sp>
    </p:spTree>
    <p:extLst>
      <p:ext uri="{BB962C8B-B14F-4D97-AF65-F5344CB8AC3E}">
        <p14:creationId xmlns:p14="http://schemas.microsoft.com/office/powerpoint/2010/main" val="379994085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0D067-0E9C-9C95-19F7-DD95B2A0F2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EC3A236-A53A-88EB-81DE-D1893786F40A}"/>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4D989AAA-3078-9C85-3C92-A9FBA2C2C555}"/>
              </a:ext>
            </a:extLst>
          </p:cNvPr>
          <p:cNvSpPr>
            <a:spLocks noGrp="1"/>
          </p:cNvSpPr>
          <p:nvPr>
            <p:ph type="tbl" idx="1"/>
          </p:nvPr>
        </p:nvSpPr>
        <p:spPr>
          <a:xfrm>
            <a:off x="449548" y="1524001"/>
            <a:ext cx="11124858" cy="4953000"/>
          </a:xfrm>
        </p:spPr>
        <p:txBody>
          <a:bodyPr/>
          <a:lstStyle/>
          <a:p>
            <a:pPr marL="398145" indent="-398145"/>
            <a:r>
              <a:rPr lang="en-US" altLang="zh-CN" sz="2800"/>
              <a:t>10. Which process step is missing if only </a:t>
            </a:r>
            <a:r>
              <a:rPr lang="en-US" altLang="zh-CN" sz="2800" b="1">
                <a:solidFill>
                  <a:schemeClr val="accent1">
                    <a:lumMod val="49000"/>
                  </a:schemeClr>
                </a:solidFill>
              </a:rPr>
              <a:t>individual</a:t>
            </a:r>
            <a:r>
              <a:rPr lang="en-US" altLang="zh-CN" sz="2800"/>
              <a:t> requirements are confirmed with </a:t>
            </a:r>
            <a:r>
              <a:rPr lang="en-US" altLang="zh-CN" sz="2800" err="1"/>
              <a:t>skateholders</a:t>
            </a:r>
            <a:r>
              <a:rPr lang="en-US" altLang="zh-CN" sz="2800"/>
              <a:t>?</a:t>
            </a:r>
            <a:endParaRPr lang="en-US" altLang="zh-CN" sz="2800">
              <a:cs typeface="Times New Roman"/>
            </a:endParaRPr>
          </a:p>
          <a:p>
            <a:pPr marL="398145" indent="-398145"/>
            <a:r>
              <a:rPr lang="en-US" altLang="zh-CN" sz="2800"/>
              <a:t>   A. Validation</a:t>
            </a:r>
            <a:endParaRPr lang="en-US" sz="2800">
              <a:cs typeface="Times New Roman"/>
            </a:endParaRPr>
          </a:p>
          <a:p>
            <a:pPr marL="398145" indent="-398145"/>
            <a:r>
              <a:rPr lang="en-US" altLang="zh-CN" sz="2800"/>
              <a:t>   B. Specification</a:t>
            </a:r>
            <a:endParaRPr lang="en-US" sz="2800">
              <a:cs typeface="Times New Roman"/>
            </a:endParaRPr>
          </a:p>
          <a:p>
            <a:pPr marL="398145" indent="-398145"/>
            <a:r>
              <a:rPr lang="en-US" altLang="zh-CN" sz="2800"/>
              <a:t>   C. Elicitation</a:t>
            </a:r>
            <a:endParaRPr lang="en-US" sz="2800">
              <a:cs typeface="Times New Roman"/>
            </a:endParaRPr>
          </a:p>
          <a:p>
            <a:pPr marL="398145" indent="-398145"/>
            <a:r>
              <a:rPr lang="en-US" altLang="zh-CN" sz="2800"/>
              <a:t>   D. Analysis</a:t>
            </a:r>
            <a:endParaRPr lang="en-US" sz="2800">
              <a:cs typeface="Times New Roman"/>
            </a:endParaRPr>
          </a:p>
          <a:p>
            <a:pPr marL="398145" indent="-398145"/>
            <a:r>
              <a:rPr lang="en-US" sz="2800" b="1">
                <a:solidFill>
                  <a:schemeClr val="accent1">
                    <a:lumMod val="49000"/>
                  </a:schemeClr>
                </a:solidFill>
              </a:rPr>
              <a:t>   E. Negotiation</a:t>
            </a:r>
            <a:endParaRPr lang="en-US" sz="2800" b="1">
              <a:solidFill>
                <a:schemeClr val="accent1">
                  <a:lumMod val="49000"/>
                </a:schemeClr>
              </a:solidFill>
              <a:cs typeface="Times New Roman"/>
            </a:endParaRPr>
          </a:p>
          <a:p>
            <a:pPr marL="0" indent="0">
              <a:spcBef>
                <a:spcPts val="20"/>
              </a:spcBef>
              <a:buNone/>
            </a:pPr>
            <a:endParaRPr lang="en-US" sz="2400">
              <a:cs typeface="Times New Roman"/>
            </a:endParaRPr>
          </a:p>
          <a:p>
            <a:pPr marL="0" indent="0">
              <a:spcBef>
                <a:spcPts val="20"/>
              </a:spcBef>
              <a:buNone/>
            </a:pPr>
            <a:r>
              <a:rPr lang="en-US" sz="2400">
                <a:cs typeface="Times New Roman"/>
              </a:rPr>
              <a:t>According to the requirements engineering process, if only individual requirements are confirmed with stakeholders while overlooking the overall coherence, conflicts, or priorities among requirements, then the missing step is E. Negotiation.</a:t>
            </a:r>
            <a:endParaRPr lang="en-US">
              <a:cs typeface="Times New Roman"/>
            </a:endParaRPr>
          </a:p>
          <a:p>
            <a:pPr marL="0" indent="0">
              <a:buNone/>
            </a:pPr>
            <a:endParaRPr lang="en-US" sz="2400">
              <a:cs typeface="Times New Roman"/>
            </a:endParaRPr>
          </a:p>
          <a:p>
            <a:pPr marL="0" indent="0">
              <a:buNone/>
            </a:pPr>
            <a:endParaRPr lang="en-US" sz="2400">
              <a:cs typeface="Times New Roman"/>
            </a:endParaRPr>
          </a:p>
        </p:txBody>
      </p:sp>
      <p:sp>
        <p:nvSpPr>
          <p:cNvPr id="4" name="灯片编号占位符 3">
            <a:extLst>
              <a:ext uri="{FF2B5EF4-FFF2-40B4-BE49-F238E27FC236}">
                <a16:creationId xmlns:a16="http://schemas.microsoft.com/office/drawing/2014/main" id="{E1D3D0F6-9CE5-747A-3857-A2532F97E9FA}"/>
              </a:ext>
            </a:extLst>
          </p:cNvPr>
          <p:cNvSpPr>
            <a:spLocks noGrp="1"/>
          </p:cNvSpPr>
          <p:nvPr>
            <p:ph type="sldNum" sz="quarter" idx="12"/>
          </p:nvPr>
        </p:nvSpPr>
        <p:spPr/>
        <p:txBody>
          <a:bodyPr/>
          <a:lstStyle/>
          <a:p>
            <a:pPr>
              <a:defRPr/>
            </a:pPr>
            <a:fld id="{5792DDC3-EFA3-4647-8A6E-E8039DA1A91A}" type="slidenum">
              <a:rPr lang="en-US" smtClean="0"/>
              <a:pPr>
                <a:defRPr/>
              </a:pPr>
              <a:t>13</a:t>
            </a:fld>
            <a:endParaRPr lang="en-US"/>
          </a:p>
        </p:txBody>
      </p:sp>
    </p:spTree>
    <p:extLst>
      <p:ext uri="{BB962C8B-B14F-4D97-AF65-F5344CB8AC3E}">
        <p14:creationId xmlns:p14="http://schemas.microsoft.com/office/powerpoint/2010/main" val="298386741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4D465-E312-0C94-1F81-C4B9AA1B7A6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6C320CC-AFAF-B892-BC4F-DFC2DE6E833F}"/>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A1ACB184-2D33-4033-383E-C92E010E1DC9}"/>
              </a:ext>
            </a:extLst>
          </p:cNvPr>
          <p:cNvSpPr>
            <a:spLocks noGrp="1"/>
          </p:cNvSpPr>
          <p:nvPr>
            <p:ph type="tbl" idx="1"/>
          </p:nvPr>
        </p:nvSpPr>
        <p:spPr>
          <a:xfrm>
            <a:off x="449548" y="1524001"/>
            <a:ext cx="11124858" cy="4953000"/>
          </a:xfrm>
        </p:spPr>
        <p:txBody>
          <a:bodyPr/>
          <a:lstStyle/>
          <a:p>
            <a:pPr marL="398145" indent="-398145"/>
            <a:r>
              <a:rPr lang="en-US" altLang="zh-CN" sz="2800"/>
              <a:t>11. Which architectural view focuses on how software components are mapped to hardware in the 4+1 view software architecture for the Unified Process?</a:t>
            </a:r>
            <a:endParaRPr lang="en-US" altLang="zh-CN" sz="2800">
              <a:cs typeface="Times New Roman"/>
            </a:endParaRPr>
          </a:p>
          <a:p>
            <a:pPr marL="398145" indent="-398145"/>
            <a:r>
              <a:rPr lang="en-US" altLang="zh-CN" sz="2800"/>
              <a:t>   A. Use case view</a:t>
            </a:r>
            <a:endParaRPr lang="en-US" sz="2800">
              <a:cs typeface="Times New Roman"/>
            </a:endParaRPr>
          </a:p>
          <a:p>
            <a:pPr marL="398145" indent="-398145"/>
            <a:r>
              <a:rPr lang="en-US" altLang="zh-CN" sz="2800"/>
              <a:t>   B. Process view</a:t>
            </a:r>
            <a:endParaRPr lang="en-US" sz="2800">
              <a:cs typeface="Times New Roman"/>
            </a:endParaRPr>
          </a:p>
          <a:p>
            <a:pPr marL="398145" indent="-398145"/>
            <a:r>
              <a:rPr lang="en-US" altLang="zh-CN" sz="2800"/>
              <a:t>   C. Development vi</a:t>
            </a:r>
            <a:endParaRPr lang="en-US" sz="2800">
              <a:cs typeface="Times New Roman"/>
            </a:endParaRPr>
          </a:p>
          <a:p>
            <a:pPr marL="398145" indent="-398145"/>
            <a:r>
              <a:rPr lang="en-US" altLang="zh-CN" sz="2800"/>
              <a:t>   D. Logical view</a:t>
            </a:r>
          </a:p>
          <a:p>
            <a:pPr marL="398145" indent="-398145"/>
            <a:r>
              <a:rPr lang="en-US" sz="2800" b="1">
                <a:solidFill>
                  <a:schemeClr val="accent1">
                    <a:lumMod val="49000"/>
                  </a:schemeClr>
                </a:solidFill>
              </a:rPr>
              <a:t>   E. Deployment view</a:t>
            </a:r>
            <a:endParaRPr lang="en-US" sz="2800" b="1">
              <a:solidFill>
                <a:schemeClr val="accent1">
                  <a:lumMod val="49000"/>
                </a:schemeClr>
              </a:solidFill>
              <a:cs typeface="Times New Roman"/>
            </a:endParaRPr>
          </a:p>
          <a:p>
            <a:pPr marL="0" indent="0">
              <a:buNone/>
            </a:pPr>
            <a:endParaRPr lang="en-US" sz="2400"/>
          </a:p>
          <a:p>
            <a:pPr marL="0" indent="0">
              <a:buNone/>
            </a:pPr>
            <a:r>
              <a:rPr lang="en-US" sz="2400"/>
              <a:t>In the 4+1 view software architecture, the Deployment view specifically focuses on how software components are mapped to hardware nodes. </a:t>
            </a:r>
            <a:endParaRPr lang="en-US" sz="2400">
              <a:cs typeface="Times New Roman"/>
            </a:endParaRPr>
          </a:p>
          <a:p>
            <a:pPr marL="0" indent="0">
              <a:buNone/>
            </a:pPr>
            <a:endParaRPr lang="en-US" sz="2400">
              <a:cs typeface="Times New Roman"/>
            </a:endParaRPr>
          </a:p>
          <a:p>
            <a:pPr marL="0" indent="0">
              <a:buNone/>
            </a:pPr>
            <a:endParaRPr lang="en-US" sz="2400">
              <a:cs typeface="Times New Roman"/>
            </a:endParaRPr>
          </a:p>
        </p:txBody>
      </p:sp>
      <p:sp>
        <p:nvSpPr>
          <p:cNvPr id="4" name="灯片编号占位符 3">
            <a:extLst>
              <a:ext uri="{FF2B5EF4-FFF2-40B4-BE49-F238E27FC236}">
                <a16:creationId xmlns:a16="http://schemas.microsoft.com/office/drawing/2014/main" id="{996A0AB8-2481-DD05-61DF-73EDB4844421}"/>
              </a:ext>
            </a:extLst>
          </p:cNvPr>
          <p:cNvSpPr>
            <a:spLocks noGrp="1"/>
          </p:cNvSpPr>
          <p:nvPr>
            <p:ph type="sldNum" sz="quarter" idx="12"/>
          </p:nvPr>
        </p:nvSpPr>
        <p:spPr/>
        <p:txBody>
          <a:bodyPr/>
          <a:lstStyle/>
          <a:p>
            <a:pPr>
              <a:defRPr/>
            </a:pPr>
            <a:fld id="{5792DDC3-EFA3-4647-8A6E-E8039DA1A91A}" type="slidenum">
              <a:rPr lang="en-US" smtClean="0"/>
              <a:pPr>
                <a:defRPr/>
              </a:pPr>
              <a:t>14</a:t>
            </a:fld>
            <a:endParaRPr lang="en-US"/>
          </a:p>
        </p:txBody>
      </p:sp>
    </p:spTree>
    <p:extLst>
      <p:ext uri="{BB962C8B-B14F-4D97-AF65-F5344CB8AC3E}">
        <p14:creationId xmlns:p14="http://schemas.microsoft.com/office/powerpoint/2010/main" val="277784431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3CBD2-BDD5-5DCA-84CB-55F01F8BC34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7EBCB3B-645F-7BAF-F49E-F33C246359DC}"/>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D2D51985-735C-A2C8-AEDA-34E9A1EBE74B}"/>
              </a:ext>
            </a:extLst>
          </p:cNvPr>
          <p:cNvSpPr>
            <a:spLocks noGrp="1"/>
          </p:cNvSpPr>
          <p:nvPr>
            <p:ph type="tbl" idx="1"/>
          </p:nvPr>
        </p:nvSpPr>
        <p:spPr>
          <a:xfrm>
            <a:off x="449548" y="1524001"/>
            <a:ext cx="11124858" cy="4953000"/>
          </a:xfrm>
        </p:spPr>
        <p:txBody>
          <a:bodyPr/>
          <a:lstStyle/>
          <a:p>
            <a:pPr marL="398145" indent="-398145"/>
            <a:r>
              <a:rPr lang="en-US" altLang="zh-CN" sz="2800"/>
              <a:t>12. What does the domain model in software architecture describe?</a:t>
            </a:r>
            <a:endParaRPr lang="en-US" altLang="zh-CN" sz="2800">
              <a:cs typeface="Times New Roman"/>
            </a:endParaRPr>
          </a:p>
          <a:p>
            <a:pPr marL="398145" indent="-398145"/>
            <a:r>
              <a:rPr lang="en-US" altLang="zh-CN" sz="2800"/>
              <a:t>   A. Code structure</a:t>
            </a:r>
            <a:endParaRPr lang="en-US" sz="2800">
              <a:cs typeface="Times New Roman"/>
            </a:endParaRPr>
          </a:p>
          <a:p>
            <a:pPr marL="398145" indent="-398145"/>
            <a:r>
              <a:rPr lang="en-US" altLang="zh-CN" sz="2800"/>
              <a:t>   B. Testing strategy</a:t>
            </a:r>
            <a:endParaRPr lang="en-US" sz="2800">
              <a:cs typeface="Times New Roman"/>
            </a:endParaRPr>
          </a:p>
          <a:p>
            <a:pPr marL="398145" indent="-398145"/>
            <a:r>
              <a:rPr lang="en-US" altLang="zh-CN" sz="2800"/>
              <a:t>   C. Database schema</a:t>
            </a:r>
            <a:endParaRPr lang="en-US" sz="2800">
              <a:cs typeface="Times New Roman"/>
            </a:endParaRPr>
          </a:p>
          <a:p>
            <a:pPr marL="398145" indent="-398145"/>
            <a:r>
              <a:rPr lang="en-US" altLang="zh-CN" sz="2800"/>
              <a:t>  </a:t>
            </a:r>
            <a:r>
              <a:rPr lang="en-US" altLang="zh-CN" sz="2800" b="1">
                <a:solidFill>
                  <a:schemeClr val="accent1">
                    <a:lumMod val="49000"/>
                  </a:schemeClr>
                </a:solidFill>
              </a:rPr>
              <a:t> D. Environmental constraints and significant architectural requirements</a:t>
            </a:r>
            <a:endParaRPr lang="en-US" altLang="zh-CN" sz="2800" b="1">
              <a:solidFill>
                <a:schemeClr val="accent1">
                  <a:lumMod val="49000"/>
                </a:schemeClr>
              </a:solidFill>
              <a:cs typeface="Times New Roman"/>
            </a:endParaRPr>
          </a:p>
          <a:p>
            <a:pPr marL="398145" indent="-398145"/>
            <a:r>
              <a:rPr lang="en-US" sz="2800"/>
              <a:t>   E. User interface layout</a:t>
            </a:r>
            <a:endParaRPr lang="en-US" sz="2800">
              <a:cs typeface="Times New Roman"/>
            </a:endParaRPr>
          </a:p>
          <a:p>
            <a:pPr marL="0" indent="0">
              <a:buNone/>
            </a:pPr>
            <a:endParaRPr lang="en-US" sz="2800" b="1">
              <a:solidFill>
                <a:schemeClr val="accent1">
                  <a:lumMod val="49000"/>
                </a:schemeClr>
              </a:solidFill>
              <a:cs typeface="Times New Roman"/>
            </a:endParaRPr>
          </a:p>
          <a:p>
            <a:pPr marL="0" indent="0">
              <a:buNone/>
            </a:pPr>
            <a:r>
              <a:rPr lang="en-US" sz="2400">
                <a:latin typeface="Times New Roman"/>
                <a:ea typeface="Calibri"/>
                <a:cs typeface="Times New Roman"/>
              </a:rPr>
              <a:t>The</a:t>
            </a:r>
            <a:r>
              <a:rPr lang="en-US" sz="2400"/>
              <a:t> core purpose of a domain model within a software architecture is to capture and describe the business domain of the problem being solved. </a:t>
            </a:r>
            <a:endParaRPr lang="en-US" sz="2400">
              <a:cs typeface="Times New Roman"/>
            </a:endParaRPr>
          </a:p>
          <a:p>
            <a:pPr marL="0" indent="0">
              <a:buNone/>
            </a:pPr>
            <a:endParaRPr lang="en-US" sz="2400">
              <a:cs typeface="Times New Roman"/>
            </a:endParaRPr>
          </a:p>
        </p:txBody>
      </p:sp>
      <p:sp>
        <p:nvSpPr>
          <p:cNvPr id="4" name="灯片编号占位符 3">
            <a:extLst>
              <a:ext uri="{FF2B5EF4-FFF2-40B4-BE49-F238E27FC236}">
                <a16:creationId xmlns:a16="http://schemas.microsoft.com/office/drawing/2014/main" id="{8836AFEC-214C-4044-853C-FF76D82413CF}"/>
              </a:ext>
            </a:extLst>
          </p:cNvPr>
          <p:cNvSpPr>
            <a:spLocks noGrp="1"/>
          </p:cNvSpPr>
          <p:nvPr>
            <p:ph type="sldNum" sz="quarter" idx="12"/>
          </p:nvPr>
        </p:nvSpPr>
        <p:spPr/>
        <p:txBody>
          <a:bodyPr/>
          <a:lstStyle/>
          <a:p>
            <a:pPr>
              <a:defRPr/>
            </a:pPr>
            <a:fld id="{5792DDC3-EFA3-4647-8A6E-E8039DA1A91A}" type="slidenum">
              <a:rPr lang="en-US" smtClean="0"/>
              <a:pPr>
                <a:defRPr/>
              </a:pPr>
              <a:t>15</a:t>
            </a:fld>
            <a:endParaRPr lang="en-US"/>
          </a:p>
        </p:txBody>
      </p:sp>
    </p:spTree>
    <p:extLst>
      <p:ext uri="{BB962C8B-B14F-4D97-AF65-F5344CB8AC3E}">
        <p14:creationId xmlns:p14="http://schemas.microsoft.com/office/powerpoint/2010/main" val="36274448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4A7984-DF1C-6821-417A-458FBFAD5A1E}"/>
              </a:ext>
            </a:extLst>
          </p:cNvPr>
          <p:cNvSpPr>
            <a:spLocks noGrp="1"/>
          </p:cNvSpPr>
          <p:nvPr>
            <p:ph type="title"/>
          </p:nvPr>
        </p:nvSpPr>
        <p:spPr/>
        <p:txBody>
          <a:bodyPr/>
          <a:lstStyle/>
          <a:p>
            <a:r>
              <a:rPr lang="en-US" altLang="zh-CN">
                <a:ea typeface="+mj-lt"/>
                <a:cs typeface="Times New Roman"/>
              </a:rPr>
              <a:t>Multiple-Choice Questions</a:t>
            </a:r>
            <a:endParaRPr lang="zh-CN" b="0">
              <a:solidFill>
                <a:srgbClr val="000000"/>
              </a:solidFill>
              <a:cs typeface="Times New Roman"/>
            </a:endParaRPr>
          </a:p>
        </p:txBody>
      </p:sp>
      <p:sp>
        <p:nvSpPr>
          <p:cNvPr id="4" name="灯片编号占位符 3">
            <a:extLst>
              <a:ext uri="{FF2B5EF4-FFF2-40B4-BE49-F238E27FC236}">
                <a16:creationId xmlns:a16="http://schemas.microsoft.com/office/drawing/2014/main" id="{36648A5C-34A3-0BF4-E43F-B5B438A60A5A}"/>
              </a:ext>
            </a:extLst>
          </p:cNvPr>
          <p:cNvSpPr>
            <a:spLocks noGrp="1"/>
          </p:cNvSpPr>
          <p:nvPr>
            <p:ph type="sldNum" sz="quarter" idx="12"/>
          </p:nvPr>
        </p:nvSpPr>
        <p:spPr/>
        <p:txBody>
          <a:bodyPr/>
          <a:lstStyle/>
          <a:p>
            <a:pPr>
              <a:defRPr/>
            </a:pPr>
            <a:fld id="{5792DDC3-EFA3-4647-8A6E-E8039DA1A91A}" type="slidenum">
              <a:rPr lang="en-US" smtClean="0"/>
              <a:pPr>
                <a:defRPr/>
              </a:pPr>
              <a:t>16</a:t>
            </a:fld>
            <a:endParaRPr lang="en-US"/>
          </a:p>
        </p:txBody>
      </p:sp>
      <p:sp>
        <p:nvSpPr>
          <p:cNvPr id="7" name="表格占位符 2">
            <a:extLst>
              <a:ext uri="{FF2B5EF4-FFF2-40B4-BE49-F238E27FC236}">
                <a16:creationId xmlns:a16="http://schemas.microsoft.com/office/drawing/2014/main" id="{72E99B44-A9AC-79F9-1E12-749389F768AD}"/>
              </a:ext>
            </a:extLst>
          </p:cNvPr>
          <p:cNvSpPr>
            <a:spLocks noGrp="1"/>
          </p:cNvSpPr>
          <p:nvPr>
            <p:ph type="tbl" idx="1"/>
          </p:nvPr>
        </p:nvSpPr>
        <p:spPr>
          <a:xfrm>
            <a:off x="449548" y="1524001"/>
            <a:ext cx="11124858" cy="4953000"/>
          </a:xfrm>
        </p:spPr>
        <p:txBody>
          <a:bodyPr/>
          <a:lstStyle/>
          <a:p>
            <a:pPr marL="398145" indent="-398145"/>
            <a:r>
              <a:rPr lang="en-US" altLang="zh-CN" sz="2800"/>
              <a:t>13. </a:t>
            </a:r>
            <a:r>
              <a:rPr lang="en-US" sz="2800">
                <a:ea typeface="+mn-lt"/>
                <a:cs typeface="+mn-lt"/>
              </a:rPr>
              <a:t>Which principle guides the selection of terminology in architectural documentation?</a:t>
            </a:r>
          </a:p>
          <a:p>
            <a:pPr marL="398145" indent="-398145"/>
            <a:r>
              <a:rPr lang="en-US" sz="2800">
                <a:ea typeface="+mn-lt"/>
                <a:cs typeface="+mn-lt"/>
              </a:rPr>
              <a:t>   A. Encapsulation</a:t>
            </a:r>
            <a:endParaRPr lang="en-US" sz="2800">
              <a:cs typeface="Times New Roman"/>
            </a:endParaRPr>
          </a:p>
          <a:p>
            <a:pPr marL="398145" indent="-398145"/>
            <a:r>
              <a:rPr lang="en-US" sz="2800">
                <a:ea typeface="+mn-lt"/>
                <a:cs typeface="+mn-lt"/>
              </a:rPr>
              <a:t>   B. Least privilege</a:t>
            </a:r>
            <a:endParaRPr lang="en-US"/>
          </a:p>
          <a:p>
            <a:pPr marL="398145" indent="-398145"/>
            <a:r>
              <a:rPr lang="en-US" sz="2800">
                <a:solidFill>
                  <a:srgbClr val="FF0000"/>
                </a:solidFill>
                <a:ea typeface="+mn-lt"/>
                <a:cs typeface="+mn-lt"/>
              </a:rPr>
              <a:t>   C. User vocabulary alignment</a:t>
            </a:r>
            <a:endParaRPr lang="en-US">
              <a:solidFill>
                <a:srgbClr val="FF0000"/>
              </a:solidFill>
            </a:endParaRPr>
          </a:p>
          <a:p>
            <a:pPr marL="398145" indent="-398145"/>
            <a:r>
              <a:rPr lang="en-US" sz="2800">
                <a:ea typeface="+mn-lt"/>
                <a:cs typeface="+mn-lt"/>
              </a:rPr>
              <a:t>   D. Open-closed principle</a:t>
            </a:r>
            <a:endParaRPr lang="en-US"/>
          </a:p>
          <a:p>
            <a:pPr marL="0" indent="0">
              <a:buNone/>
            </a:pPr>
            <a:endParaRPr lang="en-US" sz="2800" b="1">
              <a:solidFill>
                <a:srgbClr val="F00000"/>
              </a:solidFill>
              <a:cs typeface="Times New Roman"/>
            </a:endParaRPr>
          </a:p>
          <a:p>
            <a:pPr marL="0" indent="0">
              <a:buNone/>
            </a:pPr>
            <a:r>
              <a:rPr lang="en-US" sz="2400">
                <a:latin typeface="Times New Roman"/>
                <a:ea typeface="Calibri"/>
                <a:cs typeface="Times New Roman"/>
              </a:rPr>
              <a:t>Explanation</a:t>
            </a:r>
            <a:r>
              <a:rPr lang="en-US" sz="2400">
                <a:ea typeface="+mn-lt"/>
                <a:cs typeface="+mn-lt"/>
              </a:rPr>
              <a:t>: Using user vocabulary improves communication and understanding of architecture.</a:t>
            </a:r>
            <a:endParaRPr lang="en-US"/>
          </a:p>
          <a:p>
            <a:pPr marL="0" indent="0">
              <a:buNone/>
            </a:pPr>
            <a:endParaRPr lang="en-US" sz="2400">
              <a:cs typeface="Times New Roman"/>
            </a:endParaRPr>
          </a:p>
          <a:p>
            <a:pPr marL="0" indent="0">
              <a:buNone/>
            </a:pPr>
            <a:endParaRPr lang="en-US" sz="2400">
              <a:cs typeface="Times New Roman"/>
            </a:endParaRPr>
          </a:p>
        </p:txBody>
      </p:sp>
    </p:spTree>
    <p:extLst>
      <p:ext uri="{BB962C8B-B14F-4D97-AF65-F5344CB8AC3E}">
        <p14:creationId xmlns:p14="http://schemas.microsoft.com/office/powerpoint/2010/main" val="99557896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41FC1-6436-0DDE-5288-58306709261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C26F07D-AAED-F456-D294-27F6988FE3F3}"/>
              </a:ext>
            </a:extLst>
          </p:cNvPr>
          <p:cNvSpPr>
            <a:spLocks noGrp="1"/>
          </p:cNvSpPr>
          <p:nvPr>
            <p:ph type="title"/>
          </p:nvPr>
        </p:nvSpPr>
        <p:spPr/>
        <p:txBody>
          <a:bodyPr/>
          <a:lstStyle/>
          <a:p>
            <a:r>
              <a:rPr lang="en-US" altLang="zh-CN">
                <a:ea typeface="+mj-lt"/>
                <a:cs typeface="Times New Roman"/>
              </a:rPr>
              <a:t>Multiple-Choice Questions</a:t>
            </a:r>
            <a:endParaRPr lang="zh-CN" b="0">
              <a:solidFill>
                <a:srgbClr val="000000"/>
              </a:solidFill>
              <a:cs typeface="Times New Roman"/>
            </a:endParaRPr>
          </a:p>
        </p:txBody>
      </p:sp>
      <p:sp>
        <p:nvSpPr>
          <p:cNvPr id="4" name="灯片编号占位符 3">
            <a:extLst>
              <a:ext uri="{FF2B5EF4-FFF2-40B4-BE49-F238E27FC236}">
                <a16:creationId xmlns:a16="http://schemas.microsoft.com/office/drawing/2014/main" id="{82DC3411-6034-B175-53A4-0CAB008952A1}"/>
              </a:ext>
            </a:extLst>
          </p:cNvPr>
          <p:cNvSpPr>
            <a:spLocks noGrp="1"/>
          </p:cNvSpPr>
          <p:nvPr>
            <p:ph type="sldNum" sz="quarter" idx="12"/>
          </p:nvPr>
        </p:nvSpPr>
        <p:spPr/>
        <p:txBody>
          <a:bodyPr/>
          <a:lstStyle/>
          <a:p>
            <a:pPr>
              <a:defRPr/>
            </a:pPr>
            <a:fld id="{5792DDC3-EFA3-4647-8A6E-E8039DA1A91A}" type="slidenum">
              <a:rPr lang="en-US" smtClean="0"/>
              <a:pPr>
                <a:defRPr/>
              </a:pPr>
              <a:t>17</a:t>
            </a:fld>
            <a:endParaRPr lang="en-US"/>
          </a:p>
        </p:txBody>
      </p:sp>
      <p:sp>
        <p:nvSpPr>
          <p:cNvPr id="7" name="表格占位符 2">
            <a:extLst>
              <a:ext uri="{FF2B5EF4-FFF2-40B4-BE49-F238E27FC236}">
                <a16:creationId xmlns:a16="http://schemas.microsoft.com/office/drawing/2014/main" id="{7EF026DD-9F4D-C11C-4651-EF792B7F0B91}"/>
              </a:ext>
            </a:extLst>
          </p:cNvPr>
          <p:cNvSpPr>
            <a:spLocks noGrp="1"/>
          </p:cNvSpPr>
          <p:nvPr>
            <p:ph type="tbl" idx="1"/>
          </p:nvPr>
        </p:nvSpPr>
        <p:spPr>
          <a:xfrm>
            <a:off x="449548" y="1524001"/>
            <a:ext cx="11124858" cy="4953000"/>
          </a:xfrm>
        </p:spPr>
        <p:txBody>
          <a:bodyPr/>
          <a:lstStyle/>
          <a:p>
            <a:pPr marL="398145" indent="-398145"/>
            <a:r>
              <a:rPr lang="en-US" altLang="zh-CN" sz="2800"/>
              <a:t>14. </a:t>
            </a:r>
            <a:r>
              <a:rPr lang="en-US" sz="2800">
                <a:ea typeface="+mn-lt"/>
                <a:cs typeface="+mn-lt"/>
              </a:rPr>
              <a:t>Which of the following is NOT considered technical debt?</a:t>
            </a:r>
            <a:endParaRPr lang="en-US">
              <a:ea typeface="+mn-lt"/>
              <a:cs typeface="+mn-lt"/>
            </a:endParaRPr>
          </a:p>
          <a:p>
            <a:pPr marL="398145" indent="-398145"/>
            <a:r>
              <a:rPr lang="en-US" sz="2800">
                <a:ea typeface="+mn-lt"/>
                <a:cs typeface="+mn-lt"/>
              </a:rPr>
              <a:t>   A. Glue code for temporary database sync</a:t>
            </a:r>
            <a:endParaRPr lang="en-US" sz="2800">
              <a:cs typeface="Times New Roman"/>
            </a:endParaRPr>
          </a:p>
          <a:p>
            <a:pPr marL="398145" indent="-398145"/>
            <a:r>
              <a:rPr lang="en-US" sz="2800">
                <a:ea typeface="+mn-lt"/>
                <a:cs typeface="+mn-lt"/>
              </a:rPr>
              <a:t>   B. Skipping unit tests for faster delivery</a:t>
            </a:r>
            <a:endParaRPr lang="en-US"/>
          </a:p>
          <a:p>
            <a:pPr marL="398145" indent="-398145"/>
            <a:r>
              <a:rPr lang="en-US" sz="2800">
                <a:ea typeface="+mn-lt"/>
                <a:cs typeface="+mn-lt"/>
              </a:rPr>
              <a:t>   </a:t>
            </a:r>
            <a:r>
              <a:rPr lang="en-US" sz="2800">
                <a:solidFill>
                  <a:srgbClr val="FF0000"/>
                </a:solidFill>
                <a:ea typeface="+mn-lt"/>
                <a:cs typeface="+mn-lt"/>
              </a:rPr>
              <a:t>C. Feature backlog</a:t>
            </a:r>
            <a:endParaRPr lang="en-US">
              <a:solidFill>
                <a:srgbClr val="FF0000"/>
              </a:solidFill>
              <a:cs typeface="Times New Roman"/>
            </a:endParaRPr>
          </a:p>
          <a:p>
            <a:pPr marL="398145" indent="-398145"/>
            <a:r>
              <a:rPr lang="en-US" sz="2800">
                <a:ea typeface="+mn-lt"/>
                <a:cs typeface="+mn-lt"/>
              </a:rPr>
              <a:t>   D. Hardcoded configuration values</a:t>
            </a:r>
            <a:endParaRPr lang="en-US"/>
          </a:p>
          <a:p>
            <a:pPr marL="398145" indent="-398145"/>
            <a:r>
              <a:rPr lang="en-US" sz="2800">
                <a:ea typeface="+mn-lt"/>
                <a:cs typeface="+mn-lt"/>
              </a:rPr>
              <a:t>   E. Outdated documentation</a:t>
            </a:r>
            <a:endParaRPr lang="en-US"/>
          </a:p>
          <a:p>
            <a:pPr marL="398145" indent="-398145"/>
            <a:endParaRPr lang="en-US" sz="2800">
              <a:cs typeface="Times New Roman"/>
            </a:endParaRPr>
          </a:p>
          <a:p>
            <a:pPr marL="0" indent="0">
              <a:buNone/>
            </a:pPr>
            <a:r>
              <a:rPr lang="en-US" sz="2400">
                <a:latin typeface="Times New Roman"/>
                <a:ea typeface="Calibri"/>
                <a:cs typeface="Times New Roman"/>
              </a:rPr>
              <a:t>Explanation</a:t>
            </a:r>
            <a:r>
              <a:rPr lang="en-US" sz="2400">
                <a:ea typeface="+mn-lt"/>
                <a:cs typeface="+mn-lt"/>
              </a:rPr>
              <a:t>: Feature backlog is deferred work but not technical debt unless it increases future cost.</a:t>
            </a:r>
            <a:endParaRPr lang="en-US">
              <a:ea typeface="+mn-lt"/>
              <a:cs typeface="+mn-lt"/>
            </a:endParaRPr>
          </a:p>
          <a:p>
            <a:pPr marL="0" indent="0">
              <a:buNone/>
            </a:pPr>
            <a:endParaRPr lang="en-US" sz="2400">
              <a:cs typeface="Times New Roman"/>
            </a:endParaRPr>
          </a:p>
          <a:p>
            <a:pPr marL="0" indent="0">
              <a:buNone/>
            </a:pPr>
            <a:endParaRPr lang="en-US" sz="2400">
              <a:cs typeface="Times New Roman"/>
            </a:endParaRPr>
          </a:p>
          <a:p>
            <a:pPr marL="0" indent="0">
              <a:buNone/>
            </a:pPr>
            <a:endParaRPr lang="en-US" sz="2400">
              <a:cs typeface="Times New Roman"/>
            </a:endParaRPr>
          </a:p>
        </p:txBody>
      </p:sp>
    </p:spTree>
    <p:extLst>
      <p:ext uri="{BB962C8B-B14F-4D97-AF65-F5344CB8AC3E}">
        <p14:creationId xmlns:p14="http://schemas.microsoft.com/office/powerpoint/2010/main" val="191643333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7D796-628C-D6E7-0FED-354FADB038E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215ABF9-8471-673B-CC39-28701FE513F7}"/>
              </a:ext>
            </a:extLst>
          </p:cNvPr>
          <p:cNvSpPr>
            <a:spLocks noGrp="1"/>
          </p:cNvSpPr>
          <p:nvPr>
            <p:ph type="title"/>
          </p:nvPr>
        </p:nvSpPr>
        <p:spPr/>
        <p:txBody>
          <a:bodyPr/>
          <a:lstStyle/>
          <a:p>
            <a:r>
              <a:rPr lang="en-US" altLang="zh-CN">
                <a:ea typeface="+mj-lt"/>
                <a:cs typeface="Times New Roman"/>
              </a:rPr>
              <a:t>Multiple-Choice Questions</a:t>
            </a:r>
            <a:endParaRPr lang="zh-CN" b="0">
              <a:solidFill>
                <a:srgbClr val="000000"/>
              </a:solidFill>
              <a:cs typeface="Times New Roman"/>
            </a:endParaRPr>
          </a:p>
        </p:txBody>
      </p:sp>
      <p:sp>
        <p:nvSpPr>
          <p:cNvPr id="4" name="灯片编号占位符 3">
            <a:extLst>
              <a:ext uri="{FF2B5EF4-FFF2-40B4-BE49-F238E27FC236}">
                <a16:creationId xmlns:a16="http://schemas.microsoft.com/office/drawing/2014/main" id="{92287F48-2319-3332-1DFA-E3FF9CAFC72C}"/>
              </a:ext>
            </a:extLst>
          </p:cNvPr>
          <p:cNvSpPr>
            <a:spLocks noGrp="1"/>
          </p:cNvSpPr>
          <p:nvPr>
            <p:ph type="sldNum" sz="quarter" idx="12"/>
          </p:nvPr>
        </p:nvSpPr>
        <p:spPr/>
        <p:txBody>
          <a:bodyPr/>
          <a:lstStyle/>
          <a:p>
            <a:pPr>
              <a:defRPr/>
            </a:pPr>
            <a:fld id="{5792DDC3-EFA3-4647-8A6E-E8039DA1A91A}" type="slidenum">
              <a:rPr lang="en-US" smtClean="0"/>
              <a:pPr>
                <a:defRPr/>
              </a:pPr>
              <a:t>18</a:t>
            </a:fld>
            <a:endParaRPr lang="en-US"/>
          </a:p>
        </p:txBody>
      </p:sp>
      <p:sp>
        <p:nvSpPr>
          <p:cNvPr id="7" name="表格占位符 2">
            <a:extLst>
              <a:ext uri="{FF2B5EF4-FFF2-40B4-BE49-F238E27FC236}">
                <a16:creationId xmlns:a16="http://schemas.microsoft.com/office/drawing/2014/main" id="{E0C23658-A2AC-6F72-48B0-37AA8EDB002F}"/>
              </a:ext>
            </a:extLst>
          </p:cNvPr>
          <p:cNvSpPr>
            <a:spLocks noGrp="1"/>
          </p:cNvSpPr>
          <p:nvPr>
            <p:ph type="tbl" idx="1"/>
          </p:nvPr>
        </p:nvSpPr>
        <p:spPr>
          <a:xfrm>
            <a:off x="449548" y="1524001"/>
            <a:ext cx="11124858" cy="4953000"/>
          </a:xfrm>
        </p:spPr>
        <p:txBody>
          <a:bodyPr/>
          <a:lstStyle/>
          <a:p>
            <a:pPr marL="398145" indent="-398145"/>
            <a:r>
              <a:rPr lang="en-US" altLang="zh-CN" sz="2800"/>
              <a:t>15. </a:t>
            </a:r>
            <a:r>
              <a:rPr lang="en-US" sz="2800">
                <a:ea typeface="+mn-lt"/>
                <a:cs typeface="+mn-lt"/>
              </a:rPr>
              <a:t>Which dimension of technical debt refers to whether the debt was created knowingly?</a:t>
            </a:r>
            <a:endParaRPr lang="en-US">
              <a:ea typeface="+mn-lt"/>
              <a:cs typeface="+mn-lt"/>
            </a:endParaRPr>
          </a:p>
          <a:p>
            <a:pPr marL="398145" indent="-398145"/>
            <a:r>
              <a:rPr lang="en-US" sz="2800">
                <a:ea typeface="+mn-lt"/>
                <a:cs typeface="+mn-lt"/>
              </a:rPr>
              <a:t>   A. Type</a:t>
            </a:r>
            <a:endParaRPr lang="en-US" sz="2800">
              <a:cs typeface="Times New Roman"/>
            </a:endParaRPr>
          </a:p>
          <a:p>
            <a:pPr marL="398145" indent="-398145"/>
            <a:r>
              <a:rPr lang="en-US" sz="2800">
                <a:ea typeface="+mn-lt"/>
                <a:cs typeface="+mn-lt"/>
              </a:rPr>
              <a:t>   B. Time horizon</a:t>
            </a:r>
            <a:endParaRPr lang="en-US"/>
          </a:p>
          <a:p>
            <a:pPr marL="398145" indent="-398145"/>
            <a:r>
              <a:rPr lang="en-US" sz="2800">
                <a:ea typeface="+mn-lt"/>
                <a:cs typeface="+mn-lt"/>
              </a:rPr>
              <a:t>   C. Degree of focus</a:t>
            </a:r>
            <a:endParaRPr lang="en-US"/>
          </a:p>
          <a:p>
            <a:pPr marL="398145" indent="-398145"/>
            <a:r>
              <a:rPr lang="en-US" sz="2800">
                <a:ea typeface="+mn-lt"/>
                <a:cs typeface="+mn-lt"/>
              </a:rPr>
              <a:t>  </a:t>
            </a:r>
            <a:r>
              <a:rPr lang="en-US" sz="2800">
                <a:solidFill>
                  <a:srgbClr val="FF0000"/>
                </a:solidFill>
                <a:ea typeface="+mn-lt"/>
                <a:cs typeface="+mn-lt"/>
              </a:rPr>
              <a:t> D. Intentionality</a:t>
            </a:r>
            <a:endParaRPr lang="en-US">
              <a:solidFill>
                <a:srgbClr val="FF0000"/>
              </a:solidFill>
            </a:endParaRPr>
          </a:p>
          <a:p>
            <a:pPr marL="398145" indent="-398145"/>
            <a:r>
              <a:rPr lang="en-US" sz="2800">
                <a:ea typeface="+mn-lt"/>
                <a:cs typeface="+mn-lt"/>
              </a:rPr>
              <a:t>   E. Severity</a:t>
            </a:r>
            <a:endParaRPr lang="en-US"/>
          </a:p>
          <a:p>
            <a:pPr marL="398145" indent="-398145"/>
            <a:endParaRPr lang="en-US" sz="2800">
              <a:latin typeface="Times New Roman"/>
              <a:ea typeface="Calibri"/>
              <a:cs typeface="Times New Roman"/>
            </a:endParaRPr>
          </a:p>
          <a:p>
            <a:pPr marL="0" indent="0">
              <a:buNone/>
            </a:pPr>
            <a:r>
              <a:rPr lang="en-US" sz="2400">
                <a:latin typeface="Times New Roman"/>
                <a:ea typeface="Calibri"/>
                <a:cs typeface="Times New Roman"/>
              </a:rPr>
              <a:t>Explanation</a:t>
            </a:r>
            <a:r>
              <a:rPr lang="en-US" sz="2400">
                <a:ea typeface="+mn-lt"/>
                <a:cs typeface="+mn-lt"/>
              </a:rPr>
              <a:t>: Intentionality distinguishes between deliberate and inadvertent technical debt.</a:t>
            </a:r>
            <a:endParaRPr lang="en-US">
              <a:ea typeface="+mn-lt"/>
              <a:cs typeface="+mn-lt"/>
            </a:endParaRPr>
          </a:p>
          <a:p>
            <a:pPr marL="0" indent="0">
              <a:buNone/>
            </a:pPr>
            <a:endParaRPr lang="en-US" sz="2400">
              <a:cs typeface="Times New Roman"/>
            </a:endParaRPr>
          </a:p>
          <a:p>
            <a:pPr marL="0" indent="0">
              <a:buNone/>
            </a:pPr>
            <a:endParaRPr lang="en-US" sz="2400">
              <a:cs typeface="Times New Roman"/>
            </a:endParaRPr>
          </a:p>
          <a:p>
            <a:pPr marL="0" indent="0">
              <a:buNone/>
            </a:pPr>
            <a:endParaRPr lang="en-US" sz="2400">
              <a:cs typeface="Times New Roman"/>
            </a:endParaRPr>
          </a:p>
        </p:txBody>
      </p:sp>
    </p:spTree>
    <p:extLst>
      <p:ext uri="{BB962C8B-B14F-4D97-AF65-F5344CB8AC3E}">
        <p14:creationId xmlns:p14="http://schemas.microsoft.com/office/powerpoint/2010/main" val="48722569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9EBDC-4E34-E5CC-4104-A0087445ED6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A77A324-E5CF-D10F-7FC6-FFD403C9A8B9}"/>
              </a:ext>
            </a:extLst>
          </p:cNvPr>
          <p:cNvSpPr>
            <a:spLocks noGrp="1"/>
          </p:cNvSpPr>
          <p:nvPr>
            <p:ph type="title"/>
          </p:nvPr>
        </p:nvSpPr>
        <p:spPr/>
        <p:txBody>
          <a:bodyPr/>
          <a:lstStyle/>
          <a:p>
            <a:r>
              <a:rPr lang="en-US" altLang="zh-CN">
                <a:ea typeface="+mj-lt"/>
                <a:cs typeface="Times New Roman"/>
              </a:rPr>
              <a:t>Multiple-Choice Questions</a:t>
            </a:r>
            <a:endParaRPr lang="zh-CN" b="0">
              <a:solidFill>
                <a:srgbClr val="000000"/>
              </a:solidFill>
              <a:cs typeface="Times New Roman"/>
            </a:endParaRPr>
          </a:p>
        </p:txBody>
      </p:sp>
      <p:sp>
        <p:nvSpPr>
          <p:cNvPr id="4" name="灯片编号占位符 3">
            <a:extLst>
              <a:ext uri="{FF2B5EF4-FFF2-40B4-BE49-F238E27FC236}">
                <a16:creationId xmlns:a16="http://schemas.microsoft.com/office/drawing/2014/main" id="{AB18CB1D-ABFA-BCA0-8FA6-E5A94BEE7349}"/>
              </a:ext>
            </a:extLst>
          </p:cNvPr>
          <p:cNvSpPr>
            <a:spLocks noGrp="1"/>
          </p:cNvSpPr>
          <p:nvPr>
            <p:ph type="sldNum" sz="quarter" idx="12"/>
          </p:nvPr>
        </p:nvSpPr>
        <p:spPr/>
        <p:txBody>
          <a:bodyPr/>
          <a:lstStyle/>
          <a:p>
            <a:pPr>
              <a:defRPr/>
            </a:pPr>
            <a:fld id="{5792DDC3-EFA3-4647-8A6E-E8039DA1A91A}" type="slidenum">
              <a:rPr lang="en-US" smtClean="0"/>
              <a:pPr>
                <a:defRPr/>
              </a:pPr>
              <a:t>19</a:t>
            </a:fld>
            <a:endParaRPr lang="en-US"/>
          </a:p>
        </p:txBody>
      </p:sp>
      <p:sp>
        <p:nvSpPr>
          <p:cNvPr id="7" name="表格占位符 2">
            <a:extLst>
              <a:ext uri="{FF2B5EF4-FFF2-40B4-BE49-F238E27FC236}">
                <a16:creationId xmlns:a16="http://schemas.microsoft.com/office/drawing/2014/main" id="{CC6E7B15-0150-1338-2163-BD820CF2C46E}"/>
              </a:ext>
            </a:extLst>
          </p:cNvPr>
          <p:cNvSpPr>
            <a:spLocks noGrp="1"/>
          </p:cNvSpPr>
          <p:nvPr>
            <p:ph type="tbl" idx="1"/>
          </p:nvPr>
        </p:nvSpPr>
        <p:spPr>
          <a:xfrm>
            <a:off x="449548" y="1524001"/>
            <a:ext cx="11124858" cy="4953000"/>
          </a:xfrm>
        </p:spPr>
        <p:txBody>
          <a:bodyPr/>
          <a:lstStyle/>
          <a:p>
            <a:pPr marL="398145" indent="-398145"/>
            <a:r>
              <a:rPr lang="en-US" altLang="zh-CN" sz="2800"/>
              <a:t>16. </a:t>
            </a:r>
            <a:r>
              <a:rPr lang="en-US" sz="2800">
                <a:ea typeface="+mn-lt"/>
                <a:cs typeface="+mn-lt"/>
              </a:rPr>
              <a:t>Which pattern contributes to technical debt due to unreasonable deadlines?</a:t>
            </a:r>
          </a:p>
          <a:p>
            <a:pPr marL="398145" indent="-398145"/>
            <a:r>
              <a:rPr lang="en-US" sz="2800">
                <a:ea typeface="+mn-lt"/>
                <a:cs typeface="+mn-lt"/>
              </a:rPr>
              <a:t>   A. Duplication of code</a:t>
            </a:r>
            <a:endParaRPr lang="en-US"/>
          </a:p>
          <a:p>
            <a:pPr marL="398145" indent="-398145"/>
            <a:r>
              <a:rPr lang="en-US" sz="2800">
                <a:ea typeface="+mn-lt"/>
                <a:cs typeface="+mn-lt"/>
              </a:rPr>
              <a:t>   B. Overengineering</a:t>
            </a:r>
            <a:endParaRPr lang="en-US"/>
          </a:p>
          <a:p>
            <a:pPr marL="398145" indent="-398145"/>
            <a:r>
              <a:rPr lang="en-US" sz="2800">
                <a:solidFill>
                  <a:srgbClr val="FF0000"/>
                </a:solidFill>
                <a:ea typeface="+mn-lt"/>
                <a:cs typeface="+mn-lt"/>
              </a:rPr>
              <a:t>   C. Schedule pressure</a:t>
            </a:r>
            <a:endParaRPr lang="en-US">
              <a:solidFill>
                <a:srgbClr val="FF0000"/>
              </a:solidFill>
            </a:endParaRPr>
          </a:p>
          <a:p>
            <a:pPr marL="398145" indent="-398145"/>
            <a:r>
              <a:rPr lang="en-US" sz="2800">
                <a:ea typeface="+mn-lt"/>
                <a:cs typeface="+mn-lt"/>
              </a:rPr>
              <a:t>   D. Lack of documentation</a:t>
            </a:r>
            <a:endParaRPr lang="en-US"/>
          </a:p>
          <a:p>
            <a:pPr marL="398145" indent="-398145"/>
            <a:r>
              <a:rPr lang="en-US" sz="2800">
                <a:ea typeface="+mn-lt"/>
                <a:cs typeface="+mn-lt"/>
              </a:rPr>
              <a:t>   E. Poor testing</a:t>
            </a:r>
            <a:endParaRPr lang="en-US"/>
          </a:p>
          <a:p>
            <a:pPr marL="0" indent="0">
              <a:buNone/>
            </a:pPr>
            <a:endParaRPr lang="en-US" altLang="zh-CN" sz="2800">
              <a:cs typeface="Times New Roman"/>
            </a:endParaRPr>
          </a:p>
          <a:p>
            <a:pPr marL="0" indent="0">
              <a:buNone/>
            </a:pPr>
            <a:r>
              <a:rPr lang="en-US" sz="2400">
                <a:latin typeface="Times New Roman"/>
                <a:ea typeface="Calibri"/>
                <a:cs typeface="Times New Roman"/>
              </a:rPr>
              <a:t>Explanation</a:t>
            </a:r>
            <a:r>
              <a:rPr lang="en-US" sz="2400">
                <a:ea typeface="+mn-lt"/>
                <a:cs typeface="+mn-lt"/>
              </a:rPr>
              <a:t>: Schedule pressure forces teams to cut corners, leading to technical debt.</a:t>
            </a:r>
            <a:endParaRPr lang="en-US">
              <a:ea typeface="+mn-lt"/>
              <a:cs typeface="+mn-lt"/>
            </a:endParaRPr>
          </a:p>
          <a:p>
            <a:pPr marL="0" indent="0">
              <a:buNone/>
            </a:pPr>
            <a:endParaRPr lang="en-US" sz="2400">
              <a:cs typeface="Times New Roman"/>
            </a:endParaRPr>
          </a:p>
          <a:p>
            <a:pPr marL="0" indent="0">
              <a:buNone/>
            </a:pPr>
            <a:endParaRPr lang="en-US" sz="2400">
              <a:cs typeface="Times New Roman"/>
            </a:endParaRPr>
          </a:p>
          <a:p>
            <a:pPr marL="0" indent="0">
              <a:buNone/>
            </a:pPr>
            <a:endParaRPr lang="en-US" sz="2400">
              <a:cs typeface="Times New Roman"/>
            </a:endParaRPr>
          </a:p>
        </p:txBody>
      </p:sp>
    </p:spTree>
    <p:extLst>
      <p:ext uri="{BB962C8B-B14F-4D97-AF65-F5344CB8AC3E}">
        <p14:creationId xmlns:p14="http://schemas.microsoft.com/office/powerpoint/2010/main" val="302822168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CD9E1-34F6-C783-04FA-7793F16A5C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0F72155-1AB1-C0C4-F4CE-12C683127AE4}"/>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2812014E-132E-55B2-E231-F774F6FED60C}"/>
              </a:ext>
            </a:extLst>
          </p:cNvPr>
          <p:cNvSpPr>
            <a:spLocks noGrp="1"/>
          </p:cNvSpPr>
          <p:nvPr>
            <p:ph type="tbl" idx="1"/>
          </p:nvPr>
        </p:nvSpPr>
        <p:spPr>
          <a:xfrm>
            <a:off x="449548" y="1524001"/>
            <a:ext cx="11124858" cy="4953000"/>
          </a:xfrm>
        </p:spPr>
        <p:txBody>
          <a:bodyPr/>
          <a:lstStyle/>
          <a:p>
            <a:pPr marL="398145" indent="-398145"/>
            <a:r>
              <a:rPr lang="en-US" altLang="zh-CN" sz="2400"/>
              <a:t>17. </a:t>
            </a:r>
            <a:r>
              <a:rPr lang="en-HK" sz="2400">
                <a:ea typeface="+mn-lt"/>
                <a:cs typeface="+mn-lt"/>
              </a:rPr>
              <a:t> Which method is most effective for reducing technical debt?</a:t>
            </a:r>
            <a:endParaRPr lang="en-HK" altLang="zh-CN" sz="2400">
              <a:ea typeface="+mn-lt"/>
              <a:cs typeface="+mn-lt"/>
            </a:endParaRPr>
          </a:p>
          <a:p>
            <a:pPr marL="398145" indent="-398145"/>
            <a:r>
              <a:rPr lang="en-HK" sz="2400">
                <a:ea typeface="+mn-lt"/>
                <a:cs typeface="+mn-lt"/>
              </a:rPr>
              <a:t>   A. Adding comments in code</a:t>
            </a:r>
            <a:endParaRPr lang="en-US"/>
          </a:p>
          <a:p>
            <a:pPr marL="398145" indent="-398145"/>
            <a:r>
              <a:rPr lang="en-HK" sz="2400">
                <a:ea typeface="+mn-lt"/>
                <a:cs typeface="+mn-lt"/>
              </a:rPr>
              <a:t>   B. Using bug tracking systems</a:t>
            </a:r>
            <a:endParaRPr lang="en-US"/>
          </a:p>
          <a:p>
            <a:pPr marL="398145" indent="-398145"/>
            <a:r>
              <a:rPr lang="en-HK" sz="2400">
                <a:ea typeface="+mn-lt"/>
                <a:cs typeface="+mn-lt"/>
              </a:rPr>
              <a:t>   </a:t>
            </a:r>
            <a:r>
              <a:rPr lang="en-HK" sz="2400" b="1">
                <a:solidFill>
                  <a:srgbClr val="FF0000"/>
                </a:solidFill>
                <a:ea typeface="+mn-lt"/>
                <a:cs typeface="+mn-lt"/>
              </a:rPr>
              <a:t>C. Refactoring</a:t>
            </a:r>
            <a:endParaRPr lang="en-US" b="1">
              <a:solidFill>
                <a:srgbClr val="FF0000"/>
              </a:solidFill>
            </a:endParaRPr>
          </a:p>
          <a:p>
            <a:pPr marL="398145" indent="-398145"/>
            <a:r>
              <a:rPr lang="en-HK" sz="2400">
                <a:ea typeface="+mn-lt"/>
                <a:cs typeface="+mn-lt"/>
              </a:rPr>
              <a:t>   D. Increasing test coverage</a:t>
            </a:r>
            <a:endParaRPr lang="en-US"/>
          </a:p>
          <a:p>
            <a:pPr marL="398145" indent="-398145"/>
            <a:r>
              <a:rPr lang="en-HK" sz="2400">
                <a:ea typeface="+mn-lt"/>
                <a:cs typeface="+mn-lt"/>
              </a:rPr>
              <a:t>   E. Writing documentation</a:t>
            </a:r>
            <a:endParaRPr lang="en-US"/>
          </a:p>
          <a:p>
            <a:pPr marL="398145" indent="-398145"/>
            <a:endParaRPr lang="en-US" altLang="zh-CN" sz="2400">
              <a:ea typeface="+mn-lt"/>
              <a:cs typeface="+mn-lt"/>
            </a:endParaRPr>
          </a:p>
          <a:p>
            <a:pPr marL="0" indent="0">
              <a:buNone/>
            </a:pPr>
            <a:r>
              <a:rPr lang="en-US" altLang="zh-CN" sz="2400"/>
              <a:t>Explanation: </a:t>
            </a:r>
            <a:r>
              <a:rPr lang="en-HK" sz="2400">
                <a:latin typeface="Times New Roman"/>
                <a:cs typeface="Times New Roman"/>
              </a:rPr>
              <a:t>Refactoring is the only significantly effective way to reduce technical debt.</a:t>
            </a:r>
            <a:r>
              <a:rPr lang="en-US" sz="2400"/>
              <a:t> (see cs5351-technical-debt-v5.pptx Page 12)</a:t>
            </a:r>
            <a:endParaRPr lang="en-US" sz="2400">
              <a:cs typeface="Times New Roman"/>
            </a:endParaRPr>
          </a:p>
          <a:p>
            <a:pPr marL="0" indent="0">
              <a:buNone/>
            </a:pPr>
            <a:endParaRPr lang="en-US" sz="2400">
              <a:cs typeface="Times New Roman"/>
            </a:endParaRPr>
          </a:p>
          <a:p>
            <a:pPr marL="0" indent="0">
              <a:buNone/>
            </a:pPr>
            <a:endParaRPr lang="en-US" sz="2400">
              <a:cs typeface="Times New Roman"/>
            </a:endParaRPr>
          </a:p>
        </p:txBody>
      </p:sp>
      <p:sp>
        <p:nvSpPr>
          <p:cNvPr id="4" name="灯片编号占位符 3">
            <a:extLst>
              <a:ext uri="{FF2B5EF4-FFF2-40B4-BE49-F238E27FC236}">
                <a16:creationId xmlns:a16="http://schemas.microsoft.com/office/drawing/2014/main" id="{8F499F60-2B82-C40D-0EAE-1F507844CB2C}"/>
              </a:ext>
            </a:extLst>
          </p:cNvPr>
          <p:cNvSpPr>
            <a:spLocks noGrp="1"/>
          </p:cNvSpPr>
          <p:nvPr>
            <p:ph type="sldNum" sz="quarter" idx="12"/>
          </p:nvPr>
        </p:nvSpPr>
        <p:spPr/>
        <p:txBody>
          <a:bodyPr/>
          <a:lstStyle/>
          <a:p>
            <a:pPr>
              <a:defRPr/>
            </a:pPr>
            <a:fld id="{5792DDC3-EFA3-4647-8A6E-E8039DA1A91A}" type="slidenum">
              <a:rPr lang="en-US" smtClean="0"/>
              <a:pPr>
                <a:defRPr/>
              </a:pPr>
              <a:t>20</a:t>
            </a:fld>
            <a:endParaRPr lang="en-US"/>
          </a:p>
        </p:txBody>
      </p:sp>
    </p:spTree>
    <p:extLst>
      <p:ext uri="{BB962C8B-B14F-4D97-AF65-F5344CB8AC3E}">
        <p14:creationId xmlns:p14="http://schemas.microsoft.com/office/powerpoint/2010/main" val="2664931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B1978-8537-1902-6E67-E9AC2B8E39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68CEC4-47C9-F3B5-EDEF-F848BDD4A423}"/>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4DA5288A-389E-256D-A42A-0F578D64B6E8}"/>
              </a:ext>
            </a:extLst>
          </p:cNvPr>
          <p:cNvSpPr>
            <a:spLocks noGrp="1"/>
          </p:cNvSpPr>
          <p:nvPr>
            <p:ph type="tbl" idx="1"/>
          </p:nvPr>
        </p:nvSpPr>
        <p:spPr>
          <a:xfrm>
            <a:off x="496011" y="1524001"/>
            <a:ext cx="11375760" cy="4897244"/>
          </a:xfrm>
        </p:spPr>
        <p:txBody>
          <a:bodyPr/>
          <a:lstStyle/>
          <a:p>
            <a:pPr marL="398145" indent="-398145"/>
            <a:r>
              <a:rPr lang="en-US" altLang="zh-CN" sz="2400"/>
              <a:t>18. </a:t>
            </a:r>
            <a:r>
              <a:rPr lang="en-HK" sz="2400">
                <a:ea typeface="+mn-lt"/>
                <a:cs typeface="+mn-lt"/>
              </a:rPr>
              <a:t>  What is the impact of AI-generated code on technical debt?</a:t>
            </a:r>
            <a:endParaRPr lang="en-HK" altLang="zh-CN" sz="2400">
              <a:ea typeface="+mn-lt"/>
              <a:cs typeface="+mn-lt"/>
            </a:endParaRPr>
          </a:p>
          <a:p>
            <a:pPr marL="398145" indent="-398145"/>
            <a:r>
              <a:rPr lang="en-HK" sz="2400">
                <a:ea typeface="+mn-lt"/>
                <a:cs typeface="+mn-lt"/>
              </a:rPr>
              <a:t>   A. Reduces code complexity to reduce technical debt</a:t>
            </a:r>
            <a:endParaRPr lang="en-US"/>
          </a:p>
          <a:p>
            <a:pPr marL="398145" indent="-398145"/>
            <a:r>
              <a:rPr lang="en-HK" sz="2400">
                <a:ea typeface="+mn-lt"/>
                <a:cs typeface="+mn-lt"/>
              </a:rPr>
              <a:t>   B. Improves delivery stability to reduce technical debt</a:t>
            </a:r>
            <a:endParaRPr lang="en-US"/>
          </a:p>
          <a:p>
            <a:pPr marL="398145" indent="-398145"/>
            <a:r>
              <a:rPr lang="en-HK" sz="2400" b="1">
                <a:ea typeface="+mn-lt"/>
                <a:cs typeface="+mn-lt"/>
              </a:rPr>
              <a:t> </a:t>
            </a:r>
            <a:r>
              <a:rPr lang="en-HK" sz="2400" b="1">
                <a:solidFill>
                  <a:srgbClr val="FF0000"/>
                </a:solidFill>
                <a:ea typeface="+mn-lt"/>
                <a:cs typeface="+mn-lt"/>
              </a:rPr>
              <a:t>  C. Increases technical debt if unchecked</a:t>
            </a:r>
            <a:endParaRPr lang="en-US" b="1">
              <a:solidFill>
                <a:srgbClr val="FF0000"/>
              </a:solidFill>
            </a:endParaRPr>
          </a:p>
          <a:p>
            <a:pPr marL="398145" indent="-398145"/>
            <a:r>
              <a:rPr lang="en-HK" sz="2400">
                <a:ea typeface="+mn-lt"/>
                <a:cs typeface="+mn-lt"/>
              </a:rPr>
              <a:t>   D. Eliminates the need for code review by human developers</a:t>
            </a:r>
            <a:endParaRPr lang="en-US"/>
          </a:p>
          <a:p>
            <a:pPr marL="398145" indent="-398145"/>
            <a:r>
              <a:rPr lang="en-HK" sz="2400">
                <a:ea typeface="+mn-lt"/>
                <a:cs typeface="+mn-lt"/>
              </a:rPr>
              <a:t>   E. Improves architectural soundness</a:t>
            </a:r>
            <a:endParaRPr lang="en-HK"/>
          </a:p>
          <a:p>
            <a:pPr marL="398145" indent="-398145"/>
            <a:endParaRPr lang="en-US" altLang="zh-CN" sz="2400">
              <a:cs typeface="Times New Roman"/>
            </a:endParaRPr>
          </a:p>
          <a:p>
            <a:pPr marL="0" indent="0">
              <a:buNone/>
            </a:pPr>
            <a:r>
              <a:rPr lang="en-US" altLang="zh-CN" sz="2400"/>
              <a:t>Explanation: </a:t>
            </a:r>
            <a:r>
              <a:rPr lang="en-HK" sz="2400"/>
              <a:t>AI-generated code may introduce superficial fixes and increase technical debt without oversight.</a:t>
            </a:r>
            <a:r>
              <a:rPr lang="en-US" sz="2400"/>
              <a:t> (see </a:t>
            </a:r>
            <a:r>
              <a:rPr lang="en-US" sz="2400">
                <a:ea typeface="+mn-lt"/>
                <a:cs typeface="+mn-lt"/>
              </a:rPr>
              <a:t>cs5351-technical-debt-v5.pptx</a:t>
            </a:r>
            <a:r>
              <a:rPr lang="en-US" sz="2400"/>
              <a:t> Page 64)</a:t>
            </a:r>
            <a:endParaRPr lang="en-US" sz="2400">
              <a:cs typeface="Times New Roman"/>
            </a:endParaRPr>
          </a:p>
          <a:p>
            <a:pPr marL="0" indent="0">
              <a:buNone/>
            </a:pPr>
            <a:endParaRPr lang="en-US" sz="2400">
              <a:cs typeface="Times New Roman"/>
            </a:endParaRPr>
          </a:p>
          <a:p>
            <a:pPr marL="0" indent="0">
              <a:buNone/>
            </a:pPr>
            <a:endParaRPr lang="en-US" sz="2400">
              <a:cs typeface="Times New Roman"/>
            </a:endParaRPr>
          </a:p>
        </p:txBody>
      </p:sp>
      <p:sp>
        <p:nvSpPr>
          <p:cNvPr id="4" name="灯片编号占位符 3">
            <a:extLst>
              <a:ext uri="{FF2B5EF4-FFF2-40B4-BE49-F238E27FC236}">
                <a16:creationId xmlns:a16="http://schemas.microsoft.com/office/drawing/2014/main" id="{178A9FF8-A927-FFBB-F7BB-F0B56C2E2D69}"/>
              </a:ext>
            </a:extLst>
          </p:cNvPr>
          <p:cNvSpPr>
            <a:spLocks noGrp="1"/>
          </p:cNvSpPr>
          <p:nvPr>
            <p:ph type="sldNum" sz="quarter" idx="12"/>
          </p:nvPr>
        </p:nvSpPr>
        <p:spPr/>
        <p:txBody>
          <a:bodyPr/>
          <a:lstStyle/>
          <a:p>
            <a:pPr>
              <a:defRPr/>
            </a:pPr>
            <a:fld id="{5792DDC3-EFA3-4647-8A6E-E8039DA1A91A}" type="slidenum">
              <a:rPr lang="en-US" smtClean="0"/>
              <a:pPr>
                <a:defRPr/>
              </a:pPr>
              <a:t>21</a:t>
            </a:fld>
            <a:endParaRPr lang="en-US"/>
          </a:p>
        </p:txBody>
      </p:sp>
    </p:spTree>
    <p:extLst>
      <p:ext uri="{BB962C8B-B14F-4D97-AF65-F5344CB8AC3E}">
        <p14:creationId xmlns:p14="http://schemas.microsoft.com/office/powerpoint/2010/main" val="60162819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4F38E-5BD0-B0C8-3098-D90BED3109D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BE123D8-F1A1-9191-CFC0-3D4676CC823E}"/>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42F4037E-6474-C3E2-316C-2ABB5F3944B3}"/>
              </a:ext>
            </a:extLst>
          </p:cNvPr>
          <p:cNvSpPr>
            <a:spLocks noGrp="1"/>
          </p:cNvSpPr>
          <p:nvPr>
            <p:ph type="tbl" idx="1"/>
          </p:nvPr>
        </p:nvSpPr>
        <p:spPr>
          <a:xfrm>
            <a:off x="355763" y="1371600"/>
            <a:ext cx="11124858" cy="4953000"/>
          </a:xfrm>
        </p:spPr>
        <p:txBody>
          <a:bodyPr/>
          <a:lstStyle/>
          <a:p>
            <a:pPr marL="398145" indent="-398145"/>
            <a:r>
              <a:rPr lang="en-US" sz="2400" b="1"/>
              <a:t>Modern Code Review</a:t>
            </a:r>
            <a:endParaRPr lang="zh-CN" altLang="en-US" sz="2400" b="1"/>
          </a:p>
          <a:p>
            <a:pPr marL="398145" indent="-398145"/>
            <a:r>
              <a:rPr lang="en-HK" altLang="zh-CN" sz="2400"/>
              <a:t>19. </a:t>
            </a:r>
            <a:r>
              <a:rPr lang="en-HK" sz="2400">
                <a:ea typeface="+mn-lt"/>
                <a:cs typeface="+mn-lt"/>
              </a:rPr>
              <a:t>What is the key purpose of modern code review that may be missed if alternative solutions are ignored?</a:t>
            </a:r>
            <a:endParaRPr lang="zh-CN" altLang="zh-CN" sz="2400">
              <a:ea typeface="+mn-lt"/>
              <a:cs typeface="+mn-lt"/>
            </a:endParaRPr>
          </a:p>
          <a:p>
            <a:pPr marL="398145" indent="-398145"/>
            <a:r>
              <a:rPr lang="en-HK" sz="2400">
                <a:ea typeface="+mn-lt"/>
                <a:cs typeface="+mn-lt"/>
              </a:rPr>
              <a:t>   A. Bug detection</a:t>
            </a:r>
            <a:endParaRPr lang="zh-CN"/>
          </a:p>
          <a:p>
            <a:pPr marL="398145" indent="-398145"/>
            <a:r>
              <a:rPr lang="en-HK" sz="2400">
                <a:ea typeface="+mn-lt"/>
                <a:cs typeface="+mn-lt"/>
              </a:rPr>
              <a:t>  </a:t>
            </a:r>
            <a:r>
              <a:rPr lang="en-HK" sz="2400" b="1">
                <a:solidFill>
                  <a:srgbClr val="FF0000"/>
                </a:solidFill>
                <a:ea typeface="+mn-lt"/>
                <a:cs typeface="+mn-lt"/>
              </a:rPr>
              <a:t> B. Code improvement</a:t>
            </a:r>
            <a:endParaRPr lang="zh-CN" b="1">
              <a:solidFill>
                <a:srgbClr val="FF0000"/>
              </a:solidFill>
            </a:endParaRPr>
          </a:p>
          <a:p>
            <a:pPr marL="398145" indent="-398145"/>
            <a:r>
              <a:rPr lang="en-HK" sz="2400">
                <a:ea typeface="+mn-lt"/>
                <a:cs typeface="+mn-lt"/>
              </a:rPr>
              <a:t>   C. Documentation</a:t>
            </a:r>
            <a:endParaRPr lang="zh-CN"/>
          </a:p>
          <a:p>
            <a:pPr marL="398145" indent="-398145"/>
            <a:r>
              <a:rPr lang="en-HK" sz="2400">
                <a:ea typeface="+mn-lt"/>
                <a:cs typeface="+mn-lt"/>
              </a:rPr>
              <a:t>   D. Security validation</a:t>
            </a:r>
            <a:endParaRPr lang="zh-CN"/>
          </a:p>
          <a:p>
            <a:pPr marL="398145" indent="-398145"/>
            <a:r>
              <a:rPr lang="en-HK" sz="2400">
                <a:ea typeface="+mn-lt"/>
                <a:cs typeface="+mn-lt"/>
              </a:rPr>
              <a:t>   E. Performance tuning</a:t>
            </a:r>
            <a:endParaRPr lang="en-HK"/>
          </a:p>
          <a:p>
            <a:pPr marL="0" indent="0">
              <a:buNone/>
            </a:pPr>
            <a:endParaRPr lang="en-US" altLang="zh-CN" sz="2400">
              <a:cs typeface="Times New Roman"/>
            </a:endParaRPr>
          </a:p>
          <a:p>
            <a:pPr marL="0" indent="0">
              <a:buNone/>
            </a:pPr>
            <a:r>
              <a:rPr lang="en-HK" altLang="zh-CN" sz="2400"/>
              <a:t>Explanation: </a:t>
            </a:r>
            <a:r>
              <a:rPr lang="en-HK" sz="2400">
                <a:latin typeface="Times New Roman"/>
                <a:cs typeface="Times New Roman"/>
              </a:rPr>
              <a:t>Code improvement is a key goal of code review, which may be missed if better solutions are overlooked.</a:t>
            </a:r>
            <a:r>
              <a:rPr lang="en-HK" sz="2400"/>
              <a:t> </a:t>
            </a:r>
            <a:r>
              <a:rPr lang="en-US" sz="2400"/>
              <a:t>(see </a:t>
            </a:r>
            <a:r>
              <a:rPr lang="en-US" sz="2400">
                <a:ea typeface="+mn-lt"/>
                <a:cs typeface="+mn-lt"/>
              </a:rPr>
              <a:t>cs5351-ModernCodeReview.pptx</a:t>
            </a:r>
            <a:r>
              <a:rPr lang="en-US" sz="2400">
                <a:solidFill>
                  <a:srgbClr val="000000"/>
                </a:solidFill>
              </a:rPr>
              <a:t> Pages</a:t>
            </a:r>
            <a:r>
              <a:rPr lang="en-US" sz="2400"/>
              <a:t> 4)</a:t>
            </a:r>
            <a:endParaRPr lang="en-HK" altLang="zh-CN" sz="2400">
              <a:cs typeface="Times New Roman"/>
            </a:endParaRPr>
          </a:p>
        </p:txBody>
      </p:sp>
      <p:sp>
        <p:nvSpPr>
          <p:cNvPr id="4" name="灯片编号占位符 3">
            <a:extLst>
              <a:ext uri="{FF2B5EF4-FFF2-40B4-BE49-F238E27FC236}">
                <a16:creationId xmlns:a16="http://schemas.microsoft.com/office/drawing/2014/main" id="{2BE6171F-EE97-F3D5-9A7F-6C48CFA58DBC}"/>
              </a:ext>
            </a:extLst>
          </p:cNvPr>
          <p:cNvSpPr>
            <a:spLocks noGrp="1"/>
          </p:cNvSpPr>
          <p:nvPr>
            <p:ph type="sldNum" sz="quarter" idx="12"/>
          </p:nvPr>
        </p:nvSpPr>
        <p:spPr/>
        <p:txBody>
          <a:bodyPr/>
          <a:lstStyle/>
          <a:p>
            <a:pPr>
              <a:defRPr/>
            </a:pPr>
            <a:fld id="{5792DDC3-EFA3-4647-8A6E-E8039DA1A91A}" type="slidenum">
              <a:rPr lang="en-US" smtClean="0"/>
              <a:pPr>
                <a:defRPr/>
              </a:pPr>
              <a:t>22</a:t>
            </a:fld>
            <a:endParaRPr lang="en-US"/>
          </a:p>
        </p:txBody>
      </p:sp>
    </p:spTree>
    <p:extLst>
      <p:ext uri="{BB962C8B-B14F-4D97-AF65-F5344CB8AC3E}">
        <p14:creationId xmlns:p14="http://schemas.microsoft.com/office/powerpoint/2010/main" val="419440630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15CD4-4D36-E27F-F59C-1512763D36D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AB5197-4314-FE2E-C43A-A7A1FDABBACF}"/>
              </a:ext>
            </a:extLst>
          </p:cNvPr>
          <p:cNvSpPr>
            <a:spLocks noGrp="1"/>
          </p:cNvSpPr>
          <p:nvPr>
            <p:ph type="title"/>
          </p:nvPr>
        </p:nvSpPr>
        <p:spPr/>
        <p:txBody>
          <a:bodyPr/>
          <a:lstStyle/>
          <a:p>
            <a:r>
              <a:rPr lang="en-US" altLang="zh-CN"/>
              <a:t>Multiple-Choice Questions</a:t>
            </a:r>
            <a:endParaRPr lang="zh-CN" altLang="en-US"/>
          </a:p>
        </p:txBody>
      </p:sp>
      <p:sp>
        <p:nvSpPr>
          <p:cNvPr id="3" name="表格占位符 2">
            <a:extLst>
              <a:ext uri="{FF2B5EF4-FFF2-40B4-BE49-F238E27FC236}">
                <a16:creationId xmlns:a16="http://schemas.microsoft.com/office/drawing/2014/main" id="{F0E09413-C661-5EB5-DD3F-1E21FF57D0CB}"/>
              </a:ext>
            </a:extLst>
          </p:cNvPr>
          <p:cNvSpPr>
            <a:spLocks noGrp="1"/>
          </p:cNvSpPr>
          <p:nvPr>
            <p:ph type="tbl" idx="1"/>
          </p:nvPr>
        </p:nvSpPr>
        <p:spPr>
          <a:xfrm>
            <a:off x="142888" y="1524001"/>
            <a:ext cx="11896149" cy="4878659"/>
          </a:xfrm>
        </p:spPr>
        <p:txBody>
          <a:bodyPr/>
          <a:lstStyle/>
          <a:p>
            <a:pPr marL="398145" indent="-398145"/>
            <a:r>
              <a:rPr lang="en-US" altLang="zh-CN" sz="2400"/>
              <a:t>20. </a:t>
            </a:r>
            <a:r>
              <a:rPr lang="en-HK" sz="2400">
                <a:ea typeface="+mn-lt"/>
                <a:cs typeface="+mn-lt"/>
              </a:rPr>
              <a:t>  Which of the following concerns raised during code review is most likely to result in breaking the regression test suite if not addressed properly?</a:t>
            </a:r>
            <a:endParaRPr lang="en-HK" altLang="zh-CN" sz="2400">
              <a:ea typeface="+mn-lt"/>
              <a:cs typeface="+mn-lt"/>
            </a:endParaRPr>
          </a:p>
          <a:p>
            <a:pPr marL="398145" indent="-398145"/>
            <a:r>
              <a:rPr lang="en-HK" sz="2400">
                <a:ea typeface="+mn-lt"/>
                <a:cs typeface="+mn-lt"/>
              </a:rPr>
              <a:t>A. Lack of inline comments</a:t>
            </a:r>
            <a:endParaRPr lang="en-HK">
              <a:ea typeface="+mn-lt"/>
              <a:cs typeface="+mn-lt"/>
            </a:endParaRPr>
          </a:p>
          <a:p>
            <a:pPr marL="398145" indent="-398145"/>
            <a:r>
              <a:rPr lang="en-HK" sz="2400">
                <a:ea typeface="+mn-lt"/>
                <a:cs typeface="+mn-lt"/>
              </a:rPr>
              <a:t>B. Use of deprecated API calls</a:t>
            </a:r>
            <a:endParaRPr lang="en-HK">
              <a:ea typeface="+mn-lt"/>
              <a:cs typeface="+mn-lt"/>
            </a:endParaRPr>
          </a:p>
          <a:p>
            <a:pPr marL="398145" indent="-398145"/>
            <a:r>
              <a:rPr lang="en-HK" sz="2400">
                <a:ea typeface="+mn-lt"/>
                <a:cs typeface="+mn-lt"/>
              </a:rPr>
              <a:t>C. Missing documentation for new modules</a:t>
            </a:r>
            <a:endParaRPr lang="en-HK">
              <a:ea typeface="+mn-lt"/>
              <a:cs typeface="+mn-lt"/>
            </a:endParaRPr>
          </a:p>
          <a:p>
            <a:pPr marL="398145" indent="-398145"/>
            <a:r>
              <a:rPr lang="en-HK" sz="2400" b="1">
                <a:solidFill>
                  <a:srgbClr val="FF0000"/>
                </a:solidFill>
                <a:ea typeface="+mn-lt"/>
                <a:cs typeface="+mn-lt"/>
              </a:rPr>
              <a:t>D. Unverified changes to shared utility functions</a:t>
            </a:r>
            <a:endParaRPr lang="en-HK" b="1">
              <a:solidFill>
                <a:srgbClr val="FF0000"/>
              </a:solidFill>
              <a:ea typeface="+mn-lt"/>
              <a:cs typeface="+mn-lt"/>
            </a:endParaRPr>
          </a:p>
          <a:p>
            <a:pPr marL="398145" indent="-398145"/>
            <a:r>
              <a:rPr lang="en-HK" sz="2400">
                <a:ea typeface="+mn-lt"/>
                <a:cs typeface="+mn-lt"/>
              </a:rPr>
              <a:t>E. Inconsistent naming conventions</a:t>
            </a:r>
            <a:endParaRPr lang="en-HK">
              <a:cs typeface="Times New Roman"/>
            </a:endParaRPr>
          </a:p>
          <a:p>
            <a:pPr marL="0" indent="0">
              <a:buNone/>
            </a:pPr>
            <a:r>
              <a:rPr lang="en-US" altLang="zh-CN" sz="2400" b="1" u="sng"/>
              <a:t>Explanation</a:t>
            </a:r>
            <a:r>
              <a:rPr lang="en-US" altLang="zh-CN" sz="2400"/>
              <a:t>: </a:t>
            </a:r>
            <a:r>
              <a:rPr lang="en-HK" sz="2400" b="1">
                <a:latin typeface="Aptos"/>
              </a:rPr>
              <a:t>Shared utility functions</a:t>
            </a:r>
            <a:r>
              <a:rPr lang="en-HK" sz="2400">
                <a:latin typeface="Aptos"/>
              </a:rPr>
              <a:t> are often used across </a:t>
            </a:r>
            <a:r>
              <a:rPr lang="en-HK" sz="2400" b="1">
                <a:latin typeface="Aptos"/>
              </a:rPr>
              <a:t>multiple modules</a:t>
            </a:r>
            <a:r>
              <a:rPr lang="en-HK" sz="2400">
                <a:latin typeface="Aptos"/>
              </a:rPr>
              <a:t>. If changes to these functions are </a:t>
            </a:r>
            <a:r>
              <a:rPr lang="en-HK" sz="2400" b="1">
                <a:latin typeface="Aptos"/>
              </a:rPr>
              <a:t>not properly verified or tested</a:t>
            </a:r>
            <a:r>
              <a:rPr lang="en-HK" sz="2400">
                <a:latin typeface="Aptos"/>
              </a:rPr>
              <a:t>, they can introduce </a:t>
            </a:r>
            <a:r>
              <a:rPr lang="en-HK" sz="2400" b="1">
                <a:latin typeface="Aptos"/>
              </a:rPr>
              <a:t>unintended side effects</a:t>
            </a:r>
            <a:r>
              <a:rPr lang="en-HK" sz="2400">
                <a:latin typeface="Aptos"/>
              </a:rPr>
              <a:t> that break existing functionality—especially in regression tests designed to catch such </a:t>
            </a:r>
            <a:r>
              <a:rPr lang="en-HK" sz="2400">
                <a:latin typeface="Aptos"/>
                <a:cs typeface="Times New Roman"/>
              </a:rPr>
              <a:t>issues. This </a:t>
            </a:r>
            <a:r>
              <a:rPr lang="en-HK" sz="2400">
                <a:latin typeface="Aptos"/>
              </a:rPr>
              <a:t>is a common source of technical debt when review processes overlook the broader impact of localized changes. </a:t>
            </a:r>
            <a:r>
              <a:rPr lang="en-US" sz="2400"/>
              <a:t>(see cs5351-ModernCodeReview.pptx Page 33)</a:t>
            </a:r>
            <a:endParaRPr lang="en-US" sz="2400">
              <a:cs typeface="Times New Roman"/>
            </a:endParaRPr>
          </a:p>
          <a:p>
            <a:pPr marL="0" indent="0">
              <a:buNone/>
            </a:pPr>
            <a:endParaRPr lang="en-US" sz="2400">
              <a:cs typeface="Times New Roman"/>
            </a:endParaRPr>
          </a:p>
          <a:p>
            <a:pPr marL="0" indent="0">
              <a:buNone/>
            </a:pPr>
            <a:endParaRPr lang="en-US" sz="2400">
              <a:cs typeface="Times New Roman"/>
            </a:endParaRPr>
          </a:p>
        </p:txBody>
      </p:sp>
      <p:sp>
        <p:nvSpPr>
          <p:cNvPr id="4" name="灯片编号占位符 3">
            <a:extLst>
              <a:ext uri="{FF2B5EF4-FFF2-40B4-BE49-F238E27FC236}">
                <a16:creationId xmlns:a16="http://schemas.microsoft.com/office/drawing/2014/main" id="{1C41486E-4289-7836-97A5-F134226070B5}"/>
              </a:ext>
            </a:extLst>
          </p:cNvPr>
          <p:cNvSpPr>
            <a:spLocks noGrp="1"/>
          </p:cNvSpPr>
          <p:nvPr>
            <p:ph type="sldNum" sz="quarter" idx="12"/>
          </p:nvPr>
        </p:nvSpPr>
        <p:spPr/>
        <p:txBody>
          <a:bodyPr/>
          <a:lstStyle/>
          <a:p>
            <a:pPr>
              <a:defRPr/>
            </a:pPr>
            <a:fld id="{5792DDC3-EFA3-4647-8A6E-E8039DA1A91A}" type="slidenum">
              <a:rPr lang="en-US" smtClean="0"/>
              <a:pPr>
                <a:defRPr/>
              </a:pPr>
              <a:t>23</a:t>
            </a:fld>
            <a:endParaRPr lang="en-US"/>
          </a:p>
        </p:txBody>
      </p:sp>
    </p:spTree>
    <p:extLst>
      <p:ext uri="{BB962C8B-B14F-4D97-AF65-F5344CB8AC3E}">
        <p14:creationId xmlns:p14="http://schemas.microsoft.com/office/powerpoint/2010/main" val="297754561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15A80-14B5-A6BC-80EF-6A4EF25EC3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FC3D4-1620-8F16-93B3-CD1167C68A9D}"/>
              </a:ext>
            </a:extLst>
          </p:cNvPr>
          <p:cNvSpPr>
            <a:spLocks noGrp="1"/>
          </p:cNvSpPr>
          <p:nvPr>
            <p:ph type="title"/>
          </p:nvPr>
        </p:nvSpPr>
        <p:spPr>
          <a:xfrm>
            <a:off x="296496" y="220133"/>
            <a:ext cx="11548191" cy="1104900"/>
          </a:xfrm>
        </p:spPr>
        <p:txBody>
          <a:bodyPr/>
          <a:lstStyle/>
          <a:p>
            <a:r>
              <a:rPr lang="en-HK" altLang="zh-CN" sz="4000"/>
              <a:t>Scenario 1</a:t>
            </a:r>
            <a:r>
              <a:rPr lang="en-HK" sz="4000">
                <a:ea typeface="+mj-lt"/>
                <a:cs typeface="+mj-lt"/>
              </a:rPr>
              <a:t>: Fintech System Integration (29 marks)</a:t>
            </a:r>
            <a:endParaRPr lang="en-US" altLang="zh-CN" sz="4000">
              <a:cs typeface="Times New Roman"/>
            </a:endParaRPr>
          </a:p>
        </p:txBody>
      </p:sp>
      <p:sp>
        <p:nvSpPr>
          <p:cNvPr id="3" name="Content Placeholder 2">
            <a:extLst>
              <a:ext uri="{FF2B5EF4-FFF2-40B4-BE49-F238E27FC236}">
                <a16:creationId xmlns:a16="http://schemas.microsoft.com/office/drawing/2014/main" id="{901914CD-B195-B4F2-C239-0183602655BD}"/>
              </a:ext>
            </a:extLst>
          </p:cNvPr>
          <p:cNvSpPr>
            <a:spLocks noGrp="1"/>
          </p:cNvSpPr>
          <p:nvPr>
            <p:ph idx="1"/>
          </p:nvPr>
        </p:nvSpPr>
        <p:spPr>
          <a:xfrm>
            <a:off x="508163" y="1659467"/>
            <a:ext cx="11124858" cy="4953000"/>
          </a:xfrm>
        </p:spPr>
        <p:txBody>
          <a:bodyPr/>
          <a:lstStyle/>
          <a:p>
            <a:pPr marL="398145" indent="-398145">
              <a:buNone/>
            </a:pPr>
            <a:r>
              <a:rPr lang="en-HK" sz="1800" kern="100">
                <a:ea typeface="+mn-lt"/>
                <a:cs typeface="+mn-lt"/>
              </a:rPr>
              <a:t>A fintech company in Hong Kong is undertaking a major upgrade of its payment platform. The existing legacy payment system, which handles core transaction processing, must be integrated with a newly developed mobile payment subsystem that supports modern features such as QR code payments, instant notifications, and user analytics. The project team is divided into several subgroups: one responsible for legacy system maintenance (payment team), one for mobile subsystem development (mobile team), and one for integration, testing, and user experience (integration team).</a:t>
            </a:r>
            <a:endParaRPr lang="zh-CN">
              <a:cs typeface="Times New Roman"/>
            </a:endParaRPr>
          </a:p>
          <a:p>
            <a:pPr marL="398145" indent="-398145">
              <a:spcBef>
                <a:spcPts val="20"/>
              </a:spcBef>
              <a:buNone/>
            </a:pPr>
            <a:r>
              <a:rPr lang="en-HK" sz="1800" kern="100">
                <a:ea typeface="+mn-lt"/>
                <a:cs typeface="+mn-lt"/>
              </a:rPr>
              <a:t>The project manager has set the following goals:</a:t>
            </a:r>
            <a:endParaRPr lang="en-HK"/>
          </a:p>
          <a:p>
            <a:pPr marL="398145" indent="-398145">
              <a:buFont typeface="Wingdings"/>
              <a:buChar char="u"/>
            </a:pPr>
            <a:r>
              <a:rPr lang="en-HK" sz="1800" kern="100">
                <a:ea typeface="+mn-lt"/>
                <a:cs typeface="+mn-lt"/>
              </a:rPr>
              <a:t>Ensure iterative development and delivery to respond quickly to user requirements and feedback. User requirements on the mobile payment subsystem may change over time. </a:t>
            </a:r>
            <a:endParaRPr lang="en-HK" sz="1800">
              <a:cs typeface="Times New Roman"/>
            </a:endParaRPr>
          </a:p>
          <a:p>
            <a:pPr marL="398145" indent="-398145">
              <a:buFont typeface="Wingdings"/>
              <a:buChar char="u"/>
            </a:pPr>
            <a:r>
              <a:rPr lang="en-HK" sz="1800" kern="100">
                <a:ea typeface="+mn-lt"/>
                <a:cs typeface="+mn-lt"/>
              </a:rPr>
              <a:t>Integrate new features of the mobile payment subsystem incrementally with the legacy system through a series of releases of the implemented features provided by the mobile team, so that both old and new functionalities work seamlessly together through testing and validation during the integration phases.</a:t>
            </a:r>
            <a:endParaRPr lang="en-HK"/>
          </a:p>
          <a:p>
            <a:pPr marL="398145" indent="-398145">
              <a:buFont typeface="Wingdings"/>
              <a:buChar char="u"/>
            </a:pPr>
            <a:r>
              <a:rPr lang="en-HK" sz="1800" kern="100">
                <a:ea typeface="+mn-lt"/>
                <a:cs typeface="+mn-lt"/>
              </a:rPr>
              <a:t>Synchronize project details such as project knowledge, practice, coding standard, and code quality, across all three teams, especially during integration phases. The coordination among the teams should also be done during the integration phase.</a:t>
            </a:r>
            <a:endParaRPr lang="en-HK"/>
          </a:p>
          <a:p>
            <a:pPr marL="398145" indent="-398145">
              <a:buFont typeface="Wingdings"/>
              <a:buChar char="u"/>
            </a:pPr>
            <a:r>
              <a:rPr lang="en-HK" sz="1800" kern="100">
                <a:ea typeface="+mn-lt"/>
                <a:cs typeface="+mn-lt"/>
              </a:rPr>
              <a:t>Maintain high reliability and security throughout the upgrade.</a:t>
            </a:r>
            <a:endParaRPr lang="en-HK"/>
          </a:p>
          <a:p>
            <a:pPr marL="0" indent="0">
              <a:lnSpc>
                <a:spcPct val="114999"/>
              </a:lnSpc>
              <a:spcBef>
                <a:spcPts val="20"/>
              </a:spcBef>
              <a:spcAft>
                <a:spcPts val="800"/>
              </a:spcAft>
              <a:buNone/>
            </a:pPr>
            <a:r>
              <a:rPr lang="en-HK" sz="1800" kern="100">
                <a:ea typeface="DengXian" panose="02010600030101010101" pitchFamily="2" charset="-122"/>
                <a:cs typeface="Times New Roman" panose="02020603050405020304" pitchFamily="18" charset="0"/>
              </a:rPr>
              <a:t>The whole team must decide on appropriate software process models and development practices to achieve these goals.</a:t>
            </a:r>
            <a:endParaRPr lang="en-HK"/>
          </a:p>
        </p:txBody>
      </p:sp>
    </p:spTree>
    <p:extLst>
      <p:ext uri="{BB962C8B-B14F-4D97-AF65-F5344CB8AC3E}">
        <p14:creationId xmlns:p14="http://schemas.microsoft.com/office/powerpoint/2010/main" val="325407661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372-E7CF-2610-FF8B-DB146EED33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18097-2E2D-FDE2-C33F-3706156D1341}"/>
              </a:ext>
            </a:extLst>
          </p:cNvPr>
          <p:cNvSpPr>
            <a:spLocks noGrp="1"/>
          </p:cNvSpPr>
          <p:nvPr>
            <p:ph type="title"/>
          </p:nvPr>
        </p:nvSpPr>
        <p:spPr/>
        <p:txBody>
          <a:bodyPr/>
          <a:lstStyle/>
          <a:p>
            <a:r>
              <a:rPr lang="en-HK"/>
              <a:t>Scenario 1 Q1(a):</a:t>
            </a:r>
            <a:endParaRPr lang="en-US"/>
          </a:p>
        </p:txBody>
      </p:sp>
      <p:sp>
        <p:nvSpPr>
          <p:cNvPr id="3" name="Content Placeholder 2">
            <a:extLst>
              <a:ext uri="{FF2B5EF4-FFF2-40B4-BE49-F238E27FC236}">
                <a16:creationId xmlns:a16="http://schemas.microsoft.com/office/drawing/2014/main" id="{CAF5969A-74FB-C5F1-31A6-FC414C42A1F3}"/>
              </a:ext>
            </a:extLst>
          </p:cNvPr>
          <p:cNvSpPr>
            <a:spLocks noGrp="1"/>
          </p:cNvSpPr>
          <p:nvPr>
            <p:ph idx="1"/>
          </p:nvPr>
        </p:nvSpPr>
        <p:spPr>
          <a:xfrm>
            <a:off x="285138" y="1481254"/>
            <a:ext cx="11347882" cy="4953000"/>
          </a:xfrm>
        </p:spPr>
        <p:txBody>
          <a:bodyPr/>
          <a:lstStyle/>
          <a:p>
            <a:pPr marL="398145" indent="-398145" algn="just">
              <a:buNone/>
            </a:pPr>
            <a:r>
              <a:rPr lang="en-HK" sz="2800">
                <a:solidFill>
                  <a:srgbClr val="000000"/>
                </a:solidFill>
                <a:ea typeface="+mn-lt"/>
                <a:cs typeface="+mn-lt"/>
              </a:rPr>
              <a:t>(a) Based on Scenario 1, which software process models should </a:t>
            </a:r>
            <a:r>
              <a:rPr lang="en-HK" sz="2800" b="1">
                <a:solidFill>
                  <a:srgbClr val="000000"/>
                </a:solidFill>
                <a:ea typeface="+mn-lt"/>
                <a:cs typeface="+mn-lt"/>
              </a:rPr>
              <a:t>the mobile team</a:t>
            </a:r>
            <a:r>
              <a:rPr lang="en-HK" sz="2800">
                <a:solidFill>
                  <a:srgbClr val="000000"/>
                </a:solidFill>
                <a:ea typeface="+mn-lt"/>
                <a:cs typeface="+mn-lt"/>
              </a:rPr>
              <a:t> and </a:t>
            </a:r>
            <a:r>
              <a:rPr lang="en-HK" sz="2800" b="1">
                <a:solidFill>
                  <a:srgbClr val="000000"/>
                </a:solidFill>
                <a:ea typeface="+mn-lt"/>
                <a:cs typeface="+mn-lt"/>
              </a:rPr>
              <a:t>the integration team</a:t>
            </a:r>
            <a:r>
              <a:rPr lang="en-HK" sz="2800">
                <a:solidFill>
                  <a:srgbClr val="000000"/>
                </a:solidFill>
                <a:ea typeface="+mn-lt"/>
                <a:cs typeface="+mn-lt"/>
              </a:rPr>
              <a:t> adopt for this project, respectively. For each selected process model, provide </a:t>
            </a:r>
            <a:r>
              <a:rPr lang="en-HK" sz="2800" b="1">
                <a:solidFill>
                  <a:srgbClr val="000000"/>
                </a:solidFill>
                <a:ea typeface="+mn-lt"/>
                <a:cs typeface="+mn-lt"/>
              </a:rPr>
              <a:t>the rationale</a:t>
            </a:r>
            <a:r>
              <a:rPr lang="en-HK" sz="2800">
                <a:solidFill>
                  <a:srgbClr val="000000"/>
                </a:solidFill>
                <a:ea typeface="+mn-lt"/>
                <a:cs typeface="+mn-lt"/>
              </a:rPr>
              <a:t> by relating it to the characteristics of the project mentioned in the scenario.  </a:t>
            </a:r>
            <a:endParaRPr lang="zh-CN" altLang="en-US">
              <a:cs typeface="Times New Roman"/>
            </a:endParaRPr>
          </a:p>
          <a:p>
            <a:pPr marL="398145" indent="-398145" algn="just">
              <a:buNone/>
            </a:pPr>
            <a:r>
              <a:rPr lang="en-US" altLang="zh-CN" sz="2800">
                <a:solidFill>
                  <a:srgbClr val="000000"/>
                </a:solidFill>
                <a:ea typeface="Calibri"/>
                <a:cs typeface="Calibri"/>
              </a:rPr>
              <a:t>[</a:t>
            </a:r>
            <a:r>
              <a:rPr lang="en-US" altLang="zh-CN" sz="2800" b="1">
                <a:solidFill>
                  <a:srgbClr val="000000"/>
                </a:solidFill>
                <a:ea typeface="Calibri"/>
                <a:cs typeface="Calibri"/>
              </a:rPr>
              <a:t>Marking Scheme</a:t>
            </a:r>
            <a:r>
              <a:rPr lang="en-US" altLang="zh-CN" sz="2800">
                <a:solidFill>
                  <a:srgbClr val="000000"/>
                </a:solidFill>
                <a:ea typeface="Calibri"/>
                <a:cs typeface="Calibri"/>
              </a:rPr>
              <a:t>] </a:t>
            </a:r>
            <a:endParaRPr lang="zh-CN" altLang="en-US">
              <a:solidFill>
                <a:srgbClr val="000000"/>
              </a:solidFill>
              <a:ea typeface="Calibri"/>
              <a:cs typeface="Times New Roman"/>
            </a:endParaRPr>
          </a:p>
          <a:p>
            <a:pPr marL="398145" indent="-398145" algn="just"/>
            <a:r>
              <a:rPr lang="en-HK" sz="2800" b="1">
                <a:solidFill>
                  <a:srgbClr val="000000"/>
                </a:solidFill>
                <a:ea typeface="+mn-lt"/>
                <a:cs typeface="+mn-lt"/>
              </a:rPr>
              <a:t>Mobile team</a:t>
            </a:r>
            <a:endParaRPr lang="en-US" altLang="zh-CN" sz="2800" b="1">
              <a:solidFill>
                <a:srgbClr val="000000"/>
              </a:solidFill>
              <a:ea typeface="Calibri"/>
              <a:cs typeface="Calibri"/>
            </a:endParaRPr>
          </a:p>
          <a:p>
            <a:pPr marL="0" indent="0" algn="just">
              <a:buNone/>
            </a:pPr>
            <a:r>
              <a:rPr lang="en-US" altLang="zh-CN" sz="2800">
                <a:solidFill>
                  <a:srgbClr val="000000"/>
                </a:solidFill>
                <a:ea typeface="Calibri"/>
                <a:cs typeface="Calibri"/>
              </a:rPr>
              <a:t>     </a:t>
            </a:r>
            <a:r>
              <a:rPr lang="en-US" altLang="zh-CN" sz="2800" b="0" i="0">
                <a:solidFill>
                  <a:srgbClr val="000000"/>
                </a:solidFill>
                <a:effectLst/>
                <a:ea typeface="Calibri"/>
                <a:cs typeface="Calibri"/>
              </a:rPr>
              <a:t>1 mark for </a:t>
            </a:r>
            <a:r>
              <a:rPr lang="en-US" altLang="zh-CN" sz="2800">
                <a:solidFill>
                  <a:srgbClr val="000000"/>
                </a:solidFill>
                <a:ea typeface="Calibri"/>
                <a:cs typeface="Calibri"/>
              </a:rPr>
              <a:t>identifying Agile for developing the mobile payment system </a:t>
            </a:r>
            <a:endParaRPr lang="zh-CN" altLang="en-US" b="0" i="0">
              <a:solidFill>
                <a:srgbClr val="000000"/>
              </a:solidFill>
              <a:effectLst/>
              <a:ea typeface="Calibri"/>
              <a:cs typeface="Times New Roman"/>
            </a:endParaRPr>
          </a:p>
          <a:p>
            <a:pPr marL="0" indent="0" algn="just">
              <a:buNone/>
            </a:pPr>
            <a:r>
              <a:rPr lang="en-US" sz="2800">
                <a:solidFill>
                  <a:srgbClr val="000000"/>
                </a:solidFill>
                <a:ea typeface="Calibri"/>
                <a:cs typeface="Times New Roman"/>
              </a:rPr>
              <a:t>     </a:t>
            </a:r>
            <a:r>
              <a:rPr lang="en-US" sz="2800" b="0" i="0">
                <a:solidFill>
                  <a:srgbClr val="000000"/>
                </a:solidFill>
                <a:effectLst/>
                <a:ea typeface="Calibri"/>
                <a:cs typeface="Times New Roman"/>
              </a:rPr>
              <a:t>1 mark for </a:t>
            </a:r>
            <a:r>
              <a:rPr lang="en-US" sz="2800">
                <a:solidFill>
                  <a:srgbClr val="000000"/>
                </a:solidFill>
                <a:ea typeface="Calibri"/>
                <a:cs typeface="Times New Roman"/>
              </a:rPr>
              <a:t>explaining why Agile is suitable for developing </a:t>
            </a:r>
            <a:r>
              <a:rPr lang="en-US" sz="2800" b="0" i="0">
                <a:solidFill>
                  <a:srgbClr val="000000"/>
                </a:solidFill>
                <a:effectLst/>
                <a:ea typeface="Calibri"/>
                <a:cs typeface="Times New Roman"/>
              </a:rPr>
              <a:t>the </a:t>
            </a:r>
            <a:r>
              <a:rPr lang="en-US" sz="2800">
                <a:solidFill>
                  <a:srgbClr val="000000"/>
                </a:solidFill>
                <a:ea typeface="Calibri"/>
                <a:cs typeface="Times New Roman"/>
              </a:rPr>
              <a:t>mobile </a:t>
            </a:r>
            <a:endParaRPr lang="en-US">
              <a:cs typeface="Times New Roman"/>
            </a:endParaRPr>
          </a:p>
          <a:p>
            <a:pPr marL="398145" indent="-398145" algn="just"/>
            <a:r>
              <a:rPr lang="en-US" altLang="zh-CN" sz="2800" b="1">
                <a:solidFill>
                  <a:srgbClr val="000000"/>
                </a:solidFill>
                <a:ea typeface="Calibri"/>
                <a:cs typeface="Calibri"/>
              </a:rPr>
              <a:t>Integration team</a:t>
            </a:r>
          </a:p>
          <a:p>
            <a:pPr marL="0" indent="0" algn="just">
              <a:buNone/>
            </a:pPr>
            <a:r>
              <a:rPr lang="en-US" sz="2800">
                <a:solidFill>
                  <a:srgbClr val="000000"/>
                </a:solidFill>
                <a:ea typeface="Calibri"/>
                <a:cs typeface="Times New Roman"/>
              </a:rPr>
              <a:t>    1 mark</a:t>
            </a:r>
            <a:r>
              <a:rPr lang="en-US" sz="2800" b="0" i="0">
                <a:solidFill>
                  <a:srgbClr val="000000"/>
                </a:solidFill>
                <a:effectLst/>
                <a:ea typeface="Calibri"/>
                <a:cs typeface="Times New Roman"/>
              </a:rPr>
              <a:t> for </a:t>
            </a:r>
            <a:r>
              <a:rPr lang="en-US" sz="2800">
                <a:solidFill>
                  <a:srgbClr val="000000"/>
                </a:solidFill>
                <a:ea typeface="Calibri"/>
                <a:cs typeface="Times New Roman"/>
              </a:rPr>
              <a:t>identify incremental development </a:t>
            </a:r>
            <a:endParaRPr lang="en-US">
              <a:cs typeface="Times New Roman"/>
            </a:endParaRPr>
          </a:p>
          <a:p>
            <a:pPr marL="0" indent="0" algn="just">
              <a:buNone/>
            </a:pPr>
            <a:r>
              <a:rPr lang="en-US" sz="2800">
                <a:solidFill>
                  <a:srgbClr val="000000"/>
                </a:solidFill>
                <a:ea typeface="Calibri"/>
                <a:cs typeface="Times New Roman"/>
              </a:rPr>
              <a:t>    1 mark for its suitability </a:t>
            </a:r>
            <a:r>
              <a:rPr lang="en-US" sz="2800" b="0" i="0">
                <a:solidFill>
                  <a:srgbClr val="000000"/>
                </a:solidFill>
                <a:effectLst/>
                <a:ea typeface="Calibri"/>
                <a:cs typeface="Times New Roman"/>
              </a:rPr>
              <a:t>for </a:t>
            </a:r>
            <a:r>
              <a:rPr lang="en-US" sz="2800">
                <a:solidFill>
                  <a:srgbClr val="000000"/>
                </a:solidFill>
                <a:ea typeface="Calibri"/>
                <a:cs typeface="Times New Roman"/>
              </a:rPr>
              <a:t>the integration </a:t>
            </a:r>
            <a:r>
              <a:rPr lang="en-US" sz="2800" b="0" i="0">
                <a:solidFill>
                  <a:srgbClr val="000000"/>
                </a:solidFill>
                <a:effectLst/>
                <a:ea typeface="Calibri"/>
                <a:cs typeface="Times New Roman"/>
              </a:rPr>
              <a:t>with </a:t>
            </a:r>
            <a:r>
              <a:rPr lang="en-US" sz="2800">
                <a:solidFill>
                  <a:srgbClr val="000000"/>
                </a:solidFill>
                <a:ea typeface="Calibri"/>
                <a:cs typeface="Times New Roman"/>
              </a:rPr>
              <a:t>the legacy system</a:t>
            </a:r>
            <a:endParaRPr lang="en-US">
              <a:cs typeface="Times New Roman"/>
            </a:endParaRPr>
          </a:p>
        </p:txBody>
      </p:sp>
    </p:spTree>
    <p:extLst>
      <p:ext uri="{BB962C8B-B14F-4D97-AF65-F5344CB8AC3E}">
        <p14:creationId xmlns:p14="http://schemas.microsoft.com/office/powerpoint/2010/main" val="10524195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44EE7-2285-9EB7-BC71-72A8605A8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B2AE9-A020-09C8-E8B8-1EE86DFFEC5B}"/>
              </a:ext>
            </a:extLst>
          </p:cNvPr>
          <p:cNvSpPr>
            <a:spLocks noGrp="1"/>
          </p:cNvSpPr>
          <p:nvPr>
            <p:ph type="title"/>
          </p:nvPr>
        </p:nvSpPr>
        <p:spPr/>
        <p:txBody>
          <a:bodyPr/>
          <a:lstStyle/>
          <a:p>
            <a:r>
              <a:rPr lang="en-HK"/>
              <a:t>Scenario 1 Q1(a):</a:t>
            </a:r>
            <a:endParaRPr lang="en-US"/>
          </a:p>
        </p:txBody>
      </p:sp>
      <p:sp>
        <p:nvSpPr>
          <p:cNvPr id="3" name="Content Placeholder 2">
            <a:extLst>
              <a:ext uri="{FF2B5EF4-FFF2-40B4-BE49-F238E27FC236}">
                <a16:creationId xmlns:a16="http://schemas.microsoft.com/office/drawing/2014/main" id="{70A0EE4B-0EF8-2ADB-7350-D8C6FD49336E}"/>
              </a:ext>
            </a:extLst>
          </p:cNvPr>
          <p:cNvSpPr>
            <a:spLocks noGrp="1"/>
          </p:cNvSpPr>
          <p:nvPr>
            <p:ph idx="1"/>
          </p:nvPr>
        </p:nvSpPr>
        <p:spPr>
          <a:xfrm>
            <a:off x="387358" y="1527717"/>
            <a:ext cx="11124858" cy="4953000"/>
          </a:xfrm>
        </p:spPr>
        <p:txBody>
          <a:bodyPr/>
          <a:lstStyle/>
          <a:p>
            <a:pPr marL="0" indent="0" algn="just">
              <a:spcBef>
                <a:spcPts val="1400"/>
              </a:spcBef>
              <a:spcAft>
                <a:spcPts val="0"/>
              </a:spcAft>
              <a:buNone/>
            </a:pPr>
            <a:r>
              <a:rPr lang="en-HK" sz="2800" b="1">
                <a:solidFill>
                  <a:srgbClr val="000000"/>
                </a:solidFill>
                <a:ea typeface="Calibri"/>
                <a:cs typeface="Times New Roman"/>
              </a:rPr>
              <a:t>Mobile team</a:t>
            </a:r>
            <a:r>
              <a:rPr lang="en-HK" sz="2800">
                <a:solidFill>
                  <a:srgbClr val="000000"/>
                </a:solidFill>
                <a:ea typeface="Calibri"/>
                <a:cs typeface="Times New Roman"/>
              </a:rPr>
              <a:t> is responsible for a </a:t>
            </a:r>
            <a:r>
              <a:rPr lang="en-HK" sz="2800" b="1">
                <a:solidFill>
                  <a:srgbClr val="FF0000"/>
                </a:solidFill>
                <a:ea typeface="Calibri"/>
                <a:cs typeface="Times New Roman"/>
              </a:rPr>
              <a:t>newly</a:t>
            </a:r>
            <a:r>
              <a:rPr lang="en-HK" sz="2800">
                <a:solidFill>
                  <a:srgbClr val="000000"/>
                </a:solidFill>
                <a:ea typeface="Calibri"/>
                <a:cs typeface="Times New Roman"/>
              </a:rPr>
              <a:t> developed mobile payment subsystem, it targets </a:t>
            </a:r>
            <a:r>
              <a:rPr lang="en-HK" sz="2800" b="1">
                <a:solidFill>
                  <a:srgbClr val="FF0000"/>
                </a:solidFill>
                <a:ea typeface="Calibri"/>
                <a:cs typeface="Times New Roman"/>
              </a:rPr>
              <a:t>iterative development and delivery to respond quickly</a:t>
            </a:r>
            <a:r>
              <a:rPr lang="en-HK" sz="2800">
                <a:solidFill>
                  <a:srgbClr val="000000"/>
                </a:solidFill>
                <a:ea typeface="Calibri"/>
                <a:cs typeface="Times New Roman"/>
              </a:rPr>
              <a:t> to user requirements and feedback, and </a:t>
            </a:r>
            <a:r>
              <a:rPr lang="en-HK" sz="2800">
                <a:ea typeface="Calibri"/>
                <a:cs typeface="Times New Roman"/>
              </a:rPr>
              <a:t>user requirements o</a:t>
            </a:r>
            <a:r>
              <a:rPr lang="en-HK" sz="2800">
                <a:solidFill>
                  <a:srgbClr val="000000"/>
                </a:solidFill>
                <a:ea typeface="Calibri"/>
                <a:cs typeface="Times New Roman"/>
              </a:rPr>
              <a:t>n the mobile payment subsystem may </a:t>
            </a:r>
            <a:r>
              <a:rPr lang="en-HK" sz="2800" b="1">
                <a:solidFill>
                  <a:srgbClr val="FF0000"/>
                </a:solidFill>
                <a:ea typeface="Calibri"/>
                <a:cs typeface="Times New Roman"/>
              </a:rPr>
              <a:t>change over time</a:t>
            </a:r>
            <a:r>
              <a:rPr lang="en-HK" sz="2800">
                <a:solidFill>
                  <a:srgbClr val="000000"/>
                </a:solidFill>
                <a:ea typeface="Calibri"/>
                <a:cs typeface="Times New Roman"/>
              </a:rPr>
              <a:t>, so  the mobile team should select </a:t>
            </a:r>
            <a:r>
              <a:rPr lang="en-HK" sz="2800" b="1">
                <a:solidFill>
                  <a:srgbClr val="FF0000"/>
                </a:solidFill>
                <a:ea typeface="Calibri"/>
                <a:cs typeface="Times New Roman"/>
              </a:rPr>
              <a:t>Agile</a:t>
            </a:r>
            <a:r>
              <a:rPr lang="en-HK" sz="2800">
                <a:solidFill>
                  <a:srgbClr val="000000"/>
                </a:solidFill>
                <a:ea typeface="Calibri"/>
                <a:cs typeface="Times New Roman"/>
              </a:rPr>
              <a:t>. </a:t>
            </a:r>
            <a:endParaRPr lang="en-HK" sz="2800">
              <a:cs typeface="Times New Roman"/>
            </a:endParaRPr>
          </a:p>
          <a:p>
            <a:pPr marL="0" indent="0" algn="just">
              <a:spcBef>
                <a:spcPts val="1400"/>
              </a:spcBef>
              <a:spcAft>
                <a:spcPts val="0"/>
              </a:spcAft>
              <a:buNone/>
            </a:pPr>
            <a:endParaRPr lang="en-HK" sz="2800">
              <a:solidFill>
                <a:srgbClr val="000000"/>
              </a:solidFill>
              <a:ea typeface="Calibri"/>
              <a:cs typeface="Times New Roman"/>
            </a:endParaRPr>
          </a:p>
          <a:p>
            <a:pPr marL="398145" indent="-398145" algn="just">
              <a:buNone/>
            </a:pPr>
            <a:r>
              <a:rPr lang="en-US" altLang="zh-CN" sz="2800" b="1">
                <a:solidFill>
                  <a:srgbClr val="000000"/>
                </a:solidFill>
                <a:ea typeface="Calibri"/>
                <a:cs typeface="Calibri"/>
              </a:rPr>
              <a:t>[Reference Answer] </a:t>
            </a:r>
            <a:endParaRPr lang="zh-CN" altLang="en-US" sz="2800" b="1">
              <a:solidFill>
                <a:srgbClr val="000000"/>
              </a:solidFill>
              <a:ea typeface="Calibri"/>
              <a:cs typeface="Times New Roman"/>
            </a:endParaRPr>
          </a:p>
          <a:p>
            <a:pPr marL="398145" indent="-398145"/>
            <a:r>
              <a:rPr lang="en-HK" sz="2800">
                <a:solidFill>
                  <a:srgbClr val="000000"/>
                </a:solidFill>
                <a:ea typeface="Calibri"/>
                <a:cs typeface="Times New Roman"/>
              </a:rPr>
              <a:t>Mobile team: Agile. </a:t>
            </a:r>
            <a:endParaRPr lang="en-HK" altLang="zh-CN" sz="2800" b="0" i="0">
              <a:solidFill>
                <a:srgbClr val="000000"/>
              </a:solidFill>
              <a:effectLst/>
              <a:ea typeface="Calibri"/>
              <a:cs typeface="Times New Roman"/>
            </a:endParaRPr>
          </a:p>
          <a:p>
            <a:pPr marL="1147445" lvl="1" indent="-285750"/>
            <a:r>
              <a:rPr lang="en-HK">
                <a:solidFill>
                  <a:srgbClr val="000000"/>
                </a:solidFill>
                <a:ea typeface="Calibri"/>
                <a:cs typeface="Times New Roman"/>
              </a:rPr>
              <a:t>for iterative development and responsiveness to user feedback. </a:t>
            </a:r>
          </a:p>
          <a:p>
            <a:pPr marL="1147445" lvl="1" indent="-285750"/>
            <a:r>
              <a:rPr lang="en-HK" b="0" i="0">
                <a:solidFill>
                  <a:srgbClr val="000000"/>
                </a:solidFill>
                <a:effectLst/>
                <a:ea typeface="Calibri"/>
                <a:cs typeface="Times New Roman"/>
              </a:rPr>
              <a:t>for </a:t>
            </a:r>
            <a:r>
              <a:rPr lang="en-HK">
                <a:solidFill>
                  <a:srgbClr val="000000"/>
                </a:solidFill>
                <a:ea typeface="Calibri"/>
                <a:cs typeface="Times New Roman"/>
              </a:rPr>
              <a:t>incremental delivery for integration by sprint.</a:t>
            </a:r>
          </a:p>
        </p:txBody>
      </p:sp>
    </p:spTree>
    <p:extLst>
      <p:ext uri="{BB962C8B-B14F-4D97-AF65-F5344CB8AC3E}">
        <p14:creationId xmlns:p14="http://schemas.microsoft.com/office/powerpoint/2010/main" val="427590900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29A7D-A03D-5AE9-9CC4-A1DF89276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5311D-C01C-8878-D2C6-6AFAF804E2B0}"/>
              </a:ext>
            </a:extLst>
          </p:cNvPr>
          <p:cNvSpPr>
            <a:spLocks noGrp="1"/>
          </p:cNvSpPr>
          <p:nvPr>
            <p:ph type="title"/>
          </p:nvPr>
        </p:nvSpPr>
        <p:spPr/>
        <p:txBody>
          <a:bodyPr/>
          <a:lstStyle/>
          <a:p>
            <a:r>
              <a:rPr lang="en-HK"/>
              <a:t>Scenario 1 Q1(a):</a:t>
            </a:r>
            <a:endParaRPr lang="en-US"/>
          </a:p>
        </p:txBody>
      </p:sp>
      <p:sp>
        <p:nvSpPr>
          <p:cNvPr id="3" name="Content Placeholder 2">
            <a:extLst>
              <a:ext uri="{FF2B5EF4-FFF2-40B4-BE49-F238E27FC236}">
                <a16:creationId xmlns:a16="http://schemas.microsoft.com/office/drawing/2014/main" id="{EB6EC30F-F530-F65F-4188-87155A57B675}"/>
              </a:ext>
            </a:extLst>
          </p:cNvPr>
          <p:cNvSpPr>
            <a:spLocks noGrp="1"/>
          </p:cNvSpPr>
          <p:nvPr>
            <p:ph idx="1"/>
          </p:nvPr>
        </p:nvSpPr>
        <p:spPr>
          <a:xfrm>
            <a:off x="387358" y="1527717"/>
            <a:ext cx="11124858" cy="4953000"/>
          </a:xfrm>
        </p:spPr>
        <p:txBody>
          <a:bodyPr/>
          <a:lstStyle/>
          <a:p>
            <a:pPr marL="0" indent="0" algn="just">
              <a:spcBef>
                <a:spcPts val="1400"/>
              </a:spcBef>
              <a:spcAft>
                <a:spcPts val="0"/>
              </a:spcAft>
              <a:buNone/>
            </a:pPr>
            <a:r>
              <a:rPr lang="en-US" sz="2800" b="1">
                <a:solidFill>
                  <a:srgbClr val="000000"/>
                </a:solidFill>
                <a:ea typeface="Calibri"/>
                <a:cs typeface="Times New Roman"/>
              </a:rPr>
              <a:t>Integration team</a:t>
            </a:r>
            <a:r>
              <a:rPr lang="en-US" sz="2800">
                <a:solidFill>
                  <a:srgbClr val="000000"/>
                </a:solidFill>
                <a:ea typeface="Calibri"/>
                <a:cs typeface="Times New Roman"/>
              </a:rPr>
              <a:t> aims to </a:t>
            </a:r>
            <a:r>
              <a:rPr lang="en-US" sz="2800" b="1" err="1">
                <a:solidFill>
                  <a:srgbClr val="FF0000"/>
                </a:solidFill>
                <a:ea typeface="Calibri"/>
                <a:cs typeface="Times New Roman"/>
              </a:rPr>
              <a:t>i</a:t>
            </a:r>
            <a:r>
              <a:rPr lang="en-HK" sz="2800" b="1" err="1">
                <a:solidFill>
                  <a:srgbClr val="FF0000"/>
                </a:solidFill>
                <a:ea typeface="Calibri"/>
                <a:cs typeface="Times New Roman"/>
              </a:rPr>
              <a:t>ntegrate</a:t>
            </a:r>
            <a:r>
              <a:rPr lang="en-HK" sz="2800">
                <a:solidFill>
                  <a:srgbClr val="000000"/>
                </a:solidFill>
                <a:ea typeface="Calibri"/>
                <a:cs typeface="Times New Roman"/>
              </a:rPr>
              <a:t> new features of the mobile payment subsystem </a:t>
            </a:r>
            <a:r>
              <a:rPr lang="en-HK" sz="2800" b="1">
                <a:solidFill>
                  <a:srgbClr val="FF0000"/>
                </a:solidFill>
                <a:ea typeface="Calibri"/>
                <a:cs typeface="Times New Roman"/>
              </a:rPr>
              <a:t>incrementally with</a:t>
            </a:r>
            <a:r>
              <a:rPr lang="en-HK" sz="2800">
                <a:solidFill>
                  <a:srgbClr val="000000"/>
                </a:solidFill>
                <a:ea typeface="Calibri"/>
                <a:cs typeface="Times New Roman"/>
              </a:rPr>
              <a:t> the legacy system through </a:t>
            </a:r>
            <a:r>
              <a:rPr lang="en-HK" sz="2800" b="1">
                <a:ea typeface="Calibri"/>
                <a:cs typeface="Times New Roman"/>
              </a:rPr>
              <a:t>a series of releases</a:t>
            </a:r>
            <a:r>
              <a:rPr lang="en-HK" sz="2800">
                <a:solidFill>
                  <a:srgbClr val="000000"/>
                </a:solidFill>
                <a:ea typeface="Calibri"/>
                <a:cs typeface="Times New Roman"/>
              </a:rPr>
              <a:t> of the implemented features provided by the mobile team, so  the team should select </a:t>
            </a:r>
            <a:r>
              <a:rPr lang="en-HK" sz="2800" b="1">
                <a:solidFill>
                  <a:srgbClr val="FF0000"/>
                </a:solidFill>
                <a:ea typeface="Calibri"/>
                <a:cs typeface="Times New Roman"/>
              </a:rPr>
              <a:t>incremental development</a:t>
            </a:r>
            <a:r>
              <a:rPr lang="en-HK" sz="2800">
                <a:solidFill>
                  <a:srgbClr val="000000"/>
                </a:solidFill>
                <a:ea typeface="Calibri"/>
                <a:cs typeface="Times New Roman"/>
              </a:rPr>
              <a:t>. </a:t>
            </a:r>
            <a:endParaRPr lang="en-HK" sz="2800">
              <a:cs typeface="Times New Roman"/>
            </a:endParaRPr>
          </a:p>
          <a:p>
            <a:pPr marL="398145" indent="-398145" algn="just">
              <a:buNone/>
            </a:pPr>
            <a:r>
              <a:rPr lang="en-US" altLang="zh-CN" sz="2800" b="1">
                <a:solidFill>
                  <a:srgbClr val="000000"/>
                </a:solidFill>
                <a:ea typeface="Calibri"/>
                <a:cs typeface="Calibri"/>
              </a:rPr>
              <a:t>[Reference Answer] </a:t>
            </a:r>
            <a:endParaRPr lang="zh-CN" altLang="en-US" sz="2800" b="1">
              <a:solidFill>
                <a:srgbClr val="000000"/>
              </a:solidFill>
              <a:ea typeface="Calibri"/>
              <a:cs typeface="Times New Roman"/>
            </a:endParaRPr>
          </a:p>
          <a:p>
            <a:pPr marL="398145" indent="-398145"/>
            <a:r>
              <a:rPr lang="en-US" sz="2800">
                <a:solidFill>
                  <a:srgbClr val="000000"/>
                </a:solidFill>
                <a:ea typeface="Calibri"/>
                <a:cs typeface="Times New Roman"/>
              </a:rPr>
              <a:t>Integration team: </a:t>
            </a:r>
            <a:r>
              <a:rPr lang="en-HK" sz="2800">
                <a:solidFill>
                  <a:srgbClr val="000000"/>
                </a:solidFill>
                <a:ea typeface="Calibri"/>
                <a:cs typeface="Times New Roman"/>
              </a:rPr>
              <a:t>Incremental development (or a software process model exhibiting this feature)</a:t>
            </a:r>
            <a:endParaRPr lang="en-HK" sz="2800" i="0">
              <a:solidFill>
                <a:srgbClr val="000000"/>
              </a:solidFill>
              <a:effectLst/>
              <a:ea typeface="Calibri"/>
              <a:cs typeface="Times New Roman"/>
            </a:endParaRPr>
          </a:p>
          <a:p>
            <a:pPr marL="1147445" lvl="1" indent="-285750"/>
            <a:r>
              <a:rPr lang="en-HK" sz="2400">
                <a:solidFill>
                  <a:srgbClr val="000000"/>
                </a:solidFill>
                <a:ea typeface="Calibri"/>
                <a:cs typeface="Times New Roman"/>
              </a:rPr>
              <a:t>for integrating each new increment delivered by the mobile team with the legacy system. </a:t>
            </a:r>
            <a:endParaRPr lang="en-US" sz="2400">
              <a:solidFill>
                <a:srgbClr val="000000"/>
              </a:solidFill>
              <a:ea typeface="Calibri"/>
              <a:cs typeface="Times New Roman"/>
            </a:endParaRPr>
          </a:p>
          <a:p>
            <a:pPr marL="1147445" lvl="1" indent="-285750"/>
            <a:r>
              <a:rPr lang="en-HK" sz="2400">
                <a:solidFill>
                  <a:srgbClr val="000000"/>
                </a:solidFill>
                <a:ea typeface="Calibri"/>
                <a:cs typeface="Times New Roman"/>
              </a:rPr>
              <a:t>to be responsive to user feedback and changes in requirements for the whole project.</a:t>
            </a:r>
            <a:endParaRPr lang="en-US" sz="2400">
              <a:solidFill>
                <a:srgbClr val="000000"/>
              </a:solidFill>
              <a:ea typeface="Calibri"/>
              <a:cs typeface="Times New Roman"/>
            </a:endParaRPr>
          </a:p>
          <a:p>
            <a:pPr marL="398145" indent="-398145"/>
            <a:endParaRPr lang="en-HK">
              <a:solidFill>
                <a:srgbClr val="000000"/>
              </a:solidFill>
              <a:ea typeface="Calibri"/>
              <a:cs typeface="Times New Roman"/>
            </a:endParaRPr>
          </a:p>
        </p:txBody>
      </p:sp>
    </p:spTree>
    <p:extLst>
      <p:ext uri="{BB962C8B-B14F-4D97-AF65-F5344CB8AC3E}">
        <p14:creationId xmlns:p14="http://schemas.microsoft.com/office/powerpoint/2010/main" val="276292413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DB6FA-0E10-785C-BD80-88FFBC26B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37CDF-59E3-0581-DC2B-B7762D03DE55}"/>
              </a:ext>
            </a:extLst>
          </p:cNvPr>
          <p:cNvSpPr>
            <a:spLocks noGrp="1"/>
          </p:cNvSpPr>
          <p:nvPr>
            <p:ph type="title"/>
          </p:nvPr>
        </p:nvSpPr>
        <p:spPr/>
        <p:txBody>
          <a:bodyPr/>
          <a:lstStyle/>
          <a:p>
            <a:r>
              <a:rPr lang="en-HK"/>
              <a:t>Scenario 1 Q1(b):</a:t>
            </a:r>
            <a:endParaRPr lang="en-US">
              <a:cs typeface="Times New Roman"/>
            </a:endParaRPr>
          </a:p>
        </p:txBody>
      </p:sp>
      <p:sp>
        <p:nvSpPr>
          <p:cNvPr id="3" name="Content Placeholder 2">
            <a:extLst>
              <a:ext uri="{FF2B5EF4-FFF2-40B4-BE49-F238E27FC236}">
                <a16:creationId xmlns:a16="http://schemas.microsoft.com/office/drawing/2014/main" id="{BE591B6D-CE15-02F9-8806-D2283BC16526}"/>
              </a:ext>
            </a:extLst>
          </p:cNvPr>
          <p:cNvSpPr>
            <a:spLocks noGrp="1"/>
          </p:cNvSpPr>
          <p:nvPr>
            <p:ph idx="1"/>
          </p:nvPr>
        </p:nvSpPr>
        <p:spPr>
          <a:xfrm>
            <a:off x="350187" y="1592766"/>
            <a:ext cx="11431516" cy="4925122"/>
          </a:xfrm>
        </p:spPr>
        <p:txBody>
          <a:bodyPr/>
          <a:lstStyle/>
          <a:p>
            <a:pPr marL="398145" indent="-398145" algn="just">
              <a:buNone/>
            </a:pPr>
            <a:r>
              <a:rPr lang="en-HK">
                <a:solidFill>
                  <a:srgbClr val="000000"/>
                </a:solidFill>
                <a:ea typeface="+mn-lt"/>
                <a:cs typeface="+mn-lt"/>
              </a:rPr>
              <a:t>(b) Moreover, also explain why </a:t>
            </a:r>
            <a:r>
              <a:rPr lang="en-HK" b="1">
                <a:solidFill>
                  <a:srgbClr val="000000"/>
                </a:solidFill>
                <a:ea typeface="+mn-lt"/>
                <a:cs typeface="+mn-lt"/>
              </a:rPr>
              <a:t>the Waterfall model</a:t>
            </a:r>
            <a:r>
              <a:rPr lang="en-HK">
                <a:solidFill>
                  <a:srgbClr val="000000"/>
                </a:solidFill>
                <a:ea typeface="+mn-lt"/>
                <a:cs typeface="+mn-lt"/>
              </a:rPr>
              <a:t> is </a:t>
            </a:r>
            <a:r>
              <a:rPr lang="en-HK" b="1">
                <a:solidFill>
                  <a:srgbClr val="000000"/>
                </a:solidFill>
                <a:ea typeface="+mn-lt"/>
                <a:cs typeface="+mn-lt"/>
              </a:rPr>
              <a:t>unsuitable</a:t>
            </a:r>
            <a:r>
              <a:rPr lang="en-HK">
                <a:solidFill>
                  <a:srgbClr val="000000"/>
                </a:solidFill>
                <a:ea typeface="+mn-lt"/>
                <a:cs typeface="+mn-lt"/>
              </a:rPr>
              <a:t> for the integration of the mobile payment subsystem and the legacy system.</a:t>
            </a:r>
            <a:endParaRPr lang="en-US">
              <a:cs typeface="Times New Roman"/>
            </a:endParaRPr>
          </a:p>
          <a:p>
            <a:pPr marL="398145" indent="-398145" algn="just">
              <a:buNone/>
            </a:pPr>
            <a:endParaRPr lang="en-HK" sz="2800">
              <a:solidFill>
                <a:srgbClr val="000000"/>
              </a:solidFill>
              <a:ea typeface="Calibri"/>
              <a:cs typeface="Times New Roman"/>
            </a:endParaRPr>
          </a:p>
          <a:p>
            <a:pPr marL="0" indent="0" algn="just">
              <a:buNone/>
            </a:pPr>
            <a:r>
              <a:rPr lang="en-US" sz="2800" b="0" i="0">
                <a:solidFill>
                  <a:srgbClr val="000000"/>
                </a:solidFill>
                <a:effectLst/>
                <a:ea typeface="Calibri"/>
                <a:cs typeface="Times New Roman"/>
              </a:rPr>
              <a:t>[</a:t>
            </a:r>
            <a:r>
              <a:rPr lang="en-US" sz="2800" b="1">
                <a:solidFill>
                  <a:srgbClr val="000000"/>
                </a:solidFill>
                <a:ea typeface="Calibri"/>
                <a:cs typeface="Times New Roman"/>
              </a:rPr>
              <a:t>Marking Scheme</a:t>
            </a:r>
            <a:r>
              <a:rPr lang="en-US" sz="2800" b="0" i="0">
                <a:solidFill>
                  <a:srgbClr val="000000"/>
                </a:solidFill>
                <a:effectLst/>
                <a:ea typeface="Calibri"/>
                <a:cs typeface="Times New Roman"/>
              </a:rPr>
              <a:t>] </a:t>
            </a:r>
            <a:endParaRPr lang="zh-CN">
              <a:cs typeface="Times New Roman"/>
            </a:endParaRPr>
          </a:p>
          <a:p>
            <a:pPr marL="398145" indent="-398145" algn="just"/>
            <a:r>
              <a:rPr lang="en-US" sz="2800" b="1">
                <a:solidFill>
                  <a:srgbClr val="000000"/>
                </a:solidFill>
                <a:ea typeface="Calibri"/>
                <a:cs typeface="Times New Roman"/>
              </a:rPr>
              <a:t>Waterfall model</a:t>
            </a:r>
            <a:endParaRPr lang="en-US" b="1">
              <a:cs typeface="Times New Roman"/>
            </a:endParaRPr>
          </a:p>
          <a:p>
            <a:pPr marL="0" indent="0" algn="just">
              <a:buNone/>
            </a:pPr>
            <a:r>
              <a:rPr lang="en-US" sz="2800">
                <a:solidFill>
                  <a:srgbClr val="000000"/>
                </a:solidFill>
                <a:ea typeface="Calibri"/>
                <a:cs typeface="Times New Roman"/>
              </a:rPr>
              <a:t>    </a:t>
            </a:r>
            <a:r>
              <a:rPr lang="en-US" sz="2800" b="0" i="0">
                <a:solidFill>
                  <a:srgbClr val="000000"/>
                </a:solidFill>
                <a:effectLst/>
                <a:ea typeface="Calibri"/>
                <a:cs typeface="Times New Roman"/>
              </a:rPr>
              <a:t>1 mark for </a:t>
            </a:r>
            <a:r>
              <a:rPr lang="en-US" sz="2800">
                <a:solidFill>
                  <a:srgbClr val="000000"/>
                </a:solidFill>
                <a:ea typeface="Calibri"/>
                <a:cs typeface="Times New Roman"/>
              </a:rPr>
              <a:t>explaining the Waterfall model not suitable for the integration</a:t>
            </a:r>
            <a:endParaRPr lang="en-US">
              <a:solidFill>
                <a:srgbClr val="000000"/>
              </a:solidFill>
              <a:ea typeface="Calibri"/>
              <a:cs typeface="Times New Roman"/>
            </a:endParaRPr>
          </a:p>
          <a:p>
            <a:pPr marL="0" indent="0">
              <a:buNone/>
            </a:pPr>
            <a:endParaRPr lang="en-US" sz="2800">
              <a:cs typeface="Times New Roman"/>
            </a:endParaRPr>
          </a:p>
          <a:p>
            <a:pPr marL="0" indent="0" algn="just">
              <a:buNone/>
            </a:pPr>
            <a:endParaRPr lang="en-US">
              <a:cs typeface="Times New Roman"/>
            </a:endParaRPr>
          </a:p>
        </p:txBody>
      </p:sp>
    </p:spTree>
    <p:extLst>
      <p:ext uri="{BB962C8B-B14F-4D97-AF65-F5344CB8AC3E}">
        <p14:creationId xmlns:p14="http://schemas.microsoft.com/office/powerpoint/2010/main" val="297621678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0E7C3-53AF-6DE5-29CA-473E7DB7B3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06EE4-8CEF-2CEB-4CA8-7E48A92832A3}"/>
              </a:ext>
            </a:extLst>
          </p:cNvPr>
          <p:cNvSpPr>
            <a:spLocks noGrp="1"/>
          </p:cNvSpPr>
          <p:nvPr>
            <p:ph type="title"/>
          </p:nvPr>
        </p:nvSpPr>
        <p:spPr/>
        <p:txBody>
          <a:bodyPr/>
          <a:lstStyle/>
          <a:p>
            <a:r>
              <a:rPr lang="en-HK"/>
              <a:t>Scenario 1 Q1(b):</a:t>
            </a:r>
            <a:endParaRPr lang="en-US">
              <a:cs typeface="Times New Roman"/>
            </a:endParaRPr>
          </a:p>
        </p:txBody>
      </p:sp>
      <p:sp>
        <p:nvSpPr>
          <p:cNvPr id="3" name="Content Placeholder 2">
            <a:extLst>
              <a:ext uri="{FF2B5EF4-FFF2-40B4-BE49-F238E27FC236}">
                <a16:creationId xmlns:a16="http://schemas.microsoft.com/office/drawing/2014/main" id="{6238BBCD-09E8-F788-099E-C16D44D033D8}"/>
              </a:ext>
            </a:extLst>
          </p:cNvPr>
          <p:cNvSpPr>
            <a:spLocks noGrp="1"/>
          </p:cNvSpPr>
          <p:nvPr>
            <p:ph idx="1"/>
          </p:nvPr>
        </p:nvSpPr>
        <p:spPr>
          <a:xfrm>
            <a:off x="350187" y="1537010"/>
            <a:ext cx="11431516" cy="4925122"/>
          </a:xfrm>
        </p:spPr>
        <p:txBody>
          <a:bodyPr/>
          <a:lstStyle/>
          <a:p>
            <a:pPr marL="398145" indent="-398145" algn="just">
              <a:buNone/>
            </a:pPr>
            <a:r>
              <a:rPr lang="en-US" sz="2800" b="1">
                <a:cs typeface="Times New Roman"/>
              </a:rPr>
              <a:t>[Characteristics of Waterfall Model]</a:t>
            </a:r>
            <a:endParaRPr lang="en-US">
              <a:ea typeface="+mn-lt"/>
              <a:cs typeface="+mn-lt"/>
            </a:endParaRPr>
          </a:p>
          <a:p>
            <a:pPr marL="398145" indent="-398145" algn="just">
              <a:buChar char="§"/>
            </a:pPr>
            <a:r>
              <a:rPr lang="en-US" sz="2800">
                <a:ea typeface="+mn-lt"/>
                <a:cs typeface="+mn-lt"/>
              </a:rPr>
              <a:t>Requirements are assumed to be </a:t>
            </a:r>
            <a:r>
              <a:rPr lang="en-US" sz="2800" b="1">
                <a:ea typeface="+mn-lt"/>
                <a:cs typeface="+mn-lt"/>
              </a:rPr>
              <a:t>largely stable</a:t>
            </a:r>
            <a:r>
              <a:rPr lang="en-US" sz="2800">
                <a:ea typeface="+mn-lt"/>
                <a:cs typeface="+mn-lt"/>
              </a:rPr>
              <a:t>.</a:t>
            </a:r>
            <a:endParaRPr lang="en-US">
              <a:cs typeface="Times New Roman"/>
            </a:endParaRPr>
          </a:p>
          <a:p>
            <a:pPr marL="398145" indent="-398145" algn="just">
              <a:buChar char="§"/>
            </a:pPr>
            <a:r>
              <a:rPr lang="en-US" sz="2800">
                <a:ea typeface="+mn-lt"/>
                <a:cs typeface="+mn-lt"/>
              </a:rPr>
              <a:t>Analysis → design → implementation → testing is carried out </a:t>
            </a:r>
            <a:r>
              <a:rPr lang="en-US" sz="2800" b="1">
                <a:ea typeface="+mn-lt"/>
                <a:cs typeface="+mn-lt"/>
              </a:rPr>
              <a:t>once</a:t>
            </a:r>
            <a:r>
              <a:rPr lang="en-US" sz="2800">
                <a:ea typeface="+mn-lt"/>
                <a:cs typeface="+mn-lt"/>
              </a:rPr>
              <a:t>, in a strictly sequential manner from start to finish.</a:t>
            </a:r>
            <a:endParaRPr lang="en-US">
              <a:cs typeface="Times New Roman"/>
            </a:endParaRPr>
          </a:p>
          <a:p>
            <a:pPr marL="398145" indent="-398145" algn="just">
              <a:buChar char="§"/>
            </a:pPr>
            <a:r>
              <a:rPr lang="en-US" sz="2800">
                <a:ea typeface="+mn-lt"/>
                <a:cs typeface="+mn-lt"/>
              </a:rPr>
              <a:t>Integration is usually done until the later stages of the project, and it is </a:t>
            </a:r>
            <a:r>
              <a:rPr lang="en-US" sz="2800" b="1">
                <a:ea typeface="+mn-lt"/>
                <a:cs typeface="+mn-lt"/>
              </a:rPr>
              <a:t>difficult</a:t>
            </a:r>
            <a:r>
              <a:rPr lang="en-US" sz="2800">
                <a:ea typeface="+mn-lt"/>
                <a:cs typeface="+mn-lt"/>
              </a:rPr>
              <a:t> to make </a:t>
            </a:r>
            <a:r>
              <a:rPr lang="en-US" sz="2800" b="1">
                <a:ea typeface="+mn-lt"/>
                <a:cs typeface="+mn-lt"/>
              </a:rPr>
              <a:t>frequent changes</a:t>
            </a:r>
            <a:r>
              <a:rPr lang="en-US" sz="2800">
                <a:ea typeface="+mn-lt"/>
                <a:cs typeface="+mn-lt"/>
              </a:rPr>
              <a:t> at that point.</a:t>
            </a:r>
            <a:endParaRPr lang="en-US">
              <a:ea typeface="+mn-lt"/>
              <a:cs typeface="+mn-lt"/>
            </a:endParaRPr>
          </a:p>
          <a:p>
            <a:pPr marL="398145" indent="-398145" algn="just">
              <a:buNone/>
            </a:pPr>
            <a:r>
              <a:rPr lang="en-US" sz="2800" b="1">
                <a:cs typeface="Times New Roman"/>
              </a:rPr>
              <a:t>[Reference Answer] </a:t>
            </a:r>
            <a:endParaRPr lang="en-HK" sz="2800" b="1">
              <a:cs typeface="Times New Roman"/>
            </a:endParaRPr>
          </a:p>
          <a:p>
            <a:pPr marL="398145" indent="-398145">
              <a:buFont typeface="Wingdings"/>
              <a:buChar char="§"/>
            </a:pPr>
            <a:r>
              <a:rPr lang="en-HK" sz="2800">
                <a:cs typeface="Times New Roman"/>
              </a:rPr>
              <a:t>Waterfall, V-Shape are not suitable for the integration with the legacy system </a:t>
            </a:r>
            <a:r>
              <a:rPr lang="en-HK" sz="2800" b="1">
                <a:solidFill>
                  <a:srgbClr val="FF0000"/>
                </a:solidFill>
                <a:cs typeface="Times New Roman"/>
              </a:rPr>
              <a:t>as Agile </a:t>
            </a:r>
            <a:r>
              <a:rPr lang="en-HK" sz="2800">
                <a:cs typeface="Times New Roman"/>
              </a:rPr>
              <a:t>requires incremental delivery, integration, and responsive to changes in requirements may occur. </a:t>
            </a:r>
            <a:r>
              <a:rPr lang="en-HK" sz="2800" b="1">
                <a:solidFill>
                  <a:srgbClr val="FF0000"/>
                </a:solidFill>
                <a:cs typeface="Times New Roman"/>
              </a:rPr>
              <a:t>Spiral model</a:t>
            </a:r>
            <a:r>
              <a:rPr lang="en-HK" sz="2800">
                <a:cs typeface="Times New Roman"/>
              </a:rPr>
              <a:t> is mainly for risk aversion, but the legacy system has been developed (so, not suitable). </a:t>
            </a:r>
            <a:endParaRPr lang="en-US" sz="2800">
              <a:cs typeface="Times New Roman"/>
            </a:endParaRPr>
          </a:p>
          <a:p>
            <a:pPr marL="0" indent="0" algn="just">
              <a:buNone/>
            </a:pPr>
            <a:endParaRPr lang="en-US">
              <a:cs typeface="Times New Roman"/>
            </a:endParaRPr>
          </a:p>
        </p:txBody>
      </p:sp>
    </p:spTree>
    <p:extLst>
      <p:ext uri="{BB962C8B-B14F-4D97-AF65-F5344CB8AC3E}">
        <p14:creationId xmlns:p14="http://schemas.microsoft.com/office/powerpoint/2010/main" val="143212410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D0A2D-29DB-4F0F-82DB-B984572BA815}"/>
              </a:ext>
            </a:extLst>
          </p:cNvPr>
          <p:cNvSpPr>
            <a:spLocks noGrp="1"/>
          </p:cNvSpPr>
          <p:nvPr>
            <p:ph type="title"/>
          </p:nvPr>
        </p:nvSpPr>
        <p:spPr/>
        <p:txBody>
          <a:bodyPr/>
          <a:lstStyle/>
          <a:p>
            <a:r>
              <a:rPr lang="en-HK"/>
              <a:t>Scenario 1 Q2: </a:t>
            </a:r>
            <a:r>
              <a:rPr lang="en-US"/>
              <a:t>Marking Scheme</a:t>
            </a:r>
            <a:endParaRPr lang="en-HK"/>
          </a:p>
        </p:txBody>
      </p:sp>
      <p:sp>
        <p:nvSpPr>
          <p:cNvPr id="3" name="Content Placeholder 2">
            <a:extLst>
              <a:ext uri="{FF2B5EF4-FFF2-40B4-BE49-F238E27FC236}">
                <a16:creationId xmlns:a16="http://schemas.microsoft.com/office/drawing/2014/main" id="{2CA3A035-33FC-4C76-A203-9CDED530E525}"/>
              </a:ext>
            </a:extLst>
          </p:cNvPr>
          <p:cNvSpPr>
            <a:spLocks noGrp="1"/>
          </p:cNvSpPr>
          <p:nvPr>
            <p:ph idx="1"/>
          </p:nvPr>
        </p:nvSpPr>
        <p:spPr>
          <a:xfrm>
            <a:off x="210393" y="1436336"/>
            <a:ext cx="11555427" cy="4953000"/>
          </a:xfrm>
        </p:spPr>
        <p:txBody>
          <a:bodyPr/>
          <a:lstStyle/>
          <a:p>
            <a:pPr marL="0" indent="0" algn="just" rtl="0" fontAlgn="base">
              <a:buNone/>
            </a:pPr>
            <a:r>
              <a:rPr lang="en-US" altLang="zh-CN" sz="2800" i="0" u="sng">
                <a:solidFill>
                  <a:srgbClr val="000000"/>
                </a:solidFill>
                <a:effectLst/>
                <a:ea typeface="Calibri"/>
                <a:cs typeface="Calibri"/>
              </a:rPr>
              <a:t>What</a:t>
            </a:r>
            <a:r>
              <a:rPr lang="en-US" altLang="zh-CN" sz="2800" i="0">
                <a:solidFill>
                  <a:srgbClr val="000000"/>
                </a:solidFill>
                <a:effectLst/>
                <a:ea typeface="Calibri"/>
                <a:cs typeface="Calibri"/>
              </a:rPr>
              <a:t> are the main characteristics </a:t>
            </a:r>
            <a:r>
              <a:rPr lang="en-US" altLang="zh-CN" sz="2800" b="0" i="0">
                <a:solidFill>
                  <a:srgbClr val="000000"/>
                </a:solidFill>
                <a:effectLst/>
                <a:ea typeface="Calibri"/>
                <a:cs typeface="Calibri"/>
              </a:rPr>
              <a:t>of modern code review (MCR)? </a:t>
            </a:r>
            <a:r>
              <a:rPr lang="en-US" altLang="zh-CN" sz="2800" i="0" u="sng">
                <a:solidFill>
                  <a:srgbClr val="000000"/>
                </a:solidFill>
                <a:effectLst/>
                <a:ea typeface="Calibri"/>
                <a:cs typeface="Calibri"/>
              </a:rPr>
              <a:t>Elaborate</a:t>
            </a:r>
            <a:r>
              <a:rPr lang="en-US" altLang="zh-CN" sz="2800" b="0" i="0">
                <a:solidFill>
                  <a:srgbClr val="000000"/>
                </a:solidFill>
                <a:effectLst/>
                <a:ea typeface="Calibri"/>
                <a:cs typeface="Calibri"/>
              </a:rPr>
              <a:t> each of them. </a:t>
            </a:r>
            <a:r>
              <a:rPr lang="en-US" altLang="zh-CN" sz="2800" i="0" u="sng">
                <a:solidFill>
                  <a:srgbClr val="000000"/>
                </a:solidFill>
                <a:effectLst/>
                <a:ea typeface="Calibri"/>
                <a:cs typeface="Calibri"/>
              </a:rPr>
              <a:t>Design two MCR practices </a:t>
            </a:r>
            <a:r>
              <a:rPr lang="en-US" altLang="zh-CN" sz="2800" b="0" i="0">
                <a:solidFill>
                  <a:srgbClr val="000000"/>
                </a:solidFill>
                <a:effectLst/>
                <a:ea typeface="Calibri"/>
                <a:cs typeface="Calibri"/>
              </a:rPr>
              <a:t>on top of the main MCR characteristics for the project in Scenario 1 so that the project can synchronize project details across the three teams. </a:t>
            </a:r>
            <a:r>
              <a:rPr lang="en-US" altLang="zh-CN" sz="2800" i="0" u="sng">
                <a:solidFill>
                  <a:srgbClr val="000000"/>
                </a:solidFill>
                <a:effectLst/>
                <a:ea typeface="Calibri"/>
                <a:cs typeface="Calibri"/>
              </a:rPr>
              <a:t>Give two examples </a:t>
            </a:r>
            <a:r>
              <a:rPr lang="en-US" altLang="zh-CN" sz="2800" b="0" i="0">
                <a:solidFill>
                  <a:srgbClr val="000000"/>
                </a:solidFill>
                <a:effectLst/>
                <a:ea typeface="Calibri"/>
                <a:cs typeface="Calibri"/>
              </a:rPr>
              <a:t>of project details that can be benefited by the synchronization?</a:t>
            </a:r>
          </a:p>
          <a:p>
            <a:pPr algn="just" rtl="0" fontAlgn="base"/>
            <a:r>
              <a:rPr lang="en-US" altLang="zh-CN" sz="2800" b="0" i="0">
                <a:solidFill>
                  <a:srgbClr val="000000"/>
                </a:solidFill>
                <a:effectLst/>
                <a:ea typeface="Calibri"/>
                <a:cs typeface="Calibri"/>
              </a:rPr>
              <a:t>[8 marks in total] Characteristics -- 1 mark for each MCR main characteristics. -- 1 mark for the elaboration of each MCR main characteristics</a:t>
            </a:r>
          </a:p>
          <a:p>
            <a:pPr algn="just" rtl="0" fontAlgn="base"/>
            <a:r>
              <a:rPr lang="en-US" altLang="zh-CN" sz="2800" b="0" i="0">
                <a:solidFill>
                  <a:srgbClr val="000000"/>
                </a:solidFill>
                <a:effectLst/>
                <a:ea typeface="Calibri"/>
                <a:cs typeface="Calibri"/>
              </a:rPr>
              <a:t>[4 marks in total] Practices for synchronization -- 2 marks for each practice with cross-team feature </a:t>
            </a:r>
          </a:p>
          <a:p>
            <a:pPr algn="just"/>
            <a:r>
              <a:rPr lang="en-US" altLang="zh-CN" sz="2800" b="0" i="0">
                <a:solidFill>
                  <a:srgbClr val="000000"/>
                </a:solidFill>
                <a:effectLst/>
                <a:ea typeface="Calibri"/>
                <a:cs typeface="Calibri"/>
              </a:rPr>
              <a:t>[2 marks in total] E</a:t>
            </a:r>
            <a:r>
              <a:rPr lang="en-US" altLang="zh-CN" sz="2800">
                <a:solidFill>
                  <a:srgbClr val="000000"/>
                </a:solidFill>
                <a:ea typeface="Calibri"/>
                <a:cs typeface="Calibri"/>
              </a:rPr>
              <a:t>xample of synchronization/quality benefits -- 1 marks for each example</a:t>
            </a:r>
            <a:endParaRPr lang="en-US" altLang="zh-CN" sz="2800" b="0" i="0">
              <a:solidFill>
                <a:srgbClr val="000000"/>
              </a:solidFill>
              <a:effectLst/>
              <a:ea typeface="Calibri"/>
              <a:cs typeface="Calibri"/>
            </a:endParaRPr>
          </a:p>
        </p:txBody>
      </p:sp>
    </p:spTree>
    <p:extLst>
      <p:ext uri="{BB962C8B-B14F-4D97-AF65-F5344CB8AC3E}">
        <p14:creationId xmlns:p14="http://schemas.microsoft.com/office/powerpoint/2010/main" val="331032665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D0A2D-29DB-4F0F-82DB-B984572BA815}"/>
              </a:ext>
            </a:extLst>
          </p:cNvPr>
          <p:cNvSpPr>
            <a:spLocks noGrp="1"/>
          </p:cNvSpPr>
          <p:nvPr>
            <p:ph type="title"/>
          </p:nvPr>
        </p:nvSpPr>
        <p:spPr/>
        <p:txBody>
          <a:bodyPr/>
          <a:lstStyle/>
          <a:p>
            <a:r>
              <a:rPr lang="en-HK" altLang="zh-CN"/>
              <a:t>Scenario 1 Q2: Reference </a:t>
            </a:r>
            <a:r>
              <a:rPr lang="en-US" altLang="zh-CN"/>
              <a:t>Answers</a:t>
            </a:r>
            <a:endParaRPr lang="en-HK"/>
          </a:p>
        </p:txBody>
      </p:sp>
      <p:sp>
        <p:nvSpPr>
          <p:cNvPr id="3" name="Content Placeholder 2">
            <a:extLst>
              <a:ext uri="{FF2B5EF4-FFF2-40B4-BE49-F238E27FC236}">
                <a16:creationId xmlns:a16="http://schemas.microsoft.com/office/drawing/2014/main" id="{2CA3A035-33FC-4C76-A203-9CDED530E525}"/>
              </a:ext>
            </a:extLst>
          </p:cNvPr>
          <p:cNvSpPr>
            <a:spLocks noGrp="1"/>
          </p:cNvSpPr>
          <p:nvPr>
            <p:ph idx="1"/>
          </p:nvPr>
        </p:nvSpPr>
        <p:spPr>
          <a:xfrm>
            <a:off x="508163" y="1371600"/>
            <a:ext cx="11124858" cy="4953000"/>
          </a:xfrm>
        </p:spPr>
        <p:txBody>
          <a:bodyPr/>
          <a:lstStyle/>
          <a:p>
            <a:pPr marL="0" indent="0">
              <a:lnSpc>
                <a:spcPct val="115000"/>
              </a:lnSpc>
              <a:spcAft>
                <a:spcPts val="800"/>
              </a:spcAft>
              <a:buNone/>
            </a:pPr>
            <a:r>
              <a:rPr lang="en-HK" altLang="zh-CN" sz="2400" kern="100">
                <a:effectLst/>
                <a:ea typeface="DengXian" panose="02010600030101010101" pitchFamily="2" charset="-122"/>
                <a:cs typeface="Times New Roman" panose="02020603050405020304" pitchFamily="18" charset="0"/>
              </a:rPr>
              <a:t>Main modern code review characteristics</a:t>
            </a:r>
            <a:r>
              <a:rPr lang="en-US" altLang="zh-CN" sz="2400" kern="100">
                <a:ea typeface="DengXian" panose="02010600030101010101" pitchFamily="2" charset="-122"/>
                <a:cs typeface="Times New Roman" panose="02020603050405020304" pitchFamily="18" charset="0"/>
              </a:rPr>
              <a:t>:</a:t>
            </a:r>
            <a:r>
              <a:rPr lang="en-HK" altLang="zh-CN" sz="2400" kern="100">
                <a:effectLst/>
                <a:ea typeface="DengXian" panose="02010600030101010101" pitchFamily="2" charset="-122"/>
                <a:cs typeface="Times New Roman" panose="02020603050405020304" pitchFamily="18" charset="0"/>
              </a:rPr>
              <a:t> </a:t>
            </a:r>
            <a:endParaRPr lang="zh-CN" altLang="zh-CN" sz="2400" kern="100">
              <a:effectLst/>
              <a:ea typeface="DengXian" panose="02010600030101010101" pitchFamily="2" charset="-122"/>
              <a:cs typeface="Times New Roman" panose="02020603050405020304" pitchFamily="18" charset="0"/>
            </a:endParaRPr>
          </a:p>
          <a:p>
            <a:pPr marL="342900" lvl="0" indent="-342900">
              <a:lnSpc>
                <a:spcPct val="115000"/>
              </a:lnSpc>
              <a:buFont typeface="Symbol" pitchFamily="2" charset="2"/>
              <a:buChar char=""/>
            </a:pPr>
            <a:r>
              <a:rPr lang="en-HK" altLang="zh-CN" sz="2400" b="1" kern="100">
                <a:effectLst/>
                <a:ea typeface="DengXian" panose="02010600030101010101" pitchFamily="2" charset="-122"/>
                <a:cs typeface="Times New Roman" panose="02020603050405020304" pitchFamily="18" charset="0"/>
              </a:rPr>
              <a:t>Informal</a:t>
            </a:r>
            <a:r>
              <a:rPr lang="en-US" altLang="zh-CN" sz="2400" b="1" kern="100">
                <a:effectLst/>
                <a:ea typeface="DengXian" panose="02010600030101010101" pitchFamily="2" charset="-122"/>
                <a:cs typeface="Times New Roman" panose="02020603050405020304" pitchFamily="18" charset="0"/>
              </a:rPr>
              <a:t>.</a:t>
            </a:r>
            <a:r>
              <a:rPr lang="zh-CN" altLang="en-US" sz="2400" b="1" kern="100">
                <a:ea typeface="DengXian" panose="02010600030101010101" pitchFamily="2" charset="-122"/>
                <a:cs typeface="Times New Roman" panose="02020603050405020304" pitchFamily="18" charset="0"/>
              </a:rPr>
              <a:t> </a:t>
            </a:r>
            <a:r>
              <a:rPr lang="en-HK" altLang="zh-CN" sz="2400" kern="100">
                <a:effectLst/>
                <a:ea typeface="DengXian" panose="02010600030101010101" pitchFamily="2" charset="-122"/>
                <a:cs typeface="Times New Roman" panose="02020603050405020304" pitchFamily="18" charset="0"/>
              </a:rPr>
              <a:t>The process is lightweight and does not follow a strict, formal procedure. Reviewer roles are not predefined, and the review is often ad hoc.</a:t>
            </a:r>
            <a:endParaRPr lang="zh-CN" altLang="zh-CN" sz="2400" kern="100">
              <a:effectLst/>
              <a:ea typeface="DengXian" panose="02010600030101010101" pitchFamily="2" charset="-122"/>
              <a:cs typeface="Times New Roman" panose="02020603050405020304" pitchFamily="18" charset="0"/>
            </a:endParaRPr>
          </a:p>
          <a:p>
            <a:pPr marL="342900" lvl="0" indent="-342900">
              <a:lnSpc>
                <a:spcPct val="115000"/>
              </a:lnSpc>
              <a:buFont typeface="Symbol" pitchFamily="2" charset="2"/>
              <a:buChar char=""/>
            </a:pPr>
            <a:r>
              <a:rPr lang="en-HK" altLang="zh-CN" sz="2400" b="1" kern="100">
                <a:effectLst/>
                <a:ea typeface="DengXian" panose="02010600030101010101" pitchFamily="2" charset="-122"/>
                <a:cs typeface="Times New Roman" panose="02020603050405020304" pitchFamily="18" charset="0"/>
              </a:rPr>
              <a:t>Tool-based logistics.</a:t>
            </a:r>
            <a:r>
              <a:rPr lang="zh-CN" altLang="en-US" sz="2400" b="1" kern="100">
                <a:ea typeface="DengXian" panose="02010600030101010101" pitchFamily="2" charset="-122"/>
                <a:cs typeface="Times New Roman" panose="02020603050405020304" pitchFamily="18" charset="0"/>
              </a:rPr>
              <a:t> </a:t>
            </a:r>
            <a:r>
              <a:rPr lang="en-HK" altLang="zh-CN" sz="2400" kern="100">
                <a:effectLst/>
                <a:ea typeface="DengXian" panose="02010600030101010101" pitchFamily="2" charset="-122"/>
                <a:cs typeface="Times New Roman" panose="02020603050405020304" pitchFamily="18" charset="0"/>
              </a:rPr>
              <a:t>The review process is managed using tools such as GitHub, Gerrit, </a:t>
            </a:r>
            <a:r>
              <a:rPr lang="en-HK" altLang="zh-CN" sz="2400" kern="100" err="1">
                <a:effectLst/>
                <a:ea typeface="DengXian" panose="02010600030101010101" pitchFamily="2" charset="-122"/>
                <a:cs typeface="Times New Roman" panose="02020603050405020304" pitchFamily="18" charset="0"/>
              </a:rPr>
              <a:t>ReviewBoard</a:t>
            </a:r>
            <a:r>
              <a:rPr lang="en-HK" altLang="zh-CN" sz="2400" kern="100">
                <a:effectLst/>
                <a:ea typeface="DengXian" panose="02010600030101010101" pitchFamily="2" charset="-122"/>
                <a:cs typeface="Times New Roman" panose="02020603050405020304" pitchFamily="18" charset="0"/>
              </a:rPr>
              <a:t>, or even email and messaging apps. These tools facilitate asynchronous review and tracking of code changes.</a:t>
            </a:r>
            <a:endParaRPr lang="zh-CN" altLang="zh-CN" sz="2400" kern="100">
              <a:effectLst/>
              <a:ea typeface="DengXian" panose="02010600030101010101" pitchFamily="2" charset="-122"/>
              <a:cs typeface="Times New Roman" panose="02020603050405020304" pitchFamily="18" charset="0"/>
            </a:endParaRPr>
          </a:p>
          <a:p>
            <a:pPr marL="342900" lvl="0" indent="-342900">
              <a:lnSpc>
                <a:spcPct val="115000"/>
              </a:lnSpc>
              <a:buFont typeface="Symbol" pitchFamily="2" charset="2"/>
              <a:buChar char=""/>
            </a:pPr>
            <a:r>
              <a:rPr lang="en-HK" altLang="zh-CN" sz="2400" b="1" kern="100">
                <a:effectLst/>
                <a:ea typeface="DengXian" panose="02010600030101010101" pitchFamily="2" charset="-122"/>
                <a:cs typeface="Times New Roman" panose="02020603050405020304" pitchFamily="18" charset="0"/>
              </a:rPr>
              <a:t>Asynchronous</a:t>
            </a:r>
            <a:r>
              <a:rPr lang="en-US" altLang="zh-CN" sz="2400" b="1" kern="100">
                <a:effectLst/>
                <a:ea typeface="DengXian" panose="02010600030101010101" pitchFamily="2" charset="-122"/>
                <a:cs typeface="Times New Roman" panose="02020603050405020304" pitchFamily="18" charset="0"/>
              </a:rPr>
              <a:t>.</a:t>
            </a:r>
            <a:r>
              <a:rPr lang="zh-CN" altLang="en-US" sz="2400" b="1" kern="100">
                <a:ea typeface="DengXian" panose="02010600030101010101" pitchFamily="2" charset="-122"/>
                <a:cs typeface="Times New Roman" panose="02020603050405020304" pitchFamily="18" charset="0"/>
              </a:rPr>
              <a:t> </a:t>
            </a:r>
            <a:r>
              <a:rPr lang="en-HK" altLang="zh-CN" sz="2400" kern="100">
                <a:effectLst/>
                <a:ea typeface="DengXian" panose="02010600030101010101" pitchFamily="2" charset="-122"/>
                <a:cs typeface="Times New Roman" panose="02020603050405020304" pitchFamily="18" charset="0"/>
              </a:rPr>
              <a:t>Authors and reviewers do not need to engage in the review at the same time. Reviews can happen independently, allowing flexibility for distributed teams.</a:t>
            </a:r>
            <a:endParaRPr lang="zh-CN" altLang="zh-CN" sz="2400" kern="100">
              <a:effectLst/>
              <a:ea typeface="DengXian" panose="02010600030101010101" pitchFamily="2" charset="-122"/>
              <a:cs typeface="Times New Roman" panose="02020603050405020304" pitchFamily="18" charset="0"/>
            </a:endParaRPr>
          </a:p>
          <a:p>
            <a:pPr marL="342900" lvl="0" indent="-342900">
              <a:lnSpc>
                <a:spcPct val="115000"/>
              </a:lnSpc>
              <a:buFont typeface="Symbol" pitchFamily="2" charset="2"/>
              <a:buChar char=""/>
            </a:pPr>
            <a:r>
              <a:rPr lang="en-HK" altLang="zh-CN" sz="2400" b="1" kern="100">
                <a:effectLst/>
                <a:ea typeface="DengXian" panose="02010600030101010101" pitchFamily="2" charset="-122"/>
                <a:cs typeface="Times New Roman" panose="02020603050405020304" pitchFamily="18" charset="0"/>
              </a:rPr>
              <a:t>Focused on reviewing code changes (patches).</a:t>
            </a:r>
            <a:r>
              <a:rPr lang="zh-CN" altLang="en-US" sz="2400" b="1" kern="100">
                <a:ea typeface="DengXian" panose="02010600030101010101" pitchFamily="2" charset="-122"/>
                <a:cs typeface="Times New Roman" panose="02020603050405020304" pitchFamily="18" charset="0"/>
              </a:rPr>
              <a:t> </a:t>
            </a:r>
            <a:r>
              <a:rPr lang="en-HK" altLang="zh-CN" sz="2400" kern="100">
                <a:effectLst/>
                <a:ea typeface="DengXian" panose="02010600030101010101" pitchFamily="2" charset="-122"/>
                <a:cs typeface="Times New Roman" panose="02020603050405020304" pitchFamily="18" charset="0"/>
              </a:rPr>
              <a:t>The review targets specific code changes (patches or pull requests), rather than the entire codebase. This makes the process more efficient and manageable.</a:t>
            </a:r>
            <a:endParaRPr lang="zh-CN" altLang="zh-CN" sz="2400" kern="100">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1426503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D0A2D-29DB-4F0F-82DB-B984572BA815}"/>
              </a:ext>
            </a:extLst>
          </p:cNvPr>
          <p:cNvSpPr>
            <a:spLocks noGrp="1"/>
          </p:cNvSpPr>
          <p:nvPr>
            <p:ph type="title"/>
          </p:nvPr>
        </p:nvSpPr>
        <p:spPr/>
        <p:txBody>
          <a:bodyPr/>
          <a:lstStyle/>
          <a:p>
            <a:r>
              <a:rPr lang="en-HK" altLang="zh-CN"/>
              <a:t>Scenario 1 Q2: Reference </a:t>
            </a:r>
            <a:r>
              <a:rPr lang="en-US" altLang="zh-CN"/>
              <a:t>Answers</a:t>
            </a:r>
            <a:endParaRPr lang="en-HK"/>
          </a:p>
        </p:txBody>
      </p:sp>
      <p:sp>
        <p:nvSpPr>
          <p:cNvPr id="3" name="Content Placeholder 2">
            <a:extLst>
              <a:ext uri="{FF2B5EF4-FFF2-40B4-BE49-F238E27FC236}">
                <a16:creationId xmlns:a16="http://schemas.microsoft.com/office/drawing/2014/main" id="{2CA3A035-33FC-4C76-A203-9CDED530E525}"/>
              </a:ext>
            </a:extLst>
          </p:cNvPr>
          <p:cNvSpPr>
            <a:spLocks noGrp="1"/>
          </p:cNvSpPr>
          <p:nvPr>
            <p:ph idx="1"/>
          </p:nvPr>
        </p:nvSpPr>
        <p:spPr>
          <a:xfrm>
            <a:off x="508163" y="1371600"/>
            <a:ext cx="11124858" cy="4953000"/>
          </a:xfrm>
        </p:spPr>
        <p:txBody>
          <a:bodyPr/>
          <a:lstStyle/>
          <a:p>
            <a:pPr marL="0" indent="0">
              <a:lnSpc>
                <a:spcPct val="115000"/>
              </a:lnSpc>
              <a:spcAft>
                <a:spcPts val="800"/>
              </a:spcAft>
              <a:buNone/>
            </a:pPr>
            <a:r>
              <a:rPr lang="en-US" altLang="zh-CN" sz="2400" kern="100">
                <a:ea typeface="DengXian" panose="02010600030101010101" pitchFamily="2" charset="-122"/>
                <a:cs typeface="Times New Roman" panose="02020603050405020304" pitchFamily="18" charset="0"/>
              </a:rPr>
              <a:t>Practices for synchronization across teams</a:t>
            </a:r>
            <a:endParaRPr lang="en-US" altLang="zh-CN" sz="2400" kern="100">
              <a:effectLst/>
              <a:ea typeface="DengXian" panose="02010600030101010101" pitchFamily="2" charset="-122"/>
              <a:cs typeface="Times New Roman" panose="02020603050405020304" pitchFamily="18" charset="0"/>
            </a:endParaRPr>
          </a:p>
          <a:p>
            <a:pPr marL="342900" lvl="0" indent="-342900">
              <a:lnSpc>
                <a:spcPct val="115000"/>
              </a:lnSpc>
              <a:buFont typeface="Symbol" pitchFamily="2" charset="2"/>
              <a:buChar char=""/>
            </a:pPr>
            <a:r>
              <a:rPr lang="en-HK" altLang="zh-CN" sz="2400" kern="100">
                <a:ea typeface="DengXian" panose="02010600030101010101" pitchFamily="2" charset="-122"/>
                <a:cs typeface="Times New Roman" panose="02020603050405020304" pitchFamily="18" charset="0"/>
              </a:rPr>
              <a:t>Conduct code reviews regularly</a:t>
            </a:r>
          </a:p>
          <a:p>
            <a:pPr marL="342900" indent="-342900">
              <a:lnSpc>
                <a:spcPct val="115000"/>
              </a:lnSpc>
              <a:buFont typeface="Symbol" pitchFamily="2" charset="2"/>
              <a:buChar char=""/>
            </a:pPr>
            <a:r>
              <a:rPr lang="en-HK" altLang="zh-CN" sz="2400" kern="100">
                <a:ea typeface="DengXian" panose="02010600030101010101" pitchFamily="2" charset="-122"/>
                <a:cs typeface="Times New Roman" panose="02020603050405020304" pitchFamily="18" charset="0"/>
              </a:rPr>
              <a:t>Use cross-team reviewer assignments</a:t>
            </a:r>
          </a:p>
          <a:p>
            <a:pPr marL="0" indent="0">
              <a:lnSpc>
                <a:spcPct val="115000"/>
              </a:lnSpc>
              <a:spcAft>
                <a:spcPts val="800"/>
              </a:spcAft>
              <a:buNone/>
            </a:pPr>
            <a:r>
              <a:rPr lang="en-US" altLang="zh-CN" sz="2400" kern="100">
                <a:effectLst/>
                <a:ea typeface="DengXian" panose="02010600030101010101" pitchFamily="2" charset="-122"/>
                <a:cs typeface="Times New Roman" panose="02020603050405020304" pitchFamily="18" charset="0"/>
              </a:rPr>
              <a:t>can help synchronize project details to ensure </a:t>
            </a:r>
          </a:p>
          <a:p>
            <a:pPr marL="342900" lvl="0" indent="-342900">
              <a:lnSpc>
                <a:spcPct val="115000"/>
              </a:lnSpc>
              <a:buFont typeface="Symbol" pitchFamily="2" charset="2"/>
              <a:buChar char=""/>
            </a:pPr>
            <a:r>
              <a:rPr lang="en-US" altLang="zh-CN" sz="2400" kern="100">
                <a:ea typeface="DengXian" panose="02010600030101010101" pitchFamily="2" charset="-122"/>
                <a:cs typeface="Times New Roman" panose="02020603050405020304" pitchFamily="18" charset="0"/>
              </a:rPr>
              <a:t>consistent code quality and coding standard, </a:t>
            </a:r>
          </a:p>
          <a:p>
            <a:pPr marL="342900" lvl="0" indent="-342900">
              <a:lnSpc>
                <a:spcPct val="115000"/>
              </a:lnSpc>
              <a:buFont typeface="Symbol" pitchFamily="2" charset="2"/>
              <a:buChar char=""/>
            </a:pPr>
            <a:r>
              <a:rPr lang="en-US" altLang="zh-CN" sz="2400" kern="100">
                <a:ea typeface="DengXian" panose="02010600030101010101" pitchFamily="2" charset="-122"/>
                <a:cs typeface="Times New Roman" panose="02020603050405020304" pitchFamily="18" charset="0"/>
              </a:rPr>
              <a:t>facilitate knowledge and practice sharing, </a:t>
            </a:r>
          </a:p>
          <a:p>
            <a:pPr marL="342900" lvl="0" indent="-342900">
              <a:lnSpc>
                <a:spcPct val="115000"/>
              </a:lnSpc>
              <a:buFont typeface="Symbol" pitchFamily="2" charset="2"/>
              <a:buChar char=""/>
            </a:pPr>
            <a:r>
              <a:rPr lang="en-US" altLang="zh-CN" sz="2400" kern="100">
                <a:ea typeface="DengXian" panose="02010600030101010101" pitchFamily="2" charset="-122"/>
                <a:cs typeface="Times New Roman" panose="02020603050405020304" pitchFamily="18" charset="0"/>
              </a:rPr>
              <a:t>educate developers or users</a:t>
            </a:r>
          </a:p>
          <a:p>
            <a:pPr marL="0" indent="0">
              <a:lnSpc>
                <a:spcPct val="115000"/>
              </a:lnSpc>
              <a:spcAft>
                <a:spcPts val="800"/>
              </a:spcAft>
              <a:buNone/>
            </a:pPr>
            <a:r>
              <a:rPr lang="en-US" altLang="zh-CN" sz="2400" kern="100">
                <a:effectLst/>
                <a:ea typeface="DengXian" panose="02010600030101010101" pitchFamily="2" charset="-122"/>
                <a:cs typeface="Times New Roman" panose="02020603050405020304" pitchFamily="18" charset="0"/>
              </a:rPr>
              <a:t>across the three teams.</a:t>
            </a:r>
          </a:p>
          <a:p>
            <a:pPr marL="0" indent="0">
              <a:lnSpc>
                <a:spcPct val="115000"/>
              </a:lnSpc>
              <a:spcAft>
                <a:spcPts val="800"/>
              </a:spcAft>
              <a:buNone/>
            </a:pPr>
            <a:r>
              <a:rPr lang="en-US" altLang="zh-CN" sz="2000" kern="100">
                <a:effectLst/>
                <a:ea typeface="DengXian" panose="02010600030101010101" pitchFamily="2" charset="-122"/>
                <a:cs typeface="Times New Roman" panose="02020603050405020304" pitchFamily="18" charset="0"/>
              </a:rPr>
              <a:t>Note</a:t>
            </a:r>
            <a:r>
              <a:rPr lang="en-US" altLang="zh-CN" sz="2000" kern="100">
                <a:ea typeface="DengXian" panose="02010600030101010101" pitchFamily="2" charset="-122"/>
                <a:cs typeface="Times New Roman" panose="02020603050405020304" pitchFamily="18" charset="0"/>
              </a:rPr>
              <a:t>: Reasonable answers can get the score. However, -- </a:t>
            </a:r>
            <a:r>
              <a:rPr lang="en-US" altLang="zh-CN" sz="2000" b="1" u="sng" kern="100">
                <a:ea typeface="DengXian" panose="02010600030101010101" pitchFamily="2" charset="-122"/>
                <a:cs typeface="Times New Roman" panose="02020603050405020304" pitchFamily="18" charset="0"/>
              </a:rPr>
              <a:t>a</a:t>
            </a:r>
            <a:r>
              <a:rPr lang="en-US" altLang="zh-CN" sz="2000" kern="100">
                <a:ea typeface="DengXian" panose="02010600030101010101" pitchFamily="2" charset="-122"/>
                <a:cs typeface="Times New Roman" panose="02020603050405020304" pitchFamily="18" charset="0"/>
              </a:rPr>
              <a:t>synchronous (</a:t>
            </a:r>
            <a:r>
              <a:rPr lang="en-US" altLang="zh-CN" sz="2000" u="sng" kern="100">
                <a:ea typeface="DengXian" panose="02010600030101010101" pitchFamily="2" charset="-122"/>
                <a:cs typeface="Times New Roman" panose="02020603050405020304" pitchFamily="18" charset="0"/>
              </a:rPr>
              <a:t>not</a:t>
            </a:r>
            <a:r>
              <a:rPr lang="en-US" altLang="zh-CN" sz="2000" kern="100">
                <a:ea typeface="DengXian" panose="02010600030101010101" pitchFamily="2" charset="-122"/>
                <a:cs typeface="Times New Roman" panose="02020603050405020304" pitchFamily="18" charset="0"/>
              </a:rPr>
              <a:t> occurring at the same time) -- synchronization (coordinating multiple processes to unite). They have </a:t>
            </a:r>
            <a:r>
              <a:rPr lang="en-US" altLang="zh-CN" sz="2000" b="1" kern="100">
                <a:ea typeface="DengXian" panose="02010600030101010101" pitchFamily="2" charset="-122"/>
                <a:cs typeface="Times New Roman" panose="02020603050405020304" pitchFamily="18" charset="0"/>
              </a:rPr>
              <a:t>opposite</a:t>
            </a:r>
            <a:r>
              <a:rPr lang="en-US" altLang="zh-CN" sz="2000" kern="100">
                <a:ea typeface="DengXian" panose="02010600030101010101" pitchFamily="2" charset="-122"/>
                <a:cs typeface="Times New Roman" panose="02020603050405020304" pitchFamily="18" charset="0"/>
              </a:rPr>
              <a:t> meanings.</a:t>
            </a:r>
            <a:endParaRPr lang="en-US" altLang="zh-CN" sz="2800" kern="100">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2716657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CB3D4-2FD6-B53A-16A2-573349653C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F4B5D-3D80-8ADE-E820-FD2EA3A2DE07}"/>
              </a:ext>
            </a:extLst>
          </p:cNvPr>
          <p:cNvSpPr>
            <a:spLocks noGrp="1"/>
          </p:cNvSpPr>
          <p:nvPr>
            <p:ph type="title"/>
          </p:nvPr>
        </p:nvSpPr>
        <p:spPr/>
        <p:txBody>
          <a:bodyPr/>
          <a:lstStyle/>
          <a:p>
            <a:r>
              <a:rPr lang="en-HK"/>
              <a:t>Scenario 1 Q3:</a:t>
            </a:r>
            <a:endParaRPr lang="en-US"/>
          </a:p>
        </p:txBody>
      </p:sp>
      <p:sp>
        <p:nvSpPr>
          <p:cNvPr id="3" name="Content Placeholder 2">
            <a:extLst>
              <a:ext uri="{FF2B5EF4-FFF2-40B4-BE49-F238E27FC236}">
                <a16:creationId xmlns:a16="http://schemas.microsoft.com/office/drawing/2014/main" id="{A5B63D79-DD9F-AACA-06DD-2987F9B2D3D1}"/>
              </a:ext>
            </a:extLst>
          </p:cNvPr>
          <p:cNvSpPr>
            <a:spLocks noGrp="1"/>
          </p:cNvSpPr>
          <p:nvPr>
            <p:ph idx="1"/>
          </p:nvPr>
        </p:nvSpPr>
        <p:spPr>
          <a:xfrm>
            <a:off x="387358" y="1527717"/>
            <a:ext cx="11701004" cy="4953000"/>
          </a:xfrm>
        </p:spPr>
        <p:txBody>
          <a:bodyPr/>
          <a:lstStyle/>
          <a:p>
            <a:pPr marL="0" indent="0" algn="just">
              <a:spcBef>
                <a:spcPts val="1400"/>
              </a:spcBef>
              <a:spcAft>
                <a:spcPts val="0"/>
              </a:spcAft>
              <a:buNone/>
            </a:pPr>
            <a:r>
              <a:rPr lang="en-HK" sz="2800">
                <a:solidFill>
                  <a:srgbClr val="000000"/>
                </a:solidFill>
                <a:ea typeface="Calibri"/>
                <a:cs typeface="Times New Roman"/>
              </a:rPr>
              <a:t>In the context of Scenario 1, give </a:t>
            </a:r>
            <a:r>
              <a:rPr lang="en-HK" sz="2800" b="1">
                <a:solidFill>
                  <a:srgbClr val="000000"/>
                </a:solidFill>
                <a:ea typeface="Calibri"/>
                <a:cs typeface="Times New Roman"/>
              </a:rPr>
              <a:t>one example task</a:t>
            </a:r>
            <a:r>
              <a:rPr lang="en-HK" sz="2800">
                <a:solidFill>
                  <a:srgbClr val="000000"/>
                </a:solidFill>
                <a:ea typeface="Calibri"/>
                <a:cs typeface="Times New Roman"/>
              </a:rPr>
              <a:t> of each of the three process lifecycle activities (</a:t>
            </a:r>
            <a:r>
              <a:rPr lang="en-HK" sz="2800" b="1">
                <a:ea typeface="Calibri"/>
                <a:cs typeface="Times New Roman"/>
              </a:rPr>
              <a:t>system analysis</a:t>
            </a:r>
            <a:r>
              <a:rPr lang="en-HK" sz="2800">
                <a:solidFill>
                  <a:srgbClr val="000000"/>
                </a:solidFill>
                <a:ea typeface="Calibri"/>
                <a:cs typeface="Times New Roman"/>
              </a:rPr>
              <a:t>, </a:t>
            </a:r>
            <a:r>
              <a:rPr lang="en-HK" sz="2800" b="1">
                <a:solidFill>
                  <a:srgbClr val="000000"/>
                </a:solidFill>
                <a:ea typeface="Calibri"/>
                <a:cs typeface="Times New Roman"/>
              </a:rPr>
              <a:t>design</a:t>
            </a:r>
            <a:r>
              <a:rPr lang="en-HK" sz="2800">
                <a:solidFill>
                  <a:srgbClr val="000000"/>
                </a:solidFill>
                <a:ea typeface="Calibri"/>
                <a:cs typeface="Times New Roman"/>
              </a:rPr>
              <a:t>, and </a:t>
            </a:r>
            <a:r>
              <a:rPr lang="en-HK" sz="2800" b="1">
                <a:ea typeface="Calibri"/>
                <a:cs typeface="Times New Roman"/>
              </a:rPr>
              <a:t>testing</a:t>
            </a:r>
            <a:r>
              <a:rPr lang="en-HK" sz="2800">
                <a:ea typeface="Calibri"/>
                <a:cs typeface="Times New Roman"/>
              </a:rPr>
              <a:t>) that </a:t>
            </a:r>
            <a:r>
              <a:rPr lang="en-HK" sz="2800">
                <a:solidFill>
                  <a:srgbClr val="000000"/>
                </a:solidFill>
                <a:ea typeface="Calibri"/>
                <a:cs typeface="Times New Roman"/>
              </a:rPr>
              <a:t>the integration team may perform </a:t>
            </a:r>
            <a:r>
              <a:rPr lang="en-HK" sz="2800" b="1" u="sng">
                <a:solidFill>
                  <a:srgbClr val="000000"/>
                </a:solidFill>
                <a:ea typeface="Calibri"/>
                <a:cs typeface="Times New Roman"/>
              </a:rPr>
              <a:t>so that</a:t>
            </a:r>
            <a:r>
              <a:rPr lang="en-HK" sz="2800">
                <a:solidFill>
                  <a:srgbClr val="000000"/>
                </a:solidFill>
                <a:ea typeface="Calibri"/>
                <a:cs typeface="Times New Roman"/>
              </a:rPr>
              <a:t> it can integrate the new features delivered by the mobile team with the legacy system?  </a:t>
            </a:r>
            <a:endParaRPr lang="zh-CN" altLang="en-US"/>
          </a:p>
          <a:p>
            <a:pPr marL="398145" indent="-398145" algn="just">
              <a:buNone/>
            </a:pPr>
            <a:r>
              <a:rPr lang="en-US" altLang="zh-CN" sz="2800" b="1">
                <a:solidFill>
                  <a:srgbClr val="000000"/>
                </a:solidFill>
                <a:ea typeface="Calibri"/>
                <a:cs typeface="Calibri"/>
              </a:rPr>
              <a:t>[Marking Scheme] </a:t>
            </a:r>
            <a:endParaRPr lang="zh-CN" altLang="en-US" sz="2800" b="1">
              <a:solidFill>
                <a:srgbClr val="000000"/>
              </a:solidFill>
              <a:ea typeface="Calibri"/>
              <a:cs typeface="Times New Roman"/>
            </a:endParaRPr>
          </a:p>
          <a:p>
            <a:pPr marL="398145" indent="-398145" algn="just"/>
            <a:r>
              <a:rPr lang="en-HK" sz="2400">
                <a:solidFill>
                  <a:srgbClr val="000000"/>
                </a:solidFill>
                <a:ea typeface="Calibri"/>
                <a:cs typeface="Times New Roman"/>
              </a:rPr>
              <a:t>1 mark for describing a valid example of the system analysis task (still need to analyse what to integrate)</a:t>
            </a:r>
            <a:endParaRPr lang="en-US" sz="2400" b="0" i="0">
              <a:solidFill>
                <a:srgbClr val="000000"/>
              </a:solidFill>
              <a:effectLst/>
              <a:ea typeface="Calibri"/>
              <a:cs typeface="Times New Roman"/>
            </a:endParaRPr>
          </a:p>
          <a:p>
            <a:pPr marL="398145" indent="-398145" algn="just"/>
            <a:r>
              <a:rPr lang="en-HK" sz="2400">
                <a:solidFill>
                  <a:srgbClr val="000000"/>
                </a:solidFill>
                <a:ea typeface="Calibri"/>
                <a:cs typeface="Times New Roman"/>
              </a:rPr>
              <a:t>1 mark for describing a valid example of the design task (still need to design the integration such as </a:t>
            </a:r>
            <a:r>
              <a:rPr lang="en-HK" sz="2400" b="1" u="sng">
                <a:solidFill>
                  <a:srgbClr val="000000"/>
                </a:solidFill>
                <a:ea typeface="Calibri"/>
                <a:cs typeface="Times New Roman"/>
              </a:rPr>
              <a:t>developing the integration code and the protocol</a:t>
            </a:r>
            <a:r>
              <a:rPr lang="en-HK" sz="2400">
                <a:solidFill>
                  <a:srgbClr val="000000"/>
                </a:solidFill>
                <a:ea typeface="Calibri"/>
                <a:cs typeface="Times New Roman"/>
              </a:rPr>
              <a:t> to </a:t>
            </a:r>
            <a:r>
              <a:rPr lang="en-HK" sz="2400" b="1">
                <a:solidFill>
                  <a:srgbClr val="000000"/>
                </a:solidFill>
                <a:ea typeface="Calibri"/>
                <a:cs typeface="Times New Roman"/>
              </a:rPr>
              <a:t>make</a:t>
            </a:r>
            <a:r>
              <a:rPr lang="en-HK" sz="2400">
                <a:solidFill>
                  <a:srgbClr val="000000"/>
                </a:solidFill>
                <a:ea typeface="Calibri"/>
                <a:cs typeface="Times New Roman"/>
              </a:rPr>
              <a:t> the two subsystems communicate well as well as the coordination with the two teams)</a:t>
            </a:r>
            <a:endParaRPr lang="en-US" sz="2400">
              <a:solidFill>
                <a:srgbClr val="000000"/>
              </a:solidFill>
              <a:ea typeface="Calibri"/>
              <a:cs typeface="Times New Roman"/>
            </a:endParaRPr>
          </a:p>
          <a:p>
            <a:pPr marL="398145" indent="-398145" algn="just"/>
            <a:r>
              <a:rPr lang="en-HK" sz="2400">
                <a:solidFill>
                  <a:srgbClr val="000000"/>
                </a:solidFill>
                <a:ea typeface="Calibri"/>
                <a:cs typeface="Times New Roman"/>
              </a:rPr>
              <a:t>1 mark </a:t>
            </a:r>
            <a:r>
              <a:rPr lang="en-HK" sz="2400" b="0" i="0">
                <a:solidFill>
                  <a:srgbClr val="000000"/>
                </a:solidFill>
                <a:effectLst/>
                <a:ea typeface="Calibri"/>
                <a:cs typeface="Times New Roman"/>
              </a:rPr>
              <a:t>for </a:t>
            </a:r>
            <a:r>
              <a:rPr lang="en-HK" sz="2400">
                <a:solidFill>
                  <a:srgbClr val="000000"/>
                </a:solidFill>
                <a:ea typeface="Calibri"/>
                <a:cs typeface="Times New Roman"/>
              </a:rPr>
              <a:t>describing a valid example of the validation/testing task (test not only </a:t>
            </a:r>
            <a:r>
              <a:rPr lang="en-HK" sz="2400" b="1">
                <a:solidFill>
                  <a:srgbClr val="000000"/>
                </a:solidFill>
                <a:ea typeface="Calibri"/>
                <a:cs typeface="Times New Roman"/>
              </a:rPr>
              <a:t>the implementation of the integration code</a:t>
            </a:r>
            <a:r>
              <a:rPr lang="en-HK" sz="2400">
                <a:solidFill>
                  <a:srgbClr val="000000"/>
                </a:solidFill>
                <a:ea typeface="Calibri"/>
                <a:cs typeface="Times New Roman"/>
              </a:rPr>
              <a:t> but also </a:t>
            </a:r>
            <a:r>
              <a:rPr lang="en-HK" sz="2400" b="1">
                <a:ea typeface="Calibri"/>
                <a:cs typeface="Times New Roman"/>
              </a:rPr>
              <a:t>the integration of the whole system</a:t>
            </a:r>
            <a:r>
              <a:rPr lang="en-HK" sz="2400">
                <a:solidFill>
                  <a:srgbClr val="000000"/>
                </a:solidFill>
                <a:ea typeface="Calibri"/>
                <a:cs typeface="Times New Roman"/>
              </a:rPr>
              <a:t>)</a:t>
            </a:r>
            <a:endParaRPr lang="en-US" sz="2400">
              <a:solidFill>
                <a:srgbClr val="000000"/>
              </a:solidFill>
              <a:ea typeface="Calibri"/>
              <a:cs typeface="Times New Roman"/>
            </a:endParaRPr>
          </a:p>
          <a:p>
            <a:pPr marL="398145" indent="-398145"/>
            <a:endParaRPr lang="en-HK">
              <a:solidFill>
                <a:srgbClr val="000000"/>
              </a:solidFill>
              <a:ea typeface="Calibri"/>
              <a:cs typeface="Times New Roman"/>
            </a:endParaRPr>
          </a:p>
        </p:txBody>
      </p:sp>
    </p:spTree>
    <p:extLst>
      <p:ext uri="{BB962C8B-B14F-4D97-AF65-F5344CB8AC3E}">
        <p14:creationId xmlns:p14="http://schemas.microsoft.com/office/powerpoint/2010/main" val="321759708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9E5BD-286A-47FD-1C6D-2E58B16F4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B6BD9-FF50-480B-26DB-688F101C223C}"/>
              </a:ext>
            </a:extLst>
          </p:cNvPr>
          <p:cNvSpPr>
            <a:spLocks noGrp="1"/>
          </p:cNvSpPr>
          <p:nvPr>
            <p:ph type="title"/>
          </p:nvPr>
        </p:nvSpPr>
        <p:spPr/>
        <p:txBody>
          <a:bodyPr/>
          <a:lstStyle/>
          <a:p>
            <a:r>
              <a:rPr lang="en-HK" altLang="zh-CN"/>
              <a:t>Scenario 1 Q3:</a:t>
            </a:r>
            <a:endParaRPr lang="en-US" altLang="zh-CN">
              <a:cs typeface="Times New Roman"/>
            </a:endParaRPr>
          </a:p>
        </p:txBody>
      </p:sp>
      <p:sp>
        <p:nvSpPr>
          <p:cNvPr id="3" name="Content Placeholder 2">
            <a:extLst>
              <a:ext uri="{FF2B5EF4-FFF2-40B4-BE49-F238E27FC236}">
                <a16:creationId xmlns:a16="http://schemas.microsoft.com/office/drawing/2014/main" id="{464706E2-28D3-2E65-EB7B-6FB1BAF7A4D4}"/>
              </a:ext>
            </a:extLst>
          </p:cNvPr>
          <p:cNvSpPr>
            <a:spLocks noGrp="1"/>
          </p:cNvSpPr>
          <p:nvPr>
            <p:ph idx="1"/>
          </p:nvPr>
        </p:nvSpPr>
        <p:spPr>
          <a:xfrm>
            <a:off x="508163" y="1463964"/>
            <a:ext cx="11124858" cy="4953000"/>
          </a:xfrm>
        </p:spPr>
        <p:txBody>
          <a:bodyPr/>
          <a:lstStyle/>
          <a:p>
            <a:pPr marL="398145" indent="-398145" algn="just">
              <a:buNone/>
            </a:pPr>
            <a:r>
              <a:rPr lang="en-US" sz="2800" b="1" kern="100">
                <a:ea typeface="+mn-lt"/>
                <a:cs typeface="+mn-lt"/>
              </a:rPr>
              <a:t>[Reference Answers] </a:t>
            </a:r>
            <a:endParaRPr lang="en-HK" sz="2800" kern="100">
              <a:ea typeface="+mn-lt"/>
              <a:cs typeface="+mn-lt"/>
            </a:endParaRPr>
          </a:p>
          <a:p>
            <a:pPr marL="398145" indent="-398145"/>
            <a:r>
              <a:rPr lang="en-HK" sz="2800" kern="100">
                <a:ea typeface="+mn-lt"/>
                <a:cs typeface="+mn-lt"/>
              </a:rPr>
              <a:t>The integration team should perform </a:t>
            </a:r>
            <a:endParaRPr lang="en-HK" sz="2800">
              <a:cs typeface="Times New Roman"/>
            </a:endParaRPr>
          </a:p>
          <a:p>
            <a:pPr marL="861695" lvl="1"/>
            <a:r>
              <a:rPr lang="en-HK" b="1" kern="100">
                <a:ea typeface="+mn-lt"/>
                <a:cs typeface="+mn-lt"/>
              </a:rPr>
              <a:t>analysis</a:t>
            </a:r>
            <a:r>
              <a:rPr lang="en-HK" kern="100">
                <a:ea typeface="+mn-lt"/>
                <a:cs typeface="+mn-lt"/>
              </a:rPr>
              <a:t> (e.g., break down the deliverables of the mobile subsystem development team in each sprint/cycle into management), </a:t>
            </a:r>
            <a:endParaRPr lang="zh-CN">
              <a:ea typeface="+mn-lt"/>
              <a:cs typeface="+mn-lt"/>
            </a:endParaRPr>
          </a:p>
          <a:p>
            <a:pPr marL="861695" lvl="1"/>
            <a:r>
              <a:rPr lang="en-HK" b="1" kern="100">
                <a:ea typeface="+mn-lt"/>
                <a:cs typeface="+mn-lt"/>
              </a:rPr>
              <a:t>design </a:t>
            </a:r>
            <a:r>
              <a:rPr lang="en-HK" kern="100">
                <a:ea typeface="+mn-lt"/>
                <a:cs typeface="+mn-lt"/>
              </a:rPr>
              <a:t>(plan the integration of the that allow for testing and validation), and </a:t>
            </a:r>
            <a:endParaRPr lang="en-HK"/>
          </a:p>
          <a:p>
            <a:pPr marL="861695" lvl="1"/>
            <a:r>
              <a:rPr lang="en-HK" b="1" kern="100">
                <a:ea typeface="+mn-lt"/>
                <a:cs typeface="+mn-lt"/>
              </a:rPr>
              <a:t>testing</a:t>
            </a:r>
            <a:r>
              <a:rPr lang="en-HK" kern="100">
                <a:ea typeface="+mn-lt"/>
                <a:cs typeface="+mn-lt"/>
              </a:rPr>
              <a:t> (validate the combined functionality, and coordinate with both legacy and mobile teams to ensure compatibility).  </a:t>
            </a:r>
            <a:endParaRPr lang="en-HK"/>
          </a:p>
          <a:p>
            <a:pPr marL="398145" indent="-398145"/>
            <a:endParaRPr lang="en-HK" sz="2400" kern="100">
              <a:cs typeface="Times New Roman"/>
            </a:endParaRPr>
          </a:p>
          <a:p>
            <a:pPr marL="0" indent="0">
              <a:lnSpc>
                <a:spcPct val="114999"/>
              </a:lnSpc>
              <a:spcAft>
                <a:spcPts val="800"/>
              </a:spcAft>
              <a:buNone/>
            </a:pPr>
            <a:endParaRPr lang="en-HK" altLang="zh-CN" sz="2400" kern="10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6309358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4B1C-3A22-F764-1FD8-2C8B1A53D1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74B12-FED3-D283-4B1F-ABFEBA542556}"/>
              </a:ext>
            </a:extLst>
          </p:cNvPr>
          <p:cNvSpPr>
            <a:spLocks noGrp="1"/>
          </p:cNvSpPr>
          <p:nvPr>
            <p:ph type="title"/>
          </p:nvPr>
        </p:nvSpPr>
        <p:spPr/>
        <p:txBody>
          <a:bodyPr/>
          <a:lstStyle/>
          <a:p>
            <a:r>
              <a:rPr lang="en-HK"/>
              <a:t>Scenario 1 Q3:</a:t>
            </a:r>
            <a:endParaRPr lang="en-US"/>
          </a:p>
        </p:txBody>
      </p:sp>
      <p:sp>
        <p:nvSpPr>
          <p:cNvPr id="3" name="Content Placeholder 2">
            <a:extLst>
              <a:ext uri="{FF2B5EF4-FFF2-40B4-BE49-F238E27FC236}">
                <a16:creationId xmlns:a16="http://schemas.microsoft.com/office/drawing/2014/main" id="{D70AF968-3A5B-FAD6-0758-BA45F9932044}"/>
              </a:ext>
            </a:extLst>
          </p:cNvPr>
          <p:cNvSpPr>
            <a:spLocks noGrp="1"/>
          </p:cNvSpPr>
          <p:nvPr>
            <p:ph idx="1"/>
          </p:nvPr>
        </p:nvSpPr>
        <p:spPr>
          <a:xfrm>
            <a:off x="387358" y="1527717"/>
            <a:ext cx="11124858" cy="4953000"/>
          </a:xfrm>
        </p:spPr>
        <p:txBody>
          <a:bodyPr/>
          <a:lstStyle/>
          <a:p>
            <a:pPr marL="0" indent="0" algn="just">
              <a:spcBef>
                <a:spcPts val="1400"/>
              </a:spcBef>
              <a:spcAft>
                <a:spcPts val="0"/>
              </a:spcAft>
              <a:buNone/>
            </a:pPr>
            <a:r>
              <a:rPr lang="en-HK" sz="2800">
                <a:solidFill>
                  <a:srgbClr val="000000"/>
                </a:solidFill>
                <a:ea typeface="Calibri"/>
                <a:cs typeface="Times New Roman"/>
              </a:rPr>
              <a:t>Moreover, for question Q1 in Scenario 1, you (student</a:t>
            </a:r>
            <a:r>
              <a:rPr lang="en-HK" sz="2800">
                <a:ea typeface="Calibri"/>
                <a:cs typeface="Times New Roman"/>
              </a:rPr>
              <a:t>) should have selected </a:t>
            </a:r>
            <a:r>
              <a:rPr lang="en-HK" sz="2800" b="1">
                <a:ea typeface="Calibri"/>
                <a:cs typeface="Times New Roman"/>
              </a:rPr>
              <a:t>a process model for </a:t>
            </a:r>
            <a:r>
              <a:rPr lang="en-HK" sz="2800" b="1">
                <a:solidFill>
                  <a:srgbClr val="000000"/>
                </a:solidFill>
                <a:ea typeface="Calibri"/>
                <a:cs typeface="Times New Roman"/>
              </a:rPr>
              <a:t>the integration team</a:t>
            </a:r>
            <a:r>
              <a:rPr lang="en-HK" sz="2800">
                <a:solidFill>
                  <a:srgbClr val="000000"/>
                </a:solidFill>
                <a:ea typeface="Calibri"/>
                <a:cs typeface="Times New Roman"/>
              </a:rPr>
              <a:t>. What is </a:t>
            </a:r>
            <a:r>
              <a:rPr lang="en-HK" sz="2800" b="1">
                <a:solidFill>
                  <a:srgbClr val="000000"/>
                </a:solidFill>
                <a:ea typeface="Calibri"/>
                <a:cs typeface="Times New Roman"/>
              </a:rPr>
              <a:t>the constraint</a:t>
            </a:r>
            <a:r>
              <a:rPr lang="en-HK" sz="2800">
                <a:solidFill>
                  <a:srgbClr val="000000"/>
                </a:solidFill>
                <a:ea typeface="Calibri"/>
                <a:cs typeface="Times New Roman"/>
              </a:rPr>
              <a:t> you will impose on the order of these lifecycles activities </a:t>
            </a:r>
            <a:r>
              <a:rPr lang="en-HK" sz="2800" b="1">
                <a:solidFill>
                  <a:srgbClr val="000000"/>
                </a:solidFill>
                <a:ea typeface="Calibri"/>
                <a:cs typeface="Times New Roman"/>
              </a:rPr>
              <a:t>to deal with all releases</a:t>
            </a:r>
            <a:r>
              <a:rPr lang="en-HK" sz="2800">
                <a:solidFill>
                  <a:srgbClr val="000000"/>
                </a:solidFill>
                <a:ea typeface="Calibri"/>
                <a:cs typeface="Times New Roman"/>
              </a:rPr>
              <a:t> by the mobile team throughout the project lifespan?</a:t>
            </a:r>
            <a:endParaRPr lang="zh-CN"/>
          </a:p>
          <a:p>
            <a:pPr marL="398145" indent="-398145" algn="just">
              <a:buNone/>
            </a:pPr>
            <a:r>
              <a:rPr lang="en-US" sz="2800" b="1">
                <a:solidFill>
                  <a:srgbClr val="000000"/>
                </a:solidFill>
                <a:ea typeface="Calibri"/>
                <a:cs typeface="Times New Roman"/>
              </a:rPr>
              <a:t>[Marking Scheme] </a:t>
            </a:r>
            <a:endParaRPr lang="zh-CN">
              <a:cs typeface="Times New Roman"/>
            </a:endParaRPr>
          </a:p>
          <a:p>
            <a:pPr marL="398145" indent="-398145" algn="just"/>
            <a:r>
              <a:rPr lang="en-HK" sz="2400">
                <a:solidFill>
                  <a:srgbClr val="000000"/>
                </a:solidFill>
                <a:ea typeface="Calibri"/>
                <a:cs typeface="Times New Roman"/>
              </a:rPr>
              <a:t>1 mark for mentioning phased integration over all increments provided by the mobile team.</a:t>
            </a:r>
          </a:p>
          <a:p>
            <a:pPr marL="0" indent="0" algn="just">
              <a:buNone/>
            </a:pPr>
            <a:r>
              <a:rPr lang="en-US" sz="2800" b="1">
                <a:solidFill>
                  <a:srgbClr val="000000"/>
                </a:solidFill>
                <a:ea typeface="Calibri"/>
                <a:cs typeface="Times New Roman"/>
              </a:rPr>
              <a:t>[Reference Answers] </a:t>
            </a:r>
            <a:endParaRPr lang="en-HK" sz="2400">
              <a:solidFill>
                <a:srgbClr val="000000"/>
              </a:solidFill>
              <a:ea typeface="Calibri"/>
              <a:cs typeface="Times New Roman"/>
            </a:endParaRPr>
          </a:p>
          <a:p>
            <a:pPr marL="398145" indent="-398145"/>
            <a:r>
              <a:rPr lang="en-HK" sz="2400">
                <a:solidFill>
                  <a:srgbClr val="000000"/>
                </a:solidFill>
                <a:ea typeface="Calibri"/>
                <a:cs typeface="Times New Roman"/>
              </a:rPr>
              <a:t>Since </a:t>
            </a:r>
            <a:r>
              <a:rPr lang="en-HK" sz="2400" b="1">
                <a:solidFill>
                  <a:srgbClr val="000000"/>
                </a:solidFill>
                <a:ea typeface="Calibri"/>
                <a:cs typeface="Times New Roman"/>
              </a:rPr>
              <a:t>incremental development</a:t>
            </a:r>
            <a:r>
              <a:rPr lang="en-HK" sz="2400">
                <a:solidFill>
                  <a:srgbClr val="000000"/>
                </a:solidFill>
                <a:ea typeface="Calibri"/>
                <a:cs typeface="Times New Roman"/>
              </a:rPr>
              <a:t> has been selected as the software process model, </a:t>
            </a:r>
            <a:r>
              <a:rPr lang="en-HK" sz="2400" b="1">
                <a:solidFill>
                  <a:srgbClr val="000000"/>
                </a:solidFill>
                <a:ea typeface="Calibri"/>
                <a:cs typeface="Times New Roman"/>
              </a:rPr>
              <a:t>the integration team</a:t>
            </a:r>
            <a:r>
              <a:rPr lang="en-HK" sz="2400">
                <a:solidFill>
                  <a:srgbClr val="000000"/>
                </a:solidFill>
                <a:ea typeface="Calibri"/>
                <a:cs typeface="Times New Roman"/>
              </a:rPr>
              <a:t> should ensure that </a:t>
            </a:r>
            <a:r>
              <a:rPr lang="en-HK" sz="2400" b="1">
                <a:solidFill>
                  <a:srgbClr val="000000"/>
                </a:solidFill>
                <a:ea typeface="Calibri"/>
                <a:cs typeface="Times New Roman"/>
              </a:rPr>
              <a:t>the integration of the features</a:t>
            </a:r>
            <a:r>
              <a:rPr lang="en-HK" sz="2400">
                <a:solidFill>
                  <a:srgbClr val="000000"/>
                </a:solidFill>
                <a:ea typeface="Calibri"/>
                <a:cs typeface="Times New Roman"/>
              </a:rPr>
              <a:t> delivered in each release delivered by the mobile team to the legacy system </a:t>
            </a:r>
            <a:r>
              <a:rPr lang="en-HK" sz="2400" b="1">
                <a:solidFill>
                  <a:srgbClr val="000000"/>
                </a:solidFill>
                <a:ea typeface="Calibri"/>
                <a:cs typeface="Times New Roman"/>
              </a:rPr>
              <a:t>should be completed before</a:t>
            </a:r>
            <a:r>
              <a:rPr lang="en-HK" sz="2400">
                <a:solidFill>
                  <a:srgbClr val="000000"/>
                </a:solidFill>
                <a:ea typeface="Calibri"/>
                <a:cs typeface="Times New Roman"/>
              </a:rPr>
              <a:t> the integration of the next release provided by the mobile team.</a:t>
            </a:r>
            <a:endParaRPr lang="en-HK">
              <a:solidFill>
                <a:srgbClr val="000000"/>
              </a:solidFill>
              <a:ea typeface="Calibri"/>
              <a:cs typeface="Times New Roman"/>
            </a:endParaRPr>
          </a:p>
        </p:txBody>
      </p:sp>
    </p:spTree>
    <p:extLst>
      <p:ext uri="{BB962C8B-B14F-4D97-AF65-F5344CB8AC3E}">
        <p14:creationId xmlns:p14="http://schemas.microsoft.com/office/powerpoint/2010/main" val="343711111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D0A2D-29DB-4F0F-82DB-B984572BA815}"/>
              </a:ext>
            </a:extLst>
          </p:cNvPr>
          <p:cNvSpPr>
            <a:spLocks noGrp="1"/>
          </p:cNvSpPr>
          <p:nvPr>
            <p:ph type="title"/>
          </p:nvPr>
        </p:nvSpPr>
        <p:spPr/>
        <p:txBody>
          <a:bodyPr/>
          <a:lstStyle/>
          <a:p>
            <a:r>
              <a:rPr lang="en-HK" altLang="zh-CN"/>
              <a:t>Scenario 1 Q</a:t>
            </a:r>
            <a:r>
              <a:rPr lang="en-US" altLang="zh-TW"/>
              <a:t>4</a:t>
            </a:r>
            <a:r>
              <a:rPr lang="en-HK" altLang="zh-CN"/>
              <a:t>: </a:t>
            </a:r>
            <a:r>
              <a:rPr lang="en-US" altLang="zh-CN"/>
              <a:t>Marking Scheme</a:t>
            </a:r>
            <a:endParaRPr lang="en-HK"/>
          </a:p>
        </p:txBody>
      </p:sp>
      <p:sp>
        <p:nvSpPr>
          <p:cNvPr id="3" name="Content Placeholder 2">
            <a:extLst>
              <a:ext uri="{FF2B5EF4-FFF2-40B4-BE49-F238E27FC236}">
                <a16:creationId xmlns:a16="http://schemas.microsoft.com/office/drawing/2014/main" id="{2CA3A035-33FC-4C76-A203-9CDED530E525}"/>
              </a:ext>
            </a:extLst>
          </p:cNvPr>
          <p:cNvSpPr>
            <a:spLocks noGrp="1"/>
          </p:cNvSpPr>
          <p:nvPr>
            <p:ph idx="1"/>
          </p:nvPr>
        </p:nvSpPr>
        <p:spPr>
          <a:xfrm>
            <a:off x="257310" y="1371600"/>
            <a:ext cx="11124858" cy="4953000"/>
          </a:xfrm>
        </p:spPr>
        <p:txBody>
          <a:bodyPr/>
          <a:lstStyle/>
          <a:p>
            <a:pPr marL="0" indent="0">
              <a:lnSpc>
                <a:spcPct val="115000"/>
              </a:lnSpc>
              <a:buNone/>
            </a:pPr>
            <a:r>
              <a:rPr lang="en-US" altLang="zh-TW" sz="2400" kern="100">
                <a:ea typeface="DengXian" panose="02010600030101010101" pitchFamily="2" charset="-122"/>
                <a:cs typeface="Times New Roman" panose="02020603050405020304" pitchFamily="18" charset="0"/>
              </a:rPr>
              <a:t>The project manager aims to ensure rapid response to user feedback including changes in requirements and the feedback on implementation. What </a:t>
            </a:r>
            <a:r>
              <a:rPr lang="en-US" altLang="zh-TW" sz="2400" b="1" kern="100">
                <a:ea typeface="DengXian" panose="02010600030101010101" pitchFamily="2" charset="-122"/>
                <a:cs typeface="Times New Roman" panose="02020603050405020304" pitchFamily="18" charset="0"/>
              </a:rPr>
              <a:t>specific Agile practices </a:t>
            </a:r>
            <a:r>
              <a:rPr lang="en-US" altLang="zh-TW" sz="2400" kern="100">
                <a:ea typeface="DengXian" panose="02010600030101010101" pitchFamily="2" charset="-122"/>
                <a:cs typeface="Times New Roman" panose="02020603050405020304" pitchFamily="18" charset="0"/>
              </a:rPr>
              <a:t>should be implemented to achieve this? Also explain how each practice you provide help the project to achieve these two goals.  Give three such practices.</a:t>
            </a:r>
            <a:endParaRPr lang="en" altLang="zh-TW" sz="2400" kern="100">
              <a:effectLst/>
              <a:ea typeface="DengXian" panose="02010600030101010101" pitchFamily="2" charset="-122"/>
              <a:cs typeface="Times New Roman" panose="02020603050405020304" pitchFamily="18" charset="0"/>
            </a:endParaRPr>
          </a:p>
          <a:p>
            <a:pPr>
              <a:lnSpc>
                <a:spcPct val="115000"/>
              </a:lnSpc>
            </a:pPr>
            <a:endParaRPr lang="en" altLang="zh-TW" sz="2400" kern="100">
              <a:ea typeface="DengXian" panose="02010600030101010101" pitchFamily="2" charset="-122"/>
              <a:cs typeface="Times New Roman" panose="02020603050405020304" pitchFamily="18" charset="0"/>
            </a:endParaRPr>
          </a:p>
          <a:p>
            <a:pPr>
              <a:lnSpc>
                <a:spcPct val="115000"/>
              </a:lnSpc>
            </a:pPr>
            <a:r>
              <a:rPr lang="en" altLang="zh-TW" sz="2400" kern="100">
                <a:effectLst/>
                <a:ea typeface="DengXian" panose="02010600030101010101" pitchFamily="2" charset="-122"/>
                <a:cs typeface="Times New Roman" panose="02020603050405020304" pitchFamily="18" charset="0"/>
              </a:rPr>
              <a:t>1 mark for naming </a:t>
            </a:r>
            <a:r>
              <a:rPr lang="en" altLang="zh-TW" sz="2400" b="1" kern="100">
                <a:effectLst/>
                <a:ea typeface="DengXian" panose="02010600030101010101" pitchFamily="2" charset="-122"/>
                <a:cs typeface="Times New Roman" panose="02020603050405020304" pitchFamily="18" charset="0"/>
              </a:rPr>
              <a:t>specific Agile practices</a:t>
            </a:r>
            <a:r>
              <a:rPr lang="en" altLang="zh-TW" sz="2400" kern="100">
                <a:effectLst/>
                <a:ea typeface="DengXian" panose="02010600030101010101" pitchFamily="2" charset="-122"/>
                <a:cs typeface="Times New Roman" panose="02020603050405020304" pitchFamily="18" charset="0"/>
              </a:rPr>
              <a:t> (e.g., sprints, reviews, stand-ups, backlog), up to 3 practices.</a:t>
            </a:r>
            <a:endParaRPr lang="en" altLang="zh-TW" sz="2400" kern="100">
              <a:ea typeface="DengXian" panose="02010600030101010101" pitchFamily="2" charset="-122"/>
              <a:cs typeface="Times New Roman" panose="02020603050405020304" pitchFamily="18" charset="0"/>
            </a:endParaRPr>
          </a:p>
          <a:p>
            <a:pPr>
              <a:lnSpc>
                <a:spcPct val="115000"/>
              </a:lnSpc>
            </a:pPr>
            <a:endParaRPr lang="en" altLang="zh-TW" sz="2400" kern="100">
              <a:effectLst/>
              <a:ea typeface="DengXian" panose="02010600030101010101" pitchFamily="2" charset="-122"/>
              <a:cs typeface="Times New Roman" panose="02020603050405020304" pitchFamily="18" charset="0"/>
            </a:endParaRPr>
          </a:p>
          <a:p>
            <a:pPr>
              <a:lnSpc>
                <a:spcPct val="115000"/>
              </a:lnSpc>
            </a:pPr>
            <a:r>
              <a:rPr lang="en" altLang="zh-TW" sz="2400" kern="100">
                <a:effectLst/>
                <a:ea typeface="DengXian" panose="02010600030101010101" pitchFamily="2" charset="-122"/>
                <a:cs typeface="Times New Roman" panose="02020603050405020304" pitchFamily="18" charset="0"/>
              </a:rPr>
              <a:t>1 mark for explaining how each practice helps with feedback and adaptation</a:t>
            </a:r>
          </a:p>
          <a:p>
            <a:pPr marL="0" indent="0">
              <a:lnSpc>
                <a:spcPct val="115000"/>
              </a:lnSpc>
              <a:buNone/>
            </a:pPr>
            <a:endParaRPr lang="zh-CN" altLang="zh-CN" sz="2400" kern="100">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765344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D0A2D-29DB-4F0F-82DB-B984572BA815}"/>
              </a:ext>
            </a:extLst>
          </p:cNvPr>
          <p:cNvSpPr>
            <a:spLocks noGrp="1"/>
          </p:cNvSpPr>
          <p:nvPr>
            <p:ph type="title"/>
          </p:nvPr>
        </p:nvSpPr>
        <p:spPr/>
        <p:txBody>
          <a:bodyPr/>
          <a:lstStyle/>
          <a:p>
            <a:r>
              <a:rPr lang="en-HK" altLang="zh-CN"/>
              <a:t>Scenario 1 Q</a:t>
            </a:r>
            <a:r>
              <a:rPr lang="en-US" altLang="zh-TW"/>
              <a:t>4</a:t>
            </a:r>
            <a:r>
              <a:rPr lang="en-HK" altLang="zh-CN"/>
              <a:t>: Reference </a:t>
            </a:r>
            <a:r>
              <a:rPr lang="en-US" altLang="zh-CN"/>
              <a:t>Answers</a:t>
            </a:r>
            <a:endParaRPr lang="en-HK"/>
          </a:p>
        </p:txBody>
      </p:sp>
      <p:sp>
        <p:nvSpPr>
          <p:cNvPr id="3" name="Content Placeholder 2">
            <a:extLst>
              <a:ext uri="{FF2B5EF4-FFF2-40B4-BE49-F238E27FC236}">
                <a16:creationId xmlns:a16="http://schemas.microsoft.com/office/drawing/2014/main" id="{2CA3A035-33FC-4C76-A203-9CDED530E525}"/>
              </a:ext>
            </a:extLst>
          </p:cNvPr>
          <p:cNvSpPr>
            <a:spLocks noGrp="1"/>
          </p:cNvSpPr>
          <p:nvPr>
            <p:ph idx="1"/>
          </p:nvPr>
        </p:nvSpPr>
        <p:spPr>
          <a:xfrm>
            <a:off x="508163" y="1371600"/>
            <a:ext cx="11124858" cy="4953000"/>
          </a:xfrm>
        </p:spPr>
        <p:txBody>
          <a:bodyPr/>
          <a:lstStyle/>
          <a:p>
            <a:pPr>
              <a:lnSpc>
                <a:spcPct val="115000"/>
              </a:lnSpc>
              <a:spcAft>
                <a:spcPts val="800"/>
              </a:spcAft>
            </a:pPr>
            <a:r>
              <a:rPr lang="en-HK" altLang="zh-CN" sz="2400" kern="100">
                <a:effectLst/>
                <a:ea typeface="DengXian" panose="02010600030101010101" pitchFamily="2" charset="-122"/>
                <a:cs typeface="Times New Roman" panose="02020603050405020304" pitchFamily="18" charset="0"/>
              </a:rPr>
              <a:t>Implement the following practices:</a:t>
            </a:r>
            <a:endParaRPr lang="zh-CN" altLang="zh-CN" sz="2400" kern="100">
              <a:effectLst/>
              <a:ea typeface="DengXian" panose="02010600030101010101" pitchFamily="2" charset="-122"/>
              <a:cs typeface="Times New Roman" panose="02020603050405020304" pitchFamily="18" charset="0"/>
            </a:endParaRPr>
          </a:p>
          <a:p>
            <a:pPr marL="0" lvl="0" indent="0">
              <a:lnSpc>
                <a:spcPct val="115000"/>
              </a:lnSpc>
              <a:buNone/>
            </a:pPr>
            <a:r>
              <a:rPr lang="en-US" altLang="zh-CN" sz="2400" kern="100">
                <a:effectLst/>
                <a:ea typeface="DengXian" panose="02010600030101010101" pitchFamily="2" charset="-122"/>
                <a:cs typeface="Times New Roman" panose="02020603050405020304" pitchFamily="18" charset="0"/>
              </a:rPr>
              <a:t>1.</a:t>
            </a:r>
            <a:r>
              <a:rPr lang="zh-CN" altLang="en-US" sz="2400" kern="100">
                <a:effectLst/>
                <a:ea typeface="DengXian" panose="02010600030101010101" pitchFamily="2" charset="-122"/>
                <a:cs typeface="Times New Roman" panose="02020603050405020304" pitchFamily="18" charset="0"/>
              </a:rPr>
              <a:t> </a:t>
            </a:r>
            <a:r>
              <a:rPr lang="en-HK" altLang="zh-CN" sz="2400" kern="100">
                <a:effectLst/>
                <a:ea typeface="DengXian" panose="02010600030101010101" pitchFamily="2" charset="-122"/>
                <a:cs typeface="Times New Roman" panose="02020603050405020304" pitchFamily="18" charset="0"/>
              </a:rPr>
              <a:t>short development sprints</a:t>
            </a:r>
            <a:r>
              <a:rPr lang="en-US" altLang="zh-CN" sz="2400" kern="100">
                <a:effectLst/>
                <a:ea typeface="DengXian" panose="02010600030101010101" pitchFamily="2" charset="-122"/>
                <a:cs typeface="Times New Roman" panose="02020603050405020304" pitchFamily="18" charset="0"/>
              </a:rPr>
              <a:t>;</a:t>
            </a:r>
            <a:r>
              <a:rPr lang="en-HK" altLang="zh-CN" sz="2400" kern="100">
                <a:effectLst/>
                <a:ea typeface="DengXian" panose="02010600030101010101" pitchFamily="2" charset="-122"/>
                <a:cs typeface="Times New Roman" panose="02020603050405020304" pitchFamily="18" charset="0"/>
              </a:rPr>
              <a:t> </a:t>
            </a:r>
            <a:r>
              <a:rPr lang="en-US" altLang="zh-CN" sz="2400" kern="100">
                <a:ea typeface="DengXian" panose="02010600030101010101" pitchFamily="2" charset="-122"/>
                <a:cs typeface="Times New Roman" panose="02020603050405020304" pitchFamily="18" charset="0"/>
              </a:rPr>
              <a:t>2.</a:t>
            </a:r>
            <a:r>
              <a:rPr lang="zh-CN" altLang="en-US" sz="2400" kern="100">
                <a:ea typeface="DengXian" panose="02010600030101010101" pitchFamily="2" charset="-122"/>
                <a:cs typeface="Times New Roman" panose="02020603050405020304" pitchFamily="18" charset="0"/>
              </a:rPr>
              <a:t> </a:t>
            </a:r>
            <a:r>
              <a:rPr lang="en-HK" altLang="zh-CN" sz="2400" kern="100">
                <a:effectLst/>
                <a:ea typeface="DengXian" panose="02010600030101010101" pitchFamily="2" charset="-122"/>
                <a:cs typeface="Times New Roman" panose="02020603050405020304" pitchFamily="18" charset="0"/>
              </a:rPr>
              <a:t>regular sprint reviews and sprint meeting (e.g., daily stand-up meetings) to enable frequent feedback</a:t>
            </a:r>
            <a:r>
              <a:rPr lang="en-US" altLang="zh-CN" sz="2400" kern="100">
                <a:ea typeface="DengXian" panose="02010600030101010101" pitchFamily="2" charset="-122"/>
                <a:cs typeface="Times New Roman" panose="02020603050405020304" pitchFamily="18" charset="0"/>
              </a:rPr>
              <a:t>;</a:t>
            </a:r>
            <a:r>
              <a:rPr lang="zh-CN" altLang="en-US" sz="2400" kern="100">
                <a:ea typeface="DengXian" panose="02010600030101010101" pitchFamily="2" charset="-122"/>
                <a:cs typeface="Times New Roman" panose="02020603050405020304" pitchFamily="18" charset="0"/>
              </a:rPr>
              <a:t> </a:t>
            </a:r>
            <a:r>
              <a:rPr lang="en-US" altLang="zh-CN" sz="2400" kern="100">
                <a:ea typeface="DengXian" panose="02010600030101010101" pitchFamily="2" charset="-122"/>
                <a:cs typeface="Times New Roman" panose="02020603050405020304" pitchFamily="18" charset="0"/>
              </a:rPr>
              <a:t>3.</a:t>
            </a:r>
            <a:r>
              <a:rPr lang="zh-CN" altLang="en-US" sz="2400" kern="100">
                <a:ea typeface="DengXian" panose="02010600030101010101" pitchFamily="2" charset="-122"/>
                <a:cs typeface="Times New Roman" panose="02020603050405020304" pitchFamily="18" charset="0"/>
              </a:rPr>
              <a:t> </a:t>
            </a:r>
            <a:r>
              <a:rPr lang="en-HK" altLang="zh-CN" sz="2400" kern="100">
                <a:effectLst/>
                <a:ea typeface="DengXian" panose="02010600030101010101" pitchFamily="2" charset="-122"/>
                <a:cs typeface="Times New Roman" panose="02020603050405020304" pitchFamily="18" charset="0"/>
              </a:rPr>
              <a:t>prioritize backlogs</a:t>
            </a:r>
            <a:r>
              <a:rPr lang="en-US" altLang="zh-CN" sz="2400" kern="100">
                <a:effectLst/>
                <a:ea typeface="DengXian" panose="02010600030101010101" pitchFamily="2" charset="-122"/>
                <a:cs typeface="Times New Roman" panose="02020603050405020304" pitchFamily="18" charset="0"/>
              </a:rPr>
              <a:t>;</a:t>
            </a:r>
            <a:r>
              <a:rPr lang="zh-CN" altLang="en-US" sz="2400" kern="100">
                <a:effectLst/>
                <a:ea typeface="DengXian" panose="02010600030101010101" pitchFamily="2" charset="-122"/>
                <a:cs typeface="Times New Roman" panose="02020603050405020304" pitchFamily="18" charset="0"/>
              </a:rPr>
              <a:t> </a:t>
            </a:r>
            <a:r>
              <a:rPr lang="en-US" altLang="zh-CN" sz="2400" kern="100">
                <a:effectLst/>
                <a:ea typeface="DengXian" panose="02010600030101010101" pitchFamily="2" charset="-122"/>
                <a:cs typeface="Times New Roman" panose="02020603050405020304" pitchFamily="18" charset="0"/>
              </a:rPr>
              <a:t>4.</a:t>
            </a:r>
            <a:r>
              <a:rPr lang="zh-CN" altLang="en-US" sz="2400" kern="100">
                <a:effectLst/>
                <a:ea typeface="DengXian" panose="02010600030101010101" pitchFamily="2" charset="-122"/>
                <a:cs typeface="Times New Roman" panose="02020603050405020304" pitchFamily="18" charset="0"/>
              </a:rPr>
              <a:t> </a:t>
            </a:r>
            <a:r>
              <a:rPr lang="en-HK" altLang="zh-CN" sz="2400" kern="100">
                <a:effectLst/>
                <a:ea typeface="DengXian" panose="02010600030101010101" pitchFamily="2" charset="-122"/>
                <a:cs typeface="Times New Roman" panose="02020603050405020304" pitchFamily="18" charset="0"/>
              </a:rPr>
              <a:t>user participation in validating the completion of a backlog task to manage changing requirements</a:t>
            </a:r>
            <a:r>
              <a:rPr lang="en-US" altLang="zh-CN" sz="2400" kern="100">
                <a:ea typeface="DengXian" panose="02010600030101010101" pitchFamily="2" charset="-122"/>
                <a:cs typeface="Times New Roman" panose="02020603050405020304" pitchFamily="18" charset="0"/>
              </a:rPr>
              <a:t>;</a:t>
            </a:r>
            <a:r>
              <a:rPr lang="zh-CN" altLang="en-US" sz="2400" kern="100">
                <a:ea typeface="DengXian" panose="02010600030101010101" pitchFamily="2" charset="-122"/>
                <a:cs typeface="Times New Roman" panose="02020603050405020304" pitchFamily="18" charset="0"/>
              </a:rPr>
              <a:t> </a:t>
            </a:r>
            <a:r>
              <a:rPr lang="en-US" altLang="zh-CN" sz="2400" kern="100">
                <a:ea typeface="DengXian" panose="02010600030101010101" pitchFamily="2" charset="-122"/>
                <a:cs typeface="Times New Roman" panose="02020603050405020304" pitchFamily="18" charset="0"/>
              </a:rPr>
              <a:t>5.</a:t>
            </a:r>
            <a:r>
              <a:rPr lang="zh-CN" altLang="en-US" sz="2400" kern="100">
                <a:ea typeface="DengXian" panose="02010600030101010101" pitchFamily="2" charset="-122"/>
                <a:cs typeface="Times New Roman" panose="02020603050405020304" pitchFamily="18" charset="0"/>
              </a:rPr>
              <a:t> </a:t>
            </a:r>
            <a:r>
              <a:rPr lang="en-HK" altLang="zh-CN" sz="2400" kern="100">
                <a:effectLst/>
                <a:ea typeface="DengXian" panose="02010600030101010101" pitchFamily="2" charset="-122"/>
                <a:cs typeface="Times New Roman" panose="02020603050405020304" pitchFamily="18" charset="0"/>
              </a:rPr>
              <a:t>put backlog tasks into sprint backlog. </a:t>
            </a:r>
            <a:endParaRPr lang="zh-CN" altLang="zh-CN" sz="2400" kern="100">
              <a:effectLst/>
              <a:ea typeface="DengXian" panose="02010600030101010101" pitchFamily="2" charset="-122"/>
              <a:cs typeface="Times New Roman" panose="02020603050405020304" pitchFamily="18" charset="0"/>
            </a:endParaRPr>
          </a:p>
          <a:p>
            <a:pPr>
              <a:lnSpc>
                <a:spcPct val="115000"/>
              </a:lnSpc>
              <a:spcAft>
                <a:spcPts val="800"/>
              </a:spcAft>
            </a:pPr>
            <a:r>
              <a:rPr lang="en-HK" altLang="zh-CN" sz="2400" kern="100">
                <a:effectLst/>
                <a:ea typeface="DengXian" panose="02010600030101010101" pitchFamily="2" charset="-122"/>
                <a:cs typeface="Times New Roman" panose="02020603050405020304" pitchFamily="18" charset="0"/>
              </a:rPr>
              <a:t>These practices allow the team to </a:t>
            </a:r>
            <a:r>
              <a:rPr lang="en-US" altLang="zh-CN" sz="2400" kern="100">
                <a:effectLst/>
                <a:ea typeface="DengXian" panose="02010600030101010101" pitchFamily="2" charset="-122"/>
                <a:cs typeface="Times New Roman" panose="02020603050405020304" pitchFamily="18" charset="0"/>
              </a:rPr>
              <a:t>1.</a:t>
            </a:r>
            <a:r>
              <a:rPr lang="zh-CN" altLang="en-US" sz="2400" kern="100">
                <a:effectLst/>
                <a:ea typeface="DengXian" panose="02010600030101010101" pitchFamily="2" charset="-122"/>
                <a:cs typeface="Times New Roman" panose="02020603050405020304" pitchFamily="18" charset="0"/>
              </a:rPr>
              <a:t> </a:t>
            </a:r>
            <a:r>
              <a:rPr lang="en-HK" altLang="zh-CN" sz="2400" kern="100">
                <a:effectLst/>
                <a:ea typeface="DengXian" panose="02010600030101010101" pitchFamily="2" charset="-122"/>
                <a:cs typeface="Times New Roman" panose="02020603050405020304" pitchFamily="18" charset="0"/>
              </a:rPr>
              <a:t>adjust plans quickly, </a:t>
            </a:r>
            <a:r>
              <a:rPr lang="en-US" altLang="zh-CN" sz="2400" kern="100">
                <a:effectLst/>
                <a:ea typeface="DengXian" panose="02010600030101010101" pitchFamily="2" charset="-122"/>
                <a:cs typeface="Times New Roman" panose="02020603050405020304" pitchFamily="18" charset="0"/>
              </a:rPr>
              <a:t>2.</a:t>
            </a:r>
            <a:r>
              <a:rPr lang="zh-CN" altLang="en-US" sz="2400" kern="100">
                <a:effectLst/>
                <a:ea typeface="DengXian" panose="02010600030101010101" pitchFamily="2" charset="-122"/>
                <a:cs typeface="Times New Roman" panose="02020603050405020304" pitchFamily="18" charset="0"/>
              </a:rPr>
              <a:t> </a:t>
            </a:r>
            <a:r>
              <a:rPr lang="en-HK" altLang="zh-CN" sz="2400" kern="100">
                <a:effectLst/>
                <a:ea typeface="DengXian" panose="02010600030101010101" pitchFamily="2" charset="-122"/>
                <a:cs typeface="Times New Roman" panose="02020603050405020304" pitchFamily="18" charset="0"/>
              </a:rPr>
              <a:t>incorporate feedback, and </a:t>
            </a:r>
            <a:r>
              <a:rPr lang="en-US" altLang="zh-CN" sz="2400" kern="100">
                <a:effectLst/>
                <a:ea typeface="DengXian" panose="02010600030101010101" pitchFamily="2" charset="-122"/>
                <a:cs typeface="Times New Roman" panose="02020603050405020304" pitchFamily="18" charset="0"/>
              </a:rPr>
              <a:t>3.</a:t>
            </a:r>
            <a:r>
              <a:rPr lang="zh-CN" altLang="en-US" sz="2400" kern="100">
                <a:effectLst/>
                <a:ea typeface="DengXian" panose="02010600030101010101" pitchFamily="2" charset="-122"/>
                <a:cs typeface="Times New Roman" panose="02020603050405020304" pitchFamily="18" charset="0"/>
              </a:rPr>
              <a:t> </a:t>
            </a:r>
            <a:r>
              <a:rPr lang="en-HK" altLang="zh-CN" sz="2400" kern="100">
                <a:effectLst/>
                <a:ea typeface="DengXian" panose="02010600030101010101" pitchFamily="2" charset="-122"/>
                <a:cs typeface="Times New Roman" panose="02020603050405020304" pitchFamily="18" charset="0"/>
              </a:rPr>
              <a:t>respond to changes in a timely manner.</a:t>
            </a:r>
          </a:p>
          <a:p>
            <a:pPr marL="0" indent="0">
              <a:lnSpc>
                <a:spcPct val="115000"/>
              </a:lnSpc>
              <a:spcAft>
                <a:spcPts val="800"/>
              </a:spcAft>
              <a:buNone/>
            </a:pPr>
            <a:endParaRPr lang="en-US" altLang="zh-CN" sz="2800" kern="100">
              <a:ea typeface="DengXian" panose="02010600030101010101" pitchFamily="2" charset="-122"/>
              <a:cs typeface="Times New Roman" panose="02020603050405020304" pitchFamily="18" charset="0"/>
            </a:endParaRPr>
          </a:p>
          <a:p>
            <a:pPr marL="0" indent="0">
              <a:lnSpc>
                <a:spcPct val="115000"/>
              </a:lnSpc>
              <a:spcAft>
                <a:spcPts val="800"/>
              </a:spcAft>
              <a:buNone/>
            </a:pPr>
            <a:r>
              <a:rPr lang="en-US" altLang="zh-CN" sz="2000" kern="100">
                <a:effectLst/>
                <a:ea typeface="DengXian" panose="02010600030101010101" pitchFamily="2" charset="-122"/>
                <a:cs typeface="Times New Roman" panose="02020603050405020304" pitchFamily="18" charset="0"/>
              </a:rPr>
              <a:t>Note: Reasonable answers can get the score. However, </a:t>
            </a:r>
            <a:r>
              <a:rPr lang="en" altLang="zh-CN" sz="2000" kern="100">
                <a:effectLst/>
                <a:ea typeface="DengXian" panose="02010600030101010101" pitchFamily="2" charset="-122"/>
                <a:cs typeface="Times New Roman" panose="02020603050405020304" pitchFamily="18" charset="0"/>
              </a:rPr>
              <a:t>Extreme </a:t>
            </a:r>
            <a:r>
              <a:rPr lang="en" altLang="zh-CN" sz="2000" kern="100">
                <a:ea typeface="DengXian" panose="02010600030101010101" pitchFamily="2" charset="-122"/>
                <a:cs typeface="Times New Roman" panose="02020603050405020304" pitchFamily="18" charset="0"/>
              </a:rPr>
              <a:t>P</a:t>
            </a:r>
            <a:r>
              <a:rPr lang="en" altLang="zh-CN" sz="2000" kern="100">
                <a:effectLst/>
                <a:ea typeface="DengXian" panose="02010600030101010101" pitchFamily="2" charset="-122"/>
                <a:cs typeface="Times New Roman" panose="02020603050405020304" pitchFamily="18" charset="0"/>
              </a:rPr>
              <a:t>rogramming, Scrum</a:t>
            </a:r>
            <a:r>
              <a:rPr lang="en-US" altLang="zh-CN" sz="2000" kern="100">
                <a:ea typeface="DengXian" panose="02010600030101010101" pitchFamily="2" charset="-122"/>
                <a:cs typeface="Times New Roman" panose="02020603050405020304" pitchFamily="18" charset="0"/>
              </a:rPr>
              <a:t>, and Hybrid Method are methodologies/frameworks, not </a:t>
            </a:r>
            <a:r>
              <a:rPr lang="en-US" altLang="zh-CN" sz="2000" b="1" kern="100">
                <a:ea typeface="DengXian" panose="02010600030101010101" pitchFamily="2" charset="-122"/>
                <a:cs typeface="Times New Roman" panose="02020603050405020304" pitchFamily="18" charset="0"/>
              </a:rPr>
              <a:t>specific agile practices</a:t>
            </a:r>
            <a:r>
              <a:rPr lang="en" altLang="zh-CN" sz="2000" kern="100">
                <a:effectLst/>
                <a:ea typeface="DengXian" panose="02010600030101010101" pitchFamily="2" charset="-122"/>
                <a:cs typeface="Times New Roman" panose="02020603050405020304" pitchFamily="18" charset="0"/>
              </a:rPr>
              <a:t>.</a:t>
            </a:r>
            <a:r>
              <a:rPr lang="zh-CN" altLang="en-US" sz="2000" kern="100">
                <a:effectLst/>
                <a:ea typeface="DengXian" panose="02010600030101010101" pitchFamily="2" charset="-122"/>
                <a:cs typeface="Times New Roman" panose="02020603050405020304" pitchFamily="18" charset="0"/>
              </a:rPr>
              <a:t> </a:t>
            </a:r>
            <a:r>
              <a:rPr lang="en-US" altLang="zh-CN" sz="2000" kern="100">
                <a:effectLst/>
                <a:ea typeface="DengXian" panose="02010600030101010101" pitchFamily="2" charset="-122"/>
                <a:cs typeface="Times New Roman" panose="02020603050405020304" pitchFamily="18" charset="0"/>
              </a:rPr>
              <a:t>Only</a:t>
            </a:r>
            <a:r>
              <a:rPr lang="zh-CN" altLang="en-US" sz="2000" kern="100">
                <a:effectLst/>
                <a:ea typeface="DengXian" panose="02010600030101010101" pitchFamily="2" charset="-122"/>
                <a:cs typeface="Times New Roman" panose="02020603050405020304" pitchFamily="18" charset="0"/>
              </a:rPr>
              <a:t> </a:t>
            </a:r>
            <a:r>
              <a:rPr lang="en-US" altLang="zh-CN" sz="2000" kern="100">
                <a:effectLst/>
                <a:ea typeface="DengXian" panose="02010600030101010101" pitchFamily="2" charset="-122"/>
                <a:cs typeface="Times New Roman" panose="02020603050405020304" pitchFamily="18" charset="0"/>
              </a:rPr>
              <a:t>answering</a:t>
            </a:r>
            <a:r>
              <a:rPr lang="zh-CN" altLang="en-US" sz="2000" kern="100">
                <a:effectLst/>
                <a:ea typeface="DengXian" panose="02010600030101010101" pitchFamily="2" charset="-122"/>
                <a:cs typeface="Times New Roman" panose="02020603050405020304" pitchFamily="18" charset="0"/>
              </a:rPr>
              <a:t> </a:t>
            </a:r>
            <a:r>
              <a:rPr lang="en-US" altLang="zh-CN" sz="2000" kern="100">
                <a:effectLst/>
                <a:ea typeface="DengXian" panose="02010600030101010101" pitchFamily="2" charset="-122"/>
                <a:cs typeface="Times New Roman" panose="02020603050405020304" pitchFamily="18" charset="0"/>
              </a:rPr>
              <a:t>them</a:t>
            </a:r>
            <a:r>
              <a:rPr lang="zh-CN" altLang="en-US" sz="2000" kern="100">
                <a:effectLst/>
                <a:ea typeface="DengXian" panose="02010600030101010101" pitchFamily="2" charset="-122"/>
                <a:cs typeface="Times New Roman" panose="02020603050405020304" pitchFamily="18" charset="0"/>
              </a:rPr>
              <a:t> </a:t>
            </a:r>
            <a:r>
              <a:rPr lang="en-US" altLang="zh-CN" sz="2000" kern="100">
                <a:ea typeface="DengXian" panose="02010600030101010101" pitchFamily="2" charset="-122"/>
                <a:cs typeface="Times New Roman" panose="02020603050405020304" pitchFamily="18" charset="0"/>
              </a:rPr>
              <a:t>is</a:t>
            </a:r>
            <a:r>
              <a:rPr lang="zh-CN" altLang="en-US" sz="2000" kern="100">
                <a:ea typeface="DengXian" panose="02010600030101010101" pitchFamily="2" charset="-122"/>
                <a:cs typeface="Times New Roman" panose="02020603050405020304" pitchFamily="18" charset="0"/>
              </a:rPr>
              <a:t> </a:t>
            </a:r>
            <a:r>
              <a:rPr lang="en-US" altLang="zh-CN" sz="2000" kern="100">
                <a:ea typeface="DengXian" panose="02010600030101010101" pitchFamily="2" charset="-122"/>
                <a:cs typeface="Times New Roman" panose="02020603050405020304" pitchFamily="18" charset="0"/>
              </a:rPr>
              <a:t>incorrect</a:t>
            </a:r>
            <a:r>
              <a:rPr lang="en-US" altLang="zh-CN" sz="2000" kern="100">
                <a:effectLst/>
                <a:ea typeface="DengXian" panose="02010600030101010101" pitchFamily="2" charset="-122"/>
                <a:cs typeface="Times New Roman" panose="02020603050405020304" pitchFamily="18" charset="0"/>
              </a:rPr>
              <a:t>.</a:t>
            </a:r>
            <a:endParaRPr lang="en" altLang="zh-CN" sz="2000" kern="100">
              <a:effectLst/>
              <a:ea typeface="DengXian" panose="02010600030101010101" pitchFamily="2" charset="-122"/>
              <a:cs typeface="Times New Roman" panose="02020603050405020304" pitchFamily="18" charset="0"/>
            </a:endParaRPr>
          </a:p>
          <a:p>
            <a:pPr marL="0" indent="0">
              <a:lnSpc>
                <a:spcPct val="115000"/>
              </a:lnSpc>
              <a:spcAft>
                <a:spcPts val="800"/>
              </a:spcAft>
              <a:buNone/>
            </a:pPr>
            <a:br>
              <a:rPr lang="en" altLang="zh-CN" sz="2400" kern="100">
                <a:effectLst/>
                <a:ea typeface="DengXian" panose="02010600030101010101" pitchFamily="2" charset="-122"/>
                <a:cs typeface="Times New Roman" panose="02020603050405020304" pitchFamily="18" charset="0"/>
              </a:rPr>
            </a:br>
            <a:endParaRPr lang="zh-CN" altLang="zh-CN" sz="2400" kern="100">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12290031"/>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6DEE8-97B4-803A-69B4-3C2B00C680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5F6FE-2456-3D56-26A1-8C8E72B75403}"/>
              </a:ext>
            </a:extLst>
          </p:cNvPr>
          <p:cNvSpPr>
            <a:spLocks noGrp="1"/>
          </p:cNvSpPr>
          <p:nvPr>
            <p:ph type="title"/>
          </p:nvPr>
        </p:nvSpPr>
        <p:spPr>
          <a:xfrm>
            <a:off x="296496" y="220133"/>
            <a:ext cx="11548191" cy="1104900"/>
          </a:xfrm>
        </p:spPr>
        <p:txBody>
          <a:bodyPr/>
          <a:lstStyle/>
          <a:p>
            <a:r>
              <a:rPr lang="en-HK" altLang="zh-CN" sz="3600"/>
              <a:t>Scenario 2</a:t>
            </a:r>
            <a:r>
              <a:rPr lang="en-HK" sz="3600">
                <a:ea typeface="+mj-lt"/>
                <a:cs typeface="+mj-lt"/>
              </a:rPr>
              <a:t>: E-Commerce Platform Requirements Engineering (27 marks)</a:t>
            </a:r>
            <a:endParaRPr lang="en-US" altLang="zh-CN" sz="3600"/>
          </a:p>
        </p:txBody>
      </p:sp>
      <p:sp>
        <p:nvSpPr>
          <p:cNvPr id="3" name="Content Placeholder 2">
            <a:extLst>
              <a:ext uri="{FF2B5EF4-FFF2-40B4-BE49-F238E27FC236}">
                <a16:creationId xmlns:a16="http://schemas.microsoft.com/office/drawing/2014/main" id="{CF3C36F1-7B77-D4F5-3C2E-56DFD7DA6677}"/>
              </a:ext>
            </a:extLst>
          </p:cNvPr>
          <p:cNvSpPr>
            <a:spLocks noGrp="1"/>
          </p:cNvSpPr>
          <p:nvPr>
            <p:ph idx="1"/>
          </p:nvPr>
        </p:nvSpPr>
        <p:spPr>
          <a:xfrm>
            <a:off x="508163" y="1659467"/>
            <a:ext cx="11124858" cy="4953000"/>
          </a:xfrm>
        </p:spPr>
        <p:txBody>
          <a:bodyPr/>
          <a:lstStyle/>
          <a:p>
            <a:pPr marL="398145" indent="-398145">
              <a:buNone/>
            </a:pPr>
            <a:r>
              <a:rPr lang="en-HK" sz="1800" kern="100">
                <a:ea typeface="+mn-lt"/>
                <a:cs typeface="+mn-lt"/>
              </a:rPr>
              <a:t>A startup is building an e-commerce platform for local retailers in Hong Kong. The platform will allow customers to browse products, place orders, and make payments online. The client’s initial feedback is: “They should be fast.” However, stakeholders—including business owners, developers, and end users—disagree on the priority of security versus usability. Some want maximum security for payment and user data, while others prioritize a seamless, frictionless shopping experience. You are aware of the </a:t>
            </a:r>
            <a:r>
              <a:rPr lang="en-HK" sz="1800" kern="100" err="1">
                <a:ea typeface="+mn-lt"/>
                <a:cs typeface="+mn-lt"/>
              </a:rPr>
              <a:t>tradeoff</a:t>
            </a:r>
            <a:r>
              <a:rPr lang="en-HK" sz="1800" kern="100">
                <a:ea typeface="+mn-lt"/>
                <a:cs typeface="+mn-lt"/>
              </a:rPr>
              <a:t> of quality attribute and know that security and usability are a pair of conflicting quality attributes. </a:t>
            </a:r>
            <a:endParaRPr lang="zh-CN" altLang="en-US" sz="1800">
              <a:cs typeface="Times New Roman"/>
            </a:endParaRPr>
          </a:p>
          <a:p>
            <a:pPr marL="398145" indent="-398145">
              <a:buNone/>
            </a:pPr>
            <a:r>
              <a:rPr lang="en-HK" sz="1800" kern="100">
                <a:ea typeface="+mn-lt"/>
                <a:cs typeface="+mn-lt"/>
              </a:rPr>
              <a:t>Requirements are being gathered from multiple sources: interviews with business owners, surveys of potential customers, and analysis of competitor platforms. The requirements documentation is currently written in natural language and contains ambiguities such as “the system should be scalable” and “the checkout process should be simple.”</a:t>
            </a:r>
            <a:endParaRPr lang="en-HK" sz="1800">
              <a:cs typeface="Times New Roman"/>
            </a:endParaRPr>
          </a:p>
          <a:p>
            <a:pPr marL="398145" indent="-398145">
              <a:buNone/>
            </a:pPr>
            <a:r>
              <a:rPr lang="en-HK" sz="1800" kern="100">
                <a:ea typeface="+mn-lt"/>
                <a:cs typeface="+mn-lt"/>
              </a:rPr>
              <a:t>The project manager wants to:</a:t>
            </a:r>
            <a:endParaRPr lang="en-HK" sz="1800">
              <a:cs typeface="Times New Roman"/>
            </a:endParaRPr>
          </a:p>
          <a:p>
            <a:pPr marL="398145" indent="-398145">
              <a:buFont typeface="Wingdings"/>
              <a:buChar char="u"/>
            </a:pPr>
            <a:r>
              <a:rPr lang="en-HK" sz="1800" kern="100">
                <a:ea typeface="+mn-lt"/>
                <a:cs typeface="+mn-lt"/>
              </a:rPr>
              <a:t>Identify and clarify both functional and non-functional requirements.</a:t>
            </a:r>
            <a:endParaRPr lang="en-HK" sz="1800">
              <a:cs typeface="Times New Roman"/>
            </a:endParaRPr>
          </a:p>
          <a:p>
            <a:pPr marL="398145" indent="-398145">
              <a:buFont typeface="Wingdings"/>
              <a:buChar char="u"/>
            </a:pPr>
            <a:r>
              <a:rPr lang="en-HK" sz="1800" kern="100">
                <a:ea typeface="+mn-lt"/>
                <a:cs typeface="+mn-lt"/>
              </a:rPr>
              <a:t>Resolve conflicts between stakeholders regarding priorities.</a:t>
            </a:r>
            <a:endParaRPr lang="en-HK" sz="1800">
              <a:cs typeface="Times New Roman"/>
            </a:endParaRPr>
          </a:p>
          <a:p>
            <a:pPr marL="398145" indent="-398145">
              <a:buFont typeface="Wingdings"/>
              <a:buChar char="u"/>
            </a:pPr>
            <a:r>
              <a:rPr lang="en-HK" sz="1800" kern="100">
                <a:ea typeface="+mn-lt"/>
                <a:cs typeface="+mn-lt"/>
              </a:rPr>
              <a:t>Ensure requirements are measurable, testable, and unambiguous.</a:t>
            </a:r>
            <a:endParaRPr lang="en-HK" sz="1800">
              <a:cs typeface="Times New Roman"/>
            </a:endParaRPr>
          </a:p>
          <a:p>
            <a:pPr marL="398145" indent="-398145">
              <a:buFont typeface="Wingdings"/>
              <a:buChar char="u"/>
            </a:pPr>
            <a:r>
              <a:rPr lang="en-HK" sz="1800" kern="100">
                <a:ea typeface="+mn-lt"/>
                <a:cs typeface="+mn-lt"/>
              </a:rPr>
              <a:t>Select appropriate elicitation and prioritization techniques to guide the development process.</a:t>
            </a:r>
            <a:endParaRPr lang="en-HK" sz="1800">
              <a:cs typeface="Times New Roman"/>
            </a:endParaRPr>
          </a:p>
          <a:p>
            <a:pPr marL="0" indent="0">
              <a:lnSpc>
                <a:spcPct val="114999"/>
              </a:lnSpc>
              <a:spcAft>
                <a:spcPts val="800"/>
              </a:spcAft>
              <a:buNone/>
            </a:pPr>
            <a:endParaRPr lang="en-HK" altLang="zh-CN" sz="1800" kern="100">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2117019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713D3-9FD1-3B29-4207-79B873DC3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CDD19-5506-C4BC-EF69-5D51FEE178F4}"/>
              </a:ext>
            </a:extLst>
          </p:cNvPr>
          <p:cNvSpPr>
            <a:spLocks noGrp="1"/>
          </p:cNvSpPr>
          <p:nvPr>
            <p:ph type="title"/>
          </p:nvPr>
        </p:nvSpPr>
        <p:spPr/>
        <p:txBody>
          <a:bodyPr/>
          <a:lstStyle/>
          <a:p>
            <a:r>
              <a:rPr lang="en-HK" altLang="zh-CN"/>
              <a:t>Scenario 2 Q1: </a:t>
            </a:r>
            <a:r>
              <a:rPr lang="en-HK"/>
              <a:t>(2 marks)</a:t>
            </a:r>
            <a:endParaRPr lang="en-HK" b="0">
              <a:solidFill>
                <a:srgbClr val="000000"/>
              </a:solidFill>
            </a:endParaRPr>
          </a:p>
        </p:txBody>
      </p:sp>
      <p:sp>
        <p:nvSpPr>
          <p:cNvPr id="3" name="Content Placeholder 2">
            <a:extLst>
              <a:ext uri="{FF2B5EF4-FFF2-40B4-BE49-F238E27FC236}">
                <a16:creationId xmlns:a16="http://schemas.microsoft.com/office/drawing/2014/main" id="{41819373-E093-F9C1-7709-74D86E9FA7FE}"/>
              </a:ext>
            </a:extLst>
          </p:cNvPr>
          <p:cNvSpPr>
            <a:spLocks noGrp="1"/>
          </p:cNvSpPr>
          <p:nvPr>
            <p:ph idx="1"/>
          </p:nvPr>
        </p:nvSpPr>
        <p:spPr>
          <a:xfrm>
            <a:off x="508163" y="1371600"/>
            <a:ext cx="11124858" cy="4953000"/>
          </a:xfrm>
        </p:spPr>
        <p:txBody>
          <a:bodyPr/>
          <a:lstStyle/>
          <a:p>
            <a:pPr marL="398145" indent="-398145"/>
            <a:r>
              <a:rPr lang="en-HK" sz="2000" kern="100">
                <a:ea typeface="+mn-lt"/>
                <a:cs typeface="+mn-lt"/>
              </a:rPr>
              <a:t>Q1. From the client’s feedback (“They should be fast”), identify one functional and one non-functional requirement for the e-commerce platform. </a:t>
            </a:r>
            <a:endParaRPr lang="en-HK" sz="2400" b="1" kern="100">
              <a:ea typeface="+mn-lt"/>
              <a:cs typeface="+mn-lt"/>
            </a:endParaRPr>
          </a:p>
          <a:p>
            <a:pPr marL="398145" indent="-398145"/>
            <a:endParaRPr lang="en-HK" sz="2000" kern="100">
              <a:ea typeface="+mn-lt"/>
              <a:cs typeface="+mn-lt"/>
            </a:endParaRPr>
          </a:p>
          <a:p>
            <a:pPr marL="0" indent="0">
              <a:buNone/>
            </a:pPr>
            <a:r>
              <a:rPr lang="en-HK" sz="2400" b="1" kern="100">
                <a:ea typeface="+mn-lt"/>
                <a:cs typeface="+mn-lt"/>
              </a:rPr>
              <a:t>Marking:</a:t>
            </a:r>
            <a:r>
              <a:rPr lang="en-HK" sz="2400" kern="100">
                <a:ea typeface="+mn-lt"/>
                <a:cs typeface="+mn-lt"/>
              </a:rPr>
              <a:t> 2 marks</a:t>
            </a:r>
            <a:endParaRPr lang="zh-CN" altLang="en-US" sz="2400" kern="100">
              <a:ea typeface="DengXian" panose="02010600030101010101" pitchFamily="2" charset="-122"/>
              <a:cs typeface="Times New Roman" panose="02020603050405020304" pitchFamily="18" charset="0"/>
            </a:endParaRPr>
          </a:p>
          <a:p>
            <a:pPr marL="0" indent="0">
              <a:buNone/>
            </a:pPr>
            <a:r>
              <a:rPr lang="en-HK" sz="2400" kern="100">
                <a:ea typeface="+mn-lt"/>
                <a:cs typeface="+mn-lt"/>
              </a:rPr>
              <a:t>1 mark for a correct functional requirement</a:t>
            </a:r>
            <a:endParaRPr lang="en">
              <a:cs typeface="Times New Roman"/>
            </a:endParaRPr>
          </a:p>
          <a:p>
            <a:pPr marL="0" indent="0">
              <a:buNone/>
            </a:pPr>
            <a:r>
              <a:rPr lang="en-HK" sz="2400" kern="100">
                <a:ea typeface="+mn-lt"/>
                <a:cs typeface="+mn-lt"/>
              </a:rPr>
              <a:t>1 mark for a correct non-functional requirement</a:t>
            </a:r>
            <a:endParaRPr lang="en">
              <a:cs typeface="Times New Roman"/>
            </a:endParaRPr>
          </a:p>
          <a:p>
            <a:pPr marL="0" indent="0">
              <a:lnSpc>
                <a:spcPct val="114999"/>
              </a:lnSpc>
              <a:spcAft>
                <a:spcPts val="800"/>
              </a:spcAft>
              <a:buNone/>
            </a:pPr>
            <a:br>
              <a:rPr lang="en" altLang="zh-CN" sz="2400" kern="100">
                <a:effectLst/>
                <a:ea typeface="DengXian" panose="02010600030101010101" pitchFamily="2" charset="-122"/>
                <a:cs typeface="Times New Roman" panose="02020603050405020304" pitchFamily="18" charset="0"/>
              </a:rPr>
            </a:br>
            <a:endParaRPr lang="zh-CN" altLang="zh-CN" sz="2400" kern="100">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0662990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969838-AC79-0955-8EB1-7AD3DBC41435}"/>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64D6C034-ADF4-C065-0C29-B0E5F2676196}"/>
              </a:ext>
            </a:extLst>
          </p:cNvPr>
          <p:cNvSpPr>
            <a:spLocks noGrp="1"/>
          </p:cNvSpPr>
          <p:nvPr>
            <p:ph idx="1"/>
          </p:nvPr>
        </p:nvSpPr>
        <p:spPr/>
        <p:txBody>
          <a:bodyPr/>
          <a:lstStyle/>
          <a:p>
            <a:pPr marL="398145" indent="-398145"/>
            <a:endParaRPr lang="en-HK" altLang="zh-CN" sz="2000">
              <a:cs typeface="Times New Roman"/>
            </a:endParaRPr>
          </a:p>
          <a:p>
            <a:pPr marL="398145" indent="-398145"/>
            <a:r>
              <a:rPr lang="en-HK" altLang="zh-CN" sz="2000">
                <a:ea typeface="+mn-lt"/>
                <a:cs typeface="+mn-lt"/>
              </a:rPr>
              <a:t>Answers:</a:t>
            </a:r>
            <a:endParaRPr lang="zh-CN" sz="2000">
              <a:cs typeface="Times New Roman"/>
            </a:endParaRPr>
          </a:p>
          <a:p>
            <a:pPr marL="398145" indent="-398145"/>
            <a:r>
              <a:rPr lang="en-HK" altLang="zh-CN" sz="2000">
                <a:ea typeface="+mn-lt"/>
                <a:cs typeface="+mn-lt"/>
              </a:rPr>
              <a:t>Functional: The system allows customers to browse and purchase products online.</a:t>
            </a:r>
            <a:endParaRPr lang="zh-CN" sz="2000">
              <a:cs typeface="Times New Roman"/>
            </a:endParaRPr>
          </a:p>
          <a:p>
            <a:pPr marL="398145" indent="-398145"/>
            <a:r>
              <a:rPr lang="en-HK" altLang="zh-CN" sz="2000">
                <a:ea typeface="+mn-lt"/>
                <a:cs typeface="+mn-lt"/>
              </a:rPr>
              <a:t>Non-functional: The browsing and purchase of products should be fast.</a:t>
            </a:r>
            <a:endParaRPr lang="zh-CN" sz="2000"/>
          </a:p>
          <a:p>
            <a:pPr marL="398145" indent="-398145"/>
            <a:endParaRPr lang="zh-CN"/>
          </a:p>
          <a:p>
            <a:pPr marL="398145" indent="-398145"/>
            <a:endParaRPr lang="en-HK" altLang="zh-CN">
              <a:cs typeface="Times New Roman"/>
            </a:endParaRPr>
          </a:p>
          <a:p>
            <a:pPr marL="398145" indent="-398145"/>
            <a:endParaRPr lang="zh-CN" altLang="en-US">
              <a:cs typeface="Times New Roman"/>
            </a:endParaRPr>
          </a:p>
        </p:txBody>
      </p:sp>
      <p:sp>
        <p:nvSpPr>
          <p:cNvPr id="4" name="灯片编号占位符 3">
            <a:extLst>
              <a:ext uri="{FF2B5EF4-FFF2-40B4-BE49-F238E27FC236}">
                <a16:creationId xmlns:a16="http://schemas.microsoft.com/office/drawing/2014/main" id="{717F4BFE-A31B-FC5A-85B9-787F5BB94A15}"/>
              </a:ext>
            </a:extLst>
          </p:cNvPr>
          <p:cNvSpPr>
            <a:spLocks noGrp="1"/>
          </p:cNvSpPr>
          <p:nvPr>
            <p:ph type="sldNum" sz="quarter" idx="12"/>
          </p:nvPr>
        </p:nvSpPr>
        <p:spPr/>
        <p:txBody>
          <a:bodyPr/>
          <a:lstStyle/>
          <a:p>
            <a:pPr>
              <a:defRPr/>
            </a:pPr>
            <a:fld id="{63B8F44C-0EDE-4D7D-9086-BD1CF3CE7AF7}" type="slidenum">
              <a:rPr lang="en-US" smtClean="0"/>
              <a:pPr>
                <a:defRPr/>
              </a:pPr>
              <a:t>40</a:t>
            </a:fld>
            <a:endParaRPr lang="en-US"/>
          </a:p>
        </p:txBody>
      </p:sp>
    </p:spTree>
    <p:extLst>
      <p:ext uri="{BB962C8B-B14F-4D97-AF65-F5344CB8AC3E}">
        <p14:creationId xmlns:p14="http://schemas.microsoft.com/office/powerpoint/2010/main" val="39900360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53274-53A0-0EE0-3CAD-E01089916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E35D3-9C46-A02F-7165-F4DECA84F712}"/>
              </a:ext>
            </a:extLst>
          </p:cNvPr>
          <p:cNvSpPr>
            <a:spLocks noGrp="1"/>
          </p:cNvSpPr>
          <p:nvPr>
            <p:ph type="title"/>
          </p:nvPr>
        </p:nvSpPr>
        <p:spPr/>
        <p:txBody>
          <a:bodyPr/>
          <a:lstStyle/>
          <a:p>
            <a:r>
              <a:rPr lang="en-HK" altLang="zh-CN"/>
              <a:t>Scenario 2 Q2</a:t>
            </a:r>
            <a:r>
              <a:rPr lang="en-HK"/>
              <a:t>     </a:t>
            </a:r>
            <a:r>
              <a:rPr lang="en-HK" altLang="zh-CN"/>
              <a:t>(12 marks)</a:t>
            </a:r>
            <a:endParaRPr lang="en-US" altLang="zh-CN">
              <a:cs typeface="Times New Roman"/>
            </a:endParaRPr>
          </a:p>
        </p:txBody>
      </p:sp>
      <p:sp>
        <p:nvSpPr>
          <p:cNvPr id="3" name="Content Placeholder 2">
            <a:extLst>
              <a:ext uri="{FF2B5EF4-FFF2-40B4-BE49-F238E27FC236}">
                <a16:creationId xmlns:a16="http://schemas.microsoft.com/office/drawing/2014/main" id="{6487927B-9942-DBC3-52CD-CAD5988F4B23}"/>
              </a:ext>
            </a:extLst>
          </p:cNvPr>
          <p:cNvSpPr>
            <a:spLocks noGrp="1"/>
          </p:cNvSpPr>
          <p:nvPr>
            <p:ph idx="1"/>
          </p:nvPr>
        </p:nvSpPr>
        <p:spPr>
          <a:xfrm>
            <a:off x="571663" y="1828800"/>
            <a:ext cx="10883558" cy="4533900"/>
          </a:xfrm>
        </p:spPr>
        <p:txBody>
          <a:bodyPr/>
          <a:lstStyle/>
          <a:p>
            <a:pPr marL="398145" indent="-398145">
              <a:buNone/>
            </a:pPr>
            <a:r>
              <a:rPr lang="en-HK" sz="2000" kern="100">
                <a:ea typeface="+mn-lt"/>
                <a:cs typeface="+mn-lt"/>
              </a:rPr>
              <a:t>Q2. The requirements documentation contains ambiguous statements such as “the system should be scalable” and “the checkout process should be simple.”  </a:t>
            </a:r>
            <a:endParaRPr lang="zh-CN" altLang="en-US" sz="2000">
              <a:cs typeface="Times New Roman"/>
            </a:endParaRPr>
          </a:p>
          <a:p>
            <a:pPr marL="398145" indent="-398145">
              <a:buNone/>
            </a:pPr>
            <a:r>
              <a:rPr lang="en-HK" sz="2000" kern="100">
                <a:ea typeface="+mn-lt"/>
                <a:cs typeface="+mn-lt"/>
              </a:rPr>
              <a:t>As a requirement analyst, you plan to conduct an interview session with the users to get a clearer requirement with the rationale and consequence of including or not including the requirements into the project for implementation.  </a:t>
            </a:r>
            <a:endParaRPr lang="en-HK" sz="2000">
              <a:cs typeface="Times New Roman"/>
            </a:endParaRPr>
          </a:p>
          <a:p>
            <a:pPr marL="0" indent="0">
              <a:buNone/>
            </a:pPr>
            <a:r>
              <a:rPr lang="en-HK" sz="2000" kern="100">
                <a:ea typeface="+mn-lt"/>
                <a:cs typeface="+mn-lt"/>
              </a:rPr>
              <a:t>a) Even you have decided to interview users, you know that there are four other process steps before this elicitation step in requirement engineering process. What are they? </a:t>
            </a:r>
            <a:endParaRPr lang="en-HK" sz="2000">
              <a:ea typeface="+mn-lt"/>
              <a:cs typeface="+mn-lt"/>
            </a:endParaRPr>
          </a:p>
          <a:p>
            <a:pPr marL="0" indent="0">
              <a:buNone/>
            </a:pPr>
            <a:r>
              <a:rPr lang="en-HK" sz="2000" kern="100">
                <a:ea typeface="+mn-lt"/>
                <a:cs typeface="+mn-lt"/>
              </a:rPr>
              <a:t>b) For the interview, you want to standardize the requirement template across all requirements, do you have any suggestion that fits the above goal? </a:t>
            </a:r>
            <a:endParaRPr lang="en-HK">
              <a:ea typeface="+mn-lt"/>
              <a:cs typeface="+mn-lt"/>
            </a:endParaRPr>
          </a:p>
          <a:p>
            <a:pPr marL="0" indent="0">
              <a:buNone/>
            </a:pPr>
            <a:r>
              <a:rPr lang="en-HK" sz="2000" kern="100">
                <a:ea typeface="+mn-lt"/>
                <a:cs typeface="+mn-lt"/>
              </a:rPr>
              <a:t>c) After the interview, you want to confirm with users about your understanding on the collected requirements. Which process activity in the requirement engineering process you will perform? </a:t>
            </a:r>
            <a:endParaRPr lang="en-HK">
              <a:ea typeface="+mn-lt"/>
              <a:cs typeface="+mn-lt"/>
            </a:endParaRPr>
          </a:p>
          <a:p>
            <a:pPr marL="0" indent="0">
              <a:buNone/>
            </a:pPr>
            <a:r>
              <a:rPr lang="en-HK" sz="2000" kern="100">
                <a:ea typeface="+mn-lt"/>
                <a:cs typeface="+mn-lt"/>
              </a:rPr>
              <a:t>d) What is the strategy to use to get a more reliable requirement when confirming it with users?</a:t>
            </a:r>
            <a:endParaRPr lang="en-HK">
              <a:ea typeface="+mn-lt"/>
              <a:cs typeface="+mn-lt"/>
            </a:endParaRPr>
          </a:p>
          <a:p>
            <a:pPr marL="457200" indent="-457200">
              <a:buAutoNum type="alphaLcParenR"/>
            </a:pPr>
            <a:endParaRPr lang="en-HK" sz="2000" kern="100">
              <a:cs typeface="Times New Roman"/>
            </a:endParaRPr>
          </a:p>
        </p:txBody>
      </p:sp>
    </p:spTree>
    <p:extLst>
      <p:ext uri="{BB962C8B-B14F-4D97-AF65-F5344CB8AC3E}">
        <p14:creationId xmlns:p14="http://schemas.microsoft.com/office/powerpoint/2010/main" val="122356336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B2888-1338-53ED-D5B9-4BFE122E3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64FBE-8A63-944F-9897-DDF0B290688A}"/>
              </a:ext>
            </a:extLst>
          </p:cNvPr>
          <p:cNvSpPr>
            <a:spLocks noGrp="1"/>
          </p:cNvSpPr>
          <p:nvPr>
            <p:ph type="title"/>
          </p:nvPr>
        </p:nvSpPr>
        <p:spPr/>
        <p:txBody>
          <a:bodyPr/>
          <a:lstStyle/>
          <a:p>
            <a:r>
              <a:rPr lang="en-HK" altLang="zh-CN"/>
              <a:t>Scenario 2 Q2</a:t>
            </a:r>
            <a:r>
              <a:rPr lang="en-HK"/>
              <a:t>     </a:t>
            </a:r>
            <a:r>
              <a:rPr lang="en-HK" altLang="zh-CN"/>
              <a:t>a) (8 marks)</a:t>
            </a:r>
            <a:endParaRPr lang="en-US" altLang="zh-CN">
              <a:cs typeface="Times New Roman"/>
            </a:endParaRPr>
          </a:p>
        </p:txBody>
      </p:sp>
      <p:sp>
        <p:nvSpPr>
          <p:cNvPr id="3" name="Content Placeholder 2">
            <a:extLst>
              <a:ext uri="{FF2B5EF4-FFF2-40B4-BE49-F238E27FC236}">
                <a16:creationId xmlns:a16="http://schemas.microsoft.com/office/drawing/2014/main" id="{DBA9298C-3061-051B-BCA1-D68A35786298}"/>
              </a:ext>
            </a:extLst>
          </p:cNvPr>
          <p:cNvSpPr>
            <a:spLocks noGrp="1"/>
          </p:cNvSpPr>
          <p:nvPr>
            <p:ph idx="1"/>
          </p:nvPr>
        </p:nvSpPr>
        <p:spPr>
          <a:xfrm>
            <a:off x="571663" y="1828800"/>
            <a:ext cx="10883558" cy="4533900"/>
          </a:xfrm>
        </p:spPr>
        <p:txBody>
          <a:bodyPr/>
          <a:lstStyle/>
          <a:p>
            <a:pPr marL="398145" indent="-398145">
              <a:buNone/>
            </a:pPr>
            <a:r>
              <a:rPr lang="en-HK" sz="2000" kern="100">
                <a:ea typeface="+mn-lt"/>
                <a:cs typeface="+mn-lt"/>
              </a:rPr>
              <a:t>a) Even you have decided to interview users, you know that there are four other process steps </a:t>
            </a:r>
            <a:r>
              <a:rPr lang="en-HK" sz="2000" kern="100">
                <a:solidFill>
                  <a:srgbClr val="FF0000"/>
                </a:solidFill>
                <a:ea typeface="+mn-lt"/>
                <a:cs typeface="+mn-lt"/>
              </a:rPr>
              <a:t>before this elicitation step</a:t>
            </a:r>
            <a:r>
              <a:rPr lang="en-HK" sz="2000" kern="100">
                <a:ea typeface="+mn-lt"/>
                <a:cs typeface="+mn-lt"/>
              </a:rPr>
              <a:t> in requirement engineering process. What are they? </a:t>
            </a:r>
            <a:endParaRPr lang="en-HK" sz="2000">
              <a:ea typeface="+mn-lt"/>
              <a:cs typeface="+mn-lt"/>
            </a:endParaRPr>
          </a:p>
          <a:p>
            <a:pPr marL="398145" indent="-398145"/>
            <a:r>
              <a:rPr lang="en-HK" sz="2000" kern="100">
                <a:cs typeface="Times New Roman"/>
              </a:rPr>
              <a:t>Marking: 8 marks, 2 marks for each step.</a:t>
            </a:r>
          </a:p>
          <a:p>
            <a:pPr marL="398145" indent="-398145"/>
            <a:r>
              <a:rPr lang="en-HK" sz="2000" kern="100">
                <a:cs typeface="Times New Roman"/>
              </a:rPr>
              <a:t>Reference Answers: Understanding the application domain, Identifying the sources of requirements, </a:t>
            </a:r>
            <a:r>
              <a:rPr lang="en-HK" sz="2000" kern="100" err="1">
                <a:cs typeface="Times New Roman"/>
              </a:rPr>
              <a:t>Analyzing</a:t>
            </a:r>
            <a:r>
              <a:rPr lang="en-HK" sz="2000" kern="100">
                <a:cs typeface="Times New Roman"/>
              </a:rPr>
              <a:t> the stakeholders, Selecting the techniques, approaches, and tools to use. (</a:t>
            </a:r>
            <a:r>
              <a:rPr lang="en-HK" sz="2000" kern="100">
                <a:solidFill>
                  <a:srgbClr val="0070C0"/>
                </a:solidFill>
                <a:cs typeface="Times New Roman"/>
              </a:rPr>
              <a:t>Tutorial: Requirement Elicitation.pptx P2</a:t>
            </a:r>
            <a:r>
              <a:rPr lang="en-HK" sz="2000" kern="100">
                <a:cs typeface="Times New Roman"/>
              </a:rPr>
              <a:t>)</a:t>
            </a:r>
          </a:p>
          <a:p>
            <a:pPr marL="398145" indent="-398145"/>
            <a:endParaRPr lang="en-HK" sz="2000" kern="100">
              <a:cs typeface="Times New Roman"/>
            </a:endParaRPr>
          </a:p>
          <a:p>
            <a:pPr marL="398145" indent="-398145"/>
            <a:r>
              <a:rPr lang="en-HK" sz="2000" kern="100">
                <a:cs typeface="Times New Roman"/>
              </a:rPr>
              <a:t>Incorrect Answers: </a:t>
            </a:r>
          </a:p>
          <a:p>
            <a:pPr marL="0" indent="0">
              <a:buNone/>
            </a:pPr>
            <a:r>
              <a:rPr lang="en-HK" sz="2000" kern="100">
                <a:cs typeface="Times New Roman"/>
              </a:rPr>
              <a:t>Four major steps in an RE process</a:t>
            </a:r>
            <a:br>
              <a:rPr lang="en-HK" sz="2000" kern="100">
                <a:cs typeface="Times New Roman"/>
              </a:rPr>
            </a:br>
            <a:r>
              <a:rPr lang="en-HK" sz="2000" kern="100">
                <a:cs typeface="Times New Roman"/>
              </a:rPr>
              <a:t>1. understanding the problem: elicitation</a:t>
            </a:r>
            <a:br>
              <a:rPr lang="en-HK" sz="2000" kern="100">
                <a:cs typeface="Times New Roman"/>
              </a:rPr>
            </a:br>
            <a:r>
              <a:rPr lang="en-HK" sz="2000" kern="100">
                <a:cs typeface="Times New Roman"/>
              </a:rPr>
              <a:t>2. describing the problem: specification</a:t>
            </a:r>
            <a:br>
              <a:rPr lang="en-HK" sz="2000" kern="100">
                <a:cs typeface="Times New Roman"/>
              </a:rPr>
            </a:br>
            <a:r>
              <a:rPr lang="en-HK" sz="2000" kern="100">
                <a:cs typeface="Times New Roman"/>
              </a:rPr>
              <a:t>3. agreeing upon the nature of the problem: validation</a:t>
            </a:r>
            <a:br>
              <a:rPr lang="en-HK" sz="2000" kern="100">
                <a:cs typeface="Times New Roman"/>
              </a:rPr>
            </a:br>
            <a:r>
              <a:rPr lang="en-HK" sz="2000" kern="100">
                <a:cs typeface="Times New Roman"/>
              </a:rPr>
              <a:t>4. agreeing upon the boundaries of the problem: negotiation</a:t>
            </a:r>
          </a:p>
          <a:p>
            <a:pPr marL="0" indent="0">
              <a:buNone/>
            </a:pPr>
            <a:endParaRPr lang="en-HK" sz="2000" kern="100">
              <a:cs typeface="Times New Roman"/>
            </a:endParaRPr>
          </a:p>
        </p:txBody>
      </p:sp>
      <p:sp>
        <p:nvSpPr>
          <p:cNvPr id="5" name="矩形 4">
            <a:extLst>
              <a:ext uri="{FF2B5EF4-FFF2-40B4-BE49-F238E27FC236}">
                <a16:creationId xmlns:a16="http://schemas.microsoft.com/office/drawing/2014/main" id="{5AD78B06-80B8-7497-5016-F86141419E4E}"/>
              </a:ext>
            </a:extLst>
          </p:cNvPr>
          <p:cNvSpPr/>
          <p:nvPr/>
        </p:nvSpPr>
        <p:spPr bwMode="auto">
          <a:xfrm>
            <a:off x="7066316" y="3889402"/>
            <a:ext cx="4236769" cy="2011540"/>
          </a:xfrm>
          <a:prstGeom prst="rect">
            <a:avLst/>
          </a:prstGeom>
          <a:solidFill>
            <a:schemeClr val="accent1"/>
          </a:solidFill>
          <a:ln w="12700" cap="flat" cmpd="sng" algn="ctr">
            <a:solidFill>
              <a:schemeClr val="tx1"/>
            </a:solidFill>
            <a:prstDash val="solid"/>
            <a:round/>
            <a:headEnd type="none" w="sm" len="sm"/>
            <a:tailEnd type="none" w="sm" len="sm"/>
          </a:ln>
          <a:effectLst>
            <a:outerShdw dist="71842" dir="2700000" algn="ctr" rotWithShape="0">
              <a:schemeClr val="bg2"/>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0" i="0" u="none" strike="noStrike" cap="none" normalizeH="0" baseline="0">
              <a:ln>
                <a:noFill/>
              </a:ln>
              <a:solidFill>
                <a:schemeClr val="tx1"/>
              </a:solidFill>
              <a:effectLst/>
              <a:latin typeface="Times New Roman" pitchFamily="18" charset="0"/>
            </a:endParaRPr>
          </a:p>
        </p:txBody>
      </p:sp>
      <p:pic>
        <p:nvPicPr>
          <p:cNvPr id="4" name="图片 3">
            <a:extLst>
              <a:ext uri="{FF2B5EF4-FFF2-40B4-BE49-F238E27FC236}">
                <a16:creationId xmlns:a16="http://schemas.microsoft.com/office/drawing/2014/main" id="{FA49DD6A-0B4C-55BF-D35A-39598734D582}"/>
              </a:ext>
            </a:extLst>
          </p:cNvPr>
          <p:cNvPicPr>
            <a:picLocks noChangeAspect="1"/>
          </p:cNvPicPr>
          <p:nvPr/>
        </p:nvPicPr>
        <p:blipFill>
          <a:blip r:embed="rId2"/>
          <a:srcRect l="760" b="224"/>
          <a:stretch>
            <a:fillRect/>
          </a:stretch>
        </p:blipFill>
        <p:spPr>
          <a:xfrm>
            <a:off x="7301259" y="4024947"/>
            <a:ext cx="3855657" cy="1644813"/>
          </a:xfrm>
          <a:prstGeom prst="rect">
            <a:avLst/>
          </a:prstGeom>
        </p:spPr>
      </p:pic>
    </p:spTree>
    <p:extLst>
      <p:ext uri="{BB962C8B-B14F-4D97-AF65-F5344CB8AC3E}">
        <p14:creationId xmlns:p14="http://schemas.microsoft.com/office/powerpoint/2010/main" val="328029459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68491-CF9D-6DA9-3948-D276218FE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81881-CC6A-D8FB-ED95-F57D2AAA48A5}"/>
              </a:ext>
            </a:extLst>
          </p:cNvPr>
          <p:cNvSpPr>
            <a:spLocks noGrp="1"/>
          </p:cNvSpPr>
          <p:nvPr>
            <p:ph type="title"/>
          </p:nvPr>
        </p:nvSpPr>
        <p:spPr/>
        <p:txBody>
          <a:bodyPr/>
          <a:lstStyle/>
          <a:p>
            <a:r>
              <a:rPr lang="en-HK" altLang="zh-CN"/>
              <a:t>Scenario 2 Q2</a:t>
            </a:r>
            <a:r>
              <a:rPr lang="en-HK"/>
              <a:t>     </a:t>
            </a:r>
            <a:r>
              <a:rPr lang="en-HK" altLang="zh-CN"/>
              <a:t>b) (1 mark)</a:t>
            </a:r>
            <a:endParaRPr lang="en-US" altLang="zh-CN">
              <a:cs typeface="Times New Roman"/>
            </a:endParaRPr>
          </a:p>
        </p:txBody>
      </p:sp>
      <p:sp>
        <p:nvSpPr>
          <p:cNvPr id="3" name="Content Placeholder 2">
            <a:extLst>
              <a:ext uri="{FF2B5EF4-FFF2-40B4-BE49-F238E27FC236}">
                <a16:creationId xmlns:a16="http://schemas.microsoft.com/office/drawing/2014/main" id="{EE61492D-AE81-1F58-372D-F72D7018E865}"/>
              </a:ext>
            </a:extLst>
          </p:cNvPr>
          <p:cNvSpPr>
            <a:spLocks noGrp="1"/>
          </p:cNvSpPr>
          <p:nvPr>
            <p:ph idx="1"/>
          </p:nvPr>
        </p:nvSpPr>
        <p:spPr>
          <a:xfrm>
            <a:off x="571663" y="1828800"/>
            <a:ext cx="10883558" cy="4533900"/>
          </a:xfrm>
        </p:spPr>
        <p:txBody>
          <a:bodyPr/>
          <a:lstStyle/>
          <a:p>
            <a:pPr marL="398145" indent="-398145">
              <a:buNone/>
            </a:pPr>
            <a:r>
              <a:rPr lang="en-HK" sz="2000" kern="100">
                <a:ea typeface="+mn-lt"/>
                <a:cs typeface="+mn-lt"/>
              </a:rPr>
              <a:t>b) For the interview, you want to standardize the requirement </a:t>
            </a:r>
            <a:r>
              <a:rPr lang="en-HK" sz="2000" kern="100">
                <a:solidFill>
                  <a:srgbClr val="FF0000"/>
                </a:solidFill>
                <a:ea typeface="+mn-lt"/>
                <a:cs typeface="+mn-lt"/>
              </a:rPr>
              <a:t>template</a:t>
            </a:r>
            <a:r>
              <a:rPr lang="en-HK" sz="2000" kern="100">
                <a:solidFill>
                  <a:srgbClr val="000000"/>
                </a:solidFill>
                <a:ea typeface="+mn-lt"/>
                <a:cs typeface="+mn-lt"/>
              </a:rPr>
              <a:t> across all requirements</a:t>
            </a:r>
            <a:r>
              <a:rPr lang="en-HK" sz="2000" kern="100">
                <a:ea typeface="+mn-lt"/>
                <a:cs typeface="+mn-lt"/>
              </a:rPr>
              <a:t>, do you have </a:t>
            </a:r>
            <a:r>
              <a:rPr lang="en-HK" sz="2000" kern="100">
                <a:solidFill>
                  <a:srgbClr val="FF0000"/>
                </a:solidFill>
                <a:ea typeface="+mn-lt"/>
                <a:cs typeface="+mn-lt"/>
              </a:rPr>
              <a:t>any suggestion that fits the above goal</a:t>
            </a:r>
            <a:r>
              <a:rPr lang="en-HK" sz="2000" kern="100">
                <a:ea typeface="+mn-lt"/>
                <a:cs typeface="+mn-lt"/>
              </a:rPr>
              <a:t>? </a:t>
            </a:r>
            <a:endParaRPr lang="zh-CN" altLang="en-US"/>
          </a:p>
          <a:p>
            <a:pPr marL="398145" indent="-398145"/>
            <a:r>
              <a:rPr lang="en-HK" sz="2000" kern="100">
                <a:cs typeface="Times New Roman"/>
              </a:rPr>
              <a:t>Marking: 1 mark.</a:t>
            </a:r>
          </a:p>
          <a:p>
            <a:pPr marL="398145" indent="-398145"/>
            <a:r>
              <a:rPr lang="en-HK" sz="2000" kern="100">
                <a:cs typeface="Times New Roman"/>
              </a:rPr>
              <a:t>Reference Answers: Volare/</a:t>
            </a:r>
            <a:r>
              <a:rPr lang="en-HK" sz="2000" kern="100" err="1">
                <a:cs typeface="Times New Roman"/>
              </a:rPr>
              <a:t>Volere</a:t>
            </a:r>
            <a:r>
              <a:rPr lang="en-HK" sz="2000" kern="100">
                <a:cs typeface="Times New Roman"/>
              </a:rPr>
              <a:t> card. </a:t>
            </a:r>
          </a:p>
          <a:p>
            <a:pPr marL="0" indent="0">
              <a:buNone/>
            </a:pPr>
            <a:r>
              <a:rPr lang="en-HK" sz="2000" kern="100">
                <a:cs typeface="Times New Roman"/>
              </a:rPr>
              <a:t>   (</a:t>
            </a:r>
            <a:r>
              <a:rPr lang="en-HK" sz="2000" kern="100">
                <a:solidFill>
                  <a:srgbClr val="0070C0"/>
                </a:solidFill>
                <a:cs typeface="Times New Roman"/>
              </a:rPr>
              <a:t>Tutorial: Requirement Elicitation.pptx P3</a:t>
            </a:r>
            <a:r>
              <a:rPr lang="en-HK" sz="2000" kern="100">
                <a:cs typeface="Times New Roman"/>
              </a:rPr>
              <a:t>)</a:t>
            </a:r>
          </a:p>
          <a:p>
            <a:pPr marL="398145" indent="-398145"/>
            <a:endParaRPr lang="en-HK" sz="2000" kern="100">
              <a:cs typeface="Times New Roman"/>
            </a:endParaRPr>
          </a:p>
          <a:p>
            <a:pPr marL="0" indent="0">
              <a:buNone/>
            </a:pPr>
            <a:endParaRPr lang="en-HK" sz="2000" kern="100">
              <a:cs typeface="Times New Roman"/>
            </a:endParaRPr>
          </a:p>
          <a:p>
            <a:pPr marL="0" indent="0">
              <a:buNone/>
            </a:pPr>
            <a:endParaRPr lang="en-HK" sz="2000" kern="100">
              <a:cs typeface="Times New Roman"/>
            </a:endParaRPr>
          </a:p>
        </p:txBody>
      </p:sp>
      <p:sp>
        <p:nvSpPr>
          <p:cNvPr id="5" name="矩形 4">
            <a:extLst>
              <a:ext uri="{FF2B5EF4-FFF2-40B4-BE49-F238E27FC236}">
                <a16:creationId xmlns:a16="http://schemas.microsoft.com/office/drawing/2014/main" id="{48C5424B-7BF4-7B40-2B14-CC042BE8A7B5}"/>
              </a:ext>
            </a:extLst>
          </p:cNvPr>
          <p:cNvSpPr/>
          <p:nvPr/>
        </p:nvSpPr>
        <p:spPr bwMode="auto">
          <a:xfrm>
            <a:off x="5907553" y="2821944"/>
            <a:ext cx="4569719" cy="3217673"/>
          </a:xfrm>
          <a:prstGeom prst="rect">
            <a:avLst/>
          </a:prstGeom>
          <a:solidFill>
            <a:schemeClr val="accent1"/>
          </a:solidFill>
          <a:ln w="12700" cap="flat" cmpd="sng" algn="ctr">
            <a:solidFill>
              <a:schemeClr val="tx1"/>
            </a:solidFill>
            <a:prstDash val="solid"/>
            <a:round/>
            <a:headEnd type="none" w="sm" len="sm"/>
            <a:tailEnd type="none" w="sm" len="sm"/>
          </a:ln>
          <a:effectLst>
            <a:outerShdw dist="71842" dir="2700000" algn="ctr" rotWithShape="0">
              <a:schemeClr val="bg2"/>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0" i="0" u="none" strike="noStrike" cap="none" normalizeH="0" baseline="0">
              <a:ln>
                <a:noFill/>
              </a:ln>
              <a:solidFill>
                <a:schemeClr val="tx1"/>
              </a:solidFill>
              <a:effectLst/>
              <a:latin typeface="Times New Roman" pitchFamily="18" charset="0"/>
            </a:endParaRPr>
          </a:p>
        </p:txBody>
      </p:sp>
      <p:pic>
        <p:nvPicPr>
          <p:cNvPr id="6" name="图片 5" descr="日程表&#10;&#10;AI 生成的内容可能不正确。">
            <a:extLst>
              <a:ext uri="{FF2B5EF4-FFF2-40B4-BE49-F238E27FC236}">
                <a16:creationId xmlns:a16="http://schemas.microsoft.com/office/drawing/2014/main" id="{7CA7D6D9-13E7-6B50-C467-C30C5E0CF751}"/>
              </a:ext>
            </a:extLst>
          </p:cNvPr>
          <p:cNvPicPr>
            <a:picLocks noChangeAspect="1"/>
          </p:cNvPicPr>
          <p:nvPr/>
        </p:nvPicPr>
        <p:blipFill>
          <a:blip r:embed="rId2"/>
          <a:stretch>
            <a:fillRect/>
          </a:stretch>
        </p:blipFill>
        <p:spPr>
          <a:xfrm>
            <a:off x="6110720" y="2960263"/>
            <a:ext cx="4215013" cy="2943836"/>
          </a:xfrm>
          <a:prstGeom prst="rect">
            <a:avLst/>
          </a:prstGeom>
        </p:spPr>
      </p:pic>
    </p:spTree>
    <p:extLst>
      <p:ext uri="{BB962C8B-B14F-4D97-AF65-F5344CB8AC3E}">
        <p14:creationId xmlns:p14="http://schemas.microsoft.com/office/powerpoint/2010/main" val="205658353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B1D76-1E58-D54C-EAF7-BDD89DD7F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9DC3B-4972-BEF9-346E-59EC22FF7F76}"/>
              </a:ext>
            </a:extLst>
          </p:cNvPr>
          <p:cNvSpPr>
            <a:spLocks noGrp="1"/>
          </p:cNvSpPr>
          <p:nvPr>
            <p:ph type="title"/>
          </p:nvPr>
        </p:nvSpPr>
        <p:spPr/>
        <p:txBody>
          <a:bodyPr/>
          <a:lstStyle/>
          <a:p>
            <a:r>
              <a:rPr lang="en-HK" altLang="zh-CN"/>
              <a:t>Scenario 2 Q2</a:t>
            </a:r>
            <a:r>
              <a:rPr lang="en-HK"/>
              <a:t>     </a:t>
            </a:r>
            <a:r>
              <a:rPr lang="en-HK" altLang="zh-CN"/>
              <a:t>c) (2 marks)</a:t>
            </a:r>
            <a:endParaRPr lang="en-US" altLang="zh-CN">
              <a:cs typeface="Times New Roman"/>
            </a:endParaRPr>
          </a:p>
        </p:txBody>
      </p:sp>
      <p:sp>
        <p:nvSpPr>
          <p:cNvPr id="3" name="Content Placeholder 2">
            <a:extLst>
              <a:ext uri="{FF2B5EF4-FFF2-40B4-BE49-F238E27FC236}">
                <a16:creationId xmlns:a16="http://schemas.microsoft.com/office/drawing/2014/main" id="{D78C423F-4638-047A-417A-0BA665E96973}"/>
              </a:ext>
            </a:extLst>
          </p:cNvPr>
          <p:cNvSpPr>
            <a:spLocks noGrp="1"/>
          </p:cNvSpPr>
          <p:nvPr>
            <p:ph idx="1"/>
          </p:nvPr>
        </p:nvSpPr>
        <p:spPr>
          <a:xfrm>
            <a:off x="571663" y="1828800"/>
            <a:ext cx="10883558" cy="4533900"/>
          </a:xfrm>
        </p:spPr>
        <p:txBody>
          <a:bodyPr/>
          <a:lstStyle/>
          <a:p>
            <a:pPr marL="398145" indent="-398145">
              <a:buNone/>
            </a:pPr>
            <a:r>
              <a:rPr lang="en-HK" sz="2000" kern="100">
                <a:ea typeface="+mn-lt"/>
                <a:cs typeface="+mn-lt"/>
              </a:rPr>
              <a:t>c) After the interview, you want to </a:t>
            </a:r>
            <a:r>
              <a:rPr lang="en-HK" sz="2000" kern="100">
                <a:solidFill>
                  <a:srgbClr val="FF0000"/>
                </a:solidFill>
                <a:ea typeface="+mn-lt"/>
                <a:cs typeface="+mn-lt"/>
              </a:rPr>
              <a:t>confirm with users about your understanding</a:t>
            </a:r>
            <a:r>
              <a:rPr lang="en-HK" sz="2000" kern="100">
                <a:ea typeface="+mn-lt"/>
                <a:cs typeface="+mn-lt"/>
              </a:rPr>
              <a:t> on the collected </a:t>
            </a:r>
            <a:r>
              <a:rPr lang="en-HK" sz="2000" kern="100">
                <a:solidFill>
                  <a:srgbClr val="000000"/>
                </a:solidFill>
                <a:ea typeface="+mn-lt"/>
                <a:cs typeface="+mn-lt"/>
              </a:rPr>
              <a:t>requirements. Which process activity in</a:t>
            </a:r>
            <a:r>
              <a:rPr lang="en-HK" sz="2000" kern="100">
                <a:ea typeface="+mn-lt"/>
                <a:cs typeface="+mn-lt"/>
              </a:rPr>
              <a:t> the requirement </a:t>
            </a:r>
            <a:r>
              <a:rPr lang="en-HK" sz="2000" kern="100">
                <a:solidFill>
                  <a:srgbClr val="000000"/>
                </a:solidFill>
                <a:ea typeface="+mn-lt"/>
                <a:cs typeface="+mn-lt"/>
              </a:rPr>
              <a:t>engineering process </a:t>
            </a:r>
            <a:r>
              <a:rPr lang="en-HK" sz="2000" kern="100">
                <a:ea typeface="+mn-lt"/>
                <a:cs typeface="+mn-lt"/>
              </a:rPr>
              <a:t>you</a:t>
            </a:r>
            <a:r>
              <a:rPr lang="en-HK" sz="2000" kern="100">
                <a:solidFill>
                  <a:srgbClr val="000000"/>
                </a:solidFill>
                <a:ea typeface="+mn-lt"/>
                <a:cs typeface="+mn-lt"/>
              </a:rPr>
              <a:t> will perform</a:t>
            </a:r>
            <a:r>
              <a:rPr lang="en-HK" sz="2000" kern="100">
                <a:ea typeface="+mn-lt"/>
                <a:cs typeface="+mn-lt"/>
              </a:rPr>
              <a:t>? </a:t>
            </a:r>
            <a:endParaRPr lang="zh-CN"/>
          </a:p>
          <a:p>
            <a:pPr marL="398145" indent="-398145"/>
            <a:r>
              <a:rPr lang="en-HK" sz="2000" kern="100">
                <a:cs typeface="Times New Roman"/>
              </a:rPr>
              <a:t>Marking: 2 marks.</a:t>
            </a:r>
          </a:p>
          <a:p>
            <a:pPr marL="398145" indent="-398145"/>
            <a:r>
              <a:rPr lang="en-HK" sz="2000" kern="100">
                <a:cs typeface="Times New Roman"/>
              </a:rPr>
              <a:t>Reference Answers: Validation. </a:t>
            </a:r>
          </a:p>
          <a:p>
            <a:pPr marL="0" indent="0">
              <a:buNone/>
            </a:pPr>
            <a:r>
              <a:rPr lang="en-HK" sz="2000" kern="100">
                <a:cs typeface="Times New Roman"/>
              </a:rPr>
              <a:t>   (</a:t>
            </a:r>
            <a:r>
              <a:rPr lang="en-HK" sz="2000" kern="100">
                <a:solidFill>
                  <a:srgbClr val="0070C0"/>
                </a:solidFill>
                <a:cs typeface="Times New Roman"/>
              </a:rPr>
              <a:t>[Week 3] Software Requirements.pptx P12</a:t>
            </a:r>
            <a:r>
              <a:rPr lang="en-HK" sz="2000" kern="100">
                <a:cs typeface="Times New Roman"/>
              </a:rPr>
              <a:t>)</a:t>
            </a:r>
          </a:p>
          <a:p>
            <a:pPr marL="398145" indent="-398145"/>
            <a:endParaRPr lang="en-HK" sz="2000" kern="100">
              <a:cs typeface="Times New Roman"/>
            </a:endParaRPr>
          </a:p>
          <a:p>
            <a:pPr marL="398145" indent="-398145"/>
            <a:r>
              <a:rPr lang="en-HK" sz="2000" kern="100">
                <a:cs typeface="Times New Roman"/>
              </a:rPr>
              <a:t>Incorrect Answers: </a:t>
            </a:r>
          </a:p>
          <a:p>
            <a:pPr marL="0" indent="0">
              <a:buNone/>
            </a:pPr>
            <a:r>
              <a:rPr lang="en-HK" sz="2000" kern="100">
                <a:cs typeface="Times New Roman"/>
              </a:rPr>
              <a:t>Negotiation: to resolve ambiguity due to stakeholders with different goals (e.g., workers against management).</a:t>
            </a:r>
            <a:endParaRPr lang="en-HK">
              <a:cs typeface="Times New Roman"/>
            </a:endParaRPr>
          </a:p>
        </p:txBody>
      </p:sp>
      <p:sp>
        <p:nvSpPr>
          <p:cNvPr id="5" name="矩形 4">
            <a:extLst>
              <a:ext uri="{FF2B5EF4-FFF2-40B4-BE49-F238E27FC236}">
                <a16:creationId xmlns:a16="http://schemas.microsoft.com/office/drawing/2014/main" id="{ABE99863-002F-2B62-4A42-3DFB3586400B}"/>
              </a:ext>
            </a:extLst>
          </p:cNvPr>
          <p:cNvSpPr/>
          <p:nvPr/>
        </p:nvSpPr>
        <p:spPr bwMode="auto">
          <a:xfrm>
            <a:off x="5894319" y="2771034"/>
            <a:ext cx="4975360" cy="1092353"/>
          </a:xfrm>
          <a:prstGeom prst="rect">
            <a:avLst/>
          </a:prstGeom>
          <a:solidFill>
            <a:schemeClr val="accent1"/>
          </a:solidFill>
          <a:ln w="12700" cap="flat" cmpd="sng" algn="ctr">
            <a:solidFill>
              <a:schemeClr val="tx1"/>
            </a:solidFill>
            <a:prstDash val="solid"/>
            <a:round/>
            <a:headEnd type="none" w="sm" len="sm"/>
            <a:tailEnd type="none" w="sm" len="sm"/>
          </a:ln>
          <a:effectLst>
            <a:outerShdw dist="71842" dir="2700000" algn="ctr" rotWithShape="0">
              <a:schemeClr val="bg2"/>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0" i="0" u="none" strike="noStrike" cap="none" normalizeH="0" baseline="0">
              <a:ln>
                <a:noFill/>
              </a:ln>
              <a:solidFill>
                <a:schemeClr val="tx1"/>
              </a:solidFill>
              <a:effectLst/>
              <a:latin typeface="Times New Roman" pitchFamily="18" charset="0"/>
            </a:endParaRPr>
          </a:p>
        </p:txBody>
      </p:sp>
      <p:pic>
        <p:nvPicPr>
          <p:cNvPr id="4" name="图片 3">
            <a:extLst>
              <a:ext uri="{FF2B5EF4-FFF2-40B4-BE49-F238E27FC236}">
                <a16:creationId xmlns:a16="http://schemas.microsoft.com/office/drawing/2014/main" id="{46B069F5-D2A7-1AA7-07B1-CAFCFD2334DA}"/>
              </a:ext>
            </a:extLst>
          </p:cNvPr>
          <p:cNvPicPr>
            <a:picLocks noChangeAspect="1"/>
          </p:cNvPicPr>
          <p:nvPr/>
        </p:nvPicPr>
        <p:blipFill>
          <a:blip r:embed="rId2"/>
          <a:stretch>
            <a:fillRect/>
          </a:stretch>
        </p:blipFill>
        <p:spPr>
          <a:xfrm>
            <a:off x="6041246" y="2918979"/>
            <a:ext cx="4645007" cy="773646"/>
          </a:xfrm>
          <a:prstGeom prst="rect">
            <a:avLst/>
          </a:prstGeom>
        </p:spPr>
      </p:pic>
    </p:spTree>
    <p:extLst>
      <p:ext uri="{BB962C8B-B14F-4D97-AF65-F5344CB8AC3E}">
        <p14:creationId xmlns:p14="http://schemas.microsoft.com/office/powerpoint/2010/main" val="63584269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174EE-C973-BBB0-0554-89CF75AB5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3619E-1542-E7B2-B427-1858FF893029}"/>
              </a:ext>
            </a:extLst>
          </p:cNvPr>
          <p:cNvSpPr>
            <a:spLocks noGrp="1"/>
          </p:cNvSpPr>
          <p:nvPr>
            <p:ph type="title"/>
          </p:nvPr>
        </p:nvSpPr>
        <p:spPr/>
        <p:txBody>
          <a:bodyPr/>
          <a:lstStyle/>
          <a:p>
            <a:r>
              <a:rPr lang="en-HK" altLang="zh-CN"/>
              <a:t>Scenario 2 Q2     d) (1 mark)</a:t>
            </a:r>
            <a:endParaRPr lang="en-US" altLang="zh-CN">
              <a:cs typeface="Times New Roman"/>
            </a:endParaRPr>
          </a:p>
        </p:txBody>
      </p:sp>
      <p:sp>
        <p:nvSpPr>
          <p:cNvPr id="3" name="Content Placeholder 2">
            <a:extLst>
              <a:ext uri="{FF2B5EF4-FFF2-40B4-BE49-F238E27FC236}">
                <a16:creationId xmlns:a16="http://schemas.microsoft.com/office/drawing/2014/main" id="{EB245ED4-4EEF-81F5-F165-C00CC4D2B1EA}"/>
              </a:ext>
            </a:extLst>
          </p:cNvPr>
          <p:cNvSpPr>
            <a:spLocks noGrp="1"/>
          </p:cNvSpPr>
          <p:nvPr>
            <p:ph idx="1"/>
          </p:nvPr>
        </p:nvSpPr>
        <p:spPr>
          <a:xfrm>
            <a:off x="571663" y="1828800"/>
            <a:ext cx="10883558" cy="4533900"/>
          </a:xfrm>
        </p:spPr>
        <p:txBody>
          <a:bodyPr/>
          <a:lstStyle/>
          <a:p>
            <a:pPr marL="398145" indent="-398145">
              <a:buNone/>
            </a:pPr>
            <a:r>
              <a:rPr lang="en-HK" sz="2000" kern="100">
                <a:ea typeface="+mn-lt"/>
                <a:cs typeface="+mn-lt"/>
              </a:rPr>
              <a:t>d) What </a:t>
            </a:r>
            <a:r>
              <a:rPr lang="en-HK" sz="2000" kern="100">
                <a:solidFill>
                  <a:srgbClr val="000000"/>
                </a:solidFill>
                <a:ea typeface="+mn-lt"/>
                <a:cs typeface="+mn-lt"/>
              </a:rPr>
              <a:t>is </a:t>
            </a:r>
            <a:r>
              <a:rPr lang="en-HK" sz="2000" kern="100">
                <a:ea typeface="+mn-lt"/>
                <a:cs typeface="+mn-lt"/>
              </a:rPr>
              <a:t>the </a:t>
            </a:r>
            <a:r>
              <a:rPr lang="en-HK" sz="2000" kern="100">
                <a:solidFill>
                  <a:srgbClr val="000000"/>
                </a:solidFill>
                <a:ea typeface="+mn-lt"/>
                <a:cs typeface="+mn-lt"/>
              </a:rPr>
              <a:t>strategy to use </a:t>
            </a:r>
            <a:r>
              <a:rPr lang="en-HK" sz="2000" kern="100">
                <a:ea typeface="+mn-lt"/>
                <a:cs typeface="+mn-lt"/>
              </a:rPr>
              <a:t>to get</a:t>
            </a:r>
            <a:r>
              <a:rPr lang="en-HK" sz="2000" kern="100">
                <a:solidFill>
                  <a:srgbClr val="000000"/>
                </a:solidFill>
                <a:ea typeface="+mn-lt"/>
                <a:cs typeface="+mn-lt"/>
              </a:rPr>
              <a:t> a </a:t>
            </a:r>
            <a:r>
              <a:rPr lang="en-HK" sz="2000" kern="100">
                <a:solidFill>
                  <a:srgbClr val="FF0000"/>
                </a:solidFill>
                <a:ea typeface="+mn-lt"/>
                <a:cs typeface="+mn-lt"/>
              </a:rPr>
              <a:t>more reliable</a:t>
            </a:r>
            <a:r>
              <a:rPr lang="en-HK" sz="2000" kern="100">
                <a:ea typeface="+mn-lt"/>
                <a:cs typeface="+mn-lt"/>
              </a:rPr>
              <a:t> requirement </a:t>
            </a:r>
            <a:r>
              <a:rPr lang="en-HK" sz="2000" kern="100">
                <a:solidFill>
                  <a:srgbClr val="FF0000"/>
                </a:solidFill>
                <a:ea typeface="+mn-lt"/>
                <a:cs typeface="+mn-lt"/>
              </a:rPr>
              <a:t>when confirming it with users</a:t>
            </a:r>
            <a:r>
              <a:rPr lang="en-HK" sz="2000" kern="100">
                <a:ea typeface="+mn-lt"/>
                <a:cs typeface="+mn-lt"/>
              </a:rPr>
              <a:t>?</a:t>
            </a:r>
            <a:endParaRPr lang="zh-CN"/>
          </a:p>
          <a:p>
            <a:pPr marL="398145" indent="-398145"/>
            <a:r>
              <a:rPr lang="en-HK" sz="2000" kern="100">
                <a:cs typeface="Times New Roman"/>
              </a:rPr>
              <a:t>Marking: 1 mark.</a:t>
            </a:r>
          </a:p>
          <a:p>
            <a:pPr marL="398145" indent="-398145"/>
            <a:r>
              <a:rPr lang="en-HK" sz="2000" kern="100">
                <a:cs typeface="Times New Roman"/>
              </a:rPr>
              <a:t>Reference Answers: Confirming the requirement with a small number of sources for consistency. </a:t>
            </a:r>
          </a:p>
          <a:p>
            <a:pPr marL="0" indent="0">
              <a:buNone/>
            </a:pPr>
            <a:r>
              <a:rPr lang="en-HK" sz="2000" kern="100">
                <a:cs typeface="Times New Roman"/>
              </a:rPr>
              <a:t>   (</a:t>
            </a:r>
            <a:r>
              <a:rPr lang="en-HK" sz="2000" kern="100">
                <a:solidFill>
                  <a:srgbClr val="0070C0"/>
                </a:solidFill>
                <a:cs typeface="Times New Roman"/>
              </a:rPr>
              <a:t>[Week 3] Software Requirements.pptx P42</a:t>
            </a:r>
            <a:r>
              <a:rPr lang="en-HK" sz="2000" kern="100">
                <a:cs typeface="Times New Roman"/>
              </a:rPr>
              <a:t>)</a:t>
            </a:r>
          </a:p>
          <a:p>
            <a:pPr marL="398145" indent="-398145"/>
            <a:endParaRPr lang="en-HK" sz="2000" kern="100">
              <a:cs typeface="Times New Roman"/>
            </a:endParaRPr>
          </a:p>
          <a:p>
            <a:pPr marL="0" indent="0">
              <a:buNone/>
            </a:pPr>
            <a:endParaRPr lang="en-HK" sz="2000" kern="100">
              <a:cs typeface="Times New Roman"/>
            </a:endParaRPr>
          </a:p>
          <a:p>
            <a:pPr marL="0" indent="0">
              <a:buNone/>
            </a:pPr>
            <a:endParaRPr lang="en-HK" sz="2000" kern="100">
              <a:cs typeface="Times New Roman"/>
            </a:endParaRPr>
          </a:p>
          <a:p>
            <a:pPr marL="398145" indent="-398145"/>
            <a:r>
              <a:rPr lang="en-HK" sz="2000" kern="100">
                <a:cs typeface="Times New Roman"/>
              </a:rPr>
              <a:t>Incorrect Answers: </a:t>
            </a:r>
            <a:endParaRPr lang="en-HK">
              <a:cs typeface="Times New Roman"/>
            </a:endParaRPr>
          </a:p>
          <a:p>
            <a:pPr marL="0" indent="0">
              <a:buNone/>
            </a:pPr>
            <a:r>
              <a:rPr lang="en-HK" sz="2000" kern="100">
                <a:cs typeface="Times New Roman"/>
              </a:rPr>
              <a:t>Inspection of the requirement specification </a:t>
            </a:r>
            <a:r>
              <a:rPr lang="en-HK" sz="2000" kern="100" err="1">
                <a:cs typeface="Times New Roman"/>
              </a:rPr>
              <a:t>w.r.t.</a:t>
            </a:r>
            <a:r>
              <a:rPr lang="en-HK" sz="2000" kern="100">
                <a:cs typeface="Times New Roman"/>
              </a:rPr>
              <a:t> correctness, completeness, consistency, accuracy, readability, and testability.  (</a:t>
            </a:r>
            <a:r>
              <a:rPr lang="en-HK" sz="2000" kern="100">
                <a:solidFill>
                  <a:srgbClr val="0070C0"/>
                </a:solidFill>
                <a:cs typeface="Times New Roman"/>
              </a:rPr>
              <a:t>[Week 3] Software Requirements.pptx P43</a:t>
            </a:r>
            <a:r>
              <a:rPr lang="en-HK" sz="2000" kern="100">
                <a:cs typeface="Times New Roman"/>
              </a:rPr>
              <a:t>)</a:t>
            </a:r>
            <a:endParaRPr lang="en-HK">
              <a:cs typeface="Times New Roman"/>
            </a:endParaRPr>
          </a:p>
        </p:txBody>
      </p:sp>
      <p:sp>
        <p:nvSpPr>
          <p:cNvPr id="5" name="矩形 4">
            <a:extLst>
              <a:ext uri="{FF2B5EF4-FFF2-40B4-BE49-F238E27FC236}">
                <a16:creationId xmlns:a16="http://schemas.microsoft.com/office/drawing/2014/main" id="{44B3255D-B050-044E-ABB9-A440D6BD5ACE}"/>
              </a:ext>
            </a:extLst>
          </p:cNvPr>
          <p:cNvSpPr/>
          <p:nvPr/>
        </p:nvSpPr>
        <p:spPr bwMode="auto">
          <a:xfrm>
            <a:off x="6341481" y="3008303"/>
            <a:ext cx="4468881" cy="1306809"/>
          </a:xfrm>
          <a:prstGeom prst="rect">
            <a:avLst/>
          </a:prstGeom>
          <a:solidFill>
            <a:schemeClr val="accent1"/>
          </a:solidFill>
          <a:ln w="12700" cap="flat" cmpd="sng" algn="ctr">
            <a:solidFill>
              <a:schemeClr val="tx1"/>
            </a:solidFill>
            <a:prstDash val="solid"/>
            <a:round/>
            <a:headEnd type="none" w="sm" len="sm"/>
            <a:tailEnd type="none" w="sm" len="sm"/>
          </a:ln>
          <a:effectLst>
            <a:outerShdw dist="71842" dir="2700000" algn="ctr" rotWithShape="0">
              <a:schemeClr val="bg2"/>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0" i="0" u="none" strike="noStrike" cap="none" normalizeH="0" baseline="0">
              <a:ln>
                <a:noFill/>
              </a:ln>
              <a:solidFill>
                <a:schemeClr val="tx1"/>
              </a:solidFill>
              <a:effectLst/>
              <a:latin typeface="Times New Roman" pitchFamily="18" charset="0"/>
            </a:endParaRPr>
          </a:p>
        </p:txBody>
      </p:sp>
      <p:pic>
        <p:nvPicPr>
          <p:cNvPr id="4" name="图片 3" descr="图形用户界面, 文本&#10;&#10;AI 生成的内容可能不正确。">
            <a:extLst>
              <a:ext uri="{FF2B5EF4-FFF2-40B4-BE49-F238E27FC236}">
                <a16:creationId xmlns:a16="http://schemas.microsoft.com/office/drawing/2014/main" id="{AE8EE597-646D-3AA5-570E-DCEA9C6A01D7}"/>
              </a:ext>
            </a:extLst>
          </p:cNvPr>
          <p:cNvPicPr>
            <a:picLocks noChangeAspect="1"/>
          </p:cNvPicPr>
          <p:nvPr/>
        </p:nvPicPr>
        <p:blipFill>
          <a:blip r:embed="rId2"/>
          <a:stretch>
            <a:fillRect/>
          </a:stretch>
        </p:blipFill>
        <p:spPr>
          <a:xfrm>
            <a:off x="6429090" y="3093136"/>
            <a:ext cx="4289102" cy="1123452"/>
          </a:xfrm>
          <a:prstGeom prst="rect">
            <a:avLst/>
          </a:prstGeom>
        </p:spPr>
      </p:pic>
    </p:spTree>
    <p:extLst>
      <p:ext uri="{BB962C8B-B14F-4D97-AF65-F5344CB8AC3E}">
        <p14:creationId xmlns:p14="http://schemas.microsoft.com/office/powerpoint/2010/main" val="245759741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A864B-399E-A27C-9039-CE40B99C8F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941F60-D16B-9A38-24F6-D10A862B8B7F}"/>
              </a:ext>
            </a:extLst>
          </p:cNvPr>
          <p:cNvSpPr>
            <a:spLocks noGrp="1"/>
          </p:cNvSpPr>
          <p:nvPr>
            <p:ph type="title"/>
          </p:nvPr>
        </p:nvSpPr>
        <p:spPr/>
        <p:txBody>
          <a:bodyPr/>
          <a:lstStyle/>
          <a:p>
            <a:r>
              <a:rPr lang="en-HK" altLang="zh-CN"/>
              <a:t>Scenario 2 Q3</a:t>
            </a:r>
            <a:r>
              <a:rPr lang="en-HK"/>
              <a:t>     </a:t>
            </a:r>
            <a:r>
              <a:rPr lang="en-HK" altLang="zh-CN"/>
              <a:t>(4 marks)</a:t>
            </a:r>
            <a:endParaRPr lang="en-US" altLang="zh-CN">
              <a:cs typeface="Times New Roman"/>
            </a:endParaRPr>
          </a:p>
        </p:txBody>
      </p:sp>
      <p:sp>
        <p:nvSpPr>
          <p:cNvPr id="3" name="Content Placeholder 2">
            <a:extLst>
              <a:ext uri="{FF2B5EF4-FFF2-40B4-BE49-F238E27FC236}">
                <a16:creationId xmlns:a16="http://schemas.microsoft.com/office/drawing/2014/main" id="{00029AAC-CA38-EB26-1BE1-CC2BEDC2552C}"/>
              </a:ext>
            </a:extLst>
          </p:cNvPr>
          <p:cNvSpPr>
            <a:spLocks noGrp="1"/>
          </p:cNvSpPr>
          <p:nvPr>
            <p:ph idx="1"/>
          </p:nvPr>
        </p:nvSpPr>
        <p:spPr>
          <a:xfrm>
            <a:off x="567100" y="1787734"/>
            <a:ext cx="10883558" cy="4533900"/>
          </a:xfrm>
        </p:spPr>
        <p:txBody>
          <a:bodyPr/>
          <a:lstStyle/>
          <a:p>
            <a:pPr marL="398145" indent="-398145">
              <a:buNone/>
            </a:pPr>
            <a:r>
              <a:rPr lang="en-HK" sz="2000" kern="100">
                <a:ea typeface="+mn-lt"/>
                <a:cs typeface="+mn-lt"/>
              </a:rPr>
              <a:t>Q3. Stakeholders disagree on the priority of security versus usability. You understand that you can take different requirements analyst positions. Which position should be better be adopted to address this conflict, and which elicitation technique is most suitable? Explain briefly why the position you will take is suitable and the technique to be used.</a:t>
            </a:r>
            <a:endParaRPr lang="zh-CN" altLang="en-US" sz="2000">
              <a:ea typeface="+mn-lt"/>
              <a:cs typeface="+mn-lt"/>
            </a:endParaRPr>
          </a:p>
          <a:p>
            <a:pPr marL="398145" indent="-398145">
              <a:buFont typeface="Wingdings"/>
              <a:buChar char="u"/>
            </a:pPr>
            <a:r>
              <a:rPr lang="en-HK" sz="2000" kern="100">
                <a:cs typeface="Times New Roman"/>
              </a:rPr>
              <a:t>Marking: 4 marks. </a:t>
            </a:r>
            <a:r>
              <a:rPr lang="en-HK" sz="2000" kern="100">
                <a:ea typeface="+mn-lt"/>
                <a:cs typeface="+mn-lt"/>
              </a:rPr>
              <a:t>1 mark for correct analyst position, 1 mark for brief justification for the position, 1 mark for the selected technique, 1 mark for suitable technique and brief explanation.</a:t>
            </a:r>
            <a:endParaRPr lang="en-HK">
              <a:cs typeface="Times New Roman"/>
            </a:endParaRPr>
          </a:p>
          <a:p>
            <a:pPr marL="0" indent="0">
              <a:spcBef>
                <a:spcPts val="20"/>
              </a:spcBef>
              <a:buNone/>
            </a:pPr>
            <a:r>
              <a:rPr lang="en-HK" sz="2000" kern="100">
                <a:cs typeface="Times New Roman"/>
              </a:rPr>
              <a:t>Reference Answers: </a:t>
            </a:r>
            <a:endParaRPr lang="en-US" sz="2000" kern="100">
              <a:cs typeface="Times New Roman"/>
            </a:endParaRPr>
          </a:p>
          <a:p>
            <a:pPr marL="0" indent="0">
              <a:spcBef>
                <a:spcPts val="20"/>
              </a:spcBef>
              <a:buNone/>
            </a:pPr>
            <a:r>
              <a:rPr lang="en-HK" sz="2000" kern="100">
                <a:cs typeface="Times New Roman"/>
              </a:rPr>
              <a:t>Adopt one of the following positions:</a:t>
            </a:r>
            <a:endParaRPr lang="en-US" sz="2000" kern="100">
              <a:cs typeface="Times New Roman"/>
            </a:endParaRPr>
          </a:p>
          <a:p>
            <a:pPr marL="398145" indent="-398145">
              <a:buFont typeface="Wingdings"/>
              <a:buChar char="u"/>
            </a:pPr>
            <a:r>
              <a:rPr lang="en-HK" sz="2000" kern="100">
                <a:cs typeface="Times New Roman"/>
              </a:rPr>
              <a:t>radical-structuralism (objective + conflict) to address conflicting stakeholder goals.  Radical-structuralism is suitable for clear, fundamental conflicts.</a:t>
            </a:r>
            <a:endParaRPr lang="en-US" sz="2000" kern="100">
              <a:cs typeface="Times New Roman"/>
            </a:endParaRPr>
          </a:p>
          <a:p>
            <a:pPr marL="398145" indent="-398145">
              <a:buFont typeface="Wingdings"/>
              <a:buChar char="u"/>
            </a:pPr>
            <a:r>
              <a:rPr lang="en-HK" sz="2000" kern="100">
                <a:cs typeface="Times New Roman"/>
              </a:rPr>
              <a:t>Social-relativism (subjective + order): If the goal is to build consensus through collaboration </a:t>
            </a:r>
            <a:r>
              <a:rPr lang="en-HK" sz="2000" kern="100" err="1">
                <a:cs typeface="Times New Roman"/>
              </a:rPr>
              <a:t>andnegotiation</a:t>
            </a:r>
            <a:r>
              <a:rPr lang="en-HK" sz="2000" kern="100">
                <a:cs typeface="Times New Roman"/>
              </a:rPr>
              <a:t>, especially when stakeholders have different perceptions but are open to </a:t>
            </a:r>
            <a:r>
              <a:rPr lang="en-HK" sz="2000" kern="100" err="1">
                <a:cs typeface="Times New Roman"/>
              </a:rPr>
              <a:t>compromise.Social</a:t>
            </a:r>
            <a:r>
              <a:rPr lang="en-HK" sz="2000" kern="100">
                <a:cs typeface="Times New Roman"/>
              </a:rPr>
              <a:t>-relativism is suitable for consensus-building. </a:t>
            </a:r>
            <a:endParaRPr lang="en-US" sz="2000" kern="100">
              <a:cs typeface="Times New Roman"/>
            </a:endParaRPr>
          </a:p>
          <a:p>
            <a:pPr marL="0" indent="0">
              <a:buNone/>
            </a:pPr>
            <a:r>
              <a:rPr lang="en-HK" sz="2000" kern="100">
                <a:cs typeface="Times New Roman"/>
              </a:rPr>
              <a:t>   For this Scenario 2, (subjective + order) is a better choice.  </a:t>
            </a:r>
          </a:p>
          <a:p>
            <a:pPr marL="0" indent="0">
              <a:buNone/>
            </a:pPr>
            <a:endParaRPr lang="en-HK" sz="2000" kern="100">
              <a:cs typeface="Times New Roman"/>
            </a:endParaRPr>
          </a:p>
          <a:p>
            <a:pPr marL="398145" indent="-398145">
              <a:buFont typeface="Wingdings"/>
              <a:buChar char="u"/>
            </a:pPr>
            <a:endParaRPr lang="en-HK" sz="2000" kern="100">
              <a:cs typeface="Times New Roman"/>
            </a:endParaRPr>
          </a:p>
          <a:p>
            <a:pPr marL="0" indent="0">
              <a:buNone/>
            </a:pPr>
            <a:endParaRPr lang="en-HK" sz="2000" kern="100">
              <a:cs typeface="Times New Roman"/>
            </a:endParaRPr>
          </a:p>
          <a:p>
            <a:pPr marL="0" indent="0">
              <a:buNone/>
            </a:pPr>
            <a:endParaRPr lang="en-HK" sz="2000" kern="100">
              <a:cs typeface="Times New Roman"/>
            </a:endParaRPr>
          </a:p>
          <a:p>
            <a:pPr marL="0" indent="0">
              <a:buNone/>
            </a:pPr>
            <a:endParaRPr lang="en-HK" sz="2000" kern="100">
              <a:cs typeface="Times New Roman"/>
            </a:endParaRPr>
          </a:p>
          <a:p>
            <a:pPr marL="398145" indent="-398145">
              <a:buNone/>
            </a:pPr>
            <a:endParaRPr lang="en-HK" sz="2000" kern="100">
              <a:cs typeface="Times New Roman"/>
            </a:endParaRPr>
          </a:p>
          <a:p>
            <a:pPr marL="457200" indent="-457200">
              <a:buAutoNum type="alphaLcParenR"/>
            </a:pPr>
            <a:endParaRPr lang="en-HK" sz="2000" kern="100">
              <a:cs typeface="Times New Roman"/>
            </a:endParaRPr>
          </a:p>
        </p:txBody>
      </p:sp>
    </p:spTree>
    <p:extLst>
      <p:ext uri="{BB962C8B-B14F-4D97-AF65-F5344CB8AC3E}">
        <p14:creationId xmlns:p14="http://schemas.microsoft.com/office/powerpoint/2010/main" val="1952843614"/>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11BA3-682D-7C2D-9DD0-7AD710CBE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F14B1-EC6A-412D-3AE3-B63AE5BBCC7B}"/>
              </a:ext>
            </a:extLst>
          </p:cNvPr>
          <p:cNvSpPr>
            <a:spLocks noGrp="1"/>
          </p:cNvSpPr>
          <p:nvPr>
            <p:ph type="title"/>
          </p:nvPr>
        </p:nvSpPr>
        <p:spPr/>
        <p:txBody>
          <a:bodyPr/>
          <a:lstStyle/>
          <a:p>
            <a:r>
              <a:rPr lang="en-HK" altLang="zh-CN"/>
              <a:t>Scenario 2 Q3</a:t>
            </a:r>
            <a:r>
              <a:rPr lang="en-HK"/>
              <a:t>     </a:t>
            </a:r>
            <a:r>
              <a:rPr lang="en-HK" altLang="zh-CN"/>
              <a:t>(4 marks)</a:t>
            </a:r>
            <a:endParaRPr lang="en-US" altLang="zh-CN">
              <a:cs typeface="Times New Roman"/>
            </a:endParaRPr>
          </a:p>
        </p:txBody>
      </p:sp>
      <p:sp>
        <p:nvSpPr>
          <p:cNvPr id="3" name="Content Placeholder 2">
            <a:extLst>
              <a:ext uri="{FF2B5EF4-FFF2-40B4-BE49-F238E27FC236}">
                <a16:creationId xmlns:a16="http://schemas.microsoft.com/office/drawing/2014/main" id="{DA9109BE-9C5A-7709-1BE0-5750C160A3ED}"/>
              </a:ext>
            </a:extLst>
          </p:cNvPr>
          <p:cNvSpPr>
            <a:spLocks noGrp="1"/>
          </p:cNvSpPr>
          <p:nvPr>
            <p:ph idx="1"/>
          </p:nvPr>
        </p:nvSpPr>
        <p:spPr>
          <a:xfrm>
            <a:off x="626417" y="1714728"/>
            <a:ext cx="10883558" cy="4903492"/>
          </a:xfrm>
        </p:spPr>
        <p:txBody>
          <a:bodyPr/>
          <a:lstStyle/>
          <a:p>
            <a:pPr marL="0" indent="0">
              <a:buNone/>
            </a:pPr>
            <a:r>
              <a:rPr lang="en-HK" sz="2000" kern="100">
                <a:cs typeface="Times New Roman"/>
              </a:rPr>
              <a:t>Technique: </a:t>
            </a:r>
            <a:endParaRPr lang="en-HK">
              <a:cs typeface="Times New Roman"/>
            </a:endParaRPr>
          </a:p>
          <a:p>
            <a:pPr marL="398145" indent="-398145"/>
            <a:r>
              <a:rPr lang="en-HK" sz="2000" kern="100">
                <a:cs typeface="Times New Roman"/>
              </a:rPr>
              <a:t>Use a facilitated workshop or negotiation session to collaboratively prioritize requirements and resolve conflicts.</a:t>
            </a:r>
          </a:p>
          <a:p>
            <a:pPr marL="398145" indent="-398145">
              <a:buNone/>
            </a:pPr>
            <a:r>
              <a:rPr lang="en-HK" sz="2000" kern="100">
                <a:cs typeface="Times New Roman"/>
              </a:rPr>
              <a:t>(</a:t>
            </a:r>
            <a:r>
              <a:rPr lang="en-HK" sz="2000" kern="100">
                <a:solidFill>
                  <a:srgbClr val="0070C0"/>
                </a:solidFill>
                <a:cs typeface="Times New Roman"/>
              </a:rPr>
              <a:t>[Week 3] Software Requirements.pptx P16 &amp; P35</a:t>
            </a:r>
            <a:r>
              <a:rPr lang="en-HK" sz="2000" kern="100">
                <a:cs typeface="Times New Roman"/>
              </a:rPr>
              <a:t>)</a:t>
            </a:r>
          </a:p>
          <a:p>
            <a:pPr marL="0" indent="0">
              <a:buNone/>
            </a:pPr>
            <a:endParaRPr lang="en-US" sz="2000" kern="100">
              <a:cs typeface="Times New Roman"/>
            </a:endParaRPr>
          </a:p>
          <a:p>
            <a:pPr marL="398145" indent="-398145">
              <a:buFont typeface="Wingdings"/>
              <a:buChar char="u"/>
            </a:pPr>
            <a:r>
              <a:rPr lang="en-HK" sz="2000" kern="100">
                <a:cs typeface="Times New Roman"/>
              </a:rPr>
              <a:t>Incorrect Answers: </a:t>
            </a:r>
          </a:p>
          <a:p>
            <a:pPr marL="0" indent="0">
              <a:buNone/>
            </a:pPr>
            <a:r>
              <a:rPr lang="en-HK" sz="2000" kern="100">
                <a:cs typeface="Times New Roman"/>
              </a:rPr>
              <a:t>Focus group</a:t>
            </a:r>
          </a:p>
          <a:p>
            <a:pPr marL="457200" indent="-457200"/>
            <a:endParaRPr lang="en-HK" sz="2000" kern="100">
              <a:cs typeface="Times New Roman"/>
            </a:endParaRPr>
          </a:p>
        </p:txBody>
      </p:sp>
    </p:spTree>
    <p:extLst>
      <p:ext uri="{BB962C8B-B14F-4D97-AF65-F5344CB8AC3E}">
        <p14:creationId xmlns:p14="http://schemas.microsoft.com/office/powerpoint/2010/main" val="2896806202"/>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67251-C0B4-2CE7-22FE-DD48D11C7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47E1A-11FC-06D2-C157-E36957727390}"/>
              </a:ext>
            </a:extLst>
          </p:cNvPr>
          <p:cNvSpPr>
            <a:spLocks noGrp="1"/>
          </p:cNvSpPr>
          <p:nvPr>
            <p:ph type="title"/>
          </p:nvPr>
        </p:nvSpPr>
        <p:spPr/>
        <p:txBody>
          <a:bodyPr/>
          <a:lstStyle/>
          <a:p>
            <a:r>
              <a:rPr lang="en-HK" altLang="zh-CN"/>
              <a:t>Scenario 2 Q4</a:t>
            </a:r>
            <a:r>
              <a:rPr lang="en-HK"/>
              <a:t>     </a:t>
            </a:r>
            <a:r>
              <a:rPr lang="en-HK" altLang="zh-CN"/>
              <a:t>(4 marks)</a:t>
            </a:r>
            <a:endParaRPr lang="en-US" altLang="zh-CN">
              <a:cs typeface="Times New Roman"/>
            </a:endParaRPr>
          </a:p>
        </p:txBody>
      </p:sp>
      <p:sp>
        <p:nvSpPr>
          <p:cNvPr id="3" name="Content Placeholder 2">
            <a:extLst>
              <a:ext uri="{FF2B5EF4-FFF2-40B4-BE49-F238E27FC236}">
                <a16:creationId xmlns:a16="http://schemas.microsoft.com/office/drawing/2014/main" id="{307A14F0-421D-616A-9854-9F950784CA3E}"/>
              </a:ext>
            </a:extLst>
          </p:cNvPr>
          <p:cNvSpPr>
            <a:spLocks noGrp="1"/>
          </p:cNvSpPr>
          <p:nvPr>
            <p:ph idx="1"/>
          </p:nvPr>
        </p:nvSpPr>
        <p:spPr>
          <a:xfrm>
            <a:off x="626417" y="1714728"/>
            <a:ext cx="10883558" cy="4903492"/>
          </a:xfrm>
        </p:spPr>
        <p:txBody>
          <a:bodyPr/>
          <a:lstStyle/>
          <a:p>
            <a:pPr marL="398145" indent="-398145">
              <a:spcBef>
                <a:spcPts val="20"/>
              </a:spcBef>
              <a:buNone/>
            </a:pPr>
            <a:r>
              <a:rPr lang="en-HK" sz="2000" kern="100">
                <a:cs typeface="Times New Roman"/>
              </a:rPr>
              <a:t>Q4. The project manager wants requirements to be measurable and testable. Rewrite the ambiguous requirement “the system should be scalable in processing payment” into a </a:t>
            </a:r>
            <a:r>
              <a:rPr lang="en-HK" sz="2000" kern="100">
                <a:solidFill>
                  <a:srgbClr val="FF0000"/>
                </a:solidFill>
                <a:cs typeface="Times New Roman"/>
              </a:rPr>
              <a:t>measurable and testable</a:t>
            </a:r>
            <a:r>
              <a:rPr lang="en-HK" sz="2000" kern="100">
                <a:cs typeface="Times New Roman"/>
              </a:rPr>
              <a:t> requirement suitable for the e-commerce platform scenario such as the HKTV mall platform for the Hong Kong market.</a:t>
            </a:r>
            <a:endParaRPr lang="zh-CN" altLang="en-US"/>
          </a:p>
          <a:p>
            <a:pPr marL="398145" indent="-398145"/>
            <a:r>
              <a:rPr lang="en-HK" sz="2000" kern="100">
                <a:cs typeface="Times New Roman"/>
              </a:rPr>
              <a:t>Marking: 4 marks. </a:t>
            </a:r>
            <a:r>
              <a:rPr lang="en-HK" sz="2000" kern="100">
                <a:ea typeface="+mn-lt"/>
                <a:cs typeface="+mn-lt"/>
              </a:rPr>
              <a:t>2 marks for quantifying scalability (e.g., number of users, response time), 2 marks for making it testable (clear criteria for testing).</a:t>
            </a:r>
            <a:endParaRPr lang="en-HK" sz="2000" kern="100">
              <a:cs typeface="Times New Roman"/>
            </a:endParaRPr>
          </a:p>
          <a:p>
            <a:pPr marL="398145" indent="-398145"/>
            <a:r>
              <a:rPr lang="en-HK" sz="2000" kern="100">
                <a:cs typeface="Times New Roman"/>
              </a:rPr>
              <a:t>Reference Answers: </a:t>
            </a:r>
            <a:endParaRPr lang="en-HK">
              <a:ea typeface="+mn-lt"/>
              <a:cs typeface="+mn-lt"/>
            </a:endParaRPr>
          </a:p>
          <a:p>
            <a:pPr marL="0" indent="0">
              <a:buNone/>
            </a:pPr>
            <a:r>
              <a:rPr lang="en-HK" sz="2000" kern="100">
                <a:ea typeface="+mn-lt"/>
                <a:cs typeface="+mn-lt"/>
              </a:rPr>
              <a:t> “The system must support at least 5,000 concurrent users during peak shopping hours with a response time of less than 2 seconds for 95% of payment transactions.”</a:t>
            </a:r>
            <a:endParaRPr lang="en-HK">
              <a:cs typeface="Times New Roman"/>
            </a:endParaRPr>
          </a:p>
        </p:txBody>
      </p:sp>
    </p:spTree>
    <p:extLst>
      <p:ext uri="{BB962C8B-B14F-4D97-AF65-F5344CB8AC3E}">
        <p14:creationId xmlns:p14="http://schemas.microsoft.com/office/powerpoint/2010/main" val="829304858"/>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A9FF75-A262-409E-14B6-485D204FE8BD}"/>
              </a:ext>
            </a:extLst>
          </p:cNvPr>
          <p:cNvSpPr>
            <a:spLocks noGrp="1"/>
          </p:cNvSpPr>
          <p:nvPr>
            <p:ph type="title"/>
          </p:nvPr>
        </p:nvSpPr>
        <p:spPr/>
        <p:txBody>
          <a:bodyPr/>
          <a:lstStyle/>
          <a:p>
            <a:r>
              <a:rPr lang="en-HK" altLang="zh-CN">
                <a:ea typeface="+mj-lt"/>
                <a:cs typeface="Times New Roman"/>
              </a:rPr>
              <a:t>Scenario 2 Q5     (5 marks)</a:t>
            </a:r>
            <a:endParaRPr lang="en-US" altLang="zh-CN"/>
          </a:p>
        </p:txBody>
      </p:sp>
      <p:sp>
        <p:nvSpPr>
          <p:cNvPr id="3" name="内容占位符 2">
            <a:extLst>
              <a:ext uri="{FF2B5EF4-FFF2-40B4-BE49-F238E27FC236}">
                <a16:creationId xmlns:a16="http://schemas.microsoft.com/office/drawing/2014/main" id="{9AD3C68C-F3B7-64B4-9D93-35073DD37C81}"/>
              </a:ext>
            </a:extLst>
          </p:cNvPr>
          <p:cNvSpPr>
            <a:spLocks noGrp="1"/>
          </p:cNvSpPr>
          <p:nvPr>
            <p:ph idx="1"/>
          </p:nvPr>
        </p:nvSpPr>
        <p:spPr/>
        <p:txBody>
          <a:bodyPr/>
          <a:lstStyle/>
          <a:p>
            <a:pPr marL="398145" indent="-398145"/>
            <a:r>
              <a:rPr lang="en-HK" altLang="zh-CN" sz="2000">
                <a:ea typeface="+mn-lt"/>
                <a:cs typeface="+mn-lt"/>
              </a:rPr>
              <a:t>Q5. Suppose the team is analysing competitors’ e-commerce platforms. All platforms are found to consider security as an important feature. But the team also finds that some have complex checkout processes while others are streamlined but less secure. There are also features of personalized recommendation about the screens and action buttons in the checkout processes on some platforms. One competitor platform adds a 15-second game as a feature after the checkout button is pressed to enhance the user experience.</a:t>
            </a:r>
            <a:endParaRPr lang="zh-CN" altLang="en-US" sz="2000">
              <a:cs typeface="Times New Roman"/>
            </a:endParaRPr>
          </a:p>
          <a:p>
            <a:pPr marL="398145" indent="-398145"/>
            <a:r>
              <a:rPr lang="en-HK" altLang="zh-CN" sz="2000">
                <a:ea typeface="+mn-lt"/>
                <a:cs typeface="+mn-lt"/>
              </a:rPr>
              <a:t>The project team selects the </a:t>
            </a:r>
            <a:r>
              <a:rPr lang="en-HK" altLang="zh-CN" sz="2000" err="1">
                <a:ea typeface="+mn-lt"/>
                <a:cs typeface="+mn-lt"/>
              </a:rPr>
              <a:t>MoSCoW</a:t>
            </a:r>
            <a:r>
              <a:rPr lang="en-HK" altLang="zh-CN" sz="2000">
                <a:ea typeface="+mn-lt"/>
                <a:cs typeface="+mn-lt"/>
              </a:rPr>
              <a:t> method as the requirements prioritization approach.  Extract the platform features mentioned above and prioritize them according to the requirement categories in the </a:t>
            </a:r>
            <a:r>
              <a:rPr lang="en-HK" altLang="zh-CN" sz="2000" err="1">
                <a:ea typeface="+mn-lt"/>
                <a:cs typeface="+mn-lt"/>
              </a:rPr>
              <a:t>MoSCoW</a:t>
            </a:r>
            <a:r>
              <a:rPr lang="en-HK" altLang="zh-CN" sz="2000">
                <a:ea typeface="+mn-lt"/>
                <a:cs typeface="+mn-lt"/>
              </a:rPr>
              <a:t> method. Explain the order of your priority to resolve conflicts.</a:t>
            </a:r>
            <a:endParaRPr lang="zh-CN" sz="2000">
              <a:cs typeface="Times New Roman"/>
            </a:endParaRPr>
          </a:p>
          <a:p>
            <a:pPr marL="398145" indent="-398145"/>
            <a:endParaRPr lang="zh-CN" altLang="en-US" sz="2000">
              <a:cs typeface="Times New Roman"/>
            </a:endParaRPr>
          </a:p>
        </p:txBody>
      </p:sp>
      <p:sp>
        <p:nvSpPr>
          <p:cNvPr id="4" name="灯片编号占位符 3">
            <a:extLst>
              <a:ext uri="{FF2B5EF4-FFF2-40B4-BE49-F238E27FC236}">
                <a16:creationId xmlns:a16="http://schemas.microsoft.com/office/drawing/2014/main" id="{7109B822-9445-39BC-4681-C26156957ED6}"/>
              </a:ext>
            </a:extLst>
          </p:cNvPr>
          <p:cNvSpPr>
            <a:spLocks noGrp="1"/>
          </p:cNvSpPr>
          <p:nvPr>
            <p:ph type="sldNum" sz="quarter" idx="12"/>
          </p:nvPr>
        </p:nvSpPr>
        <p:spPr/>
        <p:txBody>
          <a:bodyPr/>
          <a:lstStyle/>
          <a:p>
            <a:pPr>
              <a:defRPr/>
            </a:pPr>
            <a:fld id="{63B8F44C-0EDE-4D7D-9086-BD1CF3CE7AF7}" type="slidenum">
              <a:rPr lang="en-US" smtClean="0"/>
              <a:pPr>
                <a:defRPr/>
              </a:pPr>
              <a:t>49</a:t>
            </a:fld>
            <a:endParaRPr lang="en-US"/>
          </a:p>
        </p:txBody>
      </p:sp>
    </p:spTree>
    <p:extLst>
      <p:ext uri="{BB962C8B-B14F-4D97-AF65-F5344CB8AC3E}">
        <p14:creationId xmlns:p14="http://schemas.microsoft.com/office/powerpoint/2010/main" val="44199044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2D6BE-3533-3F85-FD37-FA0BE9BD61A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EDE86BC-8388-B769-BCEB-11363FB10E0F}"/>
              </a:ext>
            </a:extLst>
          </p:cNvPr>
          <p:cNvSpPr>
            <a:spLocks noGrp="1"/>
          </p:cNvSpPr>
          <p:nvPr>
            <p:ph type="title"/>
          </p:nvPr>
        </p:nvSpPr>
        <p:spPr/>
        <p:txBody>
          <a:bodyPr/>
          <a:lstStyle/>
          <a:p>
            <a:r>
              <a:rPr lang="en-HK" altLang="zh-CN">
                <a:ea typeface="+mj-lt"/>
                <a:cs typeface="Times New Roman"/>
              </a:rPr>
              <a:t>Scenario 2 Q5     (5 marks)</a:t>
            </a:r>
            <a:endParaRPr lang="en-US" altLang="zh-CN"/>
          </a:p>
        </p:txBody>
      </p:sp>
      <p:sp>
        <p:nvSpPr>
          <p:cNvPr id="3" name="内容占位符 2">
            <a:extLst>
              <a:ext uri="{FF2B5EF4-FFF2-40B4-BE49-F238E27FC236}">
                <a16:creationId xmlns:a16="http://schemas.microsoft.com/office/drawing/2014/main" id="{AA469ABB-F8E6-803B-EB6A-D2A49C12195B}"/>
              </a:ext>
            </a:extLst>
          </p:cNvPr>
          <p:cNvSpPr>
            <a:spLocks noGrp="1"/>
          </p:cNvSpPr>
          <p:nvPr>
            <p:ph idx="1"/>
          </p:nvPr>
        </p:nvSpPr>
        <p:spPr/>
        <p:txBody>
          <a:bodyPr/>
          <a:lstStyle/>
          <a:p>
            <a:pPr marL="0" indent="0">
              <a:buNone/>
            </a:pPr>
            <a:endParaRPr lang="en-HK" altLang="zh-CN" sz="2000">
              <a:cs typeface="Times New Roman"/>
            </a:endParaRPr>
          </a:p>
          <a:p>
            <a:pPr marL="398145" indent="-398145"/>
            <a:r>
              <a:rPr lang="en-HK" sz="2000" b="1">
                <a:ea typeface="+mn-lt"/>
                <a:cs typeface="+mn-lt"/>
              </a:rPr>
              <a:t>Answers:</a:t>
            </a:r>
            <a:endParaRPr lang="en-HK" altLang="zh-CN" sz="2000">
              <a:cs typeface="Times New Roman"/>
            </a:endParaRPr>
          </a:p>
          <a:p>
            <a:pPr marL="398145" indent="-398145"/>
            <a:r>
              <a:rPr lang="en-HK" sz="2000">
                <a:ea typeface="+mn-lt"/>
                <a:cs typeface="+mn-lt"/>
              </a:rPr>
              <a:t>Use the </a:t>
            </a:r>
            <a:r>
              <a:rPr lang="en-HK" sz="2000" err="1">
                <a:ea typeface="+mn-lt"/>
                <a:cs typeface="+mn-lt"/>
              </a:rPr>
              <a:t>MoSCoW</a:t>
            </a:r>
            <a:r>
              <a:rPr lang="en-HK" sz="2000">
                <a:ea typeface="+mn-lt"/>
                <a:cs typeface="+mn-lt"/>
              </a:rPr>
              <a:t> method to classify requirements as </a:t>
            </a:r>
            <a:endParaRPr lang="en-HK"/>
          </a:p>
          <a:p>
            <a:pPr marL="398145" indent="-398145"/>
            <a:r>
              <a:rPr lang="en-HK" sz="2000">
                <a:solidFill>
                  <a:srgbClr val="FF0000"/>
                </a:solidFill>
                <a:ea typeface="+mn-lt"/>
                <a:cs typeface="+mn-lt"/>
              </a:rPr>
              <a:t>Must </a:t>
            </a:r>
            <a:r>
              <a:rPr lang="en-HK" sz="2000">
                <a:ea typeface="+mn-lt"/>
                <a:cs typeface="+mn-lt"/>
              </a:rPr>
              <a:t>(e.g., secure payment processing), </a:t>
            </a:r>
            <a:endParaRPr lang="en-HK"/>
          </a:p>
          <a:p>
            <a:pPr marL="398145" indent="-398145"/>
            <a:r>
              <a:rPr lang="en-HK" sz="2000">
                <a:solidFill>
                  <a:srgbClr val="FF0000"/>
                </a:solidFill>
                <a:ea typeface="+mn-lt"/>
                <a:cs typeface="+mn-lt"/>
              </a:rPr>
              <a:t>Should </a:t>
            </a:r>
            <a:r>
              <a:rPr lang="en-HK" sz="2000">
                <a:ea typeface="+mn-lt"/>
                <a:cs typeface="+mn-lt"/>
              </a:rPr>
              <a:t>(e.g., streamlined checkout), </a:t>
            </a:r>
            <a:endParaRPr lang="en-HK"/>
          </a:p>
          <a:p>
            <a:pPr marL="398145" indent="-398145"/>
            <a:r>
              <a:rPr lang="en-HK" sz="2000">
                <a:solidFill>
                  <a:srgbClr val="FF0000"/>
                </a:solidFill>
                <a:ea typeface="+mn-lt"/>
                <a:cs typeface="+mn-lt"/>
              </a:rPr>
              <a:t>Could </a:t>
            </a:r>
            <a:r>
              <a:rPr lang="en-HK" sz="2000">
                <a:ea typeface="+mn-lt"/>
                <a:cs typeface="+mn-lt"/>
              </a:rPr>
              <a:t>(e.g., personalized recommendations), </a:t>
            </a:r>
            <a:endParaRPr lang="en-HK"/>
          </a:p>
          <a:p>
            <a:pPr marL="398145" indent="-398145"/>
            <a:r>
              <a:rPr lang="en-HK" sz="2000">
                <a:solidFill>
                  <a:srgbClr val="FF0000"/>
                </a:solidFill>
                <a:ea typeface="+mn-lt"/>
                <a:cs typeface="+mn-lt"/>
              </a:rPr>
              <a:t>Won’t have</a:t>
            </a:r>
            <a:r>
              <a:rPr lang="en-HK" sz="2000">
                <a:ea typeface="+mn-lt"/>
                <a:cs typeface="+mn-lt"/>
              </a:rPr>
              <a:t> (e.g., features that add unnecessary complexity). </a:t>
            </a:r>
            <a:endParaRPr lang="en-HK"/>
          </a:p>
          <a:p>
            <a:pPr marL="398145" indent="-398145"/>
            <a:r>
              <a:rPr lang="en-HK" sz="2000">
                <a:ea typeface="+mn-lt"/>
                <a:cs typeface="+mn-lt"/>
              </a:rPr>
              <a:t>From the survey, all consider security, and while usability could be lowered, but there are strategies (such as adding games or personalization) to improve the usability.</a:t>
            </a:r>
            <a:endParaRPr lang="en-HK"/>
          </a:p>
          <a:p>
            <a:pPr marL="398145" indent="-398145"/>
            <a:r>
              <a:rPr lang="en-HK" sz="2000" b="1">
                <a:ea typeface="+mn-lt"/>
                <a:cs typeface="+mn-lt"/>
              </a:rPr>
              <a:t>Marking: </a:t>
            </a:r>
            <a:r>
              <a:rPr lang="en-HK" sz="2000">
                <a:ea typeface="+mn-lt"/>
                <a:cs typeface="+mn-lt"/>
              </a:rPr>
              <a:t>5 marks</a:t>
            </a:r>
            <a:endParaRPr lang="en-HK"/>
          </a:p>
          <a:p>
            <a:pPr marL="398145" indent="-398145"/>
            <a:r>
              <a:rPr lang="en-HK" sz="2000">
                <a:ea typeface="+mn-lt"/>
                <a:cs typeface="+mn-lt"/>
              </a:rPr>
              <a:t>1 mark for each correct identification of the features in each of the four requirement categories in </a:t>
            </a:r>
            <a:r>
              <a:rPr lang="en-HK" sz="2000" err="1">
                <a:ea typeface="+mn-lt"/>
                <a:cs typeface="+mn-lt"/>
              </a:rPr>
              <a:t>MoSCoW</a:t>
            </a:r>
            <a:endParaRPr lang="en-HK" err="1"/>
          </a:p>
          <a:p>
            <a:pPr marL="398145" indent="-398145"/>
            <a:r>
              <a:rPr lang="en-HK" sz="2000">
                <a:latin typeface="Times New Roman"/>
                <a:cs typeface="Times New Roman"/>
              </a:rPr>
              <a:t>1 mark to state usability improvement by multiple means</a:t>
            </a:r>
          </a:p>
          <a:p>
            <a:pPr marL="398145" indent="-398145"/>
            <a:endParaRPr lang="en-HK" altLang="zh-CN" sz="2000">
              <a:cs typeface="Times New Roman"/>
            </a:endParaRPr>
          </a:p>
          <a:p>
            <a:pPr marL="398145" indent="-398145"/>
            <a:endParaRPr lang="zh-CN" altLang="en-US" sz="2000">
              <a:cs typeface="Times New Roman"/>
            </a:endParaRPr>
          </a:p>
        </p:txBody>
      </p:sp>
      <p:sp>
        <p:nvSpPr>
          <p:cNvPr id="4" name="灯片编号占位符 3">
            <a:extLst>
              <a:ext uri="{FF2B5EF4-FFF2-40B4-BE49-F238E27FC236}">
                <a16:creationId xmlns:a16="http://schemas.microsoft.com/office/drawing/2014/main" id="{EBC99A02-9269-64F6-4A16-D3D22039ABA5}"/>
              </a:ext>
            </a:extLst>
          </p:cNvPr>
          <p:cNvSpPr>
            <a:spLocks noGrp="1"/>
          </p:cNvSpPr>
          <p:nvPr>
            <p:ph type="sldNum" sz="quarter" idx="12"/>
          </p:nvPr>
        </p:nvSpPr>
        <p:spPr/>
        <p:txBody>
          <a:bodyPr/>
          <a:lstStyle/>
          <a:p>
            <a:pPr>
              <a:defRPr/>
            </a:pPr>
            <a:fld id="{63B8F44C-0EDE-4D7D-9086-BD1CF3CE7AF7}" type="slidenum">
              <a:rPr lang="en-US" smtClean="0"/>
              <a:pPr>
                <a:defRPr/>
              </a:pPr>
              <a:t>50</a:t>
            </a:fld>
            <a:endParaRPr lang="en-US"/>
          </a:p>
        </p:txBody>
      </p:sp>
    </p:spTree>
    <p:extLst>
      <p:ext uri="{BB962C8B-B14F-4D97-AF65-F5344CB8AC3E}">
        <p14:creationId xmlns:p14="http://schemas.microsoft.com/office/powerpoint/2010/main" val="3331105377"/>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91BD4-EF90-3424-6D51-1EC1AF2E5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E0509-2355-EE9A-C14B-73971334F7AD}"/>
              </a:ext>
            </a:extLst>
          </p:cNvPr>
          <p:cNvSpPr>
            <a:spLocks noGrp="1"/>
          </p:cNvSpPr>
          <p:nvPr>
            <p:ph type="title"/>
          </p:nvPr>
        </p:nvSpPr>
        <p:spPr>
          <a:xfrm>
            <a:off x="296496" y="220133"/>
            <a:ext cx="11866147" cy="1104900"/>
          </a:xfrm>
        </p:spPr>
        <p:txBody>
          <a:bodyPr/>
          <a:lstStyle/>
          <a:p>
            <a:r>
              <a:rPr lang="en-HK" altLang="zh-CN" sz="3600"/>
              <a:t>Scenario 3</a:t>
            </a:r>
            <a:r>
              <a:rPr lang="en-HK" sz="3600">
                <a:ea typeface="+mj-lt"/>
                <a:cs typeface="+mj-lt"/>
              </a:rPr>
              <a:t>: Startup Technical Debt Management </a:t>
            </a:r>
            <a:br>
              <a:rPr lang="en-HK" sz="3600">
                <a:ea typeface="+mj-lt"/>
                <a:cs typeface="+mj-lt"/>
              </a:rPr>
            </a:br>
            <a:r>
              <a:rPr lang="en-HK" sz="3600">
                <a:ea typeface="+mj-lt"/>
                <a:cs typeface="+mj-lt"/>
              </a:rPr>
              <a:t>(24 marks)</a:t>
            </a:r>
            <a:endParaRPr lang="en-US" altLang="zh-CN" sz="3600">
              <a:ea typeface="+mj-lt"/>
              <a:cs typeface="+mj-lt"/>
            </a:endParaRPr>
          </a:p>
        </p:txBody>
      </p:sp>
      <p:sp>
        <p:nvSpPr>
          <p:cNvPr id="3" name="Content Placeholder 2">
            <a:extLst>
              <a:ext uri="{FF2B5EF4-FFF2-40B4-BE49-F238E27FC236}">
                <a16:creationId xmlns:a16="http://schemas.microsoft.com/office/drawing/2014/main" id="{DCD0C5BE-446C-EEA1-D96C-071985C40161}"/>
              </a:ext>
            </a:extLst>
          </p:cNvPr>
          <p:cNvSpPr>
            <a:spLocks noGrp="1"/>
          </p:cNvSpPr>
          <p:nvPr>
            <p:ph idx="1"/>
          </p:nvPr>
        </p:nvSpPr>
        <p:spPr>
          <a:xfrm>
            <a:off x="508163" y="1659467"/>
            <a:ext cx="11124858" cy="4953000"/>
          </a:xfrm>
        </p:spPr>
        <p:txBody>
          <a:bodyPr/>
          <a:lstStyle/>
          <a:p>
            <a:pPr marL="398145" indent="-398145">
              <a:buNone/>
            </a:pPr>
            <a:r>
              <a:rPr lang="en-HK" sz="1800" kern="100">
                <a:ea typeface="+mn-lt"/>
                <a:cs typeface="+mn-lt"/>
              </a:rPr>
              <a:t>A software startup in Hong Kong has developed a Software-as-a-Service (SaaS) platform for logistics and supply chain optimization. The team has rapidly added new features in response to customer requests, integrated AI-assisted code generation, and frequently changed requirements. As a result, bug fixes are taking longer, new features are harder to implement, and the system’s reliability is declining (e.g., more incidences of system failures to complete a function).</a:t>
            </a:r>
            <a:endParaRPr lang="zh-CN" altLang="en-US" sz="1800" kern="100">
              <a:ea typeface="+mn-lt"/>
              <a:cs typeface="+mn-lt"/>
            </a:endParaRPr>
          </a:p>
          <a:p>
            <a:pPr marL="398145" indent="-398145">
              <a:buNone/>
            </a:pPr>
            <a:r>
              <a:rPr lang="en-HK" sz="1800" kern="100">
                <a:ea typeface="+mn-lt"/>
                <a:cs typeface="+mn-lt"/>
              </a:rPr>
              <a:t>The CTO suspects that technical debt is accumulating in several dimensions: design shortcuts, insufficient testing, outdated documentation, no documentation on requirements and design, and inconsistent code quality. The team uses modern code review tools, but refactoring tasks are often postponed or skipped due to tight deadlines.  The CTO also reviews the project task board of the SaaS project, yet there is no sign of technical debt backlog. The project manager also says that there is currently no plan to track technical debts, since all requests and bug fixing must be handled immediately to keep the business up and running.</a:t>
            </a:r>
          </a:p>
          <a:p>
            <a:pPr marL="398145" indent="-398145">
              <a:buNone/>
            </a:pPr>
            <a:r>
              <a:rPr lang="en-HK" sz="1800" kern="100">
                <a:ea typeface="+mn-lt"/>
                <a:cs typeface="+mn-lt"/>
              </a:rPr>
              <a:t>The company wants to:</a:t>
            </a:r>
          </a:p>
          <a:p>
            <a:pPr marL="398145" indent="-398145">
              <a:buFont typeface="Wingdings"/>
              <a:buChar char="u"/>
            </a:pPr>
            <a:r>
              <a:rPr lang="en-HK" sz="1800" kern="100">
                <a:ea typeface="+mn-lt"/>
                <a:cs typeface="+mn-lt"/>
              </a:rPr>
              <a:t>Identify and classify the technical debt present in the system.</a:t>
            </a:r>
            <a:endParaRPr lang="en-HK" sz="1800">
              <a:cs typeface="Times New Roman"/>
            </a:endParaRPr>
          </a:p>
          <a:p>
            <a:pPr marL="398145" indent="-398145">
              <a:buFont typeface="Wingdings"/>
              <a:buChar char="u"/>
            </a:pPr>
            <a:r>
              <a:rPr lang="en-HK" sz="1800" kern="100">
                <a:ea typeface="+mn-lt"/>
                <a:cs typeface="+mn-lt"/>
              </a:rPr>
              <a:t>Monitor and resolve technical debt without disrupting ongoing feature development.</a:t>
            </a:r>
            <a:endParaRPr lang="en-HK" sz="1800">
              <a:cs typeface="Times New Roman"/>
            </a:endParaRPr>
          </a:p>
          <a:p>
            <a:pPr marL="398145" indent="-398145">
              <a:buFont typeface="Wingdings"/>
              <a:buChar char="u"/>
            </a:pPr>
            <a:r>
              <a:rPr lang="en-HK" sz="1800" kern="100">
                <a:ea typeface="+mn-lt"/>
                <a:cs typeface="+mn-lt"/>
              </a:rPr>
              <a:t>Use code review and automation to manage debt introduced by AI-generated code.</a:t>
            </a:r>
            <a:endParaRPr lang="en-HK" sz="1800">
              <a:cs typeface="Times New Roman"/>
            </a:endParaRPr>
          </a:p>
          <a:p>
            <a:pPr marL="398145" indent="-398145">
              <a:buFont typeface="Wingdings"/>
              <a:buChar char="u"/>
            </a:pPr>
            <a:r>
              <a:rPr lang="en-HK" sz="1800" kern="100">
                <a:ea typeface="+mn-lt"/>
                <a:cs typeface="+mn-lt"/>
              </a:rPr>
              <a:t>Develop a strategy to maintain delivery stability and system reliability as the platform grows.</a:t>
            </a:r>
            <a:endParaRPr lang="en-HK" sz="1800">
              <a:cs typeface="Times New Roman"/>
            </a:endParaRPr>
          </a:p>
          <a:p>
            <a:pPr marL="0" indent="0">
              <a:lnSpc>
                <a:spcPct val="114999"/>
              </a:lnSpc>
              <a:spcAft>
                <a:spcPts val="800"/>
              </a:spcAft>
              <a:buNone/>
            </a:pPr>
            <a:endParaRPr lang="en-HK" altLang="zh-CN" sz="1800" kern="100">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16004405"/>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B8179-698D-2EC0-B44C-E5648781C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D60C7-9894-7943-8F23-9BB37BD8E5C3}"/>
              </a:ext>
            </a:extLst>
          </p:cNvPr>
          <p:cNvSpPr>
            <a:spLocks noGrp="1"/>
          </p:cNvSpPr>
          <p:nvPr>
            <p:ph type="title"/>
          </p:nvPr>
        </p:nvSpPr>
        <p:spPr/>
        <p:txBody>
          <a:bodyPr/>
          <a:lstStyle/>
          <a:p>
            <a:r>
              <a:rPr lang="en-HK"/>
              <a:t>Scenario 3 Q1:  (14 marks)</a:t>
            </a:r>
            <a:endParaRPr lang="en-HK" b="0">
              <a:solidFill>
                <a:srgbClr val="000000"/>
              </a:solidFill>
            </a:endParaRPr>
          </a:p>
        </p:txBody>
      </p:sp>
      <p:sp>
        <p:nvSpPr>
          <p:cNvPr id="3" name="Content Placeholder 2">
            <a:extLst>
              <a:ext uri="{FF2B5EF4-FFF2-40B4-BE49-F238E27FC236}">
                <a16:creationId xmlns:a16="http://schemas.microsoft.com/office/drawing/2014/main" id="{4597F89F-F165-4988-1B9B-25B0706A94E0}"/>
              </a:ext>
            </a:extLst>
          </p:cNvPr>
          <p:cNvSpPr>
            <a:spLocks noGrp="1"/>
          </p:cNvSpPr>
          <p:nvPr>
            <p:ph idx="1"/>
          </p:nvPr>
        </p:nvSpPr>
        <p:spPr/>
        <p:txBody>
          <a:bodyPr/>
          <a:lstStyle/>
          <a:p>
            <a:pPr marL="398145" indent="-398145" algn="just">
              <a:buNone/>
            </a:pPr>
            <a:r>
              <a:rPr lang="en-HK" sz="2000">
                <a:ea typeface="+mn-lt"/>
                <a:cs typeface="+mn-lt"/>
              </a:rPr>
              <a:t>Q1. There are four dimensions for technical debts. Extract the examples from Scenario 4 for each dimension and explain which kind of debt each example refers to in that dimension. </a:t>
            </a:r>
            <a:endParaRPr lang="en-US" sz="2000">
              <a:cs typeface="Times New Roman"/>
            </a:endParaRPr>
          </a:p>
          <a:p>
            <a:pPr marL="398145" indent="-398145" algn="just">
              <a:buFont typeface="Wingdings"/>
              <a:buChar char="u"/>
            </a:pPr>
            <a:r>
              <a:rPr lang="en-HK" sz="2000">
                <a:ea typeface="+mn-lt"/>
                <a:cs typeface="+mn-lt"/>
              </a:rPr>
              <a:t>Note that not all categories in all four dimensions may have examples mentioned in the scenario.</a:t>
            </a:r>
            <a:endParaRPr lang="en-US" sz="2000"/>
          </a:p>
          <a:p>
            <a:pPr marL="0" indent="0" algn="just">
              <a:buNone/>
            </a:pPr>
            <a:endParaRPr lang="en-US" altLang="zh-CN" sz="2800">
              <a:ea typeface="Calibri"/>
              <a:cs typeface="Calibri"/>
            </a:endParaRPr>
          </a:p>
        </p:txBody>
      </p:sp>
      <p:sp>
        <p:nvSpPr>
          <p:cNvPr id="6" name="TextBox 5">
            <a:extLst>
              <a:ext uri="{FF2B5EF4-FFF2-40B4-BE49-F238E27FC236}">
                <a16:creationId xmlns:a16="http://schemas.microsoft.com/office/drawing/2014/main" id="{8B13C0FA-F920-8FDD-14E1-4F593660E594}"/>
              </a:ext>
            </a:extLst>
          </p:cNvPr>
          <p:cNvSpPr txBox="1"/>
          <p:nvPr/>
        </p:nvSpPr>
        <p:spPr>
          <a:xfrm>
            <a:off x="561814" y="3002796"/>
            <a:ext cx="60960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HK" b="1"/>
              <a:t>Marking: </a:t>
            </a:r>
            <a:r>
              <a:rPr lang="en-HK"/>
              <a:t>14 marks </a:t>
            </a:r>
          </a:p>
          <a:p>
            <a:pPr lvl="0">
              <a:buFont typeface=""/>
              <a:buChar char="•"/>
            </a:pPr>
            <a:r>
              <a:rPr lang="en-HK"/>
              <a:t>4 marks: 1 mark for each dimension name</a:t>
            </a:r>
            <a:endParaRPr lang="en-HK">
              <a:cs typeface="Times New Roman"/>
            </a:endParaRPr>
          </a:p>
          <a:p>
            <a:pPr lvl="0">
              <a:buFont typeface=""/>
              <a:buChar char="•"/>
            </a:pPr>
            <a:r>
              <a:rPr lang="en-HK"/>
              <a:t>4 marks for Type</a:t>
            </a:r>
            <a:endParaRPr lang="en-HK">
              <a:cs typeface="Times New Roman"/>
            </a:endParaRPr>
          </a:p>
          <a:p>
            <a:pPr marL="742950" lvl="1" indent="-285750">
              <a:buFont typeface="Arial"/>
              <a:buChar char="•"/>
            </a:pPr>
            <a:r>
              <a:rPr lang="en-HK"/>
              <a:t>1 mark for each example</a:t>
            </a:r>
            <a:endParaRPr lang="en-HK">
              <a:cs typeface="Times New Roman"/>
            </a:endParaRPr>
          </a:p>
          <a:p>
            <a:pPr lvl="0">
              <a:buFont typeface=""/>
              <a:buChar char="•"/>
            </a:pPr>
            <a:r>
              <a:rPr lang="en-HK"/>
              <a:t>2 marks for </a:t>
            </a:r>
            <a:r>
              <a:rPr lang="en-HK" b="1"/>
              <a:t>Intentionality</a:t>
            </a:r>
            <a:endParaRPr lang="en-HK" b="1">
              <a:cs typeface="Times New Roman"/>
            </a:endParaRPr>
          </a:p>
          <a:p>
            <a:pPr marL="742950" lvl="1" indent="-285750">
              <a:buFont typeface="Arial"/>
              <a:buChar char="•"/>
            </a:pPr>
            <a:r>
              <a:rPr lang="en-HK"/>
              <a:t>1 mark for each example</a:t>
            </a:r>
            <a:endParaRPr lang="en-HK">
              <a:cs typeface="Times New Roman"/>
            </a:endParaRPr>
          </a:p>
          <a:p>
            <a:pPr lvl="0">
              <a:buFont typeface=""/>
              <a:buChar char="•"/>
            </a:pPr>
            <a:r>
              <a:rPr lang="en-HK"/>
              <a:t>2 marks for </a:t>
            </a:r>
            <a:r>
              <a:rPr lang="en-HK" b="1"/>
              <a:t>Time horizon</a:t>
            </a:r>
            <a:endParaRPr lang="en-HK" b="1">
              <a:cs typeface="Times New Roman"/>
            </a:endParaRPr>
          </a:p>
          <a:p>
            <a:pPr marL="742950" lvl="1" indent="-285750">
              <a:buFont typeface="Arial"/>
              <a:buChar char="•"/>
            </a:pPr>
            <a:r>
              <a:rPr lang="en-HK"/>
              <a:t>1 mark for each example</a:t>
            </a:r>
            <a:endParaRPr lang="en-HK">
              <a:cs typeface="Times New Roman"/>
            </a:endParaRPr>
          </a:p>
          <a:p>
            <a:pPr lvl="0">
              <a:buFont typeface=""/>
              <a:buChar char="•"/>
            </a:pPr>
            <a:r>
              <a:rPr lang="en-HK"/>
              <a:t>2 marks for </a:t>
            </a:r>
            <a:r>
              <a:rPr lang="en-HK" b="1"/>
              <a:t>Degree of focus</a:t>
            </a:r>
            <a:endParaRPr lang="en-HK" b="1">
              <a:cs typeface="Times New Roman"/>
            </a:endParaRPr>
          </a:p>
          <a:p>
            <a:pPr marL="742950" lvl="1" indent="-285750">
              <a:buFont typeface="Arial"/>
              <a:buChar char="•"/>
            </a:pPr>
            <a:r>
              <a:rPr lang="en-HK"/>
              <a:t>1 mark for each example</a:t>
            </a:r>
            <a:endParaRPr lang="en-HK">
              <a:cs typeface="Times New Roman"/>
            </a:endParaRPr>
          </a:p>
          <a:p>
            <a:pPr algn="ctr"/>
            <a:endParaRPr lang="en-US"/>
          </a:p>
        </p:txBody>
      </p:sp>
    </p:spTree>
    <p:extLst>
      <p:ext uri="{BB962C8B-B14F-4D97-AF65-F5344CB8AC3E}">
        <p14:creationId xmlns:p14="http://schemas.microsoft.com/office/powerpoint/2010/main" val="376771797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4E3EF-31DC-76E6-B4B2-ABD17701C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334C1-3DCF-3367-9AF1-4E07B87A04A5}"/>
              </a:ext>
            </a:extLst>
          </p:cNvPr>
          <p:cNvSpPr>
            <a:spLocks noGrp="1"/>
          </p:cNvSpPr>
          <p:nvPr>
            <p:ph type="title"/>
          </p:nvPr>
        </p:nvSpPr>
        <p:spPr>
          <a:xfrm>
            <a:off x="508163" y="266700"/>
            <a:ext cx="11473569" cy="1104900"/>
          </a:xfrm>
        </p:spPr>
        <p:txBody>
          <a:bodyPr/>
          <a:lstStyle/>
          <a:p>
            <a:r>
              <a:rPr lang="en-HK"/>
              <a:t>Scenario 3 Q1:  (Reference</a:t>
            </a:r>
            <a:r>
              <a:rPr lang="en-US"/>
              <a:t>Answers</a:t>
            </a:r>
            <a:r>
              <a:rPr lang="en-HK"/>
              <a:t>)</a:t>
            </a:r>
            <a:endParaRPr lang="en-HK" b="0">
              <a:solidFill>
                <a:srgbClr val="000000"/>
              </a:solidFill>
              <a:cs typeface="Times New Roman"/>
            </a:endParaRPr>
          </a:p>
        </p:txBody>
      </p:sp>
      <p:sp>
        <p:nvSpPr>
          <p:cNvPr id="3" name="Content Placeholder 2">
            <a:extLst>
              <a:ext uri="{FF2B5EF4-FFF2-40B4-BE49-F238E27FC236}">
                <a16:creationId xmlns:a16="http://schemas.microsoft.com/office/drawing/2014/main" id="{CF659772-3AFF-1431-69DB-D350C2697853}"/>
              </a:ext>
            </a:extLst>
          </p:cNvPr>
          <p:cNvSpPr>
            <a:spLocks noGrp="1"/>
          </p:cNvSpPr>
          <p:nvPr>
            <p:ph idx="1"/>
          </p:nvPr>
        </p:nvSpPr>
        <p:spPr/>
        <p:txBody>
          <a:bodyPr/>
          <a:lstStyle/>
          <a:p>
            <a:pPr marL="398145" indent="-398145" algn="just">
              <a:buNone/>
            </a:pPr>
            <a:r>
              <a:rPr lang="en-HK" sz="2000">
                <a:ea typeface="+mn-lt"/>
                <a:cs typeface="+mn-lt"/>
              </a:rPr>
              <a:t>Q1. There are four dimensions for technical debts. Extract the examples from Scenario 4 for each dimension and explain which kind of debt each example refers to in that dimension. </a:t>
            </a:r>
            <a:endParaRPr lang="en-US" sz="2000">
              <a:cs typeface="Times New Roman"/>
            </a:endParaRPr>
          </a:p>
          <a:p>
            <a:pPr marL="398145" indent="-398145" algn="just">
              <a:buFont typeface="Wingdings"/>
              <a:buChar char="u"/>
            </a:pPr>
            <a:r>
              <a:rPr lang="en-HK" sz="2000">
                <a:ea typeface="+mn-lt"/>
                <a:cs typeface="+mn-lt"/>
              </a:rPr>
              <a:t>Note that not all categories in all four dimensions may have examples mentioned in the scenario.</a:t>
            </a:r>
            <a:endParaRPr lang="en-US" sz="2000"/>
          </a:p>
          <a:p>
            <a:pPr marL="0" indent="0" algn="just">
              <a:buNone/>
            </a:pPr>
            <a:endParaRPr lang="en-US" altLang="zh-CN" sz="2800">
              <a:ea typeface="Calibri"/>
              <a:cs typeface="Calibri"/>
            </a:endParaRPr>
          </a:p>
        </p:txBody>
      </p:sp>
      <p:sp>
        <p:nvSpPr>
          <p:cNvPr id="6" name="TextBox 5">
            <a:extLst>
              <a:ext uri="{FF2B5EF4-FFF2-40B4-BE49-F238E27FC236}">
                <a16:creationId xmlns:a16="http://schemas.microsoft.com/office/drawing/2014/main" id="{D997933B-6054-74F1-1528-490FCC7918AC}"/>
              </a:ext>
            </a:extLst>
          </p:cNvPr>
          <p:cNvSpPr txBox="1"/>
          <p:nvPr/>
        </p:nvSpPr>
        <p:spPr>
          <a:xfrm>
            <a:off x="510153" y="2938220"/>
            <a:ext cx="973810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HK" b="1"/>
              <a:t>Answers:</a:t>
            </a:r>
            <a:endParaRPr lang="en-US"/>
          </a:p>
          <a:p>
            <a:pPr indent="-228600" algn="just"/>
            <a:r>
              <a:rPr lang="en-HK" b="1"/>
              <a:t>Type:</a:t>
            </a:r>
            <a:r>
              <a:rPr lang="en-HK"/>
              <a:t> Design shortcuts, insufficient testing, outdated or missing documentation, and inconsistent code quality. </a:t>
            </a:r>
            <a:endParaRPr lang="en-HK">
              <a:cs typeface="Times New Roman"/>
            </a:endParaRPr>
          </a:p>
          <a:p>
            <a:pPr indent="-228600" algn="just"/>
            <a:r>
              <a:rPr lang="en-HK" b="1"/>
              <a:t>Intentionality:</a:t>
            </a:r>
            <a:r>
              <a:rPr lang="en-HK"/>
              <a:t> Some debt is intentional (e.g., shortcuts for deadlines), some is unintentional (e.g., issues from AI-generated code). </a:t>
            </a:r>
            <a:endParaRPr lang="en-HK">
              <a:cs typeface="Times New Roman"/>
            </a:endParaRPr>
          </a:p>
          <a:p>
            <a:pPr indent="-228600" algn="just"/>
            <a:r>
              <a:rPr lang="en-HK" b="1"/>
              <a:t>Time horizon:</a:t>
            </a:r>
            <a:r>
              <a:rPr lang="en-HK"/>
              <a:t> short-term (quick fixes due to reactive to fast delivery). No long term (no debt example in the scenario is generated proactively) </a:t>
            </a:r>
            <a:endParaRPr lang="en-HK">
              <a:cs typeface="Times New Roman"/>
            </a:endParaRPr>
          </a:p>
          <a:p>
            <a:pPr indent="-228600" algn="just"/>
            <a:r>
              <a:rPr lang="en-HK" b="1"/>
              <a:t>Degree of focus:</a:t>
            </a:r>
            <a:r>
              <a:rPr lang="en-HK"/>
              <a:t> Debt are unfocused since they are not managed (tracked) systematically (no plan to track technical debt and refactoring is often postponed/skipped).</a:t>
            </a:r>
            <a:endParaRPr lang="en-HK">
              <a:cs typeface="Times New Roman"/>
            </a:endParaRPr>
          </a:p>
          <a:p>
            <a:pPr algn="just"/>
            <a:endParaRPr lang="en-US">
              <a:cs typeface="Times New Roman"/>
            </a:endParaRPr>
          </a:p>
        </p:txBody>
      </p:sp>
    </p:spTree>
    <p:extLst>
      <p:ext uri="{BB962C8B-B14F-4D97-AF65-F5344CB8AC3E}">
        <p14:creationId xmlns:p14="http://schemas.microsoft.com/office/powerpoint/2010/main" val="2491701333"/>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0549F-5A87-D7A3-4B10-79A30CD128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0E4F22-9A1D-2978-2DC0-4B4FD90FFE38}"/>
              </a:ext>
            </a:extLst>
          </p:cNvPr>
          <p:cNvSpPr>
            <a:spLocks noGrp="1"/>
          </p:cNvSpPr>
          <p:nvPr>
            <p:ph type="title"/>
          </p:nvPr>
        </p:nvSpPr>
        <p:spPr/>
        <p:txBody>
          <a:bodyPr/>
          <a:lstStyle/>
          <a:p>
            <a:r>
              <a:rPr lang="en-HK"/>
              <a:t>Scenario 3 Q2(Afternoon): </a:t>
            </a:r>
            <a:r>
              <a:rPr lang="en-US"/>
              <a:t>Marking Scheme</a:t>
            </a:r>
            <a:endParaRPr lang="en-HK"/>
          </a:p>
        </p:txBody>
      </p:sp>
      <p:sp>
        <p:nvSpPr>
          <p:cNvPr id="3" name="Content Placeholder 2">
            <a:extLst>
              <a:ext uri="{FF2B5EF4-FFF2-40B4-BE49-F238E27FC236}">
                <a16:creationId xmlns:a16="http://schemas.microsoft.com/office/drawing/2014/main" id="{D2F47C52-3969-6021-434D-A86221C203D2}"/>
              </a:ext>
            </a:extLst>
          </p:cNvPr>
          <p:cNvSpPr>
            <a:spLocks noGrp="1"/>
          </p:cNvSpPr>
          <p:nvPr>
            <p:ph idx="1"/>
          </p:nvPr>
        </p:nvSpPr>
        <p:spPr>
          <a:xfrm>
            <a:off x="508163" y="1516911"/>
            <a:ext cx="11124858" cy="5147931"/>
          </a:xfrm>
        </p:spPr>
        <p:txBody>
          <a:bodyPr/>
          <a:lstStyle/>
          <a:p>
            <a:pPr marL="398145" indent="-398145">
              <a:buNone/>
            </a:pPr>
            <a:r>
              <a:rPr lang="en-HK" sz="2800">
                <a:solidFill>
                  <a:srgbClr val="000000"/>
                </a:solidFill>
                <a:ea typeface="+mn-lt"/>
                <a:cs typeface="+mn-lt"/>
              </a:rPr>
              <a:t>Q2. Propose </a:t>
            </a:r>
            <a:r>
              <a:rPr lang="en-HK" sz="2800" b="1">
                <a:solidFill>
                  <a:srgbClr val="FF0000"/>
                </a:solidFill>
                <a:ea typeface="+mn-lt"/>
                <a:cs typeface="+mn-lt"/>
              </a:rPr>
              <a:t>one method to monitor technical debt</a:t>
            </a:r>
            <a:r>
              <a:rPr lang="en-HK" sz="2800">
                <a:solidFill>
                  <a:srgbClr val="000000"/>
                </a:solidFill>
                <a:ea typeface="+mn-lt"/>
                <a:cs typeface="+mn-lt"/>
              </a:rPr>
              <a:t> in this scenario</a:t>
            </a:r>
            <a:endParaRPr lang="zh-CN" altLang="en-US">
              <a:solidFill>
                <a:srgbClr val="000000"/>
              </a:solidFill>
              <a:ea typeface="+mn-lt"/>
              <a:cs typeface="+mn-lt"/>
            </a:endParaRPr>
          </a:p>
          <a:p>
            <a:pPr marL="398145" indent="-398145">
              <a:buNone/>
            </a:pPr>
            <a:r>
              <a:rPr lang="en-HK" sz="2800">
                <a:solidFill>
                  <a:srgbClr val="000000"/>
                </a:solidFill>
                <a:ea typeface="+mn-lt"/>
                <a:cs typeface="+mn-lt"/>
              </a:rPr>
              <a:t>without disrupting ongoing feature development and </a:t>
            </a:r>
            <a:r>
              <a:rPr lang="en-HK" sz="2800" b="1">
                <a:solidFill>
                  <a:srgbClr val="FF0000"/>
                </a:solidFill>
                <a:ea typeface="+mn-lt"/>
                <a:cs typeface="+mn-lt"/>
              </a:rPr>
              <a:t>one method to resolve</a:t>
            </a:r>
            <a:endParaRPr lang="zh-CN" altLang="en-US" b="1">
              <a:solidFill>
                <a:srgbClr val="FF0000"/>
              </a:solidFill>
              <a:ea typeface="+mn-lt"/>
              <a:cs typeface="+mn-lt"/>
            </a:endParaRPr>
          </a:p>
          <a:p>
            <a:pPr marL="398145" indent="-398145">
              <a:buNone/>
            </a:pPr>
            <a:r>
              <a:rPr lang="en-HK" sz="2800" b="1">
                <a:solidFill>
                  <a:srgbClr val="FF0000"/>
                </a:solidFill>
                <a:ea typeface="+mn-lt"/>
                <a:cs typeface="+mn-lt"/>
              </a:rPr>
              <a:t>it</a:t>
            </a:r>
            <a:r>
              <a:rPr lang="en-HK" sz="2800">
                <a:solidFill>
                  <a:srgbClr val="000000"/>
                </a:solidFill>
                <a:ea typeface="+mn-lt"/>
                <a:cs typeface="+mn-lt"/>
              </a:rPr>
              <a:t>. You can assume that the project uses an Agile </a:t>
            </a:r>
            <a:r>
              <a:rPr lang="en-HK" sz="2800">
                <a:solidFill>
                  <a:srgbClr val="000000"/>
                </a:solidFill>
                <a:ea typeface="Calibri"/>
                <a:cs typeface="Calibri"/>
              </a:rPr>
              <a:t>development</a:t>
            </a:r>
            <a:r>
              <a:rPr lang="en-HK" sz="2800">
                <a:solidFill>
                  <a:srgbClr val="000000"/>
                </a:solidFill>
                <a:ea typeface="+mn-lt"/>
                <a:cs typeface="+mn-lt"/>
              </a:rPr>
              <a:t> process.</a:t>
            </a:r>
            <a:endParaRPr lang="zh-CN" altLang="en-US">
              <a:cs typeface="Times New Roman"/>
            </a:endParaRPr>
          </a:p>
          <a:p>
            <a:pPr marL="398145" indent="-398145">
              <a:buNone/>
            </a:pPr>
            <a:endParaRPr lang="en-HK" sz="2800">
              <a:solidFill>
                <a:srgbClr val="000000"/>
              </a:solidFill>
              <a:ea typeface="Calibri"/>
              <a:cs typeface="Times New Roman"/>
            </a:endParaRPr>
          </a:p>
          <a:p>
            <a:pPr marL="398145" indent="-398145">
              <a:buNone/>
            </a:pPr>
            <a:endParaRPr lang="en-HK" sz="2800">
              <a:solidFill>
                <a:srgbClr val="000000"/>
              </a:solidFill>
              <a:ea typeface="Calibri"/>
              <a:cs typeface="Times New Roman"/>
            </a:endParaRPr>
          </a:p>
          <a:p>
            <a:pPr marL="0" indent="0" algn="just">
              <a:buNone/>
            </a:pPr>
            <a:r>
              <a:rPr lang="en-US" altLang="zh-CN" sz="2800" b="0" i="0">
                <a:solidFill>
                  <a:srgbClr val="000000"/>
                </a:solidFill>
                <a:effectLst/>
                <a:ea typeface="Calibri"/>
                <a:cs typeface="Calibri"/>
              </a:rPr>
              <a:t>[</a:t>
            </a:r>
            <a:r>
              <a:rPr lang="en-US" altLang="zh-CN" sz="2800">
                <a:solidFill>
                  <a:srgbClr val="000000"/>
                </a:solidFill>
                <a:ea typeface="Calibri"/>
                <a:cs typeface="Calibri"/>
              </a:rPr>
              <a:t>4</a:t>
            </a:r>
            <a:r>
              <a:rPr lang="en-US" altLang="zh-CN" sz="2800" b="0" i="0">
                <a:solidFill>
                  <a:srgbClr val="000000"/>
                </a:solidFill>
                <a:effectLst/>
                <a:ea typeface="Calibri"/>
                <a:cs typeface="Calibri"/>
              </a:rPr>
              <a:t> marks in total] </a:t>
            </a:r>
            <a:endParaRPr lang="zh-CN" altLang="en-US">
              <a:solidFill>
                <a:srgbClr val="000000"/>
              </a:solidFill>
              <a:ea typeface="Calibri"/>
              <a:cs typeface="Times New Roman"/>
            </a:endParaRPr>
          </a:p>
          <a:p>
            <a:pPr marL="398145" indent="-398145" algn="just"/>
            <a:r>
              <a:rPr lang="en-HK" sz="2800" b="1">
                <a:solidFill>
                  <a:srgbClr val="000000"/>
                </a:solidFill>
                <a:latin typeface="Times New Roman"/>
                <a:ea typeface="+mn-lt"/>
                <a:cs typeface="+mn-lt"/>
              </a:rPr>
              <a:t>Monitoring method [2 marks]</a:t>
            </a:r>
            <a:endParaRPr lang="en-US" altLang="zh-CN" sz="2800" b="1">
              <a:solidFill>
                <a:srgbClr val="000000"/>
              </a:solidFill>
              <a:latin typeface="Times New Roman"/>
              <a:ea typeface="+mn-lt"/>
              <a:cs typeface="+mn-lt"/>
            </a:endParaRPr>
          </a:p>
          <a:p>
            <a:pPr marL="398145" indent="-398145" algn="just"/>
            <a:r>
              <a:rPr lang="en-US" altLang="zh-CN" sz="2800" b="1">
                <a:solidFill>
                  <a:srgbClr val="000000"/>
                </a:solidFill>
                <a:ea typeface="Calibri"/>
                <a:cs typeface="Calibri"/>
              </a:rPr>
              <a:t>R</a:t>
            </a:r>
            <a:r>
              <a:rPr lang="en-HK" sz="2800" b="1" err="1">
                <a:solidFill>
                  <a:srgbClr val="000000"/>
                </a:solidFill>
                <a:ea typeface="Calibri"/>
                <a:cs typeface="Calibri"/>
              </a:rPr>
              <a:t>esolution</a:t>
            </a:r>
            <a:r>
              <a:rPr lang="en-HK" sz="2800" b="1">
                <a:solidFill>
                  <a:srgbClr val="000000"/>
                </a:solidFill>
                <a:ea typeface="Calibri"/>
                <a:cs typeface="Calibri"/>
              </a:rPr>
              <a:t> method [2 marks]</a:t>
            </a:r>
          </a:p>
          <a:p>
            <a:pPr marL="0" indent="0" algn="just">
              <a:buNone/>
            </a:pPr>
            <a:endParaRPr lang="en-US" sz="2800" b="1">
              <a:ea typeface="Calibri"/>
              <a:cs typeface="Times New Roman"/>
            </a:endParaRPr>
          </a:p>
        </p:txBody>
      </p:sp>
    </p:spTree>
    <p:extLst>
      <p:ext uri="{BB962C8B-B14F-4D97-AF65-F5344CB8AC3E}">
        <p14:creationId xmlns:p14="http://schemas.microsoft.com/office/powerpoint/2010/main" val="1548730533"/>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4A578-4DFB-A5E7-F8BB-7AB509637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0AEBC-714E-12AC-557E-7972B5911695}"/>
              </a:ext>
            </a:extLst>
          </p:cNvPr>
          <p:cNvSpPr>
            <a:spLocks noGrp="1"/>
          </p:cNvSpPr>
          <p:nvPr>
            <p:ph type="title"/>
          </p:nvPr>
        </p:nvSpPr>
        <p:spPr/>
        <p:txBody>
          <a:bodyPr/>
          <a:lstStyle/>
          <a:p>
            <a:r>
              <a:rPr lang="en-HK" altLang="zh-CN"/>
              <a:t>Scenario 3 Q2(Afternoon): Reference </a:t>
            </a:r>
            <a:r>
              <a:rPr lang="en-US" altLang="zh-CN"/>
              <a:t>Answers</a:t>
            </a:r>
            <a:endParaRPr lang="en-HK"/>
          </a:p>
        </p:txBody>
      </p:sp>
      <p:sp>
        <p:nvSpPr>
          <p:cNvPr id="3" name="Content Placeholder 2">
            <a:extLst>
              <a:ext uri="{FF2B5EF4-FFF2-40B4-BE49-F238E27FC236}">
                <a16:creationId xmlns:a16="http://schemas.microsoft.com/office/drawing/2014/main" id="{B7D60F1D-4B82-F137-6371-A5E71D03804A}"/>
              </a:ext>
            </a:extLst>
          </p:cNvPr>
          <p:cNvSpPr>
            <a:spLocks noGrp="1"/>
          </p:cNvSpPr>
          <p:nvPr>
            <p:ph idx="1"/>
          </p:nvPr>
        </p:nvSpPr>
        <p:spPr>
          <a:xfrm>
            <a:off x="508163" y="1463964"/>
            <a:ext cx="11124858" cy="4953000"/>
          </a:xfrm>
        </p:spPr>
        <p:txBody>
          <a:bodyPr/>
          <a:lstStyle/>
          <a:p>
            <a:pPr marL="398145" indent="-398145">
              <a:buNone/>
            </a:pPr>
            <a:r>
              <a:rPr lang="en-HK" sz="2800" kern="100">
                <a:ea typeface="DengXian"/>
                <a:cs typeface="Times New Roman"/>
              </a:rPr>
              <a:t>Q2. Propose </a:t>
            </a:r>
            <a:r>
              <a:rPr lang="en-HK" sz="2800" b="1" kern="100">
                <a:solidFill>
                  <a:srgbClr val="FF0000"/>
                </a:solidFill>
                <a:ea typeface="DengXian"/>
                <a:cs typeface="Times New Roman"/>
              </a:rPr>
              <a:t>one method to monitor technical debt</a:t>
            </a:r>
            <a:r>
              <a:rPr lang="en-HK" sz="2800" kern="100">
                <a:ea typeface="DengXian"/>
                <a:cs typeface="Times New Roman"/>
              </a:rPr>
              <a:t> in this scenario</a:t>
            </a:r>
            <a:endParaRPr lang="zh-CN" altLang="en-US" sz="2800" kern="100">
              <a:ea typeface="DengXian"/>
              <a:cs typeface="Times New Roman"/>
            </a:endParaRPr>
          </a:p>
          <a:p>
            <a:pPr marL="398145" indent="-398145">
              <a:buNone/>
            </a:pPr>
            <a:r>
              <a:rPr lang="en-HK" sz="2800" kern="100">
                <a:ea typeface="DengXian"/>
                <a:cs typeface="Times New Roman"/>
              </a:rPr>
              <a:t>without disrupting ongoing feature development and </a:t>
            </a:r>
            <a:r>
              <a:rPr lang="en-HK" sz="2800" b="1" kern="100">
                <a:solidFill>
                  <a:srgbClr val="FF0000"/>
                </a:solidFill>
                <a:ea typeface="DengXian"/>
                <a:cs typeface="Times New Roman"/>
              </a:rPr>
              <a:t>one method to resolve</a:t>
            </a:r>
            <a:endParaRPr lang="zh-CN" altLang="en-US" sz="2800" kern="100">
              <a:ea typeface="DengXian"/>
              <a:cs typeface="Times New Roman"/>
            </a:endParaRPr>
          </a:p>
          <a:p>
            <a:pPr marL="398145" indent="-398145">
              <a:buNone/>
            </a:pPr>
            <a:r>
              <a:rPr lang="en-HK" sz="2800" b="1" kern="100">
                <a:solidFill>
                  <a:srgbClr val="FF0000"/>
                </a:solidFill>
                <a:ea typeface="DengXian"/>
                <a:cs typeface="Times New Roman"/>
              </a:rPr>
              <a:t>it</a:t>
            </a:r>
            <a:r>
              <a:rPr lang="en-HK" sz="2800" kern="100">
                <a:ea typeface="DengXian"/>
                <a:cs typeface="Times New Roman"/>
              </a:rPr>
              <a:t>. You can assume that the project uses an Agile development process.</a:t>
            </a:r>
            <a:endParaRPr lang="en-HK"/>
          </a:p>
          <a:p>
            <a:pPr marL="398145" indent="-398145">
              <a:buNone/>
            </a:pPr>
            <a:endParaRPr lang="en-HK" sz="2800" kern="100">
              <a:ea typeface="DengXian"/>
              <a:cs typeface="+mn-lt"/>
            </a:endParaRPr>
          </a:p>
          <a:p>
            <a:pPr marL="398145" indent="-398145"/>
            <a:r>
              <a:rPr lang="en-HK" sz="2400" kern="100">
                <a:ea typeface="+mn-lt"/>
                <a:cs typeface="+mn-lt"/>
              </a:rPr>
              <a:t>Monitor technical debt using a task board (Kanban board) or product backlog to track refactoring tasks.  </a:t>
            </a:r>
            <a:r>
              <a:rPr lang="en-US" sz="2400" kern="100">
                <a:ea typeface="+mn-lt"/>
                <a:cs typeface="+mn-lt"/>
              </a:rPr>
              <a:t>(see cs5351-technical-debt-v5.pptx Pages 42-44)</a:t>
            </a:r>
            <a:endParaRPr lang="en-HK" sz="2400" kern="100">
              <a:cs typeface="Times New Roman"/>
            </a:endParaRPr>
          </a:p>
          <a:p>
            <a:pPr marL="398145" indent="-398145"/>
            <a:r>
              <a:rPr lang="en-HK" sz="2400" kern="100">
                <a:ea typeface="+mn-lt"/>
                <a:cs typeface="+mn-lt"/>
              </a:rPr>
              <a:t>Resolve debt by scheduling regular refactoring sessions and prioritizing critical areas for improvement, possibly integrating debt repayment into sprint planning. </a:t>
            </a:r>
            <a:r>
              <a:rPr lang="en-US" sz="2400" kern="100">
                <a:ea typeface="+mn-lt"/>
                <a:cs typeface="+mn-lt"/>
              </a:rPr>
              <a:t>(see cs5351-technical-debt-v5.pptx Page 46)</a:t>
            </a:r>
            <a:endParaRPr lang="en-HK" sz="2400" kern="100">
              <a:cs typeface="Times New Roman"/>
            </a:endParaRPr>
          </a:p>
          <a:p>
            <a:pPr marL="0" indent="0">
              <a:buNone/>
            </a:pPr>
            <a:endParaRPr lang="en-HK" sz="2400" kern="10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7240082"/>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B298F-C2BB-074F-69A4-90E9B905E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4F66A-DDAE-6DEE-0958-F038C81CE5DC}"/>
              </a:ext>
            </a:extLst>
          </p:cNvPr>
          <p:cNvSpPr>
            <a:spLocks noGrp="1"/>
          </p:cNvSpPr>
          <p:nvPr>
            <p:ph type="title"/>
          </p:nvPr>
        </p:nvSpPr>
        <p:spPr/>
        <p:txBody>
          <a:bodyPr/>
          <a:lstStyle/>
          <a:p>
            <a:r>
              <a:rPr lang="en-HK"/>
              <a:t>Scenario 3 Q3(Afternoon): </a:t>
            </a:r>
            <a:r>
              <a:rPr lang="en-US"/>
              <a:t>Marking Scheme</a:t>
            </a:r>
            <a:endParaRPr lang="en-HK">
              <a:cs typeface="Times New Roman"/>
            </a:endParaRPr>
          </a:p>
        </p:txBody>
      </p:sp>
      <p:sp>
        <p:nvSpPr>
          <p:cNvPr id="3" name="Content Placeholder 2">
            <a:extLst>
              <a:ext uri="{FF2B5EF4-FFF2-40B4-BE49-F238E27FC236}">
                <a16:creationId xmlns:a16="http://schemas.microsoft.com/office/drawing/2014/main" id="{DD622C63-F361-A3B6-D75E-3EB34CE00339}"/>
              </a:ext>
            </a:extLst>
          </p:cNvPr>
          <p:cNvSpPr>
            <a:spLocks noGrp="1"/>
          </p:cNvSpPr>
          <p:nvPr>
            <p:ph idx="1"/>
          </p:nvPr>
        </p:nvSpPr>
        <p:spPr>
          <a:xfrm>
            <a:off x="508163" y="1516911"/>
            <a:ext cx="11124858" cy="5147931"/>
          </a:xfrm>
        </p:spPr>
        <p:txBody>
          <a:bodyPr/>
          <a:lstStyle/>
          <a:p>
            <a:pPr marL="398145" indent="-398145">
              <a:buNone/>
            </a:pPr>
            <a:r>
              <a:rPr lang="en-HK" sz="2800">
                <a:solidFill>
                  <a:srgbClr val="000000"/>
                </a:solidFill>
                <a:ea typeface="+mn-lt"/>
                <a:cs typeface="+mn-lt"/>
              </a:rPr>
              <a:t>Q3. Describe how modern code review and automation tools (like</a:t>
            </a:r>
            <a:endParaRPr lang="zh-CN" altLang="en-US">
              <a:solidFill>
                <a:srgbClr val="000000"/>
              </a:solidFill>
              <a:ea typeface="+mn-lt"/>
              <a:cs typeface="+mn-lt"/>
            </a:endParaRPr>
          </a:p>
          <a:p>
            <a:pPr marL="398145" indent="-398145">
              <a:buNone/>
            </a:pPr>
            <a:r>
              <a:rPr lang="en-HK" sz="2800">
                <a:solidFill>
                  <a:srgbClr val="000000"/>
                </a:solidFill>
                <a:ea typeface="+mn-lt"/>
                <a:cs typeface="+mn-lt"/>
              </a:rPr>
              <a:t>automated testing or automated static code analysis tools) can help manage</a:t>
            </a:r>
            <a:endParaRPr lang="zh-CN" altLang="en-US">
              <a:solidFill>
                <a:srgbClr val="000000"/>
              </a:solidFill>
              <a:ea typeface="+mn-lt"/>
              <a:cs typeface="+mn-lt"/>
            </a:endParaRPr>
          </a:p>
          <a:p>
            <a:pPr marL="398145" indent="-398145">
              <a:buNone/>
            </a:pPr>
            <a:r>
              <a:rPr lang="en-HK" sz="2800">
                <a:solidFill>
                  <a:srgbClr val="000000"/>
                </a:solidFill>
                <a:ea typeface="+mn-lt"/>
                <a:cs typeface="+mn-lt"/>
              </a:rPr>
              <a:t>technical debt introduced by AI-generated code.</a:t>
            </a:r>
            <a:endParaRPr lang="zh-CN" altLang="en-US">
              <a:solidFill>
                <a:srgbClr val="000000"/>
              </a:solidFill>
              <a:ea typeface="+mn-lt"/>
              <a:cs typeface="+mn-lt"/>
            </a:endParaRPr>
          </a:p>
          <a:p>
            <a:pPr marL="398145" indent="-398145">
              <a:buNone/>
            </a:pPr>
            <a:endParaRPr lang="en-HK" sz="2800">
              <a:solidFill>
                <a:srgbClr val="000000"/>
              </a:solidFill>
              <a:ea typeface="Calibri"/>
              <a:cs typeface="Times New Roman"/>
            </a:endParaRPr>
          </a:p>
          <a:p>
            <a:pPr marL="398145" indent="-398145">
              <a:buNone/>
            </a:pPr>
            <a:endParaRPr lang="en-HK" sz="2800">
              <a:solidFill>
                <a:srgbClr val="000000"/>
              </a:solidFill>
              <a:ea typeface="Calibri"/>
              <a:cs typeface="Times New Roman"/>
            </a:endParaRPr>
          </a:p>
          <a:p>
            <a:pPr marL="0" indent="0" algn="just">
              <a:buNone/>
            </a:pPr>
            <a:r>
              <a:rPr lang="en-US" altLang="zh-CN" sz="2800" b="0" i="0">
                <a:solidFill>
                  <a:srgbClr val="000000"/>
                </a:solidFill>
                <a:effectLst/>
                <a:ea typeface="Calibri"/>
                <a:cs typeface="Calibri"/>
              </a:rPr>
              <a:t>[</a:t>
            </a:r>
            <a:r>
              <a:rPr lang="en-US" altLang="zh-CN" sz="2800">
                <a:solidFill>
                  <a:srgbClr val="000000"/>
                </a:solidFill>
                <a:ea typeface="Calibri"/>
                <a:cs typeface="Calibri"/>
              </a:rPr>
              <a:t>4</a:t>
            </a:r>
            <a:r>
              <a:rPr lang="en-US" altLang="zh-CN" sz="2800" b="0" i="0">
                <a:solidFill>
                  <a:srgbClr val="000000"/>
                </a:solidFill>
                <a:effectLst/>
                <a:ea typeface="Calibri"/>
                <a:cs typeface="Calibri"/>
              </a:rPr>
              <a:t> marks in total] </a:t>
            </a:r>
            <a:endParaRPr lang="zh-CN" altLang="en-US">
              <a:solidFill>
                <a:srgbClr val="000000"/>
              </a:solidFill>
              <a:ea typeface="Calibri"/>
              <a:cs typeface="Times New Roman"/>
            </a:endParaRPr>
          </a:p>
          <a:p>
            <a:pPr marL="398145" indent="-398145" algn="just"/>
            <a:r>
              <a:rPr lang="en-HK" sz="2800" b="1">
                <a:solidFill>
                  <a:srgbClr val="000000"/>
                </a:solidFill>
                <a:latin typeface="Times New Roman"/>
                <a:ea typeface="+mn-lt"/>
                <a:cs typeface="+mn-lt"/>
              </a:rPr>
              <a:t>Code review benefits [2 marks]</a:t>
            </a:r>
            <a:endParaRPr lang="en-US" altLang="zh-CN" sz="2800" b="1">
              <a:solidFill>
                <a:srgbClr val="000000"/>
              </a:solidFill>
              <a:latin typeface="Times New Roman"/>
              <a:ea typeface="+mn-lt"/>
              <a:cs typeface="+mn-lt"/>
            </a:endParaRPr>
          </a:p>
          <a:p>
            <a:pPr marL="398145" indent="-398145" algn="just"/>
            <a:r>
              <a:rPr lang="en-HK" sz="2800" b="1">
                <a:solidFill>
                  <a:srgbClr val="000000"/>
                </a:solidFill>
                <a:ea typeface="Calibri"/>
                <a:cs typeface="Calibri"/>
              </a:rPr>
              <a:t>Automation benefits </a:t>
            </a:r>
            <a:r>
              <a:rPr lang="en-HK" sz="2800" b="1">
                <a:solidFill>
                  <a:srgbClr val="000000"/>
                </a:solidFill>
                <a:ea typeface="Calibri"/>
                <a:cs typeface="Times New Roman"/>
              </a:rPr>
              <a:t>[2 marks]</a:t>
            </a:r>
            <a:endParaRPr lang="en-HK" sz="2800">
              <a:solidFill>
                <a:srgbClr val="000000"/>
              </a:solidFill>
              <a:ea typeface="Calibri"/>
              <a:cs typeface="Times New Roman"/>
            </a:endParaRPr>
          </a:p>
          <a:p>
            <a:pPr marL="398145" indent="-398145" algn="just"/>
            <a:endParaRPr lang="en-HK" sz="2800" b="1">
              <a:solidFill>
                <a:srgbClr val="000000"/>
              </a:solidFill>
              <a:ea typeface="Calibri"/>
              <a:cs typeface="Calibri"/>
            </a:endParaRPr>
          </a:p>
          <a:p>
            <a:pPr marL="0" indent="0" algn="just">
              <a:buNone/>
            </a:pPr>
            <a:endParaRPr lang="en-US" sz="2800" b="1">
              <a:ea typeface="Calibri"/>
              <a:cs typeface="Times New Roman"/>
            </a:endParaRPr>
          </a:p>
        </p:txBody>
      </p:sp>
    </p:spTree>
    <p:extLst>
      <p:ext uri="{BB962C8B-B14F-4D97-AF65-F5344CB8AC3E}">
        <p14:creationId xmlns:p14="http://schemas.microsoft.com/office/powerpoint/2010/main" val="2564218049"/>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3885E-A1DF-10D0-B48F-3F45CEDD9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8C69B1-5529-2C96-9615-2BA4511CD136}"/>
              </a:ext>
            </a:extLst>
          </p:cNvPr>
          <p:cNvSpPr>
            <a:spLocks noGrp="1"/>
          </p:cNvSpPr>
          <p:nvPr>
            <p:ph type="title"/>
          </p:nvPr>
        </p:nvSpPr>
        <p:spPr/>
        <p:txBody>
          <a:bodyPr/>
          <a:lstStyle/>
          <a:p>
            <a:r>
              <a:rPr lang="en-HK" altLang="zh-CN"/>
              <a:t>Scenario 3 Q3(Afternoon): Reference </a:t>
            </a:r>
            <a:r>
              <a:rPr lang="en-US" altLang="zh-CN"/>
              <a:t>Answers</a:t>
            </a:r>
            <a:endParaRPr lang="en-HK"/>
          </a:p>
        </p:txBody>
      </p:sp>
      <p:sp>
        <p:nvSpPr>
          <p:cNvPr id="3" name="Content Placeholder 2">
            <a:extLst>
              <a:ext uri="{FF2B5EF4-FFF2-40B4-BE49-F238E27FC236}">
                <a16:creationId xmlns:a16="http://schemas.microsoft.com/office/drawing/2014/main" id="{9D1132C3-D5E6-F056-9056-38444E924D5E}"/>
              </a:ext>
            </a:extLst>
          </p:cNvPr>
          <p:cNvSpPr>
            <a:spLocks noGrp="1"/>
          </p:cNvSpPr>
          <p:nvPr>
            <p:ph idx="1"/>
          </p:nvPr>
        </p:nvSpPr>
        <p:spPr>
          <a:xfrm>
            <a:off x="508163" y="1463964"/>
            <a:ext cx="11124858" cy="4953000"/>
          </a:xfrm>
        </p:spPr>
        <p:txBody>
          <a:bodyPr/>
          <a:lstStyle/>
          <a:p>
            <a:pPr marL="398145" indent="-398145">
              <a:buNone/>
            </a:pPr>
            <a:r>
              <a:rPr lang="en-HK" sz="2800" kern="100">
                <a:ea typeface="DengXian"/>
                <a:cs typeface="Times New Roman"/>
              </a:rPr>
              <a:t>Q3. Describe how modern code review and automation tools (like</a:t>
            </a:r>
            <a:endParaRPr lang="zh-CN" sz="2800" kern="100">
              <a:ea typeface="DengXian"/>
              <a:cs typeface="Times New Roman"/>
            </a:endParaRPr>
          </a:p>
          <a:p>
            <a:pPr marL="398145" indent="-398145">
              <a:buNone/>
            </a:pPr>
            <a:r>
              <a:rPr lang="en-HK" sz="2800" kern="100">
                <a:ea typeface="DengXian"/>
                <a:cs typeface="Times New Roman"/>
              </a:rPr>
              <a:t>automated testing or automated static code analysis tools) can help manage</a:t>
            </a:r>
            <a:endParaRPr lang="zh-CN" altLang="en-US" sz="2800" kern="100">
              <a:ea typeface="DengXian"/>
              <a:cs typeface="Times New Roman"/>
            </a:endParaRPr>
          </a:p>
          <a:p>
            <a:pPr marL="398145" indent="-398145">
              <a:buNone/>
            </a:pPr>
            <a:r>
              <a:rPr lang="en-HK" sz="2800" kern="100">
                <a:ea typeface="DengXian"/>
                <a:cs typeface="Times New Roman"/>
              </a:rPr>
              <a:t>technical debt introduced by AI-generated code.</a:t>
            </a:r>
            <a:endParaRPr lang="en-HK"/>
          </a:p>
          <a:p>
            <a:pPr marL="398145" indent="-398145">
              <a:buNone/>
            </a:pPr>
            <a:endParaRPr lang="en-HK" sz="2800" kern="100">
              <a:ea typeface="DengXian"/>
              <a:cs typeface="+mn-lt"/>
            </a:endParaRPr>
          </a:p>
          <a:p>
            <a:pPr marL="398145" indent="-398145"/>
            <a:r>
              <a:rPr lang="en-HK" sz="2400" kern="100">
                <a:ea typeface="+mn-lt"/>
                <a:cs typeface="+mn-lt"/>
              </a:rPr>
              <a:t>Modern code review enables early detection of code quality issues and ensures adherence to standards.</a:t>
            </a:r>
          </a:p>
          <a:p>
            <a:pPr marL="398145" indent="-398145"/>
            <a:r>
              <a:rPr lang="en-HK" sz="2400" kern="100">
                <a:ea typeface="+mn-lt"/>
                <a:cs typeface="+mn-lt"/>
              </a:rPr>
              <a:t>Automation (e.g., static analysis tools, automated testing) can identify and report problematic patterns in AI-generated code, helping reviewers to identify technical debts.</a:t>
            </a:r>
            <a:endParaRPr lang="en-HK" sz="2400" kern="100">
              <a:cs typeface="Times New Roman"/>
            </a:endParaRPr>
          </a:p>
          <a:p>
            <a:pPr marL="0" indent="0">
              <a:buNone/>
            </a:pPr>
            <a:endParaRPr lang="en-HK" sz="2400" kern="10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18667563"/>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7D1B9-8FB3-9D36-8516-B407EFF2A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99430-F083-4FF3-4B8D-55CF234E3FED}"/>
              </a:ext>
            </a:extLst>
          </p:cNvPr>
          <p:cNvSpPr>
            <a:spLocks noGrp="1"/>
          </p:cNvSpPr>
          <p:nvPr>
            <p:ph type="title"/>
          </p:nvPr>
        </p:nvSpPr>
        <p:spPr/>
        <p:txBody>
          <a:bodyPr/>
          <a:lstStyle/>
          <a:p>
            <a:r>
              <a:rPr lang="en-HK" altLang="zh-CN"/>
              <a:t>Scenario 3 Q4(Afternoon): </a:t>
            </a:r>
            <a:endParaRPr lang="en-US" altLang="zh-CN">
              <a:cs typeface="Times New Roman"/>
            </a:endParaRPr>
          </a:p>
        </p:txBody>
      </p:sp>
      <p:sp>
        <p:nvSpPr>
          <p:cNvPr id="3" name="Content Placeholder 2">
            <a:extLst>
              <a:ext uri="{FF2B5EF4-FFF2-40B4-BE49-F238E27FC236}">
                <a16:creationId xmlns:a16="http://schemas.microsoft.com/office/drawing/2014/main" id="{4EFCBC63-3FBD-9DA8-412D-1C1D0B6F5DDA}"/>
              </a:ext>
            </a:extLst>
          </p:cNvPr>
          <p:cNvSpPr>
            <a:spLocks noGrp="1"/>
          </p:cNvSpPr>
          <p:nvPr>
            <p:ph idx="1"/>
          </p:nvPr>
        </p:nvSpPr>
        <p:spPr>
          <a:xfrm>
            <a:off x="508163" y="1463964"/>
            <a:ext cx="11124858" cy="4953000"/>
          </a:xfrm>
        </p:spPr>
        <p:txBody>
          <a:bodyPr/>
          <a:lstStyle/>
          <a:p>
            <a:pPr marL="398145" indent="-398145">
              <a:buNone/>
            </a:pPr>
            <a:r>
              <a:rPr lang="en-HK" sz="2800" kern="100">
                <a:ea typeface="DengXian"/>
                <a:cs typeface="Times New Roman"/>
              </a:rPr>
              <a:t>Multiple Answer</a:t>
            </a:r>
          </a:p>
          <a:p>
            <a:pPr marL="398145" indent="-398145">
              <a:buNone/>
            </a:pPr>
            <a:r>
              <a:rPr lang="en-HK" sz="2800" kern="100">
                <a:ea typeface="DengXian"/>
                <a:cs typeface="Times New Roman"/>
              </a:rPr>
              <a:t>Q4. Which of the following is </a:t>
            </a:r>
            <a:r>
              <a:rPr lang="en-HK" sz="2800" b="1" kern="100">
                <a:solidFill>
                  <a:srgbClr val="FF0000"/>
                </a:solidFill>
                <a:ea typeface="DengXian"/>
                <a:cs typeface="Times New Roman"/>
              </a:rPr>
              <a:t>NOT</a:t>
            </a:r>
            <a:r>
              <a:rPr lang="en-HK" sz="2800" kern="100">
                <a:ea typeface="DengXian"/>
                <a:cs typeface="Times New Roman"/>
              </a:rPr>
              <a:t> an effective method for tracking technical debt in a software project in the scenario?</a:t>
            </a:r>
            <a:endParaRPr lang="zh-CN" altLang="en-US" sz="2800" kern="100">
              <a:ea typeface="DengXian"/>
              <a:cs typeface="Times New Roman"/>
            </a:endParaRPr>
          </a:p>
          <a:p>
            <a:pPr marL="398145" indent="-398145">
              <a:buNone/>
            </a:pPr>
            <a:r>
              <a:rPr lang="en-US" sz="2800" kern="100">
                <a:ea typeface="DengXian"/>
                <a:cs typeface="+mn-lt"/>
              </a:rPr>
              <a:t>[2 marks in total] </a:t>
            </a:r>
            <a:endParaRPr lang="en-HK"/>
          </a:p>
          <a:p>
            <a:pPr marL="398145" indent="-398145"/>
            <a:r>
              <a:rPr lang="en-HK" sz="2400" kern="100">
                <a:cs typeface="Times New Roman"/>
              </a:rPr>
              <a:t>A. Using a product backlog</a:t>
            </a:r>
            <a:endParaRPr lang="en-HK">
              <a:cs typeface="Times New Roman"/>
            </a:endParaRPr>
          </a:p>
          <a:p>
            <a:pPr marL="398145" indent="-398145"/>
            <a:r>
              <a:rPr lang="en-HK" sz="2400" b="1">
                <a:solidFill>
                  <a:srgbClr val="FF0000"/>
                </a:solidFill>
              </a:rPr>
              <a:t>B. Adding comments in code</a:t>
            </a:r>
          </a:p>
          <a:p>
            <a:pPr marL="398145" indent="-398145"/>
            <a:r>
              <a:rPr lang="en-HK" sz="2400" b="1">
                <a:solidFill>
                  <a:srgbClr val="FF0000"/>
                </a:solidFill>
              </a:rPr>
              <a:t>C. Using review meetings</a:t>
            </a:r>
          </a:p>
          <a:p>
            <a:pPr marL="398145" indent="-398145"/>
            <a:r>
              <a:rPr lang="en-HK" sz="2400" kern="100">
                <a:ea typeface="+mn-lt"/>
                <a:cs typeface="+mn-lt"/>
              </a:rPr>
              <a:t>D. Maintaining a Kanban board</a:t>
            </a:r>
          </a:p>
          <a:p>
            <a:pPr marL="0" indent="0">
              <a:buNone/>
            </a:pPr>
            <a:endParaRPr lang="en-US" sz="2400" kern="100">
              <a:cs typeface="Times New Roman"/>
            </a:endParaRPr>
          </a:p>
          <a:p>
            <a:pPr marL="0" indent="0">
              <a:buNone/>
            </a:pPr>
            <a:r>
              <a:rPr lang="en-US" sz="2400" kern="100">
                <a:ea typeface="DengXian"/>
                <a:cs typeface="Times New Roman"/>
              </a:rPr>
              <a:t>Explanation: Options A and C can visualize the technical debts. (see cs5351-technical-debt-v5.pptx Pages 42-44)</a:t>
            </a:r>
            <a:endParaRPr lang="en-HK">
              <a:ea typeface="DengXian"/>
              <a:cs typeface="Times New Roman"/>
            </a:endParaRPr>
          </a:p>
          <a:p>
            <a:pPr marL="0" indent="0">
              <a:buNone/>
            </a:pPr>
            <a:endParaRPr lang="en-HK" sz="2400" kern="10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15331160"/>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E72F3-DC38-529A-0B15-729D988EE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766F9-2250-6E7C-8395-EAEC525A85C3}"/>
              </a:ext>
            </a:extLst>
          </p:cNvPr>
          <p:cNvSpPr>
            <a:spLocks noGrp="1"/>
          </p:cNvSpPr>
          <p:nvPr>
            <p:ph type="title"/>
          </p:nvPr>
        </p:nvSpPr>
        <p:spPr/>
        <p:txBody>
          <a:bodyPr/>
          <a:lstStyle/>
          <a:p>
            <a:r>
              <a:rPr lang="en-HK"/>
              <a:t>Scenario 3 Q2(Evening): </a:t>
            </a:r>
            <a:r>
              <a:rPr lang="en-US"/>
              <a:t>Marking Scheme</a:t>
            </a:r>
            <a:endParaRPr lang="en-HK"/>
          </a:p>
        </p:txBody>
      </p:sp>
      <p:sp>
        <p:nvSpPr>
          <p:cNvPr id="3" name="Content Placeholder 2">
            <a:extLst>
              <a:ext uri="{FF2B5EF4-FFF2-40B4-BE49-F238E27FC236}">
                <a16:creationId xmlns:a16="http://schemas.microsoft.com/office/drawing/2014/main" id="{B9389D49-7BA5-1276-50B7-891455F5DE5D}"/>
              </a:ext>
            </a:extLst>
          </p:cNvPr>
          <p:cNvSpPr>
            <a:spLocks noGrp="1"/>
          </p:cNvSpPr>
          <p:nvPr>
            <p:ph idx="1"/>
          </p:nvPr>
        </p:nvSpPr>
        <p:spPr>
          <a:xfrm>
            <a:off x="508163" y="1516911"/>
            <a:ext cx="11124858" cy="5147931"/>
          </a:xfrm>
        </p:spPr>
        <p:txBody>
          <a:bodyPr/>
          <a:lstStyle/>
          <a:p>
            <a:pPr marL="398145" indent="-398145">
              <a:buNone/>
            </a:pPr>
            <a:r>
              <a:rPr lang="en-HK" sz="2800">
                <a:solidFill>
                  <a:srgbClr val="000000"/>
                </a:solidFill>
                <a:ea typeface="+mn-lt"/>
                <a:cs typeface="+mn-lt"/>
              </a:rPr>
              <a:t>Q2.A team member suggests applying a large language model (LLM) to</a:t>
            </a:r>
            <a:endParaRPr lang="zh-CN" altLang="en-US">
              <a:solidFill>
                <a:srgbClr val="000000"/>
              </a:solidFill>
              <a:ea typeface="+mn-lt"/>
              <a:cs typeface="+mn-lt"/>
            </a:endParaRPr>
          </a:p>
          <a:p>
            <a:pPr marL="398145" indent="-398145">
              <a:buNone/>
            </a:pPr>
            <a:r>
              <a:rPr lang="en-HK" sz="2800">
                <a:solidFill>
                  <a:srgbClr val="000000"/>
                </a:solidFill>
                <a:ea typeface="+mn-lt"/>
                <a:cs typeface="+mn-lt"/>
              </a:rPr>
              <a:t>review the code to generate the technical debts and post them on the task</a:t>
            </a:r>
            <a:endParaRPr lang="zh-CN" altLang="en-US">
              <a:solidFill>
                <a:srgbClr val="000000"/>
              </a:solidFill>
              <a:ea typeface="+mn-lt"/>
              <a:cs typeface="+mn-lt"/>
            </a:endParaRPr>
          </a:p>
          <a:p>
            <a:pPr marL="398145" indent="-398145">
              <a:buNone/>
            </a:pPr>
            <a:r>
              <a:rPr lang="en-HK" sz="2800">
                <a:solidFill>
                  <a:srgbClr val="000000"/>
                </a:solidFill>
                <a:ea typeface="+mn-lt"/>
                <a:cs typeface="+mn-lt"/>
              </a:rPr>
              <a:t>board. For each of the four dimensions of technical debt, explain with an</a:t>
            </a:r>
            <a:endParaRPr lang="zh-CN" altLang="en-US">
              <a:solidFill>
                <a:srgbClr val="000000"/>
              </a:solidFill>
              <a:ea typeface="+mn-lt"/>
              <a:cs typeface="+mn-lt"/>
            </a:endParaRPr>
          </a:p>
          <a:p>
            <a:pPr marL="398145" indent="-398145">
              <a:buNone/>
            </a:pPr>
            <a:r>
              <a:rPr lang="en-HK" sz="2800">
                <a:solidFill>
                  <a:srgbClr val="000000"/>
                </a:solidFill>
                <a:ea typeface="+mn-lt"/>
                <a:cs typeface="+mn-lt"/>
              </a:rPr>
              <a:t>example to illustrate why the LLM </a:t>
            </a:r>
            <a:r>
              <a:rPr lang="en-HK" sz="2800" b="1">
                <a:solidFill>
                  <a:srgbClr val="FF0000"/>
                </a:solidFill>
                <a:ea typeface="+mn-lt"/>
                <a:cs typeface="+mn-lt"/>
              </a:rPr>
              <a:t>cannot</a:t>
            </a:r>
            <a:r>
              <a:rPr lang="en-HK" sz="2800">
                <a:solidFill>
                  <a:srgbClr val="000000"/>
                </a:solidFill>
                <a:ea typeface="+mn-lt"/>
                <a:cs typeface="+mn-lt"/>
              </a:rPr>
              <a:t> help to distinguish a technical</a:t>
            </a:r>
            <a:endParaRPr lang="zh-CN" altLang="en-US">
              <a:solidFill>
                <a:srgbClr val="000000"/>
              </a:solidFill>
              <a:ea typeface="+mn-lt"/>
              <a:cs typeface="+mn-lt"/>
            </a:endParaRPr>
          </a:p>
          <a:p>
            <a:pPr marL="398145" indent="-398145">
              <a:buNone/>
            </a:pPr>
            <a:r>
              <a:rPr lang="en-HK" sz="2800">
                <a:solidFill>
                  <a:srgbClr val="000000"/>
                </a:solidFill>
                <a:ea typeface="+mn-lt"/>
                <a:cs typeface="+mn-lt"/>
              </a:rPr>
              <a:t>debt in that dimension. </a:t>
            </a:r>
            <a:endParaRPr lang="zh-CN" altLang="en-US">
              <a:solidFill>
                <a:srgbClr val="000000"/>
              </a:solidFill>
              <a:ea typeface="+mn-lt"/>
              <a:cs typeface="+mn-lt"/>
            </a:endParaRPr>
          </a:p>
          <a:p>
            <a:pPr marL="0" indent="0" algn="just">
              <a:buNone/>
            </a:pPr>
            <a:r>
              <a:rPr lang="en-US" sz="2800">
                <a:cs typeface="Times New Roman"/>
              </a:rPr>
              <a:t>[10 marks in total]</a:t>
            </a:r>
            <a:r>
              <a:rPr lang="en-US" altLang="zh-CN" sz="2800">
                <a:cs typeface="Times New Roman"/>
              </a:rPr>
              <a:t> </a:t>
            </a:r>
            <a:endParaRPr lang="zh-CN" altLang="en-US" sz="2800">
              <a:cs typeface="Times New Roman"/>
            </a:endParaRPr>
          </a:p>
          <a:p>
            <a:pPr marL="398145" indent="-398145" algn="just">
              <a:buFont typeface="Wingdings"/>
              <a:buChar char="u"/>
            </a:pPr>
            <a:r>
              <a:rPr lang="en-HK" sz="2800" b="1">
                <a:cs typeface="Times New Roman"/>
              </a:rPr>
              <a:t>Type [3 marks]</a:t>
            </a:r>
            <a:endParaRPr lang="en-HK" sz="1200" b="1">
              <a:latin typeface="Aptos"/>
              <a:cs typeface="Times New Roman"/>
            </a:endParaRPr>
          </a:p>
          <a:p>
            <a:pPr marL="398145" indent="-398145" algn="just">
              <a:buFont typeface="Wingdings"/>
              <a:buChar char="u"/>
            </a:pPr>
            <a:r>
              <a:rPr lang="en-HK" sz="2800" b="1">
                <a:cs typeface="Times New Roman"/>
              </a:rPr>
              <a:t>Intentionality [2 marks]</a:t>
            </a:r>
          </a:p>
          <a:p>
            <a:pPr marL="398145" indent="-398145" algn="just">
              <a:buFont typeface="Wingdings"/>
              <a:buChar char="u"/>
            </a:pPr>
            <a:r>
              <a:rPr lang="en-HK" sz="2800" b="1">
                <a:cs typeface="Times New Roman"/>
              </a:rPr>
              <a:t>Time horizon [2 marks]</a:t>
            </a:r>
          </a:p>
          <a:p>
            <a:pPr marL="398145" indent="-398145" algn="just">
              <a:buFont typeface="Wingdings"/>
              <a:buChar char="u"/>
            </a:pPr>
            <a:r>
              <a:rPr lang="en-HK" sz="2800" b="1">
                <a:cs typeface="Times New Roman"/>
              </a:rPr>
              <a:t>Degree of focus [3 marks]</a:t>
            </a:r>
          </a:p>
          <a:p>
            <a:pPr marL="398145" indent="-398145" algn="just">
              <a:buFont typeface="Wingdings"/>
              <a:buChar char="u"/>
            </a:pPr>
            <a:endParaRPr lang="en-HK" sz="2800" b="1">
              <a:cs typeface="Times New Roman"/>
            </a:endParaRPr>
          </a:p>
          <a:p>
            <a:pPr marL="398145" indent="-398145">
              <a:buNone/>
            </a:pPr>
            <a:endParaRPr lang="en-US">
              <a:cs typeface="Times New Roman"/>
            </a:endParaRPr>
          </a:p>
        </p:txBody>
      </p:sp>
    </p:spTree>
    <p:extLst>
      <p:ext uri="{BB962C8B-B14F-4D97-AF65-F5344CB8AC3E}">
        <p14:creationId xmlns:p14="http://schemas.microsoft.com/office/powerpoint/2010/main" val="1491220657"/>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A81E6-FCFC-A6D2-E6B8-2C5B9A5D2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E98CA0-66FC-519F-4660-5983F4598E05}"/>
              </a:ext>
            </a:extLst>
          </p:cNvPr>
          <p:cNvSpPr>
            <a:spLocks noGrp="1"/>
          </p:cNvSpPr>
          <p:nvPr>
            <p:ph type="title"/>
          </p:nvPr>
        </p:nvSpPr>
        <p:spPr/>
        <p:txBody>
          <a:bodyPr/>
          <a:lstStyle/>
          <a:p>
            <a:r>
              <a:rPr lang="en-HK" altLang="zh-CN"/>
              <a:t>Scenario 3 Q2(Evening): Reference </a:t>
            </a:r>
            <a:r>
              <a:rPr lang="en-US" altLang="zh-CN"/>
              <a:t>Answers</a:t>
            </a:r>
            <a:endParaRPr lang="en-HK"/>
          </a:p>
        </p:txBody>
      </p:sp>
      <p:sp>
        <p:nvSpPr>
          <p:cNvPr id="3" name="Content Placeholder 2">
            <a:extLst>
              <a:ext uri="{FF2B5EF4-FFF2-40B4-BE49-F238E27FC236}">
                <a16:creationId xmlns:a16="http://schemas.microsoft.com/office/drawing/2014/main" id="{1399A475-9BFF-43FE-95CB-82FD029A7900}"/>
              </a:ext>
            </a:extLst>
          </p:cNvPr>
          <p:cNvSpPr>
            <a:spLocks noGrp="1"/>
          </p:cNvSpPr>
          <p:nvPr>
            <p:ph idx="1"/>
          </p:nvPr>
        </p:nvSpPr>
        <p:spPr>
          <a:xfrm>
            <a:off x="508163" y="1463964"/>
            <a:ext cx="11124858" cy="5531884"/>
          </a:xfrm>
        </p:spPr>
        <p:txBody>
          <a:bodyPr/>
          <a:lstStyle/>
          <a:p>
            <a:pPr marL="398145" indent="-398145"/>
            <a:r>
              <a:rPr lang="en-HK" sz="2000" b="1" kern="100">
                <a:cs typeface="Times New Roman"/>
              </a:rPr>
              <a:t>Type [3 marks]:</a:t>
            </a:r>
            <a:r>
              <a:rPr lang="en-HK" sz="2400" kern="100">
                <a:cs typeface="Times New Roman"/>
              </a:rPr>
              <a:t> </a:t>
            </a:r>
            <a:endParaRPr lang="en-HK" sz="2800" kern="100">
              <a:ea typeface="DengXian"/>
              <a:cs typeface="Times New Roman"/>
            </a:endParaRPr>
          </a:p>
          <a:p>
            <a:pPr marL="861695" lvl="1">
              <a:buClr>
                <a:srgbClr val="C00000"/>
              </a:buClr>
            </a:pPr>
            <a:r>
              <a:rPr lang="en-HK" sz="2000">
                <a:solidFill>
                  <a:srgbClr val="000000"/>
                </a:solidFill>
                <a:ea typeface="Calibri"/>
                <a:cs typeface="Calibri"/>
              </a:rPr>
              <a:t>Design shortcuts (because no design rationale is documented)</a:t>
            </a:r>
            <a:endParaRPr lang="en-HK" sz="2000" kern="100">
              <a:solidFill>
                <a:srgbClr val="000000"/>
              </a:solidFill>
              <a:ea typeface="Calibri"/>
              <a:cs typeface="Times New Roman"/>
            </a:endParaRPr>
          </a:p>
          <a:p>
            <a:pPr marL="861695" lvl="1">
              <a:buClr>
                <a:srgbClr val="C00000"/>
              </a:buClr>
            </a:pPr>
            <a:r>
              <a:rPr lang="en-HK" sz="2000">
                <a:solidFill>
                  <a:srgbClr val="000000"/>
                </a:solidFill>
                <a:ea typeface="Calibri"/>
                <a:cs typeface="Calibri"/>
              </a:rPr>
              <a:t>Insufficient testing (no testing outcome for judgment)</a:t>
            </a:r>
            <a:endParaRPr lang="en-HK" sz="2000" kern="100">
              <a:solidFill>
                <a:srgbClr val="000000"/>
              </a:solidFill>
              <a:ea typeface="Calibri"/>
              <a:cs typeface="Times New Roman"/>
            </a:endParaRPr>
          </a:p>
          <a:p>
            <a:pPr marL="861695" lvl="1">
              <a:buClr>
                <a:srgbClr val="C00000"/>
              </a:buClr>
            </a:pPr>
            <a:r>
              <a:rPr lang="en-HK" sz="2000">
                <a:solidFill>
                  <a:srgbClr val="000000"/>
                </a:solidFill>
                <a:ea typeface="Calibri"/>
                <a:cs typeface="Calibri"/>
              </a:rPr>
              <a:t>Outdated documentation</a:t>
            </a:r>
            <a:endParaRPr lang="en-HK" sz="2000" kern="100">
              <a:ea typeface="Calibri"/>
              <a:cs typeface="+mn-lt"/>
            </a:endParaRPr>
          </a:p>
          <a:p>
            <a:pPr marL="398145" indent="-398145"/>
            <a:r>
              <a:rPr lang="en-HK" sz="2000" b="1" kern="100">
                <a:ea typeface="+mn-lt"/>
                <a:cs typeface="+mn-lt"/>
              </a:rPr>
              <a:t>Intentionality [2 marks]:</a:t>
            </a:r>
            <a:r>
              <a:rPr lang="en-HK" sz="2000" kern="100">
                <a:ea typeface="+mn-lt"/>
                <a:cs typeface="+mn-lt"/>
              </a:rPr>
              <a:t> </a:t>
            </a:r>
            <a:endParaRPr lang="en-HK" sz="2000">
              <a:ea typeface="+mn-lt"/>
              <a:cs typeface="+mn-lt"/>
            </a:endParaRPr>
          </a:p>
          <a:p>
            <a:pPr marL="861695" lvl="1"/>
            <a:r>
              <a:rPr lang="en-HK" sz="2000">
                <a:solidFill>
                  <a:srgbClr val="000000"/>
                </a:solidFill>
                <a:ea typeface="Calibri"/>
                <a:cs typeface="Calibri"/>
              </a:rPr>
              <a:t>LLM cannot determine the nature of intentionality of the current code from the code itself (intended technical debt also requires a knowledge of the debt consequence and how to address them, which is unavailable in the code itself).</a:t>
            </a:r>
          </a:p>
          <a:p>
            <a:pPr marL="398145" indent="-398145"/>
            <a:r>
              <a:rPr lang="en-HK" sz="2000" b="1" kern="100">
                <a:ea typeface="+mn-lt"/>
                <a:cs typeface="+mn-lt"/>
              </a:rPr>
              <a:t>Time horizon [2 marks]:</a:t>
            </a:r>
            <a:r>
              <a:rPr lang="en-HK" sz="2000" kern="100">
                <a:ea typeface="+mn-lt"/>
                <a:cs typeface="+mn-lt"/>
              </a:rPr>
              <a:t> </a:t>
            </a:r>
            <a:endParaRPr lang="en-HK" sz="2000">
              <a:ea typeface="+mn-lt"/>
              <a:cs typeface="+mn-lt"/>
            </a:endParaRPr>
          </a:p>
          <a:p>
            <a:pPr marL="861695" lvl="1"/>
            <a:r>
              <a:rPr lang="en-HK" sz="2000" kern="100">
                <a:ea typeface="+mn-lt"/>
                <a:cs typeface="+mn-lt"/>
              </a:rPr>
              <a:t>For short-term code debt (quick fixes due to reactive to fast delivery) can be identified by LLM, but not long-term code debt. </a:t>
            </a:r>
            <a:endParaRPr lang="en-HK" sz="2000">
              <a:ea typeface="+mn-lt"/>
              <a:cs typeface="+mn-lt"/>
            </a:endParaRPr>
          </a:p>
          <a:p>
            <a:pPr marL="861695" lvl="1"/>
            <a:r>
              <a:rPr lang="en-HK" sz="2000" kern="100">
                <a:ea typeface="+mn-lt"/>
                <a:cs typeface="+mn-lt"/>
              </a:rPr>
              <a:t>The time horizon for non-code debt cannot identified.</a:t>
            </a:r>
            <a:endParaRPr lang="en-HK" sz="2000">
              <a:cs typeface="Times New Roman"/>
            </a:endParaRPr>
          </a:p>
          <a:p>
            <a:pPr marL="398145" indent="-398145"/>
            <a:r>
              <a:rPr lang="en-HK" sz="2000" b="1" kern="100">
                <a:ea typeface="+mn-lt"/>
                <a:cs typeface="+mn-lt"/>
              </a:rPr>
              <a:t>Degree of focus [3 marks]:</a:t>
            </a:r>
            <a:r>
              <a:rPr lang="en-HK" sz="2000" kern="100">
                <a:ea typeface="+mn-lt"/>
                <a:cs typeface="+mn-lt"/>
              </a:rPr>
              <a:t> </a:t>
            </a:r>
            <a:endParaRPr lang="en-HK" sz="2000">
              <a:ea typeface="+mn-lt"/>
              <a:cs typeface="+mn-lt"/>
            </a:endParaRPr>
          </a:p>
          <a:p>
            <a:pPr marL="861695" lvl="1"/>
            <a:r>
              <a:rPr lang="en-HK" sz="2000" kern="100">
                <a:ea typeface="+mn-lt"/>
                <a:cs typeface="+mn-lt"/>
              </a:rPr>
              <a:t>The degree of focus (regardless of focused or unfocused) cannot be determined because the method to manage debts could not be appeared in the code. </a:t>
            </a:r>
            <a:endParaRPr lang="en-HK" sz="2000">
              <a:cs typeface="Times New Roman"/>
            </a:endParaRPr>
          </a:p>
          <a:p>
            <a:pPr marL="861695" lvl="1"/>
            <a:endParaRPr lang="en-HK" sz="2000" kern="100">
              <a:ea typeface="DengXian" panose="02010600030101010101" pitchFamily="2" charset="-122"/>
              <a:cs typeface="Times New Roman" panose="02020603050405020304" pitchFamily="18" charset="0"/>
            </a:endParaRPr>
          </a:p>
          <a:p>
            <a:pPr marL="398145" indent="-398145"/>
            <a:endParaRPr lang="en-HK" sz="2400" kern="100">
              <a:ea typeface="DengXian" panose="02010600030101010101" pitchFamily="2" charset="-122"/>
              <a:cs typeface="Times New Roman" panose="02020603050405020304" pitchFamily="18" charset="0"/>
            </a:endParaRPr>
          </a:p>
          <a:p>
            <a:pPr marL="0" indent="0">
              <a:buNone/>
            </a:pPr>
            <a:endParaRPr lang="en-HK" sz="2400" kern="10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75390194"/>
      </p:ext>
    </p:extLst>
  </p:cSld>
  <p:clrMapOvr>
    <a:masterClrMapping/>
  </p:clrMapOvr>
  <p:transition/>
</p:sld>
</file>

<file path=ppt/theme/theme1.xml><?xml version="1.0" encoding="utf-8"?>
<a:theme xmlns:a="http://schemas.openxmlformats.org/drawingml/2006/main" name="Side Bar">
  <a:themeElements>
    <a:clrScheme name="">
      <a:dk1>
        <a:srgbClr val="000000"/>
      </a:dk1>
      <a:lt1>
        <a:srgbClr val="FFFFFF"/>
      </a:lt1>
      <a:dk2>
        <a:srgbClr val="C00000"/>
      </a:dk2>
      <a:lt2>
        <a:srgbClr val="C00000"/>
      </a:lt2>
      <a:accent1>
        <a:srgbClr val="FFEBEB"/>
      </a:accent1>
      <a:accent2>
        <a:srgbClr val="006600"/>
      </a:accent2>
      <a:accent3>
        <a:srgbClr val="FFFFFF"/>
      </a:accent3>
      <a:accent4>
        <a:srgbClr val="000000"/>
      </a:accent4>
      <a:accent5>
        <a:srgbClr val="FFF3F3"/>
      </a:accent5>
      <a:accent6>
        <a:srgbClr val="005C00"/>
      </a:accent6>
      <a:hlink>
        <a:srgbClr val="000066"/>
      </a:hlink>
      <a:folHlink>
        <a:srgbClr val="808080"/>
      </a:folHlink>
    </a:clrScheme>
    <a:fontScheme name="Side Bar">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outerShdw dist="71842" dir="2700000" algn="ctr" rotWithShape="0">
            <a:schemeClr val="bg2"/>
          </a:outerShdw>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outerShdw dist="71842" dir="2700000" algn="ctr" rotWithShape="0">
            <a:schemeClr val="bg2"/>
          </a:outerShdw>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ide Bar 1">
        <a:dk1>
          <a:srgbClr val="FF9933"/>
        </a:dk1>
        <a:lt1>
          <a:srgbClr val="FFFFFF"/>
        </a:lt1>
        <a:dk2>
          <a:srgbClr val="003366"/>
        </a:dk2>
        <a:lt2>
          <a:srgbClr val="FF9933"/>
        </a:lt2>
        <a:accent1>
          <a:srgbClr val="2B557F"/>
        </a:accent1>
        <a:accent2>
          <a:srgbClr val="FF9933"/>
        </a:accent2>
        <a:accent3>
          <a:srgbClr val="AAADB8"/>
        </a:accent3>
        <a:accent4>
          <a:srgbClr val="DADADA"/>
        </a:accent4>
        <a:accent5>
          <a:srgbClr val="ACB4C0"/>
        </a:accent5>
        <a:accent6>
          <a:srgbClr val="E78A2D"/>
        </a:accent6>
        <a:hlink>
          <a:srgbClr val="005032"/>
        </a:hlink>
        <a:folHlink>
          <a:srgbClr val="A0A0A0"/>
        </a:folHlink>
      </a:clrScheme>
      <a:clrMap bg1="dk2" tx1="lt1" bg2="dk1" tx2="lt2" accent1="accent1" accent2="accent2" accent3="accent3" accent4="accent4" accent5="accent5" accent6="accent6" hlink="hlink" folHlink="folHlink"/>
    </a:extraClrScheme>
    <a:extraClrScheme>
      <a:clrScheme name="Side Bar 2">
        <a:dk1>
          <a:srgbClr val="000000"/>
        </a:dk1>
        <a:lt1>
          <a:srgbClr val="FFFFFF"/>
        </a:lt1>
        <a:dk2>
          <a:srgbClr val="E16414"/>
        </a:dk2>
        <a:lt2>
          <a:srgbClr val="E16414"/>
        </a:lt2>
        <a:accent1>
          <a:srgbClr val="FFF0EB"/>
        </a:accent1>
        <a:accent2>
          <a:srgbClr val="E16414"/>
        </a:accent2>
        <a:accent3>
          <a:srgbClr val="FFFFFF"/>
        </a:accent3>
        <a:accent4>
          <a:srgbClr val="000000"/>
        </a:accent4>
        <a:accent5>
          <a:srgbClr val="FFF6F3"/>
        </a:accent5>
        <a:accent6>
          <a:srgbClr val="CC5A11"/>
        </a:accent6>
        <a:hlink>
          <a:srgbClr val="C00000"/>
        </a:hlink>
        <a:folHlink>
          <a:srgbClr val="808080"/>
        </a:folHlink>
      </a:clrScheme>
      <a:clrMap bg1="lt1" tx1="dk1" bg2="lt2" tx2="dk2" accent1="accent1" accent2="accent2" accent3="accent3" accent4="accent4" accent5="accent5" accent6="accent6" hlink="hlink" folHlink="folHlink"/>
    </a:extraClrScheme>
    <a:extraClrScheme>
      <a:clrScheme name="Side Bar 3">
        <a:dk1>
          <a:srgbClr val="000000"/>
        </a:dk1>
        <a:lt1>
          <a:srgbClr val="FFFFFF"/>
        </a:lt1>
        <a:dk2>
          <a:srgbClr val="006600"/>
        </a:dk2>
        <a:lt2>
          <a:srgbClr val="CC0000"/>
        </a:lt2>
        <a:accent1>
          <a:srgbClr val="EAEAEA"/>
        </a:accent1>
        <a:accent2>
          <a:srgbClr val="006600"/>
        </a:accent2>
        <a:accent3>
          <a:srgbClr val="FFFFFF"/>
        </a:accent3>
        <a:accent4>
          <a:srgbClr val="000000"/>
        </a:accent4>
        <a:accent5>
          <a:srgbClr val="F3F3F3"/>
        </a:accent5>
        <a:accent6>
          <a:srgbClr val="005C00"/>
        </a:accent6>
        <a:hlink>
          <a:srgbClr val="000066"/>
        </a:hlink>
        <a:folHlink>
          <a:srgbClr val="808080"/>
        </a:folHlink>
      </a:clrScheme>
      <a:clrMap bg1="lt1" tx1="dk1" bg2="lt2" tx2="dk2" accent1="accent1" accent2="accent2" accent3="accent3" accent4="accent4" accent5="accent5" accent6="accent6" hlink="hlink" folHlink="folHlink"/>
    </a:extraClrScheme>
    <a:extraClrScheme>
      <a:clrScheme name="Side Bar 4">
        <a:dk1>
          <a:srgbClr val="000000"/>
        </a:dk1>
        <a:lt1>
          <a:srgbClr val="FFFFFF"/>
        </a:lt1>
        <a:dk2>
          <a:srgbClr val="CC0000"/>
        </a:dk2>
        <a:lt2>
          <a:srgbClr val="CC0000"/>
        </a:lt2>
        <a:accent1>
          <a:srgbClr val="EAEAEA"/>
        </a:accent1>
        <a:accent2>
          <a:srgbClr val="006600"/>
        </a:accent2>
        <a:accent3>
          <a:srgbClr val="FFFFFF"/>
        </a:accent3>
        <a:accent4>
          <a:srgbClr val="000000"/>
        </a:accent4>
        <a:accent5>
          <a:srgbClr val="F3F3F3"/>
        </a:accent5>
        <a:accent6>
          <a:srgbClr val="005C00"/>
        </a:accent6>
        <a:hlink>
          <a:srgbClr val="000066"/>
        </a:hlink>
        <a:folHlink>
          <a:srgbClr val="808080"/>
        </a:folHlink>
      </a:clrScheme>
      <a:clrMap bg1="lt1" tx1="dk1" bg2="lt2" tx2="dk2" accent1="accent1" accent2="accent2" accent3="accent3" accent4="accent4" accent5="accent5" accent6="accent6" hlink="hlink" folHlink="folHlink"/>
    </a:extraClrScheme>
    <a:extraClrScheme>
      <a:clrScheme name="Side Bar 5">
        <a:dk1>
          <a:srgbClr val="000000"/>
        </a:dk1>
        <a:lt1>
          <a:srgbClr val="FFFFFF"/>
        </a:lt1>
        <a:dk2>
          <a:srgbClr val="808080"/>
        </a:dk2>
        <a:lt2>
          <a:srgbClr val="CC0000"/>
        </a:lt2>
        <a:accent1>
          <a:srgbClr val="EAEAEA"/>
        </a:accent1>
        <a:accent2>
          <a:srgbClr val="006600"/>
        </a:accent2>
        <a:accent3>
          <a:srgbClr val="FFFFFF"/>
        </a:accent3>
        <a:accent4>
          <a:srgbClr val="000000"/>
        </a:accent4>
        <a:accent5>
          <a:srgbClr val="F3F3F3"/>
        </a:accent5>
        <a:accent6>
          <a:srgbClr val="005C00"/>
        </a:accent6>
        <a:hlink>
          <a:srgbClr val="000066"/>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ide Bar 4">
    <a:dk1>
      <a:srgbClr val="000000"/>
    </a:dk1>
    <a:lt1>
      <a:srgbClr val="FFFFFF"/>
    </a:lt1>
    <a:dk2>
      <a:srgbClr val="CC0000"/>
    </a:dk2>
    <a:lt2>
      <a:srgbClr val="CC0000"/>
    </a:lt2>
    <a:accent1>
      <a:srgbClr val="EAEAEA"/>
    </a:accent1>
    <a:accent2>
      <a:srgbClr val="006600"/>
    </a:accent2>
    <a:accent3>
      <a:srgbClr val="FFFFFF"/>
    </a:accent3>
    <a:accent4>
      <a:srgbClr val="000000"/>
    </a:accent4>
    <a:accent5>
      <a:srgbClr val="F3F3F3"/>
    </a:accent5>
    <a:accent6>
      <a:srgbClr val="005C00"/>
    </a:accent6>
    <a:hlink>
      <a:srgbClr val="000066"/>
    </a:hlink>
    <a:folHlink>
      <a:srgbClr val="808080"/>
    </a:folHlink>
  </a:clrScheme>
</a:themeOverride>
</file>

<file path=ppt/theme/themeOverride2.xml><?xml version="1.0" encoding="utf-8"?>
<a:themeOverride xmlns:a="http://schemas.openxmlformats.org/drawingml/2006/main">
  <a:clrScheme name="Side Bar 4">
    <a:dk1>
      <a:srgbClr val="000000"/>
    </a:dk1>
    <a:lt1>
      <a:srgbClr val="FFFFFF"/>
    </a:lt1>
    <a:dk2>
      <a:srgbClr val="CC0000"/>
    </a:dk2>
    <a:lt2>
      <a:srgbClr val="CC0000"/>
    </a:lt2>
    <a:accent1>
      <a:srgbClr val="EAEAEA"/>
    </a:accent1>
    <a:accent2>
      <a:srgbClr val="006600"/>
    </a:accent2>
    <a:accent3>
      <a:srgbClr val="FFFFFF"/>
    </a:accent3>
    <a:accent4>
      <a:srgbClr val="000000"/>
    </a:accent4>
    <a:accent5>
      <a:srgbClr val="F3F3F3"/>
    </a:accent5>
    <a:accent6>
      <a:srgbClr val="005C00"/>
    </a:accent6>
    <a:hlink>
      <a:srgbClr val="000066"/>
    </a:hlink>
    <a:folHlink>
      <a:srgbClr val="808080"/>
    </a:folHlink>
  </a:clrScheme>
</a:themeOverrid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60</Slides>
  <Notes>30</Notes>
  <HiddenSlides>0</HiddenSlide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Side Bar</vt:lpstr>
      <vt:lpstr>CS5351 Software Engineering 2025/26 Semester A Quiz 1</vt:lpstr>
      <vt:lpstr>Summary</vt:lpstr>
      <vt:lpstr>Summary</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Multiple-Choice Questions</vt:lpstr>
      <vt:lpstr>Scenario 1: Fintech System Integration (29 marks)</vt:lpstr>
      <vt:lpstr>Scenario 1 Q1(a):</vt:lpstr>
      <vt:lpstr>Scenario 1 Q1(a):</vt:lpstr>
      <vt:lpstr>Scenario 1 Q1(a):</vt:lpstr>
      <vt:lpstr>Scenario 1 Q1(b):</vt:lpstr>
      <vt:lpstr>Scenario 1 Q1(b):</vt:lpstr>
      <vt:lpstr>Scenario 1 Q2: Marking Scheme</vt:lpstr>
      <vt:lpstr>Scenario 1 Q2: Reference Answers</vt:lpstr>
      <vt:lpstr>Scenario 1 Q2: Reference Answers</vt:lpstr>
      <vt:lpstr>Scenario 1 Q3:</vt:lpstr>
      <vt:lpstr>Scenario 1 Q3:</vt:lpstr>
      <vt:lpstr>Scenario 1 Q3:</vt:lpstr>
      <vt:lpstr>Scenario 1 Q4: Marking Scheme</vt:lpstr>
      <vt:lpstr>Scenario 1 Q4: Reference Answers</vt:lpstr>
      <vt:lpstr>Scenario 2: E-Commerce Platform Requirements Engineering (27 marks)</vt:lpstr>
      <vt:lpstr>Scenario 2 Q1: (2 marks)</vt:lpstr>
      <vt:lpstr>PowerPoint Presentation</vt:lpstr>
      <vt:lpstr>Scenario 2 Q2     (12 marks)</vt:lpstr>
      <vt:lpstr>Scenario 2 Q2     a) (8 marks)</vt:lpstr>
      <vt:lpstr>Scenario 2 Q2     b) (1 mark)</vt:lpstr>
      <vt:lpstr>Scenario 2 Q2     c) (2 marks)</vt:lpstr>
      <vt:lpstr>Scenario 2 Q2     d) (1 mark)</vt:lpstr>
      <vt:lpstr>Scenario 2 Q3     (4 marks)</vt:lpstr>
      <vt:lpstr>Scenario 2 Q3     (4 marks)</vt:lpstr>
      <vt:lpstr>Scenario 2 Q4     (4 marks)</vt:lpstr>
      <vt:lpstr>Scenario 2 Q5     (5 marks)</vt:lpstr>
      <vt:lpstr>Scenario 2 Q5     (5 marks)</vt:lpstr>
      <vt:lpstr>Scenario 3: Startup Technical Debt Management  (24 marks)</vt:lpstr>
      <vt:lpstr>Scenario 3 Q1:  (14 marks)</vt:lpstr>
      <vt:lpstr>Scenario 3 Q1:  (ReferenceAnswers)</vt:lpstr>
      <vt:lpstr>Scenario 3 Q2(Afternoon): Marking Scheme</vt:lpstr>
      <vt:lpstr>Scenario 3 Q2(Afternoon): Reference Answers</vt:lpstr>
      <vt:lpstr>Scenario 3 Q3(Afternoon): Marking Scheme</vt:lpstr>
      <vt:lpstr>Scenario 3 Q3(Afternoon): Reference Answers</vt:lpstr>
      <vt:lpstr>Scenario 3 Q4(Afternoon): </vt:lpstr>
      <vt:lpstr>Scenario 3 Q2(Evening): Marking Scheme</vt:lpstr>
      <vt:lpstr>Scenario 3 Q2(Evening): Reference 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Chan Wing Kwong</dc:creator>
  <cp:revision>4</cp:revision>
  <dcterms:created xsi:type="dcterms:W3CDTF">2020-10-11T14:13:10Z</dcterms:created>
  <dcterms:modified xsi:type="dcterms:W3CDTF">2025-11-24T06:04:30Z</dcterms:modified>
</cp:coreProperties>
</file>