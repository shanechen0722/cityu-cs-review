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ink/ink1.xml" ContentType="application/inkml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105"/>
  </p:notesMasterIdLst>
  <p:handoutMasterIdLst>
    <p:handoutMasterId r:id="rId106"/>
  </p:handoutMasterIdLst>
  <p:sldIdLst>
    <p:sldId id="290" r:id="rId2"/>
    <p:sldId id="677" r:id="rId3"/>
    <p:sldId id="658" r:id="rId4"/>
    <p:sldId id="706" r:id="rId5"/>
    <p:sldId id="467" r:id="rId6"/>
    <p:sldId id="656" r:id="rId7"/>
    <p:sldId id="707" r:id="rId8"/>
    <p:sldId id="708" r:id="rId9"/>
    <p:sldId id="709" r:id="rId10"/>
    <p:sldId id="473" r:id="rId11"/>
    <p:sldId id="474" r:id="rId12"/>
    <p:sldId id="647" r:id="rId13"/>
    <p:sldId id="648" r:id="rId14"/>
    <p:sldId id="678" r:id="rId15"/>
    <p:sldId id="650" r:id="rId16"/>
    <p:sldId id="659" r:id="rId17"/>
    <p:sldId id="651" r:id="rId18"/>
    <p:sldId id="715" r:id="rId19"/>
    <p:sldId id="680" r:id="rId20"/>
    <p:sldId id="681" r:id="rId21"/>
    <p:sldId id="652" r:id="rId22"/>
    <p:sldId id="653" r:id="rId23"/>
    <p:sldId id="645" r:id="rId24"/>
    <p:sldId id="646" r:id="rId25"/>
    <p:sldId id="711" r:id="rId26"/>
    <p:sldId id="682" r:id="rId27"/>
    <p:sldId id="710" r:id="rId28"/>
    <p:sldId id="683" r:id="rId29"/>
    <p:sldId id="716" r:id="rId30"/>
    <p:sldId id="360" r:id="rId31"/>
    <p:sldId id="532" r:id="rId32"/>
    <p:sldId id="535" r:id="rId33"/>
    <p:sldId id="539" r:id="rId34"/>
    <p:sldId id="591" r:id="rId35"/>
    <p:sldId id="542" r:id="rId36"/>
    <p:sldId id="541" r:id="rId37"/>
    <p:sldId id="607" r:id="rId38"/>
    <p:sldId id="592" r:id="rId39"/>
    <p:sldId id="543" r:id="rId40"/>
    <p:sldId id="476" r:id="rId41"/>
    <p:sldId id="544" r:id="rId42"/>
    <p:sldId id="713" r:id="rId43"/>
    <p:sldId id="684" r:id="rId44"/>
    <p:sldId id="702" r:id="rId45"/>
    <p:sldId id="685" r:id="rId46"/>
    <p:sldId id="686" r:id="rId47"/>
    <p:sldId id="687" r:id="rId48"/>
    <p:sldId id="688" r:id="rId49"/>
    <p:sldId id="689" r:id="rId50"/>
    <p:sldId id="690" r:id="rId51"/>
    <p:sldId id="691" r:id="rId52"/>
    <p:sldId id="692" r:id="rId53"/>
    <p:sldId id="693" r:id="rId54"/>
    <p:sldId id="694" r:id="rId55"/>
    <p:sldId id="695" r:id="rId56"/>
    <p:sldId id="696" r:id="rId57"/>
    <p:sldId id="697" r:id="rId58"/>
    <p:sldId id="698" r:id="rId59"/>
    <p:sldId id="699" r:id="rId60"/>
    <p:sldId id="703" r:id="rId61"/>
    <p:sldId id="704" r:id="rId62"/>
    <p:sldId id="700" r:id="rId63"/>
    <p:sldId id="546" r:id="rId64"/>
    <p:sldId id="712" r:id="rId65"/>
    <p:sldId id="547" r:id="rId66"/>
    <p:sldId id="714" r:id="rId67"/>
    <p:sldId id="550" r:id="rId68"/>
    <p:sldId id="551" r:id="rId69"/>
    <p:sldId id="552" r:id="rId70"/>
    <p:sldId id="717" r:id="rId71"/>
    <p:sldId id="718" r:id="rId72"/>
    <p:sldId id="705" r:id="rId73"/>
    <p:sldId id="701" r:id="rId74"/>
    <p:sldId id="392" r:id="rId75"/>
    <p:sldId id="393" r:id="rId76"/>
    <p:sldId id="394" r:id="rId77"/>
    <p:sldId id="395" r:id="rId78"/>
    <p:sldId id="397" r:id="rId79"/>
    <p:sldId id="398" r:id="rId80"/>
    <p:sldId id="399" r:id="rId81"/>
    <p:sldId id="400" r:id="rId82"/>
    <p:sldId id="401" r:id="rId83"/>
    <p:sldId id="593" r:id="rId84"/>
    <p:sldId id="558" r:id="rId85"/>
    <p:sldId id="643" r:id="rId86"/>
    <p:sldId id="562" r:id="rId87"/>
    <p:sldId id="563" r:id="rId88"/>
    <p:sldId id="568" r:id="rId89"/>
    <p:sldId id="574" r:id="rId90"/>
    <p:sldId id="590" r:id="rId91"/>
    <p:sldId id="595" r:id="rId92"/>
    <p:sldId id="486" r:id="rId93"/>
    <p:sldId id="667" r:id="rId94"/>
    <p:sldId id="666" r:id="rId95"/>
    <p:sldId id="661" r:id="rId96"/>
    <p:sldId id="663" r:id="rId97"/>
    <p:sldId id="662" r:id="rId98"/>
    <p:sldId id="660" r:id="rId99"/>
    <p:sldId id="665" r:id="rId100"/>
    <p:sldId id="679" r:id="rId101"/>
    <p:sldId id="664" r:id="rId102"/>
    <p:sldId id="668" r:id="rId103"/>
    <p:sldId id="292" r:id="rId104"/>
  </p:sldIdLst>
  <p:sldSz cx="9902825" cy="6858000"/>
  <p:notesSz cx="9928225" cy="67976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03" userDrawn="1">
          <p15:clr>
            <a:srgbClr val="A4A3A4"/>
          </p15:clr>
        </p15:guide>
        <p15:guide id="2" pos="4519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3C78"/>
    <a:srgbClr val="285078"/>
    <a:srgbClr val="1E3C5A"/>
    <a:srgbClr val="234669"/>
    <a:srgbClr val="264B71"/>
    <a:srgbClr val="FF3333"/>
    <a:srgbClr val="FFCC99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82" autoAdjust="0"/>
    <p:restoredTop sz="84267" autoAdjust="0"/>
  </p:normalViewPr>
  <p:slideViewPr>
    <p:cSldViewPr>
      <p:cViewPr varScale="1">
        <p:scale>
          <a:sx n="185" d="100"/>
          <a:sy n="185" d="100"/>
        </p:scale>
        <p:origin x="4224" y="564"/>
      </p:cViewPr>
      <p:guideLst>
        <p:guide orient="horz" pos="2160"/>
        <p:guide pos="311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>
      <p:cViewPr varScale="1">
        <p:scale>
          <a:sx n="20" d="100"/>
          <a:sy n="20" d="100"/>
        </p:scale>
        <p:origin x="-1088" y="-84"/>
      </p:cViewPr>
      <p:guideLst>
        <p:guide orient="horz" pos="1503"/>
        <p:guide pos="451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2319" y="-1124"/>
            <a:ext cx="4255262" cy="315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t" anchorCtr="0" compatLnSpc="1">
            <a:prstTxWarp prst="textNoShape">
              <a:avLst/>
            </a:prstTxWarp>
          </a:bodyPr>
          <a:lstStyle>
            <a:lvl1pPr defTabSz="868788">
              <a:defRPr sz="1000" i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40646" y="-1124"/>
            <a:ext cx="4255262" cy="315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t" anchorCtr="0" compatLnSpc="1">
            <a:prstTxWarp prst="textNoShape">
              <a:avLst/>
            </a:prstTxWarp>
          </a:bodyPr>
          <a:lstStyle>
            <a:lvl1pPr algn="r" defTabSz="868788">
              <a:defRPr sz="1000" i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32319" y="6430143"/>
            <a:ext cx="4255262" cy="368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b" anchorCtr="0" compatLnSpc="1">
            <a:prstTxWarp prst="textNoShape">
              <a:avLst/>
            </a:prstTxWarp>
          </a:bodyPr>
          <a:lstStyle>
            <a:lvl1pPr defTabSz="868788">
              <a:defRPr sz="1000" i="1"/>
            </a:lvl1pPr>
          </a:lstStyle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40646" y="6430143"/>
            <a:ext cx="4255262" cy="368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b" anchorCtr="0" compatLnSpc="1">
            <a:prstTxWarp prst="textNoShape">
              <a:avLst/>
            </a:prstTxWarp>
          </a:bodyPr>
          <a:lstStyle>
            <a:lvl1pPr algn="r" defTabSz="868788">
              <a:defRPr sz="1000" i="1"/>
            </a:lvl1pPr>
          </a:lstStyle>
          <a:p>
            <a:pPr>
              <a:defRPr/>
            </a:pPr>
            <a:fld id="{B0AC2A3D-B99B-4BE3-904E-8F9BDE86B7D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5663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024" units="cm"/>
          <inkml:channel name="T" type="integer" max="2.14748E9" units="dev"/>
        </inkml:traceFormat>
        <inkml:channelProperties>
          <inkml:channelProperty channel="X" name="resolution" value="56.63717" units="1/cm"/>
          <inkml:channelProperty channel="Y" name="resolution" value="28.36565" units="1/cm"/>
          <inkml:channelProperty channel="T" name="resolution" value="1" units="1/dev"/>
        </inkml:channelProperties>
      </inkml:inkSource>
      <inkml:timestamp xml:id="ts0" timeString="2015-02-11T02:41:12.66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3680 13432 0,'0'0'156,"0"26"-140,0-26-1,0 27-15,0-27 16,0 27-16,0-27 16,0 0-1,0 27-15,0 0 16,0-27-1,0 27-15,0-27 16,0 27-16,0-1 16,0-26 30,0 27-14,-27-27 108,27 0-140</inkml:trace>
  <inkml:trace contextRef="#ctx0" brushRef="#br0" timeOffset="2902.61">3573 15473 0,'0'0'94,"0"-27"-79,0 27 1,0-27 15,0 27-15,0-26-16,0 26 15,0 0-15,27 0 16,0 0 15,-27 0-15,26 0-16,-26 0 15,27 0 1,-27 0 0,0 0 15,27 0-31,0 0 15,-27 26 1,0-26-16,0 0 31,27 0 0,-27 27-15,0-27 0,0 27 15,0-27 0,0 0-15,0 27-1,0-27-15,-27 27 16,0-27-16,27 0 15,0 0-15,-27 0 16,27 0 0,-27 0-1,27 27 1,0-27 62,0 0-63,0 27 1,-26-27 0,26 26 93,0-26 31,0 0-124,26 0-16,-26 0 15,54 0-15,-27 0 16,-27 0-16,54 0 16,-54 0-16,27 0 15,-1 0-15,1 0 16,-27 0-16,27 0 15,-27 0 173,27 0-173,0 0-15,-27 0 16,27 0-1,-27 0 1,27 0 15</inkml:trace>
  <inkml:trace contextRef="#ctx0" brushRef="#br0" timeOffset="36173.03">9724 13405 0,'0'0'125,"0"0"-109,0 27-1,0-27 1,0 26-16,0-26 15,0 27-15,0 0 16,0-27-16,0 27 16,-26-27-16,26 27 15,0-27-15,0 27 16,0-27-16,0 27 15,0-1 1,0-26 15,0 27-15,0-27-1,0 27 1,0-27 156,0 0-157</inkml:trace>
  <inkml:trace contextRef="#ctx0" brushRef="#br0" timeOffset="39027.85">9483 15473 0,'0'-27'156,"27"27"-156,-27-27 16,0 27 15,0 0-31,26 0 16,1 0 15,-27 0-31,27 0 15,-27-26 1,0 26 0,27 0-1,0 0-15,-27 0 16,27 0-1,-27 0 1,27 0 0,-27 0-1,26 0 16,-26 0 1,27 0-17,-27 0-15,0 0 47,0 26-47,0 1 16,0-27-1,0 27-15,0-27 16,0 27-1,0-27 32,0 27-31,0-27-1,0 27 1,0-27-16,0 0 16,-27 27-16,27-27 15,0 0-15,-26 0 16,26 26-16,-27-26 15,27 27 17,0-27-32,-27 0 31,27 0-16,-27 0 17,27 0-17,0 27 1,-27-27-1,27 0-15,0 0 16,-27 0-16,0 0 16,27 0 171,27 0-187,-27 0 15,27 0-15,-27 0 16,54 0-16,-54 0 16,27 0-16,-27 0 15,27 0-15,-1 0 16,-26 0-1,27 0 1,-27 0 15,27 0 0,-27 0 32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-25855" y="-6743"/>
            <a:ext cx="4339289" cy="338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t" anchorCtr="0" compatLnSpc="1">
            <a:prstTxWarp prst="textNoShape">
              <a:avLst/>
            </a:prstTxWarp>
          </a:bodyPr>
          <a:lstStyle>
            <a:lvl1pPr defTabSz="842786">
              <a:defRPr sz="1000" i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14792" y="-6743"/>
            <a:ext cx="4339289" cy="338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t" anchorCtr="0" compatLnSpc="1">
            <a:prstTxWarp prst="textNoShape">
              <a:avLst/>
            </a:prstTxWarp>
          </a:bodyPr>
          <a:lstStyle>
            <a:lvl1pPr algn="r" defTabSz="842786">
              <a:defRPr sz="1000" i="1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125788" y="512763"/>
            <a:ext cx="3676650" cy="25463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9812" y="3230245"/>
            <a:ext cx="7368604" cy="30706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7569" tIns="41397" rIns="87569" bIns="4139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-25855" y="6466109"/>
            <a:ext cx="4339289" cy="338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b" anchorCtr="0" compatLnSpc="1">
            <a:prstTxWarp prst="textNoShape">
              <a:avLst/>
            </a:prstTxWarp>
          </a:bodyPr>
          <a:lstStyle>
            <a:lvl1pPr defTabSz="842786">
              <a:defRPr sz="1000" i="1"/>
            </a:lvl1pPr>
          </a:lstStyle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14792" y="6466109"/>
            <a:ext cx="4339289" cy="338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105" tIns="0" rIns="19105" bIns="0" numCol="1" anchor="b" anchorCtr="0" compatLnSpc="1">
            <a:prstTxWarp prst="textNoShape">
              <a:avLst/>
            </a:prstTxWarp>
          </a:bodyPr>
          <a:lstStyle>
            <a:lvl1pPr algn="r" defTabSz="842786">
              <a:defRPr sz="1000" i="1"/>
            </a:lvl1pPr>
          </a:lstStyle>
          <a:p>
            <a:pPr>
              <a:defRPr/>
            </a:pPr>
            <a:fld id="{A7E88535-4BEA-4EE8-AB4A-C9FA970A982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913820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39738"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874713"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16038"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752600" algn="l" defTabSz="839788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000"/>
              <a:t>Software Design</a:t>
            </a:r>
          </a:p>
        </p:txBody>
      </p:sp>
      <p:sp>
        <p:nvSpPr>
          <p:cNvPr id="1331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841375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84137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9230C636-ECB8-47BE-92DE-F91BE5C0FACE}" type="slidenum">
              <a:rPr lang="en-US" sz="1000" smtClean="0"/>
              <a:pPr/>
              <a:t>1</a:t>
            </a:fld>
            <a:endParaRPr lang="en-US" sz="1000"/>
          </a:p>
        </p:txBody>
      </p:sp>
      <p:sp>
        <p:nvSpPr>
          <p:cNvPr id="1331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0318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04355F49-D067-492E-9612-3F7612482A2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DBED278-2DA2-4BBF-A3FD-1790EB06B72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9C4F1DD-D613-4164-B110-FB1E5714BE0E}" type="slidenum">
              <a:rPr lang="nl-NL" altLang="en-US"/>
              <a:pPr/>
              <a:t>5</a:t>
            </a:fld>
            <a:endParaRPr lang="nl-NL" altLang="en-US"/>
          </a:p>
        </p:txBody>
      </p:sp>
      <p:sp>
        <p:nvSpPr>
          <p:cNvPr id="672770" name="Rectangle 2">
            <a:extLst>
              <a:ext uri="{FF2B5EF4-FFF2-40B4-BE49-F238E27FC236}">
                <a16:creationId xmlns:a16="http://schemas.microsoft.com/office/drawing/2014/main" id="{AB9C9062-4E7C-4A9F-BC8C-B1D5E425FCD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60450" y="719138"/>
            <a:ext cx="5197475" cy="3600450"/>
          </a:xfrm>
          <a:ln/>
        </p:spPr>
      </p:sp>
      <p:sp>
        <p:nvSpPr>
          <p:cNvPr id="672771" name="Rectangle 3">
            <a:extLst>
              <a:ext uri="{FF2B5EF4-FFF2-40B4-BE49-F238E27FC236}">
                <a16:creationId xmlns:a16="http://schemas.microsoft.com/office/drawing/2014/main" id="{EE531E93-1399-4D3C-8C4E-0EDCDA153B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76313" y="4560888"/>
            <a:ext cx="5362575" cy="4321175"/>
          </a:xfrm>
        </p:spPr>
        <p:txBody>
          <a:bodyPr/>
          <a:lstStyle/>
          <a:p>
            <a:r>
              <a:rPr lang="nl-NL" altLang="en-US" sz="1400" dirty="0"/>
              <a:t>1992: Foundatins for the study of software architecture, Software Engineering Notes: https://dl.acm.org/doi/10.1145/141874.141884</a:t>
            </a:r>
          </a:p>
          <a:p>
            <a:r>
              <a:rPr lang="nl-NL" altLang="en-US" sz="1400" dirty="0"/>
              <a:t>1987: Zachman in IBM Systems Journal: Framework for Information Architecture</a:t>
            </a:r>
          </a:p>
          <a:p>
            <a:r>
              <a:rPr lang="nl-NL" altLang="en-US" sz="1400" dirty="0"/>
              <a:t>1989: Shaw , Larger Scale Systems require Higher Level Abstractions</a:t>
            </a:r>
          </a:p>
          <a:p>
            <a:r>
              <a:rPr lang="nl-NL" altLang="en-US" sz="1400" dirty="0"/>
              <a:t>1972: Dijkstra in Notes on Structured Programming, Note #10. This same text is also present in the proceedings of the 1969 SE conference</a:t>
            </a:r>
          </a:p>
          <a:p>
            <a:endParaRPr lang="nl-NL" altLang="en-US" sz="1400" dirty="0"/>
          </a:p>
          <a:p>
            <a:r>
              <a:rPr lang="nl-NL" altLang="en-US" sz="1400" dirty="0"/>
              <a:t>Intriguing question: What if the NATO conference was called Software Architecture?</a:t>
            </a:r>
          </a:p>
        </p:txBody>
      </p:sp>
    </p:spTree>
    <p:extLst>
      <p:ext uri="{BB962C8B-B14F-4D97-AF65-F5344CB8AC3E}">
        <p14:creationId xmlns:p14="http://schemas.microsoft.com/office/powerpoint/2010/main" val="15244080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6E77F90E-ADB3-42AA-809A-B5CFFB634D5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3EAB732E-7E8C-4FF1-A354-50F15CF6450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74485EE-88DB-4286-B4C8-E31EBC007156}" type="slidenum">
              <a:rPr lang="nl-NL" altLang="en-US"/>
              <a:pPr/>
              <a:t>10</a:t>
            </a:fld>
            <a:endParaRPr lang="nl-NL" altLang="en-US"/>
          </a:p>
        </p:txBody>
      </p:sp>
      <p:sp>
        <p:nvSpPr>
          <p:cNvPr id="685058" name="Rectangle 2">
            <a:extLst>
              <a:ext uri="{FF2B5EF4-FFF2-40B4-BE49-F238E27FC236}">
                <a16:creationId xmlns:a16="http://schemas.microsoft.com/office/drawing/2014/main" id="{1E287586-E0CA-4535-8789-94764E688B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60450" y="719138"/>
            <a:ext cx="5197475" cy="3600450"/>
          </a:xfrm>
          <a:ln/>
        </p:spPr>
      </p:sp>
      <p:sp>
        <p:nvSpPr>
          <p:cNvPr id="685059" name="Rectangle 3">
            <a:extLst>
              <a:ext uri="{FF2B5EF4-FFF2-40B4-BE49-F238E27FC236}">
                <a16:creationId xmlns:a16="http://schemas.microsoft.com/office/drawing/2014/main" id="{BFF9CE67-2F14-494A-989D-DE265380A98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76313" y="4560888"/>
            <a:ext cx="5362575" cy="4321175"/>
          </a:xfrm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63909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A3D5379E-8D98-4A12-80F7-6F7162005D5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2D22D9B-67DB-410E-B8A7-A54F5077772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74EC791-EA33-4977-893C-A9B7EAFCCD0B}" type="slidenum">
              <a:rPr lang="nl-NL" altLang="en-US"/>
              <a:pPr/>
              <a:t>11</a:t>
            </a:fld>
            <a:endParaRPr lang="nl-NL" altLang="en-US"/>
          </a:p>
        </p:txBody>
      </p:sp>
      <p:sp>
        <p:nvSpPr>
          <p:cNvPr id="687106" name="Rectangle 2">
            <a:extLst>
              <a:ext uri="{FF2B5EF4-FFF2-40B4-BE49-F238E27FC236}">
                <a16:creationId xmlns:a16="http://schemas.microsoft.com/office/drawing/2014/main" id="{FF9F3342-1332-4F74-8A7A-73469D481F0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60450" y="719138"/>
            <a:ext cx="5197475" cy="3600450"/>
          </a:xfrm>
          <a:ln/>
        </p:spPr>
      </p:sp>
      <p:sp>
        <p:nvSpPr>
          <p:cNvPr id="687107" name="Rectangle 3">
            <a:extLst>
              <a:ext uri="{FF2B5EF4-FFF2-40B4-BE49-F238E27FC236}">
                <a16:creationId xmlns:a16="http://schemas.microsoft.com/office/drawing/2014/main" id="{8032765E-67C9-4D78-973E-846EB6E543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76313" y="4560888"/>
            <a:ext cx="5362575" cy="4321175"/>
          </a:xfrm>
        </p:spPr>
        <p:txBody>
          <a:bodyPr/>
          <a:lstStyle/>
          <a:p>
            <a:r>
              <a:rPr lang="nl-NL" altLang="en-US" sz="1400" dirty="0"/>
              <a:t>The architectural descriptions are concrete, but the architecture itself is ingherently conceptual, and cannot be captured in any (set of) views.</a:t>
            </a:r>
          </a:p>
          <a:p>
            <a:endParaRPr lang="nl-NL" altLang="en-US" sz="1400" dirty="0"/>
          </a:p>
          <a:p>
            <a:r>
              <a:rPr lang="nl-NL" altLang="en-US" sz="1400" dirty="0"/>
              <a:t>Fundamental: so you concentrate on the important things, and abstract from the rest.</a:t>
            </a:r>
          </a:p>
          <a:p>
            <a:endParaRPr lang="nl-NL" altLang="en-US" sz="1400" dirty="0"/>
          </a:p>
          <a:p>
            <a:r>
              <a:rPr lang="nl-NL" altLang="en-US" sz="1400" dirty="0"/>
              <a:t>An architecture does not exist in the abstract, but always in some context. We can only understand its qualities in its context.</a:t>
            </a:r>
          </a:p>
          <a:p>
            <a:endParaRPr lang="nl-NL" altLang="en-US" sz="1400" dirty="0"/>
          </a:p>
          <a:p>
            <a:r>
              <a:rPr lang="nl-NL" altLang="en-US" sz="1400" dirty="0"/>
              <a:t>e.g.,</a:t>
            </a:r>
          </a:p>
          <a:p>
            <a:r>
              <a:rPr lang="nl-NL" altLang="en-US" sz="1400" dirty="0"/>
              <a:t>For a system of classes, DIP cannot be determined from the functional requirement or getting it from the code. </a:t>
            </a:r>
          </a:p>
          <a:p>
            <a:r>
              <a:rPr lang="nl-NL" altLang="en-US" sz="1400" dirty="0"/>
              <a:t>It is not possible to know whether a pair of classes should be at different levels so that we have </a:t>
            </a:r>
          </a:p>
          <a:p>
            <a:r>
              <a:rPr lang="nl-NL" altLang="en-US" sz="1400" dirty="0"/>
              <a:t>“high level module does not depend on low level module”.</a:t>
            </a:r>
          </a:p>
          <a:p>
            <a:endParaRPr lang="nl-NL" altLang="en-US" sz="1400" dirty="0"/>
          </a:p>
          <a:p>
            <a:r>
              <a:rPr lang="nl-NL" altLang="en-US" sz="1400" dirty="0"/>
              <a:t>Architeecture is even more abstract. </a:t>
            </a:r>
          </a:p>
          <a:p>
            <a:endParaRPr lang="nl-NL" altLang="en-US" sz="1400" dirty="0"/>
          </a:p>
          <a:p>
            <a:endParaRPr lang="nl-NL" altLang="en-US" sz="1400" dirty="0"/>
          </a:p>
          <a:p>
            <a:r>
              <a:rPr lang="nl-NL" altLang="en-US" sz="1400" dirty="0"/>
              <a:t>--------------------</a:t>
            </a:r>
          </a:p>
          <a:p>
            <a:r>
              <a:rPr lang="nl-NL" altLang="en-US" sz="1400" dirty="0"/>
              <a:t>Example: </a:t>
            </a:r>
          </a:p>
          <a:p>
            <a:endParaRPr lang="nl-NL" altLang="en-US" sz="1400" dirty="0"/>
          </a:p>
          <a:p>
            <a:r>
              <a:rPr lang="nl-NL" altLang="en-US" sz="1400" dirty="0"/>
              <a:t>An</a:t>
            </a:r>
            <a:r>
              <a:rPr lang="nl-NL" altLang="en-US" sz="1400" baseline="0" dirty="0"/>
              <a:t> Apartment:  </a:t>
            </a:r>
          </a:p>
          <a:p>
            <a:r>
              <a:rPr lang="nl-NL" altLang="en-US" sz="1400" baseline="0" dirty="0"/>
              <a:t>Dinning area (D), sleeping room (R), Tiolet (T), and Kitchen (K).</a:t>
            </a:r>
          </a:p>
          <a:p>
            <a:endParaRPr lang="nl-NL" altLang="en-US" sz="1400" baseline="0" dirty="0"/>
          </a:p>
          <a:p>
            <a:r>
              <a:rPr lang="nl-NL" altLang="en-US" sz="1400" baseline="0" dirty="0"/>
              <a:t>If architectural design is not important, then the following are equivalent:</a:t>
            </a:r>
          </a:p>
          <a:p>
            <a:endParaRPr lang="nl-NL" altLang="en-US" sz="1400" baseline="0" dirty="0"/>
          </a:p>
          <a:p>
            <a:r>
              <a:rPr lang="nl-NL" altLang="en-US" sz="1400" baseline="0" dirty="0"/>
              <a:t>Design 1:  D contains T, and connects to R, which contains K. </a:t>
            </a:r>
          </a:p>
          <a:p>
            <a:r>
              <a:rPr lang="nl-NL" altLang="en-US" sz="1400" baseline="0" dirty="0"/>
              <a:t>Design 2:  D contains K, and connects to R, which contains T.</a:t>
            </a:r>
          </a:p>
          <a:p>
            <a:r>
              <a:rPr lang="nl-NL" altLang="en-US" sz="1400" baseline="0" dirty="0"/>
              <a:t>Design 3:  </a:t>
            </a:r>
            <a:endParaRPr lang="nl-NL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82281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Posted on Oct 2020</a:t>
            </a:r>
            <a:endParaRPr lang="en-HK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7E88535-4BEA-4EE8-AB4A-C9FA970A9824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030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http://agiledata.org/essays/enterpriseArchitecture.html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7E88535-4BEA-4EE8-AB4A-C9FA970A9824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514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53ECD279-C85E-4F13-BB71-F0A0869EF94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A7E60D2-CB82-4961-A59A-CE395904C0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0973D-F8D0-48C1-AD8A-E84716F6F760}" type="slidenum">
              <a:rPr lang="nl-NL" altLang="en-US"/>
              <a:pPr/>
              <a:t>31</a:t>
            </a:fld>
            <a:endParaRPr lang="nl-NL" altLang="en-US"/>
          </a:p>
        </p:txBody>
      </p:sp>
      <p:sp>
        <p:nvSpPr>
          <p:cNvPr id="801794" name="Rectangle 2">
            <a:extLst>
              <a:ext uri="{FF2B5EF4-FFF2-40B4-BE49-F238E27FC236}">
                <a16:creationId xmlns:a16="http://schemas.microsoft.com/office/drawing/2014/main" id="{01A84422-8E4A-45D1-99CE-735DE9613DE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60450" y="720725"/>
            <a:ext cx="5197475" cy="3600450"/>
          </a:xfrm>
          <a:ln/>
        </p:spPr>
      </p:sp>
      <p:sp>
        <p:nvSpPr>
          <p:cNvPr id="801795" name="Rectangle 3">
            <a:extLst>
              <a:ext uri="{FF2B5EF4-FFF2-40B4-BE49-F238E27FC236}">
                <a16:creationId xmlns:a16="http://schemas.microsoft.com/office/drawing/2014/main" id="{A6AAEC6E-DF56-47CA-B607-0040C0D495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E62DB676-44CC-4B99-ACF4-25F0C829034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32915911-2938-45E0-9EEB-D6432ADF5E0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D2CC02C-0C94-4A0F-B34E-4D051A504E91}" type="slidenum">
              <a:rPr lang="nl-NL" altLang="en-US"/>
              <a:pPr/>
              <a:t>32</a:t>
            </a:fld>
            <a:endParaRPr lang="nl-NL" altLang="en-US"/>
          </a:p>
        </p:txBody>
      </p:sp>
      <p:sp>
        <p:nvSpPr>
          <p:cNvPr id="807938" name="Rectangle 2">
            <a:extLst>
              <a:ext uri="{FF2B5EF4-FFF2-40B4-BE49-F238E27FC236}">
                <a16:creationId xmlns:a16="http://schemas.microsoft.com/office/drawing/2014/main" id="{B0CF3B12-0211-4FA2-BF38-7543F0D6D6E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60450" y="720725"/>
            <a:ext cx="5197475" cy="3600450"/>
          </a:xfrm>
          <a:ln/>
        </p:spPr>
      </p:sp>
      <p:sp>
        <p:nvSpPr>
          <p:cNvPr id="807939" name="Rectangle 3">
            <a:extLst>
              <a:ext uri="{FF2B5EF4-FFF2-40B4-BE49-F238E27FC236}">
                <a16:creationId xmlns:a16="http://schemas.microsoft.com/office/drawing/2014/main" id="{25C87589-6E08-40A7-A338-252C4A0DF08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2001AAA5-E2BB-45F1-B016-82063F14CF5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7685521-6D4C-47DE-80B5-2A3B2DEC264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9EE67E1-029F-423F-B241-6C935D8844E4}" type="slidenum">
              <a:rPr lang="nl-NL" altLang="en-US"/>
              <a:pPr/>
              <a:t>33</a:t>
            </a:fld>
            <a:endParaRPr lang="nl-NL" altLang="en-US"/>
          </a:p>
        </p:txBody>
      </p:sp>
      <p:sp>
        <p:nvSpPr>
          <p:cNvPr id="815106" name="Rectangle 2">
            <a:extLst>
              <a:ext uri="{FF2B5EF4-FFF2-40B4-BE49-F238E27FC236}">
                <a16:creationId xmlns:a16="http://schemas.microsoft.com/office/drawing/2014/main" id="{FD83B1E1-A3A8-4F60-AEE0-4F3AF4AB841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60450" y="720725"/>
            <a:ext cx="5197475" cy="3600450"/>
          </a:xfrm>
          <a:ln/>
        </p:spPr>
      </p:sp>
      <p:sp>
        <p:nvSpPr>
          <p:cNvPr id="815107" name="Rectangle 3">
            <a:extLst>
              <a:ext uri="{FF2B5EF4-FFF2-40B4-BE49-F238E27FC236}">
                <a16:creationId xmlns:a16="http://schemas.microsoft.com/office/drawing/2014/main" id="{4676331B-5490-4EDD-81C6-EA0558E4171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76313" y="4560888"/>
            <a:ext cx="5362575" cy="4319587"/>
          </a:xfrm>
        </p:spPr>
        <p:txBody>
          <a:bodyPr/>
          <a:lstStyle/>
          <a:p>
            <a:endParaRPr lang="nl-NL" altLang="en-US" sz="1400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Improvement on efficiency: T+2 =&gt; real-time and always-on</a:t>
            </a:r>
          </a:p>
          <a:p>
            <a:r>
              <a:rPr lang="en-US" dirty="0"/>
              <a:t>Generalization: single platform =&gt; cross-platform</a:t>
            </a:r>
          </a:p>
          <a:p>
            <a:r>
              <a:rPr lang="en-US" dirty="0"/>
              <a:t>Keep: reliable, reliable, easy to use by merchants &amp; customers</a:t>
            </a:r>
          </a:p>
          <a:p>
            <a:r>
              <a:rPr lang="en-US" dirty="0"/>
              <a:t>Extension: easy to add new features, single standard for QR code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7E88535-4BEA-4EE8-AB4A-C9FA970A982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928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F3EC597B-E2FA-4125-AD76-D2F7FA2D8C6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A7039F30-0A23-4544-9D14-417EA77F57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6A4A546-4A39-47B0-8352-5339D101A04B}" type="slidenum">
              <a:rPr lang="nl-NL" altLang="en-US"/>
              <a:pPr/>
              <a:t>40</a:t>
            </a:fld>
            <a:endParaRPr lang="nl-NL" altLang="en-US"/>
          </a:p>
        </p:txBody>
      </p:sp>
      <p:sp>
        <p:nvSpPr>
          <p:cNvPr id="691202" name="Rectangle 2">
            <a:extLst>
              <a:ext uri="{FF2B5EF4-FFF2-40B4-BE49-F238E27FC236}">
                <a16:creationId xmlns:a16="http://schemas.microsoft.com/office/drawing/2014/main" id="{65E1225F-DA69-43DF-BCD0-874EBEB1C2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60450" y="719138"/>
            <a:ext cx="5197475" cy="3600450"/>
          </a:xfrm>
          <a:ln/>
        </p:spPr>
      </p:sp>
      <p:sp>
        <p:nvSpPr>
          <p:cNvPr id="691203" name="Rectangle 3">
            <a:extLst>
              <a:ext uri="{FF2B5EF4-FFF2-40B4-BE49-F238E27FC236}">
                <a16:creationId xmlns:a16="http://schemas.microsoft.com/office/drawing/2014/main" id="{22E511AD-8277-4518-835B-BA201832BF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76313" y="4560888"/>
            <a:ext cx="5362575" cy="4321175"/>
          </a:xfrm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Quality examples: Feasibility Reusability Consistency Simplicity Stability Composability </a:t>
            </a:r>
            <a:r>
              <a:rPr lang="en-US" dirty="0" err="1"/>
              <a:t>Deployability</a:t>
            </a:r>
            <a:endParaRPr lang="en-US" dirty="0"/>
          </a:p>
          <a:p>
            <a:pPr marL="0" marR="0" lvl="0" indent="0" algn="l" defTabSz="839788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rgbClr val="505050"/>
                </a:solidFill>
                <a:effectLst/>
                <a:latin typeface="Arial" charset="0"/>
                <a:ea typeface="+mn-ea"/>
                <a:cs typeface="+mn-cs"/>
              </a:rPr>
              <a:t>Cesare </a:t>
            </a:r>
            <a:r>
              <a:rPr lang="en-US" sz="1200" b="0" kern="1200" dirty="0" err="1">
                <a:solidFill>
                  <a:srgbClr val="505050"/>
                </a:solidFill>
                <a:effectLst/>
                <a:latin typeface="Arial" charset="0"/>
                <a:ea typeface="+mn-ea"/>
                <a:cs typeface="+mn-cs"/>
              </a:rPr>
              <a:t>Pautasso</a:t>
            </a:r>
            <a:r>
              <a:rPr lang="en-US" sz="1200" b="0" kern="1200" dirty="0">
                <a:solidFill>
                  <a:srgbClr val="505050"/>
                </a:solidFill>
                <a:effectLst/>
                <a:latin typeface="Arial" charset="0"/>
                <a:ea typeface="+mn-ea"/>
                <a:cs typeface="+mn-cs"/>
              </a:rPr>
              <a:t>. Software Architecture: Visual Lecture Notes. </a:t>
            </a:r>
            <a:r>
              <a:rPr lang="en-US" sz="1200" b="0" kern="1200" dirty="0" err="1">
                <a:solidFill>
                  <a:srgbClr val="505050"/>
                </a:solidFill>
                <a:effectLst/>
                <a:latin typeface="Arial" charset="0"/>
                <a:ea typeface="+mn-ea"/>
                <a:cs typeface="+mn-cs"/>
              </a:rPr>
              <a:t>Leanpub</a:t>
            </a:r>
            <a:r>
              <a:rPr lang="en-US" sz="1200" b="0" kern="1200" dirty="0">
                <a:solidFill>
                  <a:srgbClr val="505050"/>
                </a:solidFill>
                <a:effectLst/>
                <a:latin typeface="Arial" charset="0"/>
                <a:ea typeface="+mn-ea"/>
                <a:cs typeface="+mn-cs"/>
              </a:rPr>
              <a:t>, 2020. leanpub.com</a:t>
            </a:r>
            <a:r>
              <a:rPr lang="en-US" sz="1050" kern="1200" dirty="0">
                <a:solidFill>
                  <a:srgbClr val="505050"/>
                </a:solidFill>
                <a:latin typeface="Arial" charset="0"/>
                <a:ea typeface="+mn-ea"/>
                <a:cs typeface="+mn-cs"/>
              </a:rPr>
              <a:t> </a:t>
            </a:r>
            <a:endParaRPr lang="en-US" sz="1200" b="0" kern="1200" dirty="0">
              <a:solidFill>
                <a:srgbClr val="505050"/>
              </a:solidFill>
              <a:effectLst/>
              <a:latin typeface="Arial" charset="0"/>
              <a:ea typeface="+mn-ea"/>
              <a:cs typeface="+mn-cs"/>
            </a:endParaRPr>
          </a:p>
          <a:p>
            <a:endParaRPr lang="en-HK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7E88535-4BEA-4EE8-AB4A-C9FA970A9824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2610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google on keywords such as scalability tactic</a:t>
            </a:r>
            <a:endParaRPr lang="en-HK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7E88535-4BEA-4EE8-AB4A-C9FA970A9824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941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367033F6-CE2C-4184-949E-FD0EB874828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DFEE8A86-BA32-4872-84D5-83EBBD9F38A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804BC10-DBF4-4A1F-8B8F-05ED1D8554AD}" type="slidenum">
              <a:rPr lang="nl-NL" altLang="en-US"/>
              <a:pPr/>
              <a:t>63</a:t>
            </a:fld>
            <a:endParaRPr lang="nl-NL" altLang="en-US"/>
          </a:p>
        </p:txBody>
      </p:sp>
      <p:sp>
        <p:nvSpPr>
          <p:cNvPr id="817154" name="Rectangle 2">
            <a:extLst>
              <a:ext uri="{FF2B5EF4-FFF2-40B4-BE49-F238E27FC236}">
                <a16:creationId xmlns:a16="http://schemas.microsoft.com/office/drawing/2014/main" id="{93E463BA-A896-45FA-AA06-44552AC862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7155" name="Rectangle 3">
            <a:extLst>
              <a:ext uri="{FF2B5EF4-FFF2-40B4-BE49-F238E27FC236}">
                <a16:creationId xmlns:a16="http://schemas.microsoft.com/office/drawing/2014/main" id="{E2660AF6-D145-4382-AA5D-21C09B3746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ADD takes as input a set of quality attribute scenarios (source, stimulus, etc), and employs knowledge about relation between quality and architectural patterns that achieve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6F5FF916-7763-407D-8A19-F9381CB66D4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1C3B798-8895-4500-A3C0-318E99C4F7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17971A-B1E4-4B6C-9670-F92474BCFDE4}" type="slidenum">
              <a:rPr lang="nl-NL" altLang="en-US"/>
              <a:pPr/>
              <a:t>65</a:t>
            </a:fld>
            <a:endParaRPr lang="nl-NL" altLang="en-US"/>
          </a:p>
        </p:txBody>
      </p:sp>
      <p:sp>
        <p:nvSpPr>
          <p:cNvPr id="819202" name="Rectangle 2">
            <a:extLst>
              <a:ext uri="{FF2B5EF4-FFF2-40B4-BE49-F238E27FC236}">
                <a16:creationId xmlns:a16="http://schemas.microsoft.com/office/drawing/2014/main" id="{878F70A4-CBC0-493E-A7DB-2CD4E561ED1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03" name="Rectangle 3">
            <a:extLst>
              <a:ext uri="{FF2B5EF4-FFF2-40B4-BE49-F238E27FC236}">
                <a16:creationId xmlns:a16="http://schemas.microsoft.com/office/drawing/2014/main" id="{B7F0DAB9-6A60-4427-AC29-9B8432F1A9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3D204BB8-7307-4A5F-A09F-E47D1A935EB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8859A89-31F3-47ED-887E-3DCD72949A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C56AA06-95D0-422A-848D-457D033C9655}" type="slidenum">
              <a:rPr lang="nl-NL" altLang="en-US"/>
              <a:pPr/>
              <a:t>84</a:t>
            </a:fld>
            <a:endParaRPr lang="nl-NL" altLang="en-US"/>
          </a:p>
        </p:txBody>
      </p:sp>
      <p:sp>
        <p:nvSpPr>
          <p:cNvPr id="845826" name="Rectangle 2">
            <a:extLst>
              <a:ext uri="{FF2B5EF4-FFF2-40B4-BE49-F238E27FC236}">
                <a16:creationId xmlns:a16="http://schemas.microsoft.com/office/drawing/2014/main" id="{DD0210A5-EFF1-4C93-9201-2EE79BCB7B7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58863" y="722313"/>
            <a:ext cx="5195887" cy="3598862"/>
          </a:xfrm>
          <a:solidFill>
            <a:srgbClr val="FFFFFF"/>
          </a:solidFill>
          <a:ln/>
        </p:spPr>
      </p:sp>
      <p:sp>
        <p:nvSpPr>
          <p:cNvPr id="845827" name="Text Box 3">
            <a:extLst>
              <a:ext uri="{FF2B5EF4-FFF2-40B4-BE49-F238E27FC236}">
                <a16:creationId xmlns:a16="http://schemas.microsoft.com/office/drawing/2014/main" id="{ED7D3622-C933-4157-915D-A3273AE4EE52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>
          <a:xfrm>
            <a:off x="990600" y="4572000"/>
            <a:ext cx="5364163" cy="182563"/>
          </a:xfrm>
          <a:noFill/>
          <a:ln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spcBef>
                <a:spcPts val="450"/>
              </a:spcBef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GB" altLang="en-US"/>
              <a:t>2: use AK, evaluate AK</a:t>
            </a:r>
          </a:p>
        </p:txBody>
      </p:sp>
    </p:spTree>
    <p:extLst>
      <p:ext uri="{BB962C8B-B14F-4D97-AF65-F5344CB8AC3E}">
        <p14:creationId xmlns:p14="http://schemas.microsoft.com/office/powerpoint/2010/main" val="2948412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B30787E0-6A53-4260-9E48-2B70DB9E67A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05B17E7-93A7-4F53-BB6E-4A9A1224406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D92E99-CDEB-4FAA-AFBD-C99E0E037FF2}" type="slidenum">
              <a:rPr lang="nl-NL" altLang="en-US"/>
              <a:pPr/>
              <a:t>86</a:t>
            </a:fld>
            <a:endParaRPr lang="nl-NL" altLang="en-US"/>
          </a:p>
        </p:txBody>
      </p:sp>
      <p:sp>
        <p:nvSpPr>
          <p:cNvPr id="886786" name="Rectangle 2">
            <a:extLst>
              <a:ext uri="{FF2B5EF4-FFF2-40B4-BE49-F238E27FC236}">
                <a16:creationId xmlns:a16="http://schemas.microsoft.com/office/drawing/2014/main" id="{0FFA3CC0-CCCA-454D-A978-B725DDEECC7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6787" name="Rectangle 3">
            <a:extLst>
              <a:ext uri="{FF2B5EF4-FFF2-40B4-BE49-F238E27FC236}">
                <a16:creationId xmlns:a16="http://schemas.microsoft.com/office/drawing/2014/main" id="{181CED20-523E-4EA1-BA11-A2ECE4F68F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51AAC6B9-0C20-462A-B968-965A7DD63F1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A30A372A-6C2A-49D9-A33B-74AFDBA32CB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6F4EB5A-46DC-4FAA-92D0-DA7EE68A5676}" type="slidenum">
              <a:rPr lang="nl-NL" altLang="en-US"/>
              <a:pPr/>
              <a:t>87</a:t>
            </a:fld>
            <a:endParaRPr lang="nl-NL" altLang="en-US"/>
          </a:p>
        </p:txBody>
      </p:sp>
      <p:sp>
        <p:nvSpPr>
          <p:cNvPr id="888834" name="Rectangle 2">
            <a:extLst>
              <a:ext uri="{FF2B5EF4-FFF2-40B4-BE49-F238E27FC236}">
                <a16:creationId xmlns:a16="http://schemas.microsoft.com/office/drawing/2014/main" id="{C302C486-4D45-4B58-91D5-982B83C227F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8835" name="Rectangle 3">
            <a:extLst>
              <a:ext uri="{FF2B5EF4-FFF2-40B4-BE49-F238E27FC236}">
                <a16:creationId xmlns:a16="http://schemas.microsoft.com/office/drawing/2014/main" id="{6995EA09-5FA4-40D0-8136-347B39957FD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3F2840D6-C07D-412A-A7EB-FBAC6261075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0EF39A76-085D-42D0-9377-03B2A4B36C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E4628CE-444A-4A6A-8BB4-299A845A4960}" type="slidenum">
              <a:rPr lang="nl-NL" altLang="en-US"/>
              <a:pPr/>
              <a:t>88</a:t>
            </a:fld>
            <a:endParaRPr lang="nl-NL" altLang="en-US"/>
          </a:p>
        </p:txBody>
      </p:sp>
      <p:sp>
        <p:nvSpPr>
          <p:cNvPr id="899074" name="Rectangle 2">
            <a:extLst>
              <a:ext uri="{FF2B5EF4-FFF2-40B4-BE49-F238E27FC236}">
                <a16:creationId xmlns:a16="http://schemas.microsoft.com/office/drawing/2014/main" id="{C9E149F4-4891-4AA4-B74C-539A146854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9075" name="Rectangle 3">
            <a:extLst>
              <a:ext uri="{FF2B5EF4-FFF2-40B4-BE49-F238E27FC236}">
                <a16:creationId xmlns:a16="http://schemas.microsoft.com/office/drawing/2014/main" id="{B70042AD-2429-465B-A214-ABF62713C7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/>
              <a:t>Al die </a:t>
            </a:r>
            <a:r>
              <a:rPr lang="en-US" altLang="en-US" dirty="0" err="1"/>
              <a:t>plaatjes</a:t>
            </a:r>
            <a:r>
              <a:rPr lang="en-US" altLang="en-US" dirty="0"/>
              <a:t> </a:t>
            </a:r>
            <a:r>
              <a:rPr lang="en-US" altLang="en-US" dirty="0" err="1"/>
              <a:t>hebben</a:t>
            </a:r>
            <a:r>
              <a:rPr lang="en-US" altLang="en-US" dirty="0"/>
              <a:t> </a:t>
            </a:r>
            <a:r>
              <a:rPr lang="en-US" altLang="en-US" dirty="0" err="1"/>
              <a:t>wel</a:t>
            </a:r>
            <a:r>
              <a:rPr lang="en-US" altLang="en-US" dirty="0"/>
              <a:t> </a:t>
            </a:r>
            <a:r>
              <a:rPr lang="en-US" altLang="en-US" dirty="0" err="1"/>
              <a:t>een</a:t>
            </a:r>
            <a:r>
              <a:rPr lang="en-US" altLang="en-US" dirty="0"/>
              <a:t> </a:t>
            </a:r>
            <a:r>
              <a:rPr lang="en-US" altLang="en-US" dirty="0" err="1"/>
              <a:t>soort</a:t>
            </a:r>
            <a:r>
              <a:rPr lang="en-US" altLang="en-US" dirty="0"/>
              <a:t> </a:t>
            </a:r>
            <a:r>
              <a:rPr lang="en-US" altLang="en-US" dirty="0" err="1"/>
              <a:t>dubbele</a:t>
            </a:r>
            <a:r>
              <a:rPr lang="en-US" altLang="en-US" dirty="0"/>
              <a:t> </a:t>
            </a:r>
            <a:r>
              <a:rPr lang="en-US" altLang="en-US" dirty="0" err="1"/>
              <a:t>functie</a:t>
            </a:r>
            <a:r>
              <a:rPr lang="en-US" altLang="en-US" dirty="0"/>
              <a:t>: </a:t>
            </a:r>
            <a:r>
              <a:rPr lang="en-US" altLang="en-US" dirty="0" err="1"/>
              <a:t>ze</a:t>
            </a:r>
            <a:r>
              <a:rPr lang="en-US" altLang="en-US" dirty="0"/>
              <a:t> </a:t>
            </a:r>
            <a:r>
              <a:rPr lang="en-US" altLang="en-US" dirty="0" err="1"/>
              <a:t>zijn</a:t>
            </a:r>
            <a:r>
              <a:rPr lang="en-US" altLang="en-US" dirty="0"/>
              <a:t> </a:t>
            </a:r>
            <a:r>
              <a:rPr lang="en-US" altLang="en-US" dirty="0" err="1"/>
              <a:t>zowel</a:t>
            </a:r>
            <a:r>
              <a:rPr lang="en-US" altLang="en-US" dirty="0"/>
              <a:t> </a:t>
            </a:r>
            <a:r>
              <a:rPr lang="en-US" altLang="en-US" dirty="0" err="1"/>
              <a:t>descriptief</a:t>
            </a:r>
            <a:r>
              <a:rPr lang="en-US" altLang="en-US" dirty="0"/>
              <a:t> (</a:t>
            </a:r>
            <a:r>
              <a:rPr lang="en-US" altLang="en-US" dirty="0" err="1"/>
              <a:t>beschrijven</a:t>
            </a:r>
            <a:r>
              <a:rPr lang="en-US" altLang="en-US" dirty="0"/>
              <a:t> </a:t>
            </a:r>
            <a:r>
              <a:rPr lang="en-US" altLang="en-US" dirty="0" err="1"/>
              <a:t>iets</a:t>
            </a:r>
            <a:r>
              <a:rPr lang="en-US" altLang="en-US" dirty="0"/>
              <a:t>) </a:t>
            </a:r>
            <a:r>
              <a:rPr lang="en-US" altLang="en-US" dirty="0" err="1"/>
              <a:t>als</a:t>
            </a:r>
            <a:r>
              <a:rPr lang="en-US" altLang="en-US" dirty="0"/>
              <a:t> </a:t>
            </a:r>
            <a:r>
              <a:rPr lang="en-US" altLang="en-US" dirty="0" err="1"/>
              <a:t>prescriptief</a:t>
            </a:r>
            <a:r>
              <a:rPr lang="en-US" altLang="en-US" dirty="0"/>
              <a:t> (</a:t>
            </a:r>
            <a:r>
              <a:rPr lang="en-US" altLang="en-US" dirty="0" err="1"/>
              <a:t>zeggen</a:t>
            </a:r>
            <a:r>
              <a:rPr lang="en-US" altLang="en-US" dirty="0"/>
              <a:t> hoe het </a:t>
            </a:r>
            <a:r>
              <a:rPr lang="en-US" altLang="en-US" dirty="0" err="1"/>
              <a:t>moet</a:t>
            </a:r>
            <a:r>
              <a:rPr lang="en-US" altLang="en-US" dirty="0"/>
              <a:t>).</a:t>
            </a:r>
          </a:p>
          <a:p>
            <a:endParaRPr lang="en-US" altLang="en-US" dirty="0"/>
          </a:p>
          <a:p>
            <a:endParaRPr lang="en-US" altLang="en-US" dirty="0"/>
          </a:p>
          <a:p>
            <a:r>
              <a:rPr lang="en-US" altLang="en-US" dirty="0" err="1"/>
              <a:t>Dat</a:t>
            </a:r>
            <a:r>
              <a:rPr lang="en-US" altLang="en-US" dirty="0"/>
              <a:t> gold </a:t>
            </a:r>
            <a:r>
              <a:rPr lang="en-US" altLang="en-US" dirty="0" err="1"/>
              <a:t>trouwens</a:t>
            </a:r>
            <a:r>
              <a:rPr lang="en-US" altLang="en-US" dirty="0"/>
              <a:t> </a:t>
            </a:r>
            <a:r>
              <a:rPr lang="en-US" altLang="en-US" dirty="0" err="1"/>
              <a:t>ook</a:t>
            </a:r>
            <a:r>
              <a:rPr lang="en-US" altLang="en-US" dirty="0"/>
              <a:t> </a:t>
            </a:r>
            <a:r>
              <a:rPr lang="en-US" altLang="en-US" dirty="0" err="1"/>
              <a:t>voor</a:t>
            </a:r>
            <a:r>
              <a:rPr lang="en-US" altLang="en-US" dirty="0"/>
              <a:t> de </a:t>
            </a:r>
            <a:r>
              <a:rPr lang="en-US" altLang="en-US" dirty="0" err="1"/>
              <a:t>plaatjes</a:t>
            </a:r>
            <a:r>
              <a:rPr lang="en-US" altLang="en-US" dirty="0"/>
              <a:t> van de </a:t>
            </a:r>
            <a:r>
              <a:rPr lang="en-US" altLang="en-US" dirty="0" err="1"/>
              <a:t>studenten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1F708EF5-0BD3-4AF5-B601-F033D32CBBA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F2A0A84-2C96-41F6-8998-0C50E6FDEB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FC23C1E-5095-48A3-ADCC-9263F275191B}" type="slidenum">
              <a:rPr lang="nl-NL" altLang="en-US"/>
              <a:pPr/>
              <a:t>89</a:t>
            </a:fld>
            <a:endParaRPr lang="nl-NL" altLang="en-US"/>
          </a:p>
        </p:txBody>
      </p:sp>
      <p:sp>
        <p:nvSpPr>
          <p:cNvPr id="911362" name="Rectangle 2">
            <a:extLst>
              <a:ext uri="{FF2B5EF4-FFF2-40B4-BE49-F238E27FC236}">
                <a16:creationId xmlns:a16="http://schemas.microsoft.com/office/drawing/2014/main" id="{EB3D0417-ED2A-4C22-B7E5-CBDD7C90801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363" name="Rectangle 3">
            <a:extLst>
              <a:ext uri="{FF2B5EF4-FFF2-40B4-BE49-F238E27FC236}">
                <a16:creationId xmlns:a16="http://schemas.microsoft.com/office/drawing/2014/main" id="{8DEBCA9D-E315-4F55-90C9-0F7A601868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8F4F45CA-0C64-448C-AB6D-9D2800460AE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nl-NL" altLang="en-US"/>
              <a:t>© SE, Architecture, Hans van Vliet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3A92D645-93E6-48CD-B802-75A35B4F47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747557-9495-4720-B8C7-B2856828E652}" type="slidenum">
              <a:rPr lang="nl-NL" altLang="en-US"/>
              <a:pPr/>
              <a:t>92</a:t>
            </a:fld>
            <a:endParaRPr lang="nl-NL" altLang="en-US"/>
          </a:p>
        </p:txBody>
      </p:sp>
      <p:sp>
        <p:nvSpPr>
          <p:cNvPr id="711682" name="Rectangle 2">
            <a:extLst>
              <a:ext uri="{FF2B5EF4-FFF2-40B4-BE49-F238E27FC236}">
                <a16:creationId xmlns:a16="http://schemas.microsoft.com/office/drawing/2014/main" id="{B4109A6B-D8D4-4395-8913-D64B96B27F9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060450" y="719138"/>
            <a:ext cx="5197475" cy="3600450"/>
          </a:xfrm>
          <a:ln/>
        </p:spPr>
      </p:sp>
      <p:sp>
        <p:nvSpPr>
          <p:cNvPr id="711683" name="Rectangle 3">
            <a:extLst>
              <a:ext uri="{FF2B5EF4-FFF2-40B4-BE49-F238E27FC236}">
                <a16:creationId xmlns:a16="http://schemas.microsoft.com/office/drawing/2014/main" id="{4C4480CF-788C-4000-B61A-AB81D5C6E1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76313" y="4560888"/>
            <a:ext cx="5362575" cy="4321175"/>
          </a:xfrm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HK" dirty="0"/>
              <a:t>https://en.wikipedia.org/wiki/Blackboard_system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7E88535-4BEA-4EE8-AB4A-C9FA970A9824}" type="slidenum">
              <a:rPr lang="en-US" smtClean="0"/>
              <a:pPr>
                <a:defRPr/>
              </a:pPr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2312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Acknowledgement: Source of client and server diagram: https://courses.cs.washington.edu/courses/cse403/16wi/lectures/L10.pdf</a:t>
            </a:r>
            <a:endParaRPr lang="en-HK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Software Design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7E88535-4BEA-4EE8-AB4A-C9FA970A9824}" type="slidenum">
              <a:rPr lang="en-US" smtClean="0"/>
              <a:pPr>
                <a:defRPr/>
              </a:pPr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846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026"/>
          <p:cNvSpPr>
            <a:spLocks noChangeShapeType="1"/>
          </p:cNvSpPr>
          <p:nvPr/>
        </p:nvSpPr>
        <p:spPr bwMode="auto">
          <a:xfrm>
            <a:off x="0" y="3429000"/>
            <a:ext cx="8693150" cy="0"/>
          </a:xfrm>
          <a:prstGeom prst="line">
            <a:avLst/>
          </a:prstGeom>
          <a:noFill/>
          <a:ln w="50800">
            <a:solidFill>
              <a:schemeClr val="tx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5" name="Rectangle 1027"/>
          <p:cNvSpPr>
            <a:spLocks noGrp="1" noChangeArrowheads="1"/>
          </p:cNvSpPr>
          <p:nvPr>
            <p:ph type="ctrTitle" sz="quarter"/>
          </p:nvPr>
        </p:nvSpPr>
        <p:spPr>
          <a:xfrm>
            <a:off x="381000" y="381000"/>
            <a:ext cx="9067800" cy="3048000"/>
          </a:xfrm>
        </p:spPr>
        <p:txBody>
          <a:bodyPr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76" name="Rectangle 10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401638" y="3886200"/>
            <a:ext cx="9067800" cy="28194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1029"/>
          <p:cNvSpPr>
            <a:spLocks noGrp="1" noChangeArrowheads="1"/>
          </p:cNvSpPr>
          <p:nvPr>
            <p:ph type="dt" sz="quarter" idx="10"/>
          </p:nvPr>
        </p:nvSpPr>
        <p:spPr>
          <a:xfrm>
            <a:off x="401638" y="6248400"/>
            <a:ext cx="2062162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030"/>
          <p:cNvSpPr>
            <a:spLocks noGrp="1" noChangeArrowheads="1"/>
          </p:cNvSpPr>
          <p:nvPr>
            <p:ph type="ftr" sz="quarter" idx="11"/>
          </p:nvPr>
        </p:nvSpPr>
        <p:spPr>
          <a:xfrm>
            <a:off x="3367088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7" name="Rectangle 103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407275" y="6248400"/>
            <a:ext cx="2062163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E3E309-C4F3-40C3-813B-7A36DC967DF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324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B8F44C-0EDE-4D7D-9086-BD1CF3CE7AF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88079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169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16925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CD115F-8D68-417D-BE51-0997C55306E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24402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2750" y="1676400"/>
            <a:ext cx="4441825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06975" y="1676400"/>
            <a:ext cx="4441825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C972CB-25A0-49CA-A04F-81E0CCB967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7234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2225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515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515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0788" y="1535113"/>
            <a:ext cx="437673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0788" y="2174875"/>
            <a:ext cx="437673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9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FA675B-1F56-4A1F-B974-9460B94FF8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614090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55598A2-17A2-444F-952B-9804449BE0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47151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D18685-0001-4CA4-BB9B-682137D85FB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6034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7550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1913" y="273050"/>
            <a:ext cx="55356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755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0572DE-3297-44C9-8095-AE1A459C666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642869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0425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042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042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8E5FA2-5579-48D2-AAEA-0395A968586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922350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DE836C-C506-41B6-AE73-6EC51D54037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190766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9788" y="266700"/>
            <a:ext cx="2259012" cy="63627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2750" y="266700"/>
            <a:ext cx="6624638" cy="63627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807D62A-A25F-4874-AB67-6CF4C9C4736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20388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750" y="266700"/>
            <a:ext cx="9036050" cy="1104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12750" y="1676400"/>
            <a:ext cx="9036050" cy="49530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Software Quality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92DDC3-EFA3-4647-8A6E-E8039DA1A9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59212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2"/>
          <p:cNvSpPr>
            <a:spLocks noChangeShapeType="1"/>
          </p:cNvSpPr>
          <p:nvPr/>
        </p:nvSpPr>
        <p:spPr bwMode="auto">
          <a:xfrm>
            <a:off x="0" y="1371600"/>
            <a:ext cx="8693150" cy="0"/>
          </a:xfrm>
          <a:prstGeom prst="line">
            <a:avLst/>
          </a:prstGeom>
          <a:noFill/>
          <a:ln w="50800">
            <a:solidFill>
              <a:schemeClr val="tx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12750" y="266700"/>
            <a:ext cx="90360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12750" y="1676400"/>
            <a:ext cx="903605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12750" y="6172200"/>
            <a:ext cx="206216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folHlink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2963" y="6172200"/>
            <a:ext cx="31369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>
              <a:defRPr sz="1400">
                <a:solidFill>
                  <a:schemeClr val="folHlink"/>
                </a:solidFill>
              </a:defRPr>
            </a:lvl1pPr>
          </a:lstStyle>
          <a:p>
            <a:pPr>
              <a:defRPr/>
            </a:pPr>
            <a:r>
              <a:rPr lang="en-US"/>
              <a:t>Software Quality</a:t>
            </a:r>
            <a:endParaRPr lang="en-US" dirty="0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27913" y="6172200"/>
            <a:ext cx="206216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>
                <a:solidFill>
                  <a:schemeClr val="folHlink"/>
                </a:solidFill>
              </a:defRPr>
            </a:lvl1pPr>
          </a:lstStyle>
          <a:p>
            <a:pPr>
              <a:defRPr/>
            </a:pPr>
            <a:fld id="{BD8E331F-9D83-4245-9A62-97CA84DE22F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8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</p:sldLayoutIdLst>
  <p:transition/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5pPr>
      <a:lvl6pPr marL="4572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6pPr>
      <a:lvl7pPr marL="9144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7pPr>
      <a:lvl8pPr marL="13716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8pPr>
      <a:lvl9pPr marL="1828800"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itchFamily="18" charset="0"/>
        </a:defRPr>
      </a:lvl9pPr>
    </p:titleStyle>
    <p:bodyStyle>
      <a:lvl1pPr marL="398463" indent="-39846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u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862013" indent="-3492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n"/>
        <a:defRPr sz="2800">
          <a:solidFill>
            <a:schemeClr val="tx1"/>
          </a:solidFill>
          <a:latin typeface="+mn-lt"/>
        </a:defRPr>
      </a:lvl2pPr>
      <a:lvl3pPr marL="1262063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60525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u"/>
        <a:defRPr sz="2000">
          <a:solidFill>
            <a:schemeClr val="tx1"/>
          </a:solidFill>
          <a:latin typeface="+mn-lt"/>
        </a:defRPr>
      </a:lvl4pPr>
      <a:lvl5pPr marL="20589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61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33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305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7788" indent="-28416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6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hyperlink" Target="http://dx.doi.org/10.1145/361598.361623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obhero.com/job-description/examples/computer-software/software-architect" TargetMode="External"/><Relationship Id="rId2" Type="http://schemas.openxmlformats.org/officeDocument/2006/relationships/hyperlink" Target="https://medium.com/@nvashanin/the-path-to-becoming-a-software-architect-de53f1cb310a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dhat.com/architect/what-is-software-architect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tmp"/><Relationship Id="rId4" Type="http://schemas.openxmlformats.org/officeDocument/2006/relationships/image" Target="../media/image9.tm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tmp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gif"/><Relationship Id="rId4" Type="http://schemas.openxmlformats.org/officeDocument/2006/relationships/image" Target="../media/image18.wmf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emf"/><Relationship Id="rId4" Type="http://schemas.openxmlformats.org/officeDocument/2006/relationships/hyperlink" Target="https://www.esut.tp.edu.tw/~library/101/101-1poetry/poem101/101-1-6.htm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tmp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mp"/><Relationship Id="rId2" Type="http://schemas.openxmlformats.org/officeDocument/2006/relationships/image" Target="../media/image26.gif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sights.sei.cmu.edu/blog/tactics-and-patterns-for-software-robustness/" TargetMode="Externa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insights.sei.cmu.edu/blog/security-pattern-assurance-through-round-trip-engineering/" TargetMode="External"/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tmp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tmp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wmf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mp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tmp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tmp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www.guru99.com/microkernel-in-operating-system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016/j.procs.2015.10.019" TargetMode="External"/><Relationship Id="rId3" Type="http://schemas.openxmlformats.org/officeDocument/2006/relationships/hyperlink" Target="https://ieeexplore.ieee.org/document/6129467" TargetMode="External"/><Relationship Id="rId7" Type="http://schemas.openxmlformats.org/officeDocument/2006/relationships/hyperlink" Target="https://doi.org/10.1145%2F362929.362947" TargetMode="External"/><Relationship Id="rId2" Type="http://schemas.openxmlformats.org/officeDocument/2006/relationships/hyperlink" Target="https://martinfowler.com/articles/serverles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smartdecisionsgame.com/" TargetMode="External"/><Relationship Id="rId5" Type="http://schemas.openxmlformats.org/officeDocument/2006/relationships/hyperlink" Target="https://www.slideshare.net/VincentComposieux/architecture-81270165" TargetMode="External"/><Relationship Id="rId10" Type="http://schemas.openxmlformats.org/officeDocument/2006/relationships/hyperlink" Target="https://www.oreilly.com/library/view/fundamentals-of-software/9781663728357/" TargetMode="External"/><Relationship Id="rId4" Type="http://schemas.openxmlformats.org/officeDocument/2006/relationships/hyperlink" Target="https://en.wikipedia.org/wiki/Hans_van_Vliet" TargetMode="External"/><Relationship Id="rId9" Type="http://schemas.openxmlformats.org/officeDocument/2006/relationships/hyperlink" Target="https://www.enterpriseintegrationpatterns.com/patterns/messag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31"/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0465E2E4-7374-46A0-BB59-F56978D5F671}" type="slidenum">
              <a:rPr lang="en-US" sz="1400" smtClean="0">
                <a:solidFill>
                  <a:schemeClr val="folHlink"/>
                </a:solidFill>
              </a:rPr>
              <a:pPr/>
              <a:t>1</a:t>
            </a:fld>
            <a:endParaRPr lang="en-US" sz="1400">
              <a:solidFill>
                <a:schemeClr val="folHlink"/>
              </a:solidFill>
            </a:endParaRPr>
          </a:p>
        </p:txBody>
      </p:sp>
      <p:sp>
        <p:nvSpPr>
          <p:cNvPr id="3075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12750" y="609600"/>
            <a:ext cx="9034463" cy="2743200"/>
          </a:xfrm>
          <a:noFill/>
        </p:spPr>
        <p:txBody>
          <a:bodyPr/>
          <a:lstStyle/>
          <a:p>
            <a:br>
              <a:rPr lang="en-US" sz="4400" dirty="0"/>
            </a:br>
            <a:r>
              <a:rPr lang="en-US" sz="3200" i="1" dirty="0"/>
              <a:t>CS5351 Software Engineering 2025/26 Semester A</a:t>
            </a:r>
            <a:br>
              <a:rPr lang="en-US" sz="7200" dirty="0"/>
            </a:br>
            <a:r>
              <a:rPr lang="en-US" sz="7200" dirty="0"/>
              <a:t>Design Principles and Framework</a:t>
            </a:r>
          </a:p>
        </p:txBody>
      </p:sp>
      <p:sp>
        <p:nvSpPr>
          <p:cNvPr id="3076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55613" y="3886200"/>
            <a:ext cx="9067800" cy="2667000"/>
          </a:xfrm>
          <a:noFill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4000" dirty="0"/>
              <a:t>Dr W.K. Chan</a:t>
            </a:r>
          </a:p>
          <a:p>
            <a:pPr>
              <a:lnSpc>
                <a:spcPct val="90000"/>
              </a:lnSpc>
            </a:pPr>
            <a:r>
              <a:rPr lang="en-US" sz="2400" dirty="0"/>
              <a:t>Department of Computer Science</a:t>
            </a:r>
          </a:p>
          <a:p>
            <a:pPr>
              <a:lnSpc>
                <a:spcPct val="90000"/>
              </a:lnSpc>
            </a:pPr>
            <a:r>
              <a:rPr lang="en-US" sz="2400" dirty="0"/>
              <a:t>Email: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2000" b="1" dirty="0">
                <a:latin typeface="Courier New" pitchFamily="49" charset="0"/>
              </a:rPr>
              <a:t>wkchan@cityu.edu.hk</a:t>
            </a:r>
            <a:endParaRPr lang="en-US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</a:pPr>
            <a:r>
              <a:rPr lang="en-US" sz="2400" dirty="0"/>
              <a:t>Website: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2000" b="1" dirty="0">
                <a:latin typeface="Courier New" pitchFamily="49" charset="0"/>
              </a:rPr>
              <a:t>http://www.cs.cityu.edu.hk/~wkchan </a:t>
            </a:r>
            <a:endParaRPr lang="en-US" sz="2000" b="1" dirty="0">
              <a:solidFill>
                <a:schemeClr val="folHlink"/>
              </a:solidFill>
            </a:endParaRPr>
          </a:p>
          <a:p>
            <a:pPr>
              <a:lnSpc>
                <a:spcPct val="90000"/>
              </a:lnSpc>
            </a:pPr>
            <a:endParaRPr lang="en-US" sz="2000" b="1" dirty="0">
              <a:solidFill>
                <a:schemeClr val="folHlink"/>
              </a:solidFill>
            </a:endParaRPr>
          </a:p>
          <a:p>
            <a:pPr>
              <a:lnSpc>
                <a:spcPct val="90000"/>
              </a:lnSpc>
            </a:pPr>
            <a:endParaRPr lang="en-US" sz="2000" b="1" dirty="0">
              <a:solidFill>
                <a:schemeClr val="folHlink"/>
              </a:solidFill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4A5E9-678C-CC7A-87F2-E73657EED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Structure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9EAFA-E269-0CE2-4EF7-A976E8AC4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47800"/>
            <a:ext cx="9415462" cy="4953000"/>
          </a:xfrm>
        </p:spPr>
        <p:txBody>
          <a:bodyPr/>
          <a:lstStyle/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Suppose </a:t>
            </a:r>
            <a:r>
              <a:rPr lang="en-US" sz="2400" b="1" i="1" dirty="0">
                <a:solidFill>
                  <a:srgbClr val="FF0000"/>
                </a:solidFill>
              </a:rPr>
              <a:t>J </a:t>
            </a:r>
            <a:r>
              <a:rPr lang="en-US" sz="2400" dirty="0"/>
              <a:t>is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an implementation</a:t>
            </a:r>
            <a:r>
              <a:rPr lang="en-US" sz="2400" b="1" dirty="0">
                <a:solidFill>
                  <a:srgbClr val="FF0000"/>
                </a:solidFill>
              </a:rPr>
              <a:t> code </a:t>
            </a:r>
            <a:r>
              <a:rPr lang="en-US" sz="2400" dirty="0"/>
              <a:t>of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all features of a project.</a:t>
            </a:r>
          </a:p>
          <a:p>
            <a:pPr>
              <a:spcBef>
                <a:spcPts val="0"/>
              </a:spcBef>
            </a:pPr>
            <a:r>
              <a:rPr lang="en-US" sz="2400" dirty="0"/>
              <a:t>Where will you place </a:t>
            </a:r>
            <a:r>
              <a:rPr lang="en-US" sz="2400" b="1" i="1" dirty="0">
                <a:solidFill>
                  <a:srgbClr val="FF0000"/>
                </a:solidFill>
              </a:rPr>
              <a:t>J</a:t>
            </a:r>
            <a:r>
              <a:rPr lang="en-US" sz="2400" dirty="0"/>
              <a:t> in a program file based on your programming practice?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[What if] If  </a:t>
            </a:r>
            <a:r>
              <a:rPr lang="en-US" sz="2000" b="1" i="1" dirty="0">
                <a:solidFill>
                  <a:srgbClr val="FF0000"/>
                </a:solidFill>
              </a:rPr>
              <a:t>J </a:t>
            </a:r>
            <a:r>
              <a:rPr lang="en-US" sz="2000" dirty="0"/>
              <a:t>will</a:t>
            </a:r>
            <a:r>
              <a:rPr lang="en-US" sz="2000" i="1" dirty="0"/>
              <a:t> </a:t>
            </a:r>
            <a:r>
              <a:rPr lang="en-US" sz="2000" b="1" i="1" dirty="0"/>
              <a:t>never</a:t>
            </a:r>
            <a:r>
              <a:rPr lang="en-US" sz="2000" dirty="0"/>
              <a:t> be revised or read again, is it a matter of considering where it is located?</a:t>
            </a:r>
          </a:p>
          <a:p>
            <a:pPr>
              <a:spcBef>
                <a:spcPts val="0"/>
              </a:spcBef>
            </a:pPr>
            <a:endParaRPr lang="en-US" sz="1100" i="1" dirty="0"/>
          </a:p>
          <a:p>
            <a:pPr>
              <a:spcBef>
                <a:spcPts val="0"/>
              </a:spcBef>
            </a:pPr>
            <a:r>
              <a:rPr lang="en-US" sz="2400" i="1" dirty="0">
                <a:solidFill>
                  <a:srgbClr val="0070C0"/>
                </a:solidFill>
              </a:rPr>
              <a:t>Scenario A</a:t>
            </a:r>
            <a:r>
              <a:rPr lang="en-US" sz="2400" dirty="0"/>
              <a:t>: Put </a:t>
            </a:r>
            <a:r>
              <a:rPr lang="en-US" sz="2400" b="1" i="1" dirty="0">
                <a:solidFill>
                  <a:srgbClr val="FF0000"/>
                </a:solidFill>
              </a:rPr>
              <a:t>J  </a:t>
            </a:r>
            <a:r>
              <a:rPr lang="en-US" sz="2400" dirty="0"/>
              <a:t>in the body of the main() function.</a:t>
            </a:r>
          </a:p>
          <a:p>
            <a:pPr>
              <a:spcBef>
                <a:spcPts val="0"/>
              </a:spcBef>
            </a:pPr>
            <a:r>
              <a:rPr lang="en-US" sz="2400" i="1" dirty="0">
                <a:solidFill>
                  <a:srgbClr val="0070C0"/>
                </a:solidFill>
              </a:rPr>
              <a:t>Scenario B</a:t>
            </a:r>
            <a:r>
              <a:rPr lang="en-US" sz="2400" dirty="0"/>
              <a:t>: If putting the code into different functions is the key, why not put just one statement of </a:t>
            </a:r>
            <a:r>
              <a:rPr lang="en-US" sz="2400" b="1" i="1" dirty="0">
                <a:solidFill>
                  <a:srgbClr val="FF0000"/>
                </a:solidFill>
              </a:rPr>
              <a:t>J</a:t>
            </a:r>
            <a:r>
              <a:rPr lang="en-US" sz="2400" dirty="0"/>
              <a:t> into each function?</a:t>
            </a:r>
          </a:p>
          <a:p>
            <a:pPr algn="just">
              <a:spcBef>
                <a:spcPts val="0"/>
              </a:spcBef>
            </a:pPr>
            <a:r>
              <a:rPr lang="en-US" sz="2400" i="1" dirty="0">
                <a:solidFill>
                  <a:srgbClr val="0070C0"/>
                </a:solidFill>
              </a:rPr>
              <a:t>Scenario C</a:t>
            </a:r>
            <a:r>
              <a:rPr lang="en-US" sz="2400" dirty="0"/>
              <a:t>: Divide</a:t>
            </a:r>
            <a:r>
              <a:rPr lang="en-US" sz="2400" i="1" dirty="0"/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J</a:t>
            </a:r>
            <a:r>
              <a:rPr lang="en-US" sz="2400" i="1" dirty="0"/>
              <a:t> </a:t>
            </a:r>
            <a:r>
              <a:rPr lang="en-US" sz="2400" dirty="0"/>
              <a:t>by feature, place the “sub-</a:t>
            </a:r>
            <a:r>
              <a:rPr lang="en-US" sz="2400" b="1" i="1" dirty="0" err="1">
                <a:solidFill>
                  <a:srgbClr val="FF0000"/>
                </a:solidFill>
              </a:rPr>
              <a:t>J</a:t>
            </a:r>
            <a:r>
              <a:rPr lang="en-US" sz="2400" dirty="0" err="1"/>
              <a:t>s</a:t>
            </a:r>
            <a:r>
              <a:rPr lang="en-US" sz="2400" dirty="0"/>
              <a:t>” in individual functions, and then glue them together.</a:t>
            </a:r>
            <a:endParaRPr lang="en-US" sz="1100" dirty="0"/>
          </a:p>
          <a:p>
            <a:pPr>
              <a:spcBef>
                <a:spcPts val="0"/>
              </a:spcBef>
            </a:pPr>
            <a:r>
              <a:rPr lang="en-US" sz="2400" dirty="0"/>
              <a:t>Why do we sometimes “feel” that a feature is easier to codify in one program than another? </a:t>
            </a:r>
          </a:p>
          <a:p>
            <a:pPr>
              <a:spcBef>
                <a:spcPts val="0"/>
              </a:spcBef>
            </a:pPr>
            <a:endParaRPr lang="en-US" sz="11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/>
              <a:t>=&gt;We care about the program structure</a:t>
            </a:r>
            <a:endParaRPr lang="en-HK" sz="2400" dirty="0"/>
          </a:p>
          <a:p>
            <a:pPr marL="0" indent="0">
              <a:spcBef>
                <a:spcPts val="0"/>
              </a:spcBef>
              <a:buNone/>
            </a:pPr>
            <a:r>
              <a:rPr lang="en-HK" sz="2400" dirty="0"/>
              <a:t> 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4E62C-1173-F15F-4EFA-51A45267B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25423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E90D8-FEAC-40EE-A730-FFEBB699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David </a:t>
            </a:r>
            <a:r>
              <a:rPr lang="nl-NL" altLang="en-US" sz="4400" dirty="0"/>
              <a:t>Parnas [10]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A405B-0AB8-4B2C-8851-4EC64B5BE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Different ways of decomposing the same program into subroutines produce very different consequences in terms of software maintenance.</a:t>
            </a:r>
          </a:p>
          <a:p>
            <a:r>
              <a:rPr lang="en-US" sz="2800" dirty="0"/>
              <a:t>E.g., X and Y are two programming modules</a:t>
            </a:r>
          </a:p>
          <a:p>
            <a:pPr lvl="1"/>
            <a:r>
              <a:rPr lang="en-US" sz="2400" dirty="0"/>
              <a:t>Functional decomposition: </a:t>
            </a:r>
          </a:p>
          <a:p>
            <a:pPr lvl="2"/>
            <a:r>
              <a:rPr lang="en-US" sz="2000" dirty="0"/>
              <a:t>P() = {  x = X(w); y = Y(x); …W(x, y)… ; }</a:t>
            </a:r>
          </a:p>
          <a:p>
            <a:pPr lvl="2"/>
            <a:r>
              <a:rPr lang="en-US" sz="2000" dirty="0"/>
              <a:t>Y(x)  = { do whatever we want on the data structure x}</a:t>
            </a:r>
          </a:p>
          <a:p>
            <a:pPr lvl="1"/>
            <a:r>
              <a:rPr lang="en-US" sz="2400" dirty="0"/>
              <a:t>Object-oriented decomposition:</a:t>
            </a:r>
          </a:p>
          <a:p>
            <a:pPr lvl="2"/>
            <a:r>
              <a:rPr lang="en-US" sz="2000" dirty="0"/>
              <a:t>z is an object of class Z</a:t>
            </a:r>
          </a:p>
          <a:p>
            <a:pPr lvl="2"/>
            <a:r>
              <a:rPr lang="en-US" sz="2000" dirty="0"/>
              <a:t>X(z) = { do whatever we want on z, and z maintains its integrity}</a:t>
            </a:r>
          </a:p>
          <a:p>
            <a:pPr lvl="2"/>
            <a:r>
              <a:rPr lang="en-US" sz="2000" dirty="0"/>
              <a:t>Y(z) = { do whatever we want on z, and z maintains its integrity}</a:t>
            </a:r>
          </a:p>
          <a:p>
            <a:pPr lvl="2"/>
            <a:r>
              <a:rPr lang="en-US" sz="2000" dirty="0"/>
              <a:t>P = { …; X(z); …; Y(z); … W(z);}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4BAA13-63E4-4618-BCD9-7D1AE8C0E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6CF6E5-D8B2-47B7-51BD-507821139181}"/>
              </a:ext>
            </a:extLst>
          </p:cNvPr>
          <p:cNvSpPr txBox="1"/>
          <p:nvPr/>
        </p:nvSpPr>
        <p:spPr>
          <a:xfrm>
            <a:off x="6094412" y="135784"/>
            <a:ext cx="3231975" cy="95410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HK" dirty="0"/>
              <a:t>current: x is a list</a:t>
            </a:r>
          </a:p>
          <a:p>
            <a:r>
              <a:rPr lang="en-HK" dirty="0"/>
              <a:t>changed: x is a graph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529B93-FD56-3FBC-8DC7-51E98BE9C343}"/>
              </a:ext>
            </a:extLst>
          </p:cNvPr>
          <p:cNvSpPr txBox="1"/>
          <p:nvPr/>
        </p:nvSpPr>
        <p:spPr>
          <a:xfrm>
            <a:off x="6580186" y="3891290"/>
            <a:ext cx="2746201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HK" dirty="0"/>
              <a:t>affect all modules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3D1DB-C8AC-522A-229C-D8A7932D4AEF}"/>
              </a:ext>
            </a:extLst>
          </p:cNvPr>
          <p:cNvSpPr txBox="1"/>
          <p:nvPr/>
        </p:nvSpPr>
        <p:spPr>
          <a:xfrm>
            <a:off x="6580185" y="4919990"/>
            <a:ext cx="2088970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HK" dirty="0"/>
              <a:t>affect class Z</a:t>
            </a:r>
          </a:p>
        </p:txBody>
      </p:sp>
    </p:spTree>
    <p:extLst>
      <p:ext uri="{BB962C8B-B14F-4D97-AF65-F5344CB8AC3E}">
        <p14:creationId xmlns:p14="http://schemas.microsoft.com/office/powerpoint/2010/main" val="475095017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55D49-3993-1A4D-B77A-0457E442D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the Styles of Program Structure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EB6A3-4C53-E1B6-067A-27B2651B7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At a higher level, we refer to the software architecture (or system architecture), enterprise patterns, architectural patterns</a:t>
            </a:r>
          </a:p>
          <a:p>
            <a:pPr lvl="1"/>
            <a:r>
              <a:rPr lang="en-US" sz="2400" dirty="0"/>
              <a:t>The </a:t>
            </a:r>
            <a:r>
              <a:rPr lang="en-US" sz="2400" i="1" dirty="0">
                <a:solidFill>
                  <a:srgbClr val="0070C0"/>
                </a:solidFill>
              </a:rPr>
              <a:t>big picture </a:t>
            </a:r>
            <a:r>
              <a:rPr lang="en-US" sz="2400" dirty="0"/>
              <a:t>of how a software application is organized</a:t>
            </a:r>
          </a:p>
          <a:p>
            <a:endParaRPr lang="en-US" sz="2800" dirty="0"/>
          </a:p>
          <a:p>
            <a:r>
              <a:rPr lang="en-US" sz="2800" dirty="0"/>
              <a:t>At a lower level, we refer to coding idiom, coding principle, design patterns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DE0DC-4B9A-46F0-6282-D376CAD5D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604122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746" name="Rectangle 2">
            <a:extLst>
              <a:ext uri="{FF2B5EF4-FFF2-40B4-BE49-F238E27FC236}">
                <a16:creationId xmlns:a16="http://schemas.microsoft.com/office/drawing/2014/main" id="{398F1826-75E7-49AE-BF6E-3E5D9DB382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en-US" dirty="0"/>
              <a:t>Where did </a:t>
            </a:r>
            <a:br>
              <a:rPr lang="nl-NL" altLang="en-US" dirty="0"/>
            </a:br>
            <a:r>
              <a:rPr lang="nl-NL" altLang="en-US" dirty="0"/>
              <a:t>Architecture begin?</a:t>
            </a:r>
          </a:p>
        </p:txBody>
      </p:sp>
      <p:sp>
        <p:nvSpPr>
          <p:cNvPr id="671747" name="Rectangle 3">
            <a:extLst>
              <a:ext uri="{FF2B5EF4-FFF2-40B4-BE49-F238E27FC236}">
                <a16:creationId xmlns:a16="http://schemas.microsoft.com/office/drawing/2014/main" id="{0A908347-D040-4658-BE60-F105871138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12750" y="1676400"/>
            <a:ext cx="9339262" cy="4953000"/>
          </a:xfrm>
        </p:spPr>
        <p:txBody>
          <a:bodyPr/>
          <a:lstStyle/>
          <a:p>
            <a:pPr marL="342900" indent="-342900"/>
            <a:r>
              <a:rPr lang="nl-NL" altLang="en-US" sz="2400" dirty="0"/>
              <a:t>1992: Perry &amp; Wolf</a:t>
            </a:r>
          </a:p>
          <a:p>
            <a:pPr marL="342900" indent="-342900"/>
            <a:r>
              <a:rPr lang="nl-NL" altLang="en-US" sz="2400" dirty="0"/>
              <a:t>1987: J.A. Zachman; 1989: M. Shaw</a:t>
            </a:r>
          </a:p>
          <a:p>
            <a:pPr marL="806450" lvl="1" indent="-342900"/>
            <a:r>
              <a:rPr lang="nl-NL" altLang="en-US" sz="2000" dirty="0"/>
              <a:t>https://en.wikipedia.org/wiki/Zachman_Framework</a:t>
            </a:r>
          </a:p>
          <a:p>
            <a:pPr marL="342900" indent="-342900"/>
            <a:r>
              <a:rPr lang="nl-NL" altLang="en-US" sz="2400" dirty="0"/>
              <a:t>1978/79: David Parnas, program families</a:t>
            </a:r>
          </a:p>
          <a:p>
            <a:pPr marL="806450" lvl="1" indent="-342900"/>
            <a:r>
              <a:rPr lang="nl-NL" altLang="en-US" sz="2000" dirty="0"/>
              <a:t>“</a:t>
            </a:r>
            <a:r>
              <a:rPr lang="en-US" altLang="en-US" sz="2000" dirty="0"/>
              <a:t>On the criteria to be used in decomposing systems into modules” </a:t>
            </a:r>
            <a:r>
              <a:rPr lang="en-US" altLang="en-US" sz="2000" dirty="0">
                <a:hlinkClick r:id="rId3"/>
              </a:rPr>
              <a:t>http://dx.doi.org/10.1145/361598.361623</a:t>
            </a:r>
            <a:r>
              <a:rPr lang="en-US" altLang="en-US" sz="2000" dirty="0"/>
              <a:t> </a:t>
            </a:r>
            <a:endParaRPr lang="nl-NL" altLang="en-US" sz="2000" dirty="0"/>
          </a:p>
          <a:p>
            <a:pPr marL="342900" indent="-342900"/>
            <a:r>
              <a:rPr lang="nl-NL" altLang="en-US" sz="2400" dirty="0"/>
              <a:t>1972 (1969): Edsger Dijkstra, program families</a:t>
            </a:r>
          </a:p>
          <a:p>
            <a:pPr marL="342900" indent="-342900"/>
            <a:r>
              <a:rPr lang="nl-NL" altLang="en-US" sz="2400" dirty="0"/>
              <a:t>1969: I.P. Sharp @ NATO Software Engineering conference:</a:t>
            </a:r>
          </a:p>
          <a:p>
            <a:pPr marL="342900" indent="-342900">
              <a:buClr>
                <a:schemeClr val="tx1"/>
              </a:buClr>
              <a:buFontTx/>
              <a:buChar char=" "/>
            </a:pPr>
            <a:r>
              <a:rPr lang="nl-NL" altLang="en-US" sz="2400" dirty="0"/>
              <a:t>“I think we have something in addition to software engineering”.</a:t>
            </a:r>
          </a:p>
          <a:p>
            <a:pPr>
              <a:buClr>
                <a:schemeClr val="tx1"/>
              </a:buClr>
            </a:pPr>
            <a:r>
              <a:rPr lang="nl-NL" altLang="en-US" sz="2400" dirty="0"/>
              <a:t>1996: A seminal work, “</a:t>
            </a:r>
            <a:r>
              <a:rPr lang="en-HK" altLang="en-US" sz="2400" dirty="0"/>
              <a:t>Software Architecture Perspective on an Emerging Discipline,” by David </a:t>
            </a:r>
            <a:r>
              <a:rPr lang="en-HK" altLang="en-US" sz="2400" dirty="0" err="1"/>
              <a:t>Garlan</a:t>
            </a:r>
            <a:r>
              <a:rPr lang="en-HK" altLang="en-US" sz="2400" dirty="0"/>
              <a:t> and Mary Shaw</a:t>
            </a:r>
            <a:endParaRPr lang="nl-NL" altLang="en-US" sz="2400" dirty="0"/>
          </a:p>
        </p:txBody>
      </p:sp>
      <p:pic>
        <p:nvPicPr>
          <p:cNvPr id="671748" name="Picture 4" descr="vtr">
            <a:extLst>
              <a:ext uri="{FF2B5EF4-FFF2-40B4-BE49-F238E27FC236}">
                <a16:creationId xmlns:a16="http://schemas.microsoft.com/office/drawing/2014/main" id="{134871B3-721E-4441-B3A0-1D1DDA6264D9}"/>
              </a:ext>
            </a:extLst>
          </p:cNvPr>
          <p:cNvPicPr>
            <a:picLocks noGrp="1" noChangeAspect="1" noChangeArrowheads="1"/>
          </p:cNvPicPr>
          <p:nvPr>
            <p:ph sz="half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887700" y="83810"/>
            <a:ext cx="842550" cy="1219199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88F13E-8D50-4545-9398-F480CC4D6246}"/>
              </a:ext>
            </a:extLst>
          </p:cNvPr>
          <p:cNvSpPr txBox="1"/>
          <p:nvPr/>
        </p:nvSpPr>
        <p:spPr>
          <a:xfrm>
            <a:off x="8075612" y="1319387"/>
            <a:ext cx="1705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documentation</a:t>
            </a:r>
          </a:p>
        </p:txBody>
      </p:sp>
      <p:pic>
        <p:nvPicPr>
          <p:cNvPr id="7170" name="Picture 2" descr="egypt pyramidçåçæå°çµæ">
            <a:extLst>
              <a:ext uri="{FF2B5EF4-FFF2-40B4-BE49-F238E27FC236}">
                <a16:creationId xmlns:a16="http://schemas.microsoft.com/office/drawing/2014/main" id="{3D7C18E5-5170-4505-8A56-333477767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5600" y="71055"/>
            <a:ext cx="1063412" cy="707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1E3284-7ECC-4CE9-9403-3B8D2171E219}"/>
              </a:ext>
            </a:extLst>
          </p:cNvPr>
          <p:cNvSpPr txBox="1"/>
          <p:nvPr/>
        </p:nvSpPr>
        <p:spPr>
          <a:xfrm>
            <a:off x="7545598" y="698174"/>
            <a:ext cx="10578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pyramid</a:t>
            </a:r>
          </a:p>
        </p:txBody>
      </p:sp>
      <p:pic>
        <p:nvPicPr>
          <p:cNvPr id="7172" name="Picture 4" descr="stonehengeçåçæå°çµæ">
            <a:extLst>
              <a:ext uri="{FF2B5EF4-FFF2-40B4-BE49-F238E27FC236}">
                <a16:creationId xmlns:a16="http://schemas.microsoft.com/office/drawing/2014/main" id="{3243F0C1-B4B3-49A9-BE37-C24F68C31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2947" y="71054"/>
            <a:ext cx="1063412" cy="707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3477B4-9480-4363-8C49-81E4BEE7C901}"/>
              </a:ext>
            </a:extLst>
          </p:cNvPr>
          <p:cNvSpPr txBox="1"/>
          <p:nvPr/>
        </p:nvSpPr>
        <p:spPr>
          <a:xfrm>
            <a:off x="6285896" y="683396"/>
            <a:ext cx="1337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stonehenge</a:t>
            </a:r>
            <a:endParaRPr lang="en-US" sz="2000" dirty="0"/>
          </a:p>
        </p:txBody>
      </p:sp>
      <p:pic>
        <p:nvPicPr>
          <p:cNvPr id="7174" name="Picture 6" descr="https://upload.wikimedia.org/wikipedia/commons/thumb/f/fa/Great_Wall_of_China_July_2006.JPG/320px-Great_Wall_of_China_July_2006.JPG">
            <a:extLst>
              <a:ext uri="{FF2B5EF4-FFF2-40B4-BE49-F238E27FC236}">
                <a16:creationId xmlns:a16="http://schemas.microsoft.com/office/drawing/2014/main" id="{C451EEE8-9FC9-4D8F-98A1-45255FA1AA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38" y="83810"/>
            <a:ext cx="920669" cy="687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B68964B-A8F4-437D-B1CD-022E16DB63FC}"/>
              </a:ext>
            </a:extLst>
          </p:cNvPr>
          <p:cNvSpPr txBox="1"/>
          <p:nvPr/>
        </p:nvSpPr>
        <p:spPr>
          <a:xfrm>
            <a:off x="5207527" y="693409"/>
            <a:ext cx="1200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great wall</a:t>
            </a:r>
          </a:p>
        </p:txBody>
      </p:sp>
      <p:pic>
        <p:nvPicPr>
          <p:cNvPr id="7176" name="Picture 8" descr="Zachman_Frameworkçåçæå°çµæ">
            <a:extLst>
              <a:ext uri="{FF2B5EF4-FFF2-40B4-BE49-F238E27FC236}">
                <a16:creationId xmlns:a16="http://schemas.microsoft.com/office/drawing/2014/main" id="{A81D208F-52D3-4ECD-AC58-CF4E8EBC0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8703" y="1843689"/>
            <a:ext cx="1805879" cy="85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2E4FF4A-1A26-4A3A-A2FC-8BD5D8795866}"/>
              </a:ext>
            </a:extLst>
          </p:cNvPr>
          <p:cNvCxnSpPr>
            <a:cxnSpLocks/>
          </p:cNvCxnSpPr>
          <p:nvPr/>
        </p:nvCxnSpPr>
        <p:spPr bwMode="auto">
          <a:xfrm flipV="1">
            <a:off x="6627812" y="2260178"/>
            <a:ext cx="1143000" cy="483022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2BD79-8762-4F48-A576-66F2430B6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2FBCBC-DDF5-4641-A17A-97CA67BC6A2D}"/>
              </a:ext>
            </a:extLst>
          </p:cNvPr>
          <p:cNvSpPr txBox="1"/>
          <p:nvPr/>
        </p:nvSpPr>
        <p:spPr>
          <a:xfrm>
            <a:off x="7926302" y="2649079"/>
            <a:ext cx="18582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Popularly used in IS</a:t>
            </a:r>
            <a:endParaRPr lang="en-HK" sz="1600" dirty="0"/>
          </a:p>
        </p:txBody>
      </p:sp>
    </p:spTree>
    <p:extLst>
      <p:ext uri="{BB962C8B-B14F-4D97-AF65-F5344CB8AC3E}">
        <p14:creationId xmlns:p14="http://schemas.microsoft.com/office/powerpoint/2010/main" val="1319522190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BEE07-4C0E-4A0F-BE0A-81D9D9A63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en-US" dirty="0"/>
              <a:t>Software Architecture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A16AF-FB45-446B-A896-DB0FBD116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676400"/>
            <a:ext cx="9567862" cy="4953000"/>
          </a:xfrm>
        </p:spPr>
        <p:txBody>
          <a:bodyPr/>
          <a:lstStyle/>
          <a:p>
            <a:r>
              <a:rPr lang="en-US" sz="2800" dirty="0"/>
              <a:t>The basis </a:t>
            </a:r>
            <a:r>
              <a:rPr lang="nl-NL" altLang="en-US" sz="2800" dirty="0"/>
              <a:t>is </a:t>
            </a:r>
            <a:r>
              <a:rPr lang="en-US" sz="2800" i="1" dirty="0"/>
              <a:t>Modularity</a:t>
            </a:r>
          </a:p>
          <a:p>
            <a:pPr lvl="1"/>
            <a:r>
              <a:rPr lang="en-US" sz="2400" dirty="0"/>
              <a:t>i.e., the style to decompose a module into a set of connected sub-modules </a:t>
            </a:r>
          </a:p>
          <a:p>
            <a:pPr lvl="1"/>
            <a:r>
              <a:rPr lang="en-US" sz="2400" dirty="0"/>
              <a:t>e.g., The layering style in the OSI model in Computer Networks</a:t>
            </a:r>
          </a:p>
          <a:p>
            <a:r>
              <a:rPr lang="en-US" sz="2800" dirty="0"/>
              <a:t>Our purpose is to use styles to address non-functional needs </a:t>
            </a:r>
          </a:p>
          <a:p>
            <a:pPr marL="512763" lvl="1" indent="0">
              <a:buNone/>
            </a:pPr>
            <a:endParaRPr lang="en-US" sz="1200" dirty="0"/>
          </a:p>
          <a:p>
            <a:r>
              <a:rPr lang="en-US" sz="2800" dirty="0"/>
              <a:t>E.g., How to deal with “Fast start-up time” [non-function req.] when initializing software [functional req.]? </a:t>
            </a:r>
          </a:p>
          <a:p>
            <a:pPr lvl="1"/>
            <a:r>
              <a:rPr lang="en-US" sz="2400" dirty="0"/>
              <a:t>Separate the UI code from the program state initialization code</a:t>
            </a:r>
          </a:p>
          <a:p>
            <a:pPr lvl="1"/>
            <a:r>
              <a:rPr lang="en-US" sz="2400" dirty="0"/>
              <a:t>Initialize the part of the program state that affects the UI first </a:t>
            </a:r>
          </a:p>
          <a:p>
            <a:pPr lvl="1"/>
            <a:r>
              <a:rPr lang="en-US" sz="2400" dirty="0"/>
              <a:t>Initialize a lower-quality, faster-initialization core and transit to a higher-quality,  full core.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1BE24-F742-4800-8D32-333622FE3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2735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BEE07-4C0E-4A0F-BE0A-81D9D9A63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en-US" dirty="0"/>
              <a:t>Software Architecture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A16AF-FB45-446B-A896-DB0FBD116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212" y="1447800"/>
            <a:ext cx="9415462" cy="4953000"/>
          </a:xfrm>
        </p:spPr>
        <p:txBody>
          <a:bodyPr/>
          <a:lstStyle/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E.g., How to deal with “Fast start-up time” [non-function req.] when initializing software [functional req.]? </a:t>
            </a:r>
          </a:p>
          <a:p>
            <a:pPr lvl="1"/>
            <a:r>
              <a:rPr lang="en-US" sz="2400" dirty="0">
                <a:solidFill>
                  <a:schemeClr val="bg1">
                    <a:lumMod val="65000"/>
                  </a:schemeClr>
                </a:solidFill>
              </a:rPr>
              <a:t>Separate the UI code from the program state initialization code</a:t>
            </a:r>
          </a:p>
          <a:p>
            <a:pPr marL="512763" lvl="1" indent="0">
              <a:buNone/>
            </a:pPr>
            <a:r>
              <a:rPr lang="en-US" sz="2400" dirty="0"/>
              <a:t>=&gt; Use the Model-View-Controller pattern to decompose a given module into three lower-level modules (Model, View, Controller)</a:t>
            </a:r>
          </a:p>
          <a:p>
            <a:pPr lvl="1"/>
            <a:r>
              <a:rPr lang="en-US" sz="2400" dirty="0">
                <a:solidFill>
                  <a:schemeClr val="bg1">
                    <a:lumMod val="65000"/>
                  </a:schemeClr>
                </a:solidFill>
              </a:rPr>
              <a:t>Initialize the part of the program state that affects the UI first </a:t>
            </a:r>
          </a:p>
          <a:p>
            <a:pPr marL="512763" lvl="1" indent="0">
              <a:buNone/>
            </a:pPr>
            <a:r>
              <a:rPr lang="en-US" sz="2400" dirty="0"/>
              <a:t>=&gt; Divide the Model module into a UI-related sub-module, a UI-unrelated sub-module, and a submodule to maintain the model integrity</a:t>
            </a:r>
          </a:p>
          <a:p>
            <a:pPr lvl="1"/>
            <a:r>
              <a:rPr lang="en-US" sz="2400" dirty="0">
                <a:solidFill>
                  <a:schemeClr val="bg1">
                    <a:lumMod val="65000"/>
                  </a:schemeClr>
                </a:solidFill>
              </a:rPr>
              <a:t>Initialize a lower-quality, faster-initialization core and transit to a higher-quality,  full core.</a:t>
            </a:r>
          </a:p>
          <a:p>
            <a:pPr marL="512763" lvl="1" indent="0">
              <a:buNone/>
            </a:pPr>
            <a:r>
              <a:rPr lang="en-US" sz="2400" dirty="0"/>
              <a:t>=&gt; The UI-related sub-module (in Model) should support extensibility and compatibility between </a:t>
            </a:r>
            <a:r>
              <a:rPr lang="en-US" sz="2400" dirty="0" err="1"/>
              <a:t>submodels</a:t>
            </a:r>
            <a:r>
              <a:rPr lang="en-US" sz="2400" dirty="0"/>
              <a:t>. Controller should interoperate between models without affecting the View module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1BE24-F742-4800-8D32-333622FE3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120864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E90FE-E950-724D-9EE2-A6EFAF0F1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The Strategy We Observe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E63D6-E663-C682-2F62-CE29A6FB0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375" y="1470891"/>
            <a:ext cx="9242426" cy="4953000"/>
          </a:xfrm>
        </p:spPr>
        <p:txBody>
          <a:bodyPr/>
          <a:lstStyle/>
          <a:p>
            <a:pPr marL="0" indent="0">
              <a:buNone/>
            </a:pPr>
            <a:r>
              <a:rPr lang="en-HK" sz="2800" dirty="0"/>
              <a:t>In architecting, we do:</a:t>
            </a:r>
          </a:p>
          <a:p>
            <a:pPr marL="0" indent="0">
              <a:buNone/>
            </a:pPr>
            <a:endParaRPr lang="en-HK" sz="400" dirty="0"/>
          </a:p>
          <a:p>
            <a:pPr marL="514350" indent="-514350">
              <a:buFont typeface="+mj-lt"/>
              <a:buAutoNum type="arabicPeriod"/>
            </a:pPr>
            <a:r>
              <a:rPr lang="en-HK" sz="2800" dirty="0"/>
              <a:t>Recursively decompose a module into a set of </a:t>
            </a:r>
            <a:r>
              <a:rPr lang="en-HK" sz="2800" i="1" dirty="0">
                <a:solidFill>
                  <a:srgbClr val="0070C0"/>
                </a:solidFill>
              </a:rPr>
              <a:t>interacting</a:t>
            </a:r>
            <a:r>
              <a:rPr lang="en-HK" sz="2800" dirty="0"/>
              <a:t> sub-modules. Assign </a:t>
            </a:r>
            <a:r>
              <a:rPr lang="en-HK" sz="2800" b="1" dirty="0"/>
              <a:t>functional responsibility</a:t>
            </a:r>
            <a:r>
              <a:rPr lang="en-HK" sz="2800" dirty="0"/>
              <a:t> to sub-modules to meet the “picked” functional requirement.</a:t>
            </a:r>
          </a:p>
          <a:p>
            <a:pPr marL="977900" lvl="1" indent="-514350"/>
            <a:r>
              <a:rPr lang="en-HK" sz="2400" dirty="0"/>
              <a:t>E.g., submodules for different models and model integrity</a:t>
            </a:r>
          </a:p>
          <a:p>
            <a:pPr marL="514350" indent="-514350">
              <a:buFont typeface="+mj-lt"/>
              <a:buAutoNum type="arabicPeriod"/>
            </a:pPr>
            <a:r>
              <a:rPr lang="en-HK" sz="2800" dirty="0"/>
              <a:t>Assign </a:t>
            </a:r>
            <a:r>
              <a:rPr lang="en-HK" sz="2800" b="1" dirty="0"/>
              <a:t>non-functional quality attributes </a:t>
            </a:r>
            <a:r>
              <a:rPr lang="en-HK" sz="2800" dirty="0"/>
              <a:t>to sub-models</a:t>
            </a:r>
          </a:p>
          <a:p>
            <a:pPr marL="977900" lvl="1" indent="-514350"/>
            <a:r>
              <a:rPr lang="en-HK" sz="2400" dirty="0"/>
              <a:t>E.g., usability by View, extensibility by sub-models, interoperability by Controller</a:t>
            </a:r>
          </a:p>
          <a:p>
            <a:pPr marL="514350" indent="-514350">
              <a:buFont typeface="+mj-lt"/>
              <a:buAutoNum type="arabicPeriod"/>
            </a:pPr>
            <a:r>
              <a:rPr lang="en-HK" sz="2800" dirty="0"/>
              <a:t>Assign </a:t>
            </a:r>
            <a:r>
              <a:rPr lang="en-HK" sz="2800" b="1" dirty="0"/>
              <a:t>non-functional constraints </a:t>
            </a:r>
            <a:r>
              <a:rPr lang="en-HK" sz="2800" dirty="0"/>
              <a:t>on sub-modules</a:t>
            </a:r>
          </a:p>
          <a:p>
            <a:pPr marL="977900" lvl="1" indent="-514350"/>
            <a:r>
              <a:rPr lang="en-HK" sz="2400" dirty="0"/>
              <a:t>E.g., Interoperating different models by the Controller should not affect the View module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75429-A466-2C21-C7C8-40F9E1680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56461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66414-0E22-5505-3F50-CD55BC39F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We also Observe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A9759-B45A-A089-6744-3BC6B9580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sz="2800" dirty="0"/>
              <a:t>In architecting, we </a:t>
            </a:r>
            <a:r>
              <a:rPr lang="en-HK" sz="2800" b="1" dirty="0"/>
              <a:t>neither </a:t>
            </a:r>
            <a:r>
              <a:rPr lang="en-HK" sz="2800" dirty="0"/>
              <a:t>work out </a:t>
            </a:r>
            <a:r>
              <a:rPr lang="en-HK" sz="2800" b="1" dirty="0"/>
              <a:t>nor</a:t>
            </a:r>
            <a:r>
              <a:rPr lang="en-HK" sz="2800" dirty="0"/>
              <a:t> decide the following:</a:t>
            </a:r>
          </a:p>
          <a:p>
            <a:endParaRPr lang="en-HK" sz="2800" dirty="0"/>
          </a:p>
          <a:p>
            <a:r>
              <a:rPr lang="en-HK" sz="2800" dirty="0"/>
              <a:t>How the functional requirement will be implemented </a:t>
            </a:r>
          </a:p>
          <a:p>
            <a:pPr lvl="1"/>
            <a:r>
              <a:rPr lang="en-HK" sz="2400" dirty="0"/>
              <a:t>e.g., don’t bother about the algorithms for software initialization or maintaining the model integrity</a:t>
            </a:r>
          </a:p>
          <a:p>
            <a:r>
              <a:rPr lang="en-HK" sz="2800" dirty="0"/>
              <a:t>How the non-functional requirement will be implemented</a:t>
            </a:r>
          </a:p>
          <a:p>
            <a:pPr lvl="1"/>
            <a:r>
              <a:rPr lang="en-HK" sz="2400" dirty="0"/>
              <a:t>We only assign the quality attributes and non-functional constraints with explanation/documentation to explain why they are necessary for the implementation to </a:t>
            </a:r>
            <a:r>
              <a:rPr lang="en-HK" sz="2400" dirty="0" err="1"/>
              <a:t>fulfill</a:t>
            </a:r>
            <a:r>
              <a:rPr lang="en-HK" sz="2400" dirty="0"/>
              <a:t> the non-functional requirement.</a:t>
            </a:r>
          </a:p>
          <a:p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EDEC7-6EAF-7C6B-0CAD-F4A479BF1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7154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034" name="Rectangle 2">
            <a:extLst>
              <a:ext uri="{FF2B5EF4-FFF2-40B4-BE49-F238E27FC236}">
                <a16:creationId xmlns:a16="http://schemas.microsoft.com/office/drawing/2014/main" id="{85FC2F41-BCF8-42EB-88B7-F46AFE718E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Software Architecture, definition</a:t>
            </a:r>
          </a:p>
        </p:txBody>
      </p:sp>
      <p:sp>
        <p:nvSpPr>
          <p:cNvPr id="684035" name="Rectangle 3">
            <a:extLst>
              <a:ext uri="{FF2B5EF4-FFF2-40B4-BE49-F238E27FC236}">
                <a16:creationId xmlns:a16="http://schemas.microsoft.com/office/drawing/2014/main" id="{6249953E-8C0A-4380-8AEF-D7B82A38CF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Tx/>
              <a:buChar char=" "/>
            </a:pPr>
            <a:r>
              <a:rPr lang="en-US" altLang="en-US" sz="2800" dirty="0"/>
              <a:t>Architecture is the </a:t>
            </a:r>
            <a:r>
              <a:rPr lang="en-US" sz="2800" b="1" dirty="0"/>
              <a:t>fundamental concepts or properties</a:t>
            </a:r>
            <a:r>
              <a:rPr lang="en-US" sz="2800" dirty="0"/>
              <a:t> of a system in its environment embodied in its </a:t>
            </a:r>
            <a:r>
              <a:rPr lang="en-US" sz="2800" dirty="0">
                <a:solidFill>
                  <a:srgbClr val="00B050"/>
                </a:solidFill>
              </a:rPr>
              <a:t>elements</a:t>
            </a:r>
            <a:r>
              <a:rPr lang="en-US" sz="2800" dirty="0"/>
              <a:t>, </a:t>
            </a:r>
            <a:r>
              <a:rPr lang="en-US" sz="2800" dirty="0">
                <a:solidFill>
                  <a:srgbClr val="00B0F0"/>
                </a:solidFill>
              </a:rPr>
              <a:t>relationships</a:t>
            </a:r>
            <a:r>
              <a:rPr lang="en-US" sz="2800" dirty="0"/>
              <a:t>, and in the </a:t>
            </a:r>
            <a:r>
              <a:rPr lang="en-US" sz="2800" dirty="0">
                <a:solidFill>
                  <a:srgbClr val="C00000"/>
                </a:solidFill>
              </a:rPr>
              <a:t>principles of its design and evolution.</a:t>
            </a:r>
          </a:p>
          <a:p>
            <a:pPr marL="342900" indent="-342900">
              <a:buFontTx/>
              <a:buChar char=" "/>
            </a:pPr>
            <a:endParaRPr lang="en-US" altLang="en-US" sz="2800" dirty="0"/>
          </a:p>
          <a:p>
            <a:pPr marL="342900" indent="-342900">
              <a:buFontTx/>
              <a:buChar char=" "/>
            </a:pPr>
            <a:r>
              <a:rPr lang="en-US" altLang="en-US" sz="2800" dirty="0"/>
              <a:t>(ISO/IEC/IEEE 42010 Systems and software engineering — Architecture description. (2011)</a:t>
            </a:r>
          </a:p>
          <a:p>
            <a:pPr marL="342900" indent="-342900">
              <a:buFontTx/>
              <a:buChar char=" "/>
            </a:pPr>
            <a:endParaRPr lang="en-US" altLang="en-US" sz="2800" dirty="0"/>
          </a:p>
          <a:p>
            <a:pPr marL="342900" indent="-342900">
              <a:buFontTx/>
              <a:buChar char=" "/>
            </a:pPr>
            <a:r>
              <a:rPr lang="en-US" altLang="en-US" sz="2800" dirty="0"/>
              <a:t>Evolution = maintenance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61AAA3-9F8C-4965-B52C-3DDE73838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04554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82" name="Rectangle 2">
            <a:extLst>
              <a:ext uri="{FF2B5EF4-FFF2-40B4-BE49-F238E27FC236}">
                <a16:creationId xmlns:a16="http://schemas.microsoft.com/office/drawing/2014/main" id="{810AB105-19C7-4386-ADFB-B9388EA3D0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Software Architecture</a:t>
            </a:r>
          </a:p>
        </p:txBody>
      </p:sp>
      <p:sp>
        <p:nvSpPr>
          <p:cNvPr id="686083" name="Rectangle 3">
            <a:extLst>
              <a:ext uri="{FF2B5EF4-FFF2-40B4-BE49-F238E27FC236}">
                <a16:creationId xmlns:a16="http://schemas.microsoft.com/office/drawing/2014/main" id="{785D89EE-C11D-4CD1-B854-664ADBCE7A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12750" y="1676400"/>
            <a:ext cx="9339262" cy="4953000"/>
          </a:xfrm>
        </p:spPr>
        <p:txBody>
          <a:bodyPr/>
          <a:lstStyle/>
          <a:p>
            <a:pPr marL="342900" indent="-342900"/>
            <a:r>
              <a:rPr lang="en-US" altLang="en-US" sz="2800" dirty="0"/>
              <a:t>Architecture is </a:t>
            </a:r>
            <a:r>
              <a:rPr lang="en-US" altLang="en-US" sz="2800" i="1" dirty="0"/>
              <a:t>conceptual</a:t>
            </a:r>
            <a:r>
              <a:rPr lang="en-US" altLang="en-US" sz="2800" dirty="0"/>
              <a:t>.</a:t>
            </a:r>
          </a:p>
          <a:p>
            <a:pPr marL="806450" lvl="1" indent="-342900"/>
            <a:r>
              <a:rPr lang="en-US" altLang="en-US" sz="2400" dirty="0"/>
              <a:t>e.g., We assign meanings to different modules so that their interactions tell the story of how the functional requirements and their quality-related concerns will be addressed.</a:t>
            </a:r>
          </a:p>
          <a:p>
            <a:pPr marL="342900" indent="-342900"/>
            <a:r>
              <a:rPr lang="en-US" altLang="en-US" sz="2800" dirty="0"/>
              <a:t>Architecture is about </a:t>
            </a:r>
            <a:r>
              <a:rPr lang="en-US" altLang="en-US" sz="2800" i="1" dirty="0"/>
              <a:t>fundamental</a:t>
            </a:r>
            <a:r>
              <a:rPr lang="en-US" altLang="en-US" sz="2800" dirty="0"/>
              <a:t> (important) things.</a:t>
            </a:r>
          </a:p>
          <a:p>
            <a:pPr marL="342900" indent="-342900"/>
            <a:r>
              <a:rPr lang="en-US" altLang="en-US" sz="2800" dirty="0"/>
              <a:t>Architecture exists in some </a:t>
            </a:r>
            <a:r>
              <a:rPr lang="en-US" altLang="en-US" sz="2800" i="1" dirty="0"/>
              <a:t>context</a:t>
            </a:r>
            <a:r>
              <a:rPr lang="en-US" altLang="en-US" sz="2800" dirty="0"/>
              <a:t>.</a:t>
            </a:r>
            <a:endParaRPr lang="en-US" altLang="en-US" sz="2400" dirty="0"/>
          </a:p>
          <a:p>
            <a:pPr marL="806450" lvl="1" indent="-342900"/>
            <a:r>
              <a:rPr lang="en-US" altLang="en-US" sz="2400" dirty="0"/>
              <a:t>E.g., Our architecture for “software initialization” may not make sense if it is a server-based batch-model application.</a:t>
            </a:r>
          </a:p>
          <a:p>
            <a:pPr marL="806450" lvl="1" indent="-342900"/>
            <a:r>
              <a:rPr lang="en-US" altLang="en-US" sz="2400" dirty="0"/>
              <a:t>Any non-trivial software system has an architecture. The context dictates whether the architecture is what the system needs.</a:t>
            </a:r>
          </a:p>
          <a:p>
            <a:pPr marL="0" indent="0">
              <a:buNone/>
            </a:pPr>
            <a:endParaRPr lang="en-US" altLang="en-US" sz="2800" dirty="0"/>
          </a:p>
          <a:p>
            <a:pPr marL="342900" indent="-342900"/>
            <a:endParaRPr lang="en-US" altLang="en-US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71E581-FC66-4F19-95CE-DC92517E2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833454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A System for </a:t>
            </a:r>
            <a:r>
              <a:rPr lang="en-HK" dirty="0">
                <a:solidFill>
                  <a:srgbClr val="0070C0"/>
                </a:solidFill>
              </a:rPr>
              <a:t>Sorting</a:t>
            </a:r>
            <a:r>
              <a:rPr lang="en-HK" dirty="0"/>
              <a:t> Data</a:t>
            </a:r>
            <a:br>
              <a:rPr lang="en-HK" dirty="0"/>
            </a:br>
            <a:r>
              <a:rPr lang="en-HK" dirty="0"/>
              <a:t>(with “vague” design requirements)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412750" y="1676400"/>
            <a:ext cx="9036050" cy="2362200"/>
          </a:xfrm>
        </p:spPr>
        <p:txBody>
          <a:bodyPr/>
          <a:lstStyle/>
          <a:p>
            <a:r>
              <a:rPr lang="en-HK" sz="2800" dirty="0"/>
              <a:t>The system should</a:t>
            </a:r>
          </a:p>
          <a:p>
            <a:pPr lvl="1"/>
            <a:r>
              <a:rPr lang="en-HK" sz="2400" dirty="0"/>
              <a:t>respond to users’ click and press quickly </a:t>
            </a:r>
          </a:p>
          <a:p>
            <a:pPr lvl="1"/>
            <a:r>
              <a:rPr lang="en-HK" sz="2400" dirty="0"/>
              <a:t>run efficiently with a small local memory footprint</a:t>
            </a:r>
          </a:p>
          <a:p>
            <a:pPr lvl="1"/>
            <a:r>
              <a:rPr lang="en-HK" sz="2400" dirty="0"/>
              <a:t>keep sorting results persistently and efficiently</a:t>
            </a:r>
          </a:p>
          <a:p>
            <a:endParaRPr lang="en-HK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2092325" y="4648200"/>
            <a:ext cx="1066800" cy="1600200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View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787775" y="4229100"/>
            <a:ext cx="1747921" cy="990600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Controller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3884612" y="5666282"/>
            <a:ext cx="1651084" cy="990600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HK" dirty="0">
                <a:solidFill>
                  <a:schemeClr val="tx1"/>
                </a:solidFill>
                <a:latin typeface="Times New Roman" pitchFamily="18" charset="0"/>
              </a:rPr>
              <a:t>Model</a:t>
            </a:r>
            <a:endParaRPr kumimoji="0" lang="en-HK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12" y="5076825"/>
            <a:ext cx="1063051" cy="742950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endCxn id="7" idx="1"/>
          </p:cNvCxnSpPr>
          <p:nvPr/>
        </p:nvCxnSpPr>
        <p:spPr bwMode="auto">
          <a:xfrm>
            <a:off x="1246475" y="5448300"/>
            <a:ext cx="84585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3"/>
            <a:endCxn id="9" idx="1"/>
          </p:cNvCxnSpPr>
          <p:nvPr/>
        </p:nvCxnSpPr>
        <p:spPr bwMode="auto">
          <a:xfrm>
            <a:off x="3159125" y="5448300"/>
            <a:ext cx="725487" cy="71328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Flowchart: Decision 16"/>
          <p:cNvSpPr/>
          <p:nvPr/>
        </p:nvSpPr>
        <p:spPr bwMode="auto">
          <a:xfrm>
            <a:off x="3656587" y="4572000"/>
            <a:ext cx="131188" cy="176759"/>
          </a:xfrm>
          <a:prstGeom prst="flowChartDecision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8" name="Flowchart: Decision 17"/>
          <p:cNvSpPr/>
          <p:nvPr/>
        </p:nvSpPr>
        <p:spPr bwMode="auto">
          <a:xfrm>
            <a:off x="4799587" y="5219700"/>
            <a:ext cx="131188" cy="176759"/>
          </a:xfrm>
          <a:prstGeom prst="flowChartDecision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20" name="Straight Arrow Connector 19"/>
          <p:cNvCxnSpPr>
            <a:stCxn id="17" idx="1"/>
          </p:cNvCxnSpPr>
          <p:nvPr/>
        </p:nvCxnSpPr>
        <p:spPr bwMode="auto">
          <a:xfrm flipH="1">
            <a:off x="3159125" y="4660380"/>
            <a:ext cx="497462" cy="4164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2"/>
          </p:cNvCxnSpPr>
          <p:nvPr/>
        </p:nvCxnSpPr>
        <p:spPr bwMode="auto">
          <a:xfrm>
            <a:off x="4865181" y="5396459"/>
            <a:ext cx="0" cy="269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099246" y="49355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800" dirty="0"/>
              <a:t>1…n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3133" y="581228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800" dirty="0"/>
              <a:t>1…n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17" y="6046857"/>
            <a:ext cx="2714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sz="2000" dirty="0"/>
              <a:t>Separate the UI to provide fast response</a:t>
            </a:r>
          </a:p>
        </p:txBody>
      </p:sp>
      <p:cxnSp>
        <p:nvCxnSpPr>
          <p:cNvPr id="27" name="Straight Connector 26"/>
          <p:cNvCxnSpPr>
            <a:stCxn id="25" idx="0"/>
          </p:cNvCxnSpPr>
          <p:nvPr/>
        </p:nvCxnSpPr>
        <p:spPr bwMode="auto">
          <a:xfrm flipV="1">
            <a:off x="1505873" y="5819775"/>
            <a:ext cx="586452" cy="227082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8" idx="3"/>
          </p:cNvCxnSpPr>
          <p:nvPr/>
        </p:nvCxnSpPr>
        <p:spPr bwMode="auto">
          <a:xfrm flipV="1">
            <a:off x="5535696" y="4278522"/>
            <a:ext cx="547381" cy="445878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33519" y="3784532"/>
            <a:ext cx="395397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sz="2000" dirty="0"/>
              <a:t>Choose runtime- and memory-efficient sorting algorithms (models) based on data characteristics</a:t>
            </a:r>
          </a:p>
        </p:txBody>
      </p:sp>
      <p:sp>
        <p:nvSpPr>
          <p:cNvPr id="31" name="Flowchart: Magnetic Disk 30"/>
          <p:cNvSpPr/>
          <p:nvPr/>
        </p:nvSpPr>
        <p:spPr bwMode="auto">
          <a:xfrm>
            <a:off x="6244176" y="5879579"/>
            <a:ext cx="838200" cy="560882"/>
          </a:xfrm>
          <a:prstGeom prst="flowChartMagneticDisk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33" name="Straight Connector 32"/>
          <p:cNvCxnSpPr>
            <a:stCxn id="9" idx="3"/>
            <a:endCxn id="31" idx="2"/>
          </p:cNvCxnSpPr>
          <p:nvPr/>
        </p:nvCxnSpPr>
        <p:spPr bwMode="auto">
          <a:xfrm flipV="1">
            <a:off x="5535696" y="6160020"/>
            <a:ext cx="708480" cy="1562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161212" y="6354633"/>
            <a:ext cx="1967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000" dirty="0"/>
              <a:t>persistent storage</a:t>
            </a:r>
          </a:p>
        </p:txBody>
      </p:sp>
      <p:sp>
        <p:nvSpPr>
          <p:cNvPr id="38" name="Flowchart: Decision 37"/>
          <p:cNvSpPr/>
          <p:nvPr/>
        </p:nvSpPr>
        <p:spPr bwMode="auto">
          <a:xfrm>
            <a:off x="5522466" y="6071641"/>
            <a:ext cx="131188" cy="176759"/>
          </a:xfrm>
          <a:prstGeom prst="flowChartDecision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-77788" y="3863514"/>
            <a:ext cx="21670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HK" sz="2000" dirty="0"/>
              <a:t>minimize dynamic rendering  and use thin UI framework</a:t>
            </a:r>
          </a:p>
        </p:txBody>
      </p:sp>
      <p:cxnSp>
        <p:nvCxnSpPr>
          <p:cNvPr id="40" name="Straight Connector 39"/>
          <p:cNvCxnSpPr>
            <a:stCxn id="39" idx="3"/>
            <a:endCxn id="7" idx="0"/>
          </p:cNvCxnSpPr>
          <p:nvPr/>
        </p:nvCxnSpPr>
        <p:spPr bwMode="auto">
          <a:xfrm>
            <a:off x="2089277" y="4371346"/>
            <a:ext cx="536448" cy="276854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69466" y="4969952"/>
            <a:ext cx="43450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HK" sz="2000" dirty="0"/>
              <a:t>Business domain: read data once, write data once for each sorting invocation</a:t>
            </a:r>
          </a:p>
        </p:txBody>
      </p:sp>
      <p:cxnSp>
        <p:nvCxnSpPr>
          <p:cNvPr id="48" name="Straight Connector 47"/>
          <p:cNvCxnSpPr>
            <a:cxnSpLocks/>
          </p:cNvCxnSpPr>
          <p:nvPr/>
        </p:nvCxnSpPr>
        <p:spPr bwMode="auto">
          <a:xfrm flipV="1">
            <a:off x="5496625" y="5323895"/>
            <a:ext cx="445387" cy="314905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738248" y="5848290"/>
            <a:ext cx="210987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HK" sz="2000" dirty="0"/>
              <a:t>file better than </a:t>
            </a:r>
            <a:r>
              <a:rPr lang="en-HK" sz="2000" dirty="0" err="1"/>
              <a:t>db</a:t>
            </a:r>
            <a:r>
              <a:rPr lang="en-HK" sz="2000" dirty="0"/>
              <a:t>?</a:t>
            </a:r>
          </a:p>
        </p:txBody>
      </p:sp>
      <p:cxnSp>
        <p:nvCxnSpPr>
          <p:cNvPr id="59" name="Straight Connector 58"/>
          <p:cNvCxnSpPr>
            <a:stCxn id="31" idx="4"/>
            <a:endCxn id="51" idx="1"/>
          </p:cNvCxnSpPr>
          <p:nvPr/>
        </p:nvCxnSpPr>
        <p:spPr bwMode="auto">
          <a:xfrm flipV="1">
            <a:off x="7082376" y="6048345"/>
            <a:ext cx="655872" cy="111675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31" idx="4"/>
          </p:cNvCxnSpPr>
          <p:nvPr/>
        </p:nvCxnSpPr>
        <p:spPr bwMode="auto">
          <a:xfrm>
            <a:off x="7082376" y="6160020"/>
            <a:ext cx="684942" cy="291512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317306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7" grpId="0" animBg="1"/>
      <p:bldP spid="18" grpId="0" animBg="1"/>
      <p:bldP spid="23" grpId="0"/>
      <p:bldP spid="24" grpId="0"/>
      <p:bldP spid="25" grpId="0"/>
      <p:bldP spid="30" grpId="0"/>
      <p:bldP spid="31" grpId="0" animBg="1"/>
      <p:bldP spid="34" grpId="0"/>
      <p:bldP spid="38" grpId="0" animBg="1"/>
      <p:bldP spid="39" grpId="0"/>
      <p:bldP spid="47" grpId="0"/>
      <p:bldP spid="5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A System for Sorting Data</a:t>
            </a:r>
            <a:br>
              <a:rPr lang="en-HK" dirty="0"/>
            </a:br>
            <a:r>
              <a:rPr lang="en-HK" dirty="0"/>
              <a:t>(with “vague” design requirements)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412750" y="1676400"/>
            <a:ext cx="9644062" cy="2362200"/>
          </a:xfrm>
        </p:spPr>
        <p:txBody>
          <a:bodyPr/>
          <a:lstStyle/>
          <a:p>
            <a:r>
              <a:rPr lang="en-HK" sz="2800" dirty="0"/>
              <a:t>More design requirements are identified during the design  </a:t>
            </a:r>
          </a:p>
          <a:p>
            <a:pPr lvl="1"/>
            <a:r>
              <a:rPr lang="en-US" altLang="en-US" sz="2400" dirty="0">
                <a:sym typeface="Symbol" panose="05050102010706020507" pitchFamily="18" charset="2"/>
              </a:rPr>
              <a:t>Lower-level, within user interface: high security  authenticate users</a:t>
            </a:r>
          </a:p>
          <a:p>
            <a:pPr lvl="1"/>
            <a:r>
              <a:rPr lang="en-US" altLang="en-US" sz="2400" dirty="0">
                <a:sym typeface="Symbol" panose="05050102010706020507" pitchFamily="18" charset="2"/>
              </a:rPr>
              <a:t>Lower-level, within the data layer: availability  active redundancy</a:t>
            </a:r>
          </a:p>
          <a:p>
            <a:endParaRPr lang="en-HK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7" name="Rectangle 6"/>
          <p:cNvSpPr/>
          <p:nvPr/>
        </p:nvSpPr>
        <p:spPr bwMode="auto">
          <a:xfrm>
            <a:off x="2092325" y="4648200"/>
            <a:ext cx="1066800" cy="1600200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View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3787775" y="4229100"/>
            <a:ext cx="1747921" cy="990600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Controller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3884612" y="5666282"/>
            <a:ext cx="1651084" cy="990600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HK" dirty="0">
                <a:solidFill>
                  <a:schemeClr val="tx1"/>
                </a:solidFill>
                <a:latin typeface="Times New Roman" pitchFamily="18" charset="0"/>
              </a:rPr>
              <a:t>Model</a:t>
            </a:r>
            <a:endParaRPr kumimoji="0" lang="en-HK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12" y="5076825"/>
            <a:ext cx="1063051" cy="742950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endCxn id="7" idx="1"/>
          </p:cNvCxnSpPr>
          <p:nvPr/>
        </p:nvCxnSpPr>
        <p:spPr bwMode="auto">
          <a:xfrm>
            <a:off x="1246475" y="5448300"/>
            <a:ext cx="84585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3"/>
            <a:endCxn id="9" idx="1"/>
          </p:cNvCxnSpPr>
          <p:nvPr/>
        </p:nvCxnSpPr>
        <p:spPr bwMode="auto">
          <a:xfrm>
            <a:off x="3159125" y="5448300"/>
            <a:ext cx="725487" cy="71328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Flowchart: Decision 16"/>
          <p:cNvSpPr/>
          <p:nvPr/>
        </p:nvSpPr>
        <p:spPr bwMode="auto">
          <a:xfrm>
            <a:off x="3656587" y="4572000"/>
            <a:ext cx="131188" cy="176759"/>
          </a:xfrm>
          <a:prstGeom prst="flowChartDecision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8" name="Flowchart: Decision 17"/>
          <p:cNvSpPr/>
          <p:nvPr/>
        </p:nvSpPr>
        <p:spPr bwMode="auto">
          <a:xfrm>
            <a:off x="4799587" y="5219700"/>
            <a:ext cx="131188" cy="176759"/>
          </a:xfrm>
          <a:prstGeom prst="flowChartDecision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20" name="Straight Arrow Connector 19"/>
          <p:cNvCxnSpPr>
            <a:stCxn id="17" idx="1"/>
          </p:cNvCxnSpPr>
          <p:nvPr/>
        </p:nvCxnSpPr>
        <p:spPr bwMode="auto">
          <a:xfrm flipH="1">
            <a:off x="3159125" y="4660380"/>
            <a:ext cx="497462" cy="4164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8" idx="2"/>
          </p:cNvCxnSpPr>
          <p:nvPr/>
        </p:nvCxnSpPr>
        <p:spPr bwMode="auto">
          <a:xfrm>
            <a:off x="4865181" y="5396459"/>
            <a:ext cx="0" cy="2698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099246" y="49355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800" dirty="0"/>
              <a:t>1…n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3133" y="581228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800" dirty="0"/>
              <a:t>1…n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17" y="6046857"/>
            <a:ext cx="2714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sz="2000" dirty="0"/>
              <a:t>Separate the UI to provide fast response</a:t>
            </a:r>
          </a:p>
        </p:txBody>
      </p:sp>
      <p:cxnSp>
        <p:nvCxnSpPr>
          <p:cNvPr id="27" name="Straight Connector 26"/>
          <p:cNvCxnSpPr>
            <a:stCxn id="25" idx="0"/>
          </p:cNvCxnSpPr>
          <p:nvPr/>
        </p:nvCxnSpPr>
        <p:spPr bwMode="auto">
          <a:xfrm flipV="1">
            <a:off x="1505873" y="5819775"/>
            <a:ext cx="586452" cy="227082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8" idx="0"/>
            <a:endCxn id="30" idx="1"/>
          </p:cNvCxnSpPr>
          <p:nvPr/>
        </p:nvCxnSpPr>
        <p:spPr bwMode="auto">
          <a:xfrm flipV="1">
            <a:off x="4661736" y="3675171"/>
            <a:ext cx="773863" cy="553929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35599" y="3167339"/>
            <a:ext cx="432569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sz="2000" dirty="0"/>
              <a:t>Choose runtime- and memory-efficient algorithms (models) based on data characteristics</a:t>
            </a:r>
          </a:p>
        </p:txBody>
      </p:sp>
      <p:sp>
        <p:nvSpPr>
          <p:cNvPr id="31" name="Flowchart: Magnetic Disk 30"/>
          <p:cNvSpPr/>
          <p:nvPr/>
        </p:nvSpPr>
        <p:spPr bwMode="auto">
          <a:xfrm>
            <a:off x="6244176" y="5879579"/>
            <a:ext cx="838200" cy="560882"/>
          </a:xfrm>
          <a:prstGeom prst="flowChartMagneticDisk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33" name="Straight Connector 32"/>
          <p:cNvCxnSpPr>
            <a:stCxn id="9" idx="3"/>
            <a:endCxn id="31" idx="2"/>
          </p:cNvCxnSpPr>
          <p:nvPr/>
        </p:nvCxnSpPr>
        <p:spPr bwMode="auto">
          <a:xfrm flipV="1">
            <a:off x="5535696" y="6160020"/>
            <a:ext cx="708480" cy="1562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170542" y="6388591"/>
            <a:ext cx="1967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000" dirty="0"/>
              <a:t>persistent storage</a:t>
            </a:r>
          </a:p>
        </p:txBody>
      </p:sp>
      <p:sp>
        <p:nvSpPr>
          <p:cNvPr id="38" name="Flowchart: Decision 37"/>
          <p:cNvSpPr/>
          <p:nvPr/>
        </p:nvSpPr>
        <p:spPr bwMode="auto">
          <a:xfrm>
            <a:off x="5522466" y="6071641"/>
            <a:ext cx="131188" cy="176759"/>
          </a:xfrm>
          <a:prstGeom prst="flowChartDecision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-77788" y="3863514"/>
            <a:ext cx="21670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HK" sz="2000" dirty="0"/>
              <a:t>minimize dynamic rendering  and use thin framework</a:t>
            </a:r>
          </a:p>
        </p:txBody>
      </p:sp>
      <p:cxnSp>
        <p:nvCxnSpPr>
          <p:cNvPr id="40" name="Straight Connector 39"/>
          <p:cNvCxnSpPr>
            <a:stCxn id="39" idx="3"/>
            <a:endCxn id="7" idx="0"/>
          </p:cNvCxnSpPr>
          <p:nvPr/>
        </p:nvCxnSpPr>
        <p:spPr bwMode="auto">
          <a:xfrm>
            <a:off x="2089277" y="4371346"/>
            <a:ext cx="536448" cy="276854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167139" y="4363230"/>
            <a:ext cx="35830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HK" sz="2000" dirty="0"/>
              <a:t>read data once, write data once for each sorting invocation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 flipV="1">
            <a:off x="5496625" y="4782331"/>
            <a:ext cx="1382305" cy="856469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738248" y="5848290"/>
            <a:ext cx="199605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HK" sz="2000" dirty="0"/>
              <a:t>file better than </a:t>
            </a:r>
            <a:r>
              <a:rPr lang="en-HK" sz="2000" dirty="0" err="1"/>
              <a:t>db</a:t>
            </a:r>
            <a:endParaRPr lang="en-HK" sz="2000" dirty="0"/>
          </a:p>
        </p:txBody>
      </p:sp>
      <p:cxnSp>
        <p:nvCxnSpPr>
          <p:cNvPr id="59" name="Straight Connector 58"/>
          <p:cNvCxnSpPr>
            <a:stCxn id="31" idx="4"/>
            <a:endCxn id="51" idx="1"/>
          </p:cNvCxnSpPr>
          <p:nvPr/>
        </p:nvCxnSpPr>
        <p:spPr bwMode="auto">
          <a:xfrm flipV="1">
            <a:off x="7082376" y="6048345"/>
            <a:ext cx="655872" cy="111675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 bwMode="auto">
          <a:xfrm flipV="1">
            <a:off x="6681590" y="5756442"/>
            <a:ext cx="655872" cy="111675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82376" y="5351557"/>
            <a:ext cx="2195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000" b="1" dirty="0"/>
              <a:t>active redundancy</a:t>
            </a:r>
          </a:p>
        </p:txBody>
      </p:sp>
      <p:cxnSp>
        <p:nvCxnSpPr>
          <p:cNvPr id="36" name="Straight Connector 35"/>
          <p:cNvCxnSpPr>
            <a:stCxn id="31" idx="4"/>
          </p:cNvCxnSpPr>
          <p:nvPr/>
        </p:nvCxnSpPr>
        <p:spPr bwMode="auto">
          <a:xfrm>
            <a:off x="7082376" y="6160020"/>
            <a:ext cx="1221836" cy="385058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 bwMode="auto">
          <a:xfrm>
            <a:off x="2667923" y="4140369"/>
            <a:ext cx="205009" cy="486672"/>
          </a:xfrm>
          <a:prstGeom prst="line">
            <a:avLst/>
          </a:prstGeom>
          <a:ln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947670" y="3757440"/>
            <a:ext cx="21670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HK" sz="2000" b="1" dirty="0"/>
              <a:t>authenticate users</a:t>
            </a:r>
          </a:p>
        </p:txBody>
      </p:sp>
    </p:spTree>
    <p:extLst>
      <p:ext uri="{BB962C8B-B14F-4D97-AF65-F5344CB8AC3E}">
        <p14:creationId xmlns:p14="http://schemas.microsoft.com/office/powerpoint/2010/main" val="1085202888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FE31D-FEB5-621A-8EE2-C57A84E11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A System for Sorting Data</a:t>
            </a:r>
            <a:br>
              <a:rPr lang="en-HK" dirty="0"/>
            </a:br>
            <a:r>
              <a:rPr lang="en-HK" dirty="0"/>
              <a:t>(with “vague” design requirements)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AC095-71D9-BBC1-9A47-93F0FDE2D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49" y="1676400"/>
            <a:ext cx="8653463" cy="4953000"/>
          </a:xfrm>
        </p:spPr>
        <p:txBody>
          <a:bodyPr/>
          <a:lstStyle/>
          <a:p>
            <a:r>
              <a:rPr lang="en-US" sz="2800" dirty="0"/>
              <a:t>We may gradually explore more and more “design requirements” and refine our system to meet each design requirement </a:t>
            </a:r>
          </a:p>
          <a:p>
            <a:r>
              <a:rPr lang="en-US" sz="2800" dirty="0"/>
              <a:t>E.g., the sorting result should be correct</a:t>
            </a:r>
          </a:p>
          <a:p>
            <a:pPr lvl="1"/>
            <a:r>
              <a:rPr lang="en-US" sz="2400" dirty="0"/>
              <a:t>Strategy A: Test the system with many test cases</a:t>
            </a:r>
          </a:p>
          <a:p>
            <a:pPr lvl="2"/>
            <a:r>
              <a:rPr lang="en-US" dirty="0"/>
              <a:t>=&gt; The project itself should satisfy some quality attributes. Or the code should be testable and conduct sufficient testing in the development process =&gt; Testability</a:t>
            </a:r>
          </a:p>
          <a:p>
            <a:pPr lvl="1"/>
            <a:r>
              <a:rPr lang="en-US" sz="2400" dirty="0"/>
              <a:t>Strategy B: “Controller” with N-version programming after deployment</a:t>
            </a:r>
          </a:p>
          <a:p>
            <a:pPr lvl="2"/>
            <a:r>
              <a:rPr lang="en-US" dirty="0"/>
              <a:t>“N” different sorting algorithms are implemented, and Controller picks the most consistent results as the output.</a:t>
            </a:r>
          </a:p>
          <a:p>
            <a:pPr lvl="2"/>
            <a:endParaRPr lang="en-HK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C73E1-4354-B1FD-BB2E-05098BDD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290269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F1507-5C6E-49C8-B499-99D9E2CA8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How Do Software Architects View Their Jobs?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DEB47-3BB0-4E97-AF49-981BF51FE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sz="2800" dirty="0"/>
              <a:t>Examples:</a:t>
            </a:r>
          </a:p>
          <a:p>
            <a:pPr lvl="1"/>
            <a:r>
              <a:rPr lang="en-HK" sz="2400" dirty="0">
                <a:hlinkClick r:id="rId2"/>
              </a:rPr>
              <a:t>https://medium.com/@nvashanin/the-path-to-becoming-a-software-architect-de53f1cb310a</a:t>
            </a:r>
            <a:endParaRPr lang="en-HK" sz="2400" dirty="0"/>
          </a:p>
          <a:p>
            <a:pPr lvl="1"/>
            <a:r>
              <a:rPr lang="en-HK" sz="2400" dirty="0">
                <a:hlinkClick r:id="rId3"/>
              </a:rPr>
              <a:t>https://www.jobhero.com/job-description/examples/computer-software/software-architect</a:t>
            </a:r>
            <a:r>
              <a:rPr lang="en-HK" sz="2400" dirty="0"/>
              <a:t> </a:t>
            </a:r>
          </a:p>
          <a:p>
            <a:pPr lvl="1"/>
            <a:r>
              <a:rPr lang="en-HK" sz="2400" dirty="0">
                <a:hlinkClick r:id="rId4"/>
              </a:rPr>
              <a:t>https://www.redhat.com/architect/what-is-software-architect</a:t>
            </a:r>
            <a:r>
              <a:rPr lang="en-HK" sz="2400" dirty="0"/>
              <a:t> (see next slide)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869A0-AF14-4B1E-9353-4E651F373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492021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B2A4F-8452-40A8-811F-6B606EF38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Skillset of </a:t>
            </a:r>
            <a:br>
              <a:rPr lang="en-HK" dirty="0"/>
            </a:br>
            <a:r>
              <a:rPr lang="en-HK" dirty="0"/>
              <a:t>Software Architects</a:t>
            </a:r>
          </a:p>
        </p:txBody>
      </p:sp>
      <p:pic>
        <p:nvPicPr>
          <p:cNvPr id="6" name="Content Placeholder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1805F87B-0DDE-43F1-A0BA-F53175812A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612" y="1569761"/>
            <a:ext cx="3116687" cy="18497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6E4EE-D5B1-4834-8B7C-974C917F7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7" name="AutoShape 2" descr="Red Hat logo">
            <a:extLst>
              <a:ext uri="{FF2B5EF4-FFF2-40B4-BE49-F238E27FC236}">
                <a16:creationId xmlns:a16="http://schemas.microsoft.com/office/drawing/2014/main" id="{869364CE-951B-4D36-9B4C-1D2C657744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99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HK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E8DF8D-B670-472A-A03E-C68C532C16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12" y="1417361"/>
            <a:ext cx="1287887" cy="30480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39FC9235-A273-48B7-8065-D3C3B6C71ED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50" y="3562350"/>
            <a:ext cx="3808413" cy="2883570"/>
          </a:xfrm>
          <a:prstGeom prst="rect">
            <a:avLst/>
          </a:prstGeom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62AD31F9-F954-47C5-89A2-C92425CC51E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8150" y="1462087"/>
            <a:ext cx="3598384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510631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E4FA4-6DFE-4698-A7EB-DD5D17B7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Jobs advertised in Hong Kong</a:t>
            </a:r>
          </a:p>
        </p:txBody>
      </p:sp>
      <p:pic>
        <p:nvPicPr>
          <p:cNvPr id="6" name="Content Placeholder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7E03EDDA-3B5B-484E-96E7-163AF250FD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59"/>
          <a:stretch/>
        </p:blipFill>
        <p:spPr>
          <a:xfrm>
            <a:off x="1911822" y="1869917"/>
            <a:ext cx="7992590" cy="177665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8A9C4-5CD2-4D8C-A30B-73D0C3D1A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10" name="Picture 9" descr="Text, letter&#10;&#10;Description automatically generated">
            <a:extLst>
              <a:ext uri="{FF2B5EF4-FFF2-40B4-BE49-F238E27FC236}">
                <a16:creationId xmlns:a16="http://schemas.microsoft.com/office/drawing/2014/main" id="{AA7A5C0B-912D-4F1C-B392-F756056F77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9927" y="3646567"/>
            <a:ext cx="7916380" cy="27721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CF453F3-5B89-4794-A5C2-07EC44B35E5F}"/>
              </a:ext>
            </a:extLst>
          </p:cNvPr>
          <p:cNvSpPr txBox="1"/>
          <p:nvPr/>
        </p:nvSpPr>
        <p:spPr>
          <a:xfrm>
            <a:off x="1002187" y="1397636"/>
            <a:ext cx="7867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Lead Software Architect</a:t>
            </a:r>
            <a:endParaRPr lang="en-HK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8A36408C-7F94-4EBB-98DA-C4BEFBD6E24A}"/>
              </a:ext>
            </a:extLst>
          </p:cNvPr>
          <p:cNvSpPr/>
          <p:nvPr/>
        </p:nvSpPr>
        <p:spPr bwMode="auto">
          <a:xfrm>
            <a:off x="1528211" y="4343400"/>
            <a:ext cx="421716" cy="130155"/>
          </a:xfrm>
          <a:prstGeom prst="leftBrac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D75509-FBA2-42B3-B8EF-EB487F8F622B}"/>
              </a:ext>
            </a:extLst>
          </p:cNvPr>
          <p:cNvSpPr txBox="1"/>
          <p:nvPr/>
        </p:nvSpPr>
        <p:spPr>
          <a:xfrm>
            <a:off x="-126776" y="3383340"/>
            <a:ext cx="22579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dirty="0"/>
              <a:t>Technical lead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62962C-0ABE-4D9A-8072-332BEF461BD5}"/>
              </a:ext>
            </a:extLst>
          </p:cNvPr>
          <p:cNvSpPr txBox="1"/>
          <p:nvPr/>
        </p:nvSpPr>
        <p:spPr>
          <a:xfrm>
            <a:off x="-28258" y="4117231"/>
            <a:ext cx="15183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dirty="0"/>
              <a:t>Architect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8325649-8B12-478C-BCCC-17EBD05D9B68}"/>
              </a:ext>
            </a:extLst>
          </p:cNvPr>
          <p:cNvCxnSpPr>
            <a:stCxn id="14" idx="2"/>
          </p:cNvCxnSpPr>
          <p:nvPr/>
        </p:nvCxnSpPr>
        <p:spPr bwMode="auto">
          <a:xfrm>
            <a:off x="1002187" y="3906560"/>
            <a:ext cx="909635" cy="210671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2DB35E3-B1EE-4E2F-A50C-D8EE7F676E8E}"/>
              </a:ext>
            </a:extLst>
          </p:cNvPr>
          <p:cNvSpPr txBox="1"/>
          <p:nvPr/>
        </p:nvSpPr>
        <p:spPr>
          <a:xfrm>
            <a:off x="-126777" y="4701942"/>
            <a:ext cx="186584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HK" dirty="0"/>
              <a:t>Both frontend and backend developers</a:t>
            </a: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A14D3019-0504-48BA-ADFD-E768D3585961}"/>
              </a:ext>
            </a:extLst>
          </p:cNvPr>
          <p:cNvSpPr/>
          <p:nvPr/>
        </p:nvSpPr>
        <p:spPr bwMode="auto">
          <a:xfrm>
            <a:off x="1739068" y="4750177"/>
            <a:ext cx="210858" cy="618867"/>
          </a:xfrm>
          <a:prstGeom prst="leftBrac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C15F4EC-10CA-4A32-BE7C-C51E5C8E961E}"/>
              </a:ext>
            </a:extLst>
          </p:cNvPr>
          <p:cNvCxnSpPr>
            <a:cxnSpLocks/>
          </p:cNvCxnSpPr>
          <p:nvPr/>
        </p:nvCxnSpPr>
        <p:spPr bwMode="auto">
          <a:xfrm>
            <a:off x="1528211" y="4455076"/>
            <a:ext cx="421715" cy="1717124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56222A9-D570-4885-9C1D-DECF2C4394ED}"/>
              </a:ext>
            </a:extLst>
          </p:cNvPr>
          <p:cNvSpPr txBox="1"/>
          <p:nvPr/>
        </p:nvSpPr>
        <p:spPr>
          <a:xfrm>
            <a:off x="7694612" y="5229531"/>
            <a:ext cx="1867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400" dirty="0"/>
              <a:t>Agile process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2E90364-27F8-4E77-8AEC-B3BAFF0B78AD}"/>
              </a:ext>
            </a:extLst>
          </p:cNvPr>
          <p:cNvCxnSpPr>
            <a:cxnSpLocks/>
            <a:stCxn id="26" idx="1"/>
          </p:cNvCxnSpPr>
          <p:nvPr/>
        </p:nvCxnSpPr>
        <p:spPr bwMode="auto">
          <a:xfrm flipH="1">
            <a:off x="7427913" y="5460364"/>
            <a:ext cx="266699" cy="293819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8CA630D-A022-4D81-904F-F8846AAFD8FC}"/>
              </a:ext>
            </a:extLst>
          </p:cNvPr>
          <p:cNvSpPr txBox="1"/>
          <p:nvPr/>
        </p:nvSpPr>
        <p:spPr>
          <a:xfrm>
            <a:off x="-47351" y="1903857"/>
            <a:ext cx="17864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HK" sz="2400" dirty="0"/>
              <a:t>Work with customers and team members</a:t>
            </a: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492488CE-D7C9-4AEA-A62A-CAF9C06E14EA}"/>
              </a:ext>
            </a:extLst>
          </p:cNvPr>
          <p:cNvSpPr/>
          <p:nvPr/>
        </p:nvSpPr>
        <p:spPr bwMode="auto">
          <a:xfrm>
            <a:off x="1739068" y="2427077"/>
            <a:ext cx="210858" cy="1008819"/>
          </a:xfrm>
          <a:prstGeom prst="leftBrac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838059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6409E-4ECE-69E6-E7BF-000906CE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Jobs advertised in Hong Kong</a:t>
            </a:r>
            <a:endParaRPr lang="en-HK" dirty="0"/>
          </a:p>
        </p:txBody>
      </p:sp>
      <p:pic>
        <p:nvPicPr>
          <p:cNvPr id="6" name="Content Placeholder 5" descr="A white paper with black text&#10;&#10;Description automatically generated">
            <a:extLst>
              <a:ext uri="{FF2B5EF4-FFF2-40B4-BE49-F238E27FC236}">
                <a16:creationId xmlns:a16="http://schemas.microsoft.com/office/drawing/2014/main" id="{351FFBD1-4608-BFDA-5556-FCDD0699B4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412" y="1600200"/>
            <a:ext cx="3175221" cy="49530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8BF9F5-C372-05B9-4180-3862952CF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5C1660-51E4-6C71-3FD9-D92FB09E5E5A}"/>
              </a:ext>
            </a:extLst>
          </p:cNvPr>
          <p:cNvSpPr txBox="1"/>
          <p:nvPr/>
        </p:nvSpPr>
        <p:spPr>
          <a:xfrm>
            <a:off x="6018212" y="5562600"/>
            <a:ext cx="1867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400" dirty="0"/>
              <a:t>Agile process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BF6B267-B754-F1E4-008F-2EF6124A2D5B}"/>
              </a:ext>
            </a:extLst>
          </p:cNvPr>
          <p:cNvCxnSpPr>
            <a:cxnSpLocks/>
            <a:stCxn id="7" idx="1"/>
          </p:cNvCxnSpPr>
          <p:nvPr/>
        </p:nvCxnSpPr>
        <p:spPr bwMode="auto">
          <a:xfrm flipH="1">
            <a:off x="5751513" y="5793433"/>
            <a:ext cx="266699" cy="293819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Left Brace 8">
            <a:extLst>
              <a:ext uri="{FF2B5EF4-FFF2-40B4-BE49-F238E27FC236}">
                <a16:creationId xmlns:a16="http://schemas.microsoft.com/office/drawing/2014/main" id="{C58BEDDD-2D65-B430-1BBB-17909E826E00}"/>
              </a:ext>
            </a:extLst>
          </p:cNvPr>
          <p:cNvSpPr/>
          <p:nvPr/>
        </p:nvSpPr>
        <p:spPr bwMode="auto">
          <a:xfrm>
            <a:off x="2271541" y="2590801"/>
            <a:ext cx="393871" cy="304800"/>
          </a:xfrm>
          <a:prstGeom prst="leftBrac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C5D710-579D-3C36-7A9E-4FAB4D07FBD5}"/>
              </a:ext>
            </a:extLst>
          </p:cNvPr>
          <p:cNvSpPr txBox="1"/>
          <p:nvPr/>
        </p:nvSpPr>
        <p:spPr>
          <a:xfrm>
            <a:off x="379412" y="2451011"/>
            <a:ext cx="1976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dirty="0"/>
              <a:t>Architecture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CCC772EE-B061-0D4A-1748-AAC7AF9B2B14}"/>
              </a:ext>
            </a:extLst>
          </p:cNvPr>
          <p:cNvSpPr/>
          <p:nvPr/>
        </p:nvSpPr>
        <p:spPr bwMode="auto">
          <a:xfrm>
            <a:off x="2331100" y="3505200"/>
            <a:ext cx="393871" cy="304800"/>
          </a:xfrm>
          <a:prstGeom prst="leftBrac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557295-5913-F45C-1856-AEC1C750C470}"/>
              </a:ext>
            </a:extLst>
          </p:cNvPr>
          <p:cNvSpPr txBox="1"/>
          <p:nvPr/>
        </p:nvSpPr>
        <p:spPr>
          <a:xfrm>
            <a:off x="74612" y="3359242"/>
            <a:ext cx="23775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dirty="0"/>
              <a:t>Non-functional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64B7C33E-1192-E437-CD1D-7A54B28B5B00}"/>
              </a:ext>
            </a:extLst>
          </p:cNvPr>
          <p:cNvSpPr/>
          <p:nvPr/>
        </p:nvSpPr>
        <p:spPr bwMode="auto">
          <a:xfrm>
            <a:off x="2327055" y="3882462"/>
            <a:ext cx="407172" cy="72188"/>
          </a:xfrm>
          <a:prstGeom prst="leftBrac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562F74-DB8A-3D02-704B-0E37E8EA6627}"/>
              </a:ext>
            </a:extLst>
          </p:cNvPr>
          <p:cNvSpPr txBox="1"/>
          <p:nvPr/>
        </p:nvSpPr>
        <p:spPr>
          <a:xfrm>
            <a:off x="351789" y="3655167"/>
            <a:ext cx="1976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210588224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D0CE9-75E0-479E-2CD5-7D09D784B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Architect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1C2FF-3590-D663-5493-B8DB72743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Responsible for all technical high-level design decisions for a system </a:t>
            </a:r>
          </a:p>
          <a:p>
            <a:pPr lvl="1"/>
            <a:r>
              <a:rPr lang="en-US" sz="2400" dirty="0"/>
              <a:t>High-level = the architectural level </a:t>
            </a:r>
          </a:p>
          <a:p>
            <a:pPr lvl="1"/>
            <a:r>
              <a:rPr lang="en-US" sz="2400" dirty="0"/>
              <a:t>All decisions made now or deferred to a later time</a:t>
            </a:r>
          </a:p>
          <a:p>
            <a:pPr lvl="1"/>
            <a:r>
              <a:rPr lang="en-HK" sz="2400" dirty="0"/>
              <a:t>Lead the system to evolve in the right direction</a:t>
            </a:r>
          </a:p>
          <a:p>
            <a:r>
              <a:rPr lang="en-HK" sz="2800" dirty="0"/>
              <a:t>Know the business impact of the </a:t>
            </a:r>
            <a:r>
              <a:rPr lang="en-US" sz="2800" dirty="0"/>
              <a:t>technical </a:t>
            </a:r>
            <a:r>
              <a:rPr lang="en-HK" sz="2800" dirty="0"/>
              <a:t>decision</a:t>
            </a:r>
          </a:p>
          <a:p>
            <a:pPr lvl="1"/>
            <a:r>
              <a:rPr lang="en-HK" sz="2400" dirty="0"/>
              <a:t>E.g., Make Decision 1 for user story 2 may harden the possible solution for user story 3, good? Not good? </a:t>
            </a:r>
          </a:p>
          <a:p>
            <a:r>
              <a:rPr lang="en-HK" sz="2800" dirty="0"/>
              <a:t>Embrace, anticipate, and manage changes (and their risks)</a:t>
            </a:r>
          </a:p>
          <a:p>
            <a:r>
              <a:rPr lang="en-HK" sz="2800" dirty="0"/>
              <a:t>As the promotor and communicator of project vision among stakeholders (including developers)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5C279-8A64-8FFE-B7C3-BC0CF2FCC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017112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14837-292B-E02A-3E4E-9B15B00C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Attention to your Course Project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A00FC-6C7B-E16F-0636-54FBD5A63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latin typeface="+mj-lt"/>
              </a:rPr>
              <a:t>Document your architectural decisions in the final report</a:t>
            </a:r>
          </a:p>
          <a:p>
            <a:pPr lvl="1"/>
            <a:r>
              <a:rPr lang="en-US" sz="2400" dirty="0">
                <a:latin typeface="+mj-lt"/>
              </a:rPr>
              <a:t>Start planning your system decomposition in Sprint 1</a:t>
            </a:r>
          </a:p>
          <a:p>
            <a:pPr lvl="1"/>
            <a:r>
              <a:rPr lang="en-US" sz="2400" b="0" i="0" u="none" strike="noStrike" baseline="0" dirty="0">
                <a:latin typeface="+mj-lt"/>
              </a:rPr>
              <a:t>The </a:t>
            </a:r>
            <a:r>
              <a:rPr lang="en-US" sz="2400" dirty="0">
                <a:latin typeface="+mj-lt"/>
              </a:rPr>
              <a:t>s</a:t>
            </a:r>
            <a:r>
              <a:rPr lang="en-US" sz="2400" b="0" i="0" u="none" strike="noStrike" baseline="0" dirty="0">
                <a:latin typeface="+mj-lt"/>
              </a:rPr>
              <a:t>ystem decomposition you made; the tradeoff of the current system decomposition versus some other system decompositions  you have considered </a:t>
            </a:r>
          </a:p>
          <a:p>
            <a:pPr lvl="1"/>
            <a:r>
              <a:rPr lang="en-US" sz="2400" dirty="0">
                <a:latin typeface="+mj-lt"/>
              </a:rPr>
              <a:t>The architectural style and patterns adopted in your system decomposition</a:t>
            </a:r>
          </a:p>
          <a:p>
            <a:pPr lvl="1"/>
            <a:r>
              <a:rPr lang="en-US" sz="2400" dirty="0">
                <a:latin typeface="+mj-lt"/>
              </a:rPr>
              <a:t> E.g., How does</a:t>
            </a:r>
            <a:r>
              <a:rPr lang="en-US" sz="2400" b="0" i="0" u="none" strike="noStrike" baseline="0" dirty="0">
                <a:latin typeface="+mj-lt"/>
              </a:rPr>
              <a:t> your system </a:t>
            </a:r>
            <a:r>
              <a:rPr lang="en-US" sz="2400" dirty="0">
                <a:latin typeface="+mj-lt"/>
              </a:rPr>
              <a:t>decomposition support high </a:t>
            </a:r>
            <a:r>
              <a:rPr lang="en-US" sz="2400" b="0" i="0" u="none" strike="noStrike" baseline="0" dirty="0">
                <a:latin typeface="+mj-lt"/>
              </a:rPr>
              <a:t>“scalability”? Any specific architectural style or tradeoff points you made?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E2377-24C8-38FA-B967-4CE6C0886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277617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8109D26-4B14-4938-848C-F55BCA7CEDEF}"/>
              </a:ext>
            </a:extLst>
          </p:cNvPr>
          <p:cNvSpPr>
            <a:spLocks noGrp="1"/>
          </p:cNvSpPr>
          <p:nvPr>
            <p:ph type="ctrTitle" sz="quarter"/>
          </p:nvPr>
        </p:nvSpPr>
        <p:spPr>
          <a:xfrm>
            <a:off x="381000" y="381000"/>
            <a:ext cx="9371012" cy="3048000"/>
          </a:xfrm>
        </p:spPr>
        <p:txBody>
          <a:bodyPr/>
          <a:lstStyle/>
          <a:p>
            <a:r>
              <a:rPr lang="en-HK" dirty="0"/>
              <a:t>Architecture Exercise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A5722-9043-49AB-A0E0-3E103202D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508296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10B59-58AD-47E2-A461-167182BE9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750" y="266700"/>
            <a:ext cx="9415462" cy="1104900"/>
          </a:xfrm>
        </p:spPr>
        <p:txBody>
          <a:bodyPr/>
          <a:lstStyle/>
          <a:p>
            <a:r>
              <a:rPr lang="en-HK" dirty="0"/>
              <a:t>Design A Two-Bed Room Apartment.</a:t>
            </a:r>
            <a:br>
              <a:rPr lang="en-HK" dirty="0"/>
            </a:br>
            <a:r>
              <a:rPr lang="en-HK" dirty="0"/>
              <a:t>What Will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38431-B828-4625-AE37-F7691AA75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sz="2800" dirty="0"/>
              <a:t>You have given the following floor plan of an apartment</a:t>
            </a:r>
          </a:p>
          <a:p>
            <a:r>
              <a:rPr lang="en-HK" sz="2800" dirty="0"/>
              <a:t>Require to keep all existing walls (you can add doors)</a:t>
            </a:r>
          </a:p>
          <a:p>
            <a:r>
              <a:rPr lang="en-HK" sz="2800" dirty="0"/>
              <a:t>Need 1 x Dining/living room (D), 2 x Sleeping Rooms (R), 1 x Kitchen (K), and  1 x Bathroom/toilet (T)</a:t>
            </a:r>
          </a:p>
          <a:p>
            <a:endParaRPr lang="en-HK" sz="2800" dirty="0"/>
          </a:p>
          <a:p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7E073-AB09-469F-8F31-FC47D728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F90FD0-A89A-43EE-9A46-8E4FCD20220E}"/>
              </a:ext>
            </a:extLst>
          </p:cNvPr>
          <p:cNvGrpSpPr/>
          <p:nvPr/>
        </p:nvGrpSpPr>
        <p:grpSpPr>
          <a:xfrm>
            <a:off x="6155046" y="4144399"/>
            <a:ext cx="2545733" cy="2408801"/>
            <a:chOff x="836612" y="2382088"/>
            <a:chExt cx="2545733" cy="240880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13446A5-B5F0-4EA8-ADDB-48D3593BD4C4}"/>
                </a:ext>
              </a:extLst>
            </p:cNvPr>
            <p:cNvGrpSpPr/>
            <p:nvPr/>
          </p:nvGrpSpPr>
          <p:grpSpPr>
            <a:xfrm>
              <a:off x="836612" y="2382088"/>
              <a:ext cx="2545733" cy="2408801"/>
              <a:chOff x="54680" y="2382088"/>
              <a:chExt cx="6388492" cy="2408801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6343907-2E65-4541-A293-F1FDB57DBD7E}"/>
                  </a:ext>
                </a:extLst>
              </p:cNvPr>
              <p:cNvSpPr/>
              <p:nvPr/>
            </p:nvSpPr>
            <p:spPr bwMode="auto">
              <a:xfrm>
                <a:off x="210627" y="3220288"/>
                <a:ext cx="3048000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542A4E3-D4B3-4246-AD45-8D0C94145C6C}"/>
                  </a:ext>
                </a:extLst>
              </p:cNvPr>
              <p:cNvSpPr/>
              <p:nvPr/>
            </p:nvSpPr>
            <p:spPr bwMode="auto">
              <a:xfrm>
                <a:off x="214035" y="2382088"/>
                <a:ext cx="1561653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HK" dirty="0">
                  <a:solidFill>
                    <a:schemeClr val="tx1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5C818AE-7841-47A4-AD19-10DD62CBE51C}"/>
                  </a:ext>
                </a:extLst>
              </p:cNvPr>
              <p:cNvSpPr/>
              <p:nvPr/>
            </p:nvSpPr>
            <p:spPr bwMode="auto">
              <a:xfrm>
                <a:off x="2420427" y="4058488"/>
                <a:ext cx="838200" cy="76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D9FADF-9C36-40A5-98FE-D1FEC118673B}"/>
                  </a:ext>
                </a:extLst>
              </p:cNvPr>
              <p:cNvSpPr txBox="1"/>
              <p:nvPr/>
            </p:nvSpPr>
            <p:spPr>
              <a:xfrm>
                <a:off x="54680" y="4329224"/>
                <a:ext cx="63884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HK" sz="2400" dirty="0"/>
                  <a:t>Main entrance </a:t>
                </a: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9DE1871-26DF-4B31-AA11-3BD13023844D}"/>
                </a:ext>
              </a:extLst>
            </p:cNvPr>
            <p:cNvSpPr/>
            <p:nvPr/>
          </p:nvSpPr>
          <p:spPr bwMode="auto">
            <a:xfrm>
              <a:off x="1522413" y="2382088"/>
              <a:ext cx="590932" cy="838200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F432F57-26E4-45E0-B31C-5B13E53B11FF}"/>
              </a:ext>
            </a:extLst>
          </p:cNvPr>
          <p:cNvSpPr txBox="1"/>
          <p:nvPr/>
        </p:nvSpPr>
        <p:spPr>
          <a:xfrm>
            <a:off x="6094412" y="3595617"/>
            <a:ext cx="2073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dirty="0"/>
              <a:t>Window side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3256924-C45B-4655-AB6E-A626D7B02955}"/>
              </a:ext>
            </a:extLst>
          </p:cNvPr>
          <p:cNvCxnSpPr/>
          <p:nvPr/>
        </p:nvCxnSpPr>
        <p:spPr bwMode="auto">
          <a:xfrm flipV="1">
            <a:off x="7264772" y="5896999"/>
            <a:ext cx="0" cy="194536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CEAA664-A088-4113-B0F1-666345CFB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805" y="3675694"/>
            <a:ext cx="1559866" cy="10380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40954C-42ED-438F-A005-C1B072E50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136" y="5450706"/>
            <a:ext cx="1559866" cy="103802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459FFB-0112-4087-90CF-A7E08AA0A1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878" y="3750042"/>
            <a:ext cx="1559866" cy="103802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5D58D67-8440-44D8-BF8D-1695089FFD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063" y="5233622"/>
            <a:ext cx="1100415" cy="147478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42900A-05C5-3DCC-809F-30F21E3C72BF}"/>
              </a:ext>
            </a:extLst>
          </p:cNvPr>
          <p:cNvSpPr txBox="1"/>
          <p:nvPr/>
        </p:nvSpPr>
        <p:spPr>
          <a:xfrm>
            <a:off x="5561012" y="762000"/>
            <a:ext cx="4267200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HK" sz="2000" dirty="0"/>
              <a:t>Write down the quality attributes you are concerned with in designing the apartment.</a:t>
            </a:r>
          </a:p>
        </p:txBody>
      </p:sp>
    </p:spTree>
    <p:extLst>
      <p:ext uri="{BB962C8B-B14F-4D97-AF65-F5344CB8AC3E}">
        <p14:creationId xmlns:p14="http://schemas.microsoft.com/office/powerpoint/2010/main" val="892145598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Two-Bedroom Apartment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412750" y="1676400"/>
            <a:ext cx="9720262" cy="4953000"/>
          </a:xfrm>
        </p:spPr>
        <p:txBody>
          <a:bodyPr/>
          <a:lstStyle/>
          <a:p>
            <a:r>
              <a:rPr lang="en-HK" sz="2800" dirty="0"/>
              <a:t>Dining/living room (D), Sleeping Room (R), Kitchen (K), and Bathroom/toilet (T)</a:t>
            </a:r>
          </a:p>
          <a:p>
            <a:endParaRPr lang="en-HK" dirty="0"/>
          </a:p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317222" y="4855025"/>
            <a:ext cx="43235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sz="2000" dirty="0"/>
              <a:t>Same component-and-connector organization.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HK" sz="2000" dirty="0"/>
              <a:t>All functional requirements met!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HK" sz="2000" dirty="0"/>
              <a:t>Each component is implemented without error!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21024" y="4967406"/>
            <a:ext cx="3048394" cy="1200329"/>
          </a:xfrm>
          <a:prstGeom prst="rect">
            <a:avLst/>
          </a:prstGeom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HK" sz="2400" dirty="0"/>
              <a:t>But why do we prefer one to the others? </a:t>
            </a:r>
          </a:p>
          <a:p>
            <a:r>
              <a:rPr lang="en-HK" sz="2400" dirty="0"/>
              <a:t>Something wrong?</a:t>
            </a:r>
          </a:p>
        </p:txBody>
      </p:sp>
      <p:grpSp>
        <p:nvGrpSpPr>
          <p:cNvPr id="73" name="Group 72"/>
          <p:cNvGrpSpPr/>
          <p:nvPr/>
        </p:nvGrpSpPr>
        <p:grpSpPr>
          <a:xfrm>
            <a:off x="836612" y="2832424"/>
            <a:ext cx="2545733" cy="2196776"/>
            <a:chOff x="836612" y="2382088"/>
            <a:chExt cx="2545733" cy="2196776"/>
          </a:xfrm>
        </p:grpSpPr>
        <p:grpSp>
          <p:nvGrpSpPr>
            <p:cNvPr id="39" name="Group 38"/>
            <p:cNvGrpSpPr/>
            <p:nvPr/>
          </p:nvGrpSpPr>
          <p:grpSpPr>
            <a:xfrm>
              <a:off x="836612" y="2382088"/>
              <a:ext cx="2545733" cy="2196776"/>
              <a:chOff x="54680" y="2382088"/>
              <a:chExt cx="6388492" cy="2196776"/>
            </a:xfrm>
          </p:grpSpPr>
          <p:sp>
            <p:nvSpPr>
              <p:cNvPr id="7" name="Rectangle 6"/>
              <p:cNvSpPr/>
              <p:nvPr/>
            </p:nvSpPr>
            <p:spPr bwMode="auto">
              <a:xfrm>
                <a:off x="210627" y="3220288"/>
                <a:ext cx="3048000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HK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2" name="Rectangle 11"/>
              <p:cNvSpPr/>
              <p:nvPr/>
            </p:nvSpPr>
            <p:spPr bwMode="auto">
              <a:xfrm>
                <a:off x="210627" y="36012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HK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T</a:t>
                </a:r>
              </a:p>
            </p:txBody>
          </p:sp>
          <p:sp>
            <p:nvSpPr>
              <p:cNvPr id="13" name="Rectangle 12"/>
              <p:cNvSpPr/>
              <p:nvPr/>
            </p:nvSpPr>
            <p:spPr bwMode="auto">
              <a:xfrm>
                <a:off x="214035" y="2382088"/>
                <a:ext cx="1561653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HK" dirty="0">
                  <a:solidFill>
                    <a:schemeClr val="tx1"/>
                  </a:solidFill>
                  <a:latin typeface="Times New Roman" pitchFamily="18" charset="0"/>
                </a:endParaRPr>
              </a:p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R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14" name="Rectangle 13"/>
              <p:cNvSpPr/>
              <p:nvPr/>
            </p:nvSpPr>
            <p:spPr bwMode="auto">
              <a:xfrm>
                <a:off x="211147" y="23820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K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15" name="Rectangle 14"/>
              <p:cNvSpPr/>
              <p:nvPr/>
            </p:nvSpPr>
            <p:spPr bwMode="auto">
              <a:xfrm>
                <a:off x="2420427" y="4058488"/>
                <a:ext cx="838200" cy="76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16" name="TextBox 15"/>
              <p:cNvSpPr txBox="1"/>
              <p:nvPr/>
            </p:nvSpPr>
            <p:spPr>
              <a:xfrm>
                <a:off x="54680" y="4117199"/>
                <a:ext cx="63884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HK" sz="2400" dirty="0"/>
                  <a:t>Main entrance </a:t>
                </a:r>
              </a:p>
            </p:txBody>
          </p:sp>
        </p:grpSp>
        <p:sp>
          <p:nvSpPr>
            <p:cNvPr id="72" name="Rectangle 71"/>
            <p:cNvSpPr/>
            <p:nvPr/>
          </p:nvSpPr>
          <p:spPr bwMode="auto">
            <a:xfrm>
              <a:off x="1522413" y="2382088"/>
              <a:ext cx="590932" cy="838200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R</a:t>
              </a: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2864332" y="2803023"/>
            <a:ext cx="2545733" cy="2196776"/>
            <a:chOff x="836612" y="2382088"/>
            <a:chExt cx="2545733" cy="2196776"/>
          </a:xfrm>
        </p:grpSpPr>
        <p:grpSp>
          <p:nvGrpSpPr>
            <p:cNvPr id="75" name="Group 74"/>
            <p:cNvGrpSpPr/>
            <p:nvPr/>
          </p:nvGrpSpPr>
          <p:grpSpPr>
            <a:xfrm>
              <a:off x="836612" y="2382088"/>
              <a:ext cx="2545733" cy="2196776"/>
              <a:chOff x="54680" y="2382088"/>
              <a:chExt cx="6388492" cy="2196776"/>
            </a:xfrm>
          </p:grpSpPr>
          <p:sp>
            <p:nvSpPr>
              <p:cNvPr id="77" name="Rectangle 76"/>
              <p:cNvSpPr/>
              <p:nvPr/>
            </p:nvSpPr>
            <p:spPr bwMode="auto">
              <a:xfrm>
                <a:off x="210627" y="3220288"/>
                <a:ext cx="3048000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HK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78" name="Rectangle 77"/>
              <p:cNvSpPr/>
              <p:nvPr/>
            </p:nvSpPr>
            <p:spPr bwMode="auto">
              <a:xfrm>
                <a:off x="210627" y="36012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K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79" name="Rectangle 78"/>
              <p:cNvSpPr/>
              <p:nvPr/>
            </p:nvSpPr>
            <p:spPr bwMode="auto">
              <a:xfrm>
                <a:off x="214035" y="2382088"/>
                <a:ext cx="1561653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HK" dirty="0">
                  <a:solidFill>
                    <a:schemeClr val="tx1"/>
                  </a:solidFill>
                  <a:latin typeface="Times New Roman" pitchFamily="18" charset="0"/>
                </a:endParaRPr>
              </a:p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R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80" name="Rectangle 79"/>
              <p:cNvSpPr/>
              <p:nvPr/>
            </p:nvSpPr>
            <p:spPr bwMode="auto">
              <a:xfrm>
                <a:off x="211147" y="23820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T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81" name="Rectangle 80"/>
              <p:cNvSpPr/>
              <p:nvPr/>
            </p:nvSpPr>
            <p:spPr bwMode="auto">
              <a:xfrm>
                <a:off x="2420427" y="4058488"/>
                <a:ext cx="838200" cy="76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54680" y="4117199"/>
                <a:ext cx="63884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HK" sz="2400" dirty="0"/>
                  <a:t>Main entrance </a:t>
                </a:r>
              </a:p>
            </p:txBody>
          </p:sp>
        </p:grpSp>
        <p:sp>
          <p:nvSpPr>
            <p:cNvPr id="76" name="Rectangle 75"/>
            <p:cNvSpPr/>
            <p:nvPr/>
          </p:nvSpPr>
          <p:spPr bwMode="auto">
            <a:xfrm>
              <a:off x="1522413" y="2382088"/>
              <a:ext cx="590932" cy="838200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R</a:t>
              </a:r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4875291" y="2760047"/>
            <a:ext cx="2545733" cy="2196776"/>
            <a:chOff x="836612" y="2382088"/>
            <a:chExt cx="2545733" cy="2196776"/>
          </a:xfrm>
        </p:grpSpPr>
        <p:grpSp>
          <p:nvGrpSpPr>
            <p:cNvPr id="84" name="Group 83"/>
            <p:cNvGrpSpPr/>
            <p:nvPr/>
          </p:nvGrpSpPr>
          <p:grpSpPr>
            <a:xfrm>
              <a:off x="836612" y="2382088"/>
              <a:ext cx="2545733" cy="2196776"/>
              <a:chOff x="54680" y="2382088"/>
              <a:chExt cx="6388492" cy="2196776"/>
            </a:xfrm>
          </p:grpSpPr>
          <p:sp>
            <p:nvSpPr>
              <p:cNvPr id="86" name="Rectangle 85"/>
              <p:cNvSpPr/>
              <p:nvPr/>
            </p:nvSpPr>
            <p:spPr bwMode="auto">
              <a:xfrm>
                <a:off x="210627" y="3220288"/>
                <a:ext cx="3048000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HK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R</a:t>
                </a:r>
              </a:p>
            </p:txBody>
          </p:sp>
          <p:sp>
            <p:nvSpPr>
              <p:cNvPr id="87" name="Rectangle 86"/>
              <p:cNvSpPr/>
              <p:nvPr/>
            </p:nvSpPr>
            <p:spPr bwMode="auto">
              <a:xfrm>
                <a:off x="210627" y="36012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K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88" name="Rectangle 87"/>
              <p:cNvSpPr/>
              <p:nvPr/>
            </p:nvSpPr>
            <p:spPr bwMode="auto">
              <a:xfrm>
                <a:off x="214035" y="2382088"/>
                <a:ext cx="1561653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HK" dirty="0">
                  <a:solidFill>
                    <a:schemeClr val="tx1"/>
                  </a:solidFill>
                  <a:latin typeface="Times New Roman" pitchFamily="18" charset="0"/>
                </a:endParaRPr>
              </a:p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R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89" name="Rectangle 88"/>
              <p:cNvSpPr/>
              <p:nvPr/>
            </p:nvSpPr>
            <p:spPr bwMode="auto">
              <a:xfrm>
                <a:off x="211147" y="23820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T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90" name="Rectangle 89"/>
              <p:cNvSpPr/>
              <p:nvPr/>
            </p:nvSpPr>
            <p:spPr bwMode="auto">
              <a:xfrm>
                <a:off x="2420427" y="4058488"/>
                <a:ext cx="838200" cy="76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91" name="TextBox 90"/>
              <p:cNvSpPr txBox="1"/>
              <p:nvPr/>
            </p:nvSpPr>
            <p:spPr>
              <a:xfrm>
                <a:off x="54680" y="4117199"/>
                <a:ext cx="63884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HK" sz="2400" dirty="0"/>
                  <a:t>Main entrance </a:t>
                </a:r>
              </a:p>
            </p:txBody>
          </p:sp>
        </p:grpSp>
        <p:sp>
          <p:nvSpPr>
            <p:cNvPr id="85" name="Rectangle 84"/>
            <p:cNvSpPr/>
            <p:nvPr/>
          </p:nvSpPr>
          <p:spPr bwMode="auto">
            <a:xfrm>
              <a:off x="1522413" y="2382088"/>
              <a:ext cx="590932" cy="838200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HK" dirty="0">
                  <a:solidFill>
                    <a:schemeClr val="tx1"/>
                  </a:solidFill>
                  <a:latin typeface="Times New Roman" pitchFamily="18" charset="0"/>
                </a:rPr>
                <a:t>D</a:t>
              </a:r>
              <a:endPara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grpSp>
        <p:nvGrpSpPr>
          <p:cNvPr id="92" name="Group 91"/>
          <p:cNvGrpSpPr/>
          <p:nvPr/>
        </p:nvGrpSpPr>
        <p:grpSpPr>
          <a:xfrm>
            <a:off x="6948392" y="2756224"/>
            <a:ext cx="2545733" cy="2196776"/>
            <a:chOff x="836612" y="2382088"/>
            <a:chExt cx="2545733" cy="2196776"/>
          </a:xfrm>
        </p:grpSpPr>
        <p:grpSp>
          <p:nvGrpSpPr>
            <p:cNvPr id="93" name="Group 92"/>
            <p:cNvGrpSpPr/>
            <p:nvPr/>
          </p:nvGrpSpPr>
          <p:grpSpPr>
            <a:xfrm>
              <a:off x="836612" y="2382088"/>
              <a:ext cx="2545733" cy="2196776"/>
              <a:chOff x="54680" y="2382088"/>
              <a:chExt cx="6388492" cy="2196776"/>
            </a:xfrm>
          </p:grpSpPr>
          <p:sp>
            <p:nvSpPr>
              <p:cNvPr id="95" name="Rectangle 94"/>
              <p:cNvSpPr/>
              <p:nvPr/>
            </p:nvSpPr>
            <p:spPr bwMode="auto">
              <a:xfrm>
                <a:off x="210627" y="3220288"/>
                <a:ext cx="3048000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T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96" name="Rectangle 95"/>
              <p:cNvSpPr/>
              <p:nvPr/>
            </p:nvSpPr>
            <p:spPr bwMode="auto">
              <a:xfrm>
                <a:off x="210627" y="36012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K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97" name="Rectangle 96"/>
              <p:cNvSpPr/>
              <p:nvPr/>
            </p:nvSpPr>
            <p:spPr bwMode="auto">
              <a:xfrm>
                <a:off x="214035" y="2382088"/>
                <a:ext cx="1561653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HK" dirty="0">
                  <a:solidFill>
                    <a:schemeClr val="tx1"/>
                  </a:solidFill>
                  <a:latin typeface="Times New Roman" pitchFamily="18" charset="0"/>
                </a:endParaRPr>
              </a:p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R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98" name="Rectangle 97"/>
              <p:cNvSpPr/>
              <p:nvPr/>
            </p:nvSpPr>
            <p:spPr bwMode="auto">
              <a:xfrm>
                <a:off x="211147" y="23820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R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99" name="Rectangle 98"/>
              <p:cNvSpPr/>
              <p:nvPr/>
            </p:nvSpPr>
            <p:spPr bwMode="auto">
              <a:xfrm>
                <a:off x="2420427" y="4058488"/>
                <a:ext cx="838200" cy="76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100" name="TextBox 99"/>
              <p:cNvSpPr txBox="1"/>
              <p:nvPr/>
            </p:nvSpPr>
            <p:spPr>
              <a:xfrm>
                <a:off x="54680" y="4117199"/>
                <a:ext cx="63884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HK" sz="2400" dirty="0"/>
                  <a:t>Main entrance </a:t>
                </a:r>
              </a:p>
            </p:txBody>
          </p:sp>
        </p:grpSp>
        <p:sp>
          <p:nvSpPr>
            <p:cNvPr id="94" name="Rectangle 93"/>
            <p:cNvSpPr/>
            <p:nvPr/>
          </p:nvSpPr>
          <p:spPr bwMode="auto">
            <a:xfrm>
              <a:off x="1522413" y="2382088"/>
              <a:ext cx="590932" cy="838200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HK" dirty="0">
                  <a:solidFill>
                    <a:schemeClr val="tx1"/>
                  </a:solidFill>
                  <a:latin typeface="Times New Roman" pitchFamily="18" charset="0"/>
                </a:rPr>
                <a:t>D</a:t>
              </a:r>
              <a:endPara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101" name="TextBox 100"/>
          <p:cNvSpPr txBox="1"/>
          <p:nvPr/>
        </p:nvSpPr>
        <p:spPr>
          <a:xfrm>
            <a:off x="3259527" y="6310665"/>
            <a:ext cx="54509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400" dirty="0"/>
              <a:t>{R, R, D, T, K} assigns to the boxes above</a:t>
            </a:r>
          </a:p>
        </p:txBody>
      </p:sp>
      <p:grpSp>
        <p:nvGrpSpPr>
          <p:cNvPr id="107" name="Group 106"/>
          <p:cNvGrpSpPr/>
          <p:nvPr/>
        </p:nvGrpSpPr>
        <p:grpSpPr>
          <a:xfrm>
            <a:off x="4628973" y="5173546"/>
            <a:ext cx="1797447" cy="975082"/>
            <a:chOff x="4628973" y="5173546"/>
            <a:chExt cx="1797447" cy="975082"/>
          </a:xfrm>
        </p:grpSpPr>
        <p:grpSp>
          <p:nvGrpSpPr>
            <p:cNvPr id="36" name="Group 35"/>
            <p:cNvGrpSpPr/>
            <p:nvPr/>
          </p:nvGrpSpPr>
          <p:grpSpPr>
            <a:xfrm>
              <a:off x="4628973" y="5173546"/>
              <a:ext cx="1130854" cy="975082"/>
              <a:chOff x="-5564188" y="3886200"/>
              <a:chExt cx="2209800" cy="1690141"/>
            </a:xfrm>
          </p:grpSpPr>
          <p:sp>
            <p:nvSpPr>
              <p:cNvPr id="23" name="Rectangle 22"/>
              <p:cNvSpPr/>
              <p:nvPr/>
            </p:nvSpPr>
            <p:spPr bwMode="auto">
              <a:xfrm>
                <a:off x="-4192588" y="38862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24" name="Rectangle 23"/>
              <p:cNvSpPr/>
              <p:nvPr/>
            </p:nvSpPr>
            <p:spPr bwMode="auto">
              <a:xfrm>
                <a:off x="-4192588" y="49530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26" name="Straight Connector 25"/>
              <p:cNvCxnSpPr>
                <a:stCxn id="24" idx="0"/>
                <a:endCxn id="23" idx="2"/>
              </p:cNvCxnSpPr>
              <p:nvPr/>
            </p:nvCxnSpPr>
            <p:spPr bwMode="auto">
              <a:xfrm flipV="1">
                <a:off x="-3773488" y="4495800"/>
                <a:ext cx="0" cy="457200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ectangle 27"/>
              <p:cNvSpPr/>
              <p:nvPr/>
            </p:nvSpPr>
            <p:spPr bwMode="auto">
              <a:xfrm>
                <a:off x="-5564188" y="4966741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29" name="Straight Connector 28"/>
              <p:cNvCxnSpPr>
                <a:stCxn id="24" idx="1"/>
                <a:endCxn id="28" idx="3"/>
              </p:cNvCxnSpPr>
              <p:nvPr/>
            </p:nvCxnSpPr>
            <p:spPr bwMode="auto">
              <a:xfrm flipH="1">
                <a:off x="-4725988" y="5257800"/>
                <a:ext cx="533400" cy="13741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" name="Rectangle 31"/>
              <p:cNvSpPr/>
              <p:nvPr/>
            </p:nvSpPr>
            <p:spPr bwMode="auto">
              <a:xfrm>
                <a:off x="-5564188" y="38862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33" name="Straight Connector 32"/>
              <p:cNvCxnSpPr/>
              <p:nvPr/>
            </p:nvCxnSpPr>
            <p:spPr bwMode="auto">
              <a:xfrm flipH="1">
                <a:off x="-4724720" y="4205990"/>
                <a:ext cx="533400" cy="13741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2" name="Rectangle 101"/>
            <p:cNvSpPr/>
            <p:nvPr/>
          </p:nvSpPr>
          <p:spPr bwMode="auto">
            <a:xfrm>
              <a:off x="5997475" y="5796935"/>
              <a:ext cx="428945" cy="351693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HK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cxnSp>
          <p:nvCxnSpPr>
            <p:cNvPr id="103" name="Straight Connector 102"/>
            <p:cNvCxnSpPr>
              <a:stCxn id="24" idx="3"/>
              <a:endCxn id="102" idx="1"/>
            </p:cNvCxnSpPr>
            <p:nvPr/>
          </p:nvCxnSpPr>
          <p:spPr bwMode="auto">
            <a:xfrm>
              <a:off x="5759827" y="5964855"/>
              <a:ext cx="237648" cy="7927"/>
            </a:xfrm>
            <a:prstGeom prst="line">
              <a:avLst/>
            </a:prstGeom>
            <a:ln>
              <a:headEnd type="none" w="sm" len="sm"/>
              <a:tailEnd type="non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030955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4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Two-Bedroom Apartment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412750" y="1676400"/>
            <a:ext cx="9567862" cy="4953000"/>
          </a:xfrm>
        </p:spPr>
        <p:txBody>
          <a:bodyPr/>
          <a:lstStyle/>
          <a:p>
            <a:endParaRPr lang="en-HK" dirty="0"/>
          </a:p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grpSp>
        <p:nvGrpSpPr>
          <p:cNvPr id="39" name="Group 38"/>
          <p:cNvGrpSpPr/>
          <p:nvPr/>
        </p:nvGrpSpPr>
        <p:grpSpPr>
          <a:xfrm>
            <a:off x="4447625" y="2329898"/>
            <a:ext cx="2545733" cy="2196776"/>
            <a:chOff x="54680" y="2382088"/>
            <a:chExt cx="6388492" cy="2196776"/>
          </a:xfrm>
        </p:grpSpPr>
        <p:sp>
          <p:nvSpPr>
            <p:cNvPr id="7" name="Rectangle 6"/>
            <p:cNvSpPr/>
            <p:nvPr/>
          </p:nvSpPr>
          <p:spPr bwMode="auto">
            <a:xfrm>
              <a:off x="210627" y="3069396"/>
              <a:ext cx="3047999" cy="989092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   D</a:t>
              </a:r>
            </a:p>
          </p:txBody>
        </p:sp>
        <p:sp>
          <p:nvSpPr>
            <p:cNvPr id="12" name="Rectangle 11"/>
            <p:cNvSpPr/>
            <p:nvPr/>
          </p:nvSpPr>
          <p:spPr bwMode="auto">
            <a:xfrm>
              <a:off x="210627" y="3601288"/>
              <a:ext cx="838200" cy="457199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T</a:t>
              </a:r>
            </a:p>
          </p:txBody>
        </p:sp>
        <p:sp>
          <p:nvSpPr>
            <p:cNvPr id="13" name="Rectangle 12"/>
            <p:cNvSpPr/>
            <p:nvPr/>
          </p:nvSpPr>
          <p:spPr bwMode="auto">
            <a:xfrm>
              <a:off x="214035" y="2382088"/>
              <a:ext cx="3047999" cy="686296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4" name="Rectangle 13"/>
            <p:cNvSpPr/>
            <p:nvPr/>
          </p:nvSpPr>
          <p:spPr bwMode="auto">
            <a:xfrm>
              <a:off x="203814" y="3068384"/>
              <a:ext cx="845013" cy="541647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HK" dirty="0">
                  <a:solidFill>
                    <a:schemeClr val="tx1"/>
                  </a:solidFill>
                  <a:latin typeface="Times New Roman" pitchFamily="18" charset="0"/>
                </a:rPr>
                <a:t>K</a:t>
              </a:r>
              <a:endPara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5" name="Rectangle 14"/>
            <p:cNvSpPr/>
            <p:nvPr/>
          </p:nvSpPr>
          <p:spPr bwMode="auto">
            <a:xfrm>
              <a:off x="2420427" y="4058488"/>
              <a:ext cx="838200" cy="76200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HK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680" y="4117199"/>
              <a:ext cx="6388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HK" sz="2400" dirty="0"/>
                <a:t>Main entrance 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317222" y="4855025"/>
            <a:ext cx="43235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sz="2000" dirty="0"/>
              <a:t>Different component-and-connector organizations. (</a:t>
            </a:r>
            <a:r>
              <a:rPr lang="en-HK" sz="2000" b="1" dirty="0"/>
              <a:t>different architecture</a:t>
            </a:r>
            <a:r>
              <a:rPr lang="en-HK" sz="2000" dirty="0"/>
              <a:t>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HK" sz="2000" dirty="0"/>
              <a:t>All functional requirements met!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HK" sz="2000" dirty="0"/>
              <a:t>Each component is implemented without error!</a:t>
            </a:r>
          </a:p>
        </p:txBody>
      </p:sp>
      <p:grpSp>
        <p:nvGrpSpPr>
          <p:cNvPr id="63" name="Group 62"/>
          <p:cNvGrpSpPr/>
          <p:nvPr/>
        </p:nvGrpSpPr>
        <p:grpSpPr>
          <a:xfrm>
            <a:off x="7244586" y="4955150"/>
            <a:ext cx="1797447" cy="975082"/>
            <a:chOff x="4628973" y="5173546"/>
            <a:chExt cx="1797447" cy="975082"/>
          </a:xfrm>
        </p:grpSpPr>
        <p:grpSp>
          <p:nvGrpSpPr>
            <p:cNvPr id="64" name="Group 63"/>
            <p:cNvGrpSpPr/>
            <p:nvPr/>
          </p:nvGrpSpPr>
          <p:grpSpPr>
            <a:xfrm>
              <a:off x="4628973" y="5173546"/>
              <a:ext cx="1130854" cy="975082"/>
              <a:chOff x="-5564188" y="3886200"/>
              <a:chExt cx="2209800" cy="1690141"/>
            </a:xfrm>
          </p:grpSpPr>
          <p:sp>
            <p:nvSpPr>
              <p:cNvPr id="67" name="Rectangle 66"/>
              <p:cNvSpPr/>
              <p:nvPr/>
            </p:nvSpPr>
            <p:spPr bwMode="auto">
              <a:xfrm>
                <a:off x="-4192588" y="38862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68" name="Rectangle 67"/>
              <p:cNvSpPr/>
              <p:nvPr/>
            </p:nvSpPr>
            <p:spPr bwMode="auto">
              <a:xfrm>
                <a:off x="-4192588" y="49530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69" name="Straight Connector 68"/>
              <p:cNvCxnSpPr>
                <a:stCxn id="68" idx="0"/>
                <a:endCxn id="67" idx="2"/>
              </p:cNvCxnSpPr>
              <p:nvPr/>
            </p:nvCxnSpPr>
            <p:spPr bwMode="auto">
              <a:xfrm flipV="1">
                <a:off x="-3773488" y="4495800"/>
                <a:ext cx="0" cy="457200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0" name="Rectangle 69"/>
              <p:cNvSpPr/>
              <p:nvPr/>
            </p:nvSpPr>
            <p:spPr bwMode="auto">
              <a:xfrm>
                <a:off x="-5564188" y="4966741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71" name="Straight Connector 70"/>
              <p:cNvCxnSpPr>
                <a:stCxn id="68" idx="1"/>
                <a:endCxn id="70" idx="3"/>
              </p:cNvCxnSpPr>
              <p:nvPr/>
            </p:nvCxnSpPr>
            <p:spPr bwMode="auto">
              <a:xfrm flipH="1">
                <a:off x="-4725988" y="5257800"/>
                <a:ext cx="533400" cy="13741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2" name="Rectangle 71"/>
              <p:cNvSpPr/>
              <p:nvPr/>
            </p:nvSpPr>
            <p:spPr bwMode="auto">
              <a:xfrm>
                <a:off x="-5564188" y="38862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73" name="Straight Connector 72"/>
              <p:cNvCxnSpPr/>
              <p:nvPr/>
            </p:nvCxnSpPr>
            <p:spPr bwMode="auto">
              <a:xfrm flipH="1">
                <a:off x="-4724720" y="4205990"/>
                <a:ext cx="533400" cy="13741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5" name="Rectangle 64"/>
            <p:cNvSpPr/>
            <p:nvPr/>
          </p:nvSpPr>
          <p:spPr bwMode="auto">
            <a:xfrm>
              <a:off x="5997475" y="5796935"/>
              <a:ext cx="428945" cy="351693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HK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cxnSp>
          <p:nvCxnSpPr>
            <p:cNvPr id="66" name="Straight Connector 65"/>
            <p:cNvCxnSpPr>
              <a:stCxn id="68" idx="3"/>
              <a:endCxn id="65" idx="1"/>
            </p:cNvCxnSpPr>
            <p:nvPr/>
          </p:nvCxnSpPr>
          <p:spPr bwMode="auto">
            <a:xfrm>
              <a:off x="5759827" y="5964855"/>
              <a:ext cx="237648" cy="7927"/>
            </a:xfrm>
            <a:prstGeom prst="line">
              <a:avLst/>
            </a:prstGeom>
            <a:ln>
              <a:headEnd type="none" w="sm" len="sm"/>
              <a:tailEnd type="non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7493903" y="2388316"/>
            <a:ext cx="2545733" cy="2196776"/>
            <a:chOff x="836612" y="2382088"/>
            <a:chExt cx="2545733" cy="2196776"/>
          </a:xfrm>
        </p:grpSpPr>
        <p:grpSp>
          <p:nvGrpSpPr>
            <p:cNvPr id="75" name="Group 74"/>
            <p:cNvGrpSpPr/>
            <p:nvPr/>
          </p:nvGrpSpPr>
          <p:grpSpPr>
            <a:xfrm>
              <a:off x="836612" y="2382088"/>
              <a:ext cx="2545733" cy="2196776"/>
              <a:chOff x="54680" y="2382088"/>
              <a:chExt cx="6388492" cy="2196776"/>
            </a:xfrm>
          </p:grpSpPr>
          <p:sp>
            <p:nvSpPr>
              <p:cNvPr id="77" name="Rectangle 76"/>
              <p:cNvSpPr/>
              <p:nvPr/>
            </p:nvSpPr>
            <p:spPr bwMode="auto">
              <a:xfrm>
                <a:off x="210627" y="3220288"/>
                <a:ext cx="3048000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HK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78" name="Rectangle 77"/>
              <p:cNvSpPr/>
              <p:nvPr/>
            </p:nvSpPr>
            <p:spPr bwMode="auto">
              <a:xfrm>
                <a:off x="210627" y="36012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K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79" name="Rectangle 78"/>
              <p:cNvSpPr/>
              <p:nvPr/>
            </p:nvSpPr>
            <p:spPr bwMode="auto">
              <a:xfrm>
                <a:off x="214035" y="2382088"/>
                <a:ext cx="1561653" cy="838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lang="en-HK" dirty="0">
                  <a:solidFill>
                    <a:schemeClr val="tx1"/>
                  </a:solidFill>
                  <a:latin typeface="Times New Roman" pitchFamily="18" charset="0"/>
                </a:endParaRPr>
              </a:p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R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80" name="Rectangle 79"/>
              <p:cNvSpPr/>
              <p:nvPr/>
            </p:nvSpPr>
            <p:spPr bwMode="auto">
              <a:xfrm>
                <a:off x="211147" y="2382088"/>
                <a:ext cx="838200" cy="457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HK" dirty="0">
                    <a:solidFill>
                      <a:schemeClr val="tx1"/>
                    </a:solidFill>
                    <a:latin typeface="Times New Roman" pitchFamily="18" charset="0"/>
                  </a:rPr>
                  <a:t>T</a:t>
                </a:r>
                <a:endPara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81" name="Rectangle 80"/>
              <p:cNvSpPr/>
              <p:nvPr/>
            </p:nvSpPr>
            <p:spPr bwMode="auto">
              <a:xfrm>
                <a:off x="2420427" y="4058488"/>
                <a:ext cx="838200" cy="762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54680" y="4117199"/>
                <a:ext cx="63884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HK" sz="2400" dirty="0"/>
                  <a:t>Main entrance </a:t>
                </a:r>
              </a:p>
            </p:txBody>
          </p:sp>
        </p:grpSp>
        <p:sp>
          <p:nvSpPr>
            <p:cNvPr id="76" name="Rectangle 75"/>
            <p:cNvSpPr/>
            <p:nvPr/>
          </p:nvSpPr>
          <p:spPr bwMode="auto">
            <a:xfrm>
              <a:off x="1522413" y="2382088"/>
              <a:ext cx="590932" cy="838200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HK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R</a:t>
              </a:r>
            </a:p>
          </p:txBody>
        </p:sp>
      </p:grpSp>
      <p:sp>
        <p:nvSpPr>
          <p:cNvPr id="83" name="Rectangle 82"/>
          <p:cNvSpPr/>
          <p:nvPr/>
        </p:nvSpPr>
        <p:spPr bwMode="auto">
          <a:xfrm>
            <a:off x="4508411" y="2316446"/>
            <a:ext cx="625014" cy="699748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HK" dirty="0">
                <a:solidFill>
                  <a:schemeClr val="tx1"/>
                </a:solidFill>
                <a:latin typeface="Times New Roman" pitchFamily="18" charset="0"/>
              </a:rPr>
              <a:t>R</a:t>
            </a:r>
            <a:endParaRPr kumimoji="0" lang="en-HK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5130847" y="2316446"/>
            <a:ext cx="593510" cy="699748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HK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R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736250" y="4917262"/>
            <a:ext cx="1808008" cy="975082"/>
            <a:chOff x="4736250" y="4917262"/>
            <a:chExt cx="1808008" cy="975082"/>
          </a:xfrm>
        </p:grpSpPr>
        <p:grpSp>
          <p:nvGrpSpPr>
            <p:cNvPr id="48" name="Group 47"/>
            <p:cNvGrpSpPr/>
            <p:nvPr/>
          </p:nvGrpSpPr>
          <p:grpSpPr>
            <a:xfrm>
              <a:off x="4736250" y="4917262"/>
              <a:ext cx="1130854" cy="975082"/>
              <a:chOff x="-5564188" y="3886200"/>
              <a:chExt cx="2209800" cy="1690141"/>
            </a:xfrm>
          </p:grpSpPr>
          <p:sp>
            <p:nvSpPr>
              <p:cNvPr id="56" name="Rectangle 55"/>
              <p:cNvSpPr/>
              <p:nvPr/>
            </p:nvSpPr>
            <p:spPr bwMode="auto">
              <a:xfrm>
                <a:off x="-4192588" y="38862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sp>
            <p:nvSpPr>
              <p:cNvPr id="57" name="Rectangle 56"/>
              <p:cNvSpPr/>
              <p:nvPr/>
            </p:nvSpPr>
            <p:spPr bwMode="auto">
              <a:xfrm>
                <a:off x="-4192588" y="49530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58" name="Straight Connector 57"/>
              <p:cNvCxnSpPr>
                <a:stCxn id="57" idx="0"/>
                <a:endCxn id="56" idx="2"/>
              </p:cNvCxnSpPr>
              <p:nvPr/>
            </p:nvCxnSpPr>
            <p:spPr bwMode="auto">
              <a:xfrm flipV="1">
                <a:off x="-3773488" y="4495800"/>
                <a:ext cx="0" cy="457200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9" name="Rectangle 58"/>
              <p:cNvSpPr/>
              <p:nvPr/>
            </p:nvSpPr>
            <p:spPr bwMode="auto">
              <a:xfrm>
                <a:off x="-5564188" y="4966741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60" name="Straight Connector 59"/>
              <p:cNvCxnSpPr>
                <a:stCxn id="57" idx="1"/>
                <a:endCxn id="59" idx="3"/>
              </p:cNvCxnSpPr>
              <p:nvPr/>
            </p:nvCxnSpPr>
            <p:spPr bwMode="auto">
              <a:xfrm flipH="1">
                <a:off x="-4725988" y="5257800"/>
                <a:ext cx="533400" cy="13741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1" name="Rectangle 60"/>
              <p:cNvSpPr/>
              <p:nvPr/>
            </p:nvSpPr>
            <p:spPr bwMode="auto">
              <a:xfrm>
                <a:off x="-5564188" y="3886200"/>
                <a:ext cx="838200" cy="609600"/>
              </a:xfrm>
              <a:prstGeom prst="rect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HK" sz="2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  <p:cxnSp>
            <p:nvCxnSpPr>
              <p:cNvPr id="62" name="Straight Connector 61"/>
              <p:cNvCxnSpPr>
                <a:stCxn id="57" idx="1"/>
              </p:cNvCxnSpPr>
              <p:nvPr/>
            </p:nvCxnSpPr>
            <p:spPr bwMode="auto">
              <a:xfrm flipH="1" flipV="1">
                <a:off x="-4724717" y="4219731"/>
                <a:ext cx="532128" cy="1038070"/>
              </a:xfrm>
              <a:prstGeom prst="line">
                <a:avLst/>
              </a:prstGeom>
              <a:ln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5" name="Rectangle 84"/>
            <p:cNvSpPr/>
            <p:nvPr/>
          </p:nvSpPr>
          <p:spPr bwMode="auto">
            <a:xfrm>
              <a:off x="6115313" y="5532723"/>
              <a:ext cx="428945" cy="351693"/>
            </a:xfrm>
            <a:prstGeom prst="rect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HK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cxnSp>
          <p:nvCxnSpPr>
            <p:cNvPr id="86" name="Straight Connector 85"/>
            <p:cNvCxnSpPr>
              <a:endCxn id="85" idx="1"/>
            </p:cNvCxnSpPr>
            <p:nvPr/>
          </p:nvCxnSpPr>
          <p:spPr bwMode="auto">
            <a:xfrm>
              <a:off x="5877665" y="5700643"/>
              <a:ext cx="237648" cy="7927"/>
            </a:xfrm>
            <a:prstGeom prst="line">
              <a:avLst/>
            </a:prstGeom>
            <a:ln>
              <a:headEnd type="none" w="sm" len="sm"/>
              <a:tailEnd type="non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648054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141C0-AE2F-EEF7-E7F3-6BB8DDB7E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Have You Done the Following?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462E8-DDCE-65D5-9640-8B4FE055C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012" y="1371600"/>
            <a:ext cx="9036050" cy="4953000"/>
          </a:xfrm>
        </p:spPr>
        <p:txBody>
          <a:bodyPr/>
          <a:lstStyle/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HK" sz="2800" dirty="0"/>
              <a:t>Read the floor plan and observe its environmental setting (e.g., the location of windows)?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HK" sz="2800" dirty="0"/>
              <a:t>Apply your “common sense” in judging good or bad room organizations?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HK" sz="2800" dirty="0"/>
              <a:t>Sketch the Final Floor Plan with room assignment?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HK" sz="2800" dirty="0"/>
              <a:t>Sketch some other Floor Plans as alternatives?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HK" sz="2800" dirty="0"/>
              <a:t>Compare and Contrast Floor Plans with rationales.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HK" sz="2800" dirty="0"/>
              <a:t>Which words (nouns) do you use when you refer to a part of your final floor plan?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HK" sz="2800" dirty="0"/>
              <a:t>What are the concerns (quality attributes) you care about in coming up with your final design? (Cleanness? convenience?)</a:t>
            </a:r>
          </a:p>
          <a:p>
            <a:pPr>
              <a:spcBef>
                <a:spcPts val="300"/>
              </a:spcBef>
            </a:pPr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34EC9-6D00-C0D2-BAF5-A19C2B244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71023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A9EC-22A0-6BDF-DBC8-A7F3003B2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in our Exercise (1/2)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01CEF-57D3-2685-3682-09F78F1CA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212" y="1438589"/>
            <a:ext cx="8686800" cy="4953000"/>
          </a:xfrm>
        </p:spPr>
        <p:txBody>
          <a:bodyPr/>
          <a:lstStyle/>
          <a:p>
            <a:r>
              <a:rPr lang="en-US" sz="2800" dirty="0"/>
              <a:t>A Domain Model</a:t>
            </a:r>
          </a:p>
          <a:p>
            <a:pPr lvl="1"/>
            <a:r>
              <a:rPr lang="en-US" sz="2400" dirty="0"/>
              <a:t>A floor plan for an apartment to reflect the reality</a:t>
            </a:r>
          </a:p>
          <a:p>
            <a:pPr lvl="1"/>
            <a:r>
              <a:rPr lang="en-US" sz="2400" dirty="0"/>
              <a:t>Environmental constraints </a:t>
            </a:r>
          </a:p>
          <a:p>
            <a:pPr lvl="2"/>
            <a:r>
              <a:rPr lang="en-US" dirty="0"/>
              <a:t>What you cannot control (outside your control)</a:t>
            </a:r>
          </a:p>
          <a:p>
            <a:pPr lvl="3"/>
            <a:r>
              <a:rPr lang="en-US" sz="2400" dirty="0"/>
              <a:t>One-side window. Main entrance location. Functionality (1D, 2R, 1K, and 1T by room type)</a:t>
            </a:r>
          </a:p>
          <a:p>
            <a:pPr lvl="1"/>
            <a:r>
              <a:rPr lang="en-US" sz="2400" dirty="0"/>
              <a:t>Architecturally significant requirement</a:t>
            </a:r>
          </a:p>
          <a:p>
            <a:pPr lvl="2"/>
            <a:r>
              <a:rPr lang="en-US" dirty="0"/>
              <a:t>Don’t pass through any R when going into D or T.  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D011A-4E76-7199-9AC3-FE926871A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98697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A9EC-22A0-6BDF-DBC8-A7F3003B2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in our Exercise (2/2)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01CEF-57D3-2685-3682-09F78F1CA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212" y="1438589"/>
            <a:ext cx="9448800" cy="495300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HK" sz="2800" dirty="0"/>
              <a:t>Design</a:t>
            </a:r>
            <a:endParaRPr lang="en-US" sz="2800" dirty="0"/>
          </a:p>
          <a:p>
            <a:pPr lvl="1">
              <a:spcBef>
                <a:spcPts val="0"/>
              </a:spcBef>
            </a:pPr>
            <a:r>
              <a:rPr lang="en-US" sz="2400" dirty="0"/>
              <a:t>The elements you can control</a:t>
            </a:r>
          </a:p>
          <a:p>
            <a:pPr lvl="2">
              <a:spcBef>
                <a:spcPts val="0"/>
              </a:spcBef>
            </a:pPr>
            <a:r>
              <a:rPr lang="en-US" dirty="0"/>
              <a:t>E.g., The location of the bathroom and its connected components 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Evaluation against possible changes in requirements</a:t>
            </a:r>
          </a:p>
          <a:p>
            <a:pPr>
              <a:spcBef>
                <a:spcPts val="0"/>
              </a:spcBef>
            </a:pPr>
            <a:r>
              <a:rPr lang="en-US" sz="2800" dirty="0"/>
              <a:t>Vocabulary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We use the terminologies of our users for effective communications with stakeholders in the domain model</a:t>
            </a:r>
            <a:endParaRPr lang="en-US" dirty="0"/>
          </a:p>
          <a:p>
            <a:pPr>
              <a:spcBef>
                <a:spcPts val="0"/>
              </a:spcBef>
            </a:pPr>
            <a:r>
              <a:rPr lang="en-US" sz="2800" dirty="0"/>
              <a:t>View (= capture the design decisions and evaluation)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The floor plan is a view of the apartment in the form of a component-and-connector diagram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The rationales of some other undesirable views</a:t>
            </a:r>
            <a:endParaRPr lang="en-US" dirty="0"/>
          </a:p>
          <a:p>
            <a:pPr>
              <a:spcBef>
                <a:spcPts val="0"/>
              </a:spcBef>
            </a:pPr>
            <a:r>
              <a:rPr lang="en-US" sz="2800" dirty="0"/>
              <a:t>Viewpoint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= a set of related concerns on how its views address the concerns in the software architecture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D011A-4E76-7199-9AC3-FE926871A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428466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BF6D922-A3BA-C74A-355B-FE430A8C21F8}"/>
              </a:ext>
            </a:extLst>
          </p:cNvPr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US" dirty="0"/>
              <a:t>Main Content in Details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39F0D0-1606-82A4-54C0-BA2C92EED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272750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D2AD-F382-4D20-B48B-38997EF4C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A26F8-6752-4978-AE86-2F1BE11D1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Role of Software Architecture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Driver of Software Architecture 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Quality Attributes and Patterns/Tactics 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Attribute-Driven Design 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Taking Decisions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Architectural Styles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78A5F-E43D-4611-96F3-3FE3FF641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507676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87A3F-FC2A-4076-A1C7-59BBAD010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Software Architect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5C66C-3317-4E21-B192-76F00A7A6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58B07FA1-1DDD-4026-BA06-30C122F0FEE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8306493"/>
              </p:ext>
            </p:extLst>
          </p:nvPr>
        </p:nvGraphicFramePr>
        <p:xfrm>
          <a:off x="25217" y="2586639"/>
          <a:ext cx="4837107" cy="29819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3" imgW="3848760" imgH="2190240" progId="Word.Document.8">
                  <p:embed/>
                </p:oleObj>
              </mc:Choice>
              <mc:Fallback>
                <p:oleObj name="Document" r:id="rId3" imgW="3848760" imgH="2190240" progId="Word.Document.8">
                  <p:embed/>
                  <p:pic>
                    <p:nvPicPr>
                      <p:cNvPr id="667651" name="Object 3">
                        <a:extLst>
                          <a:ext uri="{FF2B5EF4-FFF2-40B4-BE49-F238E27FC236}">
                            <a16:creationId xmlns:a16="http://schemas.microsoft.com/office/drawing/2014/main" id="{3DEC5B84-199F-4942-9449-70ADF238503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217" y="2586639"/>
                        <a:ext cx="4837107" cy="298198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72CDDF8-D22D-44A3-A2E9-A452E6714E81}"/>
              </a:ext>
            </a:extLst>
          </p:cNvPr>
          <p:cNvSpPr txBox="1"/>
          <p:nvPr/>
        </p:nvSpPr>
        <p:spPr>
          <a:xfrm>
            <a:off x="401869" y="1676400"/>
            <a:ext cx="4025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Traditional SW Process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C7E73B-85CF-44F5-8D71-ABF486F8A9D6}"/>
              </a:ext>
            </a:extLst>
          </p:cNvPr>
          <p:cNvSpPr txBox="1"/>
          <p:nvPr/>
        </p:nvSpPr>
        <p:spPr>
          <a:xfrm>
            <a:off x="5094926" y="1668966"/>
            <a:ext cx="3228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Agile SW Process </a:t>
            </a:r>
          </a:p>
        </p:txBody>
      </p:sp>
      <p:pic>
        <p:nvPicPr>
          <p:cNvPr id="6150" name="Picture 6" descr="http://www.agiledata.org/images/enterpriseArchitectureIncrementalApproach.gif">
            <a:extLst>
              <a:ext uri="{FF2B5EF4-FFF2-40B4-BE49-F238E27FC236}">
                <a16:creationId xmlns:a16="http://schemas.microsoft.com/office/drawing/2014/main" id="{21BB71B2-4DA4-40B6-B581-8A73E54CB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1412" y="2473596"/>
            <a:ext cx="4586300" cy="3317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1F63BCE-2526-4482-87F3-A8BFF490E83E}"/>
              </a:ext>
            </a:extLst>
          </p:cNvPr>
          <p:cNvCxnSpPr>
            <a:cxnSpLocks/>
          </p:cNvCxnSpPr>
          <p:nvPr/>
        </p:nvCxnSpPr>
        <p:spPr bwMode="auto">
          <a:xfrm>
            <a:off x="4875212" y="1371600"/>
            <a:ext cx="50425" cy="548640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14252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82E7A1B-3E6F-43D3-BE38-7825DE741ED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75412" y="6134100"/>
            <a:ext cx="3136900" cy="457200"/>
          </a:xfrm>
        </p:spPr>
        <p:txBody>
          <a:bodyPr/>
          <a:lstStyle/>
          <a:p>
            <a:pPr algn="r"/>
            <a:fld id="{5F0801A8-4004-4C8F-8E2B-32DEAD6E4AC1}" type="slidenum">
              <a:rPr lang="nl-NL" altLang="en-US"/>
              <a:pPr algn="r"/>
              <a:t>31</a:t>
            </a:fld>
            <a:endParaRPr lang="nl-NL" altLang="en-US" dirty="0"/>
          </a:p>
        </p:txBody>
      </p:sp>
      <p:sp>
        <p:nvSpPr>
          <p:cNvPr id="800770" name="Rectangle 2">
            <a:extLst>
              <a:ext uri="{FF2B5EF4-FFF2-40B4-BE49-F238E27FC236}">
                <a16:creationId xmlns:a16="http://schemas.microsoft.com/office/drawing/2014/main" id="{42DA349B-28D6-4F30-8FE6-A569DFA7A7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Pre-architecture life cycle</a:t>
            </a:r>
          </a:p>
        </p:txBody>
      </p:sp>
      <p:sp>
        <p:nvSpPr>
          <p:cNvPr id="800771" name="Text Box 3">
            <a:extLst>
              <a:ext uri="{FF2B5EF4-FFF2-40B4-BE49-F238E27FC236}">
                <a16:creationId xmlns:a16="http://schemas.microsoft.com/office/drawing/2014/main" id="{B19EB07D-05D4-49B1-9134-B7786FA4D4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1812" y="2028596"/>
            <a:ext cx="1600200" cy="346075"/>
          </a:xfrm>
          <a:prstGeom prst="rect">
            <a:avLst/>
          </a:prstGeom>
          <a:solidFill>
            <a:srgbClr val="00FF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/>
              <a:t>requirements</a:t>
            </a:r>
          </a:p>
        </p:txBody>
      </p:sp>
      <p:sp>
        <p:nvSpPr>
          <p:cNvPr id="800772" name="Text Box 4">
            <a:extLst>
              <a:ext uri="{FF2B5EF4-FFF2-40B4-BE49-F238E27FC236}">
                <a16:creationId xmlns:a16="http://schemas.microsoft.com/office/drawing/2014/main" id="{FA1E9F1E-D9CC-4F29-A405-D03D4043F7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8612" y="3217634"/>
            <a:ext cx="1600200" cy="346075"/>
          </a:xfrm>
          <a:prstGeom prst="rect">
            <a:avLst/>
          </a:prstGeom>
          <a:solidFill>
            <a:srgbClr val="00FF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/>
              <a:t>agreement</a:t>
            </a:r>
          </a:p>
        </p:txBody>
      </p:sp>
      <p:sp>
        <p:nvSpPr>
          <p:cNvPr id="800773" name="Text Box 5">
            <a:extLst>
              <a:ext uri="{FF2B5EF4-FFF2-40B4-BE49-F238E27FC236}">
                <a16:creationId xmlns:a16="http://schemas.microsoft.com/office/drawing/2014/main" id="{63E083CC-0895-4FDC-ABE3-4E8D0770D5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412" y="2028596"/>
            <a:ext cx="1600200" cy="346075"/>
          </a:xfrm>
          <a:prstGeom prst="rect">
            <a:avLst/>
          </a:prstGeom>
          <a:solidFill>
            <a:srgbClr val="00FF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/>
              <a:t>quality</a:t>
            </a:r>
          </a:p>
        </p:txBody>
      </p:sp>
      <p:sp>
        <p:nvSpPr>
          <p:cNvPr id="800774" name="Text Box 6">
            <a:extLst>
              <a:ext uri="{FF2B5EF4-FFF2-40B4-BE49-F238E27FC236}">
                <a16:creationId xmlns:a16="http://schemas.microsoft.com/office/drawing/2014/main" id="{0B17B834-F2E1-44A6-A197-E14C25CA28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8612" y="4284434"/>
            <a:ext cx="1600200" cy="346075"/>
          </a:xfrm>
          <a:prstGeom prst="rect">
            <a:avLst/>
          </a:prstGeom>
          <a:solidFill>
            <a:srgbClr val="00FF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/>
              <a:t>development</a:t>
            </a:r>
          </a:p>
        </p:txBody>
      </p:sp>
      <p:cxnSp>
        <p:nvCxnSpPr>
          <p:cNvPr id="800775" name="AutoShape 7">
            <a:extLst>
              <a:ext uri="{FF2B5EF4-FFF2-40B4-BE49-F238E27FC236}">
                <a16:creationId xmlns:a16="http://schemas.microsoft.com/office/drawing/2014/main" id="{DF64EDC2-5480-4FD1-B864-1BBE763732A2}"/>
              </a:ext>
            </a:extLst>
          </p:cNvPr>
          <p:cNvCxnSpPr>
            <a:cxnSpLocks noChangeShapeType="1"/>
            <a:stCxn id="800771" idx="2"/>
            <a:endCxn id="800772" idx="0"/>
          </p:cNvCxnSpPr>
          <p:nvPr/>
        </p:nvCxnSpPr>
        <p:spPr bwMode="auto">
          <a:xfrm>
            <a:off x="5141912" y="2374671"/>
            <a:ext cx="1066800" cy="842963"/>
          </a:xfrm>
          <a:prstGeom prst="straightConnector1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00776" name="AutoShape 8">
            <a:extLst>
              <a:ext uri="{FF2B5EF4-FFF2-40B4-BE49-F238E27FC236}">
                <a16:creationId xmlns:a16="http://schemas.microsoft.com/office/drawing/2014/main" id="{A655595A-5A86-48E5-AA0F-118FF63F57A9}"/>
              </a:ext>
            </a:extLst>
          </p:cNvPr>
          <p:cNvCxnSpPr>
            <a:cxnSpLocks noChangeShapeType="1"/>
            <a:stCxn id="800773" idx="2"/>
            <a:endCxn id="800772" idx="0"/>
          </p:cNvCxnSpPr>
          <p:nvPr/>
        </p:nvCxnSpPr>
        <p:spPr bwMode="auto">
          <a:xfrm flipH="1">
            <a:off x="6208712" y="2374671"/>
            <a:ext cx="1066800" cy="842963"/>
          </a:xfrm>
          <a:prstGeom prst="straightConnector1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00777" name="AutoShape 9">
            <a:extLst>
              <a:ext uri="{FF2B5EF4-FFF2-40B4-BE49-F238E27FC236}">
                <a16:creationId xmlns:a16="http://schemas.microsoft.com/office/drawing/2014/main" id="{10E43995-AC6E-4BDC-B0D2-D9FEA62A2248}"/>
              </a:ext>
            </a:extLst>
          </p:cNvPr>
          <p:cNvCxnSpPr>
            <a:cxnSpLocks noChangeShapeType="1"/>
            <a:stCxn id="800772" idx="2"/>
            <a:endCxn id="800774" idx="0"/>
          </p:cNvCxnSpPr>
          <p:nvPr/>
        </p:nvCxnSpPr>
        <p:spPr bwMode="auto">
          <a:xfrm>
            <a:off x="6208712" y="3563709"/>
            <a:ext cx="0" cy="720725"/>
          </a:xfrm>
          <a:prstGeom prst="straightConnector1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800778" name="Group 10">
            <a:extLst>
              <a:ext uri="{FF2B5EF4-FFF2-40B4-BE49-F238E27FC236}">
                <a16:creationId xmlns:a16="http://schemas.microsoft.com/office/drawing/2014/main" id="{120947D3-84DA-4CCE-A4FA-BE27C3A0101B}"/>
              </a:ext>
            </a:extLst>
          </p:cNvPr>
          <p:cNvGrpSpPr>
            <a:grpSpLocks/>
          </p:cNvGrpSpPr>
          <p:nvPr/>
        </p:nvGrpSpPr>
        <p:grpSpPr bwMode="auto">
          <a:xfrm>
            <a:off x="3732987" y="1528077"/>
            <a:ext cx="2831306" cy="1350065"/>
            <a:chOff x="2064" y="1587"/>
            <a:chExt cx="1592" cy="392"/>
          </a:xfrm>
        </p:grpSpPr>
        <p:sp>
          <p:nvSpPr>
            <p:cNvPr id="800779" name="AutoShape 11">
              <a:extLst>
                <a:ext uri="{FF2B5EF4-FFF2-40B4-BE49-F238E27FC236}">
                  <a16:creationId xmlns:a16="http://schemas.microsoft.com/office/drawing/2014/main" id="{0F0C3E5E-EBC4-480C-94BA-DBB6B67FF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672"/>
              <a:ext cx="768" cy="307"/>
            </a:xfrm>
            <a:prstGeom prst="curvedRightArrow">
              <a:avLst>
                <a:gd name="adj1" fmla="val 20000"/>
                <a:gd name="adj2" fmla="val 40000"/>
                <a:gd name="adj3" fmla="val 33464"/>
              </a:avLst>
            </a:prstGeom>
            <a:solidFill>
              <a:srgbClr val="00FF00">
                <a:alpha val="5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 anchorCtr="1">
              <a:spAutoFit/>
            </a:bodyPr>
            <a:lstStyle/>
            <a:p>
              <a:endParaRPr lang="en-US"/>
            </a:p>
          </p:txBody>
        </p:sp>
        <p:sp>
          <p:nvSpPr>
            <p:cNvPr id="800780" name="AutoShape 12">
              <a:extLst>
                <a:ext uri="{FF2B5EF4-FFF2-40B4-BE49-F238E27FC236}">
                  <a16:creationId xmlns:a16="http://schemas.microsoft.com/office/drawing/2014/main" id="{7E692E35-C438-46D1-80E4-BFEA52C6460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2888" y="1587"/>
              <a:ext cx="768" cy="307"/>
            </a:xfrm>
            <a:prstGeom prst="curvedRightArrow">
              <a:avLst>
                <a:gd name="adj1" fmla="val 20000"/>
                <a:gd name="adj2" fmla="val 40000"/>
                <a:gd name="adj3" fmla="val 33464"/>
              </a:avLst>
            </a:prstGeom>
            <a:solidFill>
              <a:srgbClr val="00FF00">
                <a:alpha val="5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 anchorCtr="1">
              <a:spAutoFit/>
            </a:bodyPr>
            <a:lstStyle/>
            <a:p>
              <a:endParaRPr lang="en-US" dirty="0"/>
            </a:p>
          </p:txBody>
        </p:sp>
      </p:grpSp>
      <p:sp>
        <p:nvSpPr>
          <p:cNvPr id="800781" name="Text Box 13">
            <a:extLst>
              <a:ext uri="{FF2B5EF4-FFF2-40B4-BE49-F238E27FC236}">
                <a16:creationId xmlns:a16="http://schemas.microsoft.com/office/drawing/2014/main" id="{E389F9AF-825D-40C7-9B80-EF181E89B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8263" y="2032356"/>
            <a:ext cx="1292341" cy="338554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 anchorCtr="1">
            <a:spAutoFit/>
          </a:bodyPr>
          <a:lstStyle/>
          <a:p>
            <a:pPr eaLnBrk="0" hangingPunct="0">
              <a:spcBef>
                <a:spcPct val="0"/>
              </a:spcBef>
              <a:buClrTx/>
              <a:buFontTx/>
              <a:buNone/>
            </a:pPr>
            <a:r>
              <a:rPr lang="en-US" altLang="en-US" sz="1600" b="1" dirty="0"/>
              <a:t>stakeholders</a:t>
            </a:r>
          </a:p>
        </p:txBody>
      </p:sp>
      <p:sp>
        <p:nvSpPr>
          <p:cNvPr id="800782" name="AutoShape 14">
            <a:extLst>
              <a:ext uri="{FF2B5EF4-FFF2-40B4-BE49-F238E27FC236}">
                <a16:creationId xmlns:a16="http://schemas.microsoft.com/office/drawing/2014/main" id="{B590DF2B-F390-47BD-BC43-FA58B39A8B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8937" y="1681955"/>
            <a:ext cx="685800" cy="1039356"/>
          </a:xfrm>
          <a:prstGeom prst="leftRightArrow">
            <a:avLst>
              <a:gd name="adj1" fmla="val 50000"/>
              <a:gd name="adj2" fmla="val 28235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059011-26D2-4679-83FD-0F20C405D1A2}"/>
              </a:ext>
            </a:extLst>
          </p:cNvPr>
          <p:cNvSpPr/>
          <p:nvPr/>
        </p:nvSpPr>
        <p:spPr>
          <a:xfrm>
            <a:off x="290513" y="4518642"/>
            <a:ext cx="9050876" cy="18158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/>
              <a:t>Characteristics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dirty="0"/>
              <a:t>Iteration mainly on </a:t>
            </a:r>
            <a:r>
              <a:rPr lang="en-US" altLang="en-US" b="1" dirty="0"/>
              <a:t>functional</a:t>
            </a:r>
            <a:r>
              <a:rPr lang="en-US" altLang="en-US" dirty="0"/>
              <a:t> </a:t>
            </a:r>
            <a:r>
              <a:rPr lang="en-US" altLang="en-US" b="1" dirty="0"/>
              <a:t>requirements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dirty="0"/>
              <a:t>No balancing between functional and quality requirements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0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914" name="Rectangle 2">
            <a:extLst>
              <a:ext uri="{FF2B5EF4-FFF2-40B4-BE49-F238E27FC236}">
                <a16:creationId xmlns:a16="http://schemas.microsoft.com/office/drawing/2014/main" id="{38CABFC6-B049-4E07-AA69-30D50632B5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Architecture in the life cycle</a:t>
            </a:r>
          </a:p>
        </p:txBody>
      </p:sp>
      <p:sp>
        <p:nvSpPr>
          <p:cNvPr id="806915" name="Text Box 3">
            <a:extLst>
              <a:ext uri="{FF2B5EF4-FFF2-40B4-BE49-F238E27FC236}">
                <a16:creationId xmlns:a16="http://schemas.microsoft.com/office/drawing/2014/main" id="{6F212D70-4EA1-4EC8-88A5-7B98A1113A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6412" y="2667000"/>
            <a:ext cx="1600200" cy="346075"/>
          </a:xfrm>
          <a:prstGeom prst="rect">
            <a:avLst/>
          </a:prstGeom>
          <a:solidFill>
            <a:srgbClr val="00FF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/>
              <a:t>requirements</a:t>
            </a:r>
          </a:p>
        </p:txBody>
      </p:sp>
      <p:sp>
        <p:nvSpPr>
          <p:cNvPr id="806916" name="Text Box 4">
            <a:extLst>
              <a:ext uri="{FF2B5EF4-FFF2-40B4-BE49-F238E27FC236}">
                <a16:creationId xmlns:a16="http://schemas.microsoft.com/office/drawing/2014/main" id="{464B48FA-7CDD-4416-B68D-9546C795C8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3212" y="3733800"/>
            <a:ext cx="1600200" cy="346075"/>
          </a:xfrm>
          <a:prstGeom prst="rect">
            <a:avLst/>
          </a:prstGeom>
          <a:solidFill>
            <a:srgbClr val="00B0F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architecture</a:t>
            </a:r>
            <a:endParaRPr lang="en-US" altLang="en-US" sz="1600" b="1" dirty="0">
              <a:solidFill>
                <a:schemeClr val="bg1"/>
              </a:solidFill>
            </a:endParaRPr>
          </a:p>
        </p:txBody>
      </p:sp>
      <p:sp>
        <p:nvSpPr>
          <p:cNvPr id="806917" name="Text Box 5">
            <a:extLst>
              <a:ext uri="{FF2B5EF4-FFF2-40B4-BE49-F238E27FC236}">
                <a16:creationId xmlns:a16="http://schemas.microsoft.com/office/drawing/2014/main" id="{21B9A781-35E0-4281-8CC0-98C56C778A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0012" y="2667000"/>
            <a:ext cx="1600200" cy="346075"/>
          </a:xfrm>
          <a:prstGeom prst="rect">
            <a:avLst/>
          </a:prstGeom>
          <a:solidFill>
            <a:srgbClr val="00FF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/>
              <a:t>quality</a:t>
            </a:r>
          </a:p>
        </p:txBody>
      </p:sp>
      <p:sp>
        <p:nvSpPr>
          <p:cNvPr id="806918" name="Text Box 6">
            <a:extLst>
              <a:ext uri="{FF2B5EF4-FFF2-40B4-BE49-F238E27FC236}">
                <a16:creationId xmlns:a16="http://schemas.microsoft.com/office/drawing/2014/main" id="{E2E7D885-B733-432D-B8AD-5DC5C3B652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3212" y="4454525"/>
            <a:ext cx="1600200" cy="346075"/>
          </a:xfrm>
          <a:prstGeom prst="rect">
            <a:avLst/>
          </a:prstGeom>
          <a:solidFill>
            <a:srgbClr val="00FF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/>
              <a:t>agreement</a:t>
            </a:r>
          </a:p>
        </p:txBody>
      </p:sp>
      <p:cxnSp>
        <p:nvCxnSpPr>
          <p:cNvPr id="806919" name="AutoShape 7">
            <a:extLst>
              <a:ext uri="{FF2B5EF4-FFF2-40B4-BE49-F238E27FC236}">
                <a16:creationId xmlns:a16="http://schemas.microsoft.com/office/drawing/2014/main" id="{FE36E486-E921-4D51-AB3C-E4DD8C491BB0}"/>
              </a:ext>
            </a:extLst>
          </p:cNvPr>
          <p:cNvCxnSpPr>
            <a:cxnSpLocks noChangeShapeType="1"/>
            <a:stCxn id="806915" idx="2"/>
            <a:endCxn id="806916" idx="0"/>
          </p:cNvCxnSpPr>
          <p:nvPr/>
        </p:nvCxnSpPr>
        <p:spPr bwMode="auto">
          <a:xfrm>
            <a:off x="3846512" y="3013075"/>
            <a:ext cx="1066800" cy="720725"/>
          </a:xfrm>
          <a:prstGeom prst="straightConnector1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06920" name="AutoShape 8">
            <a:extLst>
              <a:ext uri="{FF2B5EF4-FFF2-40B4-BE49-F238E27FC236}">
                <a16:creationId xmlns:a16="http://schemas.microsoft.com/office/drawing/2014/main" id="{522968D9-EB1E-4D7A-BC66-83E535D64271}"/>
              </a:ext>
            </a:extLst>
          </p:cNvPr>
          <p:cNvCxnSpPr>
            <a:cxnSpLocks noChangeShapeType="1"/>
            <a:stCxn id="806917" idx="2"/>
            <a:endCxn id="806916" idx="0"/>
          </p:cNvCxnSpPr>
          <p:nvPr/>
        </p:nvCxnSpPr>
        <p:spPr bwMode="auto">
          <a:xfrm flipH="1">
            <a:off x="4913312" y="3013075"/>
            <a:ext cx="1066800" cy="720725"/>
          </a:xfrm>
          <a:prstGeom prst="straightConnector1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06921" name="AutoShape 9">
            <a:extLst>
              <a:ext uri="{FF2B5EF4-FFF2-40B4-BE49-F238E27FC236}">
                <a16:creationId xmlns:a16="http://schemas.microsoft.com/office/drawing/2014/main" id="{947E0435-1C28-4D9B-8561-50C815484232}"/>
              </a:ext>
            </a:extLst>
          </p:cNvPr>
          <p:cNvCxnSpPr>
            <a:cxnSpLocks noChangeShapeType="1"/>
            <a:stCxn id="806916" idx="2"/>
            <a:endCxn id="806918" idx="0"/>
          </p:cNvCxnSpPr>
          <p:nvPr/>
        </p:nvCxnSpPr>
        <p:spPr bwMode="auto">
          <a:xfrm>
            <a:off x="4913312" y="4079874"/>
            <a:ext cx="0" cy="374650"/>
          </a:xfrm>
          <a:prstGeom prst="straightConnector1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06922" name="Text Box 10">
            <a:extLst>
              <a:ext uri="{FF2B5EF4-FFF2-40B4-BE49-F238E27FC236}">
                <a16:creationId xmlns:a16="http://schemas.microsoft.com/office/drawing/2014/main" id="{3DB31463-9A48-404A-89F6-97924B3C94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87825" y="1626900"/>
            <a:ext cx="1292341" cy="584775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 anchorCtr="1">
            <a:spAutoFit/>
          </a:bodyPr>
          <a:lstStyle/>
          <a:p>
            <a:pPr eaLnBrk="0" hangingPunct="0">
              <a:spcBef>
                <a:spcPct val="0"/>
              </a:spcBef>
              <a:buClrTx/>
              <a:buFontTx/>
              <a:buNone/>
            </a:pPr>
            <a:r>
              <a:rPr lang="en-US" altLang="en-US" sz="1600" b="1" dirty="0"/>
              <a:t>stakeholders</a:t>
            </a:r>
          </a:p>
          <a:p>
            <a:pPr eaLnBrk="0" hangingPunct="0">
              <a:spcBef>
                <a:spcPct val="0"/>
              </a:spcBef>
              <a:buClrTx/>
              <a:buFontTx/>
              <a:buNone/>
            </a:pPr>
            <a:r>
              <a:rPr lang="en-US" altLang="en-US" sz="1600" b="1" dirty="0"/>
              <a:t>      (many)</a:t>
            </a:r>
          </a:p>
        </p:txBody>
      </p:sp>
      <p:sp>
        <p:nvSpPr>
          <p:cNvPr id="806923" name="Text Box 11">
            <a:extLst>
              <a:ext uri="{FF2B5EF4-FFF2-40B4-BE49-F238E27FC236}">
                <a16:creationId xmlns:a16="http://schemas.microsoft.com/office/drawing/2014/main" id="{5953222F-5971-4EC1-8861-ED75B1635B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3212" y="5181600"/>
            <a:ext cx="1600200" cy="346075"/>
          </a:xfrm>
          <a:prstGeom prst="rect">
            <a:avLst/>
          </a:prstGeom>
          <a:solidFill>
            <a:srgbClr val="00FF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>
            <a:spAutoFit/>
          </a:bodyPr>
          <a:lstStyle/>
          <a:p>
            <a:pPr eaLnBrk="0" hangingPunct="0">
              <a:spcBef>
                <a:spcPct val="50000"/>
              </a:spcBef>
              <a:buClrTx/>
              <a:buFontTx/>
              <a:buNone/>
            </a:pPr>
            <a:r>
              <a:rPr lang="en-US" altLang="en-US" sz="1600" b="1"/>
              <a:t>development</a:t>
            </a:r>
          </a:p>
        </p:txBody>
      </p:sp>
      <p:cxnSp>
        <p:nvCxnSpPr>
          <p:cNvPr id="806924" name="AutoShape 12">
            <a:extLst>
              <a:ext uri="{FF2B5EF4-FFF2-40B4-BE49-F238E27FC236}">
                <a16:creationId xmlns:a16="http://schemas.microsoft.com/office/drawing/2014/main" id="{24312E7C-2FB2-4414-9395-BCDB68D9A4C6}"/>
              </a:ext>
            </a:extLst>
          </p:cNvPr>
          <p:cNvCxnSpPr>
            <a:cxnSpLocks noChangeShapeType="1"/>
            <a:stCxn id="806918" idx="2"/>
            <a:endCxn id="806923" idx="0"/>
          </p:cNvCxnSpPr>
          <p:nvPr/>
        </p:nvCxnSpPr>
        <p:spPr bwMode="auto">
          <a:xfrm>
            <a:off x="4913312" y="4800599"/>
            <a:ext cx="0" cy="381000"/>
          </a:xfrm>
          <a:prstGeom prst="straightConnector1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806925" name="Group 13">
            <a:extLst>
              <a:ext uri="{FF2B5EF4-FFF2-40B4-BE49-F238E27FC236}">
                <a16:creationId xmlns:a16="http://schemas.microsoft.com/office/drawing/2014/main" id="{C2A97285-3F09-4307-AA43-68F5FC3B9FC4}"/>
              </a:ext>
            </a:extLst>
          </p:cNvPr>
          <p:cNvGrpSpPr>
            <a:grpSpLocks/>
          </p:cNvGrpSpPr>
          <p:nvPr/>
        </p:nvGrpSpPr>
        <p:grpSpPr bwMode="auto">
          <a:xfrm>
            <a:off x="2305050" y="2879726"/>
            <a:ext cx="5203825" cy="731838"/>
            <a:chOff x="1440" y="2006"/>
            <a:chExt cx="3278" cy="461"/>
          </a:xfrm>
        </p:grpSpPr>
        <p:sp>
          <p:nvSpPr>
            <p:cNvPr id="806926" name="AutoShape 14">
              <a:extLst>
                <a:ext uri="{FF2B5EF4-FFF2-40B4-BE49-F238E27FC236}">
                  <a16:creationId xmlns:a16="http://schemas.microsoft.com/office/drawing/2014/main" id="{21F15079-5FB1-4CA8-BE73-50C2B36CAF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2137"/>
              <a:ext cx="1598" cy="330"/>
            </a:xfrm>
            <a:prstGeom prst="curvedRightArrow">
              <a:avLst>
                <a:gd name="adj1" fmla="val 11616"/>
                <a:gd name="adj2" fmla="val 26282"/>
                <a:gd name="adj3" fmla="val 34566"/>
              </a:avLst>
            </a:prstGeom>
            <a:solidFill>
              <a:srgbClr val="00FF00">
                <a:alpha val="5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 anchorCtr="1">
              <a:spAutoFit/>
            </a:bodyPr>
            <a:lstStyle/>
            <a:p>
              <a:endParaRPr lang="en-US"/>
            </a:p>
          </p:txBody>
        </p:sp>
        <p:sp>
          <p:nvSpPr>
            <p:cNvPr id="806927" name="AutoShape 15">
              <a:extLst>
                <a:ext uri="{FF2B5EF4-FFF2-40B4-BE49-F238E27FC236}">
                  <a16:creationId xmlns:a16="http://schemas.microsoft.com/office/drawing/2014/main" id="{FE86CE29-544B-4AB3-BF6B-C3C91382174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3120" y="2006"/>
              <a:ext cx="1598" cy="330"/>
            </a:xfrm>
            <a:prstGeom prst="curvedRightArrow">
              <a:avLst>
                <a:gd name="adj1" fmla="val 11356"/>
                <a:gd name="adj2" fmla="val 26282"/>
                <a:gd name="adj3" fmla="val 34566"/>
              </a:avLst>
            </a:prstGeom>
            <a:solidFill>
              <a:srgbClr val="00FF00">
                <a:alpha val="5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 anchorCtr="1">
              <a:spAutoFit/>
            </a:bodyPr>
            <a:lstStyle/>
            <a:p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BA8E4167-1130-4E65-A5D8-B14CF0786C99}"/>
              </a:ext>
            </a:extLst>
          </p:cNvPr>
          <p:cNvSpPr/>
          <p:nvPr/>
        </p:nvSpPr>
        <p:spPr>
          <a:xfrm>
            <a:off x="227012" y="5042118"/>
            <a:ext cx="8654805" cy="18158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/>
              <a:t>Characteristics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dirty="0"/>
              <a:t>Iteration on both </a:t>
            </a:r>
            <a:r>
              <a:rPr lang="en-US" altLang="en-US" b="1" dirty="0"/>
              <a:t>functional</a:t>
            </a:r>
            <a:r>
              <a:rPr lang="en-US" altLang="en-US" dirty="0"/>
              <a:t> </a:t>
            </a:r>
            <a:r>
              <a:rPr lang="en-US" altLang="en-US" b="1" dirty="0"/>
              <a:t>and quality requirements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dirty="0"/>
              <a:t>Balancing of functional and quality requirements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592E1F05-46C2-4754-A598-0C87F64A84E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60730" y="2140549"/>
            <a:ext cx="346075" cy="599053"/>
          </a:xfrm>
          <a:prstGeom prst="leftRightArrow">
            <a:avLst>
              <a:gd name="adj1" fmla="val 50000"/>
              <a:gd name="adj2" fmla="val 28235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9621FE-5B92-4626-934A-DCCECD6FD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5598A2-17A2-444F-952B-9804449BE04B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082" name="Rectangle 2">
            <a:extLst>
              <a:ext uri="{FF2B5EF4-FFF2-40B4-BE49-F238E27FC236}">
                <a16:creationId xmlns:a16="http://schemas.microsoft.com/office/drawing/2014/main" id="{0E0C023E-9FD5-4E7D-9E25-C5973F720D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Why Is Architecture Important?</a:t>
            </a:r>
          </a:p>
        </p:txBody>
      </p:sp>
      <p:sp>
        <p:nvSpPr>
          <p:cNvPr id="814083" name="Rectangle 3">
            <a:extLst>
              <a:ext uri="{FF2B5EF4-FFF2-40B4-BE49-F238E27FC236}">
                <a16:creationId xmlns:a16="http://schemas.microsoft.com/office/drawing/2014/main" id="{6090F1C3-B73A-453B-92A4-388540FC22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lnSpc>
                <a:spcPct val="90000"/>
              </a:lnSpc>
            </a:pPr>
            <a:r>
              <a:rPr lang="en-US" altLang="en-US" sz="2800" dirty="0"/>
              <a:t>Architecture is the vehicle for stakeholder communication</a:t>
            </a:r>
          </a:p>
          <a:p>
            <a:pPr marL="342900" indent="-342900">
              <a:lnSpc>
                <a:spcPct val="90000"/>
              </a:lnSpc>
            </a:pPr>
            <a:endParaRPr lang="en-US" altLang="en-US" sz="2800" dirty="0"/>
          </a:p>
          <a:p>
            <a:pPr marL="342900" indent="-342900">
              <a:lnSpc>
                <a:spcPct val="90000"/>
              </a:lnSpc>
            </a:pPr>
            <a:r>
              <a:rPr lang="en-US" altLang="en-US" sz="2800" dirty="0"/>
              <a:t>Architecture manifests the </a:t>
            </a:r>
            <a:r>
              <a:rPr lang="en-US" altLang="en-US" sz="2800" b="1" dirty="0"/>
              <a:t>earliest set of design decisions</a:t>
            </a:r>
          </a:p>
          <a:p>
            <a:pPr marL="742950" lvl="1" indent="-285750">
              <a:lnSpc>
                <a:spcPct val="90000"/>
              </a:lnSpc>
            </a:pPr>
            <a:r>
              <a:rPr lang="en-US" altLang="en-US" sz="2400" dirty="0"/>
              <a:t>Constraints on implementation</a:t>
            </a:r>
          </a:p>
          <a:p>
            <a:pPr marL="742950" lvl="1" indent="-285750">
              <a:lnSpc>
                <a:spcPct val="90000"/>
              </a:lnSpc>
            </a:pPr>
            <a:r>
              <a:rPr lang="en-US" altLang="en-US" sz="2400" dirty="0"/>
              <a:t>Dictates organizational structure</a:t>
            </a:r>
          </a:p>
          <a:p>
            <a:pPr marL="742950" lvl="1" indent="-285750">
              <a:lnSpc>
                <a:spcPct val="90000"/>
              </a:lnSpc>
            </a:pPr>
            <a:r>
              <a:rPr lang="en-US" altLang="en-US" sz="2400" dirty="0"/>
              <a:t>Inhibits or enable quality attributes</a:t>
            </a:r>
          </a:p>
          <a:p>
            <a:pPr marL="742950" lvl="1" indent="-285750">
              <a:lnSpc>
                <a:spcPct val="90000"/>
              </a:lnSpc>
            </a:pPr>
            <a:endParaRPr lang="en-US" alt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DC379D-F693-4688-9139-CEC8B463B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D2AD-F382-4D20-B48B-38997EF4C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A26F8-6752-4978-AE86-2F1BE11D1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 of Software Architecture</a:t>
            </a:r>
          </a:p>
          <a:p>
            <a:r>
              <a:rPr lang="en-US" b="1" dirty="0"/>
              <a:t>Driver of Software Architecture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78A5F-E43D-4611-96F3-3FE3FF641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990352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A701B64-A2DD-452D-8BD7-C091F23D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Driver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789E302-F86E-4748-9809-7B88C47E7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Architectural driver </a:t>
            </a:r>
            <a:r>
              <a:rPr lang="en-US" sz="2800" dirty="0"/>
              <a:t>is a </a:t>
            </a:r>
            <a:r>
              <a:rPr lang="en-US" sz="2800" b="1" dirty="0"/>
              <a:t>design requirement </a:t>
            </a:r>
            <a:r>
              <a:rPr lang="en-US" sz="2800" dirty="0"/>
              <a:t>that will influence the software architects' </a:t>
            </a:r>
            <a:r>
              <a:rPr lang="en-US" sz="2800" b="1" dirty="0"/>
              <a:t>early design decisions</a:t>
            </a:r>
            <a:r>
              <a:rPr lang="en-US" sz="28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Note: </a:t>
            </a:r>
          </a:p>
          <a:p>
            <a:pPr lvl="1"/>
            <a:r>
              <a:rPr lang="en-US" sz="2400" dirty="0"/>
              <a:t>Functional features (aka functionality) are software requirements, not sufficient to serve as the architectural drivers.</a:t>
            </a:r>
          </a:p>
          <a:p>
            <a:pPr lvl="1"/>
            <a:r>
              <a:rPr lang="en-US" sz="2400" dirty="0"/>
              <a:t>Architecture deals with non-functional requirements (e.g., solutions with different quality to achieve the same functionality)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CEC5ED-BE2B-49CA-9914-4539299F2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FA675B-1F56-4A1F-B974-9460B94FF877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27143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0E99D-2132-4983-81EC-5AD3A4EDD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8"/>
            <a:ext cx="10780712" cy="1143000"/>
          </a:xfrm>
        </p:spPr>
        <p:txBody>
          <a:bodyPr/>
          <a:lstStyle/>
          <a:p>
            <a:r>
              <a:rPr lang="en-US" sz="3600" dirty="0"/>
              <a:t>Exemplified </a:t>
            </a:r>
            <a:r>
              <a:rPr lang="en-US" sz="3600" dirty="0">
                <a:solidFill>
                  <a:srgbClr val="0070C0"/>
                </a:solidFill>
              </a:rPr>
              <a:t>Drivers</a:t>
            </a:r>
            <a:r>
              <a:rPr lang="en-US" sz="3600" dirty="0"/>
              <a:t> of New Infrastructure</a:t>
            </a:r>
            <a:br>
              <a:rPr lang="en-US" sz="3600" dirty="0"/>
            </a:br>
            <a:r>
              <a:rPr lang="en-US" sz="1400" dirty="0"/>
              <a:t>https://www.hkma.gov.hk/eng/key-functions/international-financial-centre/infrastructure/faster-payment-system.shtml</a:t>
            </a:r>
            <a:endParaRPr lang="en-US" sz="36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9D08A0-F479-4891-A139-BDFC6F1D0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2812" y="1219200"/>
            <a:ext cx="4375150" cy="639762"/>
          </a:xfrm>
        </p:spPr>
        <p:txBody>
          <a:bodyPr/>
          <a:lstStyle/>
          <a:p>
            <a:r>
              <a:rPr lang="en-US" dirty="0"/>
              <a:t>Faster Payment System (FPS)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6FCE0F-4329-4DAA-968B-3FD35B538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2811" y="1858962"/>
            <a:ext cx="5180013" cy="3951288"/>
          </a:xfrm>
        </p:spPr>
        <p:txBody>
          <a:bodyPr/>
          <a:lstStyle/>
          <a:p>
            <a:r>
              <a:rPr lang="en-US" dirty="0"/>
              <a:t>Feature</a:t>
            </a:r>
          </a:p>
          <a:p>
            <a:pPr lvl="1"/>
            <a:r>
              <a:rPr lang="en-US" dirty="0"/>
              <a:t>Fund transfer between accounts</a:t>
            </a:r>
          </a:p>
          <a:p>
            <a:pPr lvl="1"/>
            <a:r>
              <a:rPr lang="en-US" dirty="0"/>
              <a:t>Settlement</a:t>
            </a:r>
          </a:p>
          <a:p>
            <a:pPr lvl="1"/>
            <a:r>
              <a:rPr lang="en-US" dirty="0"/>
              <a:t>QR code</a:t>
            </a:r>
          </a:p>
          <a:p>
            <a:r>
              <a:rPr lang="en-US" b="1" dirty="0"/>
              <a:t>Good qualities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Real-time</a:t>
            </a:r>
            <a:r>
              <a:rPr lang="en-US" dirty="0">
                <a:solidFill>
                  <a:srgbClr val="00B0F0"/>
                </a:solidFill>
              </a:rPr>
              <a:t> </a:t>
            </a:r>
            <a:r>
              <a:rPr lang="en-US" dirty="0"/>
              <a:t>and</a:t>
            </a:r>
            <a:r>
              <a:rPr lang="en-US" dirty="0">
                <a:solidFill>
                  <a:srgbClr val="00B0F0"/>
                </a:solidFill>
              </a:rPr>
              <a:t> </a:t>
            </a:r>
            <a:r>
              <a:rPr lang="en-US" b="1" dirty="0">
                <a:solidFill>
                  <a:srgbClr val="00B0F0"/>
                </a:solidFill>
              </a:rPr>
              <a:t>always-on</a:t>
            </a:r>
            <a:r>
              <a:rPr lang="en-US" b="1" dirty="0"/>
              <a:t> </a:t>
            </a:r>
            <a:r>
              <a:rPr lang="en-US" dirty="0"/>
              <a:t>fund transfer  and settlement  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Cross-platform</a:t>
            </a:r>
            <a:r>
              <a:rPr lang="en-US" dirty="0"/>
              <a:t>, reliable</a:t>
            </a:r>
          </a:p>
          <a:p>
            <a:pPr lvl="1"/>
            <a:r>
              <a:rPr lang="en-US" dirty="0"/>
              <a:t>Easy to use by merchants &amp; customers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Easy to add new features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Single</a:t>
            </a:r>
            <a:r>
              <a:rPr lang="en-US" dirty="0"/>
              <a:t> common QR code </a:t>
            </a:r>
            <a:r>
              <a:rPr lang="en-US" b="1" dirty="0">
                <a:solidFill>
                  <a:srgbClr val="00B0F0"/>
                </a:solidFill>
              </a:rPr>
              <a:t>standard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0EF2E35-DB6E-493F-B9FE-3A231D358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95300" y="1219200"/>
            <a:ext cx="4376737" cy="639762"/>
          </a:xfrm>
        </p:spPr>
        <p:txBody>
          <a:bodyPr/>
          <a:lstStyle/>
          <a:p>
            <a:r>
              <a:rPr lang="en-US" dirty="0"/>
              <a:t>Traditional Payment System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1A8D36-74E4-487F-8A7A-AC875B7D74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5300" y="1858962"/>
            <a:ext cx="4376737" cy="3951288"/>
          </a:xfrm>
        </p:spPr>
        <p:txBody>
          <a:bodyPr/>
          <a:lstStyle/>
          <a:p>
            <a:r>
              <a:rPr lang="en-US" dirty="0"/>
              <a:t>Feature</a:t>
            </a:r>
          </a:p>
          <a:p>
            <a:pPr lvl="1"/>
            <a:r>
              <a:rPr lang="en-US" dirty="0"/>
              <a:t>Fund transfer between accounts</a:t>
            </a:r>
          </a:p>
          <a:p>
            <a:pPr lvl="1"/>
            <a:r>
              <a:rPr lang="en-US" dirty="0"/>
              <a:t>Settlement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Good qualities </a:t>
            </a:r>
          </a:p>
          <a:p>
            <a:pPr lvl="1"/>
            <a:r>
              <a:rPr lang="en-US" dirty="0"/>
              <a:t>T+2 settlement </a:t>
            </a:r>
          </a:p>
          <a:p>
            <a:pPr lvl="1"/>
            <a:r>
              <a:rPr lang="en-US" dirty="0"/>
              <a:t>Single platform, reliable </a:t>
            </a:r>
          </a:p>
          <a:p>
            <a:pPr lvl="1"/>
            <a:r>
              <a:rPr lang="en-US" dirty="0"/>
              <a:t>Easy to use by merchants &amp; customers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BEE9B-6BD2-4451-9DF9-FBEEDE505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582162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9F54DCF-B691-4CE0-B534-2B2ECECE4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 on Quality Differences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60DB2D0-3F82-4E28-88F4-CFF7AABC3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Keeping</a:t>
            </a:r>
            <a:r>
              <a:rPr lang="en-US" sz="2800" dirty="0"/>
              <a:t>: reliable, easy to use by merchants &amp; customers</a:t>
            </a:r>
          </a:p>
          <a:p>
            <a:r>
              <a:rPr lang="en-US" sz="2800" b="1" dirty="0"/>
              <a:t>Improvement</a:t>
            </a:r>
            <a:r>
              <a:rPr lang="en-US" sz="2800" dirty="0"/>
              <a:t>: T+2 =&gt; real-time and always-on</a:t>
            </a:r>
          </a:p>
          <a:p>
            <a:r>
              <a:rPr lang="en-US" sz="2800" b="1" dirty="0"/>
              <a:t>Generalization</a:t>
            </a:r>
            <a:r>
              <a:rPr lang="en-US" sz="2800" dirty="0"/>
              <a:t>: single platform =&gt; cross-platform</a:t>
            </a:r>
          </a:p>
          <a:p>
            <a:r>
              <a:rPr lang="en-US" sz="2800" b="1" dirty="0"/>
              <a:t>Extension</a:t>
            </a:r>
            <a:r>
              <a:rPr lang="en-US" sz="2800" dirty="0"/>
              <a:t>: easy to add new features, single standard for QR code</a:t>
            </a:r>
          </a:p>
          <a:p>
            <a:endParaRPr lang="en-US" sz="2800" dirty="0"/>
          </a:p>
          <a:p>
            <a:r>
              <a:rPr lang="en-US" sz="2800" dirty="0"/>
              <a:t>So, even if QR code is banned as a feature (and thus, both traditional payment system and FPS has no difference in functional requirement), FPS still needs to address the other quality attributes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9FCCCE-99FE-49EE-95A8-85B1D1208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FA675B-1F56-4A1F-B974-9460B94FF877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577794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D2AD-F382-4D20-B48B-38997EF4C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A26F8-6752-4978-AE86-2F1BE11D1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 of Software Architecture</a:t>
            </a:r>
          </a:p>
          <a:p>
            <a:r>
              <a:rPr lang="en-US" dirty="0"/>
              <a:t>Driver of Software Architecture </a:t>
            </a:r>
          </a:p>
          <a:p>
            <a:r>
              <a:rPr lang="en-US" b="1" dirty="0"/>
              <a:t>Quality Attributes and Patterns/Tactics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78A5F-E43D-4611-96F3-3FE3FF641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550494"/>
      </p:ext>
    </p:extLst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FC460-9A95-4495-AE1A-2905AAF5D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8BB2E-FD81-4114-845A-B827A160E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Functional requirements </a:t>
            </a:r>
            <a:r>
              <a:rPr lang="en-US" sz="2800" dirty="0"/>
              <a:t>specify what the software system needs to do to satisfy the fundamental reasons for the system’s existence.</a:t>
            </a:r>
          </a:p>
          <a:p>
            <a:endParaRPr lang="en-US" sz="2800" dirty="0"/>
          </a:p>
          <a:p>
            <a:pPr lvl="1"/>
            <a:endParaRPr lang="en-US" sz="24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4F884-6B85-4D67-BA9D-5303BB3D5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242304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178" name="Rectangle 2">
            <a:extLst>
              <a:ext uri="{FF2B5EF4-FFF2-40B4-BE49-F238E27FC236}">
                <a16:creationId xmlns:a16="http://schemas.microsoft.com/office/drawing/2014/main" id="{1E8D628E-67B3-4631-A883-67BF7E6D67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Software Architecture &amp; Quality</a:t>
            </a:r>
          </a:p>
        </p:txBody>
      </p:sp>
      <p:sp>
        <p:nvSpPr>
          <p:cNvPr id="690179" name="Rectangle 3">
            <a:extLst>
              <a:ext uri="{FF2B5EF4-FFF2-40B4-BE49-F238E27FC236}">
                <a16:creationId xmlns:a16="http://schemas.microsoft.com/office/drawing/2014/main" id="{B5343B75-CE85-4026-8F1E-E92E5BBFDD7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31490" y="1656885"/>
            <a:ext cx="9036050" cy="4953000"/>
          </a:xfrm>
        </p:spPr>
        <p:txBody>
          <a:bodyPr/>
          <a:lstStyle/>
          <a:p>
            <a:pPr marL="342900" indent="-342900"/>
            <a:r>
              <a:rPr lang="en-US" altLang="en-US" sz="2800" dirty="0"/>
              <a:t>The notion of </a:t>
            </a:r>
            <a:r>
              <a:rPr lang="en-US" altLang="en-US" sz="2800" b="1" dirty="0"/>
              <a:t>quality</a:t>
            </a:r>
            <a:r>
              <a:rPr lang="en-US" altLang="en-US" sz="2800" dirty="0"/>
              <a:t> is central in software architecting.</a:t>
            </a:r>
          </a:p>
          <a:p>
            <a:pPr marL="342900" indent="-342900"/>
            <a:endParaRPr lang="en-US" altLang="en-US" sz="2800" dirty="0"/>
          </a:p>
          <a:p>
            <a:pPr marL="342900" indent="-342900"/>
            <a:r>
              <a:rPr lang="en-US" altLang="en-US" sz="2800" dirty="0"/>
              <a:t>Some qualities are observable via execution: performance, security, availability, functionality, usability</a:t>
            </a:r>
          </a:p>
          <a:p>
            <a:pPr marL="342900" indent="-342900"/>
            <a:endParaRPr lang="en-US" altLang="en-US" sz="2800" dirty="0"/>
          </a:p>
          <a:p>
            <a:pPr marL="342900" indent="-342900"/>
            <a:r>
              <a:rPr lang="en-US" altLang="en-US" sz="2800" dirty="0"/>
              <a:t>Some others are not observable via execution: modifiability, portability, reusability, integrability, testability</a:t>
            </a:r>
          </a:p>
          <a:p>
            <a:pPr marL="342900" indent="-342900"/>
            <a:endParaRPr lang="en-US" altLang="en-US" sz="2800" dirty="0"/>
          </a:p>
          <a:p>
            <a:pPr marL="342900" indent="-342900"/>
            <a:r>
              <a:rPr lang="en-US" altLang="en-US" sz="2800" dirty="0"/>
              <a:t>Quality also affects different aspects of software projects</a:t>
            </a:r>
          </a:p>
          <a:p>
            <a:pPr marL="342900" indent="-342900"/>
            <a:endParaRPr lang="en-US" altLang="en-US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CD184-8561-4F29-A544-6EAD1D719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DFA8-0778-42F6-896B-2D337800E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D97FC-E95F-432E-B358-1C278CB1B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 quality attribute is a </a:t>
            </a:r>
            <a:r>
              <a:rPr lang="en-US" sz="2800" b="1" dirty="0"/>
              <a:t>measurable or testable </a:t>
            </a:r>
            <a:r>
              <a:rPr lang="en-US" sz="2800" dirty="0"/>
              <a:t>property of a system that is used to indicate how well the system satisfies the needs of its stakeholders</a:t>
            </a:r>
          </a:p>
          <a:p>
            <a:r>
              <a:rPr lang="it-IT" sz="2800" dirty="0"/>
              <a:t>E.g., Quality Attributes in ISO/IEC 25010:2011 Quality Model</a:t>
            </a:r>
            <a:endParaRPr lang="en-US" sz="2800" dirty="0"/>
          </a:p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FCDA2-A6E7-465B-9186-2489563E5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  <p:pic>
        <p:nvPicPr>
          <p:cNvPr id="5" name="Picture 2" descr="https://iso25000.com/images/figures/en/iso25010.png">
            <a:extLst>
              <a:ext uri="{FF2B5EF4-FFF2-40B4-BE49-F238E27FC236}">
                <a16:creationId xmlns:a16="http://schemas.microsoft.com/office/drawing/2014/main" id="{C05F7238-128D-4C26-8670-7A2F47D68B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0638" y="3443868"/>
            <a:ext cx="9902825" cy="2800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EB3BFD1-C9A4-44D5-B0DF-D3EEF41B4728}"/>
              </a:ext>
            </a:extLst>
          </p:cNvPr>
          <p:cNvSpPr/>
          <p:nvPr/>
        </p:nvSpPr>
        <p:spPr>
          <a:xfrm>
            <a:off x="150812" y="6142860"/>
            <a:ext cx="9234913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Optional Reading</a:t>
            </a:r>
            <a:r>
              <a:rPr lang="en-US" sz="2000" dirty="0"/>
              <a:t>: briefly </a:t>
            </a:r>
            <a:r>
              <a:rPr lang="en-US" sz="1800" dirty="0"/>
              <a:t>read the elaboration of each quality attribute to get some ideas on what they are: https://iso25000.com/index.php/en/iso-25000-standards/iso-25010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30099591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AA1BE-03C0-6642-6A99-44D7E490F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Measurable / Testable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68A13-F13C-5EAE-4870-F14C4B5C2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Without knowing how far the current system is from a goal, designing a system to meet this goal is impossible. </a:t>
            </a:r>
          </a:p>
          <a:p>
            <a:pPr marL="0" indent="0">
              <a:buNone/>
            </a:pPr>
            <a:endParaRPr lang="en-US" sz="2800" dirty="0"/>
          </a:p>
          <a:p>
            <a:pPr lvl="1"/>
            <a:r>
              <a:rPr lang="en-US" sz="2400" dirty="0"/>
              <a:t>[</a:t>
            </a:r>
            <a:r>
              <a:rPr lang="en-US" sz="2400" b="1" dirty="0">
                <a:solidFill>
                  <a:srgbClr val="FF0000"/>
                </a:solidFill>
              </a:rPr>
              <a:t>non-measurable</a:t>
            </a:r>
            <a:r>
              <a:rPr lang="en-US" sz="2400" dirty="0"/>
              <a:t>] As a customer, I can see the </a:t>
            </a:r>
            <a:r>
              <a:rPr lang="en-US" sz="2400" dirty="0">
                <a:solidFill>
                  <a:srgbClr val="FF0000"/>
                </a:solidFill>
              </a:rPr>
              <a:t>prices</a:t>
            </a:r>
            <a:r>
              <a:rPr lang="en-US" sz="2400" dirty="0"/>
              <a:t> of </a:t>
            </a:r>
            <a:r>
              <a:rPr lang="en-US" sz="2400" dirty="0">
                <a:solidFill>
                  <a:srgbClr val="00B050"/>
                </a:solidFill>
              </a:rPr>
              <a:t>all</a:t>
            </a:r>
            <a:r>
              <a:rPr lang="en-US" sz="2400" dirty="0"/>
              <a:t> cryptocurrencies </a:t>
            </a:r>
            <a:r>
              <a:rPr lang="en-US" sz="2400" dirty="0">
                <a:solidFill>
                  <a:srgbClr val="FF0000"/>
                </a:solidFill>
              </a:rPr>
              <a:t>quickly</a:t>
            </a:r>
          </a:p>
          <a:p>
            <a:pPr lvl="2"/>
            <a:endParaRPr lang="en-US" sz="2000" dirty="0"/>
          </a:p>
          <a:p>
            <a:pPr lvl="1"/>
            <a:r>
              <a:rPr lang="en-US" sz="2400" dirty="0"/>
              <a:t>[</a:t>
            </a:r>
            <a:r>
              <a:rPr lang="en-US" sz="2400" b="1" dirty="0">
                <a:solidFill>
                  <a:srgbClr val="00B050"/>
                </a:solidFill>
              </a:rPr>
              <a:t>measurable</a:t>
            </a:r>
            <a:r>
              <a:rPr lang="en-US" sz="2400" dirty="0"/>
              <a:t>] As a customer, I can see the </a:t>
            </a:r>
            <a:r>
              <a:rPr lang="en-US" sz="2400" dirty="0">
                <a:solidFill>
                  <a:srgbClr val="00B050"/>
                </a:solidFill>
              </a:rPr>
              <a:t>latest and 4 historic</a:t>
            </a:r>
            <a:r>
              <a:rPr lang="en-US" sz="2400" dirty="0"/>
              <a:t> prices of </a:t>
            </a:r>
            <a:r>
              <a:rPr lang="en-US" sz="2400" dirty="0">
                <a:solidFill>
                  <a:srgbClr val="00B050"/>
                </a:solidFill>
              </a:rPr>
              <a:t>20</a:t>
            </a:r>
            <a:r>
              <a:rPr lang="en-US" sz="2400" dirty="0"/>
              <a:t> cryptocurrencies I selected </a:t>
            </a:r>
            <a:r>
              <a:rPr lang="en-US" sz="2400" dirty="0">
                <a:solidFill>
                  <a:srgbClr val="00B050"/>
                </a:solidFill>
              </a:rPr>
              <a:t>in a second</a:t>
            </a:r>
            <a:r>
              <a:rPr lang="en-US" sz="2400" dirty="0"/>
              <a:t>.</a:t>
            </a:r>
          </a:p>
          <a:p>
            <a:pPr lvl="2"/>
            <a:r>
              <a:rPr lang="en-US" sz="2000" dirty="0"/>
              <a:t>We can see that if “in a second” is changed to “in 0.02 seconds”, the system requires more designs to meet this goal.</a:t>
            </a:r>
          </a:p>
          <a:p>
            <a:pPr lvl="2"/>
            <a:endParaRPr lang="en-US" sz="2000" dirty="0"/>
          </a:p>
          <a:p>
            <a:r>
              <a:rPr lang="en-US" sz="2800" dirty="0"/>
              <a:t>As an analyst, we should aim to get the measurable one.</a:t>
            </a:r>
          </a:p>
          <a:p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F9972F-C6CA-6EE4-736D-66E3F3B1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D6D3E1-3D32-07C9-9E42-4FB9CE7D404C}"/>
              </a:ext>
            </a:extLst>
          </p:cNvPr>
          <p:cNvSpPr txBox="1"/>
          <p:nvPr/>
        </p:nvSpPr>
        <p:spPr>
          <a:xfrm>
            <a:off x="8304212" y="3657600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measurable</a:t>
            </a:r>
            <a:endParaRPr lang="en-HK" sz="1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3B3B81-D633-69BA-50F6-D054F9AB97A5}"/>
              </a:ext>
            </a:extLst>
          </p:cNvPr>
          <p:cNvCxnSpPr/>
          <p:nvPr/>
        </p:nvCxnSpPr>
        <p:spPr bwMode="auto">
          <a:xfrm flipH="1" flipV="1">
            <a:off x="8532812" y="3505200"/>
            <a:ext cx="152400" cy="234434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8A40DA6-6764-EC63-AC7E-8E38CEE7DC3E}"/>
              </a:ext>
            </a:extLst>
          </p:cNvPr>
          <p:cNvSpPr txBox="1"/>
          <p:nvPr/>
        </p:nvSpPr>
        <p:spPr>
          <a:xfrm>
            <a:off x="4570412" y="3733800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non-measurable</a:t>
            </a:r>
            <a:endParaRPr lang="en-HK" sz="18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3C7323-21A5-9DB2-BA41-4316CAD275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418012" y="3792498"/>
            <a:ext cx="213152" cy="131802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Left Brace 10">
            <a:extLst>
              <a:ext uri="{FF2B5EF4-FFF2-40B4-BE49-F238E27FC236}">
                <a16:creationId xmlns:a16="http://schemas.microsoft.com/office/drawing/2014/main" id="{D0AB3EE7-BD1F-8F72-7667-A342FA4562BE}"/>
              </a:ext>
            </a:extLst>
          </p:cNvPr>
          <p:cNvSpPr/>
          <p:nvPr/>
        </p:nvSpPr>
        <p:spPr bwMode="auto">
          <a:xfrm rot="5400000">
            <a:off x="7847011" y="2438401"/>
            <a:ext cx="152399" cy="1371599"/>
          </a:xfrm>
          <a:prstGeom prst="leftBrace">
            <a:avLst>
              <a:gd name="adj1" fmla="val 0"/>
              <a:gd name="adj2" fmla="val 50000"/>
            </a:avLst>
          </a:prstGeom>
          <a:ln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47BCE3-4669-E622-CFAB-E703E3C6C19A}"/>
              </a:ext>
            </a:extLst>
          </p:cNvPr>
          <p:cNvSpPr txBox="1"/>
          <p:nvPr/>
        </p:nvSpPr>
        <p:spPr>
          <a:xfrm>
            <a:off x="5332412" y="2648318"/>
            <a:ext cx="5079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Testable if the context of “price” is understood</a:t>
            </a:r>
            <a:endParaRPr lang="en-HK" sz="1800" dirty="0"/>
          </a:p>
        </p:txBody>
      </p:sp>
    </p:spTree>
    <p:extLst>
      <p:ext uri="{BB962C8B-B14F-4D97-AF65-F5344CB8AC3E}">
        <p14:creationId xmlns:p14="http://schemas.microsoft.com/office/powerpoint/2010/main" val="248598972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0501D-70C0-ACB8-61DF-338A68B6C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Attributes Tradeoff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04F98-A131-D915-B88E-52F2FF1F0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Many pairs of “-</a:t>
            </a:r>
            <a:r>
              <a:rPr lang="en-US" sz="2800" dirty="0" err="1"/>
              <a:t>litiity</a:t>
            </a:r>
            <a:r>
              <a:rPr lang="en-US" sz="2800" dirty="0"/>
              <a:t>” form tradeoffs.</a:t>
            </a:r>
          </a:p>
          <a:p>
            <a:pPr lvl="1"/>
            <a:r>
              <a:rPr lang="en-US" sz="2400" dirty="0"/>
              <a:t>Improving the privacy =&gt; lowering usability</a:t>
            </a:r>
          </a:p>
          <a:p>
            <a:pPr lvl="1"/>
            <a:r>
              <a:rPr lang="en-US" sz="2400" dirty="0"/>
              <a:t>Higher performance =&gt; lower interoperability</a:t>
            </a:r>
          </a:p>
          <a:p>
            <a:pPr lvl="1"/>
            <a:r>
              <a:rPr lang="en-US" sz="2400" dirty="0"/>
              <a:t>Higher modularity =&gt; longer time-to-market</a:t>
            </a:r>
          </a:p>
          <a:p>
            <a:pPr lvl="1"/>
            <a:r>
              <a:rPr lang="en-US" sz="2400" dirty="0"/>
              <a:t>Higher reliability =&gt; lower performance</a:t>
            </a:r>
          </a:p>
          <a:p>
            <a:pPr lvl="1"/>
            <a:r>
              <a:rPr lang="en-US" sz="2400" dirty="0"/>
              <a:t>Quicker time-to-market and lower cost =&gt; lower stability </a:t>
            </a:r>
          </a:p>
          <a:p>
            <a:pPr lvl="1"/>
            <a:r>
              <a:rPr lang="en-US" sz="2400" dirty="0"/>
              <a:t>…</a:t>
            </a:r>
          </a:p>
          <a:p>
            <a:r>
              <a:rPr lang="en-US" sz="2800" dirty="0"/>
              <a:t>We should be aware that addressing one quality attribute by a </a:t>
            </a:r>
            <a:r>
              <a:rPr lang="en-US" sz="2800" i="1" dirty="0"/>
              <a:t>system decomposition</a:t>
            </a:r>
            <a:r>
              <a:rPr lang="en-US" sz="2800" dirty="0"/>
              <a:t> should evaluate its impact on some other quality attributes (within the domain model and among the quality attributes of the requirements)</a:t>
            </a:r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7370B-34AE-2DF5-276E-2547F844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601574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A09EC8E-556B-7B58-4227-714322BEBDEA}"/>
              </a:ext>
            </a:extLst>
          </p:cNvPr>
          <p:cNvGrpSpPr/>
          <p:nvPr/>
        </p:nvGrpSpPr>
        <p:grpSpPr>
          <a:xfrm>
            <a:off x="875110" y="2590800"/>
            <a:ext cx="989806" cy="762837"/>
            <a:chOff x="8216590" y="1721696"/>
            <a:chExt cx="989806" cy="762837"/>
          </a:xfrm>
        </p:grpSpPr>
        <p:sp>
          <p:nvSpPr>
            <p:cNvPr id="19" name="Explosion: 14 Points 18">
              <a:extLst>
                <a:ext uri="{FF2B5EF4-FFF2-40B4-BE49-F238E27FC236}">
                  <a16:creationId xmlns:a16="http://schemas.microsoft.com/office/drawing/2014/main" id="{2AC5C997-19D3-C5E1-E057-DDA15FA65EB3}"/>
                </a:ext>
              </a:extLst>
            </p:cNvPr>
            <p:cNvSpPr/>
            <p:nvPr/>
          </p:nvSpPr>
          <p:spPr bwMode="auto">
            <a:xfrm>
              <a:off x="8216590" y="1721696"/>
              <a:ext cx="621022" cy="564303"/>
            </a:xfrm>
            <a:prstGeom prst="irregularSeal2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dist="71842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HK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CA803A52-50BA-CCED-B715-F26BE61809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293738" y="1814565"/>
              <a:ext cx="492044" cy="4898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A8D94C49-61AC-52EE-4EE5-AFCD04EC9D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8994" y="2060671"/>
              <a:ext cx="747402" cy="4238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8280692-068A-3655-35A4-BADD1C12E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System Decomposition?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7CCE7-208C-E82B-AE85-678E8AAB4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6731C0-13B2-DC2A-60B3-B70702D9B7E9}"/>
              </a:ext>
            </a:extLst>
          </p:cNvPr>
          <p:cNvSpPr/>
          <p:nvPr/>
        </p:nvSpPr>
        <p:spPr bwMode="auto">
          <a:xfrm>
            <a:off x="746501" y="3450193"/>
            <a:ext cx="914400" cy="685800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Upload image</a:t>
            </a:r>
            <a:endParaRPr kumimoji="0" lang="en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26657D-F945-BE20-FCD2-61063D0113DF}"/>
              </a:ext>
            </a:extLst>
          </p:cNvPr>
          <p:cNvSpPr/>
          <p:nvPr/>
        </p:nvSpPr>
        <p:spPr bwMode="auto">
          <a:xfrm>
            <a:off x="3135398" y="3446690"/>
            <a:ext cx="1219200" cy="685800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Generate poem</a:t>
            </a:r>
            <a:endParaRPr kumimoji="0" lang="en-H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5705F3-7D94-0FB3-57B2-5A8F6D5F1E3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 bwMode="auto">
          <a:xfrm flipV="1">
            <a:off x="1660901" y="3789590"/>
            <a:ext cx="1474497" cy="3503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C0D754-10F7-BEB4-9B44-56E7EA71F9CC}"/>
              </a:ext>
            </a:extLst>
          </p:cNvPr>
          <p:cNvCxnSpPr>
            <a:endCxn id="6" idx="0"/>
          </p:cNvCxnSpPr>
          <p:nvPr/>
        </p:nvCxnSpPr>
        <p:spPr bwMode="auto">
          <a:xfrm flipH="1">
            <a:off x="1203701" y="3158791"/>
            <a:ext cx="52409" cy="291402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0FB935E-A68C-50A6-4D64-302026BBD241}"/>
              </a:ext>
            </a:extLst>
          </p:cNvPr>
          <p:cNvSpPr txBox="1"/>
          <p:nvPr/>
        </p:nvSpPr>
        <p:spPr>
          <a:xfrm>
            <a:off x="2806751" y="2919676"/>
            <a:ext cx="147449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 b="0" i="0" u="none" strike="noStrike" dirty="0"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床前明月光</a:t>
            </a:r>
            <a:r>
              <a:rPr lang="en-US" altLang="ja-JP" sz="1600" b="0" i="0" strike="noStrike" dirty="0"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…</a:t>
            </a:r>
            <a:endParaRPr lang="ja-JP" altLang="en-US" sz="1600" b="0" i="0" strike="noStrike" dirty="0">
              <a:solidFill>
                <a:srgbClr val="00B0F0"/>
              </a:solidFill>
              <a:effectLst/>
              <a:latin typeface="arial" panose="020B0604020202020204" pitchFamily="34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1CF0D56-CD7E-AD43-1D90-D2A461472099}"/>
              </a:ext>
            </a:extLst>
          </p:cNvPr>
          <p:cNvCxnSpPr>
            <a:cxnSpLocks/>
            <a:stCxn id="7" idx="0"/>
          </p:cNvCxnSpPr>
          <p:nvPr/>
        </p:nvCxnSpPr>
        <p:spPr bwMode="auto">
          <a:xfrm flipH="1" flipV="1">
            <a:off x="3668798" y="3219187"/>
            <a:ext cx="76200" cy="227503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BD8633C-E8ED-4073-8B95-56043D954067}"/>
              </a:ext>
            </a:extLst>
          </p:cNvPr>
          <p:cNvSpPr/>
          <p:nvPr/>
        </p:nvSpPr>
        <p:spPr bwMode="auto">
          <a:xfrm>
            <a:off x="2132411" y="3692191"/>
            <a:ext cx="198959" cy="228599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CD306-5C6F-E1D1-46CE-C2F8FFB8D4F9}"/>
              </a:ext>
            </a:extLst>
          </p:cNvPr>
          <p:cNvSpPr txBox="1"/>
          <p:nvPr/>
        </p:nvSpPr>
        <p:spPr>
          <a:xfrm>
            <a:off x="6068382" y="1714173"/>
            <a:ext cx="36160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Message forwarding</a:t>
            </a:r>
          </a:p>
          <a:p>
            <a:r>
              <a:rPr lang="en-US" sz="2400" dirty="0"/>
              <a:t>(hide the complexity)</a:t>
            </a:r>
            <a:endParaRPr lang="en-HK" sz="24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3EA6C2B-B492-170F-D446-6255FA1727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2365" y="2748261"/>
            <a:ext cx="3616098" cy="326709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EB17E00-AB81-9F55-284D-6C576D06D906}"/>
              </a:ext>
            </a:extLst>
          </p:cNvPr>
          <p:cNvSpPr txBox="1"/>
          <p:nvPr/>
        </p:nvSpPr>
        <p:spPr>
          <a:xfrm>
            <a:off x="1016873" y="2210891"/>
            <a:ext cx="3089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2 components + 1 connector</a:t>
            </a:r>
            <a:endParaRPr lang="en-HK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51EAD28-9DE0-FCC3-5FBF-65CED4544DAC}"/>
              </a:ext>
            </a:extLst>
          </p:cNvPr>
          <p:cNvSpPr txBox="1"/>
          <p:nvPr/>
        </p:nvSpPr>
        <p:spPr>
          <a:xfrm>
            <a:off x="371475" y="5863455"/>
            <a:ext cx="52725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Quality examples: </a:t>
            </a:r>
          </a:p>
          <a:p>
            <a:r>
              <a:rPr lang="en-US" dirty="0"/>
              <a:t>fast upload; scalable to many users </a:t>
            </a:r>
            <a:endParaRPr lang="en-HK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4EEE63-86B4-A9FB-7E45-6230D9B5C4BD}"/>
              </a:ext>
            </a:extLst>
          </p:cNvPr>
          <p:cNvSpPr txBox="1"/>
          <p:nvPr/>
        </p:nvSpPr>
        <p:spPr>
          <a:xfrm>
            <a:off x="1751012" y="3957509"/>
            <a:ext cx="14744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Message forwarding</a:t>
            </a:r>
          </a:p>
        </p:txBody>
      </p:sp>
    </p:spTree>
    <p:extLst>
      <p:ext uri="{BB962C8B-B14F-4D97-AF65-F5344CB8AC3E}">
        <p14:creationId xmlns:p14="http://schemas.microsoft.com/office/powerpoint/2010/main" val="644118680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9C96A-7782-3644-AC31-5D7325696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Exemplified Design Qualities [14] 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23A1B-B02E-48F0-91F5-F3FAB91D9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Feasibility</a:t>
            </a:r>
          </a:p>
          <a:p>
            <a:r>
              <a:rPr lang="en-US" sz="2800" dirty="0"/>
              <a:t>Reusability</a:t>
            </a:r>
          </a:p>
          <a:p>
            <a:r>
              <a:rPr lang="en-US" sz="2800" dirty="0"/>
              <a:t>Consistency</a:t>
            </a:r>
          </a:p>
          <a:p>
            <a:r>
              <a:rPr lang="en-US" sz="2800" dirty="0"/>
              <a:t>Simplicity</a:t>
            </a:r>
          </a:p>
          <a:p>
            <a:r>
              <a:rPr lang="en-US" sz="2800" dirty="0"/>
              <a:t>Stability</a:t>
            </a:r>
          </a:p>
          <a:p>
            <a:r>
              <a:rPr lang="en-US" sz="2800" dirty="0"/>
              <a:t>Composability</a:t>
            </a:r>
          </a:p>
          <a:p>
            <a:r>
              <a:rPr lang="en-US" sz="2800" dirty="0" err="1"/>
              <a:t>Deployability</a:t>
            </a:r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Let’s quickly look at some popular design qualities</a:t>
            </a:r>
          </a:p>
          <a:p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6DF3F-6E9B-576C-9CEC-7263658E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03341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F2CDB-E614-F842-EE80-7811FD2B5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Feasibility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DBC76-866D-8841-0B24-A01F07C85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386" y="1452500"/>
            <a:ext cx="9394825" cy="4953000"/>
          </a:xfrm>
        </p:spPr>
        <p:txBody>
          <a:bodyPr/>
          <a:lstStyle/>
          <a:p>
            <a:r>
              <a:rPr lang="en-US" sz="2800" dirty="0"/>
              <a:t>What is the chance of project success?</a:t>
            </a:r>
          </a:p>
          <a:p>
            <a:endParaRPr lang="en-US" sz="2800" dirty="0"/>
          </a:p>
          <a:p>
            <a:r>
              <a:rPr lang="en-US" sz="2800" dirty="0"/>
              <a:t>Time to market (feasible for D-day)?</a:t>
            </a:r>
          </a:p>
          <a:p>
            <a:pPr lvl="1"/>
            <a:r>
              <a:rPr lang="en-US" sz="2400" dirty="0"/>
              <a:t>Slower: build from scratch; all features; top-down decision making</a:t>
            </a:r>
          </a:p>
          <a:p>
            <a:pPr lvl="1"/>
            <a:r>
              <a:rPr lang="en-US" sz="2400" dirty="0"/>
              <a:t>Faster: reuse whenever possible; minimum product; developers make decisions</a:t>
            </a:r>
          </a:p>
          <a:p>
            <a:r>
              <a:rPr lang="en-US" sz="2800" dirty="0"/>
              <a:t>Affordability (enough resources to complete the project?)</a:t>
            </a:r>
          </a:p>
          <a:p>
            <a:pPr lvl="1"/>
            <a:r>
              <a:rPr lang="en-US" sz="2400" dirty="0"/>
              <a:t>by money? </a:t>
            </a:r>
          </a:p>
          <a:p>
            <a:pPr lvl="1"/>
            <a:r>
              <a:rPr lang="en-US" sz="2400" dirty="0"/>
              <a:t>by resources?</a:t>
            </a:r>
          </a:p>
          <a:p>
            <a:pPr lvl="2"/>
            <a:r>
              <a:rPr lang="en-US" sz="2000" dirty="0"/>
              <a:t>people (quality and quantity), time, environment (including </a:t>
            </a:r>
            <a:r>
              <a:rPr lang="en-US" sz="2000" dirty="0" err="1"/>
              <a:t>hardward</a:t>
            </a:r>
            <a:r>
              <a:rPr lang="en-US" sz="2000" dirty="0"/>
              <a:t>),…</a:t>
            </a:r>
          </a:p>
          <a:p>
            <a:pPr lvl="1"/>
            <a:r>
              <a:rPr lang="en-US" sz="2400" dirty="0"/>
              <a:t>How elastic are the available resources to cater for unanticipated events on top of a “reasonable schedule”?</a:t>
            </a:r>
          </a:p>
          <a:p>
            <a:pPr lvl="1"/>
            <a:endParaRPr lang="en-HK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5A5FA-C075-9DB6-8B4A-F71444B55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437841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81F4-0392-978A-EF47-D3AFA322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Reusability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FCEA8-01A1-4670-B7A1-3E54F754B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Reuse strategy</a:t>
            </a:r>
          </a:p>
          <a:p>
            <a:pPr lvl="1"/>
            <a:r>
              <a:rPr lang="en-US" sz="2400" dirty="0"/>
              <a:t>Duplication (multiple copies) versus Reference (shared copy)</a:t>
            </a:r>
          </a:p>
          <a:p>
            <a:pPr lvl="2"/>
            <a:r>
              <a:rPr lang="en-US" sz="2000" dirty="0"/>
              <a:t>Baseline is internal to the project or external to it?</a:t>
            </a:r>
          </a:p>
          <a:p>
            <a:pPr lvl="1"/>
            <a:r>
              <a:rPr lang="en-US" sz="2400" dirty="0"/>
              <a:t>General-purpose or domain-specific or feature-specific?</a:t>
            </a:r>
          </a:p>
          <a:p>
            <a:pPr lvl="2"/>
            <a:r>
              <a:rPr lang="en-US" sz="2000" dirty="0"/>
              <a:t>More generic =&gt; fewer constraints on other quality attributes</a:t>
            </a:r>
          </a:p>
          <a:p>
            <a:r>
              <a:rPr lang="en-US" sz="2800" dirty="0"/>
              <a:t>Pre-requisites of reuses available to the project  product</a:t>
            </a:r>
          </a:p>
          <a:p>
            <a:pPr lvl="1"/>
            <a:r>
              <a:rPr lang="en-US" sz="2400" dirty="0"/>
              <a:t>Open-source? Industry standard? Well-documented interface? Accessibility to the component? Quality?</a:t>
            </a:r>
            <a:endParaRPr lang="en-HK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CEA8-E56A-67B2-DFBD-332C849E7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283907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4616F-257A-B0B6-4DC3-6110F7205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Consistency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57BEE-CDD9-8BE5-5184-9ADE591B8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Is the design conceptually clean and coherent?</a:t>
            </a:r>
          </a:p>
          <a:p>
            <a:pPr lvl="1"/>
            <a:r>
              <a:rPr lang="en-US" sz="2400" dirty="0"/>
              <a:t>understanding a part and the general principle of a component can help generalize the understanding to the whole component</a:t>
            </a:r>
          </a:p>
          <a:p>
            <a:pPr lvl="1"/>
            <a:r>
              <a:rPr lang="en-US" sz="2400" dirty="0"/>
              <a:t>Reduce surprise. </a:t>
            </a:r>
          </a:p>
          <a:p>
            <a:pPr lvl="2"/>
            <a:r>
              <a:rPr lang="en-US" sz="2000" dirty="0"/>
              <a:t>E.g., Even if there is an exception, it is an exception across as many components as possible so that it forms a disciplined approach to exception handling.</a:t>
            </a:r>
          </a:p>
          <a:p>
            <a:r>
              <a:rPr lang="en-US" sz="2400" dirty="0"/>
              <a:t>Follow the architectural style constraint and document the major architectural decisions</a:t>
            </a:r>
          </a:p>
          <a:p>
            <a:pPr lvl="1"/>
            <a:r>
              <a:rPr lang="en-US" sz="2000" i="1" dirty="0"/>
              <a:t>Counterexample</a:t>
            </a:r>
            <a:r>
              <a:rPr lang="en-US" sz="2000" dirty="0"/>
              <a:t>: If modularity is a constraint, don’t use “go to” to jump between components without going through their interfaces</a:t>
            </a:r>
          </a:p>
          <a:p>
            <a:r>
              <a:rPr lang="en-US" sz="2400" dirty="0"/>
              <a:t>Follow the design principles and break it with a consistent reason</a:t>
            </a:r>
            <a:endParaRPr lang="en-HK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FE1418-FDB7-62DB-E88F-1EA67EBB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037457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EE0BA-29E0-3657-F1A4-D6057B4D3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Simplicity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53B-BC85-839D-9CDF-206EB7E15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024" y="1524000"/>
            <a:ext cx="9297987" cy="4953000"/>
          </a:xfrm>
        </p:spPr>
        <p:txBody>
          <a:bodyPr/>
          <a:lstStyle/>
          <a:p>
            <a:r>
              <a:rPr lang="en-US" sz="2800" dirty="0"/>
              <a:t>A complex problem does not necessarily need a complex solution. </a:t>
            </a:r>
          </a:p>
          <a:p>
            <a:pPr lvl="1"/>
            <a:r>
              <a:rPr lang="en-US" sz="2400" dirty="0"/>
              <a:t>Simple is beautiful </a:t>
            </a:r>
          </a:p>
          <a:p>
            <a:pPr lvl="1"/>
            <a:r>
              <a:rPr lang="en-US" sz="2400" dirty="0"/>
              <a:t>One general solution is better than many customized solutions</a:t>
            </a:r>
          </a:p>
          <a:p>
            <a:r>
              <a:rPr lang="en-US" sz="2800" dirty="0"/>
              <a:t>Strategy</a:t>
            </a:r>
          </a:p>
          <a:p>
            <a:pPr lvl="1"/>
            <a:r>
              <a:rPr lang="en-US" sz="2400" dirty="0"/>
              <a:t>Minimize variability of components </a:t>
            </a:r>
          </a:p>
          <a:p>
            <a:pPr lvl="1"/>
            <a:r>
              <a:rPr lang="en-US" sz="2400" dirty="0"/>
              <a:t>Minimize direct connections between components</a:t>
            </a:r>
          </a:p>
          <a:p>
            <a:pPr lvl="1"/>
            <a:r>
              <a:rPr lang="en-US" sz="2400" dirty="0"/>
              <a:t>Make each design decision concise and clean</a:t>
            </a:r>
          </a:p>
          <a:p>
            <a:pPr lvl="1"/>
            <a:r>
              <a:rPr lang="en-HK" sz="2400" dirty="0"/>
              <a:t>Refactoring the design if needed</a:t>
            </a:r>
          </a:p>
          <a:p>
            <a:pPr lvl="1"/>
            <a:r>
              <a:rPr lang="en-HK" sz="2400" dirty="0"/>
              <a:t>Identify a fundamental set of primitives and create solutions based on these primitives</a:t>
            </a:r>
          </a:p>
          <a:p>
            <a:pPr lvl="1"/>
            <a:r>
              <a:rPr lang="en-HK" sz="2400" dirty="0"/>
              <a:t>Change that requires compromising the simplicity? =&gt; think twice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6CC99-1A9A-CBA6-702B-630B1E126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978302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DB2D5-071A-493F-2D96-25F537354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Stability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4081D-2521-959E-42A8-1A6520237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812" y="1371600"/>
            <a:ext cx="9144000" cy="4953000"/>
          </a:xfrm>
        </p:spPr>
        <p:txBody>
          <a:bodyPr/>
          <a:lstStyle/>
          <a:p>
            <a:pPr>
              <a:spcBef>
                <a:spcPts val="400"/>
              </a:spcBef>
            </a:pPr>
            <a:r>
              <a:rPr lang="en-US" sz="2800" dirty="0"/>
              <a:t>Is the architectural design stable?</a:t>
            </a:r>
            <a:endParaRPr lang="en-US" sz="1050" dirty="0"/>
          </a:p>
          <a:p>
            <a:pPr>
              <a:spcBef>
                <a:spcPts val="400"/>
              </a:spcBef>
            </a:pPr>
            <a:r>
              <a:rPr lang="en-US" sz="2800" dirty="0"/>
              <a:t>If a design decision depends on </a:t>
            </a:r>
            <a:r>
              <a:rPr lang="en-US" sz="2800" i="1" dirty="0"/>
              <a:t>N</a:t>
            </a:r>
            <a:r>
              <a:rPr lang="en-US" sz="2800" dirty="0"/>
              <a:t> modules, changing one module may lead to changing the other </a:t>
            </a:r>
            <a:r>
              <a:rPr lang="en-US" sz="2800" i="1" dirty="0"/>
              <a:t>N</a:t>
            </a:r>
            <a:r>
              <a:rPr lang="en-US" sz="2800" i="1" dirty="0">
                <a:sym typeface="Symbol" panose="05050102010706020507" pitchFamily="18" charset="2"/>
              </a:rPr>
              <a:t></a:t>
            </a:r>
            <a:r>
              <a:rPr lang="en-US" sz="2800" dirty="0"/>
              <a:t>1 modules. </a:t>
            </a:r>
          </a:p>
          <a:p>
            <a:pPr lvl="1">
              <a:spcBef>
                <a:spcPts val="400"/>
              </a:spcBef>
            </a:pPr>
            <a:r>
              <a:rPr lang="en-US" sz="2400" dirty="0"/>
              <a:t>Not a wise design decision.</a:t>
            </a:r>
          </a:p>
          <a:p>
            <a:pPr lvl="1">
              <a:spcBef>
                <a:spcPts val="400"/>
              </a:spcBef>
            </a:pPr>
            <a:r>
              <a:rPr lang="en-US" sz="2400" dirty="0"/>
              <a:t>E.g., Use 100 open-source components in the current project. Incompatibility and different paces of development/bug fixing of these components easily make the project’s product unstable.</a:t>
            </a:r>
          </a:p>
          <a:p>
            <a:pPr>
              <a:spcBef>
                <a:spcPts val="400"/>
              </a:spcBef>
            </a:pPr>
            <a:r>
              <a:rPr lang="en-US" sz="2800" dirty="0"/>
              <a:t>A design decision can be fragile in some specific operating environments. </a:t>
            </a:r>
          </a:p>
          <a:p>
            <a:pPr lvl="1">
              <a:spcBef>
                <a:spcPts val="400"/>
              </a:spcBef>
            </a:pPr>
            <a:r>
              <a:rPr lang="en-US" sz="2400" dirty="0"/>
              <a:t>Better encapsulate the environmental issue into the underlying platform or framework</a:t>
            </a:r>
          </a:p>
          <a:p>
            <a:pPr>
              <a:spcBef>
                <a:spcPts val="400"/>
              </a:spcBef>
            </a:pPr>
            <a:r>
              <a:rPr lang="en-US" sz="2800" dirty="0"/>
              <a:t>Using experimental code or features without sufficient evaluation in the project context is risky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7D7BCE-D161-72EE-5537-130CD6AC1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934944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0D2E7-E173-F025-C802-9386448C2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Composability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938B73-30AD-D635-E71A-C73383890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Is it easy to compose a higher-level component from supportive components? To what extent?</a:t>
            </a:r>
          </a:p>
          <a:p>
            <a:pPr lvl="1"/>
            <a:r>
              <a:rPr lang="en-US" sz="2400" dirty="0"/>
              <a:t>Plug-and-play components? </a:t>
            </a:r>
          </a:p>
          <a:p>
            <a:pPr lvl="1"/>
            <a:r>
              <a:rPr lang="en-US" sz="2400" dirty="0"/>
              <a:t>Everything automated?</a:t>
            </a:r>
          </a:p>
          <a:p>
            <a:pPr lvl="1"/>
            <a:r>
              <a:rPr lang="en-US" sz="2400" dirty="0"/>
              <a:t>By modifying the mapping script or modifying the code?</a:t>
            </a:r>
          </a:p>
          <a:p>
            <a:r>
              <a:rPr lang="en-US" sz="2800" dirty="0"/>
              <a:t> Are all components ready, or do we need to develop some “glue” scripts? Hard or easy?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A2779-8AA0-DA80-546A-6A5CC12D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488363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95ACF-67BB-D945-3CB5-D99CF985E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591C9-3806-B49F-F9F9-72C076CB3A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676400"/>
            <a:ext cx="9339262" cy="4953000"/>
          </a:xfrm>
        </p:spPr>
        <p:txBody>
          <a:bodyPr/>
          <a:lstStyle/>
          <a:p>
            <a:r>
              <a:rPr lang="en-US" sz="2800" dirty="0"/>
              <a:t>Is it easy to deploy the system into its operating environment?</a:t>
            </a:r>
          </a:p>
          <a:p>
            <a:endParaRPr lang="en-US" sz="2800" dirty="0"/>
          </a:p>
          <a:p>
            <a:r>
              <a:rPr lang="en-US" sz="2800" dirty="0"/>
              <a:t>Manual vs. Automated </a:t>
            </a:r>
          </a:p>
          <a:p>
            <a:r>
              <a:rPr lang="en-US" sz="2800" dirty="0"/>
              <a:t>Scheduled update vs. continuous delivery</a:t>
            </a:r>
          </a:p>
          <a:p>
            <a:r>
              <a:rPr lang="en-US" sz="2800" dirty="0"/>
              <a:t>Onsite, cloud-based, or service composition?</a:t>
            </a:r>
          </a:p>
          <a:p>
            <a:r>
              <a:rPr lang="en-US" sz="2800" dirty="0"/>
              <a:t>Version downgrade: not possible vs. possible (easy/difficult)</a:t>
            </a:r>
          </a:p>
          <a:p>
            <a:r>
              <a:rPr lang="en-US" sz="2800" dirty="0"/>
              <a:t>Coordinate with external dependencies needed?</a:t>
            </a:r>
          </a:p>
          <a:p>
            <a:r>
              <a:rPr lang="en-US" sz="2800" dirty="0"/>
              <a:t>Can a subset in an upgrade patch be deployable in a standalone manner?</a:t>
            </a:r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B54751-A37A-806A-511C-186897365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367000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91A88-FF62-CE12-E724-712FAE38D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Apart from Design Quality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5CB7-4335-49FF-5D13-8A4B33F47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Quality also exists in other dimensions:</a:t>
            </a:r>
          </a:p>
          <a:p>
            <a:pPr lvl="1"/>
            <a:r>
              <a:rPr lang="en-US" dirty="0"/>
              <a:t>Operation</a:t>
            </a:r>
          </a:p>
          <a:p>
            <a:pPr lvl="1"/>
            <a:r>
              <a:rPr lang="en-HK" dirty="0"/>
              <a:t>Failure</a:t>
            </a:r>
          </a:p>
          <a:p>
            <a:pPr lvl="1"/>
            <a:r>
              <a:rPr lang="en-HK" dirty="0"/>
              <a:t>Security</a:t>
            </a:r>
          </a:p>
          <a:p>
            <a:pPr lvl="1"/>
            <a:r>
              <a:rPr lang="en-HK" dirty="0"/>
              <a:t>Change in requirements or features</a:t>
            </a:r>
          </a:p>
          <a:p>
            <a:pPr lvl="1"/>
            <a:r>
              <a:rPr lang="en-HK" dirty="0"/>
              <a:t>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5157F-9678-8929-5182-8A62B7AAA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43211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91A88-FF62-CE12-E724-712FAE38D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 Quality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5CB7-4335-49FF-5D13-8A4B33F47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44" y="1295400"/>
            <a:ext cx="9339262" cy="4953000"/>
          </a:xfrm>
        </p:spPr>
        <p:txBody>
          <a:bodyPr/>
          <a:lstStyle/>
          <a:p>
            <a:r>
              <a:rPr lang="en-US" sz="2800" i="1" dirty="0"/>
              <a:t>Performance</a:t>
            </a:r>
            <a:r>
              <a:rPr lang="en-US" sz="2800" dirty="0"/>
              <a:t>: Latency (delay, first response, completion time) and Throughput (output per unit time, bandwidth)</a:t>
            </a:r>
          </a:p>
          <a:p>
            <a:r>
              <a:rPr lang="en-US" sz="2800" i="1" dirty="0"/>
              <a:t>Scalability</a:t>
            </a:r>
            <a:r>
              <a:rPr lang="en-US" sz="2800" dirty="0"/>
              <a:t>: Growth with throughput (# of requests), users (concurrency), data volume (I/O and processing), network scale (# of nodes), and system size (# of components): dynamic scaling possible?</a:t>
            </a:r>
          </a:p>
          <a:p>
            <a:r>
              <a:rPr lang="en-US" sz="2800" i="1" dirty="0"/>
              <a:t>Capacity</a:t>
            </a:r>
            <a:r>
              <a:rPr lang="en-US" sz="2800" dirty="0"/>
              <a:t>: Limit, overload, and utilization rate</a:t>
            </a:r>
          </a:p>
          <a:p>
            <a:r>
              <a:rPr lang="en-US" sz="2800" i="1" dirty="0"/>
              <a:t>Usability: </a:t>
            </a:r>
            <a:r>
              <a:rPr lang="en-US" sz="2800" dirty="0"/>
              <a:t>Easy to learn and recall efficiently? Follow the norm? user satisfaction? Easy to access?</a:t>
            </a:r>
            <a:r>
              <a:rPr lang="en-US" sz="2800" i="1" dirty="0"/>
              <a:t> </a:t>
            </a:r>
          </a:p>
          <a:p>
            <a:r>
              <a:rPr lang="en-US" sz="2800" i="1" dirty="0"/>
              <a:t>Serviceability</a:t>
            </a:r>
            <a:r>
              <a:rPr lang="en-US" sz="2800" dirty="0"/>
              <a:t>: operation stop vs. continuous operation? Reboot or no reboot? Manual error report vs. automated?</a:t>
            </a:r>
          </a:p>
          <a:p>
            <a:r>
              <a:rPr lang="en-US" sz="2800" i="1" dirty="0"/>
              <a:t>Visibility</a:t>
            </a:r>
            <a:r>
              <a:rPr lang="en-US" sz="2800" dirty="0"/>
              <a:t>: system behavior auditable and logged?</a:t>
            </a:r>
          </a:p>
          <a:p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5157F-9678-8929-5182-8A62B7AAA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315160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EE2FB-CDA8-8769-954B-1F434DB9F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Failure-Related Quality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3D9D9-B7A0-E54C-2E66-ABE442802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Reliability</a:t>
            </a:r>
          </a:p>
          <a:p>
            <a:pPr lvl="1"/>
            <a:r>
              <a:rPr lang="en-US" sz="2400" dirty="0"/>
              <a:t>Mean time between failures (MTBF)</a:t>
            </a:r>
          </a:p>
          <a:p>
            <a:pPr lvl="1"/>
            <a:r>
              <a:rPr lang="en-US" sz="2400" dirty="0"/>
              <a:t>Mean time to failure (MTTF)</a:t>
            </a:r>
          </a:p>
          <a:p>
            <a:r>
              <a:rPr lang="en-US" sz="2800" dirty="0"/>
              <a:t>Recoverability</a:t>
            </a:r>
          </a:p>
          <a:p>
            <a:pPr lvl="1"/>
            <a:r>
              <a:rPr lang="en-US" sz="2400" dirty="0"/>
              <a:t>MTTR: Mean time to recovery, mean time to repair, or  mean time to respond</a:t>
            </a:r>
          </a:p>
          <a:p>
            <a:r>
              <a:rPr lang="en-US" sz="2800" dirty="0"/>
              <a:t>(Functional) Availability</a:t>
            </a:r>
          </a:p>
          <a:p>
            <a:pPr lvl="1"/>
            <a:r>
              <a:rPr lang="en-US" sz="2400" dirty="0"/>
              <a:t>Can be calculated based on reliability and recoverability</a:t>
            </a:r>
          </a:p>
          <a:p>
            <a:pPr lvl="2"/>
            <a:r>
              <a:rPr lang="en-US" sz="2000" dirty="0"/>
              <a:t>E.g., Availability = MTTF / (MTTF + MTTR)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A5FDF-7C25-4CBB-C071-60EE7E367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842106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25741-7B38-099B-D448-A0112B54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Security-related Quality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EF1A1-805F-AF36-DE23-22A8AB1D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/>
              <a:t>Authentication</a:t>
            </a:r>
            <a:r>
              <a:rPr lang="en-US" sz="2800" dirty="0"/>
              <a:t>: to confirm user identity</a:t>
            </a:r>
          </a:p>
          <a:p>
            <a:r>
              <a:rPr lang="en-US" sz="2800" i="1" dirty="0"/>
              <a:t>Authorization</a:t>
            </a:r>
            <a:r>
              <a:rPr lang="en-US" sz="2800" dirty="0"/>
              <a:t>: to restrict access</a:t>
            </a:r>
          </a:p>
          <a:p>
            <a:r>
              <a:rPr lang="en-US" sz="2800" i="1" dirty="0"/>
              <a:t>Confidentiality</a:t>
            </a:r>
            <a:r>
              <a:rPr lang="en-US" sz="2800" dirty="0"/>
              <a:t>: to avoid unauthorized data access</a:t>
            </a:r>
          </a:p>
          <a:p>
            <a:r>
              <a:rPr lang="en-US" sz="2800" i="1" dirty="0"/>
              <a:t>Integrity</a:t>
            </a:r>
            <a:r>
              <a:rPr lang="en-US" sz="2800" dirty="0"/>
              <a:t>: to protect the system/data from tampering</a:t>
            </a:r>
          </a:p>
          <a:p>
            <a:r>
              <a:rPr lang="en-US" sz="2800" i="1" dirty="0"/>
              <a:t>Defensibility</a:t>
            </a:r>
            <a:r>
              <a:rPr lang="en-US" sz="2800" dirty="0"/>
              <a:t>: to protect against attacks</a:t>
            </a:r>
          </a:p>
          <a:p>
            <a:r>
              <a:rPr lang="en-US" sz="2800" i="1" dirty="0"/>
              <a:t>Privacy</a:t>
            </a:r>
            <a:r>
              <a:rPr lang="en-US" sz="2800" dirty="0"/>
              <a:t>: to secure confidential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98F87-DE11-D036-7385-D9F37B756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51344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3B703-26C0-45F4-1639-903254280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Change-related Quality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D5E2A-EE83-F4EA-8453-09D81695A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305" y="1371600"/>
            <a:ext cx="9415462" cy="495300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800" i="1" dirty="0"/>
              <a:t>Configurability</a:t>
            </a:r>
            <a:r>
              <a:rPr lang="en-US" sz="2800" dirty="0"/>
              <a:t> (deferring the architectural design is better): 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How to initialize, (re-)activate, place and bid components?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How to add or remove system resources (e.g., nodes or duplicated copies of the same components)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How can a feature be toggled on or off?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E.g., live parameters &gt; parameters at starting &gt; hardcoded</a:t>
            </a:r>
          </a:p>
          <a:p>
            <a:pPr>
              <a:spcBef>
                <a:spcPts val="0"/>
              </a:spcBef>
            </a:pPr>
            <a:r>
              <a:rPr lang="en-US" sz="2800" i="1" dirty="0"/>
              <a:t>Customizability</a:t>
            </a:r>
            <a:endParaRPr lang="en-US" sz="2800" dirty="0"/>
          </a:p>
          <a:p>
            <a:pPr lvl="1">
              <a:spcBef>
                <a:spcPts val="0"/>
              </a:spcBef>
            </a:pPr>
            <a:r>
              <a:rPr lang="en-US" sz="2400" dirty="0"/>
              <a:t>One-size-fits-all, product line, UI skin, JSON for data to decouple from hardcoding the data</a:t>
            </a:r>
          </a:p>
          <a:p>
            <a:pPr>
              <a:spcBef>
                <a:spcPts val="0"/>
              </a:spcBef>
            </a:pPr>
            <a:r>
              <a:rPr lang="en-US" sz="2800" i="1" dirty="0"/>
              <a:t>Duration</a:t>
            </a:r>
            <a:endParaRPr lang="en-US" sz="2800" dirty="0"/>
          </a:p>
          <a:p>
            <a:pPr lvl="1">
              <a:spcBef>
                <a:spcPts val="0"/>
              </a:spcBef>
            </a:pPr>
            <a:r>
              <a:rPr lang="en-US" sz="2400" dirty="0"/>
              <a:t>Temporary and then revoked possible? Permanent evolution possible?</a:t>
            </a:r>
          </a:p>
          <a:p>
            <a:pPr>
              <a:spcBef>
                <a:spcPts val="0"/>
              </a:spcBef>
            </a:pPr>
            <a:r>
              <a:rPr lang="en-US" sz="2800" i="1" dirty="0"/>
              <a:t>Feature Evolution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extensibility for new feature for,; modifiability for existing feature</a:t>
            </a:r>
          </a:p>
          <a:p>
            <a:pPr>
              <a:spcBef>
                <a:spcPts val="0"/>
              </a:spcBef>
            </a:pPr>
            <a:endParaRPr lang="en-US" sz="2800" dirty="0"/>
          </a:p>
          <a:p>
            <a:pPr lvl="1">
              <a:spcBef>
                <a:spcPts val="0"/>
              </a:spcBef>
            </a:pPr>
            <a:endParaRPr lang="en-HK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9775-8A96-6377-F2B4-B48F5E544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7498425"/>
      </p:ext>
    </p:extLst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3B703-26C0-45F4-1639-903254280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Chande-related Quality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D5E2A-EE83-F4EA-8453-09D81695A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676400"/>
            <a:ext cx="9415462" cy="4953000"/>
          </a:xfrm>
        </p:spPr>
        <p:txBody>
          <a:bodyPr/>
          <a:lstStyle/>
          <a:p>
            <a:r>
              <a:rPr lang="en-US" sz="2800" i="1" dirty="0"/>
              <a:t>Compatibility</a:t>
            </a:r>
            <a:endParaRPr lang="en-US" sz="2800" dirty="0"/>
          </a:p>
          <a:p>
            <a:pPr lvl="1"/>
            <a:r>
              <a:rPr lang="en-US" sz="2400" dirty="0"/>
              <a:t>Standardized interface, format, platform. Version backward/forward compatibility</a:t>
            </a:r>
          </a:p>
          <a:p>
            <a:r>
              <a:rPr lang="en-US" sz="2800" i="1" dirty="0"/>
              <a:t>Portability</a:t>
            </a:r>
          </a:p>
          <a:p>
            <a:pPr lvl="1"/>
            <a:r>
              <a:rPr lang="en-US" sz="2400" dirty="0"/>
              <a:t>Platform independent versus native code? Write once, run anywhere? VM-based?</a:t>
            </a:r>
          </a:p>
          <a:p>
            <a:r>
              <a:rPr lang="en-US" sz="2800" i="1" dirty="0"/>
              <a:t>Interoperability</a:t>
            </a:r>
            <a:r>
              <a:rPr lang="en-US" sz="2800" dirty="0"/>
              <a:t> (with other systems)</a:t>
            </a:r>
          </a:p>
          <a:p>
            <a:pPr lvl="1"/>
            <a:r>
              <a:rPr lang="en-US" sz="2400" dirty="0"/>
              <a:t>Standard, presence of medicator, content negotiation</a:t>
            </a:r>
          </a:p>
          <a:p>
            <a:r>
              <a:rPr lang="en-US" sz="2800" i="1" dirty="0"/>
              <a:t>Integration</a:t>
            </a:r>
          </a:p>
          <a:p>
            <a:pPr lvl="1"/>
            <a:r>
              <a:rPr lang="en-US" sz="2400" dirty="0"/>
              <a:t>Standard interface and data format, continuous, real-time, # of integrated components at the same time</a:t>
            </a:r>
          </a:p>
          <a:p>
            <a:endParaRPr lang="en-US" sz="2800" dirty="0"/>
          </a:p>
          <a:p>
            <a:pPr lvl="1"/>
            <a:endParaRPr lang="en-HK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9775-8A96-6377-F2B4-B48F5E544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314541"/>
      </p:ext>
    </p:extLst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46837-A4D1-5409-B701-44222D26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Health Quality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D1057-21B4-207B-0AFF-E60BA3586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Data persistence, checkpoint, and recovery</a:t>
            </a:r>
          </a:p>
          <a:p>
            <a:r>
              <a:rPr lang="en-US" sz="2800" dirty="0"/>
              <a:t>Backup and disaster recovery plan</a:t>
            </a:r>
          </a:p>
          <a:p>
            <a:r>
              <a:rPr lang="en-US" sz="2800" dirty="0"/>
              <a:t>Maintainability</a:t>
            </a:r>
          </a:p>
          <a:p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EA411-762B-72BC-8F2F-FD5B01C57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35318"/>
      </p:ext>
    </p:extLst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CF2F-74A3-22DE-3195-9E320C1E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e.g., Design of Application Programming Interfaces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E7F45-B1E9-441D-18E1-510CF5319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 modern applications, developers often use APIs over the web or from libraries. They sometimes expose application functionalities as APIs for other clients to use.</a:t>
            </a:r>
          </a:p>
          <a:p>
            <a:pPr lvl="1"/>
            <a:r>
              <a:rPr lang="en-US" sz="2400" dirty="0"/>
              <a:t>E.g., backend developers wrap their functionality as APIs for frontend developers to build their frontend functionality</a:t>
            </a:r>
          </a:p>
          <a:p>
            <a:r>
              <a:rPr lang="en-US" sz="2800" dirty="0"/>
              <a:t>We want our API design to be stable, open, and supportive to its client applications</a:t>
            </a:r>
          </a:p>
          <a:p>
            <a:r>
              <a:rPr lang="en-US" sz="2800" dirty="0"/>
              <a:t>How [from the design viewpoint]?</a:t>
            </a:r>
          </a:p>
          <a:p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D47C8-67FF-522E-217F-E2CCB4A5F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991865"/>
      </p:ext>
    </p:extLst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2EAC5-E16D-9C34-1686-E95C200A7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e.g., API Design Principles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28D80-E075-914F-C916-0BF323D2E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80" y="1371600"/>
            <a:ext cx="9036050" cy="4953000"/>
          </a:xfrm>
        </p:spPr>
        <p:txBody>
          <a:bodyPr/>
          <a:lstStyle/>
          <a:p>
            <a:r>
              <a:rPr lang="en-US" sz="2400" dirty="0"/>
              <a:t>Easy to understand: Usability, Simplicity, Small, Well-documented, Meaningful error messages</a:t>
            </a:r>
          </a:p>
          <a:p>
            <a:r>
              <a:rPr lang="en-US" sz="2400" dirty="0"/>
              <a:t>High quality of services: Scalability, Reliable, Available, Security, Compatibility, Standardized I/O message type, </a:t>
            </a:r>
          </a:p>
          <a:p>
            <a:r>
              <a:rPr lang="en-HK" sz="2400" dirty="0"/>
              <a:t>Naming Consistency (from endpoints, functions, I/O, Ordering of elements, similarity with other APIs)</a:t>
            </a:r>
          </a:p>
          <a:p>
            <a:r>
              <a:rPr lang="en-HK" sz="2400" dirty="0"/>
              <a:t>Design from the client application’s perspective (usability)</a:t>
            </a:r>
          </a:p>
          <a:p>
            <a:r>
              <a:rPr lang="en-HK" sz="2400" dirty="0"/>
              <a:t>Principles</a:t>
            </a:r>
          </a:p>
          <a:p>
            <a:pPr lvl="1"/>
            <a:r>
              <a:rPr lang="en-HK" sz="2000" dirty="0"/>
              <a:t>Explicit interfaces principle</a:t>
            </a:r>
          </a:p>
          <a:p>
            <a:pPr lvl="1"/>
            <a:r>
              <a:rPr lang="en-HK" sz="2000" dirty="0"/>
              <a:t>Principle of least surprise</a:t>
            </a:r>
          </a:p>
          <a:p>
            <a:pPr lvl="1"/>
            <a:r>
              <a:rPr lang="en-HK" sz="2000" dirty="0"/>
              <a:t>Small interfaces principle</a:t>
            </a:r>
          </a:p>
          <a:p>
            <a:pPr lvl="1"/>
            <a:r>
              <a:rPr lang="en-HK" sz="2000" dirty="0"/>
              <a:t>Uniform access principle</a:t>
            </a:r>
          </a:p>
          <a:p>
            <a:pPr lvl="1"/>
            <a:r>
              <a:rPr lang="en-HK" sz="2000" dirty="0"/>
              <a:t>Few interfaces principle</a:t>
            </a:r>
          </a:p>
          <a:p>
            <a:pPr lvl="1"/>
            <a:r>
              <a:rPr lang="en-HK" sz="2000" dirty="0"/>
              <a:t>Clear interfaces principle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C00EE-C68B-82B4-6FC1-BF6CF3773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9588A9-3A5E-FC82-4841-268B5CEAC62B}"/>
              </a:ext>
            </a:extLst>
          </p:cNvPr>
          <p:cNvSpPr/>
          <p:nvPr/>
        </p:nvSpPr>
        <p:spPr bwMode="auto">
          <a:xfrm>
            <a:off x="4494212" y="5045947"/>
            <a:ext cx="4038600" cy="1371600"/>
          </a:xfrm>
          <a:prstGeom prst="rect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>
            <a:outerShdw dist="71842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Home Reading</a:t>
            </a: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rPr>
              <a:t>: Search on the web to get an idea about these six principles.</a:t>
            </a:r>
            <a:endParaRPr kumimoji="0" lang="en-HK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385467"/>
      </p:ext>
    </p:extLst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D2AD-F382-4D20-B48B-38997EF4C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A26F8-6752-4978-AE86-2F1BE11D1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 of Software Architecture</a:t>
            </a:r>
          </a:p>
          <a:p>
            <a:r>
              <a:rPr lang="en-US" dirty="0"/>
              <a:t>Driver of Software Architecture </a:t>
            </a:r>
          </a:p>
          <a:p>
            <a:r>
              <a:rPr lang="en-US" dirty="0"/>
              <a:t>Quality Attributes and Patterns/Tactics </a:t>
            </a:r>
          </a:p>
          <a:p>
            <a:r>
              <a:rPr lang="en-US" b="1" dirty="0"/>
              <a:t>Attribute-Driven Design</a:t>
            </a:r>
          </a:p>
          <a:p>
            <a:pPr lvl="1"/>
            <a:r>
              <a:rPr lang="en-US" dirty="0"/>
              <a:t>We will use it in the tutorial exercise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78A5F-E43D-4611-96F3-3FE3FF641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650574"/>
      </p:ext>
    </p:extLst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130" name="Rectangle 2">
            <a:extLst>
              <a:ext uri="{FF2B5EF4-FFF2-40B4-BE49-F238E27FC236}">
                <a16:creationId xmlns:a16="http://schemas.microsoft.com/office/drawing/2014/main" id="{F6F59B26-CEF8-4AFE-9CAA-D91232E2D3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Attribute-Driven Design (ADD)</a:t>
            </a:r>
          </a:p>
        </p:txBody>
      </p:sp>
      <p:sp>
        <p:nvSpPr>
          <p:cNvPr id="816131" name="Rectangle 3">
            <a:extLst>
              <a:ext uri="{FF2B5EF4-FFF2-40B4-BE49-F238E27FC236}">
                <a16:creationId xmlns:a16="http://schemas.microsoft.com/office/drawing/2014/main" id="{A1D26CBF-FB2D-476B-98EE-A178355405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12750" y="1676400"/>
            <a:ext cx="8958262" cy="4953000"/>
          </a:xfrm>
        </p:spPr>
        <p:txBody>
          <a:bodyPr/>
          <a:lstStyle/>
          <a:p>
            <a:pPr marL="342900" indent="-342900"/>
            <a:r>
              <a:rPr lang="en-US" altLang="en-US" dirty="0"/>
              <a:t>ADD is an architectural design methodology to tackle quality attributes incrementally</a:t>
            </a:r>
          </a:p>
          <a:p>
            <a:pPr marL="342900" indent="-342900"/>
            <a:endParaRPr lang="en-US" altLang="en-US" dirty="0"/>
          </a:p>
          <a:p>
            <a:pPr marL="514350" indent="-514350">
              <a:buFont typeface="+mj-lt"/>
              <a:buAutoNum type="arabicPeriod"/>
            </a:pPr>
            <a:r>
              <a:rPr lang="en-US" altLang="en-US" dirty="0"/>
              <a:t>Choose a system module/connector to decompose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en-US" dirty="0"/>
              <a:t>Refine this module:</a:t>
            </a:r>
          </a:p>
          <a:p>
            <a:pPr marL="742950" lvl="1" indent="-285750"/>
            <a:r>
              <a:rPr lang="en-US" altLang="en-US" dirty="0"/>
              <a:t>choose architectural drivers (quality is the driving force)</a:t>
            </a:r>
          </a:p>
          <a:p>
            <a:pPr marL="742950" lvl="1" indent="-285750"/>
            <a:r>
              <a:rPr lang="en-US" altLang="en-US" dirty="0"/>
              <a:t>choose patterns/tactics/styles that satisfy the drivers</a:t>
            </a:r>
          </a:p>
          <a:p>
            <a:pPr marL="742950" lvl="1" indent="-285750"/>
            <a:r>
              <a:rPr lang="en-US" altLang="en-US" dirty="0"/>
              <a:t>apply patterns/tactics/styles and assign responsibilities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en-US" dirty="0"/>
              <a:t>Repeat steps 1-2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745D7E-7ACC-41CB-A6A3-AC1DED7B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88D92-F475-6CC6-2DD9-9A645E9A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dirty="0"/>
              <a:t>Sidebar: The Original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82715-D6C2-C513-ACCA-CC2A7B291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sz="2800" dirty="0"/>
              <a:t>The following reference details each step in the original ADD.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B81DE-2A9B-BA08-E41C-A7848398F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C3FA79-860F-FD36-31DC-C440A496003C}"/>
              </a:ext>
            </a:extLst>
          </p:cNvPr>
          <p:cNvSpPr txBox="1"/>
          <p:nvPr/>
        </p:nvSpPr>
        <p:spPr>
          <a:xfrm>
            <a:off x="1827212" y="2133600"/>
            <a:ext cx="80756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800" dirty="0"/>
              <a:t>https://resources.sei.cmu.edu/asset_files/TechnicalReport/2006_005_001_14795.pdf</a:t>
            </a:r>
          </a:p>
        </p:txBody>
      </p:sp>
      <p:pic>
        <p:nvPicPr>
          <p:cNvPr id="8" name="Picture 7" descr="A diagram of a process&#10;&#10;Description automatically generated">
            <a:extLst>
              <a:ext uri="{FF2B5EF4-FFF2-40B4-BE49-F238E27FC236}">
                <a16:creationId xmlns:a16="http://schemas.microsoft.com/office/drawing/2014/main" id="{ACBB9054-5361-224C-962F-5DA803CD1B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8812" y="2362200"/>
            <a:ext cx="3160338" cy="443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69964"/>
      </p:ext>
    </p:extLst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178" name="Rectangle 2">
            <a:extLst>
              <a:ext uri="{FF2B5EF4-FFF2-40B4-BE49-F238E27FC236}">
                <a16:creationId xmlns:a16="http://schemas.microsoft.com/office/drawing/2014/main" id="{B26AFF27-5D9D-46B9-A766-68ACBB94E8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 ADD iterations</a:t>
            </a:r>
          </a:p>
        </p:txBody>
      </p:sp>
      <p:sp>
        <p:nvSpPr>
          <p:cNvPr id="818179" name="Rectangle 3">
            <a:extLst>
              <a:ext uri="{FF2B5EF4-FFF2-40B4-BE49-F238E27FC236}">
                <a16:creationId xmlns:a16="http://schemas.microsoft.com/office/drawing/2014/main" id="{796BF290-9E2B-49E7-B659-32FD32C9E3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12750" y="1451149"/>
            <a:ext cx="9036050" cy="4953000"/>
          </a:xfrm>
        </p:spPr>
        <p:txBody>
          <a:bodyPr/>
          <a:lstStyle/>
          <a:p>
            <a:pPr marL="342900" indent="-342900"/>
            <a:r>
              <a:rPr lang="en-US" altLang="en-US" dirty="0"/>
              <a:t>Top-level (whole system):</a:t>
            </a:r>
          </a:p>
          <a:p>
            <a:pPr marL="806450" lvl="1" indent="-342900"/>
            <a:r>
              <a:rPr lang="en-US" altLang="en-US" dirty="0"/>
              <a:t>address usability </a:t>
            </a:r>
          </a:p>
          <a:p>
            <a:pPr marL="806450" lvl="1" indent="-342900"/>
            <a:r>
              <a:rPr lang="en-US" altLang="en-US" dirty="0">
                <a:sym typeface="Symbol" panose="05050102010706020507" pitchFamily="18" charset="2"/>
              </a:rPr>
              <a:t> </a:t>
            </a:r>
            <a:r>
              <a:rPr lang="en-US" altLang="en-US" i="1" dirty="0">
                <a:sym typeface="Symbol" panose="05050102010706020507" pitchFamily="18" charset="2"/>
              </a:rPr>
              <a:t>tactic</a:t>
            </a:r>
            <a:r>
              <a:rPr lang="en-US" altLang="en-US" dirty="0">
                <a:sym typeface="Symbol" panose="05050102010706020507" pitchFamily="18" charset="2"/>
              </a:rPr>
              <a:t>: separate user interface  </a:t>
            </a:r>
            <a:r>
              <a:rPr lang="en-US" altLang="en-US" i="1" dirty="0">
                <a:sym typeface="Symbol" panose="05050102010706020507" pitchFamily="18" charset="2"/>
              </a:rPr>
              <a:t>pattern</a:t>
            </a:r>
            <a:r>
              <a:rPr lang="en-US" altLang="en-US" dirty="0">
                <a:sym typeface="Symbol" panose="05050102010706020507" pitchFamily="18" charset="2"/>
              </a:rPr>
              <a:t>: three tier architecture </a:t>
            </a:r>
            <a:r>
              <a:rPr lang="en-US" altLang="en-US" sz="2000" dirty="0">
                <a:sym typeface="Symbol" panose="05050102010706020507" pitchFamily="18" charset="2"/>
              </a:rPr>
              <a:t>(or MVC in our sorting system example on slide 12).</a:t>
            </a:r>
            <a:endParaRPr lang="en-US" altLang="en-US" dirty="0">
              <a:sym typeface="Symbol" panose="05050102010706020507" pitchFamily="18" charset="2"/>
            </a:endParaRPr>
          </a:p>
          <a:p>
            <a:pPr marL="342900" indent="-342900"/>
            <a:r>
              <a:rPr lang="en-US" altLang="en-US" dirty="0">
                <a:sym typeface="Symbol" panose="05050102010706020507" pitchFamily="18" charset="2"/>
              </a:rPr>
              <a:t>Lower-level, within the presentation tier module:</a:t>
            </a:r>
          </a:p>
          <a:p>
            <a:pPr marL="806450" lvl="1" indent="-342900"/>
            <a:r>
              <a:rPr lang="en-US" altLang="en-US" dirty="0">
                <a:sym typeface="Symbol" panose="05050102010706020507" pitchFamily="18" charset="2"/>
              </a:rPr>
              <a:t>address security </a:t>
            </a:r>
          </a:p>
          <a:p>
            <a:pPr marL="806450" lvl="1" indent="-342900"/>
            <a:r>
              <a:rPr lang="en-US" altLang="en-US" dirty="0">
                <a:sym typeface="Symbol" panose="05050102010706020507" pitchFamily="18" charset="2"/>
              </a:rPr>
              <a:t> </a:t>
            </a:r>
            <a:r>
              <a:rPr lang="en-US" altLang="en-US" i="1" dirty="0">
                <a:sym typeface="Symbol" panose="05050102010706020507" pitchFamily="18" charset="2"/>
              </a:rPr>
              <a:t>tactic</a:t>
            </a:r>
            <a:r>
              <a:rPr lang="en-US" altLang="en-US" dirty="0">
                <a:sym typeface="Symbol" panose="05050102010706020507" pitchFamily="18" charset="2"/>
              </a:rPr>
              <a:t>: authenticate users</a:t>
            </a:r>
          </a:p>
          <a:p>
            <a:pPr marL="342900" indent="-342900"/>
            <a:r>
              <a:rPr lang="en-US" altLang="en-US" dirty="0">
                <a:sym typeface="Symbol" panose="05050102010706020507" pitchFamily="18" charset="2"/>
              </a:rPr>
              <a:t>Lower-level, within the data tier module: </a:t>
            </a:r>
          </a:p>
          <a:p>
            <a:pPr marL="806450" lvl="1" indent="-342900"/>
            <a:r>
              <a:rPr lang="en-US" altLang="en-US" dirty="0">
                <a:sym typeface="Symbol" panose="05050102010706020507" pitchFamily="18" charset="2"/>
              </a:rPr>
              <a:t>address availability </a:t>
            </a:r>
          </a:p>
          <a:p>
            <a:pPr marL="806450" lvl="1" indent="-342900"/>
            <a:r>
              <a:rPr lang="en-US" altLang="en-US" dirty="0">
                <a:sym typeface="Symbol" panose="05050102010706020507" pitchFamily="18" charset="2"/>
              </a:rPr>
              <a:t> </a:t>
            </a:r>
            <a:r>
              <a:rPr lang="en-US" altLang="en-US" i="1" dirty="0">
                <a:sym typeface="Symbol" panose="05050102010706020507" pitchFamily="18" charset="2"/>
              </a:rPr>
              <a:t>tactic</a:t>
            </a:r>
            <a:r>
              <a:rPr lang="en-US" altLang="en-US" dirty="0">
                <a:sym typeface="Symbol" panose="05050102010706020507" pitchFamily="18" charset="2"/>
              </a:rPr>
              <a:t>: active redundancy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D92E45-3537-4C3C-B688-7B3F6B89C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65</a:t>
            </a:fld>
            <a:endParaRPr lang="en-US" dirty="0"/>
          </a:p>
        </p:txBody>
      </p:sp>
      <p:pic>
        <p:nvPicPr>
          <p:cNvPr id="2050" name="Picture 2" descr="Three-tier architecture overview - AWS Serverless Multi-Tier Architectures  with Amazon API Gateway and AWS Lambda">
            <a:extLst>
              <a:ext uri="{FF2B5EF4-FFF2-40B4-BE49-F238E27FC236}">
                <a16:creationId xmlns:a16="http://schemas.microsoft.com/office/drawing/2014/main" id="{8CE04A1A-F081-C72D-E61D-3069617EB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8812" y="158681"/>
            <a:ext cx="2714625" cy="1120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44115F-85F5-1B50-DAF3-F8B077B2335D}"/>
              </a:ext>
            </a:extLst>
          </p:cNvPr>
          <p:cNvSpPr txBox="1"/>
          <p:nvPr/>
        </p:nvSpPr>
        <p:spPr>
          <a:xfrm>
            <a:off x="3808412" y="187151"/>
            <a:ext cx="4951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sym typeface="Symbol" panose="05050102010706020507" pitchFamily="18" charset="2"/>
              </a:rPr>
              <a:t>Exemplified three tier architecture</a:t>
            </a:r>
            <a:endParaRPr lang="en-HK" sz="1800" dirty="0"/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7B3CF-F369-BC05-53BD-8DAB0D0B5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Tactics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BB7F5-0074-FA51-4B49-388CA9564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ADD iteratively applies one or more architectural tactics to address a quality attribute issue.</a:t>
            </a:r>
          </a:p>
          <a:p>
            <a:endParaRPr lang="en-US" sz="2800" dirty="0"/>
          </a:p>
          <a:p>
            <a:r>
              <a:rPr lang="en-HK" sz="2800" dirty="0"/>
              <a:t>Architectural tactics are concepts. They are usually used implicitly in a solution. </a:t>
            </a:r>
          </a:p>
          <a:p>
            <a:r>
              <a:rPr lang="en-HK" sz="2800" dirty="0"/>
              <a:t>The most often mentioned tactics nowadays are Security tactics (</a:t>
            </a:r>
            <a:r>
              <a:rPr lang="en-HK" sz="2800" dirty="0" err="1"/>
              <a:t>defense</a:t>
            </a:r>
            <a:r>
              <a:rPr lang="en-HK" sz="2800" dirty="0"/>
              <a:t> approaches).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34B8C-0715-AECE-ABFC-F1042343B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62502"/>
      </p:ext>
    </p:extLst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1889-A0D6-4386-A0C7-FEA691F0D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Availability and Modifiability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3966E-896A-429D-B5FC-88594A68D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  <p:pic>
        <p:nvPicPr>
          <p:cNvPr id="29700" name="Picture 4" descr="graphics/05fig05.gif">
            <a:extLst>
              <a:ext uri="{FF2B5EF4-FFF2-40B4-BE49-F238E27FC236}">
                <a16:creationId xmlns:a16="http://schemas.microsoft.com/office/drawing/2014/main" id="{C4642254-A0C2-48DA-A78B-61242763D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6664" y="2309347"/>
            <a:ext cx="4762500" cy="3209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A62920-F3D1-4070-B9A8-8374438B5B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735" y="1510641"/>
            <a:ext cx="4729677" cy="4914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131BEC-DB0B-8225-A58C-CE5168723830}"/>
              </a:ext>
            </a:extLst>
          </p:cNvPr>
          <p:cNvSpPr txBox="1"/>
          <p:nvPr/>
        </p:nvSpPr>
        <p:spPr>
          <a:xfrm>
            <a:off x="67537" y="6394544"/>
            <a:ext cx="49517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100" dirty="0">
                <a:hlinkClick r:id="rId4"/>
              </a:rPr>
              <a:t>https://insights.sei.cmu.edu/blog/tactics-and-patterns-for-software-robustness/</a:t>
            </a:r>
            <a:r>
              <a:rPr lang="en-HK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3290555"/>
      </p:ext>
    </p:extLst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1889-A0D6-4386-A0C7-FEA691F0D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and Security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3966E-896A-429D-B5FC-88594A68D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  <p:pic>
        <p:nvPicPr>
          <p:cNvPr id="29702" name="Picture 6" descr="graphics/05fig07.gif">
            <a:extLst>
              <a:ext uri="{FF2B5EF4-FFF2-40B4-BE49-F238E27FC236}">
                <a16:creationId xmlns:a16="http://schemas.microsoft.com/office/drawing/2014/main" id="{7C1C4B78-4F12-4B6D-B4F7-5F6C65FE9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63" y="2162175"/>
            <a:ext cx="4762500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FFB2FC-2294-78C8-1FB4-B120D048B77E}"/>
              </a:ext>
            </a:extLst>
          </p:cNvPr>
          <p:cNvSpPr txBox="1"/>
          <p:nvPr/>
        </p:nvSpPr>
        <p:spPr>
          <a:xfrm>
            <a:off x="5256212" y="5334000"/>
            <a:ext cx="49710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900" dirty="0">
                <a:hlinkClick r:id="rId3"/>
              </a:rPr>
              <a:t>https://insights.sei.cmu.edu/blog/security-pattern-assurance-through-round-trip-engineering/</a:t>
            </a:r>
            <a:r>
              <a:rPr lang="en-HK" sz="900" dirty="0"/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1EEFB3-4328-A3D6-5990-EF93227AE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3412" y="2257425"/>
            <a:ext cx="330517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8252210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11889-A0D6-4386-A0C7-FEA691F0D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Testability and Usability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3966E-896A-429D-B5FC-88594A68D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  <p:pic>
        <p:nvPicPr>
          <p:cNvPr id="37890" name="Picture 2" descr="graphics/05fig11.gif">
            <a:extLst>
              <a:ext uri="{FF2B5EF4-FFF2-40B4-BE49-F238E27FC236}">
                <a16:creationId xmlns:a16="http://schemas.microsoft.com/office/drawing/2014/main" id="{5F50AF33-E5EA-4A8A-8F22-5B76E5F7E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" y="2414586"/>
            <a:ext cx="4762500" cy="2524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892" name="Picture 4" descr="graphics/05fig13.gif">
            <a:extLst>
              <a:ext uri="{FF2B5EF4-FFF2-40B4-BE49-F238E27FC236}">
                <a16:creationId xmlns:a16="http://schemas.microsoft.com/office/drawing/2014/main" id="{53BAF67A-AE6E-4063-A1B4-3192E074F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0325" y="2566986"/>
            <a:ext cx="4762500" cy="237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2695652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B93DE8-2031-D5E9-5346-311EF3F39575}"/>
              </a:ext>
            </a:extLst>
          </p:cNvPr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US" dirty="0"/>
              <a:t>Tutorial on Evaluating Software Architecture</a:t>
            </a:r>
            <a:endParaRPr lang="en-HK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82A574CE-A57F-79A8-D3D2-78EB9D62382A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en-US" dirty="0"/>
              <a:t>Please refer to the materials on the course website and the materials distributed by the teaching team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96F84-1C6C-1E60-2860-9F49B58B1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77207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6004E-C7AF-BBCC-9A71-E5572CBA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63F69FC-579F-D071-3B01-7AABA1E6C99C}"/>
              </a:ext>
            </a:extLst>
          </p:cNvPr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US" dirty="0"/>
              <a:t>Continue to Lecture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8D57-507E-52F8-81F7-9FA2A6B6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93540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7F5B9-B982-C46B-F233-B92984639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Enterprise Integration Patterns [12]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77352-D209-BB35-4E6C-790613A87E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Apart from addressing quality attributes by components, we can also address the quality attributes by how we connect these components</a:t>
            </a:r>
          </a:p>
          <a:p>
            <a:endParaRPr lang="en-US" sz="2800" dirty="0"/>
          </a:p>
          <a:p>
            <a:r>
              <a:rPr lang="en-US" sz="2800" dirty="0"/>
              <a:t>We use an order processing system to illustrate the idea with a few </a:t>
            </a:r>
            <a:r>
              <a:rPr lang="en-US" sz="2800" i="1" dirty="0"/>
              <a:t>Enterprise Integration Patterns [12] </a:t>
            </a:r>
            <a:r>
              <a:rPr lang="en-US" sz="2800" dirty="0"/>
              <a:t>in the next few slides.</a:t>
            </a:r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20880-8906-979E-277E-2E3F74037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451339"/>
      </p:ext>
    </p:extLst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37D2E-19D0-6E55-4353-942D1AF8E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Enterprise Integration Patterns [12]</a:t>
            </a:r>
            <a:endParaRPr lang="en-H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FE8EB55-16BD-83F7-029A-42A53A66DB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256" y="1600200"/>
            <a:ext cx="7326312" cy="49530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DE1BB-4830-2B88-9F9C-E4397BD92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5833BC-9E05-FB0E-04FF-4970A27F3DF3}"/>
              </a:ext>
            </a:extLst>
          </p:cNvPr>
          <p:cNvSpPr txBox="1"/>
          <p:nvPr/>
        </p:nvSpPr>
        <p:spPr>
          <a:xfrm>
            <a:off x="227012" y="1490990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65 patterns</a:t>
            </a:r>
            <a:endParaRPr lang="en-HK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1B1B33-82F4-2C2A-E15E-FDA160B02F83}"/>
              </a:ext>
            </a:extLst>
          </p:cNvPr>
          <p:cNvSpPr txBox="1"/>
          <p:nvPr/>
        </p:nvSpPr>
        <p:spPr>
          <a:xfrm>
            <a:off x="2970212" y="149099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https://www.enterpriseintegrationpatterns.com/patterns/messaging/</a:t>
            </a:r>
          </a:p>
        </p:txBody>
      </p:sp>
    </p:spTree>
    <p:extLst>
      <p:ext uri="{BB962C8B-B14F-4D97-AF65-F5344CB8AC3E}">
        <p14:creationId xmlns:p14="http://schemas.microsoft.com/office/powerpoint/2010/main" val="2552654234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i="1" dirty="0"/>
              <a:t>Order Processing System</a:t>
            </a:r>
            <a:br>
              <a:rPr lang="en-US" dirty="0"/>
            </a:br>
            <a:r>
              <a:rPr lang="en-US" dirty="0"/>
              <a:t>Question 1?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750" y="1676400"/>
            <a:ext cx="9263062" cy="4953000"/>
          </a:xfrm>
        </p:spPr>
        <p:txBody>
          <a:bodyPr/>
          <a:lstStyle/>
          <a:p>
            <a:r>
              <a:rPr lang="en-GB" altLang="en-US" sz="2800" dirty="0"/>
              <a:t>Each provider can only handle a specific type of message</a:t>
            </a:r>
          </a:p>
          <a:p>
            <a:r>
              <a:rPr lang="en-GB" altLang="en-US" sz="2800" dirty="0"/>
              <a:t>Route the request to the "appropriate" provider. But how?</a:t>
            </a:r>
          </a:p>
          <a:p>
            <a:pPr lvl="1"/>
            <a:r>
              <a:rPr lang="en-GB" altLang="en-US" sz="2400" dirty="0"/>
              <a:t>Do not want to burden the sender with a decision</a:t>
            </a:r>
          </a:p>
          <a:p>
            <a:pPr lvl="1"/>
            <a:r>
              <a:rPr lang="en-GB" altLang="en-US" sz="2400" dirty="0"/>
              <a:t>Letting providers "pick " messages out requires coordination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74</a:t>
            </a:fld>
            <a:endParaRPr lang="en-US"/>
          </a:p>
        </p:txBody>
      </p:sp>
      <p:grpSp>
        <p:nvGrpSpPr>
          <p:cNvPr id="35" name="Group 34"/>
          <p:cNvGrpSpPr/>
          <p:nvPr/>
        </p:nvGrpSpPr>
        <p:grpSpPr>
          <a:xfrm>
            <a:off x="1446212" y="3852992"/>
            <a:ext cx="6687965" cy="2301875"/>
            <a:chOff x="1125537" y="1314451"/>
            <a:chExt cx="7291388" cy="2835275"/>
          </a:xfrm>
        </p:grpSpPr>
        <p:sp>
          <p:nvSpPr>
            <p:cNvPr id="36" name="Rectangle 5"/>
            <p:cNvSpPr>
              <a:spLocks noChangeArrowheads="1"/>
            </p:cNvSpPr>
            <p:nvPr/>
          </p:nvSpPr>
          <p:spPr bwMode="auto">
            <a:xfrm>
              <a:off x="1125537" y="1314451"/>
              <a:ext cx="7291388" cy="2835275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37" name="AutoShape 6"/>
            <p:cNvSpPr>
              <a:spLocks noChangeArrowheads="1"/>
            </p:cNvSpPr>
            <p:nvPr/>
          </p:nvSpPr>
          <p:spPr bwMode="auto">
            <a:xfrm rot="5400000">
              <a:off x="4387056" y="2062956"/>
              <a:ext cx="228600" cy="1258888"/>
            </a:xfrm>
            <a:prstGeom prst="can">
              <a:avLst>
                <a:gd name="adj" fmla="val 24093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grpSp>
          <p:nvGrpSpPr>
            <p:cNvPr id="38" name="Group 47"/>
            <p:cNvGrpSpPr>
              <a:grpSpLocks/>
            </p:cNvGrpSpPr>
            <p:nvPr/>
          </p:nvGrpSpPr>
          <p:grpSpPr bwMode="auto">
            <a:xfrm>
              <a:off x="2790825" y="2532063"/>
              <a:ext cx="304800" cy="381000"/>
              <a:chOff x="1629" y="1246"/>
              <a:chExt cx="192" cy="240"/>
            </a:xfrm>
          </p:grpSpPr>
          <p:sp>
            <p:nvSpPr>
              <p:cNvPr id="62" name="Rectangle 7" descr="Dark upward diagonal"/>
              <p:cNvSpPr>
                <a:spLocks noChangeArrowheads="1"/>
              </p:cNvSpPr>
              <p:nvPr/>
            </p:nvSpPr>
            <p:spPr bwMode="auto">
              <a:xfrm>
                <a:off x="1725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63" name="Oval 8"/>
              <p:cNvSpPr>
                <a:spLocks noChangeArrowheads="1"/>
              </p:cNvSpPr>
              <p:nvPr/>
            </p:nvSpPr>
            <p:spPr bwMode="auto">
              <a:xfrm>
                <a:off x="1629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64" name="AutoShape 9"/>
              <p:cNvCxnSpPr>
                <a:cxnSpLocks noChangeShapeType="1"/>
                <a:stCxn id="63" idx="4"/>
                <a:endCxn id="62" idx="1"/>
              </p:cNvCxnSpPr>
              <p:nvPr/>
            </p:nvCxnSpPr>
            <p:spPr bwMode="auto">
              <a:xfrm rot="16200000" flipH="1">
                <a:off x="1653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39" name="Line 10"/>
            <p:cNvSpPr>
              <a:spLocks noChangeShapeType="1"/>
            </p:cNvSpPr>
            <p:nvPr/>
          </p:nvSpPr>
          <p:spPr bwMode="auto">
            <a:xfrm>
              <a:off x="3511550" y="2713038"/>
              <a:ext cx="3048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40" name="Line 11"/>
            <p:cNvSpPr>
              <a:spLocks noChangeShapeType="1"/>
            </p:cNvSpPr>
            <p:nvPr/>
          </p:nvSpPr>
          <p:spPr bwMode="auto">
            <a:xfrm>
              <a:off x="6610350" y="2408238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41" name="Rectangle 12"/>
            <p:cNvSpPr>
              <a:spLocks noChangeArrowheads="1"/>
            </p:cNvSpPr>
            <p:nvPr/>
          </p:nvSpPr>
          <p:spPr bwMode="auto">
            <a:xfrm>
              <a:off x="1306512" y="2352675"/>
              <a:ext cx="990600" cy="762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Entry</a:t>
              </a:r>
            </a:p>
          </p:txBody>
        </p:sp>
        <p:sp>
          <p:nvSpPr>
            <p:cNvPr id="42" name="Line 13"/>
            <p:cNvSpPr>
              <a:spLocks noChangeShapeType="1"/>
            </p:cNvSpPr>
            <p:nvPr/>
          </p:nvSpPr>
          <p:spPr bwMode="auto">
            <a:xfrm>
              <a:off x="2430462" y="2757488"/>
              <a:ext cx="3048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43" name="Rectangle 14"/>
            <p:cNvSpPr>
              <a:spLocks noChangeArrowheads="1"/>
            </p:cNvSpPr>
            <p:nvPr/>
          </p:nvSpPr>
          <p:spPr bwMode="auto">
            <a:xfrm>
              <a:off x="6858000" y="2147889"/>
              <a:ext cx="1289050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Widget Inv.</a:t>
              </a:r>
            </a:p>
          </p:txBody>
        </p:sp>
        <p:grpSp>
          <p:nvGrpSpPr>
            <p:cNvPr id="44" name="Group 48"/>
            <p:cNvGrpSpPr>
              <a:grpSpLocks/>
            </p:cNvGrpSpPr>
            <p:nvPr/>
          </p:nvGrpSpPr>
          <p:grpSpPr bwMode="auto">
            <a:xfrm>
              <a:off x="3151187" y="2532063"/>
              <a:ext cx="304800" cy="381000"/>
              <a:chOff x="1917" y="1246"/>
              <a:chExt cx="192" cy="240"/>
            </a:xfrm>
          </p:grpSpPr>
          <p:sp>
            <p:nvSpPr>
              <p:cNvPr id="59" name="Rectangle 21" descr="Wide downward diagonal"/>
              <p:cNvSpPr>
                <a:spLocks noChangeArrowheads="1"/>
              </p:cNvSpPr>
              <p:nvPr/>
            </p:nvSpPr>
            <p:spPr bwMode="auto">
              <a:xfrm>
                <a:off x="2013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60" name="Oval 22"/>
              <p:cNvSpPr>
                <a:spLocks noChangeArrowheads="1"/>
              </p:cNvSpPr>
              <p:nvPr/>
            </p:nvSpPr>
            <p:spPr bwMode="auto">
              <a:xfrm>
                <a:off x="191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61" name="AutoShape 23"/>
              <p:cNvCxnSpPr>
                <a:cxnSpLocks noChangeShapeType="1"/>
                <a:stCxn id="60" idx="4"/>
                <a:endCxn id="59" idx="1"/>
              </p:cNvCxnSpPr>
              <p:nvPr/>
            </p:nvCxnSpPr>
            <p:spPr bwMode="auto">
              <a:xfrm rot="16200000" flipH="1">
                <a:off x="194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45" name="Group 51"/>
            <p:cNvGrpSpPr>
              <a:grpSpLocks/>
            </p:cNvGrpSpPr>
            <p:nvPr/>
          </p:nvGrpSpPr>
          <p:grpSpPr bwMode="auto">
            <a:xfrm>
              <a:off x="6267450" y="2214563"/>
              <a:ext cx="304800" cy="381000"/>
              <a:chOff x="3597" y="1246"/>
              <a:chExt cx="192" cy="240"/>
            </a:xfrm>
          </p:grpSpPr>
          <p:sp>
            <p:nvSpPr>
              <p:cNvPr id="56" name="Rectangle 29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57" name="Oval 30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58" name="AutoShape 31"/>
              <p:cNvCxnSpPr>
                <a:cxnSpLocks noChangeShapeType="1"/>
                <a:stCxn id="57" idx="4"/>
                <a:endCxn id="56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46" name="Group 50"/>
            <p:cNvGrpSpPr>
              <a:grpSpLocks/>
            </p:cNvGrpSpPr>
            <p:nvPr/>
          </p:nvGrpSpPr>
          <p:grpSpPr bwMode="auto">
            <a:xfrm>
              <a:off x="6267450" y="2933700"/>
              <a:ext cx="304800" cy="381000"/>
              <a:chOff x="3885" y="1246"/>
              <a:chExt cx="192" cy="240"/>
            </a:xfrm>
          </p:grpSpPr>
          <p:sp>
            <p:nvSpPr>
              <p:cNvPr id="53" name="Rectangle 32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54" name="Oval 33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55" name="AutoShape 34"/>
              <p:cNvCxnSpPr>
                <a:cxnSpLocks noChangeShapeType="1"/>
                <a:stCxn id="54" idx="4"/>
                <a:endCxn id="53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47" name="Cloud"/>
            <p:cNvSpPr>
              <a:spLocks noChangeAspect="1" noEditPoints="1" noChangeArrowheads="1"/>
            </p:cNvSpPr>
            <p:nvPr/>
          </p:nvSpPr>
          <p:spPr bwMode="auto">
            <a:xfrm>
              <a:off x="5265737" y="2438401"/>
              <a:ext cx="838200" cy="561975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0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1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300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7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7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0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0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50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2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10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?</a:t>
              </a:r>
            </a:p>
          </p:txBody>
        </p:sp>
        <p:sp>
          <p:nvSpPr>
            <p:cNvPr id="48" name="Text Box 39"/>
            <p:cNvSpPr txBox="1">
              <a:spLocks noChangeArrowheads="1"/>
            </p:cNvSpPr>
            <p:nvPr/>
          </p:nvSpPr>
          <p:spPr bwMode="auto">
            <a:xfrm>
              <a:off x="2430462" y="2171700"/>
              <a:ext cx="1411288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 Messages</a:t>
              </a:r>
            </a:p>
          </p:txBody>
        </p:sp>
        <p:sp>
          <p:nvSpPr>
            <p:cNvPr id="49" name="Line 46"/>
            <p:cNvSpPr>
              <a:spLocks noChangeShapeType="1"/>
            </p:cNvSpPr>
            <p:nvPr/>
          </p:nvSpPr>
          <p:spPr bwMode="auto">
            <a:xfrm>
              <a:off x="6602412" y="3114675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0" name="Rectangle 49"/>
            <p:cNvSpPr>
              <a:spLocks noChangeArrowheads="1"/>
            </p:cNvSpPr>
            <p:nvPr/>
          </p:nvSpPr>
          <p:spPr bwMode="auto">
            <a:xfrm>
              <a:off x="6872288" y="2833689"/>
              <a:ext cx="1274763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Gadget Inv.</a:t>
              </a:r>
            </a:p>
          </p:txBody>
        </p:sp>
        <p:sp>
          <p:nvSpPr>
            <p:cNvPr id="51" name="Rectangle 52" descr="Wide upward diagonal"/>
            <p:cNvSpPr>
              <a:spLocks noChangeArrowheads="1"/>
            </p:cNvSpPr>
            <p:nvPr/>
          </p:nvSpPr>
          <p:spPr bwMode="auto">
            <a:xfrm>
              <a:off x="7975600" y="2438400"/>
              <a:ext cx="152400" cy="152400"/>
            </a:xfrm>
            <a:prstGeom prst="rect">
              <a:avLst/>
            </a:prstGeom>
            <a:pattFill prst="wdUpDiag">
              <a:fgClr>
                <a:srgbClr val="FFFF66"/>
              </a:fgClr>
              <a:bgClr>
                <a:srgbClr val="33CC33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2" name="Rectangle 53" descr="Wide downward diagonal"/>
            <p:cNvSpPr>
              <a:spLocks noChangeArrowheads="1"/>
            </p:cNvSpPr>
            <p:nvPr/>
          </p:nvSpPr>
          <p:spPr bwMode="auto">
            <a:xfrm>
              <a:off x="7974012" y="3130550"/>
              <a:ext cx="152400" cy="152400"/>
            </a:xfrm>
            <a:prstGeom prst="rect">
              <a:avLst/>
            </a:prstGeom>
            <a:pattFill prst="wdDnDiag">
              <a:fgClr>
                <a:srgbClr val="FFFF66"/>
              </a:fgClr>
              <a:bgClr>
                <a:srgbClr val="FF3300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02407796"/>
      </p:ext>
    </p:extLst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/>
              <a:t>Solution: </a:t>
            </a:r>
            <a:br>
              <a:rPr lang="en-GB" altLang="en-US" dirty="0"/>
            </a:br>
            <a:r>
              <a:rPr lang="en-GB" altLang="en-US" dirty="0"/>
              <a:t>Content-Based Router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8119" y="1371600"/>
            <a:ext cx="9301955" cy="495300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GB" altLang="en-US" sz="2400" dirty="0"/>
              <a:t>Insert a router that selects channels based on the message meta-content</a:t>
            </a:r>
          </a:p>
          <a:p>
            <a:pPr>
              <a:spcBef>
                <a:spcPts val="0"/>
              </a:spcBef>
            </a:pPr>
            <a:r>
              <a:rPr lang="en-GB" altLang="en-US" sz="2400" dirty="0"/>
              <a:t>Routers forward incoming messages to different channels</a:t>
            </a:r>
          </a:p>
          <a:p>
            <a:pPr>
              <a:spcBef>
                <a:spcPts val="0"/>
              </a:spcBef>
            </a:pPr>
            <a:r>
              <a:rPr lang="en-GB" altLang="en-US" sz="2400" dirty="0"/>
              <a:t>Message content not changed</a:t>
            </a:r>
          </a:p>
          <a:p>
            <a:pPr>
              <a:spcBef>
                <a:spcPts val="0"/>
              </a:spcBef>
            </a:pPr>
            <a:r>
              <a:rPr lang="en-GB" altLang="en-US" sz="2400" dirty="0"/>
              <a:t>But if a few messages form a unit, we need to design a bit more (see next slide)</a:t>
            </a:r>
          </a:p>
          <a:p>
            <a:pPr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75</a:t>
            </a:fld>
            <a:endParaRPr lang="en-US"/>
          </a:p>
        </p:txBody>
      </p:sp>
      <p:grpSp>
        <p:nvGrpSpPr>
          <p:cNvPr id="47" name="Group 46"/>
          <p:cNvGrpSpPr/>
          <p:nvPr/>
        </p:nvGrpSpPr>
        <p:grpSpPr>
          <a:xfrm>
            <a:off x="1217612" y="3581400"/>
            <a:ext cx="7291388" cy="2835275"/>
            <a:chOff x="1125537" y="1314451"/>
            <a:chExt cx="7291388" cy="2835275"/>
          </a:xfrm>
        </p:grpSpPr>
        <p:sp>
          <p:nvSpPr>
            <p:cNvPr id="48" name="Rectangle 4"/>
            <p:cNvSpPr>
              <a:spLocks noChangeArrowheads="1"/>
            </p:cNvSpPr>
            <p:nvPr/>
          </p:nvSpPr>
          <p:spPr bwMode="auto">
            <a:xfrm>
              <a:off x="1125537" y="1314451"/>
              <a:ext cx="7291388" cy="2835275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49" name="AutoShape 5"/>
            <p:cNvSpPr>
              <a:spLocks noChangeArrowheads="1"/>
            </p:cNvSpPr>
            <p:nvPr/>
          </p:nvSpPr>
          <p:spPr bwMode="auto">
            <a:xfrm rot="5400000">
              <a:off x="3891756" y="2467769"/>
              <a:ext cx="228600" cy="449262"/>
            </a:xfrm>
            <a:prstGeom prst="can">
              <a:avLst>
                <a:gd name="adj" fmla="val 27159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grpSp>
          <p:nvGrpSpPr>
            <p:cNvPr id="50" name="Group 6"/>
            <p:cNvGrpSpPr>
              <a:grpSpLocks/>
            </p:cNvGrpSpPr>
            <p:nvPr/>
          </p:nvGrpSpPr>
          <p:grpSpPr bwMode="auto">
            <a:xfrm>
              <a:off x="2790825" y="2532063"/>
              <a:ext cx="304800" cy="381000"/>
              <a:chOff x="1629" y="1246"/>
              <a:chExt cx="192" cy="240"/>
            </a:xfrm>
          </p:grpSpPr>
          <p:sp>
            <p:nvSpPr>
              <p:cNvPr id="86" name="Rectangle 7" descr="Dark upward diagonal"/>
              <p:cNvSpPr>
                <a:spLocks noChangeArrowheads="1"/>
              </p:cNvSpPr>
              <p:nvPr/>
            </p:nvSpPr>
            <p:spPr bwMode="auto">
              <a:xfrm>
                <a:off x="1725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7" name="Oval 8"/>
              <p:cNvSpPr>
                <a:spLocks noChangeArrowheads="1"/>
              </p:cNvSpPr>
              <p:nvPr/>
            </p:nvSpPr>
            <p:spPr bwMode="auto">
              <a:xfrm>
                <a:off x="1629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8" name="AutoShape 9"/>
              <p:cNvCxnSpPr>
                <a:cxnSpLocks noChangeShapeType="1"/>
                <a:stCxn id="87" idx="4"/>
                <a:endCxn id="86" idx="1"/>
              </p:cNvCxnSpPr>
              <p:nvPr/>
            </p:nvCxnSpPr>
            <p:spPr bwMode="auto">
              <a:xfrm rot="16200000" flipH="1">
                <a:off x="1653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51" name="Line 10"/>
            <p:cNvSpPr>
              <a:spLocks noChangeShapeType="1"/>
            </p:cNvSpPr>
            <p:nvPr/>
          </p:nvSpPr>
          <p:spPr bwMode="auto">
            <a:xfrm flipV="1">
              <a:off x="3511551" y="2708276"/>
              <a:ext cx="225425" cy="4763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2" name="Line 11"/>
            <p:cNvSpPr>
              <a:spLocks noChangeShapeType="1"/>
            </p:cNvSpPr>
            <p:nvPr/>
          </p:nvSpPr>
          <p:spPr bwMode="auto">
            <a:xfrm>
              <a:off x="6610350" y="2408238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3" name="Rectangle 12"/>
            <p:cNvSpPr>
              <a:spLocks noChangeArrowheads="1"/>
            </p:cNvSpPr>
            <p:nvPr/>
          </p:nvSpPr>
          <p:spPr bwMode="auto">
            <a:xfrm>
              <a:off x="1306512" y="2352675"/>
              <a:ext cx="990600" cy="762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Entry</a:t>
              </a:r>
            </a:p>
          </p:txBody>
        </p:sp>
        <p:sp>
          <p:nvSpPr>
            <p:cNvPr id="54" name="Line 13"/>
            <p:cNvSpPr>
              <a:spLocks noChangeShapeType="1"/>
            </p:cNvSpPr>
            <p:nvPr/>
          </p:nvSpPr>
          <p:spPr bwMode="auto">
            <a:xfrm>
              <a:off x="2430462" y="2757488"/>
              <a:ext cx="3048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5" name="Rectangle 14"/>
            <p:cNvSpPr>
              <a:spLocks noChangeArrowheads="1"/>
            </p:cNvSpPr>
            <p:nvPr/>
          </p:nvSpPr>
          <p:spPr bwMode="auto">
            <a:xfrm>
              <a:off x="6858000" y="2147889"/>
              <a:ext cx="1289050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Widget Inv.</a:t>
              </a:r>
            </a:p>
          </p:txBody>
        </p:sp>
        <p:grpSp>
          <p:nvGrpSpPr>
            <p:cNvPr id="56" name="Group 15"/>
            <p:cNvGrpSpPr>
              <a:grpSpLocks/>
            </p:cNvGrpSpPr>
            <p:nvPr/>
          </p:nvGrpSpPr>
          <p:grpSpPr bwMode="auto">
            <a:xfrm>
              <a:off x="3151187" y="2532063"/>
              <a:ext cx="304800" cy="381000"/>
              <a:chOff x="1917" y="1246"/>
              <a:chExt cx="192" cy="240"/>
            </a:xfrm>
          </p:grpSpPr>
          <p:sp>
            <p:nvSpPr>
              <p:cNvPr id="83" name="Rectangle 16" descr="Wide downward diagonal"/>
              <p:cNvSpPr>
                <a:spLocks noChangeArrowheads="1"/>
              </p:cNvSpPr>
              <p:nvPr/>
            </p:nvSpPr>
            <p:spPr bwMode="auto">
              <a:xfrm>
                <a:off x="2013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4" name="Oval 17"/>
              <p:cNvSpPr>
                <a:spLocks noChangeArrowheads="1"/>
              </p:cNvSpPr>
              <p:nvPr/>
            </p:nvSpPr>
            <p:spPr bwMode="auto">
              <a:xfrm>
                <a:off x="191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5" name="AutoShape 18"/>
              <p:cNvCxnSpPr>
                <a:cxnSpLocks noChangeShapeType="1"/>
                <a:stCxn id="84" idx="4"/>
                <a:endCxn id="83" idx="1"/>
              </p:cNvCxnSpPr>
              <p:nvPr/>
            </p:nvCxnSpPr>
            <p:spPr bwMode="auto">
              <a:xfrm rot="16200000" flipH="1">
                <a:off x="194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57" name="Group 19"/>
            <p:cNvGrpSpPr>
              <a:grpSpLocks/>
            </p:cNvGrpSpPr>
            <p:nvPr/>
          </p:nvGrpSpPr>
          <p:grpSpPr bwMode="auto">
            <a:xfrm>
              <a:off x="6267450" y="2214563"/>
              <a:ext cx="304800" cy="381000"/>
              <a:chOff x="3597" y="1246"/>
              <a:chExt cx="192" cy="240"/>
            </a:xfrm>
          </p:grpSpPr>
          <p:sp>
            <p:nvSpPr>
              <p:cNvPr id="80" name="Rectangle 20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1" name="Oval 21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2" name="AutoShape 22"/>
              <p:cNvCxnSpPr>
                <a:cxnSpLocks noChangeShapeType="1"/>
                <a:stCxn id="81" idx="4"/>
                <a:endCxn id="80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58" name="Group 23"/>
            <p:cNvGrpSpPr>
              <a:grpSpLocks/>
            </p:cNvGrpSpPr>
            <p:nvPr/>
          </p:nvGrpSpPr>
          <p:grpSpPr bwMode="auto">
            <a:xfrm>
              <a:off x="6267450" y="2933700"/>
              <a:ext cx="304800" cy="381000"/>
              <a:chOff x="3885" y="1246"/>
              <a:chExt cx="192" cy="240"/>
            </a:xfrm>
          </p:grpSpPr>
          <p:sp>
            <p:nvSpPr>
              <p:cNvPr id="77" name="Rectangle 24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78" name="Oval 25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79" name="AutoShape 26"/>
              <p:cNvCxnSpPr>
                <a:cxnSpLocks noChangeShapeType="1"/>
                <a:stCxn id="78" idx="4"/>
                <a:endCxn id="77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59" name="Text Box 28"/>
            <p:cNvSpPr txBox="1">
              <a:spLocks noChangeArrowheads="1"/>
            </p:cNvSpPr>
            <p:nvPr/>
          </p:nvSpPr>
          <p:spPr bwMode="auto">
            <a:xfrm>
              <a:off x="2430462" y="2171700"/>
              <a:ext cx="1411288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 Messages</a:t>
              </a:r>
            </a:p>
          </p:txBody>
        </p:sp>
        <p:sp>
          <p:nvSpPr>
            <p:cNvPr id="60" name="Line 29"/>
            <p:cNvSpPr>
              <a:spLocks noChangeShapeType="1"/>
            </p:cNvSpPr>
            <p:nvPr/>
          </p:nvSpPr>
          <p:spPr bwMode="auto">
            <a:xfrm>
              <a:off x="6602412" y="3114675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1" name="Rectangle 30"/>
            <p:cNvSpPr>
              <a:spLocks noChangeArrowheads="1"/>
            </p:cNvSpPr>
            <p:nvPr/>
          </p:nvSpPr>
          <p:spPr bwMode="auto">
            <a:xfrm>
              <a:off x="6872288" y="2833689"/>
              <a:ext cx="1274763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Gadget Inv.</a:t>
              </a:r>
            </a:p>
          </p:txBody>
        </p:sp>
        <p:sp>
          <p:nvSpPr>
            <p:cNvPr id="62" name="Rectangle 31" descr="Wide upward diagonal"/>
            <p:cNvSpPr>
              <a:spLocks noChangeArrowheads="1"/>
            </p:cNvSpPr>
            <p:nvPr/>
          </p:nvSpPr>
          <p:spPr bwMode="auto">
            <a:xfrm>
              <a:off x="7975600" y="2438400"/>
              <a:ext cx="152400" cy="152400"/>
            </a:xfrm>
            <a:prstGeom prst="rect">
              <a:avLst/>
            </a:prstGeom>
            <a:pattFill prst="wdUpDiag">
              <a:fgClr>
                <a:srgbClr val="FFFF66"/>
              </a:fgClr>
              <a:bgClr>
                <a:srgbClr val="33CC33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3" name="Rectangle 32" descr="Wide downward diagonal"/>
            <p:cNvSpPr>
              <a:spLocks noChangeArrowheads="1"/>
            </p:cNvSpPr>
            <p:nvPr/>
          </p:nvSpPr>
          <p:spPr bwMode="auto">
            <a:xfrm>
              <a:off x="7974012" y="3130550"/>
              <a:ext cx="152400" cy="152400"/>
            </a:xfrm>
            <a:prstGeom prst="rect">
              <a:avLst/>
            </a:prstGeom>
            <a:pattFill prst="wdDnDiag">
              <a:fgClr>
                <a:srgbClr val="FFFF66"/>
              </a:fgClr>
              <a:bgClr>
                <a:srgbClr val="FF3300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64" name="Group 33"/>
            <p:cNvGrpSpPr>
              <a:grpSpLocks/>
            </p:cNvGrpSpPr>
            <p:nvPr/>
          </p:nvGrpSpPr>
          <p:grpSpPr bwMode="auto">
            <a:xfrm>
              <a:off x="4549775" y="2484438"/>
              <a:ext cx="762000" cy="457200"/>
              <a:chOff x="2275" y="2592"/>
              <a:chExt cx="480" cy="288"/>
            </a:xfrm>
          </p:grpSpPr>
          <p:sp>
            <p:nvSpPr>
              <p:cNvPr id="71" name="Rectangle 34"/>
              <p:cNvSpPr>
                <a:spLocks noChangeArrowheads="1"/>
              </p:cNvSpPr>
              <p:nvPr/>
            </p:nvSpPr>
            <p:spPr bwMode="auto">
              <a:xfrm>
                <a:off x="2275" y="2592"/>
                <a:ext cx="480" cy="288"/>
              </a:xfrm>
              <a:prstGeom prst="rect">
                <a:avLst/>
              </a:prstGeom>
              <a:solidFill>
                <a:srgbClr val="CCFF99"/>
              </a:solidFill>
              <a:ln w="19050">
                <a:solidFill>
                  <a:srgbClr val="FFFFFF"/>
                </a:solidFill>
                <a:miter lim="800000"/>
                <a:headEnd/>
                <a:tailEnd/>
              </a:ln>
              <a:effectLst>
                <a:outerShdw dist="35921" dir="2700000" algn="ctr" rotWithShape="0">
                  <a:srgbClr val="000000"/>
                </a:outerShdw>
              </a:effec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72" name="Line 35"/>
              <p:cNvSpPr>
                <a:spLocks noChangeShapeType="1"/>
              </p:cNvSpPr>
              <p:nvPr/>
            </p:nvSpPr>
            <p:spPr bwMode="auto">
              <a:xfrm>
                <a:off x="2323" y="2736"/>
                <a:ext cx="96" cy="0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/>
                <a:tailEnd type="oval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73" name="Line 36"/>
              <p:cNvSpPr>
                <a:spLocks noChangeShapeType="1"/>
              </p:cNvSpPr>
              <p:nvPr/>
            </p:nvSpPr>
            <p:spPr bwMode="auto">
              <a:xfrm flipV="1">
                <a:off x="2419" y="2640"/>
                <a:ext cx="192" cy="96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74" name="Line 37"/>
              <p:cNvSpPr>
                <a:spLocks noChangeShapeType="1"/>
              </p:cNvSpPr>
              <p:nvPr/>
            </p:nvSpPr>
            <p:spPr bwMode="auto">
              <a:xfrm>
                <a:off x="2611" y="2640"/>
                <a:ext cx="96" cy="0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 type="diamond" w="sm" len="sm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75" name="Line 38"/>
              <p:cNvSpPr>
                <a:spLocks noChangeShapeType="1"/>
              </p:cNvSpPr>
              <p:nvPr/>
            </p:nvSpPr>
            <p:spPr bwMode="auto">
              <a:xfrm>
                <a:off x="2611" y="2736"/>
                <a:ext cx="96" cy="0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 type="diamond" w="sm" len="sm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76" name="Line 39"/>
              <p:cNvSpPr>
                <a:spLocks noChangeShapeType="1"/>
              </p:cNvSpPr>
              <p:nvPr/>
            </p:nvSpPr>
            <p:spPr bwMode="auto">
              <a:xfrm>
                <a:off x="2611" y="2832"/>
                <a:ext cx="96" cy="0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 type="diamond" w="sm" len="sm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</p:grpSp>
        <p:sp>
          <p:nvSpPr>
            <p:cNvPr id="65" name="Line 40"/>
            <p:cNvSpPr>
              <a:spLocks noChangeShapeType="1"/>
            </p:cNvSpPr>
            <p:nvPr/>
          </p:nvSpPr>
          <p:spPr bwMode="auto">
            <a:xfrm>
              <a:off x="4276726" y="2708275"/>
              <a:ext cx="225425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6" name="AutoShape 41"/>
            <p:cNvSpPr>
              <a:spLocks noChangeArrowheads="1"/>
            </p:cNvSpPr>
            <p:nvPr/>
          </p:nvSpPr>
          <p:spPr bwMode="auto">
            <a:xfrm rot="5400000">
              <a:off x="5827712" y="2192338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67" name="AutoShape 42"/>
            <p:cNvSpPr>
              <a:spLocks noChangeArrowheads="1"/>
            </p:cNvSpPr>
            <p:nvPr/>
          </p:nvSpPr>
          <p:spPr bwMode="auto">
            <a:xfrm rot="5400000">
              <a:off x="5827712" y="2868613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68" name="Line 43"/>
            <p:cNvSpPr>
              <a:spLocks noChangeShapeType="1"/>
            </p:cNvSpPr>
            <p:nvPr/>
          </p:nvSpPr>
          <p:spPr bwMode="auto">
            <a:xfrm flipV="1">
              <a:off x="5400675" y="2438400"/>
              <a:ext cx="271462" cy="134938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9" name="Line 44"/>
            <p:cNvSpPr>
              <a:spLocks noChangeShapeType="1"/>
            </p:cNvSpPr>
            <p:nvPr/>
          </p:nvSpPr>
          <p:spPr bwMode="auto">
            <a:xfrm>
              <a:off x="5400675" y="2843213"/>
              <a:ext cx="271462" cy="271462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0" name="Text Box 45"/>
            <p:cNvSpPr txBox="1">
              <a:spLocks noChangeArrowheads="1"/>
            </p:cNvSpPr>
            <p:nvPr/>
          </p:nvSpPr>
          <p:spPr bwMode="auto">
            <a:xfrm>
              <a:off x="4546601" y="3024188"/>
              <a:ext cx="783099" cy="7386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Content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Based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Router</a:t>
              </a:r>
            </a:p>
          </p:txBody>
        </p:sp>
      </p:grpSp>
      <p:pic>
        <p:nvPicPr>
          <p:cNvPr id="7" name="Picture 6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AFCDA1AB-0E97-E35A-8789-6816D7D276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504" y="0"/>
            <a:ext cx="2416566" cy="13916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B51192-F864-2F48-B3BA-8314CA008975}"/>
              </a:ext>
            </a:extLst>
          </p:cNvPr>
          <p:cNvSpPr txBox="1"/>
          <p:nvPr/>
        </p:nvSpPr>
        <p:spPr>
          <a:xfrm>
            <a:off x="5764212" y="-41049"/>
            <a:ext cx="38401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b="0" i="0" dirty="0">
                <a:effectLst/>
                <a:latin typeface="Merriweather" panose="00000500000000000000" pitchFamily="2" charset="0"/>
              </a:rPr>
              <a:t>Apache Camel</a:t>
            </a:r>
            <a:r>
              <a:rPr lang="en-HK" sz="1600" b="0" i="0" dirty="0">
                <a:solidFill>
                  <a:srgbClr val="333333"/>
                </a:solidFill>
                <a:effectLst/>
                <a:latin typeface="Merriweather" panose="00000500000000000000" pitchFamily="2" charset="0"/>
              </a:rPr>
              <a:t> </a:t>
            </a:r>
            <a:endParaRPr lang="en-HK" sz="1600" dirty="0"/>
          </a:p>
        </p:txBody>
      </p:sp>
    </p:spTree>
    <p:extLst>
      <p:ext uri="{BB962C8B-B14F-4D97-AF65-F5344CB8AC3E}">
        <p14:creationId xmlns:p14="http://schemas.microsoft.com/office/powerpoint/2010/main" val="1812493215"/>
      </p:ext>
    </p:extLst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7512" y="1447800"/>
            <a:ext cx="9036050" cy="4953000"/>
          </a:xfrm>
        </p:spPr>
        <p:txBody>
          <a:bodyPr/>
          <a:lstStyle/>
          <a:p>
            <a:r>
              <a:rPr lang="en-GB" altLang="en-US" sz="2800" dirty="0"/>
              <a:t>How can we process a message that contains multiple elements?</a:t>
            </a:r>
          </a:p>
          <a:p>
            <a:pPr lvl="1"/>
            <a:r>
              <a:rPr lang="en-GB" altLang="en-US" sz="2400" dirty="0"/>
              <a:t>need to avoid missing or duplicate elements</a:t>
            </a:r>
          </a:p>
          <a:p>
            <a:pPr lvl="1"/>
            <a:r>
              <a:rPr lang="en-GB" altLang="en-US" sz="2400" dirty="0"/>
              <a:t>make efficient use of network resources</a:t>
            </a:r>
          </a:p>
          <a:p>
            <a:pPr lvl="1"/>
            <a:endParaRPr lang="en-GB" alt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76</a:t>
            </a:fld>
            <a:endParaRPr lang="en-US"/>
          </a:p>
        </p:txBody>
      </p:sp>
      <p:grpSp>
        <p:nvGrpSpPr>
          <p:cNvPr id="37" name="Group 36"/>
          <p:cNvGrpSpPr/>
          <p:nvPr/>
        </p:nvGrpSpPr>
        <p:grpSpPr>
          <a:xfrm>
            <a:off x="1141412" y="3733800"/>
            <a:ext cx="7291388" cy="2835275"/>
            <a:chOff x="1125537" y="1314451"/>
            <a:chExt cx="7291388" cy="2835275"/>
          </a:xfrm>
        </p:grpSpPr>
        <p:sp>
          <p:nvSpPr>
            <p:cNvPr id="38" name="Rectangle 82"/>
            <p:cNvSpPr>
              <a:spLocks noChangeArrowheads="1"/>
            </p:cNvSpPr>
            <p:nvPr/>
          </p:nvSpPr>
          <p:spPr bwMode="auto">
            <a:xfrm>
              <a:off x="1125537" y="1314451"/>
              <a:ext cx="7291388" cy="2835275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39" name="Group 9"/>
            <p:cNvGrpSpPr>
              <a:grpSpLocks/>
            </p:cNvGrpSpPr>
            <p:nvPr/>
          </p:nvGrpSpPr>
          <p:grpSpPr bwMode="auto">
            <a:xfrm>
              <a:off x="2665412" y="2438400"/>
              <a:ext cx="304800" cy="609600"/>
              <a:chOff x="672" y="1886"/>
              <a:chExt cx="192" cy="384"/>
            </a:xfrm>
          </p:grpSpPr>
          <p:sp>
            <p:nvSpPr>
              <p:cNvPr id="64" name="Rectangle 4" descr="Wide downward diagonal"/>
              <p:cNvSpPr>
                <a:spLocks noChangeArrowheads="1"/>
              </p:cNvSpPr>
              <p:nvPr/>
            </p:nvSpPr>
            <p:spPr bwMode="auto">
              <a:xfrm>
                <a:off x="768" y="2174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65" name="Rectangle 5" descr="Wide upward diagonal"/>
              <p:cNvSpPr>
                <a:spLocks noChangeArrowheads="1"/>
              </p:cNvSpPr>
              <p:nvPr/>
            </p:nvSpPr>
            <p:spPr bwMode="auto">
              <a:xfrm>
                <a:off x="768" y="2030"/>
                <a:ext cx="96" cy="96"/>
              </a:xfrm>
              <a:prstGeom prst="rect">
                <a:avLst/>
              </a:prstGeom>
              <a:pattFill prst="wd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66" name="Oval 6"/>
              <p:cNvSpPr>
                <a:spLocks noChangeArrowheads="1"/>
              </p:cNvSpPr>
              <p:nvPr/>
            </p:nvSpPr>
            <p:spPr bwMode="auto">
              <a:xfrm>
                <a:off x="672" y="188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67" name="AutoShape 7"/>
              <p:cNvCxnSpPr>
                <a:cxnSpLocks noChangeShapeType="1"/>
                <a:stCxn id="66" idx="4"/>
                <a:endCxn id="65" idx="1"/>
              </p:cNvCxnSpPr>
              <p:nvPr/>
            </p:nvCxnSpPr>
            <p:spPr bwMode="auto">
              <a:xfrm rot="16200000" flipH="1">
                <a:off x="696" y="200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68" name="AutoShape 8"/>
              <p:cNvCxnSpPr>
                <a:cxnSpLocks noChangeShapeType="1"/>
                <a:stCxn id="66" idx="4"/>
                <a:endCxn id="64" idx="1"/>
              </p:cNvCxnSpPr>
              <p:nvPr/>
            </p:nvCxnSpPr>
            <p:spPr bwMode="auto">
              <a:xfrm rot="16200000" flipH="1">
                <a:off x="624" y="2078"/>
                <a:ext cx="240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40" name="Rectangle 28"/>
            <p:cNvSpPr>
              <a:spLocks noChangeArrowheads="1"/>
            </p:cNvSpPr>
            <p:nvPr/>
          </p:nvSpPr>
          <p:spPr bwMode="auto">
            <a:xfrm>
              <a:off x="1304925" y="2349500"/>
              <a:ext cx="990600" cy="762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Entry</a:t>
              </a:r>
            </a:p>
          </p:txBody>
        </p:sp>
        <p:sp>
          <p:nvSpPr>
            <p:cNvPr id="41" name="Line 29"/>
            <p:cNvSpPr>
              <a:spLocks noChangeShapeType="1"/>
            </p:cNvSpPr>
            <p:nvPr/>
          </p:nvSpPr>
          <p:spPr bwMode="auto">
            <a:xfrm>
              <a:off x="2349500" y="2708275"/>
              <a:ext cx="3048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400000">
              <a:off x="3171825" y="2481263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43" name="Line 83"/>
            <p:cNvSpPr>
              <a:spLocks noChangeShapeType="1"/>
            </p:cNvSpPr>
            <p:nvPr/>
          </p:nvSpPr>
          <p:spPr bwMode="auto">
            <a:xfrm>
              <a:off x="3611562" y="2708275"/>
              <a:ext cx="3048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44" name="Cloud"/>
            <p:cNvSpPr>
              <a:spLocks noChangeAspect="1" noEditPoints="1" noChangeArrowheads="1"/>
            </p:cNvSpPr>
            <p:nvPr/>
          </p:nvSpPr>
          <p:spPr bwMode="auto">
            <a:xfrm>
              <a:off x="4203700" y="2438401"/>
              <a:ext cx="838200" cy="561975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0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1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300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7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7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0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0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50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2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10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?</a:t>
              </a:r>
            </a:p>
          </p:txBody>
        </p:sp>
        <p:sp>
          <p:nvSpPr>
            <p:cNvPr id="45" name="Text Box 85"/>
            <p:cNvSpPr txBox="1">
              <a:spLocks noChangeArrowheads="1"/>
            </p:cNvSpPr>
            <p:nvPr/>
          </p:nvSpPr>
          <p:spPr bwMode="auto">
            <a:xfrm>
              <a:off x="2430463" y="1898650"/>
              <a:ext cx="872355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Message</a:t>
              </a:r>
            </a:p>
          </p:txBody>
        </p:sp>
        <p:sp>
          <p:nvSpPr>
            <p:cNvPr id="46" name="Line 86"/>
            <p:cNvSpPr>
              <a:spLocks noChangeShapeType="1"/>
            </p:cNvSpPr>
            <p:nvPr/>
          </p:nvSpPr>
          <p:spPr bwMode="auto">
            <a:xfrm>
              <a:off x="6610350" y="2408238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47" name="Rectangle 87"/>
            <p:cNvSpPr>
              <a:spLocks noChangeArrowheads="1"/>
            </p:cNvSpPr>
            <p:nvPr/>
          </p:nvSpPr>
          <p:spPr bwMode="auto">
            <a:xfrm>
              <a:off x="6858000" y="2147889"/>
              <a:ext cx="1289050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Widget Inv.</a:t>
              </a:r>
            </a:p>
          </p:txBody>
        </p:sp>
        <p:grpSp>
          <p:nvGrpSpPr>
            <p:cNvPr id="48" name="Group 88"/>
            <p:cNvGrpSpPr>
              <a:grpSpLocks/>
            </p:cNvGrpSpPr>
            <p:nvPr/>
          </p:nvGrpSpPr>
          <p:grpSpPr bwMode="auto">
            <a:xfrm>
              <a:off x="6267450" y="2214563"/>
              <a:ext cx="304800" cy="381000"/>
              <a:chOff x="3597" y="1246"/>
              <a:chExt cx="192" cy="240"/>
            </a:xfrm>
          </p:grpSpPr>
          <p:sp>
            <p:nvSpPr>
              <p:cNvPr id="61" name="Rectangle 89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62" name="Oval 90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63" name="AutoShape 91"/>
              <p:cNvCxnSpPr>
                <a:cxnSpLocks noChangeShapeType="1"/>
                <a:stCxn id="62" idx="4"/>
                <a:endCxn id="61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49" name="Group 92"/>
            <p:cNvGrpSpPr>
              <a:grpSpLocks/>
            </p:cNvGrpSpPr>
            <p:nvPr/>
          </p:nvGrpSpPr>
          <p:grpSpPr bwMode="auto">
            <a:xfrm>
              <a:off x="6267450" y="2933700"/>
              <a:ext cx="304800" cy="381000"/>
              <a:chOff x="3885" y="1246"/>
              <a:chExt cx="192" cy="240"/>
            </a:xfrm>
          </p:grpSpPr>
          <p:sp>
            <p:nvSpPr>
              <p:cNvPr id="58" name="Rectangle 93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59" name="Oval 94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60" name="AutoShape 95"/>
              <p:cNvCxnSpPr>
                <a:cxnSpLocks noChangeShapeType="1"/>
                <a:stCxn id="59" idx="4"/>
                <a:endCxn id="58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50" name="Line 96"/>
            <p:cNvSpPr>
              <a:spLocks noChangeShapeType="1"/>
            </p:cNvSpPr>
            <p:nvPr/>
          </p:nvSpPr>
          <p:spPr bwMode="auto">
            <a:xfrm>
              <a:off x="6602412" y="3114675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1" name="Rectangle 97"/>
            <p:cNvSpPr>
              <a:spLocks noChangeArrowheads="1"/>
            </p:cNvSpPr>
            <p:nvPr/>
          </p:nvSpPr>
          <p:spPr bwMode="auto">
            <a:xfrm>
              <a:off x="6872288" y="2833689"/>
              <a:ext cx="1274763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Gadget Inv.</a:t>
              </a:r>
            </a:p>
          </p:txBody>
        </p:sp>
        <p:sp>
          <p:nvSpPr>
            <p:cNvPr id="52" name="Rectangle 98" descr="Wide upward diagonal"/>
            <p:cNvSpPr>
              <a:spLocks noChangeArrowheads="1"/>
            </p:cNvSpPr>
            <p:nvPr/>
          </p:nvSpPr>
          <p:spPr bwMode="auto">
            <a:xfrm>
              <a:off x="7975600" y="2438400"/>
              <a:ext cx="152400" cy="152400"/>
            </a:xfrm>
            <a:prstGeom prst="rect">
              <a:avLst/>
            </a:prstGeom>
            <a:pattFill prst="wdUpDiag">
              <a:fgClr>
                <a:srgbClr val="FFFF66"/>
              </a:fgClr>
              <a:bgClr>
                <a:srgbClr val="33CC33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3" name="Rectangle 99" descr="Wide downward diagonal"/>
            <p:cNvSpPr>
              <a:spLocks noChangeArrowheads="1"/>
            </p:cNvSpPr>
            <p:nvPr/>
          </p:nvSpPr>
          <p:spPr bwMode="auto">
            <a:xfrm>
              <a:off x="7974012" y="3130550"/>
              <a:ext cx="152400" cy="152400"/>
            </a:xfrm>
            <a:prstGeom prst="rect">
              <a:avLst/>
            </a:prstGeom>
            <a:pattFill prst="wdDnDiag">
              <a:fgClr>
                <a:srgbClr val="FFFF66"/>
              </a:fgClr>
              <a:bgClr>
                <a:srgbClr val="FF3300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4" name="AutoShape 100"/>
            <p:cNvSpPr>
              <a:spLocks noChangeArrowheads="1"/>
            </p:cNvSpPr>
            <p:nvPr/>
          </p:nvSpPr>
          <p:spPr bwMode="auto">
            <a:xfrm rot="5400000">
              <a:off x="5827712" y="2192338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55" name="AutoShape 101"/>
            <p:cNvSpPr>
              <a:spLocks noChangeArrowheads="1"/>
            </p:cNvSpPr>
            <p:nvPr/>
          </p:nvSpPr>
          <p:spPr bwMode="auto">
            <a:xfrm rot="5400000">
              <a:off x="5827712" y="2868613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56" name="Line 102"/>
            <p:cNvSpPr>
              <a:spLocks noChangeShapeType="1"/>
            </p:cNvSpPr>
            <p:nvPr/>
          </p:nvSpPr>
          <p:spPr bwMode="auto">
            <a:xfrm flipV="1">
              <a:off x="5400675" y="2438400"/>
              <a:ext cx="271462" cy="134938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7" name="Line 103"/>
            <p:cNvSpPr>
              <a:spLocks noChangeShapeType="1"/>
            </p:cNvSpPr>
            <p:nvPr/>
          </p:nvSpPr>
          <p:spPr bwMode="auto">
            <a:xfrm>
              <a:off x="5400675" y="2843213"/>
              <a:ext cx="271462" cy="271462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9280559"/>
      </p:ext>
    </p:extLst>
  </p:cSld>
  <p:clrMapOvr>
    <a:masterClrMapping/>
  </p:clrMapOvr>
  <p:transition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Splitter &amp; Router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750" y="1676400"/>
            <a:ext cx="9339262" cy="4953000"/>
          </a:xfrm>
        </p:spPr>
        <p:txBody>
          <a:bodyPr/>
          <a:lstStyle/>
          <a:p>
            <a:r>
              <a:rPr lang="en-GB" altLang="en-US" sz="2400" dirty="0"/>
              <a:t>Use a </a:t>
            </a:r>
            <a:r>
              <a:rPr lang="en-GB" altLang="en-US" sz="2400" i="1" dirty="0"/>
              <a:t>splitter</a:t>
            </a:r>
            <a:r>
              <a:rPr lang="en-GB" altLang="en-US" sz="2400" dirty="0"/>
              <a:t> to break out a composite message into a series of individual messages</a:t>
            </a:r>
          </a:p>
          <a:p>
            <a:r>
              <a:rPr lang="en-GB" altLang="en-US" sz="2400" dirty="0"/>
              <a:t>Then use a router to route the individual messages as before</a:t>
            </a:r>
          </a:p>
          <a:p>
            <a:pPr>
              <a:spcBef>
                <a:spcPts val="0"/>
              </a:spcBef>
            </a:pPr>
            <a:r>
              <a:rPr lang="en-GB" altLang="en-US" sz="2400" dirty="0"/>
              <a:t>Note that two patterns are composed in the solution</a:t>
            </a:r>
          </a:p>
          <a:p>
            <a:pPr>
              <a:spcBef>
                <a:spcPts val="0"/>
              </a:spcBef>
            </a:pPr>
            <a:r>
              <a:rPr lang="en-GB" altLang="en-US" sz="2400" dirty="0"/>
              <a:t>we can now split messages, but what about the reverse…?</a:t>
            </a:r>
          </a:p>
          <a:p>
            <a:pPr>
              <a:spcBef>
                <a:spcPct val="80000"/>
              </a:spcBef>
            </a:pPr>
            <a:endParaRPr lang="en-GB" altLang="en-US" sz="2400" i="1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77</a:t>
            </a:fld>
            <a:endParaRPr lang="en-US"/>
          </a:p>
        </p:txBody>
      </p:sp>
      <p:grpSp>
        <p:nvGrpSpPr>
          <p:cNvPr id="66" name="Group 65"/>
          <p:cNvGrpSpPr/>
          <p:nvPr/>
        </p:nvGrpSpPr>
        <p:grpSpPr>
          <a:xfrm>
            <a:off x="812800" y="3733800"/>
            <a:ext cx="8235950" cy="2835275"/>
            <a:chOff x="811212" y="1314451"/>
            <a:chExt cx="8235950" cy="2835275"/>
          </a:xfrm>
        </p:grpSpPr>
        <p:sp>
          <p:nvSpPr>
            <p:cNvPr id="67" name="Rectangle 4"/>
            <p:cNvSpPr>
              <a:spLocks noChangeArrowheads="1"/>
            </p:cNvSpPr>
            <p:nvPr/>
          </p:nvSpPr>
          <p:spPr bwMode="auto">
            <a:xfrm>
              <a:off x="811212" y="1314451"/>
              <a:ext cx="8235950" cy="2835275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68" name="Group 5"/>
            <p:cNvGrpSpPr>
              <a:grpSpLocks/>
            </p:cNvGrpSpPr>
            <p:nvPr/>
          </p:nvGrpSpPr>
          <p:grpSpPr bwMode="auto">
            <a:xfrm>
              <a:off x="2351087" y="2438400"/>
              <a:ext cx="304800" cy="609600"/>
              <a:chOff x="672" y="1886"/>
              <a:chExt cx="192" cy="384"/>
            </a:xfrm>
          </p:grpSpPr>
          <p:sp>
            <p:nvSpPr>
              <p:cNvPr id="122" name="Rectangle 6" descr="Wide downward diagonal"/>
              <p:cNvSpPr>
                <a:spLocks noChangeArrowheads="1"/>
              </p:cNvSpPr>
              <p:nvPr/>
            </p:nvSpPr>
            <p:spPr bwMode="auto">
              <a:xfrm>
                <a:off x="768" y="2174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23" name="Rectangle 7" descr="Wide upward diagonal"/>
              <p:cNvSpPr>
                <a:spLocks noChangeArrowheads="1"/>
              </p:cNvSpPr>
              <p:nvPr/>
            </p:nvSpPr>
            <p:spPr bwMode="auto">
              <a:xfrm>
                <a:off x="768" y="2030"/>
                <a:ext cx="96" cy="96"/>
              </a:xfrm>
              <a:prstGeom prst="rect">
                <a:avLst/>
              </a:prstGeom>
              <a:pattFill prst="wd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24" name="Oval 8"/>
              <p:cNvSpPr>
                <a:spLocks noChangeArrowheads="1"/>
              </p:cNvSpPr>
              <p:nvPr/>
            </p:nvSpPr>
            <p:spPr bwMode="auto">
              <a:xfrm>
                <a:off x="672" y="188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25" name="AutoShape 9"/>
              <p:cNvCxnSpPr>
                <a:cxnSpLocks noChangeShapeType="1"/>
                <a:stCxn id="124" idx="4"/>
                <a:endCxn id="123" idx="1"/>
              </p:cNvCxnSpPr>
              <p:nvPr/>
            </p:nvCxnSpPr>
            <p:spPr bwMode="auto">
              <a:xfrm rot="16200000" flipH="1">
                <a:off x="696" y="200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26" name="AutoShape 10"/>
              <p:cNvCxnSpPr>
                <a:cxnSpLocks noChangeShapeType="1"/>
                <a:stCxn id="124" idx="4"/>
                <a:endCxn id="122" idx="1"/>
              </p:cNvCxnSpPr>
              <p:nvPr/>
            </p:nvCxnSpPr>
            <p:spPr bwMode="auto">
              <a:xfrm rot="16200000" flipH="1">
                <a:off x="624" y="2078"/>
                <a:ext cx="240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69" name="Line 11"/>
            <p:cNvSpPr>
              <a:spLocks noChangeShapeType="1"/>
            </p:cNvSpPr>
            <p:nvPr/>
          </p:nvSpPr>
          <p:spPr bwMode="auto">
            <a:xfrm>
              <a:off x="7329487" y="2408238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0" name="Rectangle 12"/>
            <p:cNvSpPr>
              <a:spLocks noChangeArrowheads="1"/>
            </p:cNvSpPr>
            <p:nvPr/>
          </p:nvSpPr>
          <p:spPr bwMode="auto">
            <a:xfrm>
              <a:off x="7577137" y="2147889"/>
              <a:ext cx="1244600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Widget Inv.</a:t>
              </a:r>
            </a:p>
          </p:txBody>
        </p:sp>
        <p:grpSp>
          <p:nvGrpSpPr>
            <p:cNvPr id="71" name="Group 13"/>
            <p:cNvGrpSpPr>
              <a:grpSpLocks/>
            </p:cNvGrpSpPr>
            <p:nvPr/>
          </p:nvGrpSpPr>
          <p:grpSpPr bwMode="auto">
            <a:xfrm>
              <a:off x="6986587" y="2214563"/>
              <a:ext cx="304800" cy="381000"/>
              <a:chOff x="3597" y="1246"/>
              <a:chExt cx="192" cy="240"/>
            </a:xfrm>
          </p:grpSpPr>
          <p:sp>
            <p:nvSpPr>
              <p:cNvPr id="119" name="Rectangle 14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20" name="Oval 15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21" name="AutoShape 16"/>
              <p:cNvCxnSpPr>
                <a:cxnSpLocks noChangeShapeType="1"/>
                <a:stCxn id="120" idx="4"/>
                <a:endCxn id="119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72" name="Line 17"/>
            <p:cNvSpPr>
              <a:spLocks noChangeShapeType="1"/>
            </p:cNvSpPr>
            <p:nvPr/>
          </p:nvSpPr>
          <p:spPr bwMode="auto">
            <a:xfrm>
              <a:off x="7321550" y="3114675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3" name="Rectangle 18"/>
            <p:cNvSpPr>
              <a:spLocks noChangeArrowheads="1"/>
            </p:cNvSpPr>
            <p:nvPr/>
          </p:nvSpPr>
          <p:spPr bwMode="auto">
            <a:xfrm>
              <a:off x="7591425" y="2833689"/>
              <a:ext cx="1230312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Gadget Inv.</a:t>
              </a:r>
            </a:p>
          </p:txBody>
        </p:sp>
        <p:sp>
          <p:nvSpPr>
            <p:cNvPr id="74" name="Rectangle 19" descr="Wide upward diagonal"/>
            <p:cNvSpPr>
              <a:spLocks noChangeArrowheads="1"/>
            </p:cNvSpPr>
            <p:nvPr/>
          </p:nvSpPr>
          <p:spPr bwMode="auto">
            <a:xfrm>
              <a:off x="8640762" y="2438400"/>
              <a:ext cx="152400" cy="152400"/>
            </a:xfrm>
            <a:prstGeom prst="rect">
              <a:avLst/>
            </a:prstGeom>
            <a:pattFill prst="wdUpDiag">
              <a:fgClr>
                <a:srgbClr val="FFFF66"/>
              </a:fgClr>
              <a:bgClr>
                <a:srgbClr val="33CC33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5" name="Rectangle 20" descr="Wide downward diagonal"/>
            <p:cNvSpPr>
              <a:spLocks noChangeArrowheads="1"/>
            </p:cNvSpPr>
            <p:nvPr/>
          </p:nvSpPr>
          <p:spPr bwMode="auto">
            <a:xfrm>
              <a:off x="8640762" y="3114675"/>
              <a:ext cx="152400" cy="152400"/>
            </a:xfrm>
            <a:prstGeom prst="rect">
              <a:avLst/>
            </a:prstGeom>
            <a:pattFill prst="wdDnDiag">
              <a:fgClr>
                <a:srgbClr val="FFFF66"/>
              </a:fgClr>
              <a:bgClr>
                <a:srgbClr val="FF3300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6" name="AutoShape 21"/>
            <p:cNvSpPr>
              <a:spLocks noChangeArrowheads="1"/>
            </p:cNvSpPr>
            <p:nvPr/>
          </p:nvSpPr>
          <p:spPr bwMode="auto">
            <a:xfrm rot="5400000">
              <a:off x="6546850" y="2192338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77" name="AutoShape 22"/>
            <p:cNvSpPr>
              <a:spLocks noChangeArrowheads="1"/>
            </p:cNvSpPr>
            <p:nvPr/>
          </p:nvSpPr>
          <p:spPr bwMode="auto">
            <a:xfrm rot="5400000">
              <a:off x="6546850" y="2868613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78" name="Line 23"/>
            <p:cNvSpPr>
              <a:spLocks noChangeShapeType="1"/>
            </p:cNvSpPr>
            <p:nvPr/>
          </p:nvSpPr>
          <p:spPr bwMode="auto">
            <a:xfrm flipV="1">
              <a:off x="6119813" y="2438400"/>
              <a:ext cx="271463" cy="134938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9" name="Line 24"/>
            <p:cNvSpPr>
              <a:spLocks noChangeShapeType="1"/>
            </p:cNvSpPr>
            <p:nvPr/>
          </p:nvSpPr>
          <p:spPr bwMode="auto">
            <a:xfrm>
              <a:off x="6119813" y="2843213"/>
              <a:ext cx="271463" cy="271462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80" name="Group 25"/>
            <p:cNvGrpSpPr>
              <a:grpSpLocks/>
            </p:cNvGrpSpPr>
            <p:nvPr/>
          </p:nvGrpSpPr>
          <p:grpSpPr bwMode="auto">
            <a:xfrm>
              <a:off x="6986587" y="2933700"/>
              <a:ext cx="304800" cy="381000"/>
              <a:chOff x="3885" y="1246"/>
              <a:chExt cx="192" cy="240"/>
            </a:xfrm>
          </p:grpSpPr>
          <p:sp>
            <p:nvSpPr>
              <p:cNvPr id="116" name="Rectangle 26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17" name="Oval 27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18" name="AutoShape 28"/>
              <p:cNvCxnSpPr>
                <a:cxnSpLocks noChangeShapeType="1"/>
                <a:stCxn id="117" idx="4"/>
                <a:endCxn id="116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81" name="Rectangle 29"/>
            <p:cNvSpPr>
              <a:spLocks noChangeArrowheads="1"/>
            </p:cNvSpPr>
            <p:nvPr/>
          </p:nvSpPr>
          <p:spPr bwMode="auto">
            <a:xfrm>
              <a:off x="990600" y="2349500"/>
              <a:ext cx="990600" cy="762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Entry</a:t>
              </a:r>
            </a:p>
          </p:txBody>
        </p:sp>
        <p:sp>
          <p:nvSpPr>
            <p:cNvPr id="82" name="Line 30"/>
            <p:cNvSpPr>
              <a:spLocks noChangeShapeType="1"/>
            </p:cNvSpPr>
            <p:nvPr/>
          </p:nvSpPr>
          <p:spPr bwMode="auto">
            <a:xfrm>
              <a:off x="2035175" y="2708275"/>
              <a:ext cx="3048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83" name="Group 31"/>
            <p:cNvGrpSpPr>
              <a:grpSpLocks/>
            </p:cNvGrpSpPr>
            <p:nvPr/>
          </p:nvGrpSpPr>
          <p:grpSpPr bwMode="auto">
            <a:xfrm>
              <a:off x="3486150" y="2476500"/>
              <a:ext cx="762000" cy="457200"/>
              <a:chOff x="1464" y="2432"/>
              <a:chExt cx="480" cy="288"/>
            </a:xfrm>
          </p:grpSpPr>
          <p:sp>
            <p:nvSpPr>
              <p:cNvPr id="109" name="Rectangle 32"/>
              <p:cNvSpPr>
                <a:spLocks noChangeArrowheads="1"/>
              </p:cNvSpPr>
              <p:nvPr/>
            </p:nvSpPr>
            <p:spPr bwMode="auto">
              <a:xfrm>
                <a:off x="1464" y="2432"/>
                <a:ext cx="480" cy="288"/>
              </a:xfrm>
              <a:prstGeom prst="rect">
                <a:avLst/>
              </a:prstGeom>
              <a:solidFill>
                <a:srgbClr val="CCFF99"/>
              </a:solidFill>
              <a:ln w="19050">
                <a:solidFill>
                  <a:srgbClr val="FFFFFF"/>
                </a:solidFill>
                <a:miter lim="800000"/>
                <a:headEnd/>
                <a:tailEnd/>
              </a:ln>
              <a:effectLst>
                <a:outerShdw dist="35921" dir="2700000" algn="ctr" rotWithShape="0">
                  <a:srgbClr val="000000"/>
                </a:outerShdw>
              </a:effec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grpSp>
            <p:nvGrpSpPr>
              <p:cNvPr id="110" name="Group 33"/>
              <p:cNvGrpSpPr>
                <a:grpSpLocks/>
              </p:cNvGrpSpPr>
              <p:nvPr/>
            </p:nvGrpSpPr>
            <p:grpSpPr bwMode="auto">
              <a:xfrm>
                <a:off x="1592" y="2480"/>
                <a:ext cx="240" cy="192"/>
                <a:chOff x="1392" y="864"/>
                <a:chExt cx="240" cy="192"/>
              </a:xfrm>
            </p:grpSpPr>
            <p:sp>
              <p:nvSpPr>
                <p:cNvPr id="111" name="Rectangle 34"/>
                <p:cNvSpPr>
                  <a:spLocks noChangeArrowheads="1"/>
                </p:cNvSpPr>
                <p:nvPr/>
              </p:nvSpPr>
              <p:spPr bwMode="auto">
                <a:xfrm>
                  <a:off x="1392" y="937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12" name="Rectangle 35"/>
                <p:cNvSpPr>
                  <a:spLocks noChangeArrowheads="1"/>
                </p:cNvSpPr>
                <p:nvPr/>
              </p:nvSpPr>
              <p:spPr bwMode="auto">
                <a:xfrm>
                  <a:off x="1584" y="864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13" name="Rectangle 36"/>
                <p:cNvSpPr>
                  <a:spLocks noChangeArrowheads="1"/>
                </p:cNvSpPr>
                <p:nvPr/>
              </p:nvSpPr>
              <p:spPr bwMode="auto">
                <a:xfrm>
                  <a:off x="1584" y="936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14" name="Rectangle 37"/>
                <p:cNvSpPr>
                  <a:spLocks noChangeArrowheads="1"/>
                </p:cNvSpPr>
                <p:nvPr/>
              </p:nvSpPr>
              <p:spPr bwMode="auto">
                <a:xfrm>
                  <a:off x="1584" y="1008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15" name="Line 38"/>
                <p:cNvSpPr>
                  <a:spLocks noChangeShapeType="1"/>
                </p:cNvSpPr>
                <p:nvPr/>
              </p:nvSpPr>
              <p:spPr bwMode="auto">
                <a:xfrm>
                  <a:off x="1468" y="960"/>
                  <a:ext cx="96" cy="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</p:grpSp>
        </p:grpSp>
        <p:sp>
          <p:nvSpPr>
            <p:cNvPr id="84" name="AutoShape 39"/>
            <p:cNvSpPr>
              <a:spLocks noChangeArrowheads="1"/>
            </p:cNvSpPr>
            <p:nvPr/>
          </p:nvSpPr>
          <p:spPr bwMode="auto">
            <a:xfrm rot="5400000">
              <a:off x="2857500" y="2481263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grpSp>
          <p:nvGrpSpPr>
            <p:cNvPr id="85" name="Group 40"/>
            <p:cNvGrpSpPr>
              <a:grpSpLocks/>
            </p:cNvGrpSpPr>
            <p:nvPr/>
          </p:nvGrpSpPr>
          <p:grpSpPr bwMode="auto">
            <a:xfrm>
              <a:off x="5297487" y="2484438"/>
              <a:ext cx="762000" cy="457200"/>
              <a:chOff x="2275" y="2592"/>
              <a:chExt cx="480" cy="288"/>
            </a:xfrm>
          </p:grpSpPr>
          <p:sp>
            <p:nvSpPr>
              <p:cNvPr id="103" name="Rectangle 41"/>
              <p:cNvSpPr>
                <a:spLocks noChangeArrowheads="1"/>
              </p:cNvSpPr>
              <p:nvPr/>
            </p:nvSpPr>
            <p:spPr bwMode="auto">
              <a:xfrm>
                <a:off x="2275" y="2592"/>
                <a:ext cx="480" cy="288"/>
              </a:xfrm>
              <a:prstGeom prst="rect">
                <a:avLst/>
              </a:prstGeom>
              <a:solidFill>
                <a:srgbClr val="CCFF99"/>
              </a:solidFill>
              <a:ln w="19050">
                <a:solidFill>
                  <a:srgbClr val="FFFFFF"/>
                </a:solidFill>
                <a:miter lim="800000"/>
                <a:headEnd/>
                <a:tailEnd/>
              </a:ln>
              <a:effectLst>
                <a:outerShdw dist="35921" dir="2700000" algn="ctr" rotWithShape="0">
                  <a:srgbClr val="000000"/>
                </a:outerShdw>
              </a:effec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4" name="Line 42"/>
              <p:cNvSpPr>
                <a:spLocks noChangeShapeType="1"/>
              </p:cNvSpPr>
              <p:nvPr/>
            </p:nvSpPr>
            <p:spPr bwMode="auto">
              <a:xfrm>
                <a:off x="2323" y="2736"/>
                <a:ext cx="96" cy="0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/>
                <a:tailEnd type="oval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5" name="Line 43"/>
              <p:cNvSpPr>
                <a:spLocks noChangeShapeType="1"/>
              </p:cNvSpPr>
              <p:nvPr/>
            </p:nvSpPr>
            <p:spPr bwMode="auto">
              <a:xfrm flipV="1">
                <a:off x="2419" y="2640"/>
                <a:ext cx="192" cy="96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6" name="Line 44"/>
              <p:cNvSpPr>
                <a:spLocks noChangeShapeType="1"/>
              </p:cNvSpPr>
              <p:nvPr/>
            </p:nvSpPr>
            <p:spPr bwMode="auto">
              <a:xfrm>
                <a:off x="2611" y="2640"/>
                <a:ext cx="96" cy="0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 type="diamond" w="sm" len="sm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7" name="Line 45"/>
              <p:cNvSpPr>
                <a:spLocks noChangeShapeType="1"/>
              </p:cNvSpPr>
              <p:nvPr/>
            </p:nvSpPr>
            <p:spPr bwMode="auto">
              <a:xfrm>
                <a:off x="2611" y="2736"/>
                <a:ext cx="96" cy="0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 type="diamond" w="sm" len="sm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auto">
              <a:xfrm>
                <a:off x="2611" y="2832"/>
                <a:ext cx="96" cy="0"/>
              </a:xfrm>
              <a:prstGeom prst="line">
                <a:avLst/>
              </a:prstGeom>
              <a:noFill/>
              <a:ln w="12700">
                <a:solidFill>
                  <a:srgbClr val="28374A"/>
                </a:solidFill>
                <a:round/>
                <a:headEnd type="diamond" w="sm" len="sm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</p:grpSp>
        <p:sp>
          <p:nvSpPr>
            <p:cNvPr id="86" name="Line 47"/>
            <p:cNvSpPr>
              <a:spLocks noChangeShapeType="1"/>
            </p:cNvSpPr>
            <p:nvPr/>
          </p:nvSpPr>
          <p:spPr bwMode="auto">
            <a:xfrm>
              <a:off x="3224212" y="2708275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87" name="Group 48"/>
            <p:cNvGrpSpPr>
              <a:grpSpLocks/>
            </p:cNvGrpSpPr>
            <p:nvPr/>
          </p:nvGrpSpPr>
          <p:grpSpPr bwMode="auto">
            <a:xfrm>
              <a:off x="4456112" y="2528888"/>
              <a:ext cx="304800" cy="381000"/>
              <a:chOff x="3597" y="1246"/>
              <a:chExt cx="192" cy="240"/>
            </a:xfrm>
          </p:grpSpPr>
          <p:sp>
            <p:nvSpPr>
              <p:cNvPr id="100" name="Rectangle 49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1" name="Oval 50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02" name="AutoShape 51"/>
              <p:cNvCxnSpPr>
                <a:cxnSpLocks noChangeShapeType="1"/>
                <a:stCxn id="101" idx="4"/>
                <a:endCxn id="100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88" name="Group 52"/>
            <p:cNvGrpSpPr>
              <a:grpSpLocks/>
            </p:cNvGrpSpPr>
            <p:nvPr/>
          </p:nvGrpSpPr>
          <p:grpSpPr bwMode="auto">
            <a:xfrm>
              <a:off x="4772025" y="2528888"/>
              <a:ext cx="304800" cy="381000"/>
              <a:chOff x="3885" y="1246"/>
              <a:chExt cx="192" cy="240"/>
            </a:xfrm>
          </p:grpSpPr>
          <p:sp>
            <p:nvSpPr>
              <p:cNvPr id="97" name="Rectangle 53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98" name="Oval 54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99" name="AutoShape 55"/>
              <p:cNvCxnSpPr>
                <a:cxnSpLocks noChangeShapeType="1"/>
                <a:stCxn id="98" idx="4"/>
                <a:endCxn id="97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89" name="Line 56"/>
            <p:cNvSpPr>
              <a:spLocks noChangeShapeType="1"/>
            </p:cNvSpPr>
            <p:nvPr/>
          </p:nvSpPr>
          <p:spPr bwMode="auto">
            <a:xfrm>
              <a:off x="4321176" y="2708275"/>
              <a:ext cx="134937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90" name="Line 57"/>
            <p:cNvSpPr>
              <a:spLocks noChangeShapeType="1"/>
            </p:cNvSpPr>
            <p:nvPr/>
          </p:nvSpPr>
          <p:spPr bwMode="auto">
            <a:xfrm>
              <a:off x="5086351" y="2708275"/>
              <a:ext cx="134937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91" name="Text Box 58"/>
            <p:cNvSpPr txBox="1">
              <a:spLocks noChangeArrowheads="1"/>
            </p:cNvSpPr>
            <p:nvPr/>
          </p:nvSpPr>
          <p:spPr bwMode="auto">
            <a:xfrm>
              <a:off x="5356225" y="3024188"/>
              <a:ext cx="696912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Router</a:t>
              </a:r>
            </a:p>
          </p:txBody>
        </p:sp>
        <p:sp>
          <p:nvSpPr>
            <p:cNvPr id="92" name="Text Box 59"/>
            <p:cNvSpPr txBox="1">
              <a:spLocks noChangeArrowheads="1"/>
            </p:cNvSpPr>
            <p:nvPr/>
          </p:nvSpPr>
          <p:spPr bwMode="auto">
            <a:xfrm>
              <a:off x="3511551" y="3024188"/>
              <a:ext cx="73342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Splitter</a:t>
              </a:r>
            </a:p>
          </p:txBody>
        </p:sp>
        <p:sp>
          <p:nvSpPr>
            <p:cNvPr id="93" name="Text Box 60"/>
            <p:cNvSpPr txBox="1">
              <a:spLocks noChangeArrowheads="1"/>
            </p:cNvSpPr>
            <p:nvPr/>
          </p:nvSpPr>
          <p:spPr bwMode="auto">
            <a:xfrm>
              <a:off x="2160588" y="1898650"/>
              <a:ext cx="872355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Message</a:t>
              </a:r>
            </a:p>
          </p:txBody>
        </p:sp>
        <p:sp>
          <p:nvSpPr>
            <p:cNvPr id="94" name="Text Box 61"/>
            <p:cNvSpPr txBox="1">
              <a:spLocks noChangeArrowheads="1"/>
            </p:cNvSpPr>
            <p:nvPr/>
          </p:nvSpPr>
          <p:spPr bwMode="auto">
            <a:xfrm>
              <a:off x="4411663" y="1943100"/>
              <a:ext cx="61972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Items</a:t>
              </a:r>
            </a:p>
          </p:txBody>
        </p:sp>
        <p:sp>
          <p:nvSpPr>
            <p:cNvPr id="95" name="Text Box 62"/>
            <p:cNvSpPr txBox="1">
              <a:spLocks noChangeArrowheads="1"/>
            </p:cNvSpPr>
            <p:nvPr/>
          </p:nvSpPr>
          <p:spPr bwMode="auto">
            <a:xfrm>
              <a:off x="6796087" y="1628775"/>
              <a:ext cx="688650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Item 1</a:t>
              </a:r>
            </a:p>
          </p:txBody>
        </p:sp>
        <p:sp>
          <p:nvSpPr>
            <p:cNvPr id="96" name="Text Box 63"/>
            <p:cNvSpPr txBox="1">
              <a:spLocks noChangeArrowheads="1"/>
            </p:cNvSpPr>
            <p:nvPr/>
          </p:nvSpPr>
          <p:spPr bwMode="auto">
            <a:xfrm>
              <a:off x="6842125" y="3360738"/>
              <a:ext cx="688650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Item 2</a:t>
              </a:r>
            </a:p>
          </p:txBody>
        </p:sp>
      </p:grpSp>
      <p:pic>
        <p:nvPicPr>
          <p:cNvPr id="7" name="Picture 6" descr="A diagram of a green box with black arrows&#10;&#10;Description automatically generated">
            <a:extLst>
              <a:ext uri="{FF2B5EF4-FFF2-40B4-BE49-F238E27FC236}">
                <a16:creationId xmlns:a16="http://schemas.microsoft.com/office/drawing/2014/main" id="{5BAD01C5-0D6C-7846-A802-5DD920A961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6781" y="65271"/>
            <a:ext cx="2690340" cy="78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948833"/>
      </p:ext>
    </p:extLst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3a? [Single partner]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en-US" sz="2800" dirty="0"/>
              <a:t>How to combine the results of individual but related messages?</a:t>
            </a:r>
          </a:p>
          <a:p>
            <a:pPr lvl="1"/>
            <a:r>
              <a:rPr lang="en-GB" altLang="en-US" sz="2400" dirty="0"/>
              <a:t>Messages can be out-of-order, delayed</a:t>
            </a:r>
          </a:p>
          <a:p>
            <a:pPr lvl="1"/>
            <a:r>
              <a:rPr lang="en-GB" altLang="en-US" sz="2400" dirty="0"/>
              <a:t>Multiple conversations can be intermixed</a:t>
            </a:r>
            <a:endParaRPr lang="en-GB" altLang="en-US" sz="2400" i="1" dirty="0"/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78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1217612" y="3794125"/>
            <a:ext cx="7291388" cy="2835275"/>
            <a:chOff x="1125537" y="1314451"/>
            <a:chExt cx="7291388" cy="2835275"/>
          </a:xfrm>
        </p:grpSpPr>
        <p:sp>
          <p:nvSpPr>
            <p:cNvPr id="50" name="Rectangle 78"/>
            <p:cNvSpPr>
              <a:spLocks noChangeArrowheads="1"/>
            </p:cNvSpPr>
            <p:nvPr/>
          </p:nvSpPr>
          <p:spPr bwMode="auto">
            <a:xfrm>
              <a:off x="1125537" y="1314451"/>
              <a:ext cx="7291388" cy="2835275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51" name="Group 4"/>
            <p:cNvGrpSpPr>
              <a:grpSpLocks/>
            </p:cNvGrpSpPr>
            <p:nvPr/>
          </p:nvGrpSpPr>
          <p:grpSpPr bwMode="auto">
            <a:xfrm>
              <a:off x="6526212" y="2439988"/>
              <a:ext cx="304800" cy="609600"/>
              <a:chOff x="672" y="1886"/>
              <a:chExt cx="192" cy="384"/>
            </a:xfrm>
          </p:grpSpPr>
          <p:sp>
            <p:nvSpPr>
              <p:cNvPr id="88" name="Rectangle 5" descr="Wide downward diagonal"/>
              <p:cNvSpPr>
                <a:spLocks noChangeArrowheads="1"/>
              </p:cNvSpPr>
              <p:nvPr/>
            </p:nvSpPr>
            <p:spPr bwMode="auto">
              <a:xfrm>
                <a:off x="768" y="2174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9" name="Rectangle 6" descr="Wide upward diagonal"/>
              <p:cNvSpPr>
                <a:spLocks noChangeArrowheads="1"/>
              </p:cNvSpPr>
              <p:nvPr/>
            </p:nvSpPr>
            <p:spPr bwMode="auto">
              <a:xfrm>
                <a:off x="768" y="2030"/>
                <a:ext cx="96" cy="96"/>
              </a:xfrm>
              <a:prstGeom prst="rect">
                <a:avLst/>
              </a:prstGeom>
              <a:pattFill prst="wd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90" name="Oval 7"/>
              <p:cNvSpPr>
                <a:spLocks noChangeArrowheads="1"/>
              </p:cNvSpPr>
              <p:nvPr/>
            </p:nvSpPr>
            <p:spPr bwMode="auto">
              <a:xfrm>
                <a:off x="672" y="188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91" name="AutoShape 8"/>
              <p:cNvCxnSpPr>
                <a:cxnSpLocks noChangeShapeType="1"/>
                <a:stCxn id="90" idx="4"/>
                <a:endCxn id="89" idx="1"/>
              </p:cNvCxnSpPr>
              <p:nvPr/>
            </p:nvCxnSpPr>
            <p:spPr bwMode="auto">
              <a:xfrm rot="16200000" flipH="1">
                <a:off x="696" y="200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92" name="AutoShape 9"/>
              <p:cNvCxnSpPr>
                <a:cxnSpLocks noChangeShapeType="1"/>
                <a:stCxn id="90" idx="4"/>
                <a:endCxn id="88" idx="1"/>
              </p:cNvCxnSpPr>
              <p:nvPr/>
            </p:nvCxnSpPr>
            <p:spPr bwMode="auto">
              <a:xfrm rot="16200000" flipH="1">
                <a:off x="624" y="2078"/>
                <a:ext cx="240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52" name="Line 10"/>
            <p:cNvSpPr>
              <a:spLocks noChangeShapeType="1"/>
            </p:cNvSpPr>
            <p:nvPr/>
          </p:nvSpPr>
          <p:spPr bwMode="auto">
            <a:xfrm>
              <a:off x="1649412" y="2408238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3" name="Rectangle 11"/>
            <p:cNvSpPr>
              <a:spLocks noChangeArrowheads="1"/>
            </p:cNvSpPr>
            <p:nvPr/>
          </p:nvSpPr>
          <p:spPr bwMode="auto">
            <a:xfrm>
              <a:off x="1897063" y="2147889"/>
              <a:ext cx="1300163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Widget Inv.</a:t>
              </a:r>
            </a:p>
          </p:txBody>
        </p:sp>
        <p:grpSp>
          <p:nvGrpSpPr>
            <p:cNvPr id="54" name="Group 12"/>
            <p:cNvGrpSpPr>
              <a:grpSpLocks/>
            </p:cNvGrpSpPr>
            <p:nvPr/>
          </p:nvGrpSpPr>
          <p:grpSpPr bwMode="auto">
            <a:xfrm>
              <a:off x="1306512" y="2214563"/>
              <a:ext cx="304800" cy="381000"/>
              <a:chOff x="3597" y="1246"/>
              <a:chExt cx="192" cy="240"/>
            </a:xfrm>
          </p:grpSpPr>
          <p:sp>
            <p:nvSpPr>
              <p:cNvPr id="85" name="Rectangle 13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6" name="Oval 14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7" name="AutoShape 15"/>
              <p:cNvCxnSpPr>
                <a:cxnSpLocks noChangeShapeType="1"/>
                <a:stCxn id="86" idx="4"/>
                <a:endCxn id="85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55" name="Line 16"/>
            <p:cNvSpPr>
              <a:spLocks noChangeShapeType="1"/>
            </p:cNvSpPr>
            <p:nvPr/>
          </p:nvSpPr>
          <p:spPr bwMode="auto">
            <a:xfrm>
              <a:off x="1641475" y="3114675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6" name="Rectangle 17"/>
            <p:cNvSpPr>
              <a:spLocks noChangeArrowheads="1"/>
            </p:cNvSpPr>
            <p:nvPr/>
          </p:nvSpPr>
          <p:spPr bwMode="auto">
            <a:xfrm>
              <a:off x="1911351" y="2833689"/>
              <a:ext cx="1285875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Gadget Inv.</a:t>
              </a:r>
            </a:p>
          </p:txBody>
        </p:sp>
        <p:sp>
          <p:nvSpPr>
            <p:cNvPr id="57" name="Rectangle 18" descr="Wide upward diagonal"/>
            <p:cNvSpPr>
              <a:spLocks noChangeArrowheads="1"/>
            </p:cNvSpPr>
            <p:nvPr/>
          </p:nvSpPr>
          <p:spPr bwMode="auto">
            <a:xfrm>
              <a:off x="3016250" y="2439988"/>
              <a:ext cx="152400" cy="152400"/>
            </a:xfrm>
            <a:prstGeom prst="rect">
              <a:avLst/>
            </a:prstGeom>
            <a:pattFill prst="wdUpDiag">
              <a:fgClr>
                <a:srgbClr val="FFFF66"/>
              </a:fgClr>
              <a:bgClr>
                <a:srgbClr val="33CC33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8" name="Rectangle 19" descr="Wide downward diagonal"/>
            <p:cNvSpPr>
              <a:spLocks noChangeArrowheads="1"/>
            </p:cNvSpPr>
            <p:nvPr/>
          </p:nvSpPr>
          <p:spPr bwMode="auto">
            <a:xfrm>
              <a:off x="3016250" y="3114675"/>
              <a:ext cx="152400" cy="152400"/>
            </a:xfrm>
            <a:prstGeom prst="rect">
              <a:avLst/>
            </a:prstGeom>
            <a:pattFill prst="wdDnDiag">
              <a:fgClr>
                <a:srgbClr val="FFFF66"/>
              </a:fgClr>
              <a:bgClr>
                <a:srgbClr val="FF3300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9" name="AutoShape 21"/>
            <p:cNvSpPr>
              <a:spLocks noChangeArrowheads="1"/>
            </p:cNvSpPr>
            <p:nvPr/>
          </p:nvSpPr>
          <p:spPr bwMode="auto">
            <a:xfrm rot="5400000">
              <a:off x="6007100" y="2479675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60" name="Line 22"/>
            <p:cNvSpPr>
              <a:spLocks noChangeShapeType="1"/>
            </p:cNvSpPr>
            <p:nvPr/>
          </p:nvSpPr>
          <p:spPr bwMode="auto">
            <a:xfrm>
              <a:off x="3827462" y="2393950"/>
              <a:ext cx="223838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1" name="Line 23"/>
            <p:cNvSpPr>
              <a:spLocks noChangeShapeType="1"/>
            </p:cNvSpPr>
            <p:nvPr/>
          </p:nvSpPr>
          <p:spPr bwMode="auto">
            <a:xfrm flipV="1">
              <a:off x="3827462" y="3068639"/>
              <a:ext cx="223838" cy="1587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62" name="Group 24"/>
            <p:cNvGrpSpPr>
              <a:grpSpLocks/>
            </p:cNvGrpSpPr>
            <p:nvPr/>
          </p:nvGrpSpPr>
          <p:grpSpPr bwMode="auto">
            <a:xfrm>
              <a:off x="1306512" y="2933700"/>
              <a:ext cx="304800" cy="381000"/>
              <a:chOff x="3885" y="1246"/>
              <a:chExt cx="192" cy="240"/>
            </a:xfrm>
          </p:grpSpPr>
          <p:sp>
            <p:nvSpPr>
              <p:cNvPr id="82" name="Rectangle 25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3" name="Oval 26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4" name="AutoShape 27"/>
              <p:cNvCxnSpPr>
                <a:cxnSpLocks noChangeShapeType="1"/>
                <a:stCxn id="83" idx="4"/>
                <a:endCxn id="82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63" name="Rectangle 28"/>
            <p:cNvSpPr>
              <a:spLocks noChangeArrowheads="1"/>
            </p:cNvSpPr>
            <p:nvPr/>
          </p:nvSpPr>
          <p:spPr bwMode="auto">
            <a:xfrm>
              <a:off x="7246937" y="2308225"/>
              <a:ext cx="990600" cy="762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Billing</a:t>
              </a:r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3238500" y="2393950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3240087" y="3100388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66" name="Group 61"/>
            <p:cNvGrpSpPr>
              <a:grpSpLocks/>
            </p:cNvGrpSpPr>
            <p:nvPr/>
          </p:nvGrpSpPr>
          <p:grpSpPr bwMode="auto">
            <a:xfrm>
              <a:off x="3467100" y="2214563"/>
              <a:ext cx="304800" cy="381000"/>
              <a:chOff x="3597" y="1246"/>
              <a:chExt cx="192" cy="240"/>
            </a:xfrm>
          </p:grpSpPr>
          <p:sp>
            <p:nvSpPr>
              <p:cNvPr id="79" name="Rectangle 62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0" name="Oval 63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1" name="AutoShape 64"/>
              <p:cNvCxnSpPr>
                <a:cxnSpLocks noChangeShapeType="1"/>
                <a:stCxn id="80" idx="4"/>
                <a:endCxn id="79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67" name="Group 65"/>
            <p:cNvGrpSpPr>
              <a:grpSpLocks/>
            </p:cNvGrpSpPr>
            <p:nvPr/>
          </p:nvGrpSpPr>
          <p:grpSpPr bwMode="auto">
            <a:xfrm>
              <a:off x="3467100" y="2933700"/>
              <a:ext cx="304800" cy="381000"/>
              <a:chOff x="3885" y="1246"/>
              <a:chExt cx="192" cy="240"/>
            </a:xfrm>
          </p:grpSpPr>
          <p:sp>
            <p:nvSpPr>
              <p:cNvPr id="76" name="Rectangle 66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77" name="Oval 67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78" name="AutoShape 68"/>
              <p:cNvCxnSpPr>
                <a:cxnSpLocks noChangeShapeType="1"/>
                <a:stCxn id="77" idx="4"/>
                <a:endCxn id="76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68" name="Line 76"/>
            <p:cNvSpPr>
              <a:spLocks noChangeShapeType="1"/>
            </p:cNvSpPr>
            <p:nvPr/>
          </p:nvSpPr>
          <p:spPr bwMode="auto">
            <a:xfrm>
              <a:off x="6391276" y="2709863"/>
              <a:ext cx="134937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9" name="Line 77"/>
            <p:cNvSpPr>
              <a:spLocks noChangeShapeType="1"/>
            </p:cNvSpPr>
            <p:nvPr/>
          </p:nvSpPr>
          <p:spPr bwMode="auto">
            <a:xfrm>
              <a:off x="6931025" y="2709863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0" name="Text Box 81"/>
            <p:cNvSpPr txBox="1">
              <a:spLocks noChangeArrowheads="1"/>
            </p:cNvSpPr>
            <p:nvPr/>
          </p:nvSpPr>
          <p:spPr bwMode="auto">
            <a:xfrm>
              <a:off x="1125537" y="1628775"/>
              <a:ext cx="688650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Item 1</a:t>
              </a:r>
            </a:p>
          </p:txBody>
        </p:sp>
        <p:sp>
          <p:nvSpPr>
            <p:cNvPr id="71" name="Text Box 82"/>
            <p:cNvSpPr txBox="1">
              <a:spLocks noChangeArrowheads="1"/>
            </p:cNvSpPr>
            <p:nvPr/>
          </p:nvSpPr>
          <p:spPr bwMode="auto">
            <a:xfrm>
              <a:off x="3286126" y="1854200"/>
              <a:ext cx="108267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Response 1</a:t>
              </a:r>
            </a:p>
          </p:txBody>
        </p:sp>
        <p:sp>
          <p:nvSpPr>
            <p:cNvPr id="72" name="Text Box 83"/>
            <p:cNvSpPr txBox="1">
              <a:spLocks noChangeArrowheads="1"/>
            </p:cNvSpPr>
            <p:nvPr/>
          </p:nvSpPr>
          <p:spPr bwMode="auto">
            <a:xfrm>
              <a:off x="1125537" y="3317875"/>
              <a:ext cx="688650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Item 2</a:t>
              </a:r>
            </a:p>
          </p:txBody>
        </p:sp>
        <p:sp>
          <p:nvSpPr>
            <p:cNvPr id="73" name="Text Box 84"/>
            <p:cNvSpPr txBox="1">
              <a:spLocks noChangeArrowheads="1"/>
            </p:cNvSpPr>
            <p:nvPr/>
          </p:nvSpPr>
          <p:spPr bwMode="auto">
            <a:xfrm>
              <a:off x="3330576" y="3384550"/>
              <a:ext cx="108267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Response 2</a:t>
              </a:r>
            </a:p>
          </p:txBody>
        </p:sp>
        <p:sp>
          <p:nvSpPr>
            <p:cNvPr id="74" name="Text Box 85"/>
            <p:cNvSpPr txBox="1">
              <a:spLocks noChangeArrowheads="1"/>
            </p:cNvSpPr>
            <p:nvPr/>
          </p:nvSpPr>
          <p:spPr bwMode="auto">
            <a:xfrm>
              <a:off x="6162231" y="1898650"/>
              <a:ext cx="98514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Confirmed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</a:p>
          </p:txBody>
        </p:sp>
        <p:sp>
          <p:nvSpPr>
            <p:cNvPr id="75" name="Cloud"/>
            <p:cNvSpPr>
              <a:spLocks noChangeAspect="1" noEditPoints="1" noChangeArrowheads="1"/>
            </p:cNvSpPr>
            <p:nvPr/>
          </p:nvSpPr>
          <p:spPr bwMode="auto">
            <a:xfrm>
              <a:off x="4637087" y="2438401"/>
              <a:ext cx="838200" cy="561975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0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1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300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7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7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0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0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50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2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10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6247487"/>
      </p:ext>
    </p:extLst>
  </p:cSld>
  <p:clrMapOvr>
    <a:masterClrMapping/>
  </p:clrMapOvr>
  <p:transition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Aggregator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750" y="1450788"/>
            <a:ext cx="9036050" cy="4953000"/>
          </a:xfrm>
        </p:spPr>
        <p:txBody>
          <a:bodyPr/>
          <a:lstStyle/>
          <a:p>
            <a:r>
              <a:rPr lang="en-GB" altLang="en-US" sz="2800" dirty="0"/>
              <a:t>Use a stateful filter (an Aggregator)</a:t>
            </a:r>
          </a:p>
          <a:p>
            <a:r>
              <a:rPr lang="en-GB" altLang="en-US" sz="2800" dirty="0"/>
              <a:t>Collects and stores messages until a complete set has been received (completeness condition)</a:t>
            </a:r>
          </a:p>
          <a:p>
            <a:r>
              <a:rPr lang="en-GB" altLang="en-US" sz="2800" dirty="0"/>
              <a:t>Publishes a single message created from the individual messages (aggregation algorithm)</a:t>
            </a:r>
            <a:endParaRPr lang="en-GB" altLang="en-US" sz="2800" i="1" dirty="0"/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79</a:t>
            </a:fld>
            <a:endParaRPr lang="en-US"/>
          </a:p>
        </p:txBody>
      </p:sp>
      <p:grpSp>
        <p:nvGrpSpPr>
          <p:cNvPr id="60" name="Group 59"/>
          <p:cNvGrpSpPr/>
          <p:nvPr/>
        </p:nvGrpSpPr>
        <p:grpSpPr>
          <a:xfrm>
            <a:off x="1065212" y="3886200"/>
            <a:ext cx="7291388" cy="2835275"/>
            <a:chOff x="1125537" y="1314451"/>
            <a:chExt cx="7291388" cy="2835275"/>
          </a:xfrm>
        </p:grpSpPr>
        <p:sp>
          <p:nvSpPr>
            <p:cNvPr id="61" name="Rectangle 4"/>
            <p:cNvSpPr>
              <a:spLocks noChangeArrowheads="1"/>
            </p:cNvSpPr>
            <p:nvPr/>
          </p:nvSpPr>
          <p:spPr bwMode="auto">
            <a:xfrm>
              <a:off x="1125537" y="1314451"/>
              <a:ext cx="7291388" cy="2835275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62" name="Group 5"/>
            <p:cNvGrpSpPr>
              <a:grpSpLocks/>
            </p:cNvGrpSpPr>
            <p:nvPr/>
          </p:nvGrpSpPr>
          <p:grpSpPr bwMode="auto">
            <a:xfrm>
              <a:off x="6526212" y="2439988"/>
              <a:ext cx="304800" cy="609600"/>
              <a:chOff x="672" y="1886"/>
              <a:chExt cx="192" cy="384"/>
            </a:xfrm>
          </p:grpSpPr>
          <p:sp>
            <p:nvSpPr>
              <p:cNvPr id="110" name="Rectangle 6" descr="Wide downward diagonal"/>
              <p:cNvSpPr>
                <a:spLocks noChangeArrowheads="1"/>
              </p:cNvSpPr>
              <p:nvPr/>
            </p:nvSpPr>
            <p:spPr bwMode="auto">
              <a:xfrm>
                <a:off x="768" y="2174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11" name="Rectangle 7" descr="Wide upward diagonal"/>
              <p:cNvSpPr>
                <a:spLocks noChangeArrowheads="1"/>
              </p:cNvSpPr>
              <p:nvPr/>
            </p:nvSpPr>
            <p:spPr bwMode="auto">
              <a:xfrm>
                <a:off x="768" y="2030"/>
                <a:ext cx="96" cy="96"/>
              </a:xfrm>
              <a:prstGeom prst="rect">
                <a:avLst/>
              </a:prstGeom>
              <a:pattFill prst="wd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12" name="Oval 8"/>
              <p:cNvSpPr>
                <a:spLocks noChangeArrowheads="1"/>
              </p:cNvSpPr>
              <p:nvPr/>
            </p:nvSpPr>
            <p:spPr bwMode="auto">
              <a:xfrm>
                <a:off x="672" y="188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13" name="AutoShape 9"/>
              <p:cNvCxnSpPr>
                <a:cxnSpLocks noChangeShapeType="1"/>
                <a:stCxn id="112" idx="4"/>
                <a:endCxn id="111" idx="1"/>
              </p:cNvCxnSpPr>
              <p:nvPr/>
            </p:nvCxnSpPr>
            <p:spPr bwMode="auto">
              <a:xfrm rot="16200000" flipH="1">
                <a:off x="696" y="200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114" name="AutoShape 10"/>
              <p:cNvCxnSpPr>
                <a:cxnSpLocks noChangeShapeType="1"/>
                <a:stCxn id="112" idx="4"/>
                <a:endCxn id="110" idx="1"/>
              </p:cNvCxnSpPr>
              <p:nvPr/>
            </p:nvCxnSpPr>
            <p:spPr bwMode="auto">
              <a:xfrm rot="16200000" flipH="1">
                <a:off x="624" y="2078"/>
                <a:ext cx="240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63" name="Line 11"/>
            <p:cNvSpPr>
              <a:spLocks noChangeShapeType="1"/>
            </p:cNvSpPr>
            <p:nvPr/>
          </p:nvSpPr>
          <p:spPr bwMode="auto">
            <a:xfrm>
              <a:off x="1649412" y="2408238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4" name="Rectangle 12"/>
            <p:cNvSpPr>
              <a:spLocks noChangeArrowheads="1"/>
            </p:cNvSpPr>
            <p:nvPr/>
          </p:nvSpPr>
          <p:spPr bwMode="auto">
            <a:xfrm>
              <a:off x="1897063" y="2147889"/>
              <a:ext cx="1300163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Widget Inv.</a:t>
              </a:r>
            </a:p>
          </p:txBody>
        </p:sp>
        <p:grpSp>
          <p:nvGrpSpPr>
            <p:cNvPr id="65" name="Group 13"/>
            <p:cNvGrpSpPr>
              <a:grpSpLocks/>
            </p:cNvGrpSpPr>
            <p:nvPr/>
          </p:nvGrpSpPr>
          <p:grpSpPr bwMode="auto">
            <a:xfrm>
              <a:off x="1306512" y="2214563"/>
              <a:ext cx="304800" cy="381000"/>
              <a:chOff x="3597" y="1246"/>
              <a:chExt cx="192" cy="240"/>
            </a:xfrm>
          </p:grpSpPr>
          <p:sp>
            <p:nvSpPr>
              <p:cNvPr id="107" name="Rectangle 14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8" name="Oval 15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09" name="AutoShape 16"/>
              <p:cNvCxnSpPr>
                <a:cxnSpLocks noChangeShapeType="1"/>
                <a:stCxn id="108" idx="4"/>
                <a:endCxn id="107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66" name="Line 17"/>
            <p:cNvSpPr>
              <a:spLocks noChangeShapeType="1"/>
            </p:cNvSpPr>
            <p:nvPr/>
          </p:nvSpPr>
          <p:spPr bwMode="auto">
            <a:xfrm>
              <a:off x="1641475" y="3114675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7" name="Rectangle 18"/>
            <p:cNvSpPr>
              <a:spLocks noChangeArrowheads="1"/>
            </p:cNvSpPr>
            <p:nvPr/>
          </p:nvSpPr>
          <p:spPr bwMode="auto">
            <a:xfrm>
              <a:off x="1911351" y="2833689"/>
              <a:ext cx="1285875" cy="460375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Gadget Inv.</a:t>
              </a:r>
            </a:p>
          </p:txBody>
        </p:sp>
        <p:sp>
          <p:nvSpPr>
            <p:cNvPr id="68" name="Rectangle 19" descr="Wide upward diagonal"/>
            <p:cNvSpPr>
              <a:spLocks noChangeArrowheads="1"/>
            </p:cNvSpPr>
            <p:nvPr/>
          </p:nvSpPr>
          <p:spPr bwMode="auto">
            <a:xfrm>
              <a:off x="3016250" y="2439988"/>
              <a:ext cx="152400" cy="152400"/>
            </a:xfrm>
            <a:prstGeom prst="rect">
              <a:avLst/>
            </a:prstGeom>
            <a:pattFill prst="wdUpDiag">
              <a:fgClr>
                <a:srgbClr val="FFFF66"/>
              </a:fgClr>
              <a:bgClr>
                <a:srgbClr val="33CC33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9" name="Rectangle 20" descr="Wide downward diagonal"/>
            <p:cNvSpPr>
              <a:spLocks noChangeArrowheads="1"/>
            </p:cNvSpPr>
            <p:nvPr/>
          </p:nvSpPr>
          <p:spPr bwMode="auto">
            <a:xfrm>
              <a:off x="3016250" y="3114675"/>
              <a:ext cx="152400" cy="152400"/>
            </a:xfrm>
            <a:prstGeom prst="rect">
              <a:avLst/>
            </a:prstGeom>
            <a:pattFill prst="wdDnDiag">
              <a:fgClr>
                <a:srgbClr val="FFFF66"/>
              </a:fgClr>
              <a:bgClr>
                <a:srgbClr val="FF3300"/>
              </a:bgClr>
            </a:pattFill>
            <a:ln w="12700" algn="ctr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0" name="AutoShape 21"/>
            <p:cNvSpPr>
              <a:spLocks noChangeArrowheads="1"/>
            </p:cNvSpPr>
            <p:nvPr/>
          </p:nvSpPr>
          <p:spPr bwMode="auto">
            <a:xfrm rot="5400000">
              <a:off x="6007100" y="2479675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71" name="Line 22"/>
            <p:cNvSpPr>
              <a:spLocks noChangeShapeType="1"/>
            </p:cNvSpPr>
            <p:nvPr/>
          </p:nvSpPr>
          <p:spPr bwMode="auto">
            <a:xfrm>
              <a:off x="3827463" y="2393951"/>
              <a:ext cx="225425" cy="225425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2" name="Line 23"/>
            <p:cNvSpPr>
              <a:spLocks noChangeShapeType="1"/>
            </p:cNvSpPr>
            <p:nvPr/>
          </p:nvSpPr>
          <p:spPr bwMode="auto">
            <a:xfrm flipV="1">
              <a:off x="3827463" y="2754313"/>
              <a:ext cx="225425" cy="315912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73" name="Group 24"/>
            <p:cNvGrpSpPr>
              <a:grpSpLocks/>
            </p:cNvGrpSpPr>
            <p:nvPr/>
          </p:nvGrpSpPr>
          <p:grpSpPr bwMode="auto">
            <a:xfrm>
              <a:off x="1306512" y="2933700"/>
              <a:ext cx="304800" cy="381000"/>
              <a:chOff x="3885" y="1246"/>
              <a:chExt cx="192" cy="240"/>
            </a:xfrm>
          </p:grpSpPr>
          <p:sp>
            <p:nvSpPr>
              <p:cNvPr id="104" name="Rectangle 25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5" name="Oval 26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06" name="AutoShape 27"/>
              <p:cNvCxnSpPr>
                <a:cxnSpLocks noChangeShapeType="1"/>
                <a:stCxn id="105" idx="4"/>
                <a:endCxn id="104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74" name="Rectangle 28"/>
            <p:cNvSpPr>
              <a:spLocks noChangeArrowheads="1"/>
            </p:cNvSpPr>
            <p:nvPr/>
          </p:nvSpPr>
          <p:spPr bwMode="auto">
            <a:xfrm>
              <a:off x="7246937" y="2308225"/>
              <a:ext cx="990600" cy="762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Billing</a:t>
              </a:r>
            </a:p>
          </p:txBody>
        </p:sp>
        <p:sp>
          <p:nvSpPr>
            <p:cNvPr id="75" name="AutoShape 29"/>
            <p:cNvSpPr>
              <a:spLocks noChangeArrowheads="1"/>
            </p:cNvSpPr>
            <p:nvPr/>
          </p:nvSpPr>
          <p:spPr bwMode="auto">
            <a:xfrm rot="5400000">
              <a:off x="4252912" y="2463800"/>
              <a:ext cx="228600" cy="450850"/>
            </a:xfrm>
            <a:prstGeom prst="can">
              <a:avLst>
                <a:gd name="adj" fmla="val 27255"/>
              </a:avLst>
            </a:prstGeom>
            <a:gradFill rotWithShape="0">
              <a:gsLst>
                <a:gs pos="0">
                  <a:srgbClr val="C0C0C0">
                    <a:gamma/>
                    <a:shade val="57647"/>
                    <a:invGamma/>
                  </a:srgbClr>
                </a:gs>
                <a:gs pos="5000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76" name="Line 30"/>
            <p:cNvSpPr>
              <a:spLocks noChangeShapeType="1"/>
            </p:cNvSpPr>
            <p:nvPr/>
          </p:nvSpPr>
          <p:spPr bwMode="auto">
            <a:xfrm>
              <a:off x="4681537" y="2709863"/>
              <a:ext cx="134938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7" name="Text Box 31"/>
            <p:cNvSpPr txBox="1">
              <a:spLocks noChangeArrowheads="1"/>
            </p:cNvSpPr>
            <p:nvPr/>
          </p:nvSpPr>
          <p:spPr bwMode="auto">
            <a:xfrm>
              <a:off x="4756151" y="2995613"/>
              <a:ext cx="1023937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Aggregator</a:t>
              </a:r>
            </a:p>
          </p:txBody>
        </p:sp>
        <p:sp>
          <p:nvSpPr>
            <p:cNvPr id="78" name="Line 32"/>
            <p:cNvSpPr>
              <a:spLocks noChangeShapeType="1"/>
            </p:cNvSpPr>
            <p:nvPr/>
          </p:nvSpPr>
          <p:spPr bwMode="auto">
            <a:xfrm>
              <a:off x="3238500" y="2393950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9" name="Line 33"/>
            <p:cNvSpPr>
              <a:spLocks noChangeShapeType="1"/>
            </p:cNvSpPr>
            <p:nvPr/>
          </p:nvSpPr>
          <p:spPr bwMode="auto">
            <a:xfrm>
              <a:off x="3240087" y="3100388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80" name="Group 34"/>
            <p:cNvGrpSpPr>
              <a:grpSpLocks/>
            </p:cNvGrpSpPr>
            <p:nvPr/>
          </p:nvGrpSpPr>
          <p:grpSpPr bwMode="auto">
            <a:xfrm>
              <a:off x="3467100" y="2214563"/>
              <a:ext cx="304800" cy="381000"/>
              <a:chOff x="3597" y="1246"/>
              <a:chExt cx="192" cy="240"/>
            </a:xfrm>
          </p:grpSpPr>
          <p:sp>
            <p:nvSpPr>
              <p:cNvPr id="101" name="Rectangle 35" descr="Dark upward diagonal"/>
              <p:cNvSpPr>
                <a:spLocks noChangeArrowheads="1"/>
              </p:cNvSpPr>
              <p:nvPr/>
            </p:nvSpPr>
            <p:spPr bwMode="auto">
              <a:xfrm>
                <a:off x="3693" y="1390"/>
                <a:ext cx="96" cy="96"/>
              </a:xfrm>
              <a:prstGeom prst="rect">
                <a:avLst/>
              </a:prstGeom>
              <a:pattFill prst="dk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2" name="Oval 36"/>
              <p:cNvSpPr>
                <a:spLocks noChangeArrowheads="1"/>
              </p:cNvSpPr>
              <p:nvPr/>
            </p:nvSpPr>
            <p:spPr bwMode="auto">
              <a:xfrm>
                <a:off x="3597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03" name="AutoShape 37"/>
              <p:cNvCxnSpPr>
                <a:cxnSpLocks noChangeShapeType="1"/>
                <a:stCxn id="102" idx="4"/>
                <a:endCxn id="101" idx="1"/>
              </p:cNvCxnSpPr>
              <p:nvPr/>
            </p:nvCxnSpPr>
            <p:spPr bwMode="auto">
              <a:xfrm rot="16200000" flipH="1">
                <a:off x="3621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81" name="Group 38"/>
            <p:cNvGrpSpPr>
              <a:grpSpLocks/>
            </p:cNvGrpSpPr>
            <p:nvPr/>
          </p:nvGrpSpPr>
          <p:grpSpPr bwMode="auto">
            <a:xfrm>
              <a:off x="3467100" y="2933700"/>
              <a:ext cx="304800" cy="381000"/>
              <a:chOff x="3885" y="1246"/>
              <a:chExt cx="192" cy="240"/>
            </a:xfrm>
          </p:grpSpPr>
          <p:sp>
            <p:nvSpPr>
              <p:cNvPr id="98" name="Rectangle 39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99" name="Oval 40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00" name="AutoShape 41"/>
              <p:cNvCxnSpPr>
                <a:cxnSpLocks noChangeShapeType="1"/>
                <a:stCxn id="99" idx="4"/>
                <a:endCxn id="98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82" name="Group 42"/>
            <p:cNvGrpSpPr>
              <a:grpSpLocks/>
            </p:cNvGrpSpPr>
            <p:nvPr/>
          </p:nvGrpSpPr>
          <p:grpSpPr bwMode="auto">
            <a:xfrm>
              <a:off x="4860925" y="2484438"/>
              <a:ext cx="762000" cy="457200"/>
              <a:chOff x="2823" y="1678"/>
              <a:chExt cx="480" cy="288"/>
            </a:xfrm>
          </p:grpSpPr>
          <p:sp>
            <p:nvSpPr>
              <p:cNvPr id="91" name="Rectangle 43"/>
              <p:cNvSpPr>
                <a:spLocks noChangeArrowheads="1"/>
              </p:cNvSpPr>
              <p:nvPr/>
            </p:nvSpPr>
            <p:spPr bwMode="auto">
              <a:xfrm>
                <a:off x="2823" y="1678"/>
                <a:ext cx="480" cy="288"/>
              </a:xfrm>
              <a:prstGeom prst="rect">
                <a:avLst/>
              </a:prstGeom>
              <a:solidFill>
                <a:srgbClr val="CCFF99"/>
              </a:solidFill>
              <a:ln w="19050">
                <a:solidFill>
                  <a:srgbClr val="FFFFFF"/>
                </a:solidFill>
                <a:miter lim="800000"/>
                <a:headEnd/>
                <a:tailEnd/>
              </a:ln>
              <a:effectLst>
                <a:outerShdw dist="35921" dir="2700000" algn="ctr" rotWithShape="0">
                  <a:srgbClr val="000000"/>
                </a:outerShdw>
              </a:effec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grpSp>
            <p:nvGrpSpPr>
              <p:cNvPr id="92" name="Group 44"/>
              <p:cNvGrpSpPr>
                <a:grpSpLocks/>
              </p:cNvGrpSpPr>
              <p:nvPr/>
            </p:nvGrpSpPr>
            <p:grpSpPr bwMode="auto">
              <a:xfrm>
                <a:off x="2941" y="1729"/>
                <a:ext cx="240" cy="192"/>
                <a:chOff x="1368" y="1776"/>
                <a:chExt cx="240" cy="192"/>
              </a:xfrm>
            </p:grpSpPr>
            <p:sp>
              <p:nvSpPr>
                <p:cNvPr id="93" name="Rectangle 45"/>
                <p:cNvSpPr>
                  <a:spLocks noChangeArrowheads="1"/>
                </p:cNvSpPr>
                <p:nvPr/>
              </p:nvSpPr>
              <p:spPr bwMode="auto">
                <a:xfrm>
                  <a:off x="1560" y="1844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94" name="Rectangle 46"/>
                <p:cNvSpPr>
                  <a:spLocks noChangeArrowheads="1"/>
                </p:cNvSpPr>
                <p:nvPr/>
              </p:nvSpPr>
              <p:spPr bwMode="auto">
                <a:xfrm>
                  <a:off x="1368" y="1776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95" name="Rectangle 47"/>
                <p:cNvSpPr>
                  <a:spLocks noChangeArrowheads="1"/>
                </p:cNvSpPr>
                <p:nvPr/>
              </p:nvSpPr>
              <p:spPr bwMode="auto">
                <a:xfrm>
                  <a:off x="1368" y="1848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96" name="Rectangle 48"/>
                <p:cNvSpPr>
                  <a:spLocks noChangeArrowheads="1"/>
                </p:cNvSpPr>
                <p:nvPr/>
              </p:nvSpPr>
              <p:spPr bwMode="auto">
                <a:xfrm>
                  <a:off x="1368" y="1920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97" name="Line 49"/>
                <p:cNvSpPr>
                  <a:spLocks noChangeShapeType="1"/>
                </p:cNvSpPr>
                <p:nvPr/>
              </p:nvSpPr>
              <p:spPr bwMode="auto">
                <a:xfrm>
                  <a:off x="1444" y="1872"/>
                  <a:ext cx="96" cy="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</p:grpSp>
        </p:grpSp>
        <p:sp>
          <p:nvSpPr>
            <p:cNvPr id="83" name="Line 50"/>
            <p:cNvSpPr>
              <a:spLocks noChangeShapeType="1"/>
            </p:cNvSpPr>
            <p:nvPr/>
          </p:nvSpPr>
          <p:spPr bwMode="auto">
            <a:xfrm>
              <a:off x="6391276" y="2709863"/>
              <a:ext cx="134937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84" name="Line 51"/>
            <p:cNvSpPr>
              <a:spLocks noChangeShapeType="1"/>
            </p:cNvSpPr>
            <p:nvPr/>
          </p:nvSpPr>
          <p:spPr bwMode="auto">
            <a:xfrm>
              <a:off x="6931025" y="2709863"/>
              <a:ext cx="2286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85" name="Line 52"/>
            <p:cNvSpPr>
              <a:spLocks noChangeShapeType="1"/>
            </p:cNvSpPr>
            <p:nvPr/>
          </p:nvSpPr>
          <p:spPr bwMode="auto">
            <a:xfrm>
              <a:off x="5716587" y="2709863"/>
              <a:ext cx="134938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86" name="Text Box 53"/>
            <p:cNvSpPr txBox="1">
              <a:spLocks noChangeArrowheads="1"/>
            </p:cNvSpPr>
            <p:nvPr/>
          </p:nvSpPr>
          <p:spPr bwMode="auto">
            <a:xfrm>
              <a:off x="1125537" y="1628775"/>
              <a:ext cx="688650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Item 1</a:t>
              </a:r>
            </a:p>
          </p:txBody>
        </p:sp>
        <p:sp>
          <p:nvSpPr>
            <p:cNvPr id="87" name="Text Box 54"/>
            <p:cNvSpPr txBox="1">
              <a:spLocks noChangeArrowheads="1"/>
            </p:cNvSpPr>
            <p:nvPr/>
          </p:nvSpPr>
          <p:spPr bwMode="auto">
            <a:xfrm>
              <a:off x="3286126" y="1854200"/>
              <a:ext cx="108267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Response 1</a:t>
              </a:r>
            </a:p>
          </p:txBody>
        </p:sp>
        <p:sp>
          <p:nvSpPr>
            <p:cNvPr id="88" name="Text Box 55"/>
            <p:cNvSpPr txBox="1">
              <a:spLocks noChangeArrowheads="1"/>
            </p:cNvSpPr>
            <p:nvPr/>
          </p:nvSpPr>
          <p:spPr bwMode="auto">
            <a:xfrm>
              <a:off x="1125537" y="3317875"/>
              <a:ext cx="688650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  <a:b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</a:b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Item 2</a:t>
              </a:r>
            </a:p>
          </p:txBody>
        </p:sp>
        <p:sp>
          <p:nvSpPr>
            <p:cNvPr id="89" name="Text Box 56"/>
            <p:cNvSpPr txBox="1">
              <a:spLocks noChangeArrowheads="1"/>
            </p:cNvSpPr>
            <p:nvPr/>
          </p:nvSpPr>
          <p:spPr bwMode="auto">
            <a:xfrm>
              <a:off x="3330576" y="3384550"/>
              <a:ext cx="108267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Response 2</a:t>
              </a:r>
            </a:p>
          </p:txBody>
        </p:sp>
        <p:sp>
          <p:nvSpPr>
            <p:cNvPr id="90" name="Text Box 57"/>
            <p:cNvSpPr txBox="1">
              <a:spLocks noChangeArrowheads="1"/>
            </p:cNvSpPr>
            <p:nvPr/>
          </p:nvSpPr>
          <p:spPr bwMode="auto">
            <a:xfrm>
              <a:off x="6162231" y="1898650"/>
              <a:ext cx="98514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Confirmed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Order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/>
              <p14:cNvContentPartPr/>
              <p14:nvPr/>
            </p14:nvContentPartPr>
            <p14:xfrm>
              <a:off x="1286280" y="4825800"/>
              <a:ext cx="2234160" cy="812520"/>
            </p14:xfrm>
          </p:contentPart>
        </mc:Choice>
        <mc:Fallback xmlns="">
          <p:pic>
            <p:nvPicPr>
              <p:cNvPr id="5" name="Ink 4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76920" y="4816440"/>
                <a:ext cx="2252880" cy="8312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 descr="A diagram of a warehouse process&#10;&#10;Description automatically generated">
            <a:extLst>
              <a:ext uri="{FF2B5EF4-FFF2-40B4-BE49-F238E27FC236}">
                <a16:creationId xmlns:a16="http://schemas.microsoft.com/office/drawing/2014/main" id="{D88481D0-9105-F989-F9D4-273D376AB89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1906" y="136525"/>
            <a:ext cx="3459326" cy="101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547441"/>
      </p:ext>
    </p:extLst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3b: [Multiple partners]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en-US" sz="2800" dirty="0"/>
              <a:t>How to send a message to a dynamic set of recipients?</a:t>
            </a:r>
          </a:p>
          <a:p>
            <a:r>
              <a:rPr lang="en-GB" altLang="en-US" sz="2800" dirty="0"/>
              <a:t>And return a single response message?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80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1143606" y="3276600"/>
            <a:ext cx="7291388" cy="3014662"/>
            <a:chOff x="1125537" y="1179513"/>
            <a:chExt cx="7291388" cy="3014662"/>
          </a:xfrm>
        </p:grpSpPr>
        <p:sp>
          <p:nvSpPr>
            <p:cNvPr id="49" name="Rectangle 54"/>
            <p:cNvSpPr>
              <a:spLocks noChangeArrowheads="1"/>
            </p:cNvSpPr>
            <p:nvPr/>
          </p:nvSpPr>
          <p:spPr bwMode="auto">
            <a:xfrm>
              <a:off x="1125537" y="1179513"/>
              <a:ext cx="7291388" cy="3014662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0" name="Line 57"/>
            <p:cNvSpPr>
              <a:spLocks noChangeShapeType="1"/>
            </p:cNvSpPr>
            <p:nvPr/>
          </p:nvSpPr>
          <p:spPr bwMode="auto">
            <a:xfrm>
              <a:off x="2927351" y="2303463"/>
              <a:ext cx="223837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51" name="Text Box 5"/>
            <p:cNvSpPr txBox="1">
              <a:spLocks noChangeArrowheads="1"/>
            </p:cNvSpPr>
            <p:nvPr/>
          </p:nvSpPr>
          <p:spPr bwMode="auto">
            <a:xfrm>
              <a:off x="2250981" y="2387601"/>
              <a:ext cx="741550" cy="430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Request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For Quote</a:t>
              </a:r>
            </a:p>
          </p:txBody>
        </p:sp>
        <p:grpSp>
          <p:nvGrpSpPr>
            <p:cNvPr id="52" name="Group 55"/>
            <p:cNvGrpSpPr>
              <a:grpSpLocks/>
            </p:cNvGrpSpPr>
            <p:nvPr/>
          </p:nvGrpSpPr>
          <p:grpSpPr bwMode="auto">
            <a:xfrm>
              <a:off x="2470150" y="1981200"/>
              <a:ext cx="304800" cy="381000"/>
              <a:chOff x="1598" y="1305"/>
              <a:chExt cx="192" cy="240"/>
            </a:xfrm>
          </p:grpSpPr>
          <p:sp>
            <p:nvSpPr>
              <p:cNvPr id="88" name="Rectangle 6" descr="Wide upward diagonal"/>
              <p:cNvSpPr>
                <a:spLocks noChangeArrowheads="1"/>
              </p:cNvSpPr>
              <p:nvPr/>
            </p:nvSpPr>
            <p:spPr bwMode="auto">
              <a:xfrm>
                <a:off x="1694" y="1449"/>
                <a:ext cx="96" cy="96"/>
              </a:xfrm>
              <a:prstGeom prst="rect">
                <a:avLst/>
              </a:prstGeom>
              <a:pattFill prst="wd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9" name="Oval 7"/>
              <p:cNvSpPr>
                <a:spLocks noChangeArrowheads="1"/>
              </p:cNvSpPr>
              <p:nvPr/>
            </p:nvSpPr>
            <p:spPr bwMode="auto">
              <a:xfrm>
                <a:off x="1598" y="1305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90" name="AutoShape 8"/>
              <p:cNvCxnSpPr>
                <a:cxnSpLocks noChangeShapeType="1"/>
                <a:stCxn id="89" idx="4"/>
                <a:endCxn id="88" idx="1"/>
              </p:cNvCxnSpPr>
              <p:nvPr/>
            </p:nvCxnSpPr>
            <p:spPr bwMode="auto">
              <a:xfrm rot="16200000" flipH="1">
                <a:off x="1622" y="1425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53" name="Rectangle 9"/>
            <p:cNvSpPr>
              <a:spLocks noChangeArrowheads="1"/>
            </p:cNvSpPr>
            <p:nvPr/>
          </p:nvSpPr>
          <p:spPr bwMode="auto">
            <a:xfrm>
              <a:off x="5049837" y="15557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A</a:t>
              </a:r>
            </a:p>
          </p:txBody>
        </p:sp>
        <p:sp>
          <p:nvSpPr>
            <p:cNvPr id="54" name="Rectangle 10"/>
            <p:cNvSpPr>
              <a:spLocks noChangeArrowheads="1"/>
            </p:cNvSpPr>
            <p:nvPr/>
          </p:nvSpPr>
          <p:spPr bwMode="auto">
            <a:xfrm>
              <a:off x="5049837" y="20891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B</a:t>
              </a:r>
            </a:p>
          </p:txBody>
        </p:sp>
        <p:sp>
          <p:nvSpPr>
            <p:cNvPr id="55" name="Text Box 12"/>
            <p:cNvSpPr txBox="1">
              <a:spLocks noChangeArrowheads="1"/>
            </p:cNvSpPr>
            <p:nvPr/>
          </p:nvSpPr>
          <p:spPr bwMode="auto">
            <a:xfrm>
              <a:off x="6529387" y="1497013"/>
              <a:ext cx="536750" cy="2154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Quotes</a:t>
              </a:r>
            </a:p>
          </p:txBody>
        </p:sp>
        <p:sp>
          <p:nvSpPr>
            <p:cNvPr id="56" name="Text Box 15"/>
            <p:cNvSpPr txBox="1">
              <a:spLocks noChangeArrowheads="1"/>
            </p:cNvSpPr>
            <p:nvPr/>
          </p:nvSpPr>
          <p:spPr bwMode="auto">
            <a:xfrm>
              <a:off x="4006851" y="3665538"/>
              <a:ext cx="851323" cy="2154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Aggregator</a:t>
              </a:r>
            </a:p>
          </p:txBody>
        </p:sp>
        <p:sp>
          <p:nvSpPr>
            <p:cNvPr id="57" name="Text Box 19"/>
            <p:cNvSpPr txBox="1">
              <a:spLocks noChangeArrowheads="1"/>
            </p:cNvSpPr>
            <p:nvPr/>
          </p:nvSpPr>
          <p:spPr bwMode="auto">
            <a:xfrm>
              <a:off x="2429760" y="3543301"/>
              <a:ext cx="499880" cy="430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Best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 Quote</a:t>
              </a:r>
            </a:p>
          </p:txBody>
        </p:sp>
        <p:sp>
          <p:nvSpPr>
            <p:cNvPr id="58" name="Rectangle 24"/>
            <p:cNvSpPr>
              <a:spLocks noChangeArrowheads="1"/>
            </p:cNvSpPr>
            <p:nvPr/>
          </p:nvSpPr>
          <p:spPr bwMode="auto">
            <a:xfrm>
              <a:off x="5049837" y="26225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C</a:t>
              </a:r>
            </a:p>
          </p:txBody>
        </p:sp>
        <p:cxnSp>
          <p:nvCxnSpPr>
            <p:cNvPr id="59" name="AutoShape 29"/>
            <p:cNvCxnSpPr>
              <a:cxnSpLocks noChangeShapeType="1"/>
            </p:cNvCxnSpPr>
            <p:nvPr/>
          </p:nvCxnSpPr>
          <p:spPr bwMode="auto">
            <a:xfrm>
              <a:off x="6026151" y="2279650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0" name="AutoShape 33"/>
            <p:cNvCxnSpPr>
              <a:cxnSpLocks noChangeShapeType="1"/>
            </p:cNvCxnSpPr>
            <p:nvPr/>
          </p:nvCxnSpPr>
          <p:spPr bwMode="auto">
            <a:xfrm>
              <a:off x="6026151" y="1755775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1" name="AutoShape 34"/>
            <p:cNvCxnSpPr>
              <a:cxnSpLocks noChangeShapeType="1"/>
            </p:cNvCxnSpPr>
            <p:nvPr/>
          </p:nvCxnSpPr>
          <p:spPr bwMode="auto">
            <a:xfrm>
              <a:off x="6026151" y="2813050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62" name="Group 65"/>
            <p:cNvGrpSpPr>
              <a:grpSpLocks/>
            </p:cNvGrpSpPr>
            <p:nvPr/>
          </p:nvGrpSpPr>
          <p:grpSpPr bwMode="auto">
            <a:xfrm>
              <a:off x="6300787" y="1579563"/>
              <a:ext cx="304800" cy="381000"/>
              <a:chOff x="3730" y="980"/>
              <a:chExt cx="192" cy="240"/>
            </a:xfrm>
          </p:grpSpPr>
          <p:sp>
            <p:nvSpPr>
              <p:cNvPr id="85" name="Rectangle 35" descr="Dark vertical"/>
              <p:cNvSpPr>
                <a:spLocks noChangeArrowheads="1"/>
              </p:cNvSpPr>
              <p:nvPr/>
            </p:nvSpPr>
            <p:spPr bwMode="auto">
              <a:xfrm>
                <a:off x="3826" y="1124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6" name="Oval 36"/>
              <p:cNvSpPr>
                <a:spLocks noChangeArrowheads="1"/>
              </p:cNvSpPr>
              <p:nvPr/>
            </p:nvSpPr>
            <p:spPr bwMode="auto">
              <a:xfrm>
                <a:off x="3730" y="980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7" name="AutoShape 37"/>
              <p:cNvCxnSpPr>
                <a:cxnSpLocks noChangeShapeType="1"/>
                <a:stCxn id="86" idx="4"/>
                <a:endCxn id="85" idx="1"/>
              </p:cNvCxnSpPr>
              <p:nvPr/>
            </p:nvCxnSpPr>
            <p:spPr bwMode="auto">
              <a:xfrm rot="16200000" flipH="1">
                <a:off x="3754" y="1100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63" name="Group 66"/>
            <p:cNvGrpSpPr>
              <a:grpSpLocks/>
            </p:cNvGrpSpPr>
            <p:nvPr/>
          </p:nvGrpSpPr>
          <p:grpSpPr bwMode="auto">
            <a:xfrm>
              <a:off x="6300787" y="2112963"/>
              <a:ext cx="304800" cy="381000"/>
              <a:chOff x="3730" y="1316"/>
              <a:chExt cx="192" cy="240"/>
            </a:xfrm>
          </p:grpSpPr>
          <p:sp>
            <p:nvSpPr>
              <p:cNvPr id="82" name="Rectangle 38" descr="Dark vertical"/>
              <p:cNvSpPr>
                <a:spLocks noChangeArrowheads="1"/>
              </p:cNvSpPr>
              <p:nvPr/>
            </p:nvSpPr>
            <p:spPr bwMode="auto">
              <a:xfrm>
                <a:off x="3826" y="1460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3" name="Oval 39"/>
              <p:cNvSpPr>
                <a:spLocks noChangeArrowheads="1"/>
              </p:cNvSpPr>
              <p:nvPr/>
            </p:nvSpPr>
            <p:spPr bwMode="auto">
              <a:xfrm>
                <a:off x="3730" y="131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4" name="AutoShape 40"/>
              <p:cNvCxnSpPr>
                <a:cxnSpLocks noChangeShapeType="1"/>
                <a:stCxn id="83" idx="4"/>
                <a:endCxn id="82" idx="1"/>
              </p:cNvCxnSpPr>
              <p:nvPr/>
            </p:nvCxnSpPr>
            <p:spPr bwMode="auto">
              <a:xfrm rot="16200000" flipH="1">
                <a:off x="3754" y="143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64" name="Group 72"/>
            <p:cNvGrpSpPr>
              <a:grpSpLocks/>
            </p:cNvGrpSpPr>
            <p:nvPr/>
          </p:nvGrpSpPr>
          <p:grpSpPr bwMode="auto">
            <a:xfrm>
              <a:off x="6300787" y="2643188"/>
              <a:ext cx="304800" cy="381000"/>
              <a:chOff x="3730" y="1665"/>
              <a:chExt cx="192" cy="240"/>
            </a:xfrm>
          </p:grpSpPr>
          <p:sp>
            <p:nvSpPr>
              <p:cNvPr id="79" name="Oval 42"/>
              <p:cNvSpPr>
                <a:spLocks noChangeArrowheads="1"/>
              </p:cNvSpPr>
              <p:nvPr/>
            </p:nvSpPr>
            <p:spPr bwMode="auto">
              <a:xfrm>
                <a:off x="3730" y="1665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80" name="Rectangle 41" descr="Dark vertical"/>
              <p:cNvSpPr>
                <a:spLocks noChangeArrowheads="1"/>
              </p:cNvSpPr>
              <p:nvPr/>
            </p:nvSpPr>
            <p:spPr bwMode="auto">
              <a:xfrm>
                <a:off x="3826" y="1809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81" name="AutoShape 43"/>
              <p:cNvCxnSpPr>
                <a:cxnSpLocks noChangeShapeType="1"/>
                <a:stCxn id="79" idx="4"/>
                <a:endCxn id="80" idx="1"/>
              </p:cNvCxnSpPr>
              <p:nvPr/>
            </p:nvCxnSpPr>
            <p:spPr bwMode="auto">
              <a:xfrm rot="16200000" flipH="1">
                <a:off x="3754" y="1785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65" name="Line 58"/>
            <p:cNvSpPr>
              <a:spLocks noChangeShapeType="1"/>
            </p:cNvSpPr>
            <p:nvPr/>
          </p:nvSpPr>
          <p:spPr bwMode="auto">
            <a:xfrm flipH="1" flipV="1">
              <a:off x="2925763" y="3371850"/>
              <a:ext cx="720725" cy="1270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6" name="Line 60"/>
            <p:cNvSpPr>
              <a:spLocks noChangeShapeType="1"/>
            </p:cNvSpPr>
            <p:nvPr/>
          </p:nvSpPr>
          <p:spPr bwMode="auto">
            <a:xfrm flipH="1">
              <a:off x="5895975" y="3384550"/>
              <a:ext cx="900112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cxnSp>
          <p:nvCxnSpPr>
            <p:cNvPr id="67" name="AutoShape 61"/>
            <p:cNvCxnSpPr>
              <a:cxnSpLocks noChangeShapeType="1"/>
            </p:cNvCxnSpPr>
            <p:nvPr/>
          </p:nvCxnSpPr>
          <p:spPr bwMode="auto">
            <a:xfrm>
              <a:off x="6526212" y="2808288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8" name="AutoShape 62"/>
            <p:cNvCxnSpPr>
              <a:cxnSpLocks noChangeShapeType="1"/>
            </p:cNvCxnSpPr>
            <p:nvPr/>
          </p:nvCxnSpPr>
          <p:spPr bwMode="auto">
            <a:xfrm>
              <a:off x="6526212" y="2278063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9" name="AutoShape 63"/>
            <p:cNvCxnSpPr>
              <a:cxnSpLocks noChangeShapeType="1"/>
            </p:cNvCxnSpPr>
            <p:nvPr/>
          </p:nvCxnSpPr>
          <p:spPr bwMode="auto">
            <a:xfrm>
              <a:off x="6529387" y="1747838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0" name="Line 64"/>
            <p:cNvSpPr>
              <a:spLocks noChangeShapeType="1"/>
            </p:cNvSpPr>
            <p:nvPr/>
          </p:nvSpPr>
          <p:spPr bwMode="auto">
            <a:xfrm>
              <a:off x="6796087" y="1744664"/>
              <a:ext cx="0" cy="1639887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1" name="AutoShape 69"/>
            <p:cNvSpPr>
              <a:spLocks noChangeArrowheads="1"/>
            </p:cNvSpPr>
            <p:nvPr/>
          </p:nvSpPr>
          <p:spPr bwMode="auto">
            <a:xfrm rot="5400000">
              <a:off x="3417887" y="3016250"/>
              <a:ext cx="152400" cy="685800"/>
            </a:xfrm>
            <a:prstGeom prst="can">
              <a:avLst>
                <a:gd name="adj" fmla="val 19688"/>
              </a:avLst>
            </a:prstGeom>
            <a:gradFill rotWithShape="0">
              <a:gsLst>
                <a:gs pos="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grpSp>
          <p:nvGrpSpPr>
            <p:cNvPr id="72" name="Group 74"/>
            <p:cNvGrpSpPr>
              <a:grpSpLocks/>
            </p:cNvGrpSpPr>
            <p:nvPr/>
          </p:nvGrpSpPr>
          <p:grpSpPr bwMode="auto">
            <a:xfrm>
              <a:off x="2520950" y="3159125"/>
              <a:ext cx="304800" cy="381000"/>
              <a:chOff x="3885" y="1246"/>
              <a:chExt cx="192" cy="240"/>
            </a:xfrm>
          </p:grpSpPr>
          <p:sp>
            <p:nvSpPr>
              <p:cNvPr id="76" name="Rectangle 75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77" name="Oval 76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78" name="AutoShape 77"/>
              <p:cNvCxnSpPr>
                <a:cxnSpLocks noChangeShapeType="1"/>
                <a:stCxn id="77" idx="4"/>
                <a:endCxn id="76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73" name="Cloud"/>
            <p:cNvSpPr>
              <a:spLocks noChangeAspect="1" noEditPoints="1" noChangeArrowheads="1"/>
            </p:cNvSpPr>
            <p:nvPr/>
          </p:nvSpPr>
          <p:spPr bwMode="auto">
            <a:xfrm>
              <a:off x="3781425" y="2438401"/>
              <a:ext cx="1079500" cy="720725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0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1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300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7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7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0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0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50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2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10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?</a:t>
              </a:r>
            </a:p>
          </p:txBody>
        </p:sp>
        <p:sp>
          <p:nvSpPr>
            <p:cNvPr id="74" name="Rectangle 79"/>
            <p:cNvSpPr>
              <a:spLocks noChangeArrowheads="1"/>
            </p:cNvSpPr>
            <p:nvPr/>
          </p:nvSpPr>
          <p:spPr bwMode="auto">
            <a:xfrm>
              <a:off x="3376612" y="1403350"/>
              <a:ext cx="3824288" cy="2565400"/>
            </a:xfrm>
            <a:prstGeom prst="rect">
              <a:avLst/>
            </a:prstGeom>
            <a:noFill/>
            <a:ln w="9525">
              <a:solidFill>
                <a:srgbClr val="FFFFFF"/>
              </a:solidFill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75" name="AutoShape 81"/>
            <p:cNvSpPr>
              <a:spLocks noChangeArrowheads="1"/>
            </p:cNvSpPr>
            <p:nvPr/>
          </p:nvSpPr>
          <p:spPr bwMode="auto">
            <a:xfrm rot="5400000">
              <a:off x="3406775" y="1947863"/>
              <a:ext cx="152400" cy="685800"/>
            </a:xfrm>
            <a:prstGeom prst="can">
              <a:avLst>
                <a:gd name="adj" fmla="val 19688"/>
              </a:avLst>
            </a:prstGeom>
            <a:gradFill rotWithShape="0">
              <a:gsLst>
                <a:gs pos="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1928234"/>
      </p:ext>
    </p:extLst>
  </p:cSld>
  <p:clrMapOvr>
    <a:masterClrMapping/>
  </p:clrMapOvr>
  <p:transition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/>
              <a:t>Solution: </a:t>
            </a:r>
            <a:r>
              <a:rPr lang="en-GB" altLang="en-US" i="1" dirty="0"/>
              <a:t>Scatter-Aggregator Pair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en-US" sz="2800" dirty="0"/>
              <a:t>Send a message to a publish-subscribe channel</a:t>
            </a:r>
          </a:p>
          <a:p>
            <a:r>
              <a:rPr lang="en-GB" altLang="en-US" sz="2800" dirty="0"/>
              <a:t>Interested recipients subscribe to a "topic"</a:t>
            </a:r>
          </a:p>
          <a:p>
            <a:r>
              <a:rPr lang="en-GB" altLang="en-US" sz="2800" dirty="0"/>
              <a:t>Aggregator collects individual response messages</a:t>
            </a:r>
          </a:p>
          <a:p>
            <a:pPr lvl="1"/>
            <a:r>
              <a:rPr lang="en-GB" altLang="en-US" sz="2400" dirty="0"/>
              <a:t>may not wait for all quotes, only returns one quote</a:t>
            </a:r>
            <a:endParaRPr lang="en-GB" altLang="en-US" sz="2400" i="1" dirty="0"/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81</a:t>
            </a:fld>
            <a:endParaRPr lang="en-US"/>
          </a:p>
        </p:txBody>
      </p:sp>
      <p:grpSp>
        <p:nvGrpSpPr>
          <p:cNvPr id="62" name="Group 61"/>
          <p:cNvGrpSpPr/>
          <p:nvPr/>
        </p:nvGrpSpPr>
        <p:grpSpPr>
          <a:xfrm>
            <a:off x="1217612" y="3598303"/>
            <a:ext cx="7291388" cy="3014662"/>
            <a:chOff x="1125537" y="1179513"/>
            <a:chExt cx="7291388" cy="3014662"/>
          </a:xfrm>
        </p:grpSpPr>
        <p:sp>
          <p:nvSpPr>
            <p:cNvPr id="63" name="Rectangle 2"/>
            <p:cNvSpPr>
              <a:spLocks noChangeArrowheads="1"/>
            </p:cNvSpPr>
            <p:nvPr/>
          </p:nvSpPr>
          <p:spPr bwMode="auto">
            <a:xfrm>
              <a:off x="1125537" y="1179513"/>
              <a:ext cx="7291388" cy="3014662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4" name="Rectangle 3"/>
            <p:cNvSpPr>
              <a:spLocks noChangeArrowheads="1"/>
            </p:cNvSpPr>
            <p:nvPr/>
          </p:nvSpPr>
          <p:spPr bwMode="auto">
            <a:xfrm>
              <a:off x="3376612" y="1403350"/>
              <a:ext cx="3824288" cy="2565400"/>
            </a:xfrm>
            <a:prstGeom prst="rect">
              <a:avLst/>
            </a:prstGeom>
            <a:noFill/>
            <a:ln w="9525">
              <a:solidFill>
                <a:srgbClr val="FFFFFF"/>
              </a:solidFill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5" name="Line 4"/>
            <p:cNvSpPr>
              <a:spLocks noChangeShapeType="1"/>
            </p:cNvSpPr>
            <p:nvPr/>
          </p:nvSpPr>
          <p:spPr bwMode="auto">
            <a:xfrm>
              <a:off x="2971800" y="2303463"/>
              <a:ext cx="207645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66" name="Text Box 7"/>
            <p:cNvSpPr txBox="1">
              <a:spLocks noChangeArrowheads="1"/>
            </p:cNvSpPr>
            <p:nvPr/>
          </p:nvSpPr>
          <p:spPr bwMode="auto">
            <a:xfrm>
              <a:off x="2250981" y="2387601"/>
              <a:ext cx="741550" cy="430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Request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For Quote</a:t>
              </a:r>
            </a:p>
          </p:txBody>
        </p:sp>
        <p:grpSp>
          <p:nvGrpSpPr>
            <p:cNvPr id="67" name="Group 8"/>
            <p:cNvGrpSpPr>
              <a:grpSpLocks/>
            </p:cNvGrpSpPr>
            <p:nvPr/>
          </p:nvGrpSpPr>
          <p:grpSpPr bwMode="auto">
            <a:xfrm>
              <a:off x="2470150" y="1981200"/>
              <a:ext cx="304800" cy="381000"/>
              <a:chOff x="1598" y="1305"/>
              <a:chExt cx="192" cy="240"/>
            </a:xfrm>
          </p:grpSpPr>
          <p:sp>
            <p:nvSpPr>
              <p:cNvPr id="116" name="Rectangle 9" descr="Wide upward diagonal"/>
              <p:cNvSpPr>
                <a:spLocks noChangeArrowheads="1"/>
              </p:cNvSpPr>
              <p:nvPr/>
            </p:nvSpPr>
            <p:spPr bwMode="auto">
              <a:xfrm>
                <a:off x="1694" y="1449"/>
                <a:ext cx="96" cy="96"/>
              </a:xfrm>
              <a:prstGeom prst="rect">
                <a:avLst/>
              </a:prstGeom>
              <a:pattFill prst="wd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17" name="Oval 10"/>
              <p:cNvSpPr>
                <a:spLocks noChangeArrowheads="1"/>
              </p:cNvSpPr>
              <p:nvPr/>
            </p:nvSpPr>
            <p:spPr bwMode="auto">
              <a:xfrm>
                <a:off x="1598" y="1305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18" name="AutoShape 11"/>
              <p:cNvCxnSpPr>
                <a:cxnSpLocks noChangeShapeType="1"/>
                <a:stCxn id="117" idx="4"/>
                <a:endCxn id="116" idx="1"/>
              </p:cNvCxnSpPr>
              <p:nvPr/>
            </p:nvCxnSpPr>
            <p:spPr bwMode="auto">
              <a:xfrm rot="16200000" flipH="1">
                <a:off x="1622" y="1425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68" name="Rectangle 12"/>
            <p:cNvSpPr>
              <a:spLocks noChangeArrowheads="1"/>
            </p:cNvSpPr>
            <p:nvPr/>
          </p:nvSpPr>
          <p:spPr bwMode="auto">
            <a:xfrm>
              <a:off x="5049837" y="15557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A</a:t>
              </a:r>
            </a:p>
          </p:txBody>
        </p:sp>
        <p:sp>
          <p:nvSpPr>
            <p:cNvPr id="69" name="Rectangle 13"/>
            <p:cNvSpPr>
              <a:spLocks noChangeArrowheads="1"/>
            </p:cNvSpPr>
            <p:nvPr/>
          </p:nvSpPr>
          <p:spPr bwMode="auto">
            <a:xfrm>
              <a:off x="5049837" y="20891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B</a:t>
              </a:r>
            </a:p>
          </p:txBody>
        </p:sp>
        <p:sp>
          <p:nvSpPr>
            <p:cNvPr id="70" name="Text Box 15"/>
            <p:cNvSpPr txBox="1">
              <a:spLocks noChangeArrowheads="1"/>
            </p:cNvSpPr>
            <p:nvPr/>
          </p:nvSpPr>
          <p:spPr bwMode="auto">
            <a:xfrm>
              <a:off x="6529387" y="1497013"/>
              <a:ext cx="536750" cy="2154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Quotes</a:t>
              </a:r>
            </a:p>
          </p:txBody>
        </p:sp>
        <p:sp>
          <p:nvSpPr>
            <p:cNvPr id="71" name="Text Box 16"/>
            <p:cNvSpPr txBox="1">
              <a:spLocks noChangeArrowheads="1"/>
            </p:cNvSpPr>
            <p:nvPr/>
          </p:nvSpPr>
          <p:spPr bwMode="auto">
            <a:xfrm>
              <a:off x="4006851" y="3665538"/>
              <a:ext cx="851323" cy="2154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Aggregator</a:t>
              </a:r>
            </a:p>
          </p:txBody>
        </p:sp>
        <p:sp>
          <p:nvSpPr>
            <p:cNvPr id="72" name="Text Box 17"/>
            <p:cNvSpPr txBox="1">
              <a:spLocks noChangeArrowheads="1"/>
            </p:cNvSpPr>
            <p:nvPr/>
          </p:nvSpPr>
          <p:spPr bwMode="auto">
            <a:xfrm>
              <a:off x="2429760" y="3543301"/>
              <a:ext cx="499880" cy="430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Best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 Quote</a:t>
              </a:r>
            </a:p>
          </p:txBody>
        </p:sp>
        <p:sp>
          <p:nvSpPr>
            <p:cNvPr id="73" name="Rectangle 18"/>
            <p:cNvSpPr>
              <a:spLocks noChangeArrowheads="1"/>
            </p:cNvSpPr>
            <p:nvPr/>
          </p:nvSpPr>
          <p:spPr bwMode="auto">
            <a:xfrm>
              <a:off x="5049837" y="26225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C</a:t>
              </a:r>
            </a:p>
          </p:txBody>
        </p:sp>
        <p:cxnSp>
          <p:nvCxnSpPr>
            <p:cNvPr id="74" name="AutoShape 19"/>
            <p:cNvCxnSpPr>
              <a:cxnSpLocks noChangeShapeType="1"/>
            </p:cNvCxnSpPr>
            <p:nvPr/>
          </p:nvCxnSpPr>
          <p:spPr bwMode="auto">
            <a:xfrm>
              <a:off x="6026151" y="2279650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5" name="AutoShape 20"/>
            <p:cNvCxnSpPr>
              <a:cxnSpLocks noChangeShapeType="1"/>
            </p:cNvCxnSpPr>
            <p:nvPr/>
          </p:nvCxnSpPr>
          <p:spPr bwMode="auto">
            <a:xfrm>
              <a:off x="6026151" y="1755775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6" name="AutoShape 21"/>
            <p:cNvCxnSpPr>
              <a:cxnSpLocks noChangeShapeType="1"/>
            </p:cNvCxnSpPr>
            <p:nvPr/>
          </p:nvCxnSpPr>
          <p:spPr bwMode="auto">
            <a:xfrm>
              <a:off x="6026151" y="2813050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77" name="Group 22"/>
            <p:cNvGrpSpPr>
              <a:grpSpLocks/>
            </p:cNvGrpSpPr>
            <p:nvPr/>
          </p:nvGrpSpPr>
          <p:grpSpPr bwMode="auto">
            <a:xfrm>
              <a:off x="6300787" y="1579563"/>
              <a:ext cx="304800" cy="381000"/>
              <a:chOff x="3730" y="980"/>
              <a:chExt cx="192" cy="240"/>
            </a:xfrm>
          </p:grpSpPr>
          <p:sp>
            <p:nvSpPr>
              <p:cNvPr id="113" name="Rectangle 23" descr="Dark vertical"/>
              <p:cNvSpPr>
                <a:spLocks noChangeArrowheads="1"/>
              </p:cNvSpPr>
              <p:nvPr/>
            </p:nvSpPr>
            <p:spPr bwMode="auto">
              <a:xfrm>
                <a:off x="3826" y="1124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14" name="Oval 24"/>
              <p:cNvSpPr>
                <a:spLocks noChangeArrowheads="1"/>
              </p:cNvSpPr>
              <p:nvPr/>
            </p:nvSpPr>
            <p:spPr bwMode="auto">
              <a:xfrm>
                <a:off x="3730" y="980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15" name="AutoShape 25"/>
              <p:cNvCxnSpPr>
                <a:cxnSpLocks noChangeShapeType="1"/>
                <a:stCxn id="114" idx="4"/>
                <a:endCxn id="113" idx="1"/>
              </p:cNvCxnSpPr>
              <p:nvPr/>
            </p:nvCxnSpPr>
            <p:spPr bwMode="auto">
              <a:xfrm rot="16200000" flipH="1">
                <a:off x="3754" y="1100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78" name="Group 26"/>
            <p:cNvGrpSpPr>
              <a:grpSpLocks/>
            </p:cNvGrpSpPr>
            <p:nvPr/>
          </p:nvGrpSpPr>
          <p:grpSpPr bwMode="auto">
            <a:xfrm>
              <a:off x="6300787" y="2112963"/>
              <a:ext cx="304800" cy="381000"/>
              <a:chOff x="3730" y="1316"/>
              <a:chExt cx="192" cy="240"/>
            </a:xfrm>
          </p:grpSpPr>
          <p:sp>
            <p:nvSpPr>
              <p:cNvPr id="110" name="Rectangle 27" descr="Dark vertical"/>
              <p:cNvSpPr>
                <a:spLocks noChangeArrowheads="1"/>
              </p:cNvSpPr>
              <p:nvPr/>
            </p:nvSpPr>
            <p:spPr bwMode="auto">
              <a:xfrm>
                <a:off x="3826" y="1460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11" name="Oval 28"/>
              <p:cNvSpPr>
                <a:spLocks noChangeArrowheads="1"/>
              </p:cNvSpPr>
              <p:nvPr/>
            </p:nvSpPr>
            <p:spPr bwMode="auto">
              <a:xfrm>
                <a:off x="3730" y="131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12" name="AutoShape 29"/>
              <p:cNvCxnSpPr>
                <a:cxnSpLocks noChangeShapeType="1"/>
                <a:stCxn id="111" idx="4"/>
                <a:endCxn id="110" idx="1"/>
              </p:cNvCxnSpPr>
              <p:nvPr/>
            </p:nvCxnSpPr>
            <p:spPr bwMode="auto">
              <a:xfrm rot="16200000" flipH="1">
                <a:off x="3754" y="143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79" name="Group 30"/>
            <p:cNvGrpSpPr>
              <a:grpSpLocks/>
            </p:cNvGrpSpPr>
            <p:nvPr/>
          </p:nvGrpSpPr>
          <p:grpSpPr bwMode="auto">
            <a:xfrm>
              <a:off x="6300787" y="2643188"/>
              <a:ext cx="304800" cy="381000"/>
              <a:chOff x="3730" y="1665"/>
              <a:chExt cx="192" cy="240"/>
            </a:xfrm>
          </p:grpSpPr>
          <p:sp>
            <p:nvSpPr>
              <p:cNvPr id="107" name="Oval 31"/>
              <p:cNvSpPr>
                <a:spLocks noChangeArrowheads="1"/>
              </p:cNvSpPr>
              <p:nvPr/>
            </p:nvSpPr>
            <p:spPr bwMode="auto">
              <a:xfrm>
                <a:off x="3730" y="1665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08" name="Rectangle 32" descr="Dark vertical"/>
              <p:cNvSpPr>
                <a:spLocks noChangeArrowheads="1"/>
              </p:cNvSpPr>
              <p:nvPr/>
            </p:nvSpPr>
            <p:spPr bwMode="auto">
              <a:xfrm>
                <a:off x="3826" y="1809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09" name="AutoShape 33"/>
              <p:cNvCxnSpPr>
                <a:cxnSpLocks noChangeShapeType="1"/>
                <a:stCxn id="107" idx="4"/>
                <a:endCxn id="108" idx="1"/>
              </p:cNvCxnSpPr>
              <p:nvPr/>
            </p:nvCxnSpPr>
            <p:spPr bwMode="auto">
              <a:xfrm rot="16200000" flipH="1">
                <a:off x="3754" y="1785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80" name="Group 34"/>
            <p:cNvGrpSpPr>
              <a:grpSpLocks/>
            </p:cNvGrpSpPr>
            <p:nvPr/>
          </p:nvGrpSpPr>
          <p:grpSpPr bwMode="auto">
            <a:xfrm>
              <a:off x="4051300" y="3122613"/>
              <a:ext cx="762000" cy="457200"/>
              <a:chOff x="2313" y="1967"/>
              <a:chExt cx="480" cy="288"/>
            </a:xfrm>
          </p:grpSpPr>
          <p:sp>
            <p:nvSpPr>
              <p:cNvPr id="100" name="Rectangle 35"/>
              <p:cNvSpPr>
                <a:spLocks noChangeArrowheads="1"/>
              </p:cNvSpPr>
              <p:nvPr/>
            </p:nvSpPr>
            <p:spPr bwMode="auto">
              <a:xfrm>
                <a:off x="2313" y="1967"/>
                <a:ext cx="480" cy="288"/>
              </a:xfrm>
              <a:prstGeom prst="rect">
                <a:avLst/>
              </a:prstGeom>
              <a:solidFill>
                <a:srgbClr val="CCFF99"/>
              </a:solidFill>
              <a:ln w="19050">
                <a:solidFill>
                  <a:srgbClr val="FFFFFF"/>
                </a:solidFill>
                <a:miter lim="800000"/>
                <a:headEnd/>
                <a:tailEnd/>
              </a:ln>
              <a:effectLst>
                <a:outerShdw dist="35921" dir="2700000" algn="ctr" rotWithShape="0">
                  <a:srgbClr val="000000"/>
                </a:outerShdw>
              </a:effec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grpSp>
            <p:nvGrpSpPr>
              <p:cNvPr id="101" name="Group 36"/>
              <p:cNvGrpSpPr>
                <a:grpSpLocks/>
              </p:cNvGrpSpPr>
              <p:nvPr/>
            </p:nvGrpSpPr>
            <p:grpSpPr bwMode="auto">
              <a:xfrm flipH="1">
                <a:off x="2434" y="2015"/>
                <a:ext cx="240" cy="192"/>
                <a:chOff x="1368" y="1776"/>
                <a:chExt cx="240" cy="192"/>
              </a:xfrm>
            </p:grpSpPr>
            <p:sp>
              <p:nvSpPr>
                <p:cNvPr id="102" name="Rectangle 37"/>
                <p:cNvSpPr>
                  <a:spLocks noChangeArrowheads="1"/>
                </p:cNvSpPr>
                <p:nvPr/>
              </p:nvSpPr>
              <p:spPr bwMode="auto">
                <a:xfrm>
                  <a:off x="1560" y="1844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03" name="Rectangle 38"/>
                <p:cNvSpPr>
                  <a:spLocks noChangeArrowheads="1"/>
                </p:cNvSpPr>
                <p:nvPr/>
              </p:nvSpPr>
              <p:spPr bwMode="auto">
                <a:xfrm>
                  <a:off x="1368" y="1776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04" name="Rectangle 39"/>
                <p:cNvSpPr>
                  <a:spLocks noChangeArrowheads="1"/>
                </p:cNvSpPr>
                <p:nvPr/>
              </p:nvSpPr>
              <p:spPr bwMode="auto">
                <a:xfrm>
                  <a:off x="1368" y="1848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05" name="Rectangle 40"/>
                <p:cNvSpPr>
                  <a:spLocks noChangeArrowheads="1"/>
                </p:cNvSpPr>
                <p:nvPr/>
              </p:nvSpPr>
              <p:spPr bwMode="auto">
                <a:xfrm>
                  <a:off x="1368" y="1920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06" name="Line 41"/>
                <p:cNvSpPr>
                  <a:spLocks noChangeShapeType="1"/>
                </p:cNvSpPr>
                <p:nvPr/>
              </p:nvSpPr>
              <p:spPr bwMode="auto">
                <a:xfrm>
                  <a:off x="1444" y="1872"/>
                  <a:ext cx="96" cy="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</p:grpSp>
        </p:grpSp>
        <p:sp>
          <p:nvSpPr>
            <p:cNvPr id="81" name="AutoShape 42"/>
            <p:cNvSpPr>
              <a:spLocks noChangeArrowheads="1"/>
            </p:cNvSpPr>
            <p:nvPr/>
          </p:nvSpPr>
          <p:spPr bwMode="auto">
            <a:xfrm rot="5400000">
              <a:off x="3406775" y="1947863"/>
              <a:ext cx="152400" cy="685800"/>
            </a:xfrm>
            <a:prstGeom prst="can">
              <a:avLst>
                <a:gd name="adj" fmla="val 19688"/>
              </a:avLst>
            </a:prstGeom>
            <a:gradFill rotWithShape="0">
              <a:gsLst>
                <a:gs pos="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82" name="Line 43"/>
            <p:cNvSpPr>
              <a:spLocks noChangeShapeType="1"/>
            </p:cNvSpPr>
            <p:nvPr/>
          </p:nvSpPr>
          <p:spPr bwMode="auto">
            <a:xfrm>
              <a:off x="4581525" y="1784350"/>
              <a:ext cx="4572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83" name="Line 44"/>
            <p:cNvSpPr>
              <a:spLocks noChangeShapeType="1"/>
            </p:cNvSpPr>
            <p:nvPr/>
          </p:nvSpPr>
          <p:spPr bwMode="auto">
            <a:xfrm>
              <a:off x="4583112" y="2851150"/>
              <a:ext cx="4572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84" name="Line 45"/>
            <p:cNvSpPr>
              <a:spLocks noChangeShapeType="1"/>
            </p:cNvSpPr>
            <p:nvPr/>
          </p:nvSpPr>
          <p:spPr bwMode="auto">
            <a:xfrm>
              <a:off x="4592637" y="1784350"/>
              <a:ext cx="0" cy="106680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85" name="Line 46"/>
            <p:cNvSpPr>
              <a:spLocks noChangeShapeType="1"/>
            </p:cNvSpPr>
            <p:nvPr/>
          </p:nvSpPr>
          <p:spPr bwMode="auto">
            <a:xfrm flipH="1">
              <a:off x="2925762" y="3371850"/>
              <a:ext cx="1081088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86" name="AutoShape 47"/>
            <p:cNvSpPr>
              <a:spLocks noChangeArrowheads="1"/>
            </p:cNvSpPr>
            <p:nvPr/>
          </p:nvSpPr>
          <p:spPr bwMode="auto">
            <a:xfrm rot="5400000">
              <a:off x="5457825" y="3027363"/>
              <a:ext cx="152400" cy="685800"/>
            </a:xfrm>
            <a:prstGeom prst="can">
              <a:avLst>
                <a:gd name="adj" fmla="val 19688"/>
              </a:avLst>
            </a:prstGeom>
            <a:gradFill rotWithShape="0">
              <a:gsLst>
                <a:gs pos="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87" name="Line 48"/>
            <p:cNvSpPr>
              <a:spLocks noChangeShapeType="1"/>
            </p:cNvSpPr>
            <p:nvPr/>
          </p:nvSpPr>
          <p:spPr bwMode="auto">
            <a:xfrm flipH="1">
              <a:off x="5895975" y="3384550"/>
              <a:ext cx="900112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cxnSp>
          <p:nvCxnSpPr>
            <p:cNvPr id="88" name="AutoShape 49"/>
            <p:cNvCxnSpPr>
              <a:cxnSpLocks noChangeShapeType="1"/>
            </p:cNvCxnSpPr>
            <p:nvPr/>
          </p:nvCxnSpPr>
          <p:spPr bwMode="auto">
            <a:xfrm>
              <a:off x="6526212" y="2808288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9" name="AutoShape 50"/>
            <p:cNvCxnSpPr>
              <a:cxnSpLocks noChangeShapeType="1"/>
            </p:cNvCxnSpPr>
            <p:nvPr/>
          </p:nvCxnSpPr>
          <p:spPr bwMode="auto">
            <a:xfrm>
              <a:off x="6526212" y="2278063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90" name="AutoShape 51"/>
            <p:cNvCxnSpPr>
              <a:cxnSpLocks noChangeShapeType="1"/>
            </p:cNvCxnSpPr>
            <p:nvPr/>
          </p:nvCxnSpPr>
          <p:spPr bwMode="auto">
            <a:xfrm>
              <a:off x="6529387" y="1747838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1" name="Line 52"/>
            <p:cNvSpPr>
              <a:spLocks noChangeShapeType="1"/>
            </p:cNvSpPr>
            <p:nvPr/>
          </p:nvSpPr>
          <p:spPr bwMode="auto">
            <a:xfrm>
              <a:off x="6796087" y="1744664"/>
              <a:ext cx="0" cy="1639887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92" name="Line 53"/>
            <p:cNvSpPr>
              <a:spLocks noChangeShapeType="1"/>
            </p:cNvSpPr>
            <p:nvPr/>
          </p:nvSpPr>
          <p:spPr bwMode="auto">
            <a:xfrm flipH="1">
              <a:off x="4860925" y="3384550"/>
              <a:ext cx="303212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93" name="AutoShape 54"/>
            <p:cNvSpPr>
              <a:spLocks noChangeArrowheads="1"/>
            </p:cNvSpPr>
            <p:nvPr/>
          </p:nvSpPr>
          <p:spPr bwMode="auto">
            <a:xfrm rot="5400000">
              <a:off x="3417887" y="3016250"/>
              <a:ext cx="152400" cy="685800"/>
            </a:xfrm>
            <a:prstGeom prst="can">
              <a:avLst>
                <a:gd name="adj" fmla="val 19688"/>
              </a:avLst>
            </a:prstGeom>
            <a:gradFill rotWithShape="0">
              <a:gsLst>
                <a:gs pos="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grpSp>
          <p:nvGrpSpPr>
            <p:cNvPr id="94" name="Group 55"/>
            <p:cNvGrpSpPr>
              <a:grpSpLocks/>
            </p:cNvGrpSpPr>
            <p:nvPr/>
          </p:nvGrpSpPr>
          <p:grpSpPr bwMode="auto">
            <a:xfrm>
              <a:off x="2520950" y="3159125"/>
              <a:ext cx="304800" cy="381000"/>
              <a:chOff x="3885" y="1246"/>
              <a:chExt cx="192" cy="240"/>
            </a:xfrm>
          </p:grpSpPr>
          <p:sp>
            <p:nvSpPr>
              <p:cNvPr id="97" name="Rectangle 56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98" name="Oval 57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99" name="AutoShape 58"/>
              <p:cNvCxnSpPr>
                <a:cxnSpLocks noChangeShapeType="1"/>
                <a:stCxn id="98" idx="4"/>
                <a:endCxn id="97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95" name="Line 59"/>
            <p:cNvSpPr>
              <a:spLocks noChangeShapeType="1"/>
            </p:cNvSpPr>
            <p:nvPr/>
          </p:nvSpPr>
          <p:spPr bwMode="auto">
            <a:xfrm flipH="1">
              <a:off x="3556001" y="1854201"/>
              <a:ext cx="46037" cy="314325"/>
            </a:xfrm>
            <a:prstGeom prst="lin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96" name="Text Box 60"/>
            <p:cNvSpPr txBox="1">
              <a:spLocks noChangeArrowheads="1"/>
            </p:cNvSpPr>
            <p:nvPr/>
          </p:nvSpPr>
          <p:spPr bwMode="auto">
            <a:xfrm>
              <a:off x="3421062" y="1449388"/>
              <a:ext cx="7302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Pub-Sub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channel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21473903"/>
      </p:ext>
    </p:extLst>
  </p:cSld>
  <p:clrMapOvr>
    <a:masterClrMapping/>
  </p:clrMapOvr>
  <p:transition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/>
              <a:t>Complex composition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en-US" sz="2400" dirty="0"/>
              <a:t>Receive an order message</a:t>
            </a:r>
          </a:p>
          <a:p>
            <a:r>
              <a:rPr lang="en-GB" altLang="en-US" sz="2400" dirty="0"/>
              <a:t>Use splitter to create one message per item</a:t>
            </a:r>
          </a:p>
          <a:p>
            <a:r>
              <a:rPr lang="en-GB" altLang="en-US" sz="2400" dirty="0"/>
              <a:t>Send to scatter/gather, which returns the “best quote” message</a:t>
            </a:r>
          </a:p>
          <a:p>
            <a:r>
              <a:rPr lang="en-GB" altLang="en-US" sz="2400" dirty="0"/>
              <a:t>Aggregate to create a quoted order message</a:t>
            </a:r>
            <a:endParaRPr lang="en-GB" altLang="en-US" sz="2400" i="1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82</a:t>
            </a:fld>
            <a:endParaRPr lang="en-US"/>
          </a:p>
        </p:txBody>
      </p:sp>
      <p:grpSp>
        <p:nvGrpSpPr>
          <p:cNvPr id="106" name="Group 105"/>
          <p:cNvGrpSpPr/>
          <p:nvPr/>
        </p:nvGrpSpPr>
        <p:grpSpPr>
          <a:xfrm>
            <a:off x="989012" y="3614738"/>
            <a:ext cx="7291388" cy="3014662"/>
            <a:chOff x="1125537" y="1179513"/>
            <a:chExt cx="7291388" cy="3014662"/>
          </a:xfrm>
        </p:grpSpPr>
        <p:sp>
          <p:nvSpPr>
            <p:cNvPr id="107" name="Rectangle 50"/>
            <p:cNvSpPr>
              <a:spLocks noChangeArrowheads="1"/>
            </p:cNvSpPr>
            <p:nvPr/>
          </p:nvSpPr>
          <p:spPr bwMode="auto">
            <a:xfrm>
              <a:off x="1125537" y="1179513"/>
              <a:ext cx="7291388" cy="3014662"/>
            </a:xfrm>
            <a:prstGeom prst="rect">
              <a:avLst/>
            </a:prstGeom>
            <a:solidFill>
              <a:srgbClr val="4880DC"/>
            </a:solidFill>
            <a:ln>
              <a:noFill/>
            </a:ln>
            <a:effectLst>
              <a:prstShdw prst="shdw17" dist="17961" dir="2700000">
                <a:srgbClr val="4880DC">
                  <a:gamma/>
                  <a:shade val="60000"/>
                  <a:invGamma/>
                </a:srgbClr>
              </a:prst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08" name="Rectangle 191"/>
            <p:cNvSpPr>
              <a:spLocks noChangeArrowheads="1"/>
            </p:cNvSpPr>
            <p:nvPr/>
          </p:nvSpPr>
          <p:spPr bwMode="auto">
            <a:xfrm>
              <a:off x="4457701" y="1403350"/>
              <a:ext cx="3824287" cy="2565400"/>
            </a:xfrm>
            <a:prstGeom prst="rect">
              <a:avLst/>
            </a:prstGeom>
            <a:noFill/>
            <a:ln w="9525">
              <a:solidFill>
                <a:srgbClr val="FFFFFF"/>
              </a:solidFill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09" name="Line 52"/>
            <p:cNvSpPr>
              <a:spLocks noChangeShapeType="1"/>
            </p:cNvSpPr>
            <p:nvPr/>
          </p:nvSpPr>
          <p:spPr bwMode="auto">
            <a:xfrm>
              <a:off x="4097337" y="2303463"/>
              <a:ext cx="207645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10" name="Text Box 53"/>
            <p:cNvSpPr txBox="1">
              <a:spLocks noChangeArrowheads="1"/>
            </p:cNvSpPr>
            <p:nvPr/>
          </p:nvSpPr>
          <p:spPr bwMode="auto">
            <a:xfrm>
              <a:off x="3107984" y="2536826"/>
              <a:ext cx="1081771" cy="430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Quote request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for each item</a:t>
              </a:r>
            </a:p>
          </p:txBody>
        </p:sp>
        <p:sp>
          <p:nvSpPr>
            <p:cNvPr id="111" name="Rectangle 58"/>
            <p:cNvSpPr>
              <a:spLocks noChangeArrowheads="1"/>
            </p:cNvSpPr>
            <p:nvPr/>
          </p:nvSpPr>
          <p:spPr bwMode="auto">
            <a:xfrm>
              <a:off x="6175375" y="15557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A</a:t>
              </a:r>
            </a:p>
          </p:txBody>
        </p:sp>
        <p:sp>
          <p:nvSpPr>
            <p:cNvPr id="112" name="Rectangle 59"/>
            <p:cNvSpPr>
              <a:spLocks noChangeArrowheads="1"/>
            </p:cNvSpPr>
            <p:nvPr/>
          </p:nvSpPr>
          <p:spPr bwMode="auto">
            <a:xfrm>
              <a:off x="6175375" y="20891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B</a:t>
              </a:r>
            </a:p>
          </p:txBody>
        </p:sp>
        <p:sp>
          <p:nvSpPr>
            <p:cNvPr id="113" name="Text Box 61"/>
            <p:cNvSpPr txBox="1">
              <a:spLocks noChangeArrowheads="1"/>
            </p:cNvSpPr>
            <p:nvPr/>
          </p:nvSpPr>
          <p:spPr bwMode="auto">
            <a:xfrm>
              <a:off x="7654925" y="1497013"/>
              <a:ext cx="536750" cy="2154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Quotes</a:t>
              </a:r>
            </a:p>
          </p:txBody>
        </p:sp>
        <p:sp>
          <p:nvSpPr>
            <p:cNvPr id="114" name="Text Box 62"/>
            <p:cNvSpPr txBox="1">
              <a:spLocks noChangeArrowheads="1"/>
            </p:cNvSpPr>
            <p:nvPr/>
          </p:nvSpPr>
          <p:spPr bwMode="auto">
            <a:xfrm>
              <a:off x="5132388" y="3665538"/>
              <a:ext cx="851323" cy="2154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Aggregator</a:t>
              </a:r>
            </a:p>
          </p:txBody>
        </p:sp>
        <p:sp>
          <p:nvSpPr>
            <p:cNvPr id="115" name="Text Box 63"/>
            <p:cNvSpPr txBox="1">
              <a:spLocks noChangeArrowheads="1"/>
            </p:cNvSpPr>
            <p:nvPr/>
          </p:nvSpPr>
          <p:spPr bwMode="auto">
            <a:xfrm>
              <a:off x="3147934" y="3543301"/>
              <a:ext cx="1020921" cy="430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Best Quote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for each item</a:t>
              </a:r>
            </a:p>
          </p:txBody>
        </p:sp>
        <p:sp>
          <p:nvSpPr>
            <p:cNvPr id="116" name="Rectangle 68"/>
            <p:cNvSpPr>
              <a:spLocks noChangeArrowheads="1"/>
            </p:cNvSpPr>
            <p:nvPr/>
          </p:nvSpPr>
          <p:spPr bwMode="auto">
            <a:xfrm>
              <a:off x="6175375" y="2622550"/>
              <a:ext cx="914400" cy="381000"/>
            </a:xfrm>
            <a:prstGeom prst="rect">
              <a:avLst/>
            </a:prstGeom>
            <a:solidFill>
              <a:srgbClr val="FFFF66"/>
            </a:solidFill>
            <a:ln w="19050">
              <a:solidFill>
                <a:srgbClr val="FFFFFF"/>
              </a:solidFill>
              <a:miter lim="800000"/>
              <a:headEnd/>
              <a:tailEnd/>
            </a:ln>
            <a:effectLst>
              <a:outerShdw dist="35921" dir="2700000" algn="ctr" rotWithShape="0">
                <a:srgbClr val="000000"/>
              </a:outerShdw>
            </a:effec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Vendor C</a:t>
              </a:r>
            </a:p>
          </p:txBody>
        </p:sp>
        <p:cxnSp>
          <p:nvCxnSpPr>
            <p:cNvPr id="117" name="AutoShape 69"/>
            <p:cNvCxnSpPr>
              <a:cxnSpLocks noChangeShapeType="1"/>
            </p:cNvCxnSpPr>
            <p:nvPr/>
          </p:nvCxnSpPr>
          <p:spPr bwMode="auto">
            <a:xfrm>
              <a:off x="7151687" y="2279650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8" name="AutoShape 70"/>
            <p:cNvCxnSpPr>
              <a:cxnSpLocks noChangeShapeType="1"/>
            </p:cNvCxnSpPr>
            <p:nvPr/>
          </p:nvCxnSpPr>
          <p:spPr bwMode="auto">
            <a:xfrm>
              <a:off x="7151687" y="1755775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" name="AutoShape 71"/>
            <p:cNvCxnSpPr>
              <a:cxnSpLocks noChangeShapeType="1"/>
            </p:cNvCxnSpPr>
            <p:nvPr/>
          </p:nvCxnSpPr>
          <p:spPr bwMode="auto">
            <a:xfrm>
              <a:off x="7151687" y="2813050"/>
              <a:ext cx="274638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120" name="Group 72"/>
            <p:cNvGrpSpPr>
              <a:grpSpLocks/>
            </p:cNvGrpSpPr>
            <p:nvPr/>
          </p:nvGrpSpPr>
          <p:grpSpPr bwMode="auto">
            <a:xfrm>
              <a:off x="7426325" y="1579563"/>
              <a:ext cx="304800" cy="381000"/>
              <a:chOff x="3730" y="980"/>
              <a:chExt cx="192" cy="240"/>
            </a:xfrm>
          </p:grpSpPr>
          <p:sp>
            <p:nvSpPr>
              <p:cNvPr id="204" name="Rectangle 73" descr="Dark vertical"/>
              <p:cNvSpPr>
                <a:spLocks noChangeArrowheads="1"/>
              </p:cNvSpPr>
              <p:nvPr/>
            </p:nvSpPr>
            <p:spPr bwMode="auto">
              <a:xfrm>
                <a:off x="3826" y="1124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205" name="Oval 74"/>
              <p:cNvSpPr>
                <a:spLocks noChangeArrowheads="1"/>
              </p:cNvSpPr>
              <p:nvPr/>
            </p:nvSpPr>
            <p:spPr bwMode="auto">
              <a:xfrm>
                <a:off x="3730" y="980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206" name="AutoShape 75"/>
              <p:cNvCxnSpPr>
                <a:cxnSpLocks noChangeShapeType="1"/>
                <a:stCxn id="205" idx="4"/>
                <a:endCxn id="204" idx="1"/>
              </p:cNvCxnSpPr>
              <p:nvPr/>
            </p:nvCxnSpPr>
            <p:spPr bwMode="auto">
              <a:xfrm rot="16200000" flipH="1">
                <a:off x="3754" y="1100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121" name="Group 76"/>
            <p:cNvGrpSpPr>
              <a:grpSpLocks/>
            </p:cNvGrpSpPr>
            <p:nvPr/>
          </p:nvGrpSpPr>
          <p:grpSpPr bwMode="auto">
            <a:xfrm>
              <a:off x="7426325" y="2112963"/>
              <a:ext cx="304800" cy="381000"/>
              <a:chOff x="3730" y="1316"/>
              <a:chExt cx="192" cy="240"/>
            </a:xfrm>
          </p:grpSpPr>
          <p:sp>
            <p:nvSpPr>
              <p:cNvPr id="201" name="Rectangle 77" descr="Dark vertical"/>
              <p:cNvSpPr>
                <a:spLocks noChangeArrowheads="1"/>
              </p:cNvSpPr>
              <p:nvPr/>
            </p:nvSpPr>
            <p:spPr bwMode="auto">
              <a:xfrm>
                <a:off x="3826" y="1460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202" name="Oval 78"/>
              <p:cNvSpPr>
                <a:spLocks noChangeArrowheads="1"/>
              </p:cNvSpPr>
              <p:nvPr/>
            </p:nvSpPr>
            <p:spPr bwMode="auto">
              <a:xfrm>
                <a:off x="3730" y="131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203" name="AutoShape 79"/>
              <p:cNvCxnSpPr>
                <a:cxnSpLocks noChangeShapeType="1"/>
                <a:stCxn id="202" idx="4"/>
                <a:endCxn id="201" idx="1"/>
              </p:cNvCxnSpPr>
              <p:nvPr/>
            </p:nvCxnSpPr>
            <p:spPr bwMode="auto">
              <a:xfrm rot="16200000" flipH="1">
                <a:off x="3754" y="143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122" name="Group 80"/>
            <p:cNvGrpSpPr>
              <a:grpSpLocks/>
            </p:cNvGrpSpPr>
            <p:nvPr/>
          </p:nvGrpSpPr>
          <p:grpSpPr bwMode="auto">
            <a:xfrm>
              <a:off x="7426325" y="2643188"/>
              <a:ext cx="304800" cy="381000"/>
              <a:chOff x="3730" y="1650"/>
              <a:chExt cx="192" cy="240"/>
            </a:xfrm>
          </p:grpSpPr>
          <p:sp>
            <p:nvSpPr>
              <p:cNvPr id="198" name="Oval 81"/>
              <p:cNvSpPr>
                <a:spLocks noChangeArrowheads="1"/>
              </p:cNvSpPr>
              <p:nvPr/>
            </p:nvSpPr>
            <p:spPr bwMode="auto">
              <a:xfrm>
                <a:off x="3730" y="1650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99" name="Rectangle 82" descr="Dark vertical"/>
              <p:cNvSpPr>
                <a:spLocks noChangeArrowheads="1"/>
              </p:cNvSpPr>
              <p:nvPr/>
            </p:nvSpPr>
            <p:spPr bwMode="auto">
              <a:xfrm>
                <a:off x="3826" y="1794"/>
                <a:ext cx="96" cy="96"/>
              </a:xfrm>
              <a:prstGeom prst="rect">
                <a:avLst/>
              </a:prstGeom>
              <a:pattFill prst="dkVert">
                <a:fgClr>
                  <a:srgbClr val="FFFF66"/>
                </a:fgClr>
                <a:bgClr>
                  <a:srgbClr val="FAA906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200" name="AutoShape 83"/>
              <p:cNvCxnSpPr>
                <a:cxnSpLocks noChangeShapeType="1"/>
                <a:stCxn id="198" idx="4"/>
                <a:endCxn id="199" idx="1"/>
              </p:cNvCxnSpPr>
              <p:nvPr/>
            </p:nvCxnSpPr>
            <p:spPr bwMode="auto">
              <a:xfrm rot="16200000" flipH="1">
                <a:off x="3754" y="1770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123" name="Group 84"/>
            <p:cNvGrpSpPr>
              <a:grpSpLocks/>
            </p:cNvGrpSpPr>
            <p:nvPr/>
          </p:nvGrpSpPr>
          <p:grpSpPr bwMode="auto">
            <a:xfrm>
              <a:off x="5176837" y="3122613"/>
              <a:ext cx="762000" cy="457200"/>
              <a:chOff x="2313" y="1967"/>
              <a:chExt cx="480" cy="288"/>
            </a:xfrm>
          </p:grpSpPr>
          <p:sp>
            <p:nvSpPr>
              <p:cNvPr id="191" name="Rectangle 85"/>
              <p:cNvSpPr>
                <a:spLocks noChangeArrowheads="1"/>
              </p:cNvSpPr>
              <p:nvPr/>
            </p:nvSpPr>
            <p:spPr bwMode="auto">
              <a:xfrm>
                <a:off x="2313" y="1967"/>
                <a:ext cx="480" cy="288"/>
              </a:xfrm>
              <a:prstGeom prst="rect">
                <a:avLst/>
              </a:prstGeom>
              <a:solidFill>
                <a:srgbClr val="CCFF99"/>
              </a:solidFill>
              <a:ln w="19050">
                <a:solidFill>
                  <a:srgbClr val="FFFFFF"/>
                </a:solidFill>
                <a:miter lim="800000"/>
                <a:headEnd/>
                <a:tailEnd/>
              </a:ln>
              <a:effectLst>
                <a:outerShdw dist="35921" dir="2700000" algn="ctr" rotWithShape="0">
                  <a:srgbClr val="000000"/>
                </a:outerShdw>
              </a:effec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grpSp>
            <p:nvGrpSpPr>
              <p:cNvPr id="192" name="Group 86"/>
              <p:cNvGrpSpPr>
                <a:grpSpLocks/>
              </p:cNvGrpSpPr>
              <p:nvPr/>
            </p:nvGrpSpPr>
            <p:grpSpPr bwMode="auto">
              <a:xfrm flipH="1">
                <a:off x="2434" y="2015"/>
                <a:ext cx="240" cy="192"/>
                <a:chOff x="1368" y="1776"/>
                <a:chExt cx="240" cy="192"/>
              </a:xfrm>
            </p:grpSpPr>
            <p:sp>
              <p:nvSpPr>
                <p:cNvPr id="193" name="Rectangle 87"/>
                <p:cNvSpPr>
                  <a:spLocks noChangeArrowheads="1"/>
                </p:cNvSpPr>
                <p:nvPr/>
              </p:nvSpPr>
              <p:spPr bwMode="auto">
                <a:xfrm>
                  <a:off x="1560" y="1844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94" name="Rectangle 88"/>
                <p:cNvSpPr>
                  <a:spLocks noChangeArrowheads="1"/>
                </p:cNvSpPr>
                <p:nvPr/>
              </p:nvSpPr>
              <p:spPr bwMode="auto">
                <a:xfrm>
                  <a:off x="1368" y="1776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95" name="Rectangle 89"/>
                <p:cNvSpPr>
                  <a:spLocks noChangeArrowheads="1"/>
                </p:cNvSpPr>
                <p:nvPr/>
              </p:nvSpPr>
              <p:spPr bwMode="auto">
                <a:xfrm>
                  <a:off x="1368" y="1848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96" name="Rectangle 90"/>
                <p:cNvSpPr>
                  <a:spLocks noChangeArrowheads="1"/>
                </p:cNvSpPr>
                <p:nvPr/>
              </p:nvSpPr>
              <p:spPr bwMode="auto">
                <a:xfrm>
                  <a:off x="1368" y="1920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97" name="Line 91"/>
                <p:cNvSpPr>
                  <a:spLocks noChangeShapeType="1"/>
                </p:cNvSpPr>
                <p:nvPr/>
              </p:nvSpPr>
              <p:spPr bwMode="auto">
                <a:xfrm>
                  <a:off x="1444" y="1872"/>
                  <a:ext cx="96" cy="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</p:grpSp>
        </p:grpSp>
        <p:sp>
          <p:nvSpPr>
            <p:cNvPr id="124" name="AutoShape 92"/>
            <p:cNvSpPr>
              <a:spLocks noChangeArrowheads="1"/>
            </p:cNvSpPr>
            <p:nvPr/>
          </p:nvSpPr>
          <p:spPr bwMode="auto">
            <a:xfrm rot="5400000">
              <a:off x="4441825" y="1947863"/>
              <a:ext cx="152400" cy="685800"/>
            </a:xfrm>
            <a:prstGeom prst="can">
              <a:avLst>
                <a:gd name="adj" fmla="val 19688"/>
              </a:avLst>
            </a:prstGeom>
            <a:gradFill rotWithShape="0">
              <a:gsLst>
                <a:gs pos="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125" name="Line 93"/>
            <p:cNvSpPr>
              <a:spLocks noChangeShapeType="1"/>
            </p:cNvSpPr>
            <p:nvPr/>
          </p:nvSpPr>
          <p:spPr bwMode="auto">
            <a:xfrm>
              <a:off x="5707062" y="1784350"/>
              <a:ext cx="4572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26" name="Line 94"/>
            <p:cNvSpPr>
              <a:spLocks noChangeShapeType="1"/>
            </p:cNvSpPr>
            <p:nvPr/>
          </p:nvSpPr>
          <p:spPr bwMode="auto">
            <a:xfrm>
              <a:off x="5708650" y="2851150"/>
              <a:ext cx="457200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27" name="Line 95"/>
            <p:cNvSpPr>
              <a:spLocks noChangeShapeType="1"/>
            </p:cNvSpPr>
            <p:nvPr/>
          </p:nvSpPr>
          <p:spPr bwMode="auto">
            <a:xfrm>
              <a:off x="5718175" y="1784350"/>
              <a:ext cx="0" cy="106680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28" name="Line 96"/>
            <p:cNvSpPr>
              <a:spLocks noChangeShapeType="1"/>
            </p:cNvSpPr>
            <p:nvPr/>
          </p:nvSpPr>
          <p:spPr bwMode="auto">
            <a:xfrm flipH="1">
              <a:off x="4051301" y="3371850"/>
              <a:ext cx="1081087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29" name="AutoShape 97"/>
            <p:cNvSpPr>
              <a:spLocks noChangeArrowheads="1"/>
            </p:cNvSpPr>
            <p:nvPr/>
          </p:nvSpPr>
          <p:spPr bwMode="auto">
            <a:xfrm rot="5400000">
              <a:off x="6583362" y="3027363"/>
              <a:ext cx="152400" cy="685800"/>
            </a:xfrm>
            <a:prstGeom prst="can">
              <a:avLst>
                <a:gd name="adj" fmla="val 19688"/>
              </a:avLst>
            </a:prstGeom>
            <a:gradFill rotWithShape="0">
              <a:gsLst>
                <a:gs pos="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sp>
          <p:nvSpPr>
            <p:cNvPr id="130" name="Line 98"/>
            <p:cNvSpPr>
              <a:spLocks noChangeShapeType="1"/>
            </p:cNvSpPr>
            <p:nvPr/>
          </p:nvSpPr>
          <p:spPr bwMode="auto">
            <a:xfrm flipH="1">
              <a:off x="7021513" y="3384550"/>
              <a:ext cx="900113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cxnSp>
          <p:nvCxnSpPr>
            <p:cNvPr id="131" name="AutoShape 99"/>
            <p:cNvCxnSpPr>
              <a:cxnSpLocks noChangeShapeType="1"/>
            </p:cNvCxnSpPr>
            <p:nvPr/>
          </p:nvCxnSpPr>
          <p:spPr bwMode="auto">
            <a:xfrm>
              <a:off x="7651751" y="2808288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32" name="AutoShape 100"/>
            <p:cNvCxnSpPr>
              <a:cxnSpLocks noChangeShapeType="1"/>
            </p:cNvCxnSpPr>
            <p:nvPr/>
          </p:nvCxnSpPr>
          <p:spPr bwMode="auto">
            <a:xfrm>
              <a:off x="7651751" y="2278063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33" name="AutoShape 101"/>
            <p:cNvCxnSpPr>
              <a:cxnSpLocks noChangeShapeType="1"/>
            </p:cNvCxnSpPr>
            <p:nvPr/>
          </p:nvCxnSpPr>
          <p:spPr bwMode="auto">
            <a:xfrm>
              <a:off x="7654926" y="1747838"/>
              <a:ext cx="274637" cy="0"/>
            </a:xfrm>
            <a:prstGeom prst="straightConnector1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34" name="Line 102"/>
            <p:cNvSpPr>
              <a:spLocks noChangeShapeType="1"/>
            </p:cNvSpPr>
            <p:nvPr/>
          </p:nvSpPr>
          <p:spPr bwMode="auto">
            <a:xfrm>
              <a:off x="7921625" y="1744664"/>
              <a:ext cx="0" cy="1639887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35" name="Line 103"/>
            <p:cNvSpPr>
              <a:spLocks noChangeShapeType="1"/>
            </p:cNvSpPr>
            <p:nvPr/>
          </p:nvSpPr>
          <p:spPr bwMode="auto">
            <a:xfrm flipH="1">
              <a:off x="5986463" y="3384550"/>
              <a:ext cx="303213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36" name="AutoShape 104"/>
            <p:cNvSpPr>
              <a:spLocks noChangeArrowheads="1"/>
            </p:cNvSpPr>
            <p:nvPr/>
          </p:nvSpPr>
          <p:spPr bwMode="auto">
            <a:xfrm rot="5400000">
              <a:off x="4543425" y="3016250"/>
              <a:ext cx="152400" cy="685800"/>
            </a:xfrm>
            <a:prstGeom prst="can">
              <a:avLst>
                <a:gd name="adj" fmla="val 19688"/>
              </a:avLst>
            </a:prstGeom>
            <a:gradFill rotWithShape="0">
              <a:gsLst>
                <a:gs pos="0">
                  <a:srgbClr val="C0C0C0"/>
                </a:gs>
                <a:gs pos="100000">
                  <a:srgbClr val="C0C0C0">
                    <a:gamma/>
                    <a:shade val="57647"/>
                    <a:invGamma/>
                  </a:srgbClr>
                </a:gs>
              </a:gsLst>
              <a:lin ang="540000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ranklin Gothic Medium" panose="020B0603020102020204" pitchFamily="34" charset="0"/>
              </a:endParaRPr>
            </a:p>
          </p:txBody>
        </p:sp>
        <p:grpSp>
          <p:nvGrpSpPr>
            <p:cNvPr id="137" name="Group 171"/>
            <p:cNvGrpSpPr>
              <a:grpSpLocks/>
            </p:cNvGrpSpPr>
            <p:nvPr/>
          </p:nvGrpSpPr>
          <p:grpSpPr bwMode="auto">
            <a:xfrm>
              <a:off x="1441451" y="1943101"/>
              <a:ext cx="306387" cy="612775"/>
              <a:chOff x="669" y="1224"/>
              <a:chExt cx="193" cy="386"/>
            </a:xfrm>
          </p:grpSpPr>
          <p:cxnSp>
            <p:nvCxnSpPr>
              <p:cNvPr id="185" name="AutoShape 109"/>
              <p:cNvCxnSpPr>
                <a:cxnSpLocks noChangeShapeType="1"/>
                <a:stCxn id="189" idx="4"/>
                <a:endCxn id="188" idx="1"/>
              </p:cNvCxnSpPr>
              <p:nvPr/>
            </p:nvCxnSpPr>
            <p:spPr bwMode="auto">
              <a:xfrm rot="16200000" flipH="1">
                <a:off x="693" y="1344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grpSp>
            <p:nvGrpSpPr>
              <p:cNvPr id="186" name="Group 164"/>
              <p:cNvGrpSpPr>
                <a:grpSpLocks/>
              </p:cNvGrpSpPr>
              <p:nvPr/>
            </p:nvGrpSpPr>
            <p:grpSpPr bwMode="auto">
              <a:xfrm>
                <a:off x="669" y="1224"/>
                <a:ext cx="193" cy="386"/>
                <a:chOff x="584" y="1224"/>
                <a:chExt cx="193" cy="386"/>
              </a:xfrm>
            </p:grpSpPr>
            <p:sp>
              <p:nvSpPr>
                <p:cNvPr id="187" name="Rectangle 163" descr="Wide downward diagonal"/>
                <p:cNvSpPr>
                  <a:spLocks noChangeArrowheads="1"/>
                </p:cNvSpPr>
                <p:nvPr/>
              </p:nvSpPr>
              <p:spPr bwMode="auto">
                <a:xfrm>
                  <a:off x="681" y="1514"/>
                  <a:ext cx="96" cy="96"/>
                </a:xfrm>
                <a:prstGeom prst="rect">
                  <a:avLst/>
                </a:prstGeom>
                <a:pattFill prst="wdDnDiag">
                  <a:fgClr>
                    <a:srgbClr val="FFFF66"/>
                  </a:fgClr>
                  <a:bgClr>
                    <a:srgbClr val="FF3300"/>
                  </a:bgClr>
                </a:pattFill>
                <a:ln w="12700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88" name="Rectangle 107" descr="Wide upward diagonal"/>
                <p:cNvSpPr>
                  <a:spLocks noChangeArrowheads="1"/>
                </p:cNvSpPr>
                <p:nvPr/>
              </p:nvSpPr>
              <p:spPr bwMode="auto">
                <a:xfrm>
                  <a:off x="680" y="1368"/>
                  <a:ext cx="96" cy="96"/>
                </a:xfrm>
                <a:prstGeom prst="rect">
                  <a:avLst/>
                </a:prstGeom>
                <a:pattFill prst="wdUpDiag">
                  <a:fgClr>
                    <a:srgbClr val="FFFF66"/>
                  </a:fgClr>
                  <a:bgClr>
                    <a:srgbClr val="33CC33"/>
                  </a:bgClr>
                </a:pattFill>
                <a:ln w="12700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89" name="Oval 108"/>
                <p:cNvSpPr>
                  <a:spLocks noChangeArrowheads="1"/>
                </p:cNvSpPr>
                <p:nvPr/>
              </p:nvSpPr>
              <p:spPr bwMode="auto">
                <a:xfrm>
                  <a:off x="584" y="1224"/>
                  <a:ext cx="96" cy="96"/>
                </a:xfrm>
                <a:prstGeom prst="ellipse">
                  <a:avLst/>
                </a:prstGeom>
                <a:solidFill>
                  <a:srgbClr val="28497A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cxnSp>
              <p:nvCxnSpPr>
                <p:cNvPr id="190" name="AutoShape 110"/>
                <p:cNvCxnSpPr>
                  <a:cxnSpLocks noChangeShapeType="1"/>
                  <a:stCxn id="189" idx="4"/>
                </p:cNvCxnSpPr>
                <p:nvPr/>
              </p:nvCxnSpPr>
              <p:spPr bwMode="auto">
                <a:xfrm rot="16200000" flipH="1">
                  <a:off x="536" y="1416"/>
                  <a:ext cx="240" cy="48"/>
                </a:xfrm>
                <a:prstGeom prst="bentConnector2">
                  <a:avLst/>
                </a:prstGeom>
                <a:noFill/>
                <a:ln w="12700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grpSp>
          <p:nvGrpSpPr>
            <p:cNvPr id="138" name="Group 113"/>
            <p:cNvGrpSpPr>
              <a:grpSpLocks/>
            </p:cNvGrpSpPr>
            <p:nvPr/>
          </p:nvGrpSpPr>
          <p:grpSpPr bwMode="auto">
            <a:xfrm>
              <a:off x="2081212" y="2079625"/>
              <a:ext cx="762000" cy="457200"/>
              <a:chOff x="1464" y="2432"/>
              <a:chExt cx="480" cy="288"/>
            </a:xfrm>
          </p:grpSpPr>
          <p:sp>
            <p:nvSpPr>
              <p:cNvPr id="178" name="Rectangle 114"/>
              <p:cNvSpPr>
                <a:spLocks noChangeArrowheads="1"/>
              </p:cNvSpPr>
              <p:nvPr/>
            </p:nvSpPr>
            <p:spPr bwMode="auto">
              <a:xfrm>
                <a:off x="1464" y="2432"/>
                <a:ext cx="480" cy="288"/>
              </a:xfrm>
              <a:prstGeom prst="rect">
                <a:avLst/>
              </a:prstGeom>
              <a:solidFill>
                <a:srgbClr val="CCFF99"/>
              </a:solidFill>
              <a:ln w="19050">
                <a:solidFill>
                  <a:srgbClr val="FFFFFF"/>
                </a:solidFill>
                <a:miter lim="800000"/>
                <a:headEnd/>
                <a:tailEnd/>
              </a:ln>
              <a:effectLst>
                <a:outerShdw dist="35921" dir="2700000" algn="ctr" rotWithShape="0">
                  <a:srgbClr val="000000"/>
                </a:outerShdw>
              </a:effec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grpSp>
            <p:nvGrpSpPr>
              <p:cNvPr id="179" name="Group 115"/>
              <p:cNvGrpSpPr>
                <a:grpSpLocks/>
              </p:cNvGrpSpPr>
              <p:nvPr/>
            </p:nvGrpSpPr>
            <p:grpSpPr bwMode="auto">
              <a:xfrm>
                <a:off x="1592" y="2480"/>
                <a:ext cx="240" cy="192"/>
                <a:chOff x="1392" y="864"/>
                <a:chExt cx="240" cy="192"/>
              </a:xfrm>
            </p:grpSpPr>
            <p:sp>
              <p:nvSpPr>
                <p:cNvPr id="180" name="Rectangle 116"/>
                <p:cNvSpPr>
                  <a:spLocks noChangeArrowheads="1"/>
                </p:cNvSpPr>
                <p:nvPr/>
              </p:nvSpPr>
              <p:spPr bwMode="auto">
                <a:xfrm>
                  <a:off x="1392" y="937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81" name="Rectangle 117"/>
                <p:cNvSpPr>
                  <a:spLocks noChangeArrowheads="1"/>
                </p:cNvSpPr>
                <p:nvPr/>
              </p:nvSpPr>
              <p:spPr bwMode="auto">
                <a:xfrm>
                  <a:off x="1584" y="864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82" name="Rectangle 118"/>
                <p:cNvSpPr>
                  <a:spLocks noChangeArrowheads="1"/>
                </p:cNvSpPr>
                <p:nvPr/>
              </p:nvSpPr>
              <p:spPr bwMode="auto">
                <a:xfrm>
                  <a:off x="1584" y="936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83" name="Rectangle 119"/>
                <p:cNvSpPr>
                  <a:spLocks noChangeArrowheads="1"/>
                </p:cNvSpPr>
                <p:nvPr/>
              </p:nvSpPr>
              <p:spPr bwMode="auto">
                <a:xfrm>
                  <a:off x="1584" y="1008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84" name="Line 120"/>
                <p:cNvSpPr>
                  <a:spLocks noChangeShapeType="1"/>
                </p:cNvSpPr>
                <p:nvPr/>
              </p:nvSpPr>
              <p:spPr bwMode="auto">
                <a:xfrm>
                  <a:off x="1468" y="960"/>
                  <a:ext cx="96" cy="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</p:grpSp>
        </p:grpSp>
        <p:grpSp>
          <p:nvGrpSpPr>
            <p:cNvPr id="139" name="Group 121"/>
            <p:cNvGrpSpPr>
              <a:grpSpLocks/>
            </p:cNvGrpSpPr>
            <p:nvPr/>
          </p:nvGrpSpPr>
          <p:grpSpPr bwMode="auto">
            <a:xfrm>
              <a:off x="3286125" y="2132013"/>
              <a:ext cx="304800" cy="381000"/>
              <a:chOff x="1598" y="1305"/>
              <a:chExt cx="192" cy="240"/>
            </a:xfrm>
          </p:grpSpPr>
          <p:sp>
            <p:nvSpPr>
              <p:cNvPr id="175" name="Rectangle 122" descr="Wide upward diagonal"/>
              <p:cNvSpPr>
                <a:spLocks noChangeArrowheads="1"/>
              </p:cNvSpPr>
              <p:nvPr/>
            </p:nvSpPr>
            <p:spPr bwMode="auto">
              <a:xfrm>
                <a:off x="1694" y="1449"/>
                <a:ext cx="96" cy="96"/>
              </a:xfrm>
              <a:prstGeom prst="rect">
                <a:avLst/>
              </a:prstGeom>
              <a:pattFill prst="wd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76" name="Oval 123"/>
              <p:cNvSpPr>
                <a:spLocks noChangeArrowheads="1"/>
              </p:cNvSpPr>
              <p:nvPr/>
            </p:nvSpPr>
            <p:spPr bwMode="auto">
              <a:xfrm>
                <a:off x="1598" y="1305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77" name="AutoShape 124"/>
              <p:cNvCxnSpPr>
                <a:cxnSpLocks noChangeShapeType="1"/>
                <a:stCxn id="176" idx="4"/>
                <a:endCxn id="175" idx="1"/>
              </p:cNvCxnSpPr>
              <p:nvPr/>
            </p:nvCxnSpPr>
            <p:spPr bwMode="auto">
              <a:xfrm rot="16200000" flipH="1">
                <a:off x="1622" y="1425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140" name="Text Box 130"/>
            <p:cNvSpPr txBox="1">
              <a:spLocks noChangeArrowheads="1"/>
            </p:cNvSpPr>
            <p:nvPr/>
          </p:nvSpPr>
          <p:spPr bwMode="auto">
            <a:xfrm>
              <a:off x="2082801" y="3657600"/>
              <a:ext cx="851323" cy="2154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Aggregator</a:t>
              </a:r>
            </a:p>
          </p:txBody>
        </p:sp>
        <p:grpSp>
          <p:nvGrpSpPr>
            <p:cNvPr id="141" name="Group 131"/>
            <p:cNvGrpSpPr>
              <a:grpSpLocks/>
            </p:cNvGrpSpPr>
            <p:nvPr/>
          </p:nvGrpSpPr>
          <p:grpSpPr bwMode="auto">
            <a:xfrm>
              <a:off x="2081212" y="3132138"/>
              <a:ext cx="762000" cy="457200"/>
              <a:chOff x="2313" y="1967"/>
              <a:chExt cx="480" cy="288"/>
            </a:xfrm>
          </p:grpSpPr>
          <p:sp>
            <p:nvSpPr>
              <p:cNvPr id="168" name="Rectangle 132"/>
              <p:cNvSpPr>
                <a:spLocks noChangeArrowheads="1"/>
              </p:cNvSpPr>
              <p:nvPr/>
            </p:nvSpPr>
            <p:spPr bwMode="auto">
              <a:xfrm>
                <a:off x="2313" y="1967"/>
                <a:ext cx="480" cy="288"/>
              </a:xfrm>
              <a:prstGeom prst="rect">
                <a:avLst/>
              </a:prstGeom>
              <a:solidFill>
                <a:srgbClr val="CCFF99"/>
              </a:solidFill>
              <a:ln w="19050">
                <a:solidFill>
                  <a:srgbClr val="FFFFFF"/>
                </a:solidFill>
                <a:miter lim="800000"/>
                <a:headEnd/>
                <a:tailEnd/>
              </a:ln>
              <a:effectLst>
                <a:outerShdw dist="35921" dir="2700000" algn="ctr" rotWithShape="0">
                  <a:srgbClr val="000000"/>
                </a:outerShdw>
              </a:effec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grpSp>
            <p:nvGrpSpPr>
              <p:cNvPr id="169" name="Group 133"/>
              <p:cNvGrpSpPr>
                <a:grpSpLocks/>
              </p:cNvGrpSpPr>
              <p:nvPr/>
            </p:nvGrpSpPr>
            <p:grpSpPr bwMode="auto">
              <a:xfrm flipH="1">
                <a:off x="2434" y="2015"/>
                <a:ext cx="240" cy="192"/>
                <a:chOff x="1368" y="1776"/>
                <a:chExt cx="240" cy="192"/>
              </a:xfrm>
            </p:grpSpPr>
            <p:sp>
              <p:nvSpPr>
                <p:cNvPr id="170" name="Rectangle 134"/>
                <p:cNvSpPr>
                  <a:spLocks noChangeArrowheads="1"/>
                </p:cNvSpPr>
                <p:nvPr/>
              </p:nvSpPr>
              <p:spPr bwMode="auto">
                <a:xfrm>
                  <a:off x="1560" y="1844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71" name="Rectangle 135"/>
                <p:cNvSpPr>
                  <a:spLocks noChangeArrowheads="1"/>
                </p:cNvSpPr>
                <p:nvPr/>
              </p:nvSpPr>
              <p:spPr bwMode="auto">
                <a:xfrm>
                  <a:off x="1368" y="1776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72" name="Rectangle 136"/>
                <p:cNvSpPr>
                  <a:spLocks noChangeArrowheads="1"/>
                </p:cNvSpPr>
                <p:nvPr/>
              </p:nvSpPr>
              <p:spPr bwMode="auto">
                <a:xfrm>
                  <a:off x="1368" y="1848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73" name="Rectangle 137"/>
                <p:cNvSpPr>
                  <a:spLocks noChangeArrowheads="1"/>
                </p:cNvSpPr>
                <p:nvPr/>
              </p:nvSpPr>
              <p:spPr bwMode="auto">
                <a:xfrm>
                  <a:off x="1368" y="1920"/>
                  <a:ext cx="48" cy="48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74" name="Line 138"/>
                <p:cNvSpPr>
                  <a:spLocks noChangeShapeType="1"/>
                </p:cNvSpPr>
                <p:nvPr/>
              </p:nvSpPr>
              <p:spPr bwMode="auto">
                <a:xfrm>
                  <a:off x="1444" y="1872"/>
                  <a:ext cx="96" cy="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 type="triangl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</p:grpSp>
        </p:grpSp>
        <p:sp>
          <p:nvSpPr>
            <p:cNvPr id="142" name="Text Box 140"/>
            <p:cNvSpPr txBox="1">
              <a:spLocks noChangeArrowheads="1"/>
            </p:cNvSpPr>
            <p:nvPr/>
          </p:nvSpPr>
          <p:spPr bwMode="auto">
            <a:xfrm>
              <a:off x="2162175" y="2574925"/>
              <a:ext cx="552074" cy="21544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Splitter</a:t>
              </a:r>
            </a:p>
          </p:txBody>
        </p:sp>
        <p:sp>
          <p:nvSpPr>
            <p:cNvPr id="143" name="Line 142"/>
            <p:cNvSpPr>
              <a:spLocks noChangeShapeType="1"/>
            </p:cNvSpPr>
            <p:nvPr/>
          </p:nvSpPr>
          <p:spPr bwMode="auto">
            <a:xfrm flipH="1">
              <a:off x="2881313" y="3384550"/>
              <a:ext cx="449263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44" name="Line 143"/>
            <p:cNvSpPr>
              <a:spLocks noChangeShapeType="1"/>
            </p:cNvSpPr>
            <p:nvPr/>
          </p:nvSpPr>
          <p:spPr bwMode="auto">
            <a:xfrm>
              <a:off x="2906713" y="2303463"/>
              <a:ext cx="360363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45" name="Line 144"/>
            <p:cNvSpPr>
              <a:spLocks noChangeShapeType="1"/>
            </p:cNvSpPr>
            <p:nvPr/>
          </p:nvSpPr>
          <p:spPr bwMode="auto">
            <a:xfrm>
              <a:off x="1800226" y="2349500"/>
              <a:ext cx="225425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46" name="Line 145"/>
            <p:cNvSpPr>
              <a:spLocks noChangeShapeType="1"/>
            </p:cNvSpPr>
            <p:nvPr/>
          </p:nvSpPr>
          <p:spPr bwMode="auto">
            <a:xfrm flipH="1" flipV="1">
              <a:off x="1800226" y="3384550"/>
              <a:ext cx="225425" cy="0"/>
            </a:xfrm>
            <a:prstGeom prst="line">
              <a:avLst/>
            </a:prstGeom>
            <a:noFill/>
            <a:ln w="28575">
              <a:solidFill>
                <a:srgbClr val="28497A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grpSp>
          <p:nvGrpSpPr>
            <p:cNvPr id="147" name="Group 172"/>
            <p:cNvGrpSpPr>
              <a:grpSpLocks/>
            </p:cNvGrpSpPr>
            <p:nvPr/>
          </p:nvGrpSpPr>
          <p:grpSpPr bwMode="auto">
            <a:xfrm>
              <a:off x="1441451" y="3024189"/>
              <a:ext cx="306387" cy="612775"/>
              <a:chOff x="669" y="1224"/>
              <a:chExt cx="193" cy="386"/>
            </a:xfrm>
          </p:grpSpPr>
          <p:cxnSp>
            <p:nvCxnSpPr>
              <p:cNvPr id="162" name="AutoShape 173"/>
              <p:cNvCxnSpPr>
                <a:cxnSpLocks noChangeShapeType="1"/>
                <a:stCxn id="166" idx="4"/>
                <a:endCxn id="165" idx="1"/>
              </p:cNvCxnSpPr>
              <p:nvPr/>
            </p:nvCxnSpPr>
            <p:spPr bwMode="auto">
              <a:xfrm rot="16200000" flipH="1">
                <a:off x="693" y="1344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grpSp>
            <p:nvGrpSpPr>
              <p:cNvPr id="163" name="Group 174"/>
              <p:cNvGrpSpPr>
                <a:grpSpLocks/>
              </p:cNvGrpSpPr>
              <p:nvPr/>
            </p:nvGrpSpPr>
            <p:grpSpPr bwMode="auto">
              <a:xfrm>
                <a:off x="669" y="1224"/>
                <a:ext cx="193" cy="386"/>
                <a:chOff x="584" y="1224"/>
                <a:chExt cx="193" cy="386"/>
              </a:xfrm>
            </p:grpSpPr>
            <p:sp>
              <p:nvSpPr>
                <p:cNvPr id="164" name="Rectangle 175" descr="Wide downward diagonal"/>
                <p:cNvSpPr>
                  <a:spLocks noChangeArrowheads="1"/>
                </p:cNvSpPr>
                <p:nvPr/>
              </p:nvSpPr>
              <p:spPr bwMode="auto">
                <a:xfrm>
                  <a:off x="681" y="1514"/>
                  <a:ext cx="96" cy="96"/>
                </a:xfrm>
                <a:prstGeom prst="rect">
                  <a:avLst/>
                </a:prstGeom>
                <a:pattFill prst="wdDnDiag">
                  <a:fgClr>
                    <a:srgbClr val="FFFF66"/>
                  </a:fgClr>
                  <a:bgClr>
                    <a:srgbClr val="FF3300"/>
                  </a:bgClr>
                </a:pattFill>
                <a:ln w="12700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65" name="Rectangle 176" descr="Wide upward diagonal"/>
                <p:cNvSpPr>
                  <a:spLocks noChangeArrowheads="1"/>
                </p:cNvSpPr>
                <p:nvPr/>
              </p:nvSpPr>
              <p:spPr bwMode="auto">
                <a:xfrm>
                  <a:off x="680" y="1368"/>
                  <a:ext cx="96" cy="96"/>
                </a:xfrm>
                <a:prstGeom prst="rect">
                  <a:avLst/>
                </a:prstGeom>
                <a:pattFill prst="wdUpDiag">
                  <a:fgClr>
                    <a:srgbClr val="FFFF66"/>
                  </a:fgClr>
                  <a:bgClr>
                    <a:srgbClr val="33CC33"/>
                  </a:bgClr>
                </a:pattFill>
                <a:ln w="12700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sp>
              <p:nvSpPr>
                <p:cNvPr id="166" name="Oval 177"/>
                <p:cNvSpPr>
                  <a:spLocks noChangeArrowheads="1"/>
                </p:cNvSpPr>
                <p:nvPr/>
              </p:nvSpPr>
              <p:spPr bwMode="auto">
                <a:xfrm>
                  <a:off x="584" y="1224"/>
                  <a:ext cx="96" cy="96"/>
                </a:xfrm>
                <a:prstGeom prst="ellipse">
                  <a:avLst/>
                </a:prstGeom>
                <a:solidFill>
                  <a:srgbClr val="28497A"/>
                </a:soli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imes" panose="02020603050405020304" pitchFamily="18" charset="0"/>
                  </a:endParaRPr>
                </a:p>
              </p:txBody>
            </p:sp>
            <p:cxnSp>
              <p:nvCxnSpPr>
                <p:cNvPr id="167" name="AutoShape 178"/>
                <p:cNvCxnSpPr>
                  <a:cxnSpLocks noChangeShapeType="1"/>
                  <a:stCxn id="166" idx="4"/>
                </p:cNvCxnSpPr>
                <p:nvPr/>
              </p:nvCxnSpPr>
              <p:spPr bwMode="auto">
                <a:xfrm rot="16200000" flipH="1">
                  <a:off x="536" y="1416"/>
                  <a:ext cx="240" cy="48"/>
                </a:xfrm>
                <a:prstGeom prst="bentConnector2">
                  <a:avLst/>
                </a:prstGeom>
                <a:noFill/>
                <a:ln w="12700">
                  <a:solidFill>
                    <a:srgbClr val="00000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</p:grpSp>
        <p:grpSp>
          <p:nvGrpSpPr>
            <p:cNvPr id="148" name="Group 179"/>
            <p:cNvGrpSpPr>
              <a:grpSpLocks/>
            </p:cNvGrpSpPr>
            <p:nvPr/>
          </p:nvGrpSpPr>
          <p:grpSpPr bwMode="auto">
            <a:xfrm>
              <a:off x="3646487" y="2124075"/>
              <a:ext cx="304800" cy="381000"/>
              <a:chOff x="3885" y="1246"/>
              <a:chExt cx="192" cy="240"/>
            </a:xfrm>
          </p:grpSpPr>
          <p:sp>
            <p:nvSpPr>
              <p:cNvPr id="159" name="Rectangle 180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60" name="Oval 181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61" name="AutoShape 182"/>
              <p:cNvCxnSpPr>
                <a:cxnSpLocks noChangeShapeType="1"/>
                <a:stCxn id="160" idx="4"/>
                <a:endCxn id="159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149" name="Group 183"/>
            <p:cNvGrpSpPr>
              <a:grpSpLocks/>
            </p:cNvGrpSpPr>
            <p:nvPr/>
          </p:nvGrpSpPr>
          <p:grpSpPr bwMode="auto">
            <a:xfrm>
              <a:off x="3341687" y="3167063"/>
              <a:ext cx="304800" cy="381000"/>
              <a:chOff x="1598" y="1305"/>
              <a:chExt cx="192" cy="240"/>
            </a:xfrm>
          </p:grpSpPr>
          <p:sp>
            <p:nvSpPr>
              <p:cNvPr id="156" name="Rectangle 184" descr="Wide upward diagonal"/>
              <p:cNvSpPr>
                <a:spLocks noChangeArrowheads="1"/>
              </p:cNvSpPr>
              <p:nvPr/>
            </p:nvSpPr>
            <p:spPr bwMode="auto">
              <a:xfrm>
                <a:off x="1694" y="1449"/>
                <a:ext cx="96" cy="96"/>
              </a:xfrm>
              <a:prstGeom prst="rect">
                <a:avLst/>
              </a:prstGeom>
              <a:pattFill prst="wdUpDiag">
                <a:fgClr>
                  <a:srgbClr val="FFFF66"/>
                </a:fgClr>
                <a:bgClr>
                  <a:srgbClr val="33CC33"/>
                </a:bgClr>
              </a:pattFill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57" name="Oval 185"/>
              <p:cNvSpPr>
                <a:spLocks noChangeArrowheads="1"/>
              </p:cNvSpPr>
              <p:nvPr/>
            </p:nvSpPr>
            <p:spPr bwMode="auto">
              <a:xfrm>
                <a:off x="1598" y="1305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58" name="AutoShape 186"/>
              <p:cNvCxnSpPr>
                <a:cxnSpLocks noChangeShapeType="1"/>
                <a:stCxn id="157" idx="4"/>
                <a:endCxn id="156" idx="1"/>
              </p:cNvCxnSpPr>
              <p:nvPr/>
            </p:nvCxnSpPr>
            <p:spPr bwMode="auto">
              <a:xfrm rot="16200000" flipH="1">
                <a:off x="1622" y="1425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150" name="Group 187"/>
            <p:cNvGrpSpPr>
              <a:grpSpLocks/>
            </p:cNvGrpSpPr>
            <p:nvPr/>
          </p:nvGrpSpPr>
          <p:grpSpPr bwMode="auto">
            <a:xfrm>
              <a:off x="3702050" y="3159125"/>
              <a:ext cx="304800" cy="381000"/>
              <a:chOff x="3885" y="1246"/>
              <a:chExt cx="192" cy="240"/>
            </a:xfrm>
          </p:grpSpPr>
          <p:sp>
            <p:nvSpPr>
              <p:cNvPr id="153" name="Rectangle 188" descr="Wide downward diagonal"/>
              <p:cNvSpPr>
                <a:spLocks noChangeArrowheads="1"/>
              </p:cNvSpPr>
              <p:nvPr/>
            </p:nvSpPr>
            <p:spPr bwMode="auto">
              <a:xfrm>
                <a:off x="3981" y="1390"/>
                <a:ext cx="96" cy="96"/>
              </a:xfrm>
              <a:prstGeom prst="rect">
                <a:avLst/>
              </a:prstGeom>
              <a:pattFill prst="wdDnDiag">
                <a:fgClr>
                  <a:srgbClr val="FFFF66"/>
                </a:fgClr>
                <a:bgClr>
                  <a:srgbClr val="FF3300"/>
                </a:bgClr>
              </a:pattFill>
              <a:ln w="12700" algn="ctr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sp>
            <p:nvSpPr>
              <p:cNvPr id="154" name="Oval 189"/>
              <p:cNvSpPr>
                <a:spLocks noChangeArrowheads="1"/>
              </p:cNvSpPr>
              <p:nvPr/>
            </p:nvSpPr>
            <p:spPr bwMode="auto">
              <a:xfrm>
                <a:off x="3885" y="1246"/>
                <a:ext cx="96" cy="96"/>
              </a:xfrm>
              <a:prstGeom prst="ellipse">
                <a:avLst/>
              </a:prstGeom>
              <a:solidFill>
                <a:srgbClr val="28497A"/>
              </a:solidFill>
              <a:ln w="127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imes" panose="02020603050405020304" pitchFamily="18" charset="0"/>
                </a:endParaRPr>
              </a:p>
            </p:txBody>
          </p:sp>
          <p:cxnSp>
            <p:nvCxnSpPr>
              <p:cNvPr id="155" name="AutoShape 190"/>
              <p:cNvCxnSpPr>
                <a:cxnSpLocks noChangeShapeType="1"/>
                <a:stCxn id="154" idx="4"/>
                <a:endCxn id="153" idx="1"/>
              </p:cNvCxnSpPr>
              <p:nvPr/>
            </p:nvCxnSpPr>
            <p:spPr bwMode="auto">
              <a:xfrm rot="16200000" flipH="1">
                <a:off x="3909" y="1366"/>
                <a:ext cx="96" cy="48"/>
              </a:xfrm>
              <a:prstGeom prst="bentConnector2">
                <a:avLst/>
              </a:prstGeom>
              <a:noFill/>
              <a:ln w="12700">
                <a:solidFill>
                  <a:srgbClr val="0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</p:grpSp>
        <p:sp>
          <p:nvSpPr>
            <p:cNvPr id="151" name="Line 192"/>
            <p:cNvSpPr>
              <a:spLocks noChangeShapeType="1"/>
            </p:cNvSpPr>
            <p:nvPr/>
          </p:nvSpPr>
          <p:spPr bwMode="auto">
            <a:xfrm flipH="1">
              <a:off x="4637087" y="1854201"/>
              <a:ext cx="46038" cy="314325"/>
            </a:xfrm>
            <a:prstGeom prst="line">
              <a:avLst/>
            </a:prstGeom>
            <a:noFill/>
            <a:ln w="9525">
              <a:solidFill>
                <a:srgbClr val="FFFF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" panose="02020603050405020304" pitchFamily="18" charset="0"/>
              </a:endParaRPr>
            </a:p>
          </p:txBody>
        </p:sp>
        <p:sp>
          <p:nvSpPr>
            <p:cNvPr id="152" name="Text Box 193"/>
            <p:cNvSpPr txBox="1">
              <a:spLocks noChangeArrowheads="1"/>
            </p:cNvSpPr>
            <p:nvPr/>
          </p:nvSpPr>
          <p:spPr bwMode="auto">
            <a:xfrm>
              <a:off x="4502150" y="1449388"/>
              <a:ext cx="7302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Pub-Sub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Franklin Gothic Medium" panose="020B0603020102020204" pitchFamily="34" charset="0"/>
                </a:rPr>
                <a:t>channel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0322540"/>
      </p:ext>
    </p:extLst>
  </p:cSld>
  <p:clrMapOvr>
    <a:masterClrMapping/>
  </p:clrMapOvr>
  <p:transition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D2AD-F382-4D20-B48B-38997EF4C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A26F8-6752-4978-AE86-2F1BE11D1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 of Software Architecture</a:t>
            </a:r>
          </a:p>
          <a:p>
            <a:r>
              <a:rPr lang="en-US" dirty="0"/>
              <a:t>Driver of Software Architecture </a:t>
            </a:r>
          </a:p>
          <a:p>
            <a:r>
              <a:rPr lang="en-US" dirty="0"/>
              <a:t>Quality Attribute and Patterns/Tactics </a:t>
            </a:r>
          </a:p>
          <a:p>
            <a:r>
              <a:rPr lang="en-US" dirty="0"/>
              <a:t>Attribute-Driven Design </a:t>
            </a:r>
          </a:p>
          <a:p>
            <a:r>
              <a:rPr lang="en-US" b="1" dirty="0"/>
              <a:t>Taking Decisions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78A5F-E43D-4611-96F3-3FE3FF641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581748"/>
      </p:ext>
    </p:extLst>
  </p:cSld>
  <p:clrMapOvr>
    <a:masterClrMapping/>
  </p:clrMapOvr>
  <p:transition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802" name="Rectangle 2">
            <a:extLst>
              <a:ext uri="{FF2B5EF4-FFF2-40B4-BE49-F238E27FC236}">
                <a16:creationId xmlns:a16="http://schemas.microsoft.com/office/drawing/2014/main" id="{BD3BDDD8-FF74-4706-B9B9-4E6CD6B398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ln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b" anchorCtr="0" compatLnSpc="1">
            <a:prstTxWarp prst="textNoShape">
              <a:avLst/>
            </a:prstTxWarp>
          </a:bodyPr>
          <a:lstStyle/>
          <a:p>
            <a:pPr defTabSz="457200"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GB" altLang="en-US"/>
              <a:t>Uses of design decisions</a:t>
            </a:r>
          </a:p>
        </p:txBody>
      </p:sp>
      <p:sp>
        <p:nvSpPr>
          <p:cNvPr id="844803" name="Rectangle 3">
            <a:extLst>
              <a:ext uri="{FF2B5EF4-FFF2-40B4-BE49-F238E27FC236}">
                <a16:creationId xmlns:a16="http://schemas.microsoft.com/office/drawing/2014/main" id="{9345B08A-FABA-4AF8-BFD0-158DF30AFF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12749" y="1676400"/>
            <a:ext cx="9490075" cy="4953000"/>
          </a:xfrm>
          <a:ln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marL="322263" indent="-32226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800" dirty="0"/>
              <a:t>Identify key design decisions for a stakeholder</a:t>
            </a:r>
          </a:p>
          <a:p>
            <a:pPr marL="722313" lvl="1" indent="-26511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400" dirty="0"/>
              <a:t>Make the key decisions quickly available. E.g., introducing new people and making them up-to-date.</a:t>
            </a:r>
          </a:p>
          <a:p>
            <a:pPr marL="722313" lvl="1" indent="-26511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400" dirty="0"/>
              <a:t>..., Get a rationale, evaluate/validate decisions against requirements </a:t>
            </a:r>
          </a:p>
          <a:p>
            <a:pPr marL="322263" indent="-32226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800" dirty="0"/>
              <a:t>Evaluate impacts</a:t>
            </a:r>
          </a:p>
          <a:p>
            <a:pPr marL="722313" lvl="1" indent="-26511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400" dirty="0"/>
              <a:t>If we want to change an element, what elements are impacted (decisions, design, issues)?</a:t>
            </a:r>
          </a:p>
          <a:p>
            <a:pPr marL="722313" lvl="1" indent="-26511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400" dirty="0"/>
              <a:t> Clean up the architecture, identify important architectural drivers</a:t>
            </a:r>
          </a:p>
          <a:p>
            <a:pPr marL="322263" indent="-32226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800" dirty="0"/>
              <a:t>Make the design decision explicit</a:t>
            </a:r>
          </a:p>
          <a:p>
            <a:pPr marL="785813" lvl="1" indent="-32226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400" dirty="0"/>
              <a:t>E.g., architectural description with rationale </a:t>
            </a:r>
          </a:p>
          <a:p>
            <a:pPr marL="785813" lvl="1" indent="-32226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r>
              <a:rPr lang="en-GB" altLang="en-US" sz="2400" dirty="0"/>
              <a:t>E.g., Use the 4+1 architectural view to represent the architecture</a:t>
            </a:r>
          </a:p>
          <a:p>
            <a:pPr marL="722313" lvl="1" indent="-26511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endParaRPr lang="en-GB" altLang="en-US" sz="2400" dirty="0"/>
          </a:p>
          <a:p>
            <a:pPr marL="722313" lvl="1" indent="-26511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endParaRPr lang="en-GB" altLang="en-US" sz="2400" dirty="0"/>
          </a:p>
          <a:p>
            <a:pPr marL="258763" indent="-265113" defTabSz="457200">
              <a:tabLst>
                <a:tab pos="454025" algn="l"/>
                <a:tab pos="911225" algn="l"/>
                <a:tab pos="1368425" algn="l"/>
                <a:tab pos="1825625" algn="l"/>
                <a:tab pos="2282825" algn="l"/>
                <a:tab pos="2740025" algn="l"/>
                <a:tab pos="3197225" algn="l"/>
                <a:tab pos="3654425" algn="l"/>
                <a:tab pos="4111625" algn="l"/>
                <a:tab pos="4568825" algn="l"/>
                <a:tab pos="5026025" algn="l"/>
                <a:tab pos="5483225" algn="l"/>
                <a:tab pos="5940425" algn="l"/>
                <a:tab pos="6397625" algn="l"/>
                <a:tab pos="6854825" algn="l"/>
                <a:tab pos="7312025" algn="l"/>
                <a:tab pos="7769225" algn="l"/>
                <a:tab pos="8226425" algn="l"/>
                <a:tab pos="8683625" algn="l"/>
                <a:tab pos="9140825" algn="l"/>
              </a:tabLst>
            </a:pPr>
            <a:endParaRPr lang="en-GB" altLang="en-US" sz="1800" b="1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25EB71-9BB8-4305-87B5-35C9CA400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47154"/>
      </p:ext>
    </p:extLst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B926B-C185-4551-A6E6-BF757EB91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FF9E6-FD25-4AE5-BFF1-D67A7CCFE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we make our design decision, we need to manifest the design concept as </a:t>
            </a:r>
            <a:r>
              <a:rPr lang="en-US" b="1" dirty="0"/>
              <a:t>explicit artifacts (i.e., representation) </a:t>
            </a:r>
            <a:r>
              <a:rPr lang="en-US" dirty="0"/>
              <a:t>to communicate with stakeholders </a:t>
            </a:r>
          </a:p>
          <a:p>
            <a:pPr lvl="1"/>
            <a:r>
              <a:rPr lang="en-US" dirty="0"/>
              <a:t>e.g., your team members and your customers or users to address their concerns on the non-functional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D4E6B-837D-423B-879F-9F2BAA166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227636"/>
      </p:ext>
    </p:extLst>
  </p:cSld>
  <p:clrMapOvr>
    <a:masterClrMapping/>
  </p:clrMapOvr>
  <p:transition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762" name="Rectangle 2">
            <a:extLst>
              <a:ext uri="{FF2B5EF4-FFF2-40B4-BE49-F238E27FC236}">
                <a16:creationId xmlns:a16="http://schemas.microsoft.com/office/drawing/2014/main" id="{79C15397-E805-46E8-8A6D-1A5B7A6F4B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2749" y="266700"/>
            <a:ext cx="9490075" cy="1104900"/>
          </a:xfrm>
        </p:spPr>
        <p:txBody>
          <a:bodyPr/>
          <a:lstStyle/>
          <a:p>
            <a:r>
              <a:rPr lang="en-US" altLang="en-US" dirty="0"/>
              <a:t>Architecture presentations in practice</a:t>
            </a:r>
          </a:p>
        </p:txBody>
      </p:sp>
      <p:sp>
        <p:nvSpPr>
          <p:cNvPr id="885763" name="Rectangle 3">
            <a:extLst>
              <a:ext uri="{FF2B5EF4-FFF2-40B4-BE49-F238E27FC236}">
                <a16:creationId xmlns:a16="http://schemas.microsoft.com/office/drawing/2014/main" id="{A6E00976-0144-49A1-8126-B1F0536809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dirty="0"/>
              <a:t>By and large two flavors:</a:t>
            </a:r>
          </a:p>
          <a:p>
            <a:pPr marL="742950" lvl="1" indent="-285750"/>
            <a:r>
              <a:rPr lang="en-US" altLang="en-US" dirty="0" err="1"/>
              <a:t>Powerpoint</a:t>
            </a:r>
            <a:r>
              <a:rPr lang="en-US" altLang="en-US" dirty="0"/>
              <a:t> slides – for managers, users, consultants, </a:t>
            </a:r>
            <a:r>
              <a:rPr lang="en-US" altLang="en-US" dirty="0" err="1"/>
              <a:t>etc</a:t>
            </a:r>
            <a:endParaRPr lang="en-US" altLang="en-US" dirty="0"/>
          </a:p>
          <a:p>
            <a:pPr marL="742950" lvl="1" indent="-285750"/>
            <a:r>
              <a:rPr lang="en-US" altLang="en-US" dirty="0"/>
              <a:t>UML diagrams, for technicians</a:t>
            </a:r>
          </a:p>
          <a:p>
            <a:pPr marL="342900" indent="-342900"/>
            <a:endParaRPr lang="en-US" altLang="en-US" dirty="0"/>
          </a:p>
          <a:p>
            <a:pPr marL="342900" indent="-342900"/>
            <a:r>
              <a:rPr lang="en-US" altLang="en-US" dirty="0"/>
              <a:t>See an example … see the next slide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1297A6-6B35-49BF-A6D4-8AE57737F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86</a:t>
            </a:fld>
            <a:endParaRPr lang="en-US"/>
          </a:p>
        </p:txBody>
      </p:sp>
    </p:spTree>
  </p:cSld>
  <p:clrMapOvr>
    <a:masterClrMapping/>
  </p:clrMapOvr>
  <p:transition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7810" name="Object 2">
            <a:extLst>
              <a:ext uri="{FF2B5EF4-FFF2-40B4-BE49-F238E27FC236}">
                <a16:creationId xmlns:a16="http://schemas.microsoft.com/office/drawing/2014/main" id="{BBE437FA-A7BD-4883-ADE0-2E6D1EBDF8A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0249431"/>
              </p:ext>
            </p:extLst>
          </p:nvPr>
        </p:nvGraphicFramePr>
        <p:xfrm>
          <a:off x="836612" y="1447800"/>
          <a:ext cx="8229600" cy="5218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3" imgW="5544324" imgH="3409524" progId="Paint.Picture">
                  <p:embed/>
                </p:oleObj>
              </mc:Choice>
              <mc:Fallback>
                <p:oleObj name="Bitmap Image" r:id="rId3" imgW="5544324" imgH="3409524" progId="Paint.Picture">
                  <p:embed/>
                  <p:pic>
                    <p:nvPicPr>
                      <p:cNvPr id="887810" name="Object 2">
                        <a:extLst>
                          <a:ext uri="{FF2B5EF4-FFF2-40B4-BE49-F238E27FC236}">
                            <a16:creationId xmlns:a16="http://schemas.microsoft.com/office/drawing/2014/main" id="{BBE437FA-A7BD-4883-ADE0-2E6D1EBDF8A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612" y="1447800"/>
                        <a:ext cx="8229600" cy="52181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877C0DF7-613C-4D79-B91F-F446CC3A0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D58E8-F102-4F43-8FD1-E1E9160DC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18AFE-0C80-2DAA-E1AD-B8EA1477C447}"/>
              </a:ext>
            </a:extLst>
          </p:cNvPr>
          <p:cNvSpPr txBox="1"/>
          <p:nvPr/>
        </p:nvSpPr>
        <p:spPr>
          <a:xfrm>
            <a:off x="2817811" y="0"/>
            <a:ext cx="70850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sz="2000" dirty="0"/>
              <a:t>The diagram is an administrator’s view. </a:t>
            </a:r>
          </a:p>
          <a:p>
            <a:r>
              <a:rPr lang="en-HK" sz="2000" dirty="0"/>
              <a:t>An accountant’s view will be very different as the accountant is concerned with how the transaction money flows in the system and matches up.</a:t>
            </a:r>
          </a:p>
        </p:txBody>
      </p:sp>
    </p:spTree>
  </p:cSld>
  <p:clrMapOvr>
    <a:masterClrMapping/>
  </p:clrMapOvr>
  <p:transition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050" name="Rectangle 2">
            <a:extLst>
              <a:ext uri="{FF2B5EF4-FFF2-40B4-BE49-F238E27FC236}">
                <a16:creationId xmlns:a16="http://schemas.microsoft.com/office/drawing/2014/main" id="{765A620A-F6DD-401B-8CBC-5C71D29E88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As a result…</a:t>
            </a:r>
          </a:p>
        </p:txBody>
      </p:sp>
      <p:sp>
        <p:nvSpPr>
          <p:cNvPr id="898051" name="Rectangle 3">
            <a:extLst>
              <a:ext uri="{FF2B5EF4-FFF2-40B4-BE49-F238E27FC236}">
                <a16:creationId xmlns:a16="http://schemas.microsoft.com/office/drawing/2014/main" id="{D5113112-9C8C-4FD8-AF96-1A642C377A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dirty="0"/>
              <a:t>Different representations</a:t>
            </a:r>
          </a:p>
          <a:p>
            <a:pPr marL="806450" lvl="1" indent="-342900"/>
            <a:r>
              <a:rPr lang="en-US" altLang="en-US" dirty="0"/>
              <a:t>For different people</a:t>
            </a:r>
          </a:p>
          <a:p>
            <a:pPr marL="806450" lvl="1" indent="-342900"/>
            <a:r>
              <a:rPr lang="en-US" altLang="en-US" dirty="0"/>
              <a:t>For different purposes</a:t>
            </a:r>
          </a:p>
          <a:p>
            <a:pPr marL="342900" indent="-342900"/>
            <a:endParaRPr lang="en-US" altLang="en-US" dirty="0"/>
          </a:p>
          <a:p>
            <a:pPr marL="342900" indent="-342900"/>
            <a:r>
              <a:rPr lang="en-US" altLang="en-US" dirty="0"/>
              <a:t>These representations are both descriptive and prescriptive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268B4E-5DE4-4A21-BD03-BDAD35DE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88</a:t>
            </a:fld>
            <a:endParaRPr lang="en-US"/>
          </a:p>
        </p:txBody>
      </p:sp>
    </p:spTree>
  </p:cSld>
  <p:clrMapOvr>
    <a:masterClrMapping/>
  </p:clrMapOvr>
  <p:transition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338" name="Rectangle 2">
            <a:extLst>
              <a:ext uri="{FF2B5EF4-FFF2-40B4-BE49-F238E27FC236}">
                <a16:creationId xmlns:a16="http://schemas.microsoft.com/office/drawing/2014/main" id="{FBFBF084-31BF-4C45-9282-3174458171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e.g., The 4+1 view model</a:t>
            </a:r>
            <a:br>
              <a:rPr lang="en-US" altLang="en-US" dirty="0"/>
            </a:br>
            <a:r>
              <a:rPr lang="en-US" altLang="en-US" sz="2400" dirty="0"/>
              <a:t>[https://en.wikipedia.org/wiki/4%2B1_architectural_view_model]</a:t>
            </a:r>
            <a:endParaRPr lang="en-US" altLang="en-US" dirty="0"/>
          </a:p>
        </p:txBody>
      </p:sp>
      <p:sp>
        <p:nvSpPr>
          <p:cNvPr id="910339" name="Rectangle 3">
            <a:extLst>
              <a:ext uri="{FF2B5EF4-FFF2-40B4-BE49-F238E27FC236}">
                <a16:creationId xmlns:a16="http://schemas.microsoft.com/office/drawing/2014/main" id="{323BD783-1F46-4761-86F3-7ED8863D1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3625" y="2309813"/>
            <a:ext cx="91440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graphicFrame>
        <p:nvGraphicFramePr>
          <p:cNvPr id="910340" name="Object 4">
            <a:extLst>
              <a:ext uri="{FF2B5EF4-FFF2-40B4-BE49-F238E27FC236}">
                <a16:creationId xmlns:a16="http://schemas.microsoft.com/office/drawing/2014/main" id="{67211173-56D4-4663-84B5-70E058E14BB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13012" y="1847851"/>
          <a:ext cx="4953000" cy="4111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571920" imgH="2971800" progId="Word.Picture.8">
                  <p:embed/>
                </p:oleObj>
              </mc:Choice>
              <mc:Fallback>
                <p:oleObj name="Picture" r:id="rId3" imgW="3571920" imgH="2971800" progId="Word.Picture.8">
                  <p:embed/>
                  <p:pic>
                    <p:nvPicPr>
                      <p:cNvPr id="910340" name="Object 4">
                        <a:extLst>
                          <a:ext uri="{FF2B5EF4-FFF2-40B4-BE49-F238E27FC236}">
                            <a16:creationId xmlns:a16="http://schemas.microsoft.com/office/drawing/2014/main" id="{67211173-56D4-4663-84B5-70E058E14BB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3012" y="1847851"/>
                        <a:ext cx="4953000" cy="4111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7C8D22-0992-451A-B2F6-2FF47D2E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5598A2-17A2-444F-952B-9804449BE04B}" type="slidenum">
              <a:rPr lang="en-US" smtClean="0"/>
              <a:pPr>
                <a:defRPr/>
              </a:pPr>
              <a:t>89</a:t>
            </a:fld>
            <a:endParaRPr lang="en-US"/>
          </a:p>
        </p:txBody>
      </p:sp>
    </p:spTree>
  </p:cSld>
  <p:clrMapOvr>
    <a:masterClrMapping/>
  </p:clrMapOvr>
  <p:transition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97353-BEC0-4A32-9222-8BCE3237B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 4+1 view model in UML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2B386-BB6A-42AA-9154-5930AB207F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Logical view</a:t>
            </a:r>
          </a:p>
          <a:p>
            <a:pPr lvl="1"/>
            <a:r>
              <a:rPr lang="en-US" sz="2400" dirty="0"/>
              <a:t>Class diagram, sequence diagram, state diagrams</a:t>
            </a:r>
          </a:p>
          <a:p>
            <a:r>
              <a:rPr lang="en-US" sz="2800" dirty="0"/>
              <a:t>Implementation/Development view</a:t>
            </a:r>
          </a:p>
          <a:p>
            <a:pPr lvl="1"/>
            <a:r>
              <a:rPr lang="en-US" sz="2400" dirty="0"/>
              <a:t>Component diagram, package diagram</a:t>
            </a:r>
          </a:p>
          <a:p>
            <a:r>
              <a:rPr lang="en-US" sz="2800" dirty="0"/>
              <a:t>Process view </a:t>
            </a:r>
          </a:p>
          <a:p>
            <a:pPr lvl="1"/>
            <a:r>
              <a:rPr lang="en-US" sz="2400" dirty="0"/>
              <a:t>Activity diagram</a:t>
            </a:r>
          </a:p>
          <a:p>
            <a:r>
              <a:rPr lang="en-US" sz="2800" dirty="0"/>
              <a:t>Deployment/Physical view </a:t>
            </a:r>
          </a:p>
          <a:p>
            <a:pPr lvl="1"/>
            <a:r>
              <a:rPr lang="en-US" sz="2400" dirty="0"/>
              <a:t>Deployment diagram</a:t>
            </a:r>
          </a:p>
          <a:p>
            <a:r>
              <a:rPr lang="en-US" sz="2800" dirty="0"/>
              <a:t>Scenario</a:t>
            </a:r>
          </a:p>
          <a:p>
            <a:pPr lvl="1"/>
            <a:r>
              <a:rPr lang="en-US" sz="2400" dirty="0"/>
              <a:t>Use case diagram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8683B-4AE5-40D2-B30C-F2CC49153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168457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D2AD-F382-4D20-B48B-38997EF4C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A26F8-6752-4978-AE86-2F1BE11D1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 of Software Architecture</a:t>
            </a:r>
          </a:p>
          <a:p>
            <a:r>
              <a:rPr lang="en-US" dirty="0"/>
              <a:t>Driver of Software Architecture </a:t>
            </a:r>
          </a:p>
          <a:p>
            <a:r>
              <a:rPr lang="en-US" dirty="0"/>
              <a:t>Quality Attributes and Patterns/Tactics </a:t>
            </a:r>
          </a:p>
          <a:p>
            <a:r>
              <a:rPr lang="en-US" dirty="0"/>
              <a:t>Attribute-Driven Design </a:t>
            </a:r>
          </a:p>
          <a:p>
            <a:r>
              <a:rPr lang="en-US" dirty="0"/>
              <a:t>Taking Decisions</a:t>
            </a:r>
          </a:p>
          <a:p>
            <a:r>
              <a:rPr lang="en-US" b="1" dirty="0"/>
              <a:t>Architectural Styles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78A5F-E43D-4611-96F3-3FE3FF641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805720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658" name="Rectangle 2">
            <a:extLst>
              <a:ext uri="{FF2B5EF4-FFF2-40B4-BE49-F238E27FC236}">
                <a16:creationId xmlns:a16="http://schemas.microsoft.com/office/drawing/2014/main" id="{8030CF87-2A1E-4880-A5AB-EF4A384BA6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1812" y="228600"/>
            <a:ext cx="7772400" cy="1143000"/>
          </a:xfrm>
        </p:spPr>
        <p:txBody>
          <a:bodyPr/>
          <a:lstStyle/>
          <a:p>
            <a:r>
              <a:rPr lang="en-US" altLang="en-US" dirty="0"/>
              <a:t>Architectural styles</a:t>
            </a:r>
          </a:p>
        </p:txBody>
      </p:sp>
      <p:sp>
        <p:nvSpPr>
          <p:cNvPr id="710659" name="Rectangle 3">
            <a:extLst>
              <a:ext uri="{FF2B5EF4-FFF2-40B4-BE49-F238E27FC236}">
                <a16:creationId xmlns:a16="http://schemas.microsoft.com/office/drawing/2014/main" id="{93A0B2C2-2F99-44DC-A21E-FC56DCBE32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18504" y="1371600"/>
            <a:ext cx="9036050" cy="4953000"/>
          </a:xfrm>
        </p:spPr>
        <p:txBody>
          <a:bodyPr/>
          <a:lstStyle/>
          <a:p>
            <a:pPr marL="342900" indent="-342900"/>
            <a:r>
              <a:rPr lang="en-US" altLang="en-US" sz="2800" dirty="0"/>
              <a:t>An architectural style is a description of </a:t>
            </a:r>
            <a:r>
              <a:rPr lang="en-US" altLang="en-US" sz="2800" b="1" dirty="0"/>
              <a:t>component and connector types </a:t>
            </a:r>
            <a:r>
              <a:rPr lang="en-US" altLang="en-US" sz="2800" dirty="0"/>
              <a:t>and a pattern of their runtime control and/or data transfer.</a:t>
            </a:r>
          </a:p>
          <a:p>
            <a:pPr marL="806450" lvl="1" indent="-342900"/>
            <a:r>
              <a:rPr lang="en-US" altLang="en-US" sz="2400" dirty="0"/>
              <a:t>No formal concept for what is a component and what is a connector</a:t>
            </a:r>
          </a:p>
          <a:p>
            <a:pPr marL="806450" lvl="1" indent="-342900"/>
            <a:r>
              <a:rPr lang="en-US" altLang="en-US" sz="2400" dirty="0"/>
              <a:t>Learn by examples</a:t>
            </a:r>
            <a:endParaRPr lang="en-US" altLang="en-US" sz="2800" dirty="0"/>
          </a:p>
          <a:p>
            <a:pPr marL="342900" indent="-342900"/>
            <a:r>
              <a:rPr lang="en-US" altLang="en-US" sz="2800" dirty="0"/>
              <a:t>Examples from </a:t>
            </a:r>
          </a:p>
          <a:p>
            <a:pPr marL="0" indent="0">
              <a:buNone/>
            </a:pPr>
            <a:r>
              <a:rPr lang="en-US" altLang="en-US" sz="2800" dirty="0"/>
              <a:t>    Wikipedia</a:t>
            </a:r>
          </a:p>
          <a:p>
            <a:pPr marL="0" indent="0">
              <a:buNone/>
            </a:pPr>
            <a:endParaRPr lang="en-US" altLang="en-US" sz="2800" dirty="0"/>
          </a:p>
          <a:p>
            <a:pPr marL="0" indent="0">
              <a:buNone/>
            </a:pPr>
            <a:endParaRPr lang="en-US" alt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E7F3BA-BCDC-4198-B93F-22C2AAD8F8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565" y="3124200"/>
            <a:ext cx="3567719" cy="3124200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C52165B2-B1BA-4F8E-9A5D-0D1DBE43C5D1}"/>
              </a:ext>
            </a:extLst>
          </p:cNvPr>
          <p:cNvSpPr/>
          <p:nvPr/>
        </p:nvSpPr>
        <p:spPr bwMode="auto">
          <a:xfrm>
            <a:off x="3656012" y="4267200"/>
            <a:ext cx="1143000" cy="533400"/>
          </a:xfrm>
          <a:prstGeom prst="rightArrow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5A3366-3B4C-473A-9502-870D482B1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92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9B390B-A906-4D1F-B903-9DDB6C7CC6B7}"/>
              </a:ext>
            </a:extLst>
          </p:cNvPr>
          <p:cNvSpPr/>
          <p:nvPr/>
        </p:nvSpPr>
        <p:spPr>
          <a:xfrm>
            <a:off x="201611" y="5994484"/>
            <a:ext cx="4949825" cy="25391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050" dirty="0"/>
              <a:t>https://en.wikipedia.org/wiki/List_of_software_architecture_styles_and_patterns</a:t>
            </a:r>
          </a:p>
        </p:txBody>
      </p:sp>
    </p:spTree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97310-698D-44EF-A000-F458C558A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750" y="266700"/>
            <a:ext cx="9567862" cy="1104900"/>
          </a:xfrm>
        </p:spPr>
        <p:txBody>
          <a:bodyPr/>
          <a:lstStyle/>
          <a:p>
            <a:r>
              <a:rPr lang="en-US" dirty="0"/>
              <a:t>Basic Kinds of Architecture Style [11]</a:t>
            </a:r>
            <a:endParaRPr lang="en-HK" dirty="0"/>
          </a:p>
        </p:txBody>
      </p:sp>
      <p:pic>
        <p:nvPicPr>
          <p:cNvPr id="6" name="Content Placeholder 5" descr="Table&#10;&#10;Description automatically generated">
            <a:extLst>
              <a:ext uri="{FF2B5EF4-FFF2-40B4-BE49-F238E27FC236}">
                <a16:creationId xmlns:a16="http://schemas.microsoft.com/office/drawing/2014/main" id="{744599A3-800D-4AFC-AC60-975ACB3F86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846"/>
          <a:stretch/>
        </p:blipFill>
        <p:spPr>
          <a:xfrm>
            <a:off x="1979612" y="1676400"/>
            <a:ext cx="5732519" cy="42672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8BF7D-7C2D-4D5C-9F69-FCAFB246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93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3A83BD3-4DD4-4545-AA8F-230FAB179328}"/>
              </a:ext>
            </a:extLst>
          </p:cNvPr>
          <p:cNvSpPr/>
          <p:nvPr/>
        </p:nvSpPr>
        <p:spPr bwMode="auto">
          <a:xfrm rot="10800000">
            <a:off x="6323012" y="2209800"/>
            <a:ext cx="457200" cy="228600"/>
          </a:xfrm>
          <a:prstGeom prst="rightArrow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79E4F88-B9E4-4F1A-A019-8E9E1B6CED12}"/>
              </a:ext>
            </a:extLst>
          </p:cNvPr>
          <p:cNvSpPr/>
          <p:nvPr/>
        </p:nvSpPr>
        <p:spPr bwMode="auto">
          <a:xfrm rot="10800000">
            <a:off x="6399212" y="2800349"/>
            <a:ext cx="457200" cy="228600"/>
          </a:xfrm>
          <a:prstGeom prst="rightArrow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596DB3A-8C8D-495A-81FC-74EA8D3F5B85}"/>
              </a:ext>
            </a:extLst>
          </p:cNvPr>
          <p:cNvSpPr/>
          <p:nvPr/>
        </p:nvSpPr>
        <p:spPr bwMode="auto">
          <a:xfrm rot="10800000">
            <a:off x="6704012" y="4343400"/>
            <a:ext cx="457200" cy="228600"/>
          </a:xfrm>
          <a:prstGeom prst="rightArrow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26BCFF96-C4CD-4458-A3B3-9A2053CCF2D1}"/>
              </a:ext>
            </a:extLst>
          </p:cNvPr>
          <p:cNvSpPr/>
          <p:nvPr/>
        </p:nvSpPr>
        <p:spPr bwMode="auto">
          <a:xfrm rot="10800000">
            <a:off x="6551612" y="4762501"/>
            <a:ext cx="457200" cy="228600"/>
          </a:xfrm>
          <a:prstGeom prst="rightArrow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CEED6DFB-A19A-4C9A-9793-508C551105DF}"/>
              </a:ext>
            </a:extLst>
          </p:cNvPr>
          <p:cNvSpPr/>
          <p:nvPr/>
        </p:nvSpPr>
        <p:spPr bwMode="auto">
          <a:xfrm rot="10800000">
            <a:off x="6292848" y="5105400"/>
            <a:ext cx="457200" cy="228600"/>
          </a:xfrm>
          <a:prstGeom prst="rightArrow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BA1E7F68-4E63-4911-89F1-75FBC0BA96B1}"/>
              </a:ext>
            </a:extLst>
          </p:cNvPr>
          <p:cNvSpPr/>
          <p:nvPr/>
        </p:nvSpPr>
        <p:spPr bwMode="auto">
          <a:xfrm rot="10800000">
            <a:off x="6335710" y="5638800"/>
            <a:ext cx="457200" cy="228600"/>
          </a:xfrm>
          <a:prstGeom prst="rightArrow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2554EF-D070-4E3A-8A31-239CB2BE17DA}"/>
              </a:ext>
            </a:extLst>
          </p:cNvPr>
          <p:cNvSpPr txBox="1"/>
          <p:nvPr/>
        </p:nvSpPr>
        <p:spPr>
          <a:xfrm>
            <a:off x="1849274" y="6020126"/>
            <a:ext cx="6631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many more: e.g., model-view-controller</a:t>
            </a:r>
            <a:endParaRPr lang="en-HK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88F0A81-56BA-4FB4-8ACC-69B2EF67391A}"/>
              </a:ext>
            </a:extLst>
          </p:cNvPr>
          <p:cNvSpPr/>
          <p:nvPr/>
        </p:nvSpPr>
        <p:spPr bwMode="auto">
          <a:xfrm rot="10800000">
            <a:off x="8458994" y="6243472"/>
            <a:ext cx="457200" cy="228600"/>
          </a:xfrm>
          <a:prstGeom prst="rightArrow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HK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5294339"/>
      </p:ext>
    </p:extLst>
  </p:cSld>
  <p:clrMapOvr>
    <a:masterClrMapping/>
  </p:clrMapOvr>
  <p:transition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4025D-CEBA-49BA-B3BB-FEA051A3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Blackboard 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75665-9015-423E-9133-3EED07E45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676400"/>
            <a:ext cx="5224462" cy="4953000"/>
          </a:xfrm>
        </p:spPr>
        <p:txBody>
          <a:bodyPr/>
          <a:lstStyle/>
          <a:p>
            <a:r>
              <a:rPr lang="en-US" sz="2400" b="0" i="0" dirty="0">
                <a:solidFill>
                  <a:srgbClr val="202122"/>
                </a:solidFill>
                <a:effectLst/>
              </a:rPr>
              <a:t>Blackboard (BB)</a:t>
            </a:r>
          </a:p>
          <a:p>
            <a:pPr lvl="1"/>
            <a:r>
              <a:rPr lang="en-US" sz="2000" dirty="0">
                <a:solidFill>
                  <a:srgbClr val="202122"/>
                </a:solidFill>
              </a:rPr>
              <a:t>Data: problem and partial solution. </a:t>
            </a:r>
            <a:endParaRPr lang="en-US" sz="2000" b="0" i="0" dirty="0">
              <a:solidFill>
                <a:srgbClr val="202122"/>
              </a:solidFill>
              <a:effectLst/>
            </a:endParaRPr>
          </a:p>
          <a:p>
            <a:r>
              <a:rPr lang="en-US" sz="2400" dirty="0">
                <a:solidFill>
                  <a:srgbClr val="202122"/>
                </a:solidFill>
              </a:rPr>
              <a:t>K</a:t>
            </a:r>
            <a:r>
              <a:rPr lang="en-US" sz="2400" b="0" i="0" dirty="0">
                <a:solidFill>
                  <a:srgbClr val="202122"/>
                </a:solidFill>
                <a:effectLst/>
              </a:rPr>
              <a:t>nowledge source (KS)</a:t>
            </a:r>
          </a:p>
          <a:p>
            <a:pPr lvl="1"/>
            <a:r>
              <a:rPr lang="en-US" sz="2000" dirty="0">
                <a:solidFill>
                  <a:srgbClr val="202122"/>
                </a:solidFill>
              </a:rPr>
              <a:t>S</a:t>
            </a:r>
            <a:r>
              <a:rPr lang="en-US" sz="2000" b="0" i="0" dirty="0">
                <a:solidFill>
                  <a:srgbClr val="202122"/>
                </a:solidFill>
                <a:effectLst/>
              </a:rPr>
              <a:t>pecialized modules, each providing a solution to some part of the entire problem. </a:t>
            </a:r>
          </a:p>
          <a:p>
            <a:pPr lvl="1"/>
            <a:r>
              <a:rPr lang="en-US" sz="2000" dirty="0">
                <a:solidFill>
                  <a:srgbClr val="202122"/>
                </a:solidFill>
              </a:rPr>
              <a:t>Condition() checks whether the module can contribute to the BB</a:t>
            </a:r>
          </a:p>
          <a:p>
            <a:pPr lvl="1"/>
            <a:r>
              <a:rPr lang="en-US" sz="2000" b="0" i="0" dirty="0">
                <a:solidFill>
                  <a:srgbClr val="202122"/>
                </a:solidFill>
                <a:effectLst/>
              </a:rPr>
              <a:t>Acti</a:t>
            </a:r>
            <a:r>
              <a:rPr lang="en-US" sz="2000" dirty="0">
                <a:solidFill>
                  <a:srgbClr val="202122"/>
                </a:solidFill>
              </a:rPr>
              <a:t>on() updates BB.</a:t>
            </a:r>
            <a:endParaRPr lang="en-US" sz="2000" b="0" i="0" dirty="0">
              <a:solidFill>
                <a:srgbClr val="202122"/>
              </a:solidFill>
              <a:effectLst/>
            </a:endParaRPr>
          </a:p>
          <a:p>
            <a:r>
              <a:rPr lang="en-US" sz="2800" b="0" i="0" dirty="0">
                <a:solidFill>
                  <a:srgbClr val="202122"/>
                </a:solidFill>
                <a:effectLst/>
              </a:rPr>
              <a:t>Control</a:t>
            </a:r>
          </a:p>
          <a:p>
            <a:pPr lvl="1"/>
            <a:r>
              <a:rPr lang="en-US" sz="2000" b="0" i="0" dirty="0">
                <a:solidFill>
                  <a:srgbClr val="202122"/>
                </a:solidFill>
                <a:effectLst/>
              </a:rPr>
              <a:t>Periodically monitor changes on BB</a:t>
            </a:r>
          </a:p>
          <a:p>
            <a:pPr lvl="1"/>
            <a:r>
              <a:rPr lang="en-US" sz="2000" dirty="0">
                <a:solidFill>
                  <a:srgbClr val="202122"/>
                </a:solidFill>
              </a:rPr>
              <a:t>On identifying changes, decide KS to be selected and executed.</a:t>
            </a:r>
            <a:endParaRPr lang="en-US" sz="2000" b="0" i="0" dirty="0">
              <a:solidFill>
                <a:srgbClr val="202122"/>
              </a:solidFill>
              <a:effectLst/>
            </a:endParaRPr>
          </a:p>
          <a:p>
            <a:endParaRPr lang="en-HK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BC994-AE9C-433E-8536-7ED8EE439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94</a:t>
            </a:fld>
            <a:endParaRPr lang="en-US"/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E271121B-2DBD-834C-1A8C-867F4C8EB0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01" t="13200" r="17999" b="13200"/>
          <a:stretch/>
        </p:blipFill>
        <p:spPr bwMode="auto">
          <a:xfrm>
            <a:off x="5750322" y="838200"/>
            <a:ext cx="3355182" cy="19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iagram of a software development process&#10;&#10;Description automatically generated">
            <a:extLst>
              <a:ext uri="{FF2B5EF4-FFF2-40B4-BE49-F238E27FC236}">
                <a16:creationId xmlns:a16="http://schemas.microsoft.com/office/drawing/2014/main" id="{EEFA7077-6DFA-C205-02CE-4886A1F2BE0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87" t="1" b="1502"/>
          <a:stretch/>
        </p:blipFill>
        <p:spPr>
          <a:xfrm>
            <a:off x="5469980" y="3182740"/>
            <a:ext cx="4020095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536310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A5C88-5B3B-465C-891C-E28E29A3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and variant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CBF9E-B650-45D9-A5E8-CB4DC86D9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Client-server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Master-slave 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218CD-3B2B-41DA-9069-9C12BFC9A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95</a:t>
            </a:fld>
            <a:endParaRPr lang="en-US"/>
          </a:p>
        </p:txBody>
      </p:sp>
      <p:pic>
        <p:nvPicPr>
          <p:cNvPr id="118786" name="Picture 2">
            <a:extLst>
              <a:ext uri="{FF2B5EF4-FFF2-40B4-BE49-F238E27FC236}">
                <a16:creationId xmlns:a16="http://schemas.microsoft.com/office/drawing/2014/main" id="{77868473-ACA7-49F7-B392-D0DAB7EFB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2612" y="1770848"/>
            <a:ext cx="23812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8788" name="Picture 4">
            <a:extLst>
              <a:ext uri="{FF2B5EF4-FFF2-40B4-BE49-F238E27FC236}">
                <a16:creationId xmlns:a16="http://schemas.microsoft.com/office/drawing/2014/main" id="{B4BD7B17-BCAC-4ED4-8F3C-F5F7F2323C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212" y="4248150"/>
            <a:ext cx="5162550" cy="201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iagram of a service description&#10;&#10;Description automatically generated">
            <a:extLst>
              <a:ext uri="{FF2B5EF4-FFF2-40B4-BE49-F238E27FC236}">
                <a16:creationId xmlns:a16="http://schemas.microsoft.com/office/drawing/2014/main" id="{5F11D610-3798-5B05-850B-C5167557A90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4647398"/>
            <a:ext cx="3808413" cy="1982002"/>
          </a:xfrm>
          <a:prstGeom prst="rect">
            <a:avLst/>
          </a:prstGeom>
        </p:spPr>
      </p:pic>
      <p:pic>
        <p:nvPicPr>
          <p:cNvPr id="12" name="Picture 11" descr="A diagram of a mail&#10;&#10;Description automatically generated">
            <a:extLst>
              <a:ext uri="{FF2B5EF4-FFF2-40B4-BE49-F238E27FC236}">
                <a16:creationId xmlns:a16="http://schemas.microsoft.com/office/drawing/2014/main" id="{6B88C907-8A72-B7EA-F81A-558F7CCBCC6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356" y="1235770"/>
            <a:ext cx="2593139" cy="2670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307176"/>
      </p:ext>
    </p:extLst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DE757-B2DD-4F41-913D-B832381F6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Event-bus/</a:t>
            </a:r>
            <a:r>
              <a:rPr lang="en-HK" i="0" dirty="0">
                <a:solidFill>
                  <a:srgbClr val="C00000"/>
                </a:solidFill>
                <a:effectLst/>
                <a:latin typeface="+mn-lt"/>
              </a:rPr>
              <a:t>Publish–subscribe pattern</a:t>
            </a:r>
            <a:endParaRPr lang="en-HK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B58520-FF85-4C6F-BBF9-5D627AB6A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Source publishes an event to a channel</a:t>
            </a:r>
          </a:p>
          <a:p>
            <a:r>
              <a:rPr lang="en-US" dirty="0"/>
              <a:t>Channels are grouped into bus</a:t>
            </a:r>
          </a:p>
          <a:p>
            <a:r>
              <a:rPr lang="en-US" dirty="0"/>
              <a:t>Subscriber subscribes to a channel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1DE2B-E95A-4BF5-9F19-6F7CEFF7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96</a:t>
            </a:fld>
            <a:endParaRPr lang="en-US"/>
          </a:p>
        </p:txBody>
      </p:sp>
      <p:pic>
        <p:nvPicPr>
          <p:cNvPr id="119810" name="Picture 2">
            <a:extLst>
              <a:ext uri="{FF2B5EF4-FFF2-40B4-BE49-F238E27FC236}">
                <a16:creationId xmlns:a16="http://schemas.microsoft.com/office/drawing/2014/main" id="{836C326E-A4A9-4EC3-A602-F693619510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0412" y="3619500"/>
            <a:ext cx="4589352" cy="293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B37A8-C870-691B-3F66-B70EB936D9D8}"/>
              </a:ext>
            </a:extLst>
          </p:cNvPr>
          <p:cNvSpPr txBox="1"/>
          <p:nvPr/>
        </p:nvSpPr>
        <p:spPr>
          <a:xfrm>
            <a:off x="2055812" y="4917073"/>
            <a:ext cx="2667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HK" sz="1600" i="0" dirty="0">
                <a:solidFill>
                  <a:srgbClr val="171717"/>
                </a:solidFill>
                <a:effectLst/>
                <a:latin typeface="+mj-lt"/>
              </a:rPr>
              <a:t>e.g., Azure Service Bus queue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2B39B7-D4A1-C8CA-4CFC-975C96C56999}"/>
              </a:ext>
            </a:extLst>
          </p:cNvPr>
          <p:cNvSpPr txBox="1"/>
          <p:nvPr/>
        </p:nvSpPr>
        <p:spPr>
          <a:xfrm>
            <a:off x="0" y="6386945"/>
            <a:ext cx="8578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Watch online videos. Too lengthy to introduce in the class.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3212211419"/>
      </p:ext>
    </p:extLst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BF9FB-89DD-476E-8E90-19C61C16A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Pipe-and-Filter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E0752-4FD3-4CE3-AFBD-8DD6C531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65FA4F-EDD0-4B15-A61D-EFFA162CD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00" y="1752600"/>
            <a:ext cx="7600950" cy="37623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8801B3-60A0-4EC0-BDBB-705BB26BC1FD}"/>
              </a:ext>
            </a:extLst>
          </p:cNvPr>
          <p:cNvSpPr txBox="1"/>
          <p:nvPr/>
        </p:nvSpPr>
        <p:spPr>
          <a:xfrm>
            <a:off x="1065212" y="5486400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800" dirty="0"/>
              <a:t>https://docs.microsoft.com/en-us/azure/architecture/patterns/pipes-and-filters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8249A1-83E2-4DB0-A836-D7BCDCC35D22}"/>
              </a:ext>
            </a:extLst>
          </p:cNvPr>
          <p:cNvSpPr txBox="1"/>
          <p:nvPr/>
        </p:nvSpPr>
        <p:spPr>
          <a:xfrm>
            <a:off x="303212" y="5923746"/>
            <a:ext cx="8610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From source 1 to the transformed data, the data goes through a series of transformations (tasks).  </a:t>
            </a:r>
            <a:endParaRPr lang="en-HK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D7662D-4D0B-4C7F-B067-D3940204F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994" y="5410200"/>
            <a:ext cx="1232135" cy="809643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E8C61D1-7E9C-409B-BD55-41650EA1FFFB}"/>
              </a:ext>
            </a:extLst>
          </p:cNvPr>
          <p:cNvCxnSpPr/>
          <p:nvPr/>
        </p:nvCxnSpPr>
        <p:spPr bwMode="auto">
          <a:xfrm flipV="1">
            <a:off x="8151812" y="5923746"/>
            <a:ext cx="381000" cy="296097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9915856"/>
      </p:ext>
    </p:extLst>
  </p:cSld>
  <p:clrMapOvr>
    <a:masterClrMapping/>
  </p:clrMapOvr>
  <p:transition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C9E6-D2B9-41F2-ABF6-6B562CB9C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HK" b="0" i="0" dirty="0">
                <a:solidFill>
                  <a:srgbClr val="292929"/>
                </a:solidFill>
                <a:effectLst/>
                <a:latin typeface="sohne"/>
              </a:rPr>
            </a:br>
            <a:r>
              <a:rPr lang="en-HK" i="0" dirty="0">
                <a:solidFill>
                  <a:srgbClr val="C00000"/>
                </a:solidFill>
                <a:effectLst/>
                <a:latin typeface="+mn-lt"/>
              </a:rPr>
              <a:t>Layered pattern</a:t>
            </a:r>
            <a:endParaRPr lang="en-HK" dirty="0">
              <a:solidFill>
                <a:srgbClr val="C00000"/>
              </a:solidFill>
              <a:latin typeface="+mn-lt"/>
            </a:endParaRPr>
          </a:p>
        </p:txBody>
      </p:sp>
      <p:pic>
        <p:nvPicPr>
          <p:cNvPr id="7" name="Content Placeholder 6" descr="Timeline&#10;&#10;Description automatically generated with medium confidence">
            <a:extLst>
              <a:ext uri="{FF2B5EF4-FFF2-40B4-BE49-F238E27FC236}">
                <a16:creationId xmlns:a16="http://schemas.microsoft.com/office/drawing/2014/main" id="{3C6B047F-73C3-4CB6-B34C-29E6B2D38C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450" y="1828800"/>
            <a:ext cx="2602927" cy="49530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CCDD1-016E-434B-8099-F221C8E72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98</a:t>
            </a:fld>
            <a:endParaRPr lang="en-US"/>
          </a:p>
        </p:txBody>
      </p:sp>
      <p:pic>
        <p:nvPicPr>
          <p:cNvPr id="117762" name="Picture 2">
            <a:extLst>
              <a:ext uri="{FF2B5EF4-FFF2-40B4-BE49-F238E27FC236}">
                <a16:creationId xmlns:a16="http://schemas.microsoft.com/office/drawing/2014/main" id="{6197BD19-9C37-4C7F-B838-AFF10997E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2412" y="1905000"/>
            <a:ext cx="381000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E17014-36D1-4C0B-B540-1191EA561886}"/>
              </a:ext>
            </a:extLst>
          </p:cNvPr>
          <p:cNvSpPr txBox="1"/>
          <p:nvPr/>
        </p:nvSpPr>
        <p:spPr>
          <a:xfrm>
            <a:off x="444500" y="1381780"/>
            <a:ext cx="28568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OSI 7-layer model</a:t>
            </a:r>
            <a:endParaRPr lang="en-HK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6782FB-5EE1-443E-B34E-23B736EF819C}"/>
              </a:ext>
            </a:extLst>
          </p:cNvPr>
          <p:cNvSpPr txBox="1"/>
          <p:nvPr/>
        </p:nvSpPr>
        <p:spPr>
          <a:xfrm>
            <a:off x="5256212" y="1381780"/>
            <a:ext cx="34900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Three-tier architecture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3697667963"/>
      </p:ext>
    </p:extLst>
  </p:cSld>
  <p:clrMapOvr>
    <a:masterClrMapping/>
  </p:clrMapOvr>
  <p:transition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AD92D-17BD-4561-A36F-0FDE3D426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Microkernel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B66E4-D49E-47BA-BAB3-D1065FD6B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core system is a barebone system</a:t>
            </a:r>
          </a:p>
          <a:p>
            <a:r>
              <a:rPr lang="en-US" dirty="0"/>
              <a:t>All other features are provided as plug-in</a:t>
            </a:r>
          </a:p>
          <a:p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7CF41-2F56-4D01-A8EE-7C88A4083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99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429A2-6D51-4369-B8EB-C55F6F369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484" y="3048000"/>
            <a:ext cx="4229316" cy="285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063056"/>
      </p:ext>
    </p:extLst>
  </p:cSld>
  <p:clrMapOvr>
    <a:masterClrMapping/>
  </p:clrMapOvr>
  <p:transition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56AB329-8CD6-D12C-F37C-95FF3E0E5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Microkernel</a:t>
            </a:r>
            <a:endParaRPr lang="en-HK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5A4D95B-9955-A1DE-E9EB-87782A489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4044950"/>
            <a:ext cx="9036050" cy="2584450"/>
          </a:xfrm>
        </p:spPr>
        <p:txBody>
          <a:bodyPr/>
          <a:lstStyle/>
          <a:p>
            <a:pPr marL="342900" lvl="0" indent="-342900" algn="just">
              <a:buFont typeface="Symbol" panose="05050102010706020507" pitchFamily="18" charset="2"/>
              <a:buChar char=""/>
            </a:pPr>
            <a:r>
              <a:rPr lang="en-US" sz="2000" b="0" i="1" kern="100" dirty="0">
                <a:solidFill>
                  <a:srgbClr val="000000"/>
                </a:solidFill>
                <a:effectLst/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Microkernel</a:t>
            </a:r>
            <a:r>
              <a:rPr lang="en-US" sz="2000" b="0" i="0" kern="100" dirty="0">
                <a:solidFill>
                  <a:srgbClr val="000000"/>
                </a:solidFill>
                <a:effectLst/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 provides the core set of functionalities.</a:t>
            </a:r>
            <a:endParaRPr lang="en-HK" sz="20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buFont typeface="Symbol" panose="05050102010706020507" pitchFamily="18" charset="2"/>
              <a:buChar char=""/>
            </a:pPr>
            <a:r>
              <a:rPr lang="en-US" sz="2000" b="0" i="1" kern="100" dirty="0" err="1">
                <a:solidFill>
                  <a:srgbClr val="000000"/>
                </a:solidFill>
                <a:effectLst/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InternalServer</a:t>
            </a:r>
            <a:r>
              <a:rPr lang="en-US" sz="2000" b="0" i="0" kern="100" dirty="0">
                <a:solidFill>
                  <a:srgbClr val="000000"/>
                </a:solidFill>
                <a:effectLst/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 adds additional important functionalities to the microkernel. </a:t>
            </a:r>
            <a:endParaRPr lang="en-HK" sz="20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buFont typeface="Symbol" panose="05050102010706020507" pitchFamily="18" charset="2"/>
              <a:buChar char=""/>
            </a:pPr>
            <a:r>
              <a:rPr lang="en-US" sz="2000" b="0" i="1" kern="100" dirty="0" err="1">
                <a:solidFill>
                  <a:srgbClr val="000000"/>
                </a:solidFill>
                <a:effectLst/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ExternalServer</a:t>
            </a:r>
            <a:r>
              <a:rPr lang="en-US" sz="2000" b="0" i="0" kern="100" dirty="0">
                <a:solidFill>
                  <a:srgbClr val="000000"/>
                </a:solidFill>
                <a:effectLst/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 implements higher level functionality derived from the functionality offered by the microkernel. </a:t>
            </a:r>
            <a:endParaRPr lang="en-HK" sz="20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buFont typeface="Symbol" panose="05050102010706020507" pitchFamily="18" charset="2"/>
              <a:buChar char=""/>
            </a:pPr>
            <a:r>
              <a:rPr lang="en-US" sz="2000" b="0" i="1" kern="100" dirty="0">
                <a:solidFill>
                  <a:srgbClr val="000000"/>
                </a:solidFill>
                <a:effectLst/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Adapter </a:t>
            </a:r>
            <a:r>
              <a:rPr lang="en-US" sz="2000" b="0" i="0" kern="100" dirty="0">
                <a:solidFill>
                  <a:srgbClr val="000000"/>
                </a:solidFill>
                <a:effectLst/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bridges between the user (client) and the system (microkernels and external servers) to handle heterogeneous system components.</a:t>
            </a:r>
          </a:p>
          <a:p>
            <a:pPr marL="342900" indent="-342900" algn="just">
              <a:buFont typeface="Symbol" panose="05050102010706020507" pitchFamily="18" charset="2"/>
              <a:buChar char=""/>
            </a:pPr>
            <a:r>
              <a:rPr lang="en-US" sz="2000" b="1" kern="100" dirty="0">
                <a:solidFill>
                  <a:srgbClr val="000000"/>
                </a:solidFill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Home reading</a:t>
            </a:r>
            <a:r>
              <a:rPr lang="en-US" sz="2000" kern="100" dirty="0">
                <a:solidFill>
                  <a:srgbClr val="000000"/>
                </a:solidFill>
                <a:latin typeface="TimesNewRomanPSMT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Read the following blog about the advantages and disadvantages of microkernels: </a:t>
            </a:r>
            <a:r>
              <a:rPr lang="en-US" sz="1800" u="sng" kern="100" dirty="0">
                <a:solidFill>
                  <a:srgbClr val="0563C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https://www.guru99.com/microkernel-in-operating-systems.html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HK" sz="18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buFont typeface="Symbol" panose="05050102010706020507" pitchFamily="18" charset="2"/>
              <a:buChar char=""/>
            </a:pPr>
            <a:endParaRPr lang="en-HK" sz="20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09188-0F05-9D85-C290-C3451CF51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7913" y="6361430"/>
            <a:ext cx="2062162" cy="457200"/>
          </a:xfrm>
        </p:spPr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100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0746C6-15A9-DA41-87D0-FC74682610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12" y="1524000"/>
            <a:ext cx="4083050" cy="2331720"/>
          </a:xfrm>
          <a:prstGeom prst="rect">
            <a:avLst/>
          </a:prstGeom>
          <a:noFill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98ED86-D616-1478-6742-E656C32B4C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1812" y="1524000"/>
            <a:ext cx="2858770" cy="2520950"/>
          </a:xfrm>
          <a:prstGeom prst="rect">
            <a:avLst/>
          </a:prstGeom>
          <a:noFill/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BAF1A8D1-E002-53FC-C2DE-3ED2023C2F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582" y="1485900"/>
            <a:ext cx="2738120" cy="2286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01071473"/>
      </p:ext>
    </p:extLst>
  </p:cSld>
  <p:clrMapOvr>
    <a:masterClrMapping/>
  </p:clrMapOvr>
  <p:transition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12495-5E21-4000-A4F9-006E587F5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</a:t>
            </a:r>
            <a:endParaRPr lang="en-H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0A5446-020B-4BF9-B765-EB68BE066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292929"/>
                </a:solidFill>
              </a:rPr>
              <a:t>Popularity used to improve user experience</a:t>
            </a:r>
          </a:p>
          <a:p>
            <a:r>
              <a:rPr lang="en-US" b="1" i="0" dirty="0">
                <a:solidFill>
                  <a:srgbClr val="292929"/>
                </a:solidFill>
                <a:effectLst/>
              </a:rPr>
              <a:t>model</a:t>
            </a:r>
            <a:r>
              <a:rPr lang="en-US" b="0" i="0" dirty="0">
                <a:solidFill>
                  <a:srgbClr val="292929"/>
                </a:solidFill>
                <a:effectLst/>
              </a:rPr>
              <a:t> : represent the core functionality </a:t>
            </a:r>
            <a:r>
              <a:rPr lang="en-US" dirty="0">
                <a:solidFill>
                  <a:srgbClr val="292929"/>
                </a:solidFill>
              </a:rPr>
              <a:t>and data</a:t>
            </a:r>
          </a:p>
          <a:p>
            <a:r>
              <a:rPr lang="en-US" b="1" dirty="0">
                <a:solidFill>
                  <a:srgbClr val="292929"/>
                </a:solidFill>
              </a:rPr>
              <a:t>v</a:t>
            </a:r>
            <a:r>
              <a:rPr lang="en-US" b="1" i="0" dirty="0">
                <a:solidFill>
                  <a:srgbClr val="292929"/>
                </a:solidFill>
                <a:effectLst/>
              </a:rPr>
              <a:t>iew: </a:t>
            </a:r>
            <a:r>
              <a:rPr lang="en-US" b="0" i="0" dirty="0">
                <a:solidFill>
                  <a:srgbClr val="292929"/>
                </a:solidFill>
                <a:effectLst/>
              </a:rPr>
              <a:t>displays a part of the model to the user</a:t>
            </a:r>
          </a:p>
          <a:p>
            <a:r>
              <a:rPr lang="en-US" b="1" i="0" dirty="0">
                <a:solidFill>
                  <a:srgbClr val="292929"/>
                </a:solidFill>
                <a:effectLst/>
              </a:rPr>
              <a:t>controller</a:t>
            </a:r>
            <a:r>
              <a:rPr lang="en-US" b="0" i="0" dirty="0">
                <a:solidFill>
                  <a:srgbClr val="292929"/>
                </a:solidFill>
                <a:effectLst/>
              </a:rPr>
              <a:t> : accept user input and update models</a:t>
            </a:r>
          </a:p>
          <a:p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AD881-19CB-4CBE-8C89-08B8A7ADC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101</a:t>
            </a:fld>
            <a:endParaRPr lang="en-US"/>
          </a:p>
        </p:txBody>
      </p:sp>
      <p:pic>
        <p:nvPicPr>
          <p:cNvPr id="120834" name="Picture 2">
            <a:extLst>
              <a:ext uri="{FF2B5EF4-FFF2-40B4-BE49-F238E27FC236}">
                <a16:creationId xmlns:a16="http://schemas.microsoft.com/office/drawing/2014/main" id="{31177DFB-1CF4-4F3E-8A56-C53FFD39B5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4412" y="4262437"/>
            <a:ext cx="190500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836" name="Picture 4">
            <a:extLst>
              <a:ext uri="{FF2B5EF4-FFF2-40B4-BE49-F238E27FC236}">
                <a16:creationId xmlns:a16="http://schemas.microsoft.com/office/drawing/2014/main" id="{0AB3C446-87CD-4028-BBDD-EBCEEF5F64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994" y="3962399"/>
            <a:ext cx="3810000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0712444"/>
      </p:ext>
    </p:extLst>
  </p:cSld>
  <p:clrMapOvr>
    <a:masterClrMapping/>
  </p:clrMapOvr>
  <p:transition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4384F-98D6-4597-8192-9EB9D8F51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H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8D04F-7889-4912-BAF5-3D1BB656C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600200"/>
            <a:ext cx="9036050" cy="4953000"/>
          </a:xfrm>
        </p:spPr>
        <p:txBody>
          <a:bodyPr/>
          <a:lstStyle/>
          <a:p>
            <a:r>
              <a:rPr lang="en-US" sz="2800" dirty="0"/>
              <a:t>Software architecture exists within a context (the quality attributes when delivering the functional requirements in the deployment time)</a:t>
            </a:r>
          </a:p>
          <a:p>
            <a:r>
              <a:rPr lang="en-US" sz="2800" dirty="0"/>
              <a:t>We divide the system into modules and their connections by styles to address quality attributes (e.g., through ADD)</a:t>
            </a:r>
          </a:p>
          <a:p>
            <a:r>
              <a:rPr lang="en-US" sz="2800" dirty="0"/>
              <a:t>There are many architectural styles</a:t>
            </a:r>
          </a:p>
          <a:p>
            <a:pPr lvl="1"/>
            <a:r>
              <a:rPr lang="en-US" sz="2400" dirty="0"/>
              <a:t>The successful ones are summarized as patterns</a:t>
            </a:r>
          </a:p>
          <a:p>
            <a:r>
              <a:rPr lang="en-US" sz="2800" dirty="0"/>
              <a:t>An architectural description includes the stakeholders’ concerns and the rationales of the architecture chosen. They are presented in the form of views and viewpoints.</a:t>
            </a:r>
            <a:endParaRPr lang="en-HK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444C7-6ED0-4213-8DE7-76CBE279D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25347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and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3212" y="1447800"/>
            <a:ext cx="8882062" cy="495300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1600" dirty="0">
                <a:latin typeface="+mj-lt"/>
              </a:rPr>
              <a:t>Rick </a:t>
            </a:r>
            <a:r>
              <a:rPr lang="en-US" sz="1600" dirty="0" err="1">
                <a:latin typeface="+mj-lt"/>
              </a:rPr>
              <a:t>Kazman</a:t>
            </a:r>
            <a:r>
              <a:rPr lang="en-US" sz="1600" dirty="0">
                <a:latin typeface="+mj-lt"/>
              </a:rPr>
              <a:t>, Paul Clements, Len Bass. Software Architecture in Practice, Third Edition.</a:t>
            </a:r>
          </a:p>
          <a:p>
            <a:pPr marL="977900" lvl="1" indent="-514350"/>
            <a:r>
              <a:rPr lang="en-US" sz="1600" dirty="0">
                <a:latin typeface="+mj-lt"/>
              </a:rPr>
              <a:t>2</a:t>
            </a:r>
            <a:r>
              <a:rPr lang="en-US" sz="1600" baseline="30000" dirty="0">
                <a:latin typeface="+mj-lt"/>
              </a:rPr>
              <a:t>nd</a:t>
            </a:r>
            <a:r>
              <a:rPr lang="en-US" sz="1600" dirty="0">
                <a:latin typeface="+mj-lt"/>
              </a:rPr>
              <a:t> Edition is here: http://www.ece.ubc.ca/~matei/EECE417/BASS/ 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600" dirty="0">
                <a:latin typeface="+mj-lt"/>
              </a:rPr>
              <a:t>4+1 view model </a:t>
            </a:r>
            <a:r>
              <a:rPr lang="en-US" altLang="en-US" sz="1600" dirty="0">
                <a:latin typeface="+mj-lt"/>
              </a:rPr>
              <a:t>https://en.wikipedia.org/wiki/4%2B1_architectural_view_model</a:t>
            </a:r>
            <a:endParaRPr lang="en-US" sz="1600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1600" dirty="0">
                <a:latin typeface="+mj-lt"/>
              </a:rPr>
              <a:t>Microservice http://microservices.io 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600" dirty="0">
                <a:latin typeface="+mj-lt"/>
              </a:rPr>
              <a:t>Micro frontend https://micro-frontends.org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600" dirty="0" err="1">
                <a:latin typeface="+mj-lt"/>
              </a:rPr>
              <a:t>Serviceless</a:t>
            </a:r>
            <a:r>
              <a:rPr lang="en-US" sz="1600" dirty="0">
                <a:latin typeface="+mj-lt"/>
              </a:rPr>
              <a:t> architecture </a:t>
            </a:r>
            <a:r>
              <a:rPr lang="en-US" sz="1600" dirty="0">
                <a:latin typeface="+mj-lt"/>
                <a:hlinkClick r:id="rId2"/>
              </a:rPr>
              <a:t>https://martinfowler.com/articles/serverless.html</a:t>
            </a:r>
            <a:endParaRPr lang="en-US" sz="1600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altLang="en-US" sz="1600" dirty="0">
                <a:latin typeface="+mj-lt"/>
              </a:rPr>
              <a:t>ISO/IEC/IEEE 42010 Systems and software engineering — Architecture description </a:t>
            </a:r>
            <a:r>
              <a:rPr lang="en-US" altLang="en-US" sz="1600" dirty="0">
                <a:latin typeface="+mj-lt"/>
                <a:hlinkClick r:id="rId3"/>
              </a:rPr>
              <a:t>https://ieeexplore.ieee.org/document/6129467</a:t>
            </a:r>
            <a:endParaRPr lang="en-US" altLang="en-US" sz="1600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1600" dirty="0">
                <a:latin typeface="+mj-lt"/>
              </a:rPr>
              <a:t>Hans van </a:t>
            </a:r>
            <a:r>
              <a:rPr lang="en-US" sz="1600" dirty="0" err="1">
                <a:latin typeface="+mj-lt"/>
              </a:rPr>
              <a:t>Vilet</a:t>
            </a:r>
            <a:r>
              <a:rPr lang="en-US" sz="1600" dirty="0">
                <a:latin typeface="+mj-lt"/>
              </a:rPr>
              <a:t>  </a:t>
            </a:r>
            <a:r>
              <a:rPr lang="en-US" sz="1600" dirty="0">
                <a:latin typeface="+mj-lt"/>
                <a:hlinkClick r:id="rId4"/>
              </a:rPr>
              <a:t>https://en.wikipedia.org/wiki/Hans_van_Vliet</a:t>
            </a:r>
            <a:endParaRPr lang="en-US" sz="1600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1600" dirty="0">
                <a:latin typeface="+mj-lt"/>
              </a:rPr>
              <a:t>The summary, pros and cons of emerging patterns </a:t>
            </a:r>
            <a:r>
              <a:rPr lang="en-US" sz="1600" dirty="0">
                <a:latin typeface="+mj-lt"/>
                <a:hlinkClick r:id="rId5"/>
              </a:rPr>
              <a:t>https://www.slideshare.net/VincentComposieux/architecture-81270165</a:t>
            </a:r>
            <a:endParaRPr lang="en-US" sz="1600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1600" dirty="0">
                <a:latin typeface="+mj-lt"/>
              </a:rPr>
              <a:t>Software Architecture Design Game: </a:t>
            </a:r>
            <a:r>
              <a:rPr lang="en-US" sz="1600" dirty="0">
                <a:latin typeface="+mj-lt"/>
                <a:hlinkClick r:id="rId6"/>
              </a:rPr>
              <a:t>http://smartdecisionsgame.com/</a:t>
            </a:r>
            <a:endParaRPr lang="en-US" sz="1600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HK" sz="1600" b="0" i="0" dirty="0">
                <a:solidFill>
                  <a:srgbClr val="202122"/>
                </a:solidFill>
                <a:effectLst/>
                <a:latin typeface="+mj-lt"/>
              </a:rPr>
              <a:t>E.W. Dijkstra, </a:t>
            </a:r>
            <a:r>
              <a:rPr lang="en-US" sz="1600" b="0" i="1" dirty="0">
                <a:solidFill>
                  <a:srgbClr val="202122"/>
                </a:solidFill>
                <a:effectLst/>
                <a:latin typeface="+mj-lt"/>
              </a:rPr>
              <a:t>Communications of the ACM</a:t>
            </a:r>
            <a:r>
              <a:rPr lang="en-US" sz="1600" b="0" i="0" dirty="0">
                <a:solidFill>
                  <a:srgbClr val="202122"/>
                </a:solidFill>
                <a:effectLst/>
                <a:latin typeface="+mj-lt"/>
              </a:rPr>
              <a:t>. </a:t>
            </a:r>
            <a:r>
              <a:rPr lang="en-US" sz="1600" b="1" i="0" dirty="0">
                <a:solidFill>
                  <a:srgbClr val="202122"/>
                </a:solidFill>
                <a:effectLst/>
                <a:latin typeface="+mj-lt"/>
              </a:rPr>
              <a:t>11</a:t>
            </a:r>
            <a:r>
              <a:rPr lang="en-US" sz="1600" b="0" i="0" dirty="0">
                <a:solidFill>
                  <a:srgbClr val="202122"/>
                </a:solidFill>
                <a:effectLst/>
                <a:latin typeface="+mj-lt"/>
              </a:rPr>
              <a:t> (3): 147–148, 1968. </a:t>
            </a:r>
            <a:r>
              <a:rPr lang="en-US" sz="1600" b="0" i="0" u="none" strike="noStrike" dirty="0">
                <a:solidFill>
                  <a:srgbClr val="0645AD"/>
                </a:solidFill>
                <a:effectLst/>
                <a:latin typeface="+mj-lt"/>
              </a:rPr>
              <a:t>doi</a:t>
            </a:r>
            <a:r>
              <a:rPr lang="en-US" sz="1600" b="0" i="0" dirty="0">
                <a:solidFill>
                  <a:srgbClr val="202122"/>
                </a:solidFill>
                <a:effectLst/>
                <a:latin typeface="+mj-lt"/>
              </a:rPr>
              <a:t>:</a:t>
            </a:r>
            <a:r>
              <a:rPr lang="en-US" sz="1600" b="0" i="0" u="none" strike="noStrike" dirty="0">
                <a:solidFill>
                  <a:srgbClr val="3366BB"/>
                </a:solidFill>
                <a:effectLst/>
                <a:latin typeface="+mj-lt"/>
                <a:hlinkClick r:id="rId7"/>
              </a:rPr>
              <a:t>10.1145/362929.362947</a:t>
            </a:r>
            <a:endParaRPr lang="en-US" sz="1600" b="0" i="0" u="none" strike="noStrike" dirty="0">
              <a:solidFill>
                <a:srgbClr val="3366BB"/>
              </a:solidFill>
              <a:effectLst/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1600" b="0" i="0" dirty="0">
                <a:solidFill>
                  <a:srgbClr val="505050"/>
                </a:solidFill>
                <a:effectLst/>
                <a:latin typeface="+mj-lt"/>
              </a:rPr>
              <a:t>A Complete Survey on Software Architectural Styles and Patterns, </a:t>
            </a:r>
            <a:r>
              <a:rPr lang="en-US" sz="1600" b="0" i="0" dirty="0">
                <a:solidFill>
                  <a:srgbClr val="505050"/>
                </a:solidFill>
                <a:effectLst/>
                <a:latin typeface="+mj-lt"/>
                <a:hlinkClick r:id="rId8"/>
              </a:rPr>
              <a:t>https://doi.org/10.1016/j.procs.2015.10.019</a:t>
            </a:r>
            <a:endParaRPr lang="en-US" sz="1600" b="0" i="0" dirty="0">
              <a:solidFill>
                <a:srgbClr val="505050"/>
              </a:solidFill>
              <a:effectLst/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1600" b="0" i="0" dirty="0">
                <a:solidFill>
                  <a:srgbClr val="505050"/>
                </a:solidFill>
                <a:effectLst/>
                <a:latin typeface="+mj-lt"/>
              </a:rPr>
              <a:t>Enterprise Integration Patterns, </a:t>
            </a:r>
            <a:r>
              <a:rPr lang="en-US" sz="1600" b="0" i="0" dirty="0">
                <a:solidFill>
                  <a:srgbClr val="505050"/>
                </a:solidFill>
                <a:effectLst/>
                <a:latin typeface="+mj-lt"/>
                <a:hlinkClick r:id="rId9"/>
              </a:rPr>
              <a:t>https://www.enterpriseintegrationpatterns.com/patterns/messaging/</a:t>
            </a:r>
            <a:endParaRPr lang="en-US" sz="1600" b="0" i="0" dirty="0">
              <a:solidFill>
                <a:srgbClr val="505050"/>
              </a:solidFill>
              <a:effectLst/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1600" b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+mj-lt"/>
              </a:rPr>
              <a:t>Fundamentals of Software Architecture: An Engineering Approach. O'Reilly Media. 2020. </a:t>
            </a:r>
            <a:r>
              <a:rPr lang="en-US" sz="1600" b="0" u="none" strike="noStrike" dirty="0">
                <a:effectLst/>
                <a:highlight>
                  <a:srgbClr val="FFFFFF"/>
                </a:highlight>
                <a:latin typeface="+mj-lt"/>
              </a:rPr>
              <a:t>ISBN</a:t>
            </a:r>
            <a:r>
              <a:rPr lang="en-US" sz="1600" b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+mj-lt"/>
              </a:rPr>
              <a:t> </a:t>
            </a:r>
            <a:r>
              <a:rPr lang="en-US" sz="1600" b="0" u="none" strike="noStrike" dirty="0">
                <a:effectLst/>
                <a:highlight>
                  <a:srgbClr val="FFFFFF"/>
                </a:highlight>
                <a:latin typeface="+mj-lt"/>
              </a:rPr>
              <a:t>978-1492043454</a:t>
            </a:r>
            <a:r>
              <a:rPr lang="en-US" sz="1600" b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+mj-lt"/>
              </a:rPr>
              <a:t>.</a:t>
            </a:r>
            <a:r>
              <a:rPr lang="en-US" sz="1600" b="0" dirty="0">
                <a:solidFill>
                  <a:srgbClr val="505050"/>
                </a:solidFill>
                <a:effectLst/>
                <a:latin typeface="+mj-lt"/>
              </a:rPr>
              <a:t> </a:t>
            </a:r>
            <a:r>
              <a:rPr lang="en-US" sz="1200" b="0" dirty="0">
                <a:solidFill>
                  <a:srgbClr val="505050"/>
                </a:solidFill>
                <a:effectLst/>
                <a:latin typeface="+mj-lt"/>
                <a:hlinkClick r:id="rId10"/>
              </a:rPr>
              <a:t>https://www.oreilly.com/library/view/fundamentals-of-software/9781663728357/</a:t>
            </a:r>
            <a:r>
              <a:rPr lang="en-US" sz="1200" b="0" dirty="0">
                <a:solidFill>
                  <a:srgbClr val="505050"/>
                </a:solidFill>
                <a:effectLst/>
                <a:latin typeface="+mj-lt"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600" b="0" dirty="0">
                <a:solidFill>
                  <a:srgbClr val="505050"/>
                </a:solidFill>
                <a:effectLst/>
                <a:latin typeface="+mj-lt"/>
              </a:rPr>
              <a:t>Cesare </a:t>
            </a:r>
            <a:r>
              <a:rPr lang="en-US" sz="1600" b="0" dirty="0" err="1">
                <a:solidFill>
                  <a:srgbClr val="505050"/>
                </a:solidFill>
                <a:effectLst/>
                <a:latin typeface="+mj-lt"/>
              </a:rPr>
              <a:t>Pautasso</a:t>
            </a:r>
            <a:r>
              <a:rPr lang="en-US" sz="1600" b="0" dirty="0">
                <a:solidFill>
                  <a:srgbClr val="505050"/>
                </a:solidFill>
                <a:effectLst/>
                <a:latin typeface="+mj-lt"/>
              </a:rPr>
              <a:t>. Software Architecture: Visual Lecture Notes. </a:t>
            </a:r>
            <a:r>
              <a:rPr lang="en-US" sz="1600" b="0" dirty="0" err="1">
                <a:solidFill>
                  <a:srgbClr val="505050"/>
                </a:solidFill>
                <a:effectLst/>
                <a:latin typeface="+mj-lt"/>
              </a:rPr>
              <a:t>Leanpub</a:t>
            </a:r>
            <a:r>
              <a:rPr lang="en-US" sz="1600" b="0" dirty="0">
                <a:solidFill>
                  <a:srgbClr val="505050"/>
                </a:solidFill>
                <a:effectLst/>
                <a:latin typeface="+mj-lt"/>
              </a:rPr>
              <a:t>, 2020. leanpub.com</a:t>
            </a:r>
            <a:r>
              <a:rPr lang="en-US" sz="1200" dirty="0">
                <a:solidFill>
                  <a:srgbClr val="505050"/>
                </a:solidFill>
                <a:latin typeface="+mj-lt"/>
              </a:rPr>
              <a:t> </a:t>
            </a:r>
            <a:endParaRPr lang="en-US" sz="1600" b="0" dirty="0">
              <a:solidFill>
                <a:srgbClr val="505050"/>
              </a:solidFill>
              <a:effectLst/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B8F44C-0EDE-4D7D-9086-BD1CF3CE7AF7}" type="slidenum">
              <a:rPr lang="en-US" smtClean="0"/>
              <a:pPr>
                <a:defRPr/>
              </a:pPr>
              <a:t>103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775673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Side Bar">
  <a:themeElements>
    <a:clrScheme name="">
      <a:dk1>
        <a:srgbClr val="000000"/>
      </a:dk1>
      <a:lt1>
        <a:srgbClr val="FFFFFF"/>
      </a:lt1>
      <a:dk2>
        <a:srgbClr val="C00000"/>
      </a:dk2>
      <a:lt2>
        <a:srgbClr val="C00000"/>
      </a:lt2>
      <a:accent1>
        <a:srgbClr val="FFEBEB"/>
      </a:accent1>
      <a:accent2>
        <a:srgbClr val="006600"/>
      </a:accent2>
      <a:accent3>
        <a:srgbClr val="FFFFFF"/>
      </a:accent3>
      <a:accent4>
        <a:srgbClr val="000000"/>
      </a:accent4>
      <a:accent5>
        <a:srgbClr val="FFF3F3"/>
      </a:accent5>
      <a:accent6>
        <a:srgbClr val="005C00"/>
      </a:accent6>
      <a:hlink>
        <a:srgbClr val="000066"/>
      </a:hlink>
      <a:folHlink>
        <a:srgbClr val="808080"/>
      </a:folHlink>
    </a:clrScheme>
    <a:fontScheme name="Side Bar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>
          <a:outerShdw dist="71842" dir="2700000" algn="ctr" rotWithShape="0">
            <a:schemeClr val="bg2"/>
          </a:outerShdw>
        </a:effec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>
          <a:outerShdw dist="71842" dir="2700000" algn="ctr" rotWithShape="0">
            <a:schemeClr val="bg2"/>
          </a:outerShdw>
        </a:effec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Side Bar 1">
        <a:dk1>
          <a:srgbClr val="FF9933"/>
        </a:dk1>
        <a:lt1>
          <a:srgbClr val="FFFFFF"/>
        </a:lt1>
        <a:dk2>
          <a:srgbClr val="003366"/>
        </a:dk2>
        <a:lt2>
          <a:srgbClr val="FF9933"/>
        </a:lt2>
        <a:accent1>
          <a:srgbClr val="2B557F"/>
        </a:accent1>
        <a:accent2>
          <a:srgbClr val="FF9933"/>
        </a:accent2>
        <a:accent3>
          <a:srgbClr val="AAADB8"/>
        </a:accent3>
        <a:accent4>
          <a:srgbClr val="DADADA"/>
        </a:accent4>
        <a:accent5>
          <a:srgbClr val="ACB4C0"/>
        </a:accent5>
        <a:accent6>
          <a:srgbClr val="E78A2D"/>
        </a:accent6>
        <a:hlink>
          <a:srgbClr val="005032"/>
        </a:hlink>
        <a:folHlink>
          <a:srgbClr val="A0A0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ide Bar 2">
        <a:dk1>
          <a:srgbClr val="000000"/>
        </a:dk1>
        <a:lt1>
          <a:srgbClr val="FFFFFF"/>
        </a:lt1>
        <a:dk2>
          <a:srgbClr val="E16414"/>
        </a:dk2>
        <a:lt2>
          <a:srgbClr val="E16414"/>
        </a:lt2>
        <a:accent1>
          <a:srgbClr val="FFF0EB"/>
        </a:accent1>
        <a:accent2>
          <a:srgbClr val="E16414"/>
        </a:accent2>
        <a:accent3>
          <a:srgbClr val="FFFFFF"/>
        </a:accent3>
        <a:accent4>
          <a:srgbClr val="000000"/>
        </a:accent4>
        <a:accent5>
          <a:srgbClr val="FFF6F3"/>
        </a:accent5>
        <a:accent6>
          <a:srgbClr val="CC5A11"/>
        </a:accent6>
        <a:hlink>
          <a:srgbClr val="C000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ide Bar 3">
        <a:dk1>
          <a:srgbClr val="000000"/>
        </a:dk1>
        <a:lt1>
          <a:srgbClr val="FFFFFF"/>
        </a:lt1>
        <a:dk2>
          <a:srgbClr val="006600"/>
        </a:dk2>
        <a:lt2>
          <a:srgbClr val="CC0000"/>
        </a:lt2>
        <a:accent1>
          <a:srgbClr val="EAEAEA"/>
        </a:accent1>
        <a:accent2>
          <a:srgbClr val="00660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005C00"/>
        </a:accent6>
        <a:hlink>
          <a:srgbClr val="000066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ide Bar 4">
        <a:dk1>
          <a:srgbClr val="000000"/>
        </a:dk1>
        <a:lt1>
          <a:srgbClr val="FFFFFF"/>
        </a:lt1>
        <a:dk2>
          <a:srgbClr val="CC0000"/>
        </a:dk2>
        <a:lt2>
          <a:srgbClr val="CC0000"/>
        </a:lt2>
        <a:accent1>
          <a:srgbClr val="EAEAEA"/>
        </a:accent1>
        <a:accent2>
          <a:srgbClr val="00660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005C00"/>
        </a:accent6>
        <a:hlink>
          <a:srgbClr val="000066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ide Bar 5">
        <a:dk1>
          <a:srgbClr val="000000"/>
        </a:dk1>
        <a:lt1>
          <a:srgbClr val="FFFFFF"/>
        </a:lt1>
        <a:dk2>
          <a:srgbClr val="808080"/>
        </a:dk2>
        <a:lt2>
          <a:srgbClr val="CC0000"/>
        </a:lt2>
        <a:accent1>
          <a:srgbClr val="EAEAEA"/>
        </a:accent1>
        <a:accent2>
          <a:srgbClr val="00660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005C00"/>
        </a:accent6>
        <a:hlink>
          <a:srgbClr val="000066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de Bar 4">
    <a:dk1>
      <a:srgbClr val="000000"/>
    </a:dk1>
    <a:lt1>
      <a:srgbClr val="FFFFFF"/>
    </a:lt1>
    <a:dk2>
      <a:srgbClr val="CC0000"/>
    </a:dk2>
    <a:lt2>
      <a:srgbClr val="CC0000"/>
    </a:lt2>
    <a:accent1>
      <a:srgbClr val="EAEAEA"/>
    </a:accent1>
    <a:accent2>
      <a:srgbClr val="006600"/>
    </a:accent2>
    <a:accent3>
      <a:srgbClr val="FFFFFF"/>
    </a:accent3>
    <a:accent4>
      <a:srgbClr val="000000"/>
    </a:accent4>
    <a:accent5>
      <a:srgbClr val="F3F3F3"/>
    </a:accent5>
    <a:accent6>
      <a:srgbClr val="005C00"/>
    </a:accent6>
    <a:hlink>
      <a:srgbClr val="000066"/>
    </a:hlink>
    <a:folHlink>
      <a:srgbClr val="808080"/>
    </a:folHlink>
  </a:clrScheme>
</a:themeOverride>
</file>

<file path=ppt/theme/themeOverride2.xml><?xml version="1.0" encoding="utf-8"?>
<a:themeOverride xmlns:a="http://schemas.openxmlformats.org/drawingml/2006/main">
  <a:clrScheme name="Side Bar 4">
    <a:dk1>
      <a:srgbClr val="000000"/>
    </a:dk1>
    <a:lt1>
      <a:srgbClr val="FFFFFF"/>
    </a:lt1>
    <a:dk2>
      <a:srgbClr val="CC0000"/>
    </a:dk2>
    <a:lt2>
      <a:srgbClr val="CC0000"/>
    </a:lt2>
    <a:accent1>
      <a:srgbClr val="EAEAEA"/>
    </a:accent1>
    <a:accent2>
      <a:srgbClr val="006600"/>
    </a:accent2>
    <a:accent3>
      <a:srgbClr val="FFFFFF"/>
    </a:accent3>
    <a:accent4>
      <a:srgbClr val="000000"/>
    </a:accent4>
    <a:accent5>
      <a:srgbClr val="F3F3F3"/>
    </a:accent5>
    <a:accent6>
      <a:srgbClr val="005C00"/>
    </a:accent6>
    <a:hlink>
      <a:srgbClr val="000066"/>
    </a:hlink>
    <a:folHlink>
      <a:srgbClr val="808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36783</TotalTime>
  <Words>6819</Words>
  <Application>Microsoft Office PowerPoint</Application>
  <PresentationFormat>Custom</PresentationFormat>
  <Paragraphs>1033</Paragraphs>
  <Slides>103</Slides>
  <Notes>23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3</vt:i4>
      </vt:variant>
      <vt:variant>
        <vt:lpstr>Slide Titles</vt:lpstr>
      </vt:variant>
      <vt:variant>
        <vt:i4>103</vt:i4>
      </vt:variant>
    </vt:vector>
  </HeadingPairs>
  <TitlesOfParts>
    <vt:vector size="119" baseType="lpstr">
      <vt:lpstr>sohne</vt:lpstr>
      <vt:lpstr>TimesNewRomanPSMT</vt:lpstr>
      <vt:lpstr>Arial</vt:lpstr>
      <vt:lpstr>Arial</vt:lpstr>
      <vt:lpstr>Calibri</vt:lpstr>
      <vt:lpstr>Courier New</vt:lpstr>
      <vt:lpstr>Franklin Gothic Medium</vt:lpstr>
      <vt:lpstr>Merriweather</vt:lpstr>
      <vt:lpstr>Symbol</vt:lpstr>
      <vt:lpstr>Times</vt:lpstr>
      <vt:lpstr>Times New Roman</vt:lpstr>
      <vt:lpstr>Wingdings</vt:lpstr>
      <vt:lpstr>Side Bar</vt:lpstr>
      <vt:lpstr>Document</vt:lpstr>
      <vt:lpstr>Bitmap Image</vt:lpstr>
      <vt:lpstr>Picture</vt:lpstr>
      <vt:lpstr> CS5351 Software Engineering 2025/26 Semester A Design Principles and Framework</vt:lpstr>
      <vt:lpstr>Program Structure</vt:lpstr>
      <vt:lpstr>David Parnas [10]</vt:lpstr>
      <vt:lpstr>  the Styles of Program Structure</vt:lpstr>
      <vt:lpstr>Where did  Architecture begin?</vt:lpstr>
      <vt:lpstr>Software Architecture</vt:lpstr>
      <vt:lpstr>Software Architecture</vt:lpstr>
      <vt:lpstr>The Strategy We Observe</vt:lpstr>
      <vt:lpstr>We also Observe</vt:lpstr>
      <vt:lpstr>Software Architecture, definition</vt:lpstr>
      <vt:lpstr>Software Architecture</vt:lpstr>
      <vt:lpstr>A System for Sorting Data (with “vague” design requirements)</vt:lpstr>
      <vt:lpstr>A System for Sorting Data (with “vague” design requirements)</vt:lpstr>
      <vt:lpstr>A System for Sorting Data (with “vague” design requirements)</vt:lpstr>
      <vt:lpstr>How Do Software Architects View Their Jobs?</vt:lpstr>
      <vt:lpstr>Skillset of  Software Architects</vt:lpstr>
      <vt:lpstr>Jobs advertised in Hong Kong</vt:lpstr>
      <vt:lpstr>Jobs advertised in Hong Kong</vt:lpstr>
      <vt:lpstr>Architect</vt:lpstr>
      <vt:lpstr>Attention to your Course Project</vt:lpstr>
      <vt:lpstr>Architecture Exercise</vt:lpstr>
      <vt:lpstr>Design A Two-Bed Room Apartment. What Will You Do?</vt:lpstr>
      <vt:lpstr>Two-Bedroom Apartment</vt:lpstr>
      <vt:lpstr>Two-Bedroom Apartment</vt:lpstr>
      <vt:lpstr>Have You Done the Following?</vt:lpstr>
      <vt:lpstr>Elements in our Exercise (1/2)</vt:lpstr>
      <vt:lpstr>Elements in our Exercise (2/2)</vt:lpstr>
      <vt:lpstr>Main Content in Details</vt:lpstr>
      <vt:lpstr>Outline </vt:lpstr>
      <vt:lpstr>Role of Software Architect</vt:lpstr>
      <vt:lpstr>Pre-architecture life cycle</vt:lpstr>
      <vt:lpstr>Architecture in the life cycle</vt:lpstr>
      <vt:lpstr>Why Is Architecture Important?</vt:lpstr>
      <vt:lpstr>Outline </vt:lpstr>
      <vt:lpstr>Architectural Driver</vt:lpstr>
      <vt:lpstr>Exemplified Drivers of New Infrastructure https://www.hkma.gov.hk/eng/key-functions/international-financial-centre/infrastructure/faster-payment-system.shtml</vt:lpstr>
      <vt:lpstr>Observations on Quality Differences</vt:lpstr>
      <vt:lpstr>Outline </vt:lpstr>
      <vt:lpstr>Functional Requirements</vt:lpstr>
      <vt:lpstr>Software Architecture &amp; Quality</vt:lpstr>
      <vt:lpstr>Quality Attributes</vt:lpstr>
      <vt:lpstr>Measurable / Testable</vt:lpstr>
      <vt:lpstr>Quality Attributes Tradeoff</vt:lpstr>
      <vt:lpstr>What is a System Decomposition?</vt:lpstr>
      <vt:lpstr>Exemplified Design Qualities [14] </vt:lpstr>
      <vt:lpstr>Feasibility</vt:lpstr>
      <vt:lpstr>Reusability</vt:lpstr>
      <vt:lpstr>Consistency</vt:lpstr>
      <vt:lpstr>Simplicity</vt:lpstr>
      <vt:lpstr>Stability</vt:lpstr>
      <vt:lpstr>Composability</vt:lpstr>
      <vt:lpstr>Deployability</vt:lpstr>
      <vt:lpstr>Apart from Design Quality</vt:lpstr>
      <vt:lpstr>Operation Quality</vt:lpstr>
      <vt:lpstr>Failure-Related Quality</vt:lpstr>
      <vt:lpstr>Security-related Quality</vt:lpstr>
      <vt:lpstr>Change-related Quality</vt:lpstr>
      <vt:lpstr>Chande-related Quality</vt:lpstr>
      <vt:lpstr>Project Health Quality</vt:lpstr>
      <vt:lpstr> e.g., Design of Application Programming Interfaces</vt:lpstr>
      <vt:lpstr>e.g., API Design Principles</vt:lpstr>
      <vt:lpstr>Outline </vt:lpstr>
      <vt:lpstr>Attribute-Driven Design (ADD)</vt:lpstr>
      <vt:lpstr>Sidebar: The Original ADD</vt:lpstr>
      <vt:lpstr>Example ADD iterations</vt:lpstr>
      <vt:lpstr>Architectural Tactics</vt:lpstr>
      <vt:lpstr>Availability and Modifiability</vt:lpstr>
      <vt:lpstr>Performance and Security </vt:lpstr>
      <vt:lpstr>Testability and Usability</vt:lpstr>
      <vt:lpstr>Tutorial on Evaluating Software Architecture</vt:lpstr>
      <vt:lpstr>Continue to Lecture</vt:lpstr>
      <vt:lpstr>Enterprise Integration Patterns [12]</vt:lpstr>
      <vt:lpstr>Enterprise Integration Patterns [12]</vt:lpstr>
      <vt:lpstr>Order Processing System Question 1?</vt:lpstr>
      <vt:lpstr>Solution:  Content-Based Router</vt:lpstr>
      <vt:lpstr>Question 2?</vt:lpstr>
      <vt:lpstr>Solution: Splitter &amp; Router</vt:lpstr>
      <vt:lpstr>Question 3a? [Single partner]</vt:lpstr>
      <vt:lpstr>Solution: Aggregator</vt:lpstr>
      <vt:lpstr>Question 3b: [Multiple partners]</vt:lpstr>
      <vt:lpstr>Solution: Scatter-Aggregator Pair</vt:lpstr>
      <vt:lpstr>Complex composition</vt:lpstr>
      <vt:lpstr>Outline </vt:lpstr>
      <vt:lpstr>Uses of design decisions</vt:lpstr>
      <vt:lpstr>Representation </vt:lpstr>
      <vt:lpstr>Architecture presentations in practice</vt:lpstr>
      <vt:lpstr>Example</vt:lpstr>
      <vt:lpstr>As a result…</vt:lpstr>
      <vt:lpstr>e.g., The 4+1 view model [https://en.wikipedia.org/wiki/4%2B1_architectural_view_model]</vt:lpstr>
      <vt:lpstr>The 4+1 view model in UML</vt:lpstr>
      <vt:lpstr>Outline </vt:lpstr>
      <vt:lpstr>Architectural styles</vt:lpstr>
      <vt:lpstr>Basic Kinds of Architecture Style [11]</vt:lpstr>
      <vt:lpstr>Blackboard </vt:lpstr>
      <vt:lpstr>Client-Server and variant</vt:lpstr>
      <vt:lpstr>Event-bus/Publish–subscribe pattern</vt:lpstr>
      <vt:lpstr>Pipe-and-Filter</vt:lpstr>
      <vt:lpstr> Layered pattern</vt:lpstr>
      <vt:lpstr>Microkernel</vt:lpstr>
      <vt:lpstr>Microkernel</vt:lpstr>
      <vt:lpstr>Model-View-Controller</vt:lpstr>
      <vt:lpstr>Summary</vt:lpstr>
      <vt:lpstr>References and Resources</vt:lpstr>
    </vt:vector>
  </TitlesOfParts>
  <Company>City University of Hong Kong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CS3343 Software Engineering Practice</dc:title>
  <dc:creator>Dr. W.K. Chan</dc:creator>
  <cp:keywords>Software Engineering</cp:keywords>
  <cp:lastModifiedBy>Prof. Chan Wing Kwong</cp:lastModifiedBy>
  <cp:revision>638</cp:revision>
  <cp:lastPrinted>2018-09-18T10:30:39Z</cp:lastPrinted>
  <dcterms:created xsi:type="dcterms:W3CDTF">1999-09-08T02:17:18Z</dcterms:created>
  <dcterms:modified xsi:type="dcterms:W3CDTF">2025-09-30T06:03:05Z</dcterms:modified>
</cp:coreProperties>
</file>