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2"/>
  </p:notesMasterIdLst>
  <p:handoutMasterIdLst>
    <p:handoutMasterId r:id="rId33"/>
  </p:handoutMasterIdLst>
  <p:sldIdLst>
    <p:sldId id="290" r:id="rId2"/>
    <p:sldId id="269" r:id="rId3"/>
    <p:sldId id="409" r:id="rId4"/>
    <p:sldId id="402" r:id="rId5"/>
    <p:sldId id="403" r:id="rId6"/>
    <p:sldId id="406" r:id="rId7"/>
    <p:sldId id="404" r:id="rId8"/>
    <p:sldId id="405" r:id="rId9"/>
    <p:sldId id="378" r:id="rId10"/>
    <p:sldId id="379" r:id="rId11"/>
    <p:sldId id="380" r:id="rId12"/>
    <p:sldId id="383" r:id="rId13"/>
    <p:sldId id="382" r:id="rId14"/>
    <p:sldId id="384" r:id="rId15"/>
    <p:sldId id="385" r:id="rId16"/>
    <p:sldId id="386" r:id="rId17"/>
    <p:sldId id="387" r:id="rId18"/>
    <p:sldId id="407" r:id="rId19"/>
    <p:sldId id="388" r:id="rId20"/>
    <p:sldId id="389" r:id="rId21"/>
    <p:sldId id="391" r:id="rId22"/>
    <p:sldId id="410" r:id="rId23"/>
    <p:sldId id="395" r:id="rId24"/>
    <p:sldId id="292" r:id="rId25"/>
    <p:sldId id="381" r:id="rId26"/>
    <p:sldId id="397" r:id="rId27"/>
    <p:sldId id="393" r:id="rId28"/>
    <p:sldId id="398" r:id="rId29"/>
    <p:sldId id="396" r:id="rId30"/>
    <p:sldId id="399" r:id="rId31"/>
  </p:sldIdLst>
  <p:sldSz cx="9902825" cy="6858000"/>
  <p:notesSz cx="9928225" cy="6797675"/>
  <p:defaultTextStyle>
    <a:defPPr>
      <a:defRPr lang="en-US"/>
    </a:defPPr>
    <a:lvl1pPr algn="l" rtl="0" eaLnBrk="0" fontAlgn="base" hangingPunct="0">
      <a:spcBef>
        <a:spcPct val="0"/>
      </a:spcBef>
      <a:spcAft>
        <a:spcPct val="0"/>
      </a:spcAft>
      <a:defRPr sz="2800" kern="1200">
        <a:solidFill>
          <a:schemeClr val="tx1"/>
        </a:solidFill>
        <a:latin typeface="Times New Roman" pitchFamily="18" charset="0"/>
        <a:ea typeface="+mn-ea"/>
        <a:cs typeface="+mn-cs"/>
      </a:defRPr>
    </a:lvl1pPr>
    <a:lvl2pPr marL="457200" algn="l" rtl="0" eaLnBrk="0" fontAlgn="base" hangingPunct="0">
      <a:spcBef>
        <a:spcPct val="0"/>
      </a:spcBef>
      <a:spcAft>
        <a:spcPct val="0"/>
      </a:spcAft>
      <a:defRPr sz="2800" kern="1200">
        <a:solidFill>
          <a:schemeClr val="tx1"/>
        </a:solidFill>
        <a:latin typeface="Times New Roman" pitchFamily="18" charset="0"/>
        <a:ea typeface="+mn-ea"/>
        <a:cs typeface="+mn-cs"/>
      </a:defRPr>
    </a:lvl2pPr>
    <a:lvl3pPr marL="914400" algn="l" rtl="0" eaLnBrk="0" fontAlgn="base" hangingPunct="0">
      <a:spcBef>
        <a:spcPct val="0"/>
      </a:spcBef>
      <a:spcAft>
        <a:spcPct val="0"/>
      </a:spcAft>
      <a:defRPr sz="2800" kern="1200">
        <a:solidFill>
          <a:schemeClr val="tx1"/>
        </a:solidFill>
        <a:latin typeface="Times New Roman" pitchFamily="18" charset="0"/>
        <a:ea typeface="+mn-ea"/>
        <a:cs typeface="+mn-cs"/>
      </a:defRPr>
    </a:lvl3pPr>
    <a:lvl4pPr marL="1371600" algn="l" rtl="0" eaLnBrk="0" fontAlgn="base" hangingPunct="0">
      <a:spcBef>
        <a:spcPct val="0"/>
      </a:spcBef>
      <a:spcAft>
        <a:spcPct val="0"/>
      </a:spcAft>
      <a:defRPr sz="2800" kern="1200">
        <a:solidFill>
          <a:schemeClr val="tx1"/>
        </a:solidFill>
        <a:latin typeface="Times New Roman" pitchFamily="18" charset="0"/>
        <a:ea typeface="+mn-ea"/>
        <a:cs typeface="+mn-cs"/>
      </a:defRPr>
    </a:lvl4pPr>
    <a:lvl5pPr marL="1828800" algn="l" rtl="0" eaLnBrk="0" fontAlgn="base" hangingPunct="0">
      <a:spcBef>
        <a:spcPct val="0"/>
      </a:spcBef>
      <a:spcAft>
        <a:spcPct val="0"/>
      </a:spcAft>
      <a:defRPr sz="2800" kern="1200">
        <a:solidFill>
          <a:schemeClr val="tx1"/>
        </a:solidFill>
        <a:latin typeface="Times New Roman" pitchFamily="18" charset="0"/>
        <a:ea typeface="+mn-ea"/>
        <a:cs typeface="+mn-cs"/>
      </a:defRPr>
    </a:lvl5pPr>
    <a:lvl6pPr marL="2286000" algn="l" defTabSz="914400" rtl="0" eaLnBrk="1" latinLnBrk="0" hangingPunct="1">
      <a:defRPr sz="2800" kern="1200">
        <a:solidFill>
          <a:schemeClr val="tx1"/>
        </a:solidFill>
        <a:latin typeface="Times New Roman" pitchFamily="18" charset="0"/>
        <a:ea typeface="+mn-ea"/>
        <a:cs typeface="+mn-cs"/>
      </a:defRPr>
    </a:lvl6pPr>
    <a:lvl7pPr marL="2743200" algn="l" defTabSz="914400" rtl="0" eaLnBrk="1" latinLnBrk="0" hangingPunct="1">
      <a:defRPr sz="2800" kern="1200">
        <a:solidFill>
          <a:schemeClr val="tx1"/>
        </a:solidFill>
        <a:latin typeface="Times New Roman" pitchFamily="18" charset="0"/>
        <a:ea typeface="+mn-ea"/>
        <a:cs typeface="+mn-cs"/>
      </a:defRPr>
    </a:lvl7pPr>
    <a:lvl8pPr marL="3200400" algn="l" defTabSz="914400" rtl="0" eaLnBrk="1" latinLnBrk="0" hangingPunct="1">
      <a:defRPr sz="2800" kern="1200">
        <a:solidFill>
          <a:schemeClr val="tx1"/>
        </a:solidFill>
        <a:latin typeface="Times New Roman" pitchFamily="18" charset="0"/>
        <a:ea typeface="+mn-ea"/>
        <a:cs typeface="+mn-cs"/>
      </a:defRPr>
    </a:lvl8pPr>
    <a:lvl9pPr marL="3657600" algn="l" defTabSz="914400" rtl="0" eaLnBrk="1" latinLnBrk="0" hangingPunct="1">
      <a:defRPr sz="28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19">
          <p15:clr>
            <a:srgbClr val="A4A3A4"/>
          </p15:clr>
        </p15:guide>
      </p15:sldGuideLst>
    </p:ext>
    <p:ext uri="{2D200454-40CA-4A62-9FC3-DE9A4176ACB9}">
      <p15:notesGuideLst xmlns:p15="http://schemas.microsoft.com/office/powerpoint/2012/main">
        <p15:guide id="1" orient="horz" pos="1503" userDrawn="1">
          <p15:clr>
            <a:srgbClr val="A4A3A4"/>
          </p15:clr>
        </p15:guide>
        <p15:guide id="2" pos="4519"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3C78"/>
    <a:srgbClr val="285078"/>
    <a:srgbClr val="1E3C5A"/>
    <a:srgbClr val="234669"/>
    <a:srgbClr val="264B71"/>
    <a:srgbClr val="FF3333"/>
    <a:srgbClr val="FFCC99"/>
    <a:srgbClr val="CCE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15" autoAdjust="0"/>
    <p:restoredTop sz="72773" autoAdjust="0"/>
  </p:normalViewPr>
  <p:slideViewPr>
    <p:cSldViewPr>
      <p:cViewPr varScale="1">
        <p:scale>
          <a:sx n="178" d="100"/>
          <a:sy n="178" d="100"/>
        </p:scale>
        <p:origin x="4542" y="372"/>
      </p:cViewPr>
      <p:guideLst>
        <p:guide orient="horz" pos="2160"/>
        <p:guide pos="311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75" d="100"/>
        <a:sy n="75" d="100"/>
      </p:scale>
      <p:origin x="0" y="0"/>
    </p:cViewPr>
  </p:sorterViewPr>
  <p:notesViewPr>
    <p:cSldViewPr>
      <p:cViewPr varScale="1">
        <p:scale>
          <a:sx n="20" d="100"/>
          <a:sy n="20" d="100"/>
        </p:scale>
        <p:origin x="-1088" y="-84"/>
      </p:cViewPr>
      <p:guideLst>
        <p:guide orient="horz" pos="1503"/>
        <p:guide pos="4519"/>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32319" y="-1124"/>
            <a:ext cx="4255262" cy="315831"/>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68788">
              <a:defRPr sz="1000" i="1"/>
            </a:lvl1pPr>
          </a:lstStyle>
          <a:p>
            <a:pPr>
              <a:defRPr/>
            </a:pPr>
            <a:endParaRPr lang="en-US"/>
          </a:p>
        </p:txBody>
      </p:sp>
      <p:sp>
        <p:nvSpPr>
          <p:cNvPr id="4099" name="Rectangle 3"/>
          <p:cNvSpPr>
            <a:spLocks noGrp="1" noChangeArrowheads="1"/>
          </p:cNvSpPr>
          <p:nvPr>
            <p:ph type="dt" sz="quarter" idx="1"/>
          </p:nvPr>
        </p:nvSpPr>
        <p:spPr bwMode="auto">
          <a:xfrm>
            <a:off x="5640646" y="-1124"/>
            <a:ext cx="4255262" cy="315831"/>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68788">
              <a:defRPr sz="1000" i="1"/>
            </a:lvl1pPr>
          </a:lstStyle>
          <a:p>
            <a:pPr>
              <a:defRPr/>
            </a:pPr>
            <a:endParaRPr lang="en-US"/>
          </a:p>
        </p:txBody>
      </p:sp>
      <p:sp>
        <p:nvSpPr>
          <p:cNvPr id="4100" name="Rectangle 4"/>
          <p:cNvSpPr>
            <a:spLocks noGrp="1" noChangeArrowheads="1"/>
          </p:cNvSpPr>
          <p:nvPr>
            <p:ph type="ftr" sz="quarter" idx="2"/>
          </p:nvPr>
        </p:nvSpPr>
        <p:spPr bwMode="auto">
          <a:xfrm>
            <a:off x="32319" y="6430143"/>
            <a:ext cx="4255262" cy="368657"/>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68788">
              <a:defRPr sz="1000" i="1"/>
            </a:lvl1pPr>
          </a:lstStyle>
          <a:p>
            <a:pPr>
              <a:defRPr/>
            </a:pPr>
            <a:r>
              <a:rPr lang="en-US"/>
              <a:t>Software Design</a:t>
            </a:r>
          </a:p>
        </p:txBody>
      </p:sp>
      <p:sp>
        <p:nvSpPr>
          <p:cNvPr id="4101" name="Rectangle 5"/>
          <p:cNvSpPr>
            <a:spLocks noGrp="1" noChangeArrowheads="1"/>
          </p:cNvSpPr>
          <p:nvPr>
            <p:ph type="sldNum" sz="quarter" idx="3"/>
          </p:nvPr>
        </p:nvSpPr>
        <p:spPr bwMode="auto">
          <a:xfrm>
            <a:off x="5640646" y="6430143"/>
            <a:ext cx="4255262" cy="368657"/>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68788">
              <a:defRPr sz="1000" i="1"/>
            </a:lvl1pPr>
          </a:lstStyle>
          <a:p>
            <a:pPr>
              <a:defRPr/>
            </a:pPr>
            <a:fld id="{B0AC2A3D-B99B-4BE3-904E-8F9BDE86B7D8}" type="slidenum">
              <a:rPr lang="en-US"/>
              <a:pPr>
                <a:defRPr/>
              </a:pPr>
              <a:t>‹#›</a:t>
            </a:fld>
            <a:endParaRPr lang="en-US"/>
          </a:p>
        </p:txBody>
      </p:sp>
    </p:spTree>
    <p:extLst>
      <p:ext uri="{BB962C8B-B14F-4D97-AF65-F5344CB8AC3E}">
        <p14:creationId xmlns:p14="http://schemas.microsoft.com/office/powerpoint/2010/main" val="11715663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25855" y="-6743"/>
            <a:ext cx="4339289" cy="338310"/>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42786">
              <a:defRPr sz="1000" i="1"/>
            </a:lvl1pPr>
          </a:lstStyle>
          <a:p>
            <a:pPr>
              <a:defRPr/>
            </a:pPr>
            <a:endParaRPr lang="en-US"/>
          </a:p>
        </p:txBody>
      </p:sp>
      <p:sp>
        <p:nvSpPr>
          <p:cNvPr id="2051" name="Rectangle 3"/>
          <p:cNvSpPr>
            <a:spLocks noGrp="1" noChangeArrowheads="1"/>
          </p:cNvSpPr>
          <p:nvPr>
            <p:ph type="dt" idx="1"/>
          </p:nvPr>
        </p:nvSpPr>
        <p:spPr bwMode="auto">
          <a:xfrm>
            <a:off x="5614792" y="-6743"/>
            <a:ext cx="4339289" cy="338310"/>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42786">
              <a:defRPr sz="1000" i="1"/>
            </a:lvl1pPr>
          </a:lstStyle>
          <a:p>
            <a:pPr>
              <a:defRPr/>
            </a:pPr>
            <a:endParaRPr lang="en-US"/>
          </a:p>
        </p:txBody>
      </p:sp>
      <p:sp>
        <p:nvSpPr>
          <p:cNvPr id="12292" name="Rectangle 4"/>
          <p:cNvSpPr>
            <a:spLocks noGrp="1" noRot="1" noChangeAspect="1" noChangeArrowheads="1" noTextEdit="1"/>
          </p:cNvSpPr>
          <p:nvPr>
            <p:ph type="sldImg" idx="2"/>
          </p:nvPr>
        </p:nvSpPr>
        <p:spPr bwMode="auto">
          <a:xfrm>
            <a:off x="3125788" y="512763"/>
            <a:ext cx="3676650" cy="2546350"/>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sp>
      <p:sp>
        <p:nvSpPr>
          <p:cNvPr id="2053" name="Rectangle 5"/>
          <p:cNvSpPr>
            <a:spLocks noGrp="1" noChangeArrowheads="1"/>
          </p:cNvSpPr>
          <p:nvPr>
            <p:ph type="body" sz="quarter" idx="3"/>
          </p:nvPr>
        </p:nvSpPr>
        <p:spPr bwMode="auto">
          <a:xfrm>
            <a:off x="1279812" y="3230245"/>
            <a:ext cx="7368604" cy="3070643"/>
          </a:xfrm>
          <a:prstGeom prst="rect">
            <a:avLst/>
          </a:prstGeom>
          <a:noFill/>
          <a:ln w="9525">
            <a:noFill/>
            <a:miter lim="800000"/>
            <a:headEnd/>
            <a:tailEnd/>
          </a:ln>
          <a:effectLst/>
        </p:spPr>
        <p:txBody>
          <a:bodyPr vert="horz" wrap="square" lIns="87569" tIns="41397" rIns="87569" bIns="41397"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4" name="Rectangle 6"/>
          <p:cNvSpPr>
            <a:spLocks noGrp="1" noChangeArrowheads="1"/>
          </p:cNvSpPr>
          <p:nvPr>
            <p:ph type="ftr" sz="quarter" idx="4"/>
          </p:nvPr>
        </p:nvSpPr>
        <p:spPr bwMode="auto">
          <a:xfrm>
            <a:off x="-25855" y="6466109"/>
            <a:ext cx="4339289" cy="338310"/>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42786">
              <a:defRPr sz="1000" i="1"/>
            </a:lvl1pPr>
          </a:lstStyle>
          <a:p>
            <a:pPr>
              <a:defRPr/>
            </a:pPr>
            <a:r>
              <a:rPr lang="en-US"/>
              <a:t>Software Design</a:t>
            </a:r>
          </a:p>
        </p:txBody>
      </p:sp>
      <p:sp>
        <p:nvSpPr>
          <p:cNvPr id="2055" name="Rectangle 7"/>
          <p:cNvSpPr>
            <a:spLocks noGrp="1" noChangeArrowheads="1"/>
          </p:cNvSpPr>
          <p:nvPr>
            <p:ph type="sldNum" sz="quarter" idx="5"/>
          </p:nvPr>
        </p:nvSpPr>
        <p:spPr bwMode="auto">
          <a:xfrm>
            <a:off x="5614792" y="6466109"/>
            <a:ext cx="4339289" cy="338310"/>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42786">
              <a:defRPr sz="1000" i="1"/>
            </a:lvl1pPr>
          </a:lstStyle>
          <a:p>
            <a:pPr>
              <a:defRPr/>
            </a:pPr>
            <a:fld id="{A7E88535-4BEA-4EE8-AB4A-C9FA970A9824}" type="slidenum">
              <a:rPr lang="en-US"/>
              <a:pPr>
                <a:defRPr/>
              </a:pPr>
              <a:t>‹#›</a:t>
            </a:fld>
            <a:endParaRPr lang="en-US"/>
          </a:p>
        </p:txBody>
      </p:sp>
    </p:spTree>
    <p:extLst>
      <p:ext uri="{BB962C8B-B14F-4D97-AF65-F5344CB8AC3E}">
        <p14:creationId xmlns:p14="http://schemas.microsoft.com/office/powerpoint/2010/main" val="1836913820"/>
      </p:ext>
    </p:extLst>
  </p:cSld>
  <p:clrMap bg1="lt1" tx1="dk1" bg2="lt2" tx2="dk2" accent1="accent1" accent2="accent2" accent3="accent3" accent4="accent4" accent5="accent5" accent6="accent6" hlink="hlink" folHlink="folHlink"/>
  <p:hf hdr="0" dt="0"/>
  <p:notesStyle>
    <a:lvl1pPr algn="l" defTabSz="839788" rtl="0" eaLnBrk="0" fontAlgn="base" hangingPunct="0">
      <a:spcBef>
        <a:spcPct val="30000"/>
      </a:spcBef>
      <a:spcAft>
        <a:spcPct val="0"/>
      </a:spcAft>
      <a:defRPr sz="1200" kern="1200">
        <a:solidFill>
          <a:schemeClr val="tx1"/>
        </a:solidFill>
        <a:latin typeface="Arial" charset="0"/>
        <a:ea typeface="+mn-ea"/>
        <a:cs typeface="+mn-cs"/>
      </a:defRPr>
    </a:lvl1pPr>
    <a:lvl2pPr marL="439738" algn="l" defTabSz="839788" rtl="0" eaLnBrk="0" fontAlgn="base" hangingPunct="0">
      <a:spcBef>
        <a:spcPct val="30000"/>
      </a:spcBef>
      <a:spcAft>
        <a:spcPct val="0"/>
      </a:spcAft>
      <a:defRPr sz="1200" kern="1200">
        <a:solidFill>
          <a:schemeClr val="tx1"/>
        </a:solidFill>
        <a:latin typeface="Arial" charset="0"/>
        <a:ea typeface="+mn-ea"/>
        <a:cs typeface="+mn-cs"/>
      </a:defRPr>
    </a:lvl2pPr>
    <a:lvl3pPr marL="874713" algn="l" defTabSz="839788" rtl="0" eaLnBrk="0" fontAlgn="base" hangingPunct="0">
      <a:spcBef>
        <a:spcPct val="30000"/>
      </a:spcBef>
      <a:spcAft>
        <a:spcPct val="0"/>
      </a:spcAft>
      <a:defRPr sz="1200" kern="1200">
        <a:solidFill>
          <a:schemeClr val="tx1"/>
        </a:solidFill>
        <a:latin typeface="Arial" charset="0"/>
        <a:ea typeface="+mn-ea"/>
        <a:cs typeface="+mn-cs"/>
      </a:defRPr>
    </a:lvl3pPr>
    <a:lvl4pPr marL="1316038" algn="l" defTabSz="839788" rtl="0" eaLnBrk="0" fontAlgn="base" hangingPunct="0">
      <a:spcBef>
        <a:spcPct val="30000"/>
      </a:spcBef>
      <a:spcAft>
        <a:spcPct val="0"/>
      </a:spcAft>
      <a:defRPr sz="1200" kern="1200">
        <a:solidFill>
          <a:schemeClr val="tx1"/>
        </a:solidFill>
        <a:latin typeface="Arial" charset="0"/>
        <a:ea typeface="+mn-ea"/>
        <a:cs typeface="+mn-cs"/>
      </a:defRPr>
    </a:lvl4pPr>
    <a:lvl5pPr marL="1752600" algn="l" defTabSz="839788"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r>
              <a:rPr lang="en-US" sz="1000"/>
              <a:t>Software Design</a:t>
            </a:r>
          </a:p>
        </p:txBody>
      </p:sp>
      <p:sp>
        <p:nvSpPr>
          <p:cNvPr id="1331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fld id="{9230C636-ECB8-47BE-92DE-F91BE5C0FACE}" type="slidenum">
              <a:rPr lang="en-US" sz="1000" smtClean="0"/>
              <a:pPr/>
              <a:t>1</a:t>
            </a:fld>
            <a:endParaRPr lang="en-US" sz="1000"/>
          </a:p>
        </p:txBody>
      </p:sp>
      <p:sp>
        <p:nvSpPr>
          <p:cNvPr id="13316" name="Rectangle 2"/>
          <p:cNvSpPr>
            <a:spLocks noGrp="1" noRot="1" noChangeAspect="1" noChangeArrowheads="1" noTextEdit="1"/>
          </p:cNvSpPr>
          <p:nvPr>
            <p:ph type="sldImg"/>
          </p:nvPr>
        </p:nvSpPr>
        <p:spPr>
          <a:ln/>
        </p:spPr>
      </p:sp>
      <p:sp>
        <p:nvSpPr>
          <p:cNvPr id="1331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2840318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D0DE2D6-5F94-48C1-A460-D561F2728E20}" type="slidenum">
              <a:rPr lang="zh-CN" altLang="en-US" smtClean="0"/>
              <a:t>2</a:t>
            </a:fld>
            <a:endParaRPr lang="zh-CN" altLang="en-US"/>
          </a:p>
        </p:txBody>
      </p:sp>
    </p:spTree>
    <p:extLst>
      <p:ext uri="{BB962C8B-B14F-4D97-AF65-F5344CB8AC3E}">
        <p14:creationId xmlns:p14="http://schemas.microsoft.com/office/powerpoint/2010/main" val="27369490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https://github.com/pyupio/safety</a:t>
            </a:r>
          </a:p>
        </p:txBody>
      </p:sp>
      <p:sp>
        <p:nvSpPr>
          <p:cNvPr id="4" name="Footer Placeholder 3"/>
          <p:cNvSpPr>
            <a:spLocks noGrp="1"/>
          </p:cNvSpPr>
          <p:nvPr>
            <p:ph type="ftr" sz="quarter" idx="10"/>
          </p:nvPr>
        </p:nvSpPr>
        <p:spPr/>
        <p:txBody>
          <a:bodyPr/>
          <a:lstStyle/>
          <a:p>
            <a:pPr>
              <a:defRPr/>
            </a:pPr>
            <a:r>
              <a:rPr lang="en-US"/>
              <a:t>Software Design</a:t>
            </a:r>
          </a:p>
        </p:txBody>
      </p:sp>
      <p:sp>
        <p:nvSpPr>
          <p:cNvPr id="5" name="Slide Number Placeholder 4"/>
          <p:cNvSpPr>
            <a:spLocks noGrp="1"/>
          </p:cNvSpPr>
          <p:nvPr>
            <p:ph type="sldNum" sz="quarter" idx="11"/>
          </p:nvPr>
        </p:nvSpPr>
        <p:spPr/>
        <p:txBody>
          <a:bodyPr/>
          <a:lstStyle/>
          <a:p>
            <a:pPr>
              <a:defRPr/>
            </a:pPr>
            <a:fld id="{A7E88535-4BEA-4EE8-AB4A-C9FA970A9824}" type="slidenum">
              <a:rPr lang="en-US" smtClean="0"/>
              <a:pPr>
                <a:defRPr/>
              </a:pPr>
              <a:t>11</a:t>
            </a:fld>
            <a:endParaRPr lang="en-US"/>
          </a:p>
        </p:txBody>
      </p:sp>
    </p:spTree>
    <p:extLst>
      <p:ext uri="{BB962C8B-B14F-4D97-AF65-F5344CB8AC3E}">
        <p14:creationId xmlns:p14="http://schemas.microsoft.com/office/powerpoint/2010/main" val="5621688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https://github.com/pyupio/safety</a:t>
            </a:r>
          </a:p>
        </p:txBody>
      </p:sp>
      <p:sp>
        <p:nvSpPr>
          <p:cNvPr id="4" name="Footer Placeholder 3"/>
          <p:cNvSpPr>
            <a:spLocks noGrp="1"/>
          </p:cNvSpPr>
          <p:nvPr>
            <p:ph type="ftr" sz="quarter" idx="10"/>
          </p:nvPr>
        </p:nvSpPr>
        <p:spPr/>
        <p:txBody>
          <a:bodyPr/>
          <a:lstStyle/>
          <a:p>
            <a:pPr>
              <a:defRPr/>
            </a:pPr>
            <a:r>
              <a:rPr lang="en-US"/>
              <a:t>Software Design</a:t>
            </a:r>
          </a:p>
        </p:txBody>
      </p:sp>
      <p:sp>
        <p:nvSpPr>
          <p:cNvPr id="5" name="Slide Number Placeholder 4"/>
          <p:cNvSpPr>
            <a:spLocks noGrp="1"/>
          </p:cNvSpPr>
          <p:nvPr>
            <p:ph type="sldNum" sz="quarter" idx="11"/>
          </p:nvPr>
        </p:nvSpPr>
        <p:spPr/>
        <p:txBody>
          <a:bodyPr/>
          <a:lstStyle/>
          <a:p>
            <a:pPr>
              <a:defRPr/>
            </a:pPr>
            <a:fld id="{A7E88535-4BEA-4EE8-AB4A-C9FA970A9824}" type="slidenum">
              <a:rPr lang="en-US" smtClean="0"/>
              <a:pPr>
                <a:defRPr/>
              </a:pPr>
              <a:t>12</a:t>
            </a:fld>
            <a:endParaRPr lang="en-US"/>
          </a:p>
        </p:txBody>
      </p:sp>
    </p:spTree>
    <p:extLst>
      <p:ext uri="{BB962C8B-B14F-4D97-AF65-F5344CB8AC3E}">
        <p14:creationId xmlns:p14="http://schemas.microsoft.com/office/powerpoint/2010/main" val="10107861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https://github.com/pyupio/safety</a:t>
            </a:r>
          </a:p>
        </p:txBody>
      </p:sp>
      <p:sp>
        <p:nvSpPr>
          <p:cNvPr id="4" name="Footer Placeholder 3"/>
          <p:cNvSpPr>
            <a:spLocks noGrp="1"/>
          </p:cNvSpPr>
          <p:nvPr>
            <p:ph type="ftr" sz="quarter" idx="10"/>
          </p:nvPr>
        </p:nvSpPr>
        <p:spPr/>
        <p:txBody>
          <a:bodyPr/>
          <a:lstStyle/>
          <a:p>
            <a:pPr>
              <a:defRPr/>
            </a:pPr>
            <a:r>
              <a:rPr lang="en-US"/>
              <a:t>Software Design</a:t>
            </a:r>
          </a:p>
        </p:txBody>
      </p:sp>
      <p:sp>
        <p:nvSpPr>
          <p:cNvPr id="5" name="Slide Number Placeholder 4"/>
          <p:cNvSpPr>
            <a:spLocks noGrp="1"/>
          </p:cNvSpPr>
          <p:nvPr>
            <p:ph type="sldNum" sz="quarter" idx="11"/>
          </p:nvPr>
        </p:nvSpPr>
        <p:spPr/>
        <p:txBody>
          <a:bodyPr/>
          <a:lstStyle/>
          <a:p>
            <a:pPr>
              <a:defRPr/>
            </a:pPr>
            <a:fld id="{A7E88535-4BEA-4EE8-AB4A-C9FA970A9824}" type="slidenum">
              <a:rPr lang="en-US" smtClean="0"/>
              <a:pPr>
                <a:defRPr/>
              </a:pPr>
              <a:t>13</a:t>
            </a:fld>
            <a:endParaRPr lang="en-US"/>
          </a:p>
        </p:txBody>
      </p:sp>
    </p:spTree>
    <p:extLst>
      <p:ext uri="{BB962C8B-B14F-4D97-AF65-F5344CB8AC3E}">
        <p14:creationId xmlns:p14="http://schemas.microsoft.com/office/powerpoint/2010/main" val="39641976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https://github.com/pyupio/safety</a:t>
            </a:r>
          </a:p>
        </p:txBody>
      </p:sp>
      <p:sp>
        <p:nvSpPr>
          <p:cNvPr id="4" name="Footer Placeholder 3"/>
          <p:cNvSpPr>
            <a:spLocks noGrp="1"/>
          </p:cNvSpPr>
          <p:nvPr>
            <p:ph type="ftr" sz="quarter" idx="10"/>
          </p:nvPr>
        </p:nvSpPr>
        <p:spPr/>
        <p:txBody>
          <a:bodyPr/>
          <a:lstStyle/>
          <a:p>
            <a:pPr>
              <a:defRPr/>
            </a:pPr>
            <a:r>
              <a:rPr lang="en-US"/>
              <a:t>Software Design</a:t>
            </a:r>
          </a:p>
        </p:txBody>
      </p:sp>
      <p:sp>
        <p:nvSpPr>
          <p:cNvPr id="5" name="Slide Number Placeholder 4"/>
          <p:cNvSpPr>
            <a:spLocks noGrp="1"/>
          </p:cNvSpPr>
          <p:nvPr>
            <p:ph type="sldNum" sz="quarter" idx="11"/>
          </p:nvPr>
        </p:nvSpPr>
        <p:spPr/>
        <p:txBody>
          <a:bodyPr/>
          <a:lstStyle/>
          <a:p>
            <a:pPr>
              <a:defRPr/>
            </a:pPr>
            <a:fld id="{A7E88535-4BEA-4EE8-AB4A-C9FA970A9824}" type="slidenum">
              <a:rPr lang="en-US" smtClean="0"/>
              <a:pPr>
                <a:defRPr/>
              </a:pPr>
              <a:t>14</a:t>
            </a:fld>
            <a:endParaRPr lang="en-US"/>
          </a:p>
        </p:txBody>
      </p:sp>
    </p:spTree>
    <p:extLst>
      <p:ext uri="{BB962C8B-B14F-4D97-AF65-F5344CB8AC3E}">
        <p14:creationId xmlns:p14="http://schemas.microsoft.com/office/powerpoint/2010/main" val="25052268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sin(x) = sin(180-x)</a:t>
            </a:r>
          </a:p>
          <a:p>
            <a:r>
              <a:rPr lang="en-HK" dirty="0"/>
              <a:t>sin(x) &lt; sin(</a:t>
            </a:r>
            <a:r>
              <a:rPr lang="en-HK" dirty="0" err="1"/>
              <a:t>x+y</a:t>
            </a:r>
            <a:r>
              <a:rPr lang="en-HK" dirty="0"/>
              <a:t>) if 0 &lt; x &lt; 90-y and y &gt; 0</a:t>
            </a:r>
          </a:p>
          <a:p>
            <a:r>
              <a:rPr lang="en-HK" dirty="0"/>
              <a:t>|sin(x)*sin(x)| =&lt; |sin(x)|</a:t>
            </a:r>
          </a:p>
          <a:p>
            <a:r>
              <a:rPr lang="en-HK" dirty="0"/>
              <a:t>sin(x+30) &gt; sin(30) + sin(x) if 0 &lt;= x + 30 &lt;= 90  (not sure)</a:t>
            </a:r>
          </a:p>
        </p:txBody>
      </p:sp>
      <p:sp>
        <p:nvSpPr>
          <p:cNvPr id="4" name="Footer Placeholder 3"/>
          <p:cNvSpPr>
            <a:spLocks noGrp="1"/>
          </p:cNvSpPr>
          <p:nvPr>
            <p:ph type="ftr" sz="quarter" idx="10"/>
          </p:nvPr>
        </p:nvSpPr>
        <p:spPr/>
        <p:txBody>
          <a:bodyPr/>
          <a:lstStyle/>
          <a:p>
            <a:pPr>
              <a:defRPr/>
            </a:pPr>
            <a:r>
              <a:rPr lang="en-US"/>
              <a:t>Software Design</a:t>
            </a:r>
          </a:p>
        </p:txBody>
      </p:sp>
      <p:sp>
        <p:nvSpPr>
          <p:cNvPr id="5" name="Slide Number Placeholder 4"/>
          <p:cNvSpPr>
            <a:spLocks noGrp="1"/>
          </p:cNvSpPr>
          <p:nvPr>
            <p:ph type="sldNum" sz="quarter" idx="11"/>
          </p:nvPr>
        </p:nvSpPr>
        <p:spPr/>
        <p:txBody>
          <a:bodyPr/>
          <a:lstStyle/>
          <a:p>
            <a:pPr>
              <a:defRPr/>
            </a:pPr>
            <a:fld id="{A7E88535-4BEA-4EE8-AB4A-C9FA970A9824}" type="slidenum">
              <a:rPr lang="en-US" smtClean="0"/>
              <a:pPr>
                <a:defRPr/>
              </a:pPr>
              <a:t>23</a:t>
            </a:fld>
            <a:endParaRPr lang="en-US"/>
          </a:p>
        </p:txBody>
      </p:sp>
    </p:spTree>
    <p:extLst>
      <p:ext uri="{BB962C8B-B14F-4D97-AF65-F5344CB8AC3E}">
        <p14:creationId xmlns:p14="http://schemas.microsoft.com/office/powerpoint/2010/main" val="8007852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Each instance of X is deterministic as the seed is inputted when the instance is constructed to initialize the random number generator used to shuffle cards.</a:t>
            </a:r>
          </a:p>
          <a:p>
            <a:endParaRPr lang="en-HK" dirty="0"/>
          </a:p>
          <a:p>
            <a:r>
              <a:rPr lang="en-HK" dirty="0"/>
              <a:t>Metamorphic relations:</a:t>
            </a:r>
          </a:p>
          <a:p>
            <a:r>
              <a:rPr lang="en-HK" dirty="0"/>
              <a:t>MR1: For test cases with the same seed, the values returned by different positions should be different.</a:t>
            </a:r>
          </a:p>
          <a:p>
            <a:pPr marL="0" indent="0">
              <a:buNone/>
            </a:pPr>
            <a:r>
              <a:rPr lang="en-HK" dirty="0"/>
              <a:t>       </a:t>
            </a:r>
            <a:r>
              <a:rPr lang="en-HK" sz="1200" b="0" i="0" kern="1200" dirty="0">
                <a:solidFill>
                  <a:schemeClr val="tx1"/>
                </a:solidFill>
                <a:effectLst/>
                <a:latin typeface="Arial" charset="0"/>
                <a:ea typeface="+mn-ea"/>
                <a:cs typeface="+mn-cs"/>
              </a:rPr>
              <a:t>Random rand = new Random(); </a:t>
            </a:r>
          </a:p>
          <a:p>
            <a:pPr marL="0" indent="0">
              <a:buNone/>
            </a:pPr>
            <a:r>
              <a:rPr lang="en-HK" sz="1200" b="0" i="0" kern="1200" dirty="0">
                <a:solidFill>
                  <a:schemeClr val="tx1"/>
                </a:solidFill>
                <a:effectLst/>
                <a:latin typeface="Arial" charset="0"/>
                <a:ea typeface="+mn-ea"/>
                <a:cs typeface="+mn-cs"/>
              </a:rPr>
              <a:t>       int p1 = </a:t>
            </a:r>
            <a:r>
              <a:rPr lang="en-HK" sz="1200" b="0" i="0" kern="1200" dirty="0" err="1">
                <a:solidFill>
                  <a:schemeClr val="tx1"/>
                </a:solidFill>
                <a:effectLst/>
                <a:latin typeface="Arial" charset="0"/>
                <a:ea typeface="+mn-ea"/>
                <a:cs typeface="+mn-cs"/>
              </a:rPr>
              <a:t>rand.nextInt</a:t>
            </a:r>
            <a:r>
              <a:rPr lang="en-HK" sz="1200" b="0" i="0" kern="1200" dirty="0">
                <a:solidFill>
                  <a:schemeClr val="tx1"/>
                </a:solidFill>
                <a:effectLst/>
                <a:latin typeface="Arial" charset="0"/>
                <a:ea typeface="+mn-ea"/>
                <a:cs typeface="+mn-cs"/>
              </a:rPr>
              <a:t>(100) + 1; // get a value from 1 to 100</a:t>
            </a:r>
          </a:p>
          <a:p>
            <a:pPr marL="0" indent="0">
              <a:buNone/>
            </a:pPr>
            <a:r>
              <a:rPr lang="en-HK" sz="1200" b="0" i="0" kern="1200" dirty="0">
                <a:solidFill>
                  <a:schemeClr val="tx1"/>
                </a:solidFill>
                <a:effectLst/>
                <a:latin typeface="Arial" charset="0"/>
                <a:ea typeface="+mn-ea"/>
                <a:cs typeface="+mn-cs"/>
              </a:rPr>
              <a:t>        int p2 = </a:t>
            </a:r>
            <a:r>
              <a:rPr lang="en-HK" sz="1200" b="0" i="0" kern="1200" dirty="0" err="1">
                <a:solidFill>
                  <a:schemeClr val="tx1"/>
                </a:solidFill>
                <a:effectLst/>
                <a:latin typeface="Arial" charset="0"/>
                <a:ea typeface="+mn-ea"/>
                <a:cs typeface="+mn-cs"/>
              </a:rPr>
              <a:t>rand.nextInt</a:t>
            </a:r>
            <a:r>
              <a:rPr lang="en-HK" sz="1200" b="0" i="0" kern="1200" dirty="0">
                <a:solidFill>
                  <a:schemeClr val="tx1"/>
                </a:solidFill>
                <a:effectLst/>
                <a:latin typeface="Arial" charset="0"/>
                <a:ea typeface="+mn-ea"/>
                <a:cs typeface="+mn-cs"/>
              </a:rPr>
              <a:t>(100) + 1; // get a value from 1 to 100</a:t>
            </a:r>
          </a:p>
          <a:p>
            <a:pPr marL="0" indent="0">
              <a:buNone/>
            </a:pPr>
            <a:r>
              <a:rPr lang="en-HK" sz="1200" b="0" i="0" kern="1200" dirty="0">
                <a:solidFill>
                  <a:schemeClr val="tx1"/>
                </a:solidFill>
                <a:effectLst/>
                <a:latin typeface="Arial" charset="0"/>
                <a:ea typeface="+mn-ea"/>
                <a:cs typeface="+mn-cs"/>
              </a:rPr>
              <a:t>        int s = </a:t>
            </a:r>
            <a:r>
              <a:rPr lang="en-HK" sz="1200" b="0" i="0" kern="1200" dirty="0" err="1">
                <a:solidFill>
                  <a:schemeClr val="tx1"/>
                </a:solidFill>
                <a:effectLst/>
                <a:latin typeface="Arial" charset="0"/>
                <a:ea typeface="+mn-ea"/>
                <a:cs typeface="+mn-cs"/>
              </a:rPr>
              <a:t>rand.nextInt</a:t>
            </a:r>
            <a:r>
              <a:rPr lang="en-HK" sz="1200" b="0" i="0" kern="1200" dirty="0">
                <a:solidFill>
                  <a:schemeClr val="tx1"/>
                </a:solidFill>
                <a:effectLst/>
                <a:latin typeface="Arial" charset="0"/>
                <a:ea typeface="+mn-ea"/>
                <a:cs typeface="+mn-cs"/>
              </a:rPr>
              <a:t>(100) + 1;</a:t>
            </a:r>
          </a:p>
          <a:p>
            <a:pPr marL="0" indent="0">
              <a:buNone/>
            </a:pPr>
            <a:r>
              <a:rPr lang="en-HK" sz="1200" b="0" i="0" kern="1200" dirty="0">
                <a:solidFill>
                  <a:schemeClr val="tx1"/>
                </a:solidFill>
                <a:effectLst/>
                <a:latin typeface="Arial" charset="0"/>
                <a:ea typeface="+mn-ea"/>
                <a:cs typeface="+mn-cs"/>
              </a:rPr>
              <a:t>       X </a:t>
            </a:r>
            <a:r>
              <a:rPr lang="en-HK" sz="1200" b="0" i="0" kern="1200" dirty="0" err="1">
                <a:solidFill>
                  <a:schemeClr val="tx1"/>
                </a:solidFill>
                <a:effectLst/>
                <a:latin typeface="Arial" charset="0"/>
                <a:ea typeface="+mn-ea"/>
                <a:cs typeface="+mn-cs"/>
              </a:rPr>
              <a:t>x</a:t>
            </a:r>
            <a:r>
              <a:rPr lang="en-HK" sz="1200" b="0" i="0" kern="1200" dirty="0">
                <a:solidFill>
                  <a:schemeClr val="tx1"/>
                </a:solidFill>
                <a:effectLst/>
                <a:latin typeface="Arial" charset="0"/>
                <a:ea typeface="+mn-ea"/>
                <a:cs typeface="+mn-cs"/>
              </a:rPr>
              <a:t> = new X(s);  </a:t>
            </a:r>
            <a:r>
              <a:rPr lang="en-HK" sz="1200" b="0" i="0" kern="1200" dirty="0" err="1">
                <a:solidFill>
                  <a:schemeClr val="tx1"/>
                </a:solidFill>
                <a:effectLst/>
                <a:latin typeface="Arial" charset="0"/>
                <a:ea typeface="+mn-ea"/>
                <a:cs typeface="+mn-cs"/>
              </a:rPr>
              <a:t>x.shuffle</a:t>
            </a:r>
            <a:r>
              <a:rPr lang="en-HK" sz="1200" b="0" i="0" kern="1200" dirty="0">
                <a:solidFill>
                  <a:schemeClr val="tx1"/>
                </a:solidFill>
                <a:effectLst/>
                <a:latin typeface="Arial" charset="0"/>
                <a:ea typeface="+mn-ea"/>
                <a:cs typeface="+mn-cs"/>
              </a:rPr>
              <a:t>(p1); </a:t>
            </a:r>
          </a:p>
          <a:p>
            <a:pPr marL="0" indent="0">
              <a:buNone/>
            </a:pPr>
            <a:r>
              <a:rPr lang="en-HK" sz="1200" b="0" i="0" kern="1200" dirty="0">
                <a:solidFill>
                  <a:schemeClr val="tx1"/>
                </a:solidFill>
                <a:effectLst/>
                <a:latin typeface="Arial" charset="0"/>
                <a:ea typeface="+mn-ea"/>
                <a:cs typeface="+mn-cs"/>
              </a:rPr>
              <a:t>       X y = new Y(s);  </a:t>
            </a:r>
            <a:r>
              <a:rPr lang="en-HK" sz="1200" b="0" i="0" kern="1200" dirty="0" err="1">
                <a:solidFill>
                  <a:schemeClr val="tx1"/>
                </a:solidFill>
                <a:effectLst/>
                <a:latin typeface="Arial" charset="0"/>
                <a:ea typeface="+mn-ea"/>
                <a:cs typeface="+mn-cs"/>
              </a:rPr>
              <a:t>y.shuffle</a:t>
            </a:r>
            <a:r>
              <a:rPr lang="en-HK" sz="1200" b="0" i="0" kern="1200" dirty="0">
                <a:solidFill>
                  <a:schemeClr val="tx1"/>
                </a:solidFill>
                <a:effectLst/>
                <a:latin typeface="Arial" charset="0"/>
                <a:ea typeface="+mn-ea"/>
                <a:cs typeface="+mn-cs"/>
              </a:rPr>
              <a:t>(p2);</a:t>
            </a:r>
          </a:p>
          <a:p>
            <a:pPr marL="0" indent="0">
              <a:buNone/>
            </a:pPr>
            <a:r>
              <a:rPr lang="en-HK" sz="1200" b="0" i="0" kern="1200" dirty="0">
                <a:solidFill>
                  <a:schemeClr val="tx1"/>
                </a:solidFill>
                <a:effectLst/>
                <a:latin typeface="Arial" charset="0"/>
                <a:ea typeface="+mn-ea"/>
                <a:cs typeface="+mn-cs"/>
              </a:rPr>
              <a:t>       // </a:t>
            </a:r>
            <a:r>
              <a:rPr lang="en-HK" sz="1200" b="0" i="0" kern="1200" dirty="0" err="1">
                <a:solidFill>
                  <a:schemeClr val="tx1"/>
                </a:solidFill>
                <a:effectLst/>
                <a:latin typeface="Arial" charset="0"/>
                <a:ea typeface="+mn-ea"/>
                <a:cs typeface="+mn-cs"/>
              </a:rPr>
              <a:t>assertNotEquals</a:t>
            </a:r>
            <a:r>
              <a:rPr lang="en-HK" sz="1200" b="0" i="0" kern="1200" dirty="0">
                <a:solidFill>
                  <a:schemeClr val="tx1"/>
                </a:solidFill>
                <a:effectLst/>
                <a:latin typeface="Arial" charset="0"/>
                <a:ea typeface="+mn-ea"/>
                <a:cs typeface="+mn-cs"/>
              </a:rPr>
              <a:t>(</a:t>
            </a:r>
            <a:r>
              <a:rPr lang="en-HK" sz="1200" b="0" i="0" kern="1200" dirty="0" err="1">
                <a:solidFill>
                  <a:schemeClr val="tx1"/>
                </a:solidFill>
                <a:effectLst/>
                <a:latin typeface="Arial" charset="0"/>
                <a:ea typeface="+mn-ea"/>
                <a:cs typeface="+mn-cs"/>
              </a:rPr>
              <a:t>x.draw</a:t>
            </a:r>
            <a:r>
              <a:rPr lang="en-HK" sz="1200" b="0" i="0" kern="1200" dirty="0">
                <a:solidFill>
                  <a:schemeClr val="tx1"/>
                </a:solidFill>
                <a:effectLst/>
                <a:latin typeface="Arial" charset="0"/>
                <a:ea typeface="+mn-ea"/>
                <a:cs typeface="+mn-cs"/>
              </a:rPr>
              <a:t>(0), </a:t>
            </a:r>
            <a:r>
              <a:rPr lang="en-HK" sz="1200" b="0" i="0" kern="1200" dirty="0" err="1">
                <a:solidFill>
                  <a:schemeClr val="tx1"/>
                </a:solidFill>
                <a:effectLst/>
                <a:latin typeface="Arial" charset="0"/>
                <a:ea typeface="+mn-ea"/>
                <a:cs typeface="+mn-cs"/>
              </a:rPr>
              <a:t>x.draw</a:t>
            </a:r>
            <a:r>
              <a:rPr lang="en-HK" sz="1200" b="0" i="0" kern="1200" dirty="0">
                <a:solidFill>
                  <a:schemeClr val="tx1"/>
                </a:solidFill>
                <a:effectLst/>
                <a:latin typeface="Arial" charset="0"/>
                <a:ea typeface="+mn-ea"/>
                <a:cs typeface="+mn-cs"/>
              </a:rPr>
              <a:t>(0));  // not metamorphic relation</a:t>
            </a:r>
          </a:p>
          <a:p>
            <a:pPr marL="0" indent="0">
              <a:buNone/>
            </a:pPr>
            <a:r>
              <a:rPr lang="en-HK" sz="1200" b="0" i="0" kern="1200" dirty="0">
                <a:solidFill>
                  <a:schemeClr val="tx1"/>
                </a:solidFill>
                <a:effectLst/>
                <a:latin typeface="Arial" charset="0"/>
                <a:ea typeface="+mn-ea"/>
                <a:cs typeface="+mn-cs"/>
              </a:rPr>
              <a:t>       int y1 = </a:t>
            </a:r>
            <a:r>
              <a:rPr lang="en-HK" sz="1200" b="0" i="0" kern="1200" dirty="0" err="1">
                <a:solidFill>
                  <a:schemeClr val="tx1"/>
                </a:solidFill>
                <a:effectLst/>
                <a:latin typeface="Arial" charset="0"/>
                <a:ea typeface="+mn-ea"/>
                <a:cs typeface="+mn-cs"/>
              </a:rPr>
              <a:t>y.draw</a:t>
            </a:r>
            <a:r>
              <a:rPr lang="en-HK" sz="1200" b="0" i="0" kern="1200" dirty="0">
                <a:solidFill>
                  <a:schemeClr val="tx1"/>
                </a:solidFill>
                <a:effectLst/>
                <a:latin typeface="Arial" charset="0"/>
                <a:ea typeface="+mn-ea"/>
                <a:cs typeface="+mn-cs"/>
              </a:rPr>
              <a:t>(0);  </a:t>
            </a:r>
          </a:p>
          <a:p>
            <a:pPr marL="0" indent="0">
              <a:buNone/>
            </a:pPr>
            <a:r>
              <a:rPr lang="en-HK" sz="1200" b="0" i="0" kern="1200" dirty="0">
                <a:solidFill>
                  <a:schemeClr val="tx1"/>
                </a:solidFill>
                <a:effectLst/>
                <a:latin typeface="Arial" charset="0"/>
                <a:ea typeface="+mn-ea"/>
                <a:cs typeface="+mn-cs"/>
              </a:rPr>
              <a:t>       int y2 = </a:t>
            </a:r>
            <a:r>
              <a:rPr lang="en-HK" sz="1200" b="0" i="0" kern="1200" dirty="0" err="1">
                <a:solidFill>
                  <a:schemeClr val="tx1"/>
                </a:solidFill>
                <a:effectLst/>
                <a:latin typeface="Arial" charset="0"/>
                <a:ea typeface="+mn-ea"/>
                <a:cs typeface="+mn-cs"/>
              </a:rPr>
              <a:t>y.draw</a:t>
            </a:r>
            <a:r>
              <a:rPr lang="en-HK" sz="1200" b="0" i="0" kern="1200" dirty="0">
                <a:solidFill>
                  <a:schemeClr val="tx1"/>
                </a:solidFill>
                <a:effectLst/>
                <a:latin typeface="Arial" charset="0"/>
                <a:ea typeface="+mn-ea"/>
                <a:cs typeface="+mn-cs"/>
              </a:rPr>
              <a:t>(0);</a:t>
            </a:r>
          </a:p>
          <a:p>
            <a:pPr marL="0" indent="0">
              <a:buNone/>
            </a:pPr>
            <a:r>
              <a:rPr lang="en-HK" sz="1200" b="0" i="0" kern="1200" dirty="0">
                <a:solidFill>
                  <a:schemeClr val="tx1"/>
                </a:solidFill>
                <a:effectLst/>
                <a:latin typeface="Arial" charset="0"/>
                <a:ea typeface="+mn-ea"/>
                <a:cs typeface="+mn-cs"/>
              </a:rPr>
              <a:t>       int x1 = </a:t>
            </a:r>
            <a:r>
              <a:rPr lang="en-HK" sz="1200" b="0" i="0" kern="1200" dirty="0" err="1">
                <a:solidFill>
                  <a:schemeClr val="tx1"/>
                </a:solidFill>
                <a:effectLst/>
                <a:latin typeface="Arial" charset="0"/>
                <a:ea typeface="+mn-ea"/>
                <a:cs typeface="+mn-cs"/>
              </a:rPr>
              <a:t>x.draw</a:t>
            </a:r>
            <a:r>
              <a:rPr lang="en-HK" sz="1200" b="0" i="0" kern="1200" dirty="0">
                <a:solidFill>
                  <a:schemeClr val="tx1"/>
                </a:solidFill>
                <a:effectLst/>
                <a:latin typeface="Arial" charset="0"/>
                <a:ea typeface="+mn-ea"/>
                <a:cs typeface="+mn-cs"/>
              </a:rPr>
              <a:t>(0);</a:t>
            </a:r>
          </a:p>
          <a:p>
            <a:pPr marL="0" indent="0">
              <a:buNone/>
            </a:pPr>
            <a:r>
              <a:rPr lang="en-HK" sz="1200" b="0" i="0" kern="1200" dirty="0">
                <a:solidFill>
                  <a:schemeClr val="tx1"/>
                </a:solidFill>
                <a:effectLst/>
                <a:latin typeface="Arial" charset="0"/>
                <a:ea typeface="+mn-ea"/>
                <a:cs typeface="+mn-cs"/>
              </a:rPr>
              <a:t>       </a:t>
            </a:r>
            <a:r>
              <a:rPr lang="en-HK" sz="1200" b="0" i="0" kern="1200" dirty="0" err="1">
                <a:solidFill>
                  <a:schemeClr val="tx1"/>
                </a:solidFill>
                <a:effectLst/>
                <a:latin typeface="Arial" charset="0"/>
                <a:ea typeface="+mn-ea"/>
                <a:cs typeface="+mn-cs"/>
              </a:rPr>
              <a:t>assertTrue</a:t>
            </a:r>
            <a:r>
              <a:rPr lang="en-HK" sz="1200" b="0" i="0" kern="1200" dirty="0">
                <a:solidFill>
                  <a:schemeClr val="tx1"/>
                </a:solidFill>
                <a:effectLst/>
                <a:latin typeface="Arial" charset="0"/>
                <a:ea typeface="+mn-ea"/>
                <a:cs typeface="+mn-cs"/>
              </a:rPr>
              <a:t>( x1 &lt;&gt; y1 || x1 &lt;&gt; y2);</a:t>
            </a:r>
          </a:p>
          <a:p>
            <a:pPr marL="0" indent="0">
              <a:buNone/>
            </a:pPr>
            <a:endParaRPr lang="en-HK" dirty="0"/>
          </a:p>
          <a:p>
            <a:pPr marL="0" indent="0">
              <a:buNone/>
            </a:pPr>
            <a:r>
              <a:rPr lang="en-HK" dirty="0"/>
              <a:t>MR2. Two test cases using the same seed, and shuffles the deck for p and q times, respectively. For each test case, call draw(0) 52 times and sum up the returned values. The sums computed for the two test cases should be the same. </a:t>
            </a:r>
          </a:p>
          <a:p>
            <a:pPr marL="228600" indent="-228600">
              <a:buAutoNum type="arabicPeriod"/>
            </a:pPr>
            <a:endParaRPr lang="en-HK" dirty="0"/>
          </a:p>
          <a:p>
            <a:pPr marL="0" indent="0">
              <a:buNone/>
            </a:pPr>
            <a:r>
              <a:rPr lang="en-HK" dirty="0"/>
              <a:t>       </a:t>
            </a:r>
            <a:r>
              <a:rPr lang="en-HK" sz="1200" b="0" i="0" kern="1200" dirty="0">
                <a:solidFill>
                  <a:schemeClr val="tx1"/>
                </a:solidFill>
                <a:effectLst/>
                <a:latin typeface="Arial" charset="0"/>
                <a:ea typeface="+mn-ea"/>
                <a:cs typeface="+mn-cs"/>
              </a:rPr>
              <a:t>Random rand = new Random(); </a:t>
            </a:r>
          </a:p>
          <a:p>
            <a:pPr marL="0" indent="0">
              <a:buNone/>
            </a:pPr>
            <a:r>
              <a:rPr lang="en-HK" sz="1200" b="0" i="0" kern="1200" dirty="0">
                <a:solidFill>
                  <a:schemeClr val="tx1"/>
                </a:solidFill>
                <a:effectLst/>
                <a:latin typeface="Arial" charset="0"/>
                <a:ea typeface="+mn-ea"/>
                <a:cs typeface="+mn-cs"/>
              </a:rPr>
              <a:t>       int p = </a:t>
            </a:r>
            <a:r>
              <a:rPr lang="en-HK" sz="1200" b="0" i="0" kern="1200" dirty="0" err="1">
                <a:solidFill>
                  <a:schemeClr val="tx1"/>
                </a:solidFill>
                <a:effectLst/>
                <a:latin typeface="Arial" charset="0"/>
                <a:ea typeface="+mn-ea"/>
                <a:cs typeface="+mn-cs"/>
              </a:rPr>
              <a:t>rand.nextInt</a:t>
            </a:r>
            <a:r>
              <a:rPr lang="en-HK" sz="1200" b="0" i="0" kern="1200" dirty="0">
                <a:solidFill>
                  <a:schemeClr val="tx1"/>
                </a:solidFill>
                <a:effectLst/>
                <a:latin typeface="Arial" charset="0"/>
                <a:ea typeface="+mn-ea"/>
                <a:cs typeface="+mn-cs"/>
              </a:rPr>
              <a:t>(100) + 1; // get a value from 1 to 100</a:t>
            </a:r>
          </a:p>
          <a:p>
            <a:pPr marL="0" indent="0">
              <a:buNone/>
            </a:pPr>
            <a:r>
              <a:rPr lang="en-HK" sz="1200" b="0" i="0" kern="1200" dirty="0">
                <a:solidFill>
                  <a:schemeClr val="tx1"/>
                </a:solidFill>
                <a:effectLst/>
                <a:latin typeface="Arial" charset="0"/>
                <a:ea typeface="+mn-ea"/>
                <a:cs typeface="+mn-cs"/>
              </a:rPr>
              <a:t>       int s = </a:t>
            </a:r>
            <a:r>
              <a:rPr lang="en-HK" sz="1200" b="0" i="0" kern="1200" dirty="0" err="1">
                <a:solidFill>
                  <a:schemeClr val="tx1"/>
                </a:solidFill>
                <a:effectLst/>
                <a:latin typeface="Arial" charset="0"/>
                <a:ea typeface="+mn-ea"/>
                <a:cs typeface="+mn-cs"/>
              </a:rPr>
              <a:t>rand.nextInt</a:t>
            </a:r>
            <a:r>
              <a:rPr lang="en-HK" sz="1200" b="0" i="0" kern="1200" dirty="0">
                <a:solidFill>
                  <a:schemeClr val="tx1"/>
                </a:solidFill>
                <a:effectLst/>
                <a:latin typeface="Arial" charset="0"/>
                <a:ea typeface="+mn-ea"/>
                <a:cs typeface="+mn-cs"/>
              </a:rPr>
              <a:t>(100) + 1;</a:t>
            </a:r>
          </a:p>
          <a:p>
            <a:pPr marL="0" indent="0">
              <a:buNone/>
            </a:pPr>
            <a:r>
              <a:rPr lang="en-HK" dirty="0"/>
              <a:t>       int </a:t>
            </a:r>
            <a:r>
              <a:rPr lang="en-HK" dirty="0" err="1"/>
              <a:t>sum_x</a:t>
            </a:r>
            <a:r>
              <a:rPr lang="en-HK" dirty="0"/>
              <a:t> = 0; X x = new X(s); </a:t>
            </a:r>
            <a:r>
              <a:rPr lang="en-HK" dirty="0" err="1"/>
              <a:t>x.shuffle</a:t>
            </a:r>
            <a:r>
              <a:rPr lang="en-HK" dirty="0"/>
              <a:t>(p); for (int </a:t>
            </a:r>
            <a:r>
              <a:rPr lang="en-HK" dirty="0" err="1"/>
              <a:t>i</a:t>
            </a:r>
            <a:r>
              <a:rPr lang="en-HK" dirty="0"/>
              <a:t>=0;i&lt;52;i++) </a:t>
            </a:r>
            <a:r>
              <a:rPr lang="en-HK" dirty="0" err="1"/>
              <a:t>sum_x</a:t>
            </a:r>
            <a:r>
              <a:rPr lang="en-HK" dirty="0"/>
              <a:t> += </a:t>
            </a:r>
            <a:r>
              <a:rPr lang="en-HK" dirty="0" err="1"/>
              <a:t>x.draw</a:t>
            </a:r>
            <a:r>
              <a:rPr lang="en-HK" dirty="0"/>
              <a:t>(0);</a:t>
            </a:r>
          </a:p>
          <a:p>
            <a:pPr marL="0" indent="0">
              <a:buNone/>
            </a:pPr>
            <a:r>
              <a:rPr lang="en-HK" dirty="0"/>
              <a:t>       int </a:t>
            </a:r>
            <a:r>
              <a:rPr lang="en-HK" dirty="0" err="1"/>
              <a:t>sum_y</a:t>
            </a:r>
            <a:r>
              <a:rPr lang="en-HK" dirty="0"/>
              <a:t> = 0; X y = new X(s); </a:t>
            </a:r>
            <a:r>
              <a:rPr lang="en-HK" dirty="0" err="1"/>
              <a:t>x.shuffle</a:t>
            </a:r>
            <a:r>
              <a:rPr lang="en-HK" dirty="0"/>
              <a:t>(p*p); for (int </a:t>
            </a:r>
            <a:r>
              <a:rPr lang="en-HK" dirty="0" err="1"/>
              <a:t>i</a:t>
            </a:r>
            <a:r>
              <a:rPr lang="en-HK" dirty="0"/>
              <a:t>=0;i&lt;52;i++) </a:t>
            </a:r>
            <a:r>
              <a:rPr lang="en-HK" dirty="0" err="1"/>
              <a:t>sum_y</a:t>
            </a:r>
            <a:r>
              <a:rPr lang="en-HK" dirty="0"/>
              <a:t> += </a:t>
            </a:r>
            <a:r>
              <a:rPr lang="en-HK" dirty="0" err="1"/>
              <a:t>y.draw</a:t>
            </a:r>
            <a:r>
              <a:rPr lang="en-HK" dirty="0"/>
              <a:t>(0);</a:t>
            </a:r>
          </a:p>
          <a:p>
            <a:pPr marL="0" indent="0">
              <a:buNone/>
            </a:pPr>
            <a:r>
              <a:rPr lang="en-HK" dirty="0"/>
              <a:t>       </a:t>
            </a:r>
            <a:r>
              <a:rPr lang="en-HK" dirty="0" err="1"/>
              <a:t>assertEquals</a:t>
            </a:r>
            <a:r>
              <a:rPr lang="en-HK" dirty="0"/>
              <a:t>(</a:t>
            </a:r>
            <a:r>
              <a:rPr lang="en-HK" dirty="0" err="1"/>
              <a:t>sum_x</a:t>
            </a:r>
            <a:r>
              <a:rPr lang="en-HK" dirty="0"/>
              <a:t>, </a:t>
            </a:r>
            <a:r>
              <a:rPr lang="en-HK" dirty="0" err="1"/>
              <a:t>sum_y</a:t>
            </a:r>
            <a:r>
              <a:rPr lang="en-HK" dirty="0"/>
              <a:t>);</a:t>
            </a:r>
          </a:p>
          <a:p>
            <a:pPr marL="0" indent="0">
              <a:buNone/>
            </a:pPr>
            <a:endParaRPr lang="en-HK" dirty="0"/>
          </a:p>
          <a:p>
            <a:pPr marL="0" indent="0">
              <a:buNone/>
            </a:pPr>
            <a:r>
              <a:rPr lang="en-HK" dirty="0"/>
              <a:t>There are many other relations. Can you think of a metamorphic relation that the input to the second instance of X depends on the output of the first instance of X?</a:t>
            </a:r>
          </a:p>
          <a:p>
            <a:pPr marL="0" indent="0">
              <a:buNone/>
            </a:pPr>
            <a:endParaRPr lang="en-HK" dirty="0"/>
          </a:p>
        </p:txBody>
      </p:sp>
      <p:sp>
        <p:nvSpPr>
          <p:cNvPr id="4" name="Footer Placeholder 3"/>
          <p:cNvSpPr>
            <a:spLocks noGrp="1"/>
          </p:cNvSpPr>
          <p:nvPr>
            <p:ph type="ftr" sz="quarter" idx="10"/>
          </p:nvPr>
        </p:nvSpPr>
        <p:spPr/>
        <p:txBody>
          <a:bodyPr/>
          <a:lstStyle/>
          <a:p>
            <a:pPr>
              <a:defRPr/>
            </a:pPr>
            <a:r>
              <a:rPr lang="en-US"/>
              <a:t>Software Design</a:t>
            </a:r>
          </a:p>
        </p:txBody>
      </p:sp>
      <p:sp>
        <p:nvSpPr>
          <p:cNvPr id="5" name="Slide Number Placeholder 4"/>
          <p:cNvSpPr>
            <a:spLocks noGrp="1"/>
          </p:cNvSpPr>
          <p:nvPr>
            <p:ph type="sldNum" sz="quarter" idx="11"/>
          </p:nvPr>
        </p:nvSpPr>
        <p:spPr/>
        <p:txBody>
          <a:bodyPr/>
          <a:lstStyle/>
          <a:p>
            <a:pPr>
              <a:defRPr/>
            </a:pPr>
            <a:fld id="{A7E88535-4BEA-4EE8-AB4A-C9FA970A9824}" type="slidenum">
              <a:rPr lang="en-US" smtClean="0"/>
              <a:pPr>
                <a:defRPr/>
              </a:pPr>
              <a:t>27</a:t>
            </a:fld>
            <a:endParaRPr lang="en-US"/>
          </a:p>
        </p:txBody>
      </p:sp>
    </p:spTree>
    <p:extLst>
      <p:ext uri="{BB962C8B-B14F-4D97-AF65-F5344CB8AC3E}">
        <p14:creationId xmlns:p14="http://schemas.microsoft.com/office/powerpoint/2010/main" val="6571504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HK" dirty="0"/>
              <a:t>Y is non-deterministic as we could not control the random seed.</a:t>
            </a:r>
          </a:p>
          <a:p>
            <a:endParaRPr lang="en-HK" dirty="0"/>
          </a:p>
          <a:p>
            <a:r>
              <a:rPr lang="en-HK" dirty="0"/>
              <a:t>We can only have a more general property to test Y.</a:t>
            </a:r>
          </a:p>
          <a:p>
            <a:endParaRPr lang="en-HK" dirty="0"/>
          </a:p>
          <a:p>
            <a:r>
              <a:rPr lang="en-HK" dirty="0"/>
              <a:t>Metamorphic Relation:</a:t>
            </a:r>
          </a:p>
          <a:p>
            <a:r>
              <a:rPr lang="en-HK" dirty="0"/>
              <a:t>1.  The relation to compute the Sum of all 52 cards in previous slide’s solution (i.e., Relation MR2) is a possible choice.</a:t>
            </a:r>
          </a:p>
        </p:txBody>
      </p:sp>
      <p:sp>
        <p:nvSpPr>
          <p:cNvPr id="4" name="Footer Placeholder 3"/>
          <p:cNvSpPr>
            <a:spLocks noGrp="1"/>
          </p:cNvSpPr>
          <p:nvPr>
            <p:ph type="ftr" sz="quarter" idx="10"/>
          </p:nvPr>
        </p:nvSpPr>
        <p:spPr/>
        <p:txBody>
          <a:bodyPr/>
          <a:lstStyle/>
          <a:p>
            <a:pPr>
              <a:defRPr/>
            </a:pPr>
            <a:r>
              <a:rPr lang="en-US"/>
              <a:t>Software Design</a:t>
            </a:r>
          </a:p>
        </p:txBody>
      </p:sp>
      <p:sp>
        <p:nvSpPr>
          <p:cNvPr id="5" name="Slide Number Placeholder 4"/>
          <p:cNvSpPr>
            <a:spLocks noGrp="1"/>
          </p:cNvSpPr>
          <p:nvPr>
            <p:ph type="sldNum" sz="quarter" idx="11"/>
          </p:nvPr>
        </p:nvSpPr>
        <p:spPr/>
        <p:txBody>
          <a:bodyPr/>
          <a:lstStyle/>
          <a:p>
            <a:pPr>
              <a:defRPr/>
            </a:pPr>
            <a:fld id="{A7E88535-4BEA-4EE8-AB4A-C9FA970A9824}" type="slidenum">
              <a:rPr lang="en-US" smtClean="0"/>
              <a:pPr>
                <a:defRPr/>
              </a:pPr>
              <a:t>29</a:t>
            </a:fld>
            <a:endParaRPr lang="en-US"/>
          </a:p>
        </p:txBody>
      </p:sp>
    </p:spTree>
    <p:extLst>
      <p:ext uri="{BB962C8B-B14F-4D97-AF65-F5344CB8AC3E}">
        <p14:creationId xmlns:p14="http://schemas.microsoft.com/office/powerpoint/2010/main" val="387572411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4" name="Line 1026"/>
          <p:cNvSpPr>
            <a:spLocks noChangeShapeType="1"/>
          </p:cNvSpPr>
          <p:nvPr/>
        </p:nvSpPr>
        <p:spPr bwMode="auto">
          <a:xfrm>
            <a:off x="0" y="34290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3075" name="Rectangle 1027"/>
          <p:cNvSpPr>
            <a:spLocks noGrp="1" noChangeArrowheads="1"/>
          </p:cNvSpPr>
          <p:nvPr>
            <p:ph type="ctrTitle" sz="quarter"/>
          </p:nvPr>
        </p:nvSpPr>
        <p:spPr>
          <a:xfrm>
            <a:off x="381000" y="381000"/>
            <a:ext cx="9067800" cy="3048000"/>
          </a:xfrm>
        </p:spPr>
        <p:txBody>
          <a:bodyPr/>
          <a:lstStyle>
            <a:lvl1pPr>
              <a:defRPr sz="6600"/>
            </a:lvl1pPr>
          </a:lstStyle>
          <a:p>
            <a:r>
              <a:rPr lang="en-US"/>
              <a:t>Click to edit Master title style</a:t>
            </a:r>
          </a:p>
        </p:txBody>
      </p:sp>
      <p:sp>
        <p:nvSpPr>
          <p:cNvPr id="3076" name="Rectangle 1028"/>
          <p:cNvSpPr>
            <a:spLocks noGrp="1" noChangeArrowheads="1"/>
          </p:cNvSpPr>
          <p:nvPr>
            <p:ph type="subTitle" sz="quarter" idx="1"/>
          </p:nvPr>
        </p:nvSpPr>
        <p:spPr>
          <a:xfrm>
            <a:off x="401638" y="3886200"/>
            <a:ext cx="9067800" cy="2819400"/>
          </a:xfrm>
        </p:spPr>
        <p:txBody>
          <a:bodyPr/>
          <a:lstStyle>
            <a:lvl1pPr marL="0" indent="0">
              <a:buFont typeface="Wingdings" pitchFamily="2" charset="2"/>
              <a:buNone/>
              <a:defRPr/>
            </a:lvl1pPr>
          </a:lstStyle>
          <a:p>
            <a:r>
              <a:rPr lang="en-US"/>
              <a:t>Click to edit Master subtitle style</a:t>
            </a:r>
          </a:p>
        </p:txBody>
      </p:sp>
      <p:sp>
        <p:nvSpPr>
          <p:cNvPr id="5" name="Rectangle 1029"/>
          <p:cNvSpPr>
            <a:spLocks noGrp="1" noChangeArrowheads="1"/>
          </p:cNvSpPr>
          <p:nvPr>
            <p:ph type="dt" sz="quarter" idx="10"/>
          </p:nvPr>
        </p:nvSpPr>
        <p:spPr>
          <a:xfrm>
            <a:off x="401638" y="6248400"/>
            <a:ext cx="2062162" cy="457200"/>
          </a:xfrm>
        </p:spPr>
        <p:txBody>
          <a:bodyPr/>
          <a:lstStyle>
            <a:lvl1pPr>
              <a:defRPr/>
            </a:lvl1pPr>
          </a:lstStyle>
          <a:p>
            <a:pPr>
              <a:defRPr/>
            </a:pPr>
            <a:endParaRPr lang="en-US"/>
          </a:p>
        </p:txBody>
      </p:sp>
      <p:sp>
        <p:nvSpPr>
          <p:cNvPr id="6" name="Rectangle 1030"/>
          <p:cNvSpPr>
            <a:spLocks noGrp="1" noChangeArrowheads="1"/>
          </p:cNvSpPr>
          <p:nvPr>
            <p:ph type="ftr" sz="quarter" idx="11"/>
          </p:nvPr>
        </p:nvSpPr>
        <p:spPr>
          <a:xfrm>
            <a:off x="3367088" y="6248400"/>
            <a:ext cx="3136900" cy="457200"/>
          </a:xfrm>
        </p:spPr>
        <p:txBody>
          <a:bodyPr/>
          <a:lstStyle>
            <a:lvl1pPr>
              <a:defRPr/>
            </a:lvl1pPr>
          </a:lstStyle>
          <a:p>
            <a:pPr>
              <a:defRPr/>
            </a:pPr>
            <a:r>
              <a:rPr lang="en-US"/>
              <a:t>Software Quality</a:t>
            </a:r>
          </a:p>
        </p:txBody>
      </p:sp>
      <p:sp>
        <p:nvSpPr>
          <p:cNvPr id="7" name="Rectangle 1031"/>
          <p:cNvSpPr>
            <a:spLocks noGrp="1" noChangeArrowheads="1"/>
          </p:cNvSpPr>
          <p:nvPr>
            <p:ph type="sldNum" sz="quarter" idx="12"/>
          </p:nvPr>
        </p:nvSpPr>
        <p:spPr>
          <a:xfrm>
            <a:off x="7407275" y="6248400"/>
            <a:ext cx="2062163" cy="457200"/>
          </a:xfrm>
        </p:spPr>
        <p:txBody>
          <a:bodyPr/>
          <a:lstStyle>
            <a:lvl1pPr>
              <a:defRPr/>
            </a:lvl1pPr>
          </a:lstStyle>
          <a:p>
            <a:pPr>
              <a:defRPr/>
            </a:pPr>
            <a:fld id="{C9E3E309-C4F3-40C3-813B-7A36DC967DF9}" type="slidenum">
              <a:rPr lang="en-US"/>
              <a:pPr>
                <a:defRPr/>
              </a:pPr>
              <a:t>‹#›</a:t>
            </a:fld>
            <a:endParaRPr lang="en-US"/>
          </a:p>
        </p:txBody>
      </p:sp>
    </p:spTree>
    <p:extLst>
      <p:ext uri="{BB962C8B-B14F-4D97-AF65-F5344CB8AC3E}">
        <p14:creationId xmlns:p14="http://schemas.microsoft.com/office/powerpoint/2010/main" val="3444432482"/>
      </p:ext>
    </p:extLst>
  </p:cSld>
  <p:clrMapOvr>
    <a:overrideClrMapping bg1="lt1" tx1="dk1" bg2="lt2" tx2="dk2" accent1="accent1" accent2="accent2" accent3="accent3" accent4="accent4" accent5="accent5" accent6="accent6" hlink="hlink" folHlink="folHlink"/>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63B8F44C-0EDE-4D7D-9086-BD1CF3CE7AF7}" type="slidenum">
              <a:rPr lang="en-US"/>
              <a:pPr>
                <a:defRPr/>
              </a:pPr>
              <a:t>‹#›</a:t>
            </a:fld>
            <a:endParaRPr lang="en-US"/>
          </a:p>
        </p:txBody>
      </p:sp>
    </p:spTree>
    <p:extLst>
      <p:ext uri="{BB962C8B-B14F-4D97-AF65-F5344CB8AC3E}">
        <p14:creationId xmlns:p14="http://schemas.microsoft.com/office/powerpoint/2010/main" val="3531888079"/>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638" y="4406900"/>
            <a:ext cx="8416925"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82638" y="2906713"/>
            <a:ext cx="8416925"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ECCD115F-8D68-417D-BE51-0997C55306EF}" type="slidenum">
              <a:rPr lang="en-US"/>
              <a:pPr>
                <a:defRPr/>
              </a:pPr>
              <a:t>‹#›</a:t>
            </a:fld>
            <a:endParaRPr lang="en-US"/>
          </a:p>
        </p:txBody>
      </p:sp>
    </p:spTree>
    <p:extLst>
      <p:ext uri="{BB962C8B-B14F-4D97-AF65-F5344CB8AC3E}">
        <p14:creationId xmlns:p14="http://schemas.microsoft.com/office/powerpoint/2010/main" val="128324402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2750"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06975"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D6C972CB-25A0-49CA-A04F-81E0CCB967DE}" type="slidenum">
              <a:rPr lang="en-US"/>
              <a:pPr>
                <a:defRPr/>
              </a:pPr>
              <a:t>‹#›</a:t>
            </a:fld>
            <a:endParaRPr lang="en-US"/>
          </a:p>
        </p:txBody>
      </p:sp>
    </p:spTree>
    <p:extLst>
      <p:ext uri="{BB962C8B-B14F-4D97-AF65-F5344CB8AC3E}">
        <p14:creationId xmlns:p14="http://schemas.microsoft.com/office/powerpoint/2010/main" val="3245672346"/>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4638"/>
            <a:ext cx="8912225"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3"/>
            <a:ext cx="437515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95300" y="2174875"/>
            <a:ext cx="437515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0788" y="1535113"/>
            <a:ext cx="43767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30788" y="2174875"/>
            <a:ext cx="43767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5"/>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9" name="Rectangle 7"/>
          <p:cNvSpPr>
            <a:spLocks noGrp="1" noChangeArrowheads="1"/>
          </p:cNvSpPr>
          <p:nvPr>
            <p:ph type="sldNum" sz="quarter" idx="12"/>
          </p:nvPr>
        </p:nvSpPr>
        <p:spPr>
          <a:ln/>
        </p:spPr>
        <p:txBody>
          <a:bodyPr/>
          <a:lstStyle>
            <a:lvl1pPr>
              <a:defRPr/>
            </a:lvl1pPr>
          </a:lstStyle>
          <a:p>
            <a:pPr>
              <a:defRPr/>
            </a:pPr>
            <a:fld id="{65FA675B-1F56-4A1F-B974-9460B94FF877}" type="slidenum">
              <a:rPr lang="en-US"/>
              <a:pPr>
                <a:defRPr/>
              </a:pPr>
              <a:t>‹#›</a:t>
            </a:fld>
            <a:endParaRPr lang="en-US"/>
          </a:p>
        </p:txBody>
      </p:sp>
    </p:spTree>
    <p:extLst>
      <p:ext uri="{BB962C8B-B14F-4D97-AF65-F5344CB8AC3E}">
        <p14:creationId xmlns:p14="http://schemas.microsoft.com/office/powerpoint/2010/main" val="4252614090"/>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5"/>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5" name="Rectangle 7"/>
          <p:cNvSpPr>
            <a:spLocks noGrp="1" noChangeArrowheads="1"/>
          </p:cNvSpPr>
          <p:nvPr>
            <p:ph type="sldNum" sz="quarter" idx="12"/>
          </p:nvPr>
        </p:nvSpPr>
        <p:spPr>
          <a:ln/>
        </p:spPr>
        <p:txBody>
          <a:bodyPr/>
          <a:lstStyle>
            <a:lvl1pPr>
              <a:defRPr/>
            </a:lvl1pPr>
          </a:lstStyle>
          <a:p>
            <a:pPr>
              <a:defRPr/>
            </a:pPr>
            <a:fld id="{C55598A2-17A2-444F-952B-9804449BE04B}" type="slidenum">
              <a:rPr lang="en-US"/>
              <a:pPr>
                <a:defRPr/>
              </a:pPr>
              <a:t>‹#›</a:t>
            </a:fld>
            <a:endParaRPr lang="en-US"/>
          </a:p>
        </p:txBody>
      </p:sp>
    </p:spTree>
    <p:extLst>
      <p:ext uri="{BB962C8B-B14F-4D97-AF65-F5344CB8AC3E}">
        <p14:creationId xmlns:p14="http://schemas.microsoft.com/office/powerpoint/2010/main" val="132614715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4" name="Rectangle 7"/>
          <p:cNvSpPr>
            <a:spLocks noGrp="1" noChangeArrowheads="1"/>
          </p:cNvSpPr>
          <p:nvPr>
            <p:ph type="sldNum" sz="quarter" idx="12"/>
          </p:nvPr>
        </p:nvSpPr>
        <p:spPr>
          <a:ln/>
        </p:spPr>
        <p:txBody>
          <a:bodyPr/>
          <a:lstStyle>
            <a:lvl1pPr>
              <a:defRPr/>
            </a:lvl1pPr>
          </a:lstStyle>
          <a:p>
            <a:pPr>
              <a:defRPr/>
            </a:pPr>
            <a:fld id="{1AD18685-0001-4CA4-BB9B-682137D85FB6}" type="slidenum">
              <a:rPr lang="en-US"/>
              <a:pPr>
                <a:defRPr/>
              </a:pPr>
              <a:t>‹#›</a:t>
            </a:fld>
            <a:endParaRPr lang="en-US"/>
          </a:p>
        </p:txBody>
      </p:sp>
    </p:spTree>
    <p:extLst>
      <p:ext uri="{BB962C8B-B14F-4D97-AF65-F5344CB8AC3E}">
        <p14:creationId xmlns:p14="http://schemas.microsoft.com/office/powerpoint/2010/main" val="269660345"/>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3050"/>
            <a:ext cx="3257550"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871913" y="273050"/>
            <a:ext cx="553561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0" y="1435100"/>
            <a:ext cx="3257550"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A00572DE-3297-44C9-8095-AE1A459C6662}" type="slidenum">
              <a:rPr lang="en-US"/>
              <a:pPr>
                <a:defRPr/>
              </a:pPr>
              <a:t>‹#›</a:t>
            </a:fld>
            <a:endParaRPr lang="en-US"/>
          </a:p>
        </p:txBody>
      </p:sp>
    </p:spTree>
    <p:extLst>
      <p:ext uri="{BB962C8B-B14F-4D97-AF65-F5344CB8AC3E}">
        <p14:creationId xmlns:p14="http://schemas.microsoft.com/office/powerpoint/2010/main" val="422564286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513" y="4800600"/>
            <a:ext cx="5940425"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941513" y="612775"/>
            <a:ext cx="594042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941513" y="5367338"/>
            <a:ext cx="594042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C68E5FA2-5579-48D2-AAEA-0395A9685864}" type="slidenum">
              <a:rPr lang="en-US"/>
              <a:pPr>
                <a:defRPr/>
              </a:pPr>
              <a:t>‹#›</a:t>
            </a:fld>
            <a:endParaRPr lang="en-US"/>
          </a:p>
        </p:txBody>
      </p:sp>
    </p:spTree>
    <p:extLst>
      <p:ext uri="{BB962C8B-B14F-4D97-AF65-F5344CB8AC3E}">
        <p14:creationId xmlns:p14="http://schemas.microsoft.com/office/powerpoint/2010/main" val="1610922350"/>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4EDE836C-C506-41B6-AE73-6EC51D540379}" type="slidenum">
              <a:rPr lang="en-US"/>
              <a:pPr>
                <a:defRPr/>
              </a:pPr>
              <a:t>‹#›</a:t>
            </a:fld>
            <a:endParaRPr lang="en-US"/>
          </a:p>
        </p:txBody>
      </p:sp>
    </p:spTree>
    <p:extLst>
      <p:ext uri="{BB962C8B-B14F-4D97-AF65-F5344CB8AC3E}">
        <p14:creationId xmlns:p14="http://schemas.microsoft.com/office/powerpoint/2010/main" val="2008190766"/>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9788" y="266700"/>
            <a:ext cx="2259012" cy="63627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2750" y="266700"/>
            <a:ext cx="6624638" cy="63627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C807D62A-A25F-4874-AB67-6CF4C9C4736C}" type="slidenum">
              <a:rPr lang="en-US"/>
              <a:pPr>
                <a:defRPr/>
              </a:pPr>
              <a:t>‹#›</a:t>
            </a:fld>
            <a:endParaRPr lang="en-US"/>
          </a:p>
        </p:txBody>
      </p:sp>
    </p:spTree>
    <p:extLst>
      <p:ext uri="{BB962C8B-B14F-4D97-AF65-F5344CB8AC3E}">
        <p14:creationId xmlns:p14="http://schemas.microsoft.com/office/powerpoint/2010/main" val="4168420388"/>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12750" y="266700"/>
            <a:ext cx="9036050" cy="1104900"/>
          </a:xfrm>
        </p:spPr>
        <p:txBody>
          <a:bodyPr/>
          <a:lstStyle/>
          <a:p>
            <a:r>
              <a:rPr lang="en-US"/>
              <a:t>Click to edit Master title style</a:t>
            </a:r>
          </a:p>
        </p:txBody>
      </p:sp>
      <p:sp>
        <p:nvSpPr>
          <p:cNvPr id="3" name="Table Placeholder 2"/>
          <p:cNvSpPr>
            <a:spLocks noGrp="1"/>
          </p:cNvSpPr>
          <p:nvPr>
            <p:ph type="tbl" idx="1"/>
          </p:nvPr>
        </p:nvSpPr>
        <p:spPr>
          <a:xfrm>
            <a:off x="412750" y="1676400"/>
            <a:ext cx="9036050" cy="4953000"/>
          </a:xfrm>
        </p:spPr>
        <p:txBody>
          <a:bodyPr/>
          <a:lstStyle/>
          <a:p>
            <a:pPr lvl="0"/>
            <a:endParaRPr lang="en-US" noProof="0"/>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5792DDC3-EFA3-4647-8A6E-E8039DA1A91A}" type="slidenum">
              <a:rPr lang="en-US"/>
              <a:pPr>
                <a:defRPr/>
              </a:pPr>
              <a:t>‹#›</a:t>
            </a:fld>
            <a:endParaRPr lang="en-US"/>
          </a:p>
        </p:txBody>
      </p:sp>
    </p:spTree>
    <p:extLst>
      <p:ext uri="{BB962C8B-B14F-4D97-AF65-F5344CB8AC3E}">
        <p14:creationId xmlns:p14="http://schemas.microsoft.com/office/powerpoint/2010/main" val="1249592127"/>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
          <p:cNvSpPr>
            <a:spLocks noChangeShapeType="1"/>
          </p:cNvSpPr>
          <p:nvPr/>
        </p:nvSpPr>
        <p:spPr bwMode="auto">
          <a:xfrm>
            <a:off x="0" y="13716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1027" name="Rectangle 3"/>
          <p:cNvSpPr>
            <a:spLocks noGrp="1" noChangeArrowheads="1"/>
          </p:cNvSpPr>
          <p:nvPr>
            <p:ph type="title"/>
          </p:nvPr>
        </p:nvSpPr>
        <p:spPr bwMode="auto">
          <a:xfrm>
            <a:off x="412750" y="266700"/>
            <a:ext cx="9036050" cy="110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b" anchorCtr="0" compatLnSpc="1">
            <a:prstTxWarp prst="textNoShape">
              <a:avLst/>
            </a:prstTxWarp>
          </a:bodyPr>
          <a:lstStyle/>
          <a:p>
            <a:pPr lvl="0"/>
            <a:r>
              <a:rPr lang="en-US"/>
              <a:t>Click to edit Master title style</a:t>
            </a:r>
          </a:p>
        </p:txBody>
      </p:sp>
      <p:sp>
        <p:nvSpPr>
          <p:cNvPr id="1028" name="Rectangle 4"/>
          <p:cNvSpPr>
            <a:spLocks noGrp="1" noChangeArrowheads="1"/>
          </p:cNvSpPr>
          <p:nvPr>
            <p:ph type="body" idx="1"/>
          </p:nvPr>
        </p:nvSpPr>
        <p:spPr bwMode="auto">
          <a:xfrm>
            <a:off x="412750" y="1676400"/>
            <a:ext cx="9036050"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9" name="Rectangle 5"/>
          <p:cNvSpPr>
            <a:spLocks noGrp="1" noChangeArrowheads="1"/>
          </p:cNvSpPr>
          <p:nvPr>
            <p:ph type="dt" sz="half" idx="2"/>
          </p:nvPr>
        </p:nvSpPr>
        <p:spPr bwMode="auto">
          <a:xfrm>
            <a:off x="412750" y="6172200"/>
            <a:ext cx="2062163"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defRPr sz="1400">
                <a:solidFill>
                  <a:schemeClr val="folHlink"/>
                </a:solidFill>
              </a:defRPr>
            </a:lvl1pPr>
          </a:lstStyle>
          <a:p>
            <a:pPr>
              <a:defRPr/>
            </a:pPr>
            <a:endParaRPr lang="en-US"/>
          </a:p>
        </p:txBody>
      </p:sp>
      <p:sp>
        <p:nvSpPr>
          <p:cNvPr id="1030" name="Rectangle 6"/>
          <p:cNvSpPr>
            <a:spLocks noGrp="1" noChangeArrowheads="1"/>
          </p:cNvSpPr>
          <p:nvPr>
            <p:ph type="ftr" sz="quarter" idx="3"/>
          </p:nvPr>
        </p:nvSpPr>
        <p:spPr bwMode="auto">
          <a:xfrm>
            <a:off x="3382963" y="6172200"/>
            <a:ext cx="31369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ctr">
              <a:defRPr sz="1400">
                <a:solidFill>
                  <a:schemeClr val="folHlink"/>
                </a:solidFill>
              </a:defRPr>
            </a:lvl1pPr>
          </a:lstStyle>
          <a:p>
            <a:pPr>
              <a:defRPr/>
            </a:pPr>
            <a:r>
              <a:rPr lang="en-US" dirty="0"/>
              <a:t>EC6001</a:t>
            </a:r>
          </a:p>
        </p:txBody>
      </p:sp>
      <p:sp>
        <p:nvSpPr>
          <p:cNvPr id="1031" name="Rectangle 7"/>
          <p:cNvSpPr>
            <a:spLocks noGrp="1" noChangeArrowheads="1"/>
          </p:cNvSpPr>
          <p:nvPr>
            <p:ph type="sldNum" sz="quarter" idx="4"/>
          </p:nvPr>
        </p:nvSpPr>
        <p:spPr bwMode="auto">
          <a:xfrm>
            <a:off x="7427913" y="6172200"/>
            <a:ext cx="2062162"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r">
              <a:defRPr sz="1400">
                <a:solidFill>
                  <a:schemeClr val="folHlink"/>
                </a:solidFill>
              </a:defRPr>
            </a:lvl1pPr>
          </a:lstStyle>
          <a:p>
            <a:pPr>
              <a:defRPr/>
            </a:pPr>
            <a:fld id="{BD8E331F-9D83-4245-9A62-97CA84DE22F4}"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868" r:id="rId1"/>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Lst>
  <p:transition/>
  <p:hf hdr="0" ftr="0" dt="0"/>
  <p:txStyles>
    <p:titleStyle>
      <a:lvl1pPr algn="l" rtl="0" eaLnBrk="0" fontAlgn="base" hangingPunct="0">
        <a:lnSpc>
          <a:spcPct val="90000"/>
        </a:lnSpc>
        <a:spcBef>
          <a:spcPct val="0"/>
        </a:spcBef>
        <a:spcAft>
          <a:spcPct val="0"/>
        </a:spcAft>
        <a:defRPr sz="4400" b="1">
          <a:solidFill>
            <a:schemeClr val="tx2"/>
          </a:solidFill>
          <a:latin typeface="+mj-lt"/>
          <a:ea typeface="+mj-ea"/>
          <a:cs typeface="+mj-cs"/>
        </a:defRPr>
      </a:lvl1pPr>
      <a:lvl2pPr algn="l" rtl="0" eaLnBrk="0" fontAlgn="base" hangingPunct="0">
        <a:lnSpc>
          <a:spcPct val="90000"/>
        </a:lnSpc>
        <a:spcBef>
          <a:spcPct val="0"/>
        </a:spcBef>
        <a:spcAft>
          <a:spcPct val="0"/>
        </a:spcAft>
        <a:defRPr sz="4400" b="1">
          <a:solidFill>
            <a:schemeClr val="tx2"/>
          </a:solidFill>
          <a:latin typeface="Times New Roman" pitchFamily="18" charset="0"/>
        </a:defRPr>
      </a:lvl2pPr>
      <a:lvl3pPr algn="l" rtl="0" eaLnBrk="0" fontAlgn="base" hangingPunct="0">
        <a:lnSpc>
          <a:spcPct val="90000"/>
        </a:lnSpc>
        <a:spcBef>
          <a:spcPct val="0"/>
        </a:spcBef>
        <a:spcAft>
          <a:spcPct val="0"/>
        </a:spcAft>
        <a:defRPr sz="4400" b="1">
          <a:solidFill>
            <a:schemeClr val="tx2"/>
          </a:solidFill>
          <a:latin typeface="Times New Roman" pitchFamily="18" charset="0"/>
        </a:defRPr>
      </a:lvl3pPr>
      <a:lvl4pPr algn="l" rtl="0" eaLnBrk="0" fontAlgn="base" hangingPunct="0">
        <a:lnSpc>
          <a:spcPct val="90000"/>
        </a:lnSpc>
        <a:spcBef>
          <a:spcPct val="0"/>
        </a:spcBef>
        <a:spcAft>
          <a:spcPct val="0"/>
        </a:spcAft>
        <a:defRPr sz="4400" b="1">
          <a:solidFill>
            <a:schemeClr val="tx2"/>
          </a:solidFill>
          <a:latin typeface="Times New Roman" pitchFamily="18" charset="0"/>
        </a:defRPr>
      </a:lvl4pPr>
      <a:lvl5pPr algn="l" rtl="0" eaLnBrk="0" fontAlgn="base" hangingPunct="0">
        <a:lnSpc>
          <a:spcPct val="90000"/>
        </a:lnSpc>
        <a:spcBef>
          <a:spcPct val="0"/>
        </a:spcBef>
        <a:spcAft>
          <a:spcPct val="0"/>
        </a:spcAft>
        <a:defRPr sz="4400" b="1">
          <a:solidFill>
            <a:schemeClr val="tx2"/>
          </a:solidFill>
          <a:latin typeface="Times New Roman" pitchFamily="18" charset="0"/>
        </a:defRPr>
      </a:lvl5pPr>
      <a:lvl6pPr marL="457200" algn="l" rtl="0" eaLnBrk="0" fontAlgn="base" hangingPunct="0">
        <a:lnSpc>
          <a:spcPct val="90000"/>
        </a:lnSpc>
        <a:spcBef>
          <a:spcPct val="0"/>
        </a:spcBef>
        <a:spcAft>
          <a:spcPct val="0"/>
        </a:spcAft>
        <a:defRPr sz="4400" b="1">
          <a:solidFill>
            <a:schemeClr val="tx2"/>
          </a:solidFill>
          <a:latin typeface="Times New Roman" pitchFamily="18" charset="0"/>
        </a:defRPr>
      </a:lvl6pPr>
      <a:lvl7pPr marL="914400" algn="l" rtl="0" eaLnBrk="0" fontAlgn="base" hangingPunct="0">
        <a:lnSpc>
          <a:spcPct val="90000"/>
        </a:lnSpc>
        <a:spcBef>
          <a:spcPct val="0"/>
        </a:spcBef>
        <a:spcAft>
          <a:spcPct val="0"/>
        </a:spcAft>
        <a:defRPr sz="4400" b="1">
          <a:solidFill>
            <a:schemeClr val="tx2"/>
          </a:solidFill>
          <a:latin typeface="Times New Roman" pitchFamily="18" charset="0"/>
        </a:defRPr>
      </a:lvl7pPr>
      <a:lvl8pPr marL="1371600" algn="l" rtl="0" eaLnBrk="0" fontAlgn="base" hangingPunct="0">
        <a:lnSpc>
          <a:spcPct val="90000"/>
        </a:lnSpc>
        <a:spcBef>
          <a:spcPct val="0"/>
        </a:spcBef>
        <a:spcAft>
          <a:spcPct val="0"/>
        </a:spcAft>
        <a:defRPr sz="4400" b="1">
          <a:solidFill>
            <a:schemeClr val="tx2"/>
          </a:solidFill>
          <a:latin typeface="Times New Roman" pitchFamily="18" charset="0"/>
        </a:defRPr>
      </a:lvl8pPr>
      <a:lvl9pPr marL="1828800" algn="l" rtl="0" eaLnBrk="0" fontAlgn="base" hangingPunct="0">
        <a:lnSpc>
          <a:spcPct val="90000"/>
        </a:lnSpc>
        <a:spcBef>
          <a:spcPct val="0"/>
        </a:spcBef>
        <a:spcAft>
          <a:spcPct val="0"/>
        </a:spcAft>
        <a:defRPr sz="4400" b="1">
          <a:solidFill>
            <a:schemeClr val="tx2"/>
          </a:solidFill>
          <a:latin typeface="Times New Roman" pitchFamily="18" charset="0"/>
        </a:defRPr>
      </a:lvl9pPr>
    </p:titleStyle>
    <p:bodyStyle>
      <a:lvl1pPr marL="398463" indent="-398463" algn="l" rtl="0" eaLnBrk="0" fontAlgn="base" hangingPunct="0">
        <a:spcBef>
          <a:spcPct val="20000"/>
        </a:spcBef>
        <a:spcAft>
          <a:spcPct val="0"/>
        </a:spcAft>
        <a:buClr>
          <a:schemeClr val="tx2"/>
        </a:buClr>
        <a:buSzPct val="60000"/>
        <a:buFont typeface="Wingdings" pitchFamily="2" charset="2"/>
        <a:buChar char="u"/>
        <a:defRPr sz="3200">
          <a:solidFill>
            <a:schemeClr val="tx1"/>
          </a:solidFill>
          <a:latin typeface="+mn-lt"/>
          <a:ea typeface="+mn-ea"/>
          <a:cs typeface="+mn-cs"/>
        </a:defRPr>
      </a:lvl1pPr>
      <a:lvl2pPr marL="862013" indent="-349250" algn="l" rtl="0" eaLnBrk="0" fontAlgn="base" hangingPunct="0">
        <a:spcBef>
          <a:spcPct val="20000"/>
        </a:spcBef>
        <a:spcAft>
          <a:spcPct val="0"/>
        </a:spcAft>
        <a:buClr>
          <a:schemeClr val="tx2"/>
        </a:buClr>
        <a:buSzPct val="60000"/>
        <a:buFont typeface="Wingdings" pitchFamily="2" charset="2"/>
        <a:buChar char="n"/>
        <a:defRPr sz="2800">
          <a:solidFill>
            <a:schemeClr val="tx1"/>
          </a:solidFill>
          <a:latin typeface="+mn-lt"/>
        </a:defRPr>
      </a:lvl2pPr>
      <a:lvl3pPr marL="1262063" indent="-285750" algn="l" rtl="0" eaLnBrk="0" fontAlgn="base" hangingPunct="0">
        <a:spcBef>
          <a:spcPct val="20000"/>
        </a:spcBef>
        <a:spcAft>
          <a:spcPct val="0"/>
        </a:spcAft>
        <a:buClr>
          <a:schemeClr val="tx1"/>
        </a:buClr>
        <a:buSzPct val="60000"/>
        <a:buFont typeface="Wingdings" pitchFamily="2" charset="2"/>
        <a:buChar char="n"/>
        <a:defRPr sz="2400">
          <a:solidFill>
            <a:schemeClr val="tx1"/>
          </a:solidFill>
          <a:latin typeface="+mn-lt"/>
        </a:defRPr>
      </a:lvl3pPr>
      <a:lvl4pPr marL="1660525" indent="-284163" algn="l" rtl="0" eaLnBrk="0" fontAlgn="base" hangingPunct="0">
        <a:spcBef>
          <a:spcPct val="20000"/>
        </a:spcBef>
        <a:spcAft>
          <a:spcPct val="0"/>
        </a:spcAft>
        <a:buClr>
          <a:schemeClr val="tx1"/>
        </a:buClr>
        <a:buSzPct val="60000"/>
        <a:buFont typeface="Wingdings" pitchFamily="2" charset="2"/>
        <a:buChar char="u"/>
        <a:defRPr sz="2000">
          <a:solidFill>
            <a:schemeClr val="tx1"/>
          </a:solidFill>
          <a:latin typeface="+mn-lt"/>
        </a:defRPr>
      </a:lvl4pPr>
      <a:lvl5pPr marL="20589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5pPr>
      <a:lvl6pPr marL="25161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6pPr>
      <a:lvl7pPr marL="29733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7pPr>
      <a:lvl8pPr marL="34305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8pPr>
      <a:lvl9pPr marL="38877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google/sanitizer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tmp"/><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en.wikipedia.org/wiki/Coverity" TargetMode="External"/><Relationship Id="rId2" Type="http://schemas.openxmlformats.org/officeDocument/2006/relationships/hyperlink" Target="https://devblogs.microsoft.com/cppblog/concurrency-code-analysis-in-visual-studio-2019/" TargetMode="External"/><Relationship Id="rId1" Type="http://schemas.openxmlformats.org/officeDocument/2006/relationships/slideLayout" Target="../slideLayouts/slideLayout2.xml"/><Relationship Id="rId4" Type="http://schemas.openxmlformats.org/officeDocument/2006/relationships/image" Target="../media/image2.tmp"/></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tmp"/><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tmp"/></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tmp"/><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8.tmp"/><Relationship Id="rId2" Type="http://schemas.openxmlformats.org/officeDocument/2006/relationships/image" Target="../media/image7.tmp"/><Relationship Id="rId1" Type="http://schemas.openxmlformats.org/officeDocument/2006/relationships/slideLayout" Target="../slideLayouts/slideLayout2.xml"/><Relationship Id="rId4" Type="http://schemas.openxmlformats.org/officeDocument/2006/relationships/image" Target="../media/image9.tmp"/></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www.evosuite.org/documentation/tutorial-part-1" TargetMode="External"/><Relationship Id="rId7" Type="http://schemas.openxmlformats.org/officeDocument/2006/relationships/hyperlink" Target="https://dzone.com/articles/10-essential-testing-tools-for-java-developers" TargetMode="External"/><Relationship Id="rId2" Type="http://schemas.openxmlformats.org/officeDocument/2006/relationships/hyperlink" Target="http://www.evosuite.org/" TargetMode="External"/><Relationship Id="rId1" Type="http://schemas.openxmlformats.org/officeDocument/2006/relationships/slideLayout" Target="../slideLayouts/slideLayout2.xml"/><Relationship Id="rId6" Type="http://schemas.openxmlformats.org/officeDocument/2006/relationships/hyperlink" Target="https://doi.org/10.1109/SBST.2019.00014" TargetMode="External"/><Relationship Id="rId5" Type="http://schemas.openxmlformats.org/officeDocument/2006/relationships/hyperlink" Target="https://dl.acm.org/citation.cfm?id=3105434" TargetMode="External"/><Relationship Id="rId4" Type="http://schemas.openxmlformats.org/officeDocument/2006/relationships/hyperlink" Target="http://www.evosuite.org/documentation/tutorial-part-2" TargetMode="External"/></Relationships>
</file>

<file path=ppt/slides/_rels/slide2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hyperlink" Target="https://s3-eu-west-1.amazonaws.com/presentations2012/30_presentation.pdf" TargetMode="External"/><Relationship Id="rId7" Type="http://schemas.openxmlformats.org/officeDocument/2006/relationships/hyperlink" Target="https://doi.org/10.1145/3238147.3238177" TargetMode="External"/><Relationship Id="rId2" Type="http://schemas.openxmlformats.org/officeDocument/2006/relationships/hyperlink" Target="https://asm.ow2.io/" TargetMode="External"/><Relationship Id="rId1" Type="http://schemas.openxmlformats.org/officeDocument/2006/relationships/slideLayout" Target="../slideLayouts/slideLayout2.xml"/><Relationship Id="rId6" Type="http://schemas.openxmlformats.org/officeDocument/2006/relationships/hyperlink" Target="http://findbugs.sourceforge.net/" TargetMode="External"/><Relationship Id="rId5" Type="http://schemas.openxmlformats.org/officeDocument/2006/relationships/hyperlink" Target="https://www.pylint.org/" TargetMode="External"/><Relationship Id="rId4" Type="http://schemas.openxmlformats.org/officeDocument/2006/relationships/hyperlink" Target="https://github.com/pyupio/safet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7.jpeg"/><Relationship Id="rId4"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1031"/>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itchFamily="18" charset="0"/>
              </a:defRPr>
            </a:lvl1pPr>
            <a:lvl2pPr marL="742950" indent="-285750">
              <a:defRPr sz="2800">
                <a:solidFill>
                  <a:schemeClr val="tx1"/>
                </a:solidFill>
                <a:latin typeface="Times New Roman" pitchFamily="18" charset="0"/>
              </a:defRPr>
            </a:lvl2pPr>
            <a:lvl3pPr marL="1143000" indent="-228600">
              <a:defRPr sz="2800">
                <a:solidFill>
                  <a:schemeClr val="tx1"/>
                </a:solidFill>
                <a:latin typeface="Times New Roman" pitchFamily="18" charset="0"/>
              </a:defRPr>
            </a:lvl3pPr>
            <a:lvl4pPr marL="1600200" indent="-228600">
              <a:defRPr sz="2800">
                <a:solidFill>
                  <a:schemeClr val="tx1"/>
                </a:solidFill>
                <a:latin typeface="Times New Roman" pitchFamily="18" charset="0"/>
              </a:defRPr>
            </a:lvl4pPr>
            <a:lvl5pPr marL="2057400" indent="-228600">
              <a:defRPr sz="2800">
                <a:solidFill>
                  <a:schemeClr val="tx1"/>
                </a:solidFill>
                <a:latin typeface="Times New Roman" pitchFamily="18" charset="0"/>
              </a:defRPr>
            </a:lvl5pPr>
            <a:lvl6pPr marL="2514600" indent="-228600" eaLnBrk="0" fontAlgn="base" hangingPunct="0">
              <a:spcBef>
                <a:spcPct val="0"/>
              </a:spcBef>
              <a:spcAft>
                <a:spcPct val="0"/>
              </a:spcAft>
              <a:defRPr sz="2800">
                <a:solidFill>
                  <a:schemeClr val="tx1"/>
                </a:solidFill>
                <a:latin typeface="Times New Roman" pitchFamily="18" charset="0"/>
              </a:defRPr>
            </a:lvl6pPr>
            <a:lvl7pPr marL="2971800" indent="-228600" eaLnBrk="0" fontAlgn="base" hangingPunct="0">
              <a:spcBef>
                <a:spcPct val="0"/>
              </a:spcBef>
              <a:spcAft>
                <a:spcPct val="0"/>
              </a:spcAft>
              <a:defRPr sz="2800">
                <a:solidFill>
                  <a:schemeClr val="tx1"/>
                </a:solidFill>
                <a:latin typeface="Times New Roman" pitchFamily="18" charset="0"/>
              </a:defRPr>
            </a:lvl7pPr>
            <a:lvl8pPr marL="3429000" indent="-228600" eaLnBrk="0" fontAlgn="base" hangingPunct="0">
              <a:spcBef>
                <a:spcPct val="0"/>
              </a:spcBef>
              <a:spcAft>
                <a:spcPct val="0"/>
              </a:spcAft>
              <a:defRPr sz="2800">
                <a:solidFill>
                  <a:schemeClr val="tx1"/>
                </a:solidFill>
                <a:latin typeface="Times New Roman" pitchFamily="18" charset="0"/>
              </a:defRPr>
            </a:lvl8pPr>
            <a:lvl9pPr marL="3886200" indent="-228600" eaLnBrk="0" fontAlgn="base" hangingPunct="0">
              <a:spcBef>
                <a:spcPct val="0"/>
              </a:spcBef>
              <a:spcAft>
                <a:spcPct val="0"/>
              </a:spcAft>
              <a:defRPr sz="2800">
                <a:solidFill>
                  <a:schemeClr val="tx1"/>
                </a:solidFill>
                <a:latin typeface="Times New Roman" pitchFamily="18" charset="0"/>
              </a:defRPr>
            </a:lvl9pPr>
          </a:lstStyle>
          <a:p>
            <a:fld id="{0465E2E4-7374-46A0-BB59-F56978D5F671}" type="slidenum">
              <a:rPr lang="en-US" sz="1400" smtClean="0">
                <a:solidFill>
                  <a:schemeClr val="folHlink"/>
                </a:solidFill>
              </a:rPr>
              <a:pPr/>
              <a:t>1</a:t>
            </a:fld>
            <a:endParaRPr lang="en-US" sz="1400">
              <a:solidFill>
                <a:schemeClr val="folHlink"/>
              </a:solidFill>
            </a:endParaRPr>
          </a:p>
        </p:txBody>
      </p:sp>
      <p:sp>
        <p:nvSpPr>
          <p:cNvPr id="3075" name="Rectangle 2"/>
          <p:cNvSpPr>
            <a:spLocks noGrp="1" noChangeArrowheads="1"/>
          </p:cNvSpPr>
          <p:nvPr>
            <p:ph type="ctrTitle"/>
          </p:nvPr>
        </p:nvSpPr>
        <p:spPr>
          <a:xfrm>
            <a:off x="150812" y="609600"/>
            <a:ext cx="9796462" cy="2743200"/>
          </a:xfrm>
          <a:noFill/>
        </p:spPr>
        <p:txBody>
          <a:bodyPr/>
          <a:lstStyle/>
          <a:p>
            <a:br>
              <a:rPr lang="en-US" sz="4400" dirty="0"/>
            </a:br>
            <a:r>
              <a:rPr lang="en-US" sz="4400" i="1" dirty="0"/>
              <a:t>CS5351 Software Engineering </a:t>
            </a:r>
            <a:br>
              <a:rPr lang="en-US" sz="4400" i="1" dirty="0"/>
            </a:br>
            <a:r>
              <a:rPr lang="en-US" sz="4400" i="1" dirty="0"/>
              <a:t>2025/2026 Semester A</a:t>
            </a:r>
            <a:br>
              <a:rPr lang="en-US" sz="7200" i="1" dirty="0"/>
            </a:br>
            <a:r>
              <a:rPr lang="en-US" sz="7200" dirty="0"/>
              <a:t>Program Testing, Part 2</a:t>
            </a:r>
          </a:p>
        </p:txBody>
      </p:sp>
      <p:sp>
        <p:nvSpPr>
          <p:cNvPr id="3076" name="Rectangle 3"/>
          <p:cNvSpPr>
            <a:spLocks noGrp="1" noChangeArrowheads="1"/>
          </p:cNvSpPr>
          <p:nvPr>
            <p:ph type="subTitle" idx="1"/>
          </p:nvPr>
        </p:nvSpPr>
        <p:spPr>
          <a:xfrm>
            <a:off x="455613" y="3886200"/>
            <a:ext cx="9067800" cy="2667000"/>
          </a:xfrm>
          <a:noFill/>
        </p:spPr>
        <p:txBody>
          <a:bodyPr/>
          <a:lstStyle/>
          <a:p>
            <a:pPr>
              <a:lnSpc>
                <a:spcPct val="90000"/>
              </a:lnSpc>
            </a:pPr>
            <a:r>
              <a:rPr lang="en-US" sz="4000" dirty="0"/>
              <a:t>Dr W.K. Chan</a:t>
            </a:r>
          </a:p>
          <a:p>
            <a:pPr>
              <a:lnSpc>
                <a:spcPct val="90000"/>
              </a:lnSpc>
            </a:pPr>
            <a:r>
              <a:rPr lang="en-US" sz="2400" dirty="0"/>
              <a:t>Department of Computer Science</a:t>
            </a:r>
          </a:p>
          <a:p>
            <a:pPr>
              <a:lnSpc>
                <a:spcPct val="90000"/>
              </a:lnSpc>
            </a:pPr>
            <a:r>
              <a:rPr lang="en-US" sz="2400" dirty="0"/>
              <a:t>Email:</a:t>
            </a:r>
            <a:r>
              <a:rPr lang="en-US" sz="1800" dirty="0">
                <a:latin typeface="Courier New" pitchFamily="49" charset="0"/>
              </a:rPr>
              <a:t> </a:t>
            </a:r>
            <a:r>
              <a:rPr lang="en-US" sz="2000" b="1" dirty="0">
                <a:latin typeface="Courier New" pitchFamily="49" charset="0"/>
              </a:rPr>
              <a:t>wkchan@cityu.edu.hk</a:t>
            </a:r>
            <a:endParaRPr lang="en-US" sz="2000" dirty="0">
              <a:latin typeface="Courier New" pitchFamily="49" charset="0"/>
            </a:endParaRPr>
          </a:p>
          <a:p>
            <a:pPr>
              <a:lnSpc>
                <a:spcPct val="90000"/>
              </a:lnSpc>
            </a:pPr>
            <a:r>
              <a:rPr lang="en-US" sz="2400" dirty="0"/>
              <a:t>Website:</a:t>
            </a:r>
            <a:r>
              <a:rPr lang="en-US" sz="1800" dirty="0">
                <a:latin typeface="Courier New" pitchFamily="49" charset="0"/>
              </a:rPr>
              <a:t> </a:t>
            </a:r>
            <a:r>
              <a:rPr lang="en-US" sz="2000" b="1" dirty="0">
                <a:latin typeface="Courier New" pitchFamily="49" charset="0"/>
              </a:rPr>
              <a:t>http://www.cs.cityu.edu.hk/~wkchan </a:t>
            </a:r>
            <a:endParaRPr lang="en-US" sz="2000" b="1" dirty="0">
              <a:solidFill>
                <a:schemeClr val="folHlink"/>
              </a:solidFill>
            </a:endParaRPr>
          </a:p>
          <a:p>
            <a:pPr>
              <a:lnSpc>
                <a:spcPct val="90000"/>
              </a:lnSpc>
            </a:pPr>
            <a:endParaRPr lang="en-US" sz="2000" b="1" dirty="0">
              <a:solidFill>
                <a:schemeClr val="folHlink"/>
              </a:solidFill>
            </a:endParaRPr>
          </a:p>
          <a:p>
            <a:pPr>
              <a:lnSpc>
                <a:spcPct val="90000"/>
              </a:lnSpc>
            </a:pPr>
            <a:endParaRPr lang="en-US" sz="2000" b="1" dirty="0">
              <a:solidFill>
                <a:schemeClr val="folHlink"/>
              </a:solidFill>
            </a:endParaRPr>
          </a:p>
        </p:txBody>
      </p:sp>
    </p:spTree>
  </p:cSld>
  <p:clrMapOvr>
    <a:overrideClrMapping bg1="lt1" tx1="dk1" bg2="lt2" tx2="dk2" accent1="accent1" accent2="accent2" accent3="accent3" accent4="accent4" accent5="accent5" accent6="accent6" hlink="hlink" folHlink="folHlink"/>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DEC2B20D-CC5C-472A-B443-3118458AE7B7}"/>
              </a:ext>
            </a:extLst>
          </p:cNvPr>
          <p:cNvSpPr txBox="1"/>
          <p:nvPr/>
        </p:nvSpPr>
        <p:spPr>
          <a:xfrm>
            <a:off x="236285" y="581214"/>
            <a:ext cx="9035352" cy="769441"/>
          </a:xfrm>
          <a:prstGeom prst="rect">
            <a:avLst/>
          </a:prstGeom>
          <a:noFill/>
        </p:spPr>
        <p:txBody>
          <a:bodyPr wrap="square" rtlCol="0">
            <a:spAutoFit/>
          </a:bodyPr>
          <a:lstStyle/>
          <a:p>
            <a:r>
              <a:rPr lang="en-US" altLang="zh-CN" sz="4400" b="1" dirty="0">
                <a:solidFill>
                  <a:srgbClr val="C00000"/>
                </a:solidFill>
                <a:cs typeface="Times New Roman" panose="02020603050405020304" pitchFamily="18" charset="0"/>
              </a:rPr>
              <a:t>Our Fuzzing Exercise</a:t>
            </a:r>
          </a:p>
        </p:txBody>
      </p:sp>
      <p:sp>
        <p:nvSpPr>
          <p:cNvPr id="35" name="文本框 34">
            <a:extLst>
              <a:ext uri="{FF2B5EF4-FFF2-40B4-BE49-F238E27FC236}">
                <a16:creationId xmlns:a16="http://schemas.microsoft.com/office/drawing/2014/main" id="{A1665941-EDFD-4CB7-9312-0C8D471A6C61}"/>
              </a:ext>
            </a:extLst>
          </p:cNvPr>
          <p:cNvSpPr txBox="1"/>
          <p:nvPr/>
        </p:nvSpPr>
        <p:spPr>
          <a:xfrm>
            <a:off x="7694612" y="1970364"/>
            <a:ext cx="712735" cy="392287"/>
          </a:xfrm>
          <a:prstGeom prst="rect">
            <a:avLst/>
          </a:prstGeom>
          <a:noFill/>
        </p:spPr>
        <p:txBody>
          <a:bodyPr wrap="square" rtlCol="0">
            <a:spAutoFit/>
          </a:bodyPr>
          <a:lstStyle/>
          <a:p>
            <a:r>
              <a:rPr lang="en-US" altLang="zh-CN" sz="1949" dirty="0">
                <a:cs typeface="Times New Roman" panose="02020603050405020304" pitchFamily="18" charset="0"/>
              </a:rPr>
              <a:t>13</a:t>
            </a:r>
            <a:endParaRPr lang="zh-CN" altLang="en-US" sz="1949" dirty="0">
              <a:cs typeface="Times New Roman" panose="02020603050405020304" pitchFamily="18" charset="0"/>
            </a:endParaRPr>
          </a:p>
        </p:txBody>
      </p:sp>
      <p:sp>
        <p:nvSpPr>
          <p:cNvPr id="37" name="文本框 36">
            <a:extLst>
              <a:ext uri="{FF2B5EF4-FFF2-40B4-BE49-F238E27FC236}">
                <a16:creationId xmlns:a16="http://schemas.microsoft.com/office/drawing/2014/main" id="{C2FFAA54-7C90-42A6-BDA0-128CFB788397}"/>
              </a:ext>
            </a:extLst>
          </p:cNvPr>
          <p:cNvSpPr txBox="1"/>
          <p:nvPr/>
        </p:nvSpPr>
        <p:spPr>
          <a:xfrm>
            <a:off x="6976319" y="2668127"/>
            <a:ext cx="681885" cy="392287"/>
          </a:xfrm>
          <a:prstGeom prst="rect">
            <a:avLst/>
          </a:prstGeom>
          <a:noFill/>
        </p:spPr>
        <p:txBody>
          <a:bodyPr wrap="square" rtlCol="0">
            <a:spAutoFit/>
          </a:bodyPr>
          <a:lstStyle/>
          <a:p>
            <a:r>
              <a:rPr lang="en-US" altLang="zh-CN" sz="1949" dirty="0">
                <a:solidFill>
                  <a:srgbClr val="00B050"/>
                </a:solidFill>
                <a:cs typeface="Times New Roman" panose="02020603050405020304" pitchFamily="18" charset="0"/>
              </a:rPr>
              <a:t>12</a:t>
            </a:r>
            <a:endParaRPr lang="zh-CN" altLang="en-US" sz="1949" dirty="0">
              <a:solidFill>
                <a:srgbClr val="00B050"/>
              </a:solidFill>
              <a:cs typeface="Times New Roman" panose="02020603050405020304" pitchFamily="18" charset="0"/>
            </a:endParaRPr>
          </a:p>
        </p:txBody>
      </p:sp>
      <p:sp>
        <p:nvSpPr>
          <p:cNvPr id="40" name="文本框 39">
            <a:extLst>
              <a:ext uri="{FF2B5EF4-FFF2-40B4-BE49-F238E27FC236}">
                <a16:creationId xmlns:a16="http://schemas.microsoft.com/office/drawing/2014/main" id="{2FE31442-07BF-4AEC-8FC4-FA0F2C2BAAD9}"/>
              </a:ext>
            </a:extLst>
          </p:cNvPr>
          <p:cNvSpPr txBox="1"/>
          <p:nvPr/>
        </p:nvSpPr>
        <p:spPr>
          <a:xfrm>
            <a:off x="8492301" y="2706671"/>
            <a:ext cx="429382" cy="392287"/>
          </a:xfrm>
          <a:prstGeom prst="rect">
            <a:avLst/>
          </a:prstGeom>
          <a:noFill/>
        </p:spPr>
        <p:txBody>
          <a:bodyPr wrap="square" rtlCol="0">
            <a:spAutoFit/>
          </a:bodyPr>
          <a:lstStyle/>
          <a:p>
            <a:r>
              <a:rPr lang="en-US" altLang="zh-CN" sz="1949" dirty="0">
                <a:solidFill>
                  <a:srgbClr val="00B0F0"/>
                </a:solidFill>
                <a:cs typeface="Times New Roman" panose="02020603050405020304" pitchFamily="18" charset="0"/>
              </a:rPr>
              <a:t>6</a:t>
            </a:r>
            <a:endParaRPr lang="zh-CN" altLang="en-US" sz="1949" dirty="0">
              <a:solidFill>
                <a:srgbClr val="00B0F0"/>
              </a:solidFill>
              <a:cs typeface="Times New Roman" panose="02020603050405020304" pitchFamily="18" charset="0"/>
            </a:endParaRPr>
          </a:p>
        </p:txBody>
      </p:sp>
      <p:cxnSp>
        <p:nvCxnSpPr>
          <p:cNvPr id="7" name="直接箭头连接符 6">
            <a:extLst>
              <a:ext uri="{FF2B5EF4-FFF2-40B4-BE49-F238E27FC236}">
                <a16:creationId xmlns:a16="http://schemas.microsoft.com/office/drawing/2014/main" id="{3E606E54-D069-456A-8490-FCD320A7820D}"/>
              </a:ext>
            </a:extLst>
          </p:cNvPr>
          <p:cNvCxnSpPr/>
          <p:nvPr/>
        </p:nvCxnSpPr>
        <p:spPr>
          <a:xfrm flipH="1">
            <a:off x="7282642" y="2345347"/>
            <a:ext cx="411971" cy="36132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3D63FB12-28D3-44FD-B492-D41303F37125}"/>
              </a:ext>
            </a:extLst>
          </p:cNvPr>
          <p:cNvCxnSpPr>
            <a:cxnSpLocks/>
          </p:cNvCxnSpPr>
          <p:nvPr/>
        </p:nvCxnSpPr>
        <p:spPr>
          <a:xfrm>
            <a:off x="8050497" y="2341856"/>
            <a:ext cx="423578" cy="35539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CABE2E58-60C9-4015-9F84-2F612EAFC3C8}"/>
              </a:ext>
            </a:extLst>
          </p:cNvPr>
          <p:cNvSpPr txBox="1"/>
          <p:nvPr/>
        </p:nvSpPr>
        <p:spPr>
          <a:xfrm>
            <a:off x="6940939" y="2228588"/>
            <a:ext cx="822336" cy="442301"/>
          </a:xfrm>
          <a:prstGeom prst="rect">
            <a:avLst/>
          </a:prstGeom>
          <a:noFill/>
        </p:spPr>
        <p:txBody>
          <a:bodyPr wrap="square" rtlCol="0">
            <a:spAutoFit/>
          </a:bodyPr>
          <a:lstStyle/>
          <a:p>
            <a:r>
              <a:rPr lang="en-US" altLang="zh-CN" sz="2274" dirty="0">
                <a:cs typeface="Times New Roman" panose="02020603050405020304" pitchFamily="18" charset="0"/>
              </a:rPr>
              <a:t>O1</a:t>
            </a:r>
            <a:endParaRPr lang="zh-CN" altLang="en-US" sz="2274" dirty="0">
              <a:cs typeface="Times New Roman" panose="02020603050405020304" pitchFamily="18" charset="0"/>
            </a:endParaRPr>
          </a:p>
        </p:txBody>
      </p:sp>
      <p:sp>
        <p:nvSpPr>
          <p:cNvPr id="45" name="文本框 44">
            <a:extLst>
              <a:ext uri="{FF2B5EF4-FFF2-40B4-BE49-F238E27FC236}">
                <a16:creationId xmlns:a16="http://schemas.microsoft.com/office/drawing/2014/main" id="{B588C123-20C7-4FD4-8ECE-AE775B49CA9F}"/>
              </a:ext>
            </a:extLst>
          </p:cNvPr>
          <p:cNvSpPr txBox="1"/>
          <p:nvPr/>
        </p:nvSpPr>
        <p:spPr>
          <a:xfrm>
            <a:off x="8269057" y="2299557"/>
            <a:ext cx="913148" cy="442301"/>
          </a:xfrm>
          <a:prstGeom prst="rect">
            <a:avLst/>
          </a:prstGeom>
          <a:noFill/>
        </p:spPr>
        <p:txBody>
          <a:bodyPr wrap="square" rtlCol="0">
            <a:spAutoFit/>
          </a:bodyPr>
          <a:lstStyle/>
          <a:p>
            <a:r>
              <a:rPr lang="en-US" altLang="zh-CN" sz="2274" dirty="0">
                <a:cs typeface="Times New Roman" panose="02020603050405020304" pitchFamily="18" charset="0"/>
              </a:rPr>
              <a:t>O2</a:t>
            </a:r>
            <a:endParaRPr lang="zh-CN" altLang="en-US" sz="2274" dirty="0">
              <a:cs typeface="Times New Roman" panose="02020603050405020304" pitchFamily="18" charset="0"/>
            </a:endParaRPr>
          </a:p>
        </p:txBody>
      </p:sp>
      <p:sp>
        <p:nvSpPr>
          <p:cNvPr id="46" name="文本框 45">
            <a:extLst>
              <a:ext uri="{FF2B5EF4-FFF2-40B4-BE49-F238E27FC236}">
                <a16:creationId xmlns:a16="http://schemas.microsoft.com/office/drawing/2014/main" id="{8809C70E-B06C-4238-880A-874C7D84A5A0}"/>
              </a:ext>
            </a:extLst>
          </p:cNvPr>
          <p:cNvSpPr txBox="1"/>
          <p:nvPr/>
        </p:nvSpPr>
        <p:spPr>
          <a:xfrm>
            <a:off x="504078" y="1691271"/>
            <a:ext cx="2150772" cy="392287"/>
          </a:xfrm>
          <a:prstGeom prst="rect">
            <a:avLst/>
          </a:prstGeom>
          <a:noFill/>
        </p:spPr>
        <p:txBody>
          <a:bodyPr wrap="square" rtlCol="0">
            <a:spAutoFit/>
          </a:bodyPr>
          <a:lstStyle/>
          <a:p>
            <a:r>
              <a:rPr lang="en-US" altLang="zh-CN" sz="1949" dirty="0">
                <a:cs typeface="Times New Roman" panose="02020603050405020304" pitchFamily="18" charset="0"/>
              </a:rPr>
              <a:t>Queue: &lt;13&gt;</a:t>
            </a:r>
            <a:endParaRPr lang="zh-CN" altLang="en-US" sz="1949" dirty="0">
              <a:cs typeface="Times New Roman" panose="02020603050405020304" pitchFamily="18" charset="0"/>
            </a:endParaRPr>
          </a:p>
        </p:txBody>
      </p:sp>
      <p:sp>
        <p:nvSpPr>
          <p:cNvPr id="47" name="文本框 46">
            <a:extLst>
              <a:ext uri="{FF2B5EF4-FFF2-40B4-BE49-F238E27FC236}">
                <a16:creationId xmlns:a16="http://schemas.microsoft.com/office/drawing/2014/main" id="{68BC604B-E54E-44A8-BD72-44235AF0094F}"/>
              </a:ext>
            </a:extLst>
          </p:cNvPr>
          <p:cNvSpPr txBox="1"/>
          <p:nvPr/>
        </p:nvSpPr>
        <p:spPr>
          <a:xfrm>
            <a:off x="504078" y="2166508"/>
            <a:ext cx="2150772" cy="392287"/>
          </a:xfrm>
          <a:prstGeom prst="rect">
            <a:avLst/>
          </a:prstGeom>
          <a:noFill/>
        </p:spPr>
        <p:txBody>
          <a:bodyPr wrap="square" rtlCol="0">
            <a:spAutoFit/>
          </a:bodyPr>
          <a:lstStyle/>
          <a:p>
            <a:r>
              <a:rPr lang="en-US" altLang="zh-CN" sz="1949" dirty="0">
                <a:cs typeface="Times New Roman" panose="02020603050405020304" pitchFamily="18" charset="0"/>
              </a:rPr>
              <a:t>Queue: &lt;13, 12&gt;</a:t>
            </a:r>
            <a:endParaRPr lang="zh-CN" altLang="en-US" sz="1949" dirty="0">
              <a:cs typeface="Times New Roman" panose="02020603050405020304" pitchFamily="18" charset="0"/>
            </a:endParaRPr>
          </a:p>
        </p:txBody>
      </p:sp>
      <p:sp>
        <p:nvSpPr>
          <p:cNvPr id="48" name="文本框 47">
            <a:extLst>
              <a:ext uri="{FF2B5EF4-FFF2-40B4-BE49-F238E27FC236}">
                <a16:creationId xmlns:a16="http://schemas.microsoft.com/office/drawing/2014/main" id="{0FB62C16-E92F-44B4-A35B-28997F780D28}"/>
              </a:ext>
            </a:extLst>
          </p:cNvPr>
          <p:cNvSpPr txBox="1"/>
          <p:nvPr/>
        </p:nvSpPr>
        <p:spPr>
          <a:xfrm>
            <a:off x="5660485" y="172471"/>
            <a:ext cx="3671754" cy="400110"/>
          </a:xfrm>
          <a:prstGeom prst="rect">
            <a:avLst/>
          </a:prstGeom>
          <a:noFill/>
        </p:spPr>
        <p:txBody>
          <a:bodyPr wrap="square" rtlCol="0">
            <a:spAutoFit/>
          </a:bodyPr>
          <a:lstStyle/>
          <a:p>
            <a:r>
              <a:rPr lang="en-US" altLang="zh-CN" sz="2000" b="1" dirty="0">
                <a:solidFill>
                  <a:srgbClr val="00B0F0"/>
                </a:solidFill>
                <a:cs typeface="Times New Roman" panose="02020603050405020304" pitchFamily="18" charset="0"/>
              </a:rPr>
              <a:t>Blue</a:t>
            </a:r>
            <a:r>
              <a:rPr lang="en-US" altLang="zh-CN" sz="2000" b="1" dirty="0">
                <a:cs typeface="Times New Roman" panose="02020603050405020304" pitchFamily="18" charset="0"/>
              </a:rPr>
              <a:t>: No new coverage achieved</a:t>
            </a:r>
            <a:endParaRPr lang="zh-CN" altLang="en-US" sz="2000" b="1" dirty="0">
              <a:cs typeface="Times New Roman" panose="02020603050405020304" pitchFamily="18" charset="0"/>
            </a:endParaRPr>
          </a:p>
        </p:txBody>
      </p:sp>
      <p:sp>
        <p:nvSpPr>
          <p:cNvPr id="59" name="文本框 58">
            <a:extLst>
              <a:ext uri="{FF2B5EF4-FFF2-40B4-BE49-F238E27FC236}">
                <a16:creationId xmlns:a16="http://schemas.microsoft.com/office/drawing/2014/main" id="{F103A169-8E0C-43D4-98B5-AA03456A2756}"/>
              </a:ext>
            </a:extLst>
          </p:cNvPr>
          <p:cNvSpPr txBox="1"/>
          <p:nvPr/>
        </p:nvSpPr>
        <p:spPr>
          <a:xfrm>
            <a:off x="504078" y="2641745"/>
            <a:ext cx="2612431" cy="392287"/>
          </a:xfrm>
          <a:prstGeom prst="rect">
            <a:avLst/>
          </a:prstGeom>
          <a:noFill/>
        </p:spPr>
        <p:txBody>
          <a:bodyPr wrap="square" rtlCol="0">
            <a:spAutoFit/>
          </a:bodyPr>
          <a:lstStyle/>
          <a:p>
            <a:r>
              <a:rPr lang="en-US" altLang="zh-CN" sz="1949" dirty="0">
                <a:cs typeface="Times New Roman" panose="02020603050405020304" pitchFamily="18" charset="0"/>
              </a:rPr>
              <a:t>Queue: &lt;13, 12, 11&gt;</a:t>
            </a:r>
            <a:endParaRPr lang="zh-CN" altLang="en-US" sz="1949" dirty="0">
              <a:cs typeface="Times New Roman" panose="02020603050405020304" pitchFamily="18" charset="0"/>
            </a:endParaRPr>
          </a:p>
        </p:txBody>
      </p:sp>
      <p:sp>
        <p:nvSpPr>
          <p:cNvPr id="71" name="文本框 70">
            <a:extLst>
              <a:ext uri="{FF2B5EF4-FFF2-40B4-BE49-F238E27FC236}">
                <a16:creationId xmlns:a16="http://schemas.microsoft.com/office/drawing/2014/main" id="{687E2BF4-BE88-4FA3-9626-9F991AB85016}"/>
              </a:ext>
            </a:extLst>
          </p:cNvPr>
          <p:cNvSpPr txBox="1"/>
          <p:nvPr/>
        </p:nvSpPr>
        <p:spPr>
          <a:xfrm>
            <a:off x="577578" y="5166730"/>
            <a:ext cx="8274086" cy="392287"/>
          </a:xfrm>
          <a:prstGeom prst="rect">
            <a:avLst/>
          </a:prstGeom>
          <a:noFill/>
        </p:spPr>
        <p:txBody>
          <a:bodyPr wrap="square" rtlCol="0">
            <a:spAutoFit/>
          </a:bodyPr>
          <a:lstStyle/>
          <a:p>
            <a:r>
              <a:rPr lang="en-US" altLang="zh-CN" sz="1949" b="1" dirty="0">
                <a:cs typeface="Times New Roman" panose="02020603050405020304" pitchFamily="18" charset="0"/>
              </a:rPr>
              <a:t>The input sequence is</a:t>
            </a:r>
            <a:r>
              <a:rPr lang="en-US" altLang="zh-CN" sz="1949" dirty="0">
                <a:cs typeface="Times New Roman" panose="02020603050405020304" pitchFamily="18" charset="0"/>
              </a:rPr>
              <a:t>: &lt;12, 6, 11, 6, 10, 5, 4, 2, 3&gt;</a:t>
            </a:r>
            <a:endParaRPr lang="zh-CN" altLang="en-US" sz="1949" dirty="0">
              <a:cs typeface="Times New Roman" panose="02020603050405020304" pitchFamily="18" charset="0"/>
            </a:endParaRPr>
          </a:p>
        </p:txBody>
      </p:sp>
      <p:sp>
        <p:nvSpPr>
          <p:cNvPr id="72" name="文本框 71">
            <a:extLst>
              <a:ext uri="{FF2B5EF4-FFF2-40B4-BE49-F238E27FC236}">
                <a16:creationId xmlns:a16="http://schemas.microsoft.com/office/drawing/2014/main" id="{74DAD3EE-3D1D-42FC-AC1B-F5B4CBD77185}"/>
              </a:ext>
            </a:extLst>
          </p:cNvPr>
          <p:cNvSpPr txBox="1"/>
          <p:nvPr/>
        </p:nvSpPr>
        <p:spPr>
          <a:xfrm>
            <a:off x="577578" y="5581769"/>
            <a:ext cx="5815981" cy="392287"/>
          </a:xfrm>
          <a:prstGeom prst="rect">
            <a:avLst/>
          </a:prstGeom>
          <a:noFill/>
        </p:spPr>
        <p:txBody>
          <a:bodyPr wrap="square" rtlCol="0">
            <a:spAutoFit/>
          </a:bodyPr>
          <a:lstStyle/>
          <a:p>
            <a:r>
              <a:rPr lang="en-US" altLang="zh-CN" sz="1949" b="1" dirty="0">
                <a:cs typeface="Times New Roman" panose="02020603050405020304" pitchFamily="18" charset="0"/>
              </a:rPr>
              <a:t>The content of the Queue is</a:t>
            </a:r>
            <a:r>
              <a:rPr lang="en-US" altLang="zh-CN" sz="1949" dirty="0">
                <a:cs typeface="Times New Roman" panose="02020603050405020304" pitchFamily="18" charset="0"/>
              </a:rPr>
              <a:t>: &lt;13, 12, 11, 5, 4&gt;</a:t>
            </a:r>
            <a:endParaRPr lang="zh-CN" altLang="en-US" sz="1949" dirty="0">
              <a:cs typeface="Times New Roman" panose="02020603050405020304" pitchFamily="18" charset="0"/>
            </a:endParaRPr>
          </a:p>
        </p:txBody>
      </p:sp>
      <p:cxnSp>
        <p:nvCxnSpPr>
          <p:cNvPr id="30" name="直接箭头连接符 48">
            <a:extLst>
              <a:ext uri="{FF2B5EF4-FFF2-40B4-BE49-F238E27FC236}">
                <a16:creationId xmlns:a16="http://schemas.microsoft.com/office/drawing/2014/main" id="{5F1D6923-FAAB-974E-99E9-CA5FD48F1910}"/>
              </a:ext>
            </a:extLst>
          </p:cNvPr>
          <p:cNvCxnSpPr>
            <a:cxnSpLocks/>
          </p:cNvCxnSpPr>
          <p:nvPr/>
        </p:nvCxnSpPr>
        <p:spPr>
          <a:xfrm flipH="1">
            <a:off x="6779590" y="2997173"/>
            <a:ext cx="205986" cy="44962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49">
            <a:extLst>
              <a:ext uri="{FF2B5EF4-FFF2-40B4-BE49-F238E27FC236}">
                <a16:creationId xmlns:a16="http://schemas.microsoft.com/office/drawing/2014/main" id="{7961E036-ED0D-B34E-91E9-382C5F7F1C44}"/>
              </a:ext>
            </a:extLst>
          </p:cNvPr>
          <p:cNvCxnSpPr>
            <a:cxnSpLocks/>
          </p:cNvCxnSpPr>
          <p:nvPr/>
        </p:nvCxnSpPr>
        <p:spPr>
          <a:xfrm>
            <a:off x="7215913" y="3036646"/>
            <a:ext cx="280449" cy="44139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51">
            <a:extLst>
              <a:ext uri="{FF2B5EF4-FFF2-40B4-BE49-F238E27FC236}">
                <a16:creationId xmlns:a16="http://schemas.microsoft.com/office/drawing/2014/main" id="{40C17C52-8DE9-FE4C-84E2-1240350063F2}"/>
              </a:ext>
            </a:extLst>
          </p:cNvPr>
          <p:cNvSpPr txBox="1"/>
          <p:nvPr/>
        </p:nvSpPr>
        <p:spPr>
          <a:xfrm>
            <a:off x="6541615" y="3455426"/>
            <a:ext cx="429382" cy="392287"/>
          </a:xfrm>
          <a:prstGeom prst="rect">
            <a:avLst/>
          </a:prstGeom>
          <a:noFill/>
        </p:spPr>
        <p:txBody>
          <a:bodyPr wrap="square" rtlCol="0">
            <a:spAutoFit/>
          </a:bodyPr>
          <a:lstStyle/>
          <a:p>
            <a:r>
              <a:rPr lang="en-US" altLang="zh-CN" sz="1949" dirty="0">
                <a:solidFill>
                  <a:srgbClr val="00B050"/>
                </a:solidFill>
                <a:cs typeface="Times New Roman" panose="02020603050405020304" pitchFamily="18" charset="0"/>
              </a:rPr>
              <a:t>11</a:t>
            </a:r>
            <a:endParaRPr lang="zh-CN" altLang="en-US" sz="1949" dirty="0">
              <a:solidFill>
                <a:srgbClr val="00B050"/>
              </a:solidFill>
              <a:cs typeface="Times New Roman" panose="02020603050405020304" pitchFamily="18" charset="0"/>
            </a:endParaRPr>
          </a:p>
        </p:txBody>
      </p:sp>
      <p:sp>
        <p:nvSpPr>
          <p:cNvPr id="33" name="文本框 52">
            <a:extLst>
              <a:ext uri="{FF2B5EF4-FFF2-40B4-BE49-F238E27FC236}">
                <a16:creationId xmlns:a16="http://schemas.microsoft.com/office/drawing/2014/main" id="{4AF28A69-CEA5-AF45-ABEA-748E0610D609}"/>
              </a:ext>
            </a:extLst>
          </p:cNvPr>
          <p:cNvSpPr txBox="1"/>
          <p:nvPr/>
        </p:nvSpPr>
        <p:spPr>
          <a:xfrm>
            <a:off x="7420926" y="3468629"/>
            <a:ext cx="429382" cy="392287"/>
          </a:xfrm>
          <a:prstGeom prst="rect">
            <a:avLst/>
          </a:prstGeom>
          <a:noFill/>
        </p:spPr>
        <p:txBody>
          <a:bodyPr wrap="square" rtlCol="0">
            <a:spAutoFit/>
          </a:bodyPr>
          <a:lstStyle/>
          <a:p>
            <a:r>
              <a:rPr lang="en-US" altLang="zh-CN" sz="1949" dirty="0">
                <a:solidFill>
                  <a:srgbClr val="00B0F0"/>
                </a:solidFill>
                <a:cs typeface="Times New Roman" panose="02020603050405020304" pitchFamily="18" charset="0"/>
              </a:rPr>
              <a:t>6</a:t>
            </a:r>
            <a:endParaRPr lang="zh-CN" altLang="en-US" sz="1949" dirty="0">
              <a:solidFill>
                <a:srgbClr val="00B0F0"/>
              </a:solidFill>
              <a:cs typeface="Times New Roman" panose="02020603050405020304" pitchFamily="18" charset="0"/>
            </a:endParaRPr>
          </a:p>
        </p:txBody>
      </p:sp>
      <p:cxnSp>
        <p:nvCxnSpPr>
          <p:cNvPr id="34" name="直接箭头连接符 48">
            <a:extLst>
              <a:ext uri="{FF2B5EF4-FFF2-40B4-BE49-F238E27FC236}">
                <a16:creationId xmlns:a16="http://schemas.microsoft.com/office/drawing/2014/main" id="{12D61183-D0B2-E840-AE34-C755A5518D28}"/>
              </a:ext>
            </a:extLst>
          </p:cNvPr>
          <p:cNvCxnSpPr>
            <a:cxnSpLocks/>
          </p:cNvCxnSpPr>
          <p:nvPr/>
        </p:nvCxnSpPr>
        <p:spPr>
          <a:xfrm flipH="1">
            <a:off x="6367620" y="3779219"/>
            <a:ext cx="205986" cy="44962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文本框 51">
            <a:extLst>
              <a:ext uri="{FF2B5EF4-FFF2-40B4-BE49-F238E27FC236}">
                <a16:creationId xmlns:a16="http://schemas.microsoft.com/office/drawing/2014/main" id="{0BBD36BB-1CD1-4C4E-84B8-BA50BC6DD0F5}"/>
              </a:ext>
            </a:extLst>
          </p:cNvPr>
          <p:cNvSpPr txBox="1"/>
          <p:nvPr/>
        </p:nvSpPr>
        <p:spPr>
          <a:xfrm>
            <a:off x="6129645" y="4237472"/>
            <a:ext cx="429382" cy="692241"/>
          </a:xfrm>
          <a:prstGeom prst="rect">
            <a:avLst/>
          </a:prstGeom>
          <a:noFill/>
        </p:spPr>
        <p:txBody>
          <a:bodyPr wrap="square" rtlCol="0">
            <a:spAutoFit/>
          </a:bodyPr>
          <a:lstStyle/>
          <a:p>
            <a:r>
              <a:rPr lang="en-US" altLang="zh-CN" sz="1949" dirty="0">
                <a:solidFill>
                  <a:srgbClr val="00B0F0"/>
                </a:solidFill>
                <a:cs typeface="Times New Roman" panose="02020603050405020304" pitchFamily="18" charset="0"/>
              </a:rPr>
              <a:t>10</a:t>
            </a:r>
            <a:endParaRPr lang="zh-CN" altLang="en-US" sz="1949" dirty="0">
              <a:solidFill>
                <a:srgbClr val="00B0F0"/>
              </a:solidFill>
              <a:cs typeface="Times New Roman" panose="02020603050405020304" pitchFamily="18" charset="0"/>
            </a:endParaRPr>
          </a:p>
        </p:txBody>
      </p:sp>
      <p:cxnSp>
        <p:nvCxnSpPr>
          <p:cNvPr id="38" name="直接箭头连接符 49">
            <a:extLst>
              <a:ext uri="{FF2B5EF4-FFF2-40B4-BE49-F238E27FC236}">
                <a16:creationId xmlns:a16="http://schemas.microsoft.com/office/drawing/2014/main" id="{F71942CB-C3D5-E34A-B099-35B27E1200B5}"/>
              </a:ext>
            </a:extLst>
          </p:cNvPr>
          <p:cNvCxnSpPr>
            <a:cxnSpLocks/>
          </p:cNvCxnSpPr>
          <p:nvPr/>
        </p:nvCxnSpPr>
        <p:spPr>
          <a:xfrm>
            <a:off x="6883311" y="3819541"/>
            <a:ext cx="890651" cy="4805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52">
            <a:extLst>
              <a:ext uri="{FF2B5EF4-FFF2-40B4-BE49-F238E27FC236}">
                <a16:creationId xmlns:a16="http://schemas.microsoft.com/office/drawing/2014/main" id="{E186F362-2858-504D-9CBD-1E33BB90CF6E}"/>
              </a:ext>
            </a:extLst>
          </p:cNvPr>
          <p:cNvSpPr txBox="1"/>
          <p:nvPr/>
        </p:nvSpPr>
        <p:spPr>
          <a:xfrm>
            <a:off x="7794509" y="4251524"/>
            <a:ext cx="429382" cy="392287"/>
          </a:xfrm>
          <a:prstGeom prst="rect">
            <a:avLst/>
          </a:prstGeom>
          <a:noFill/>
        </p:spPr>
        <p:txBody>
          <a:bodyPr wrap="square" rtlCol="0">
            <a:spAutoFit/>
          </a:bodyPr>
          <a:lstStyle/>
          <a:p>
            <a:r>
              <a:rPr lang="en-US" altLang="zh-CN" sz="1949" dirty="0">
                <a:solidFill>
                  <a:srgbClr val="00B050"/>
                </a:solidFill>
                <a:cs typeface="Times New Roman" panose="02020603050405020304" pitchFamily="18" charset="0"/>
              </a:rPr>
              <a:t>5</a:t>
            </a:r>
            <a:endParaRPr lang="zh-CN" altLang="en-US" sz="1949" dirty="0">
              <a:solidFill>
                <a:srgbClr val="00B050"/>
              </a:solidFill>
              <a:cs typeface="Times New Roman" panose="02020603050405020304" pitchFamily="18" charset="0"/>
            </a:endParaRPr>
          </a:p>
        </p:txBody>
      </p:sp>
      <p:cxnSp>
        <p:nvCxnSpPr>
          <p:cNvPr id="41" name="直接箭头连接符 48">
            <a:extLst>
              <a:ext uri="{FF2B5EF4-FFF2-40B4-BE49-F238E27FC236}">
                <a16:creationId xmlns:a16="http://schemas.microsoft.com/office/drawing/2014/main" id="{9297BD1D-B5F0-3D43-92F3-412B56618808}"/>
              </a:ext>
            </a:extLst>
          </p:cNvPr>
          <p:cNvCxnSpPr>
            <a:cxnSpLocks/>
          </p:cNvCxnSpPr>
          <p:nvPr/>
        </p:nvCxnSpPr>
        <p:spPr>
          <a:xfrm flipH="1">
            <a:off x="7567976" y="4586185"/>
            <a:ext cx="205986" cy="44962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文本框 51">
            <a:extLst>
              <a:ext uri="{FF2B5EF4-FFF2-40B4-BE49-F238E27FC236}">
                <a16:creationId xmlns:a16="http://schemas.microsoft.com/office/drawing/2014/main" id="{483DA7DD-00B4-CD42-A209-EBFB5B695A8F}"/>
              </a:ext>
            </a:extLst>
          </p:cNvPr>
          <p:cNvSpPr txBox="1"/>
          <p:nvPr/>
        </p:nvSpPr>
        <p:spPr>
          <a:xfrm>
            <a:off x="7330000" y="5044438"/>
            <a:ext cx="429382" cy="392287"/>
          </a:xfrm>
          <a:prstGeom prst="rect">
            <a:avLst/>
          </a:prstGeom>
          <a:noFill/>
        </p:spPr>
        <p:txBody>
          <a:bodyPr wrap="square" rtlCol="0">
            <a:spAutoFit/>
          </a:bodyPr>
          <a:lstStyle/>
          <a:p>
            <a:r>
              <a:rPr lang="en-US" altLang="zh-CN" sz="1949" dirty="0">
                <a:solidFill>
                  <a:srgbClr val="00B050"/>
                </a:solidFill>
                <a:cs typeface="Times New Roman" panose="02020603050405020304" pitchFamily="18" charset="0"/>
              </a:rPr>
              <a:t>4</a:t>
            </a:r>
            <a:endParaRPr lang="zh-CN" altLang="en-US" sz="1949" dirty="0">
              <a:solidFill>
                <a:srgbClr val="00B050"/>
              </a:solidFill>
              <a:cs typeface="Times New Roman" panose="02020603050405020304" pitchFamily="18" charset="0"/>
            </a:endParaRPr>
          </a:p>
        </p:txBody>
      </p:sp>
      <p:cxnSp>
        <p:nvCxnSpPr>
          <p:cNvPr id="44" name="直接箭头连接符 49">
            <a:extLst>
              <a:ext uri="{FF2B5EF4-FFF2-40B4-BE49-F238E27FC236}">
                <a16:creationId xmlns:a16="http://schemas.microsoft.com/office/drawing/2014/main" id="{EC46BC26-E5C6-7C43-A0EF-B98C422A871F}"/>
              </a:ext>
            </a:extLst>
          </p:cNvPr>
          <p:cNvCxnSpPr>
            <a:cxnSpLocks/>
          </p:cNvCxnSpPr>
          <p:nvPr/>
        </p:nvCxnSpPr>
        <p:spPr>
          <a:xfrm>
            <a:off x="8083666" y="4626506"/>
            <a:ext cx="280449" cy="44139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1" name="文本框 52">
            <a:extLst>
              <a:ext uri="{FF2B5EF4-FFF2-40B4-BE49-F238E27FC236}">
                <a16:creationId xmlns:a16="http://schemas.microsoft.com/office/drawing/2014/main" id="{433AAF62-BDB3-314A-AED1-60CE3B47A9EC}"/>
              </a:ext>
            </a:extLst>
          </p:cNvPr>
          <p:cNvSpPr txBox="1"/>
          <p:nvPr/>
        </p:nvSpPr>
        <p:spPr>
          <a:xfrm>
            <a:off x="8288680" y="5058490"/>
            <a:ext cx="429382" cy="392287"/>
          </a:xfrm>
          <a:prstGeom prst="rect">
            <a:avLst/>
          </a:prstGeom>
          <a:noFill/>
        </p:spPr>
        <p:txBody>
          <a:bodyPr wrap="square" rtlCol="0">
            <a:spAutoFit/>
          </a:bodyPr>
          <a:lstStyle/>
          <a:p>
            <a:r>
              <a:rPr lang="en-US" altLang="zh-CN" sz="1949" dirty="0">
                <a:solidFill>
                  <a:srgbClr val="00B0F0"/>
                </a:solidFill>
                <a:cs typeface="Times New Roman" panose="02020603050405020304" pitchFamily="18" charset="0"/>
              </a:rPr>
              <a:t>2</a:t>
            </a:r>
            <a:endParaRPr lang="zh-CN" altLang="en-US" sz="1949" dirty="0">
              <a:solidFill>
                <a:srgbClr val="00B0F0"/>
              </a:solidFill>
              <a:cs typeface="Times New Roman" panose="02020603050405020304" pitchFamily="18" charset="0"/>
            </a:endParaRPr>
          </a:p>
        </p:txBody>
      </p:sp>
      <p:cxnSp>
        <p:nvCxnSpPr>
          <p:cNvPr id="56" name="直接箭头连接符 48">
            <a:extLst>
              <a:ext uri="{FF2B5EF4-FFF2-40B4-BE49-F238E27FC236}">
                <a16:creationId xmlns:a16="http://schemas.microsoft.com/office/drawing/2014/main" id="{114DC162-B826-F34B-AFB3-B4B3715EDCA5}"/>
              </a:ext>
            </a:extLst>
          </p:cNvPr>
          <p:cNvCxnSpPr>
            <a:cxnSpLocks/>
          </p:cNvCxnSpPr>
          <p:nvPr/>
        </p:nvCxnSpPr>
        <p:spPr>
          <a:xfrm flipH="1">
            <a:off x="7139556" y="5410009"/>
            <a:ext cx="205986" cy="44962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1">
            <a:extLst>
              <a:ext uri="{FF2B5EF4-FFF2-40B4-BE49-F238E27FC236}">
                <a16:creationId xmlns:a16="http://schemas.microsoft.com/office/drawing/2014/main" id="{124CF3C6-BFD5-224F-83E4-5EEC2FEBE438}"/>
              </a:ext>
            </a:extLst>
          </p:cNvPr>
          <p:cNvSpPr txBox="1"/>
          <p:nvPr/>
        </p:nvSpPr>
        <p:spPr>
          <a:xfrm>
            <a:off x="6901580" y="5868262"/>
            <a:ext cx="429382" cy="392287"/>
          </a:xfrm>
          <a:prstGeom prst="rect">
            <a:avLst/>
          </a:prstGeom>
          <a:noFill/>
        </p:spPr>
        <p:txBody>
          <a:bodyPr wrap="square" rtlCol="0">
            <a:spAutoFit/>
          </a:bodyPr>
          <a:lstStyle/>
          <a:p>
            <a:r>
              <a:rPr lang="en-US" altLang="zh-CN" sz="1949" dirty="0">
                <a:solidFill>
                  <a:srgbClr val="FF0000"/>
                </a:solidFill>
                <a:cs typeface="Times New Roman" panose="02020603050405020304" pitchFamily="18" charset="0"/>
              </a:rPr>
              <a:t>3</a:t>
            </a:r>
            <a:endParaRPr lang="zh-CN" altLang="en-US" sz="1949" dirty="0">
              <a:solidFill>
                <a:srgbClr val="FF0000"/>
              </a:solidFill>
              <a:cs typeface="Times New Roman" panose="02020603050405020304" pitchFamily="18" charset="0"/>
            </a:endParaRPr>
          </a:p>
        </p:txBody>
      </p:sp>
      <p:sp>
        <p:nvSpPr>
          <p:cNvPr id="65" name="文本框 58">
            <a:extLst>
              <a:ext uri="{FF2B5EF4-FFF2-40B4-BE49-F238E27FC236}">
                <a16:creationId xmlns:a16="http://schemas.microsoft.com/office/drawing/2014/main" id="{1B256C82-EA8E-1349-9E77-7C001D61A4DD}"/>
              </a:ext>
            </a:extLst>
          </p:cNvPr>
          <p:cNvSpPr txBox="1"/>
          <p:nvPr/>
        </p:nvSpPr>
        <p:spPr>
          <a:xfrm>
            <a:off x="504078" y="3116983"/>
            <a:ext cx="2979936" cy="392287"/>
          </a:xfrm>
          <a:prstGeom prst="rect">
            <a:avLst/>
          </a:prstGeom>
          <a:noFill/>
        </p:spPr>
        <p:txBody>
          <a:bodyPr wrap="square" rtlCol="0">
            <a:spAutoFit/>
          </a:bodyPr>
          <a:lstStyle/>
          <a:p>
            <a:r>
              <a:rPr lang="en-US" altLang="zh-CN" sz="1949" dirty="0">
                <a:cs typeface="Times New Roman" panose="02020603050405020304" pitchFamily="18" charset="0"/>
              </a:rPr>
              <a:t>Queue: &lt;13, 12, 11, 5&gt;</a:t>
            </a:r>
            <a:endParaRPr lang="zh-CN" altLang="en-US" sz="1949" dirty="0">
              <a:cs typeface="Times New Roman" panose="02020603050405020304" pitchFamily="18" charset="0"/>
            </a:endParaRPr>
          </a:p>
        </p:txBody>
      </p:sp>
      <p:sp>
        <p:nvSpPr>
          <p:cNvPr id="75" name="文本框 58">
            <a:extLst>
              <a:ext uri="{FF2B5EF4-FFF2-40B4-BE49-F238E27FC236}">
                <a16:creationId xmlns:a16="http://schemas.microsoft.com/office/drawing/2014/main" id="{E6E7E882-EDD1-2642-84A1-0FEF55D51090}"/>
              </a:ext>
            </a:extLst>
          </p:cNvPr>
          <p:cNvSpPr txBox="1"/>
          <p:nvPr/>
        </p:nvSpPr>
        <p:spPr>
          <a:xfrm>
            <a:off x="504078" y="3592220"/>
            <a:ext cx="3452547" cy="392287"/>
          </a:xfrm>
          <a:prstGeom prst="rect">
            <a:avLst/>
          </a:prstGeom>
          <a:noFill/>
        </p:spPr>
        <p:txBody>
          <a:bodyPr wrap="square" rtlCol="0">
            <a:spAutoFit/>
          </a:bodyPr>
          <a:lstStyle/>
          <a:p>
            <a:r>
              <a:rPr lang="en-US" altLang="zh-CN" sz="1949" dirty="0">
                <a:cs typeface="Times New Roman" panose="02020603050405020304" pitchFamily="18" charset="0"/>
              </a:rPr>
              <a:t>Queue: &lt;13, 12, 11, 5, 4&gt;</a:t>
            </a:r>
            <a:endParaRPr lang="zh-CN" altLang="en-US" sz="1949" dirty="0">
              <a:cs typeface="Times New Roman" panose="02020603050405020304" pitchFamily="18" charset="0"/>
            </a:endParaRPr>
          </a:p>
        </p:txBody>
      </p:sp>
      <p:sp>
        <p:nvSpPr>
          <p:cNvPr id="77" name="文本框 47">
            <a:extLst>
              <a:ext uri="{FF2B5EF4-FFF2-40B4-BE49-F238E27FC236}">
                <a16:creationId xmlns:a16="http://schemas.microsoft.com/office/drawing/2014/main" id="{08EA5F12-12E4-B049-9878-A6B09DB77CA8}"/>
              </a:ext>
            </a:extLst>
          </p:cNvPr>
          <p:cNvSpPr txBox="1"/>
          <p:nvPr/>
        </p:nvSpPr>
        <p:spPr>
          <a:xfrm>
            <a:off x="5647859" y="811803"/>
            <a:ext cx="3715824" cy="400110"/>
          </a:xfrm>
          <a:prstGeom prst="rect">
            <a:avLst/>
          </a:prstGeom>
          <a:noFill/>
        </p:spPr>
        <p:txBody>
          <a:bodyPr wrap="square" rtlCol="0">
            <a:spAutoFit/>
          </a:bodyPr>
          <a:lstStyle/>
          <a:p>
            <a:r>
              <a:rPr lang="en-US" altLang="zh-CN" sz="2000" b="1" dirty="0">
                <a:solidFill>
                  <a:srgbClr val="FF0000"/>
                </a:solidFill>
                <a:cs typeface="Times New Roman" panose="02020603050405020304" pitchFamily="18" charset="0"/>
              </a:rPr>
              <a:t>Red</a:t>
            </a:r>
            <a:r>
              <a:rPr lang="en-US" altLang="zh-CN" sz="2000" b="1" dirty="0">
                <a:cs typeface="Times New Roman" panose="02020603050405020304" pitchFamily="18" charset="0"/>
              </a:rPr>
              <a:t>: Crash the program</a:t>
            </a:r>
            <a:endParaRPr lang="zh-CN" altLang="en-US" sz="2000" b="1" dirty="0">
              <a:cs typeface="Times New Roman" panose="02020603050405020304" pitchFamily="18" charset="0"/>
            </a:endParaRPr>
          </a:p>
        </p:txBody>
      </p:sp>
      <p:sp>
        <p:nvSpPr>
          <p:cNvPr id="49" name="文本框 48">
            <a:extLst>
              <a:ext uri="{FF2B5EF4-FFF2-40B4-BE49-F238E27FC236}">
                <a16:creationId xmlns:a16="http://schemas.microsoft.com/office/drawing/2014/main" id="{E2E8D57C-B509-4088-A2CA-0E64BCB7EBC0}"/>
              </a:ext>
            </a:extLst>
          </p:cNvPr>
          <p:cNvSpPr txBox="1"/>
          <p:nvPr/>
        </p:nvSpPr>
        <p:spPr>
          <a:xfrm>
            <a:off x="5658951" y="483768"/>
            <a:ext cx="3612686" cy="400110"/>
          </a:xfrm>
          <a:prstGeom prst="rect">
            <a:avLst/>
          </a:prstGeom>
          <a:noFill/>
        </p:spPr>
        <p:txBody>
          <a:bodyPr wrap="square" rtlCol="0">
            <a:spAutoFit/>
          </a:bodyPr>
          <a:lstStyle/>
          <a:p>
            <a:r>
              <a:rPr lang="en-US" altLang="zh-CN" sz="2000" b="1" dirty="0">
                <a:solidFill>
                  <a:srgbClr val="00B050"/>
                </a:solidFill>
                <a:cs typeface="Times New Roman" panose="02020603050405020304" pitchFamily="18" charset="0"/>
              </a:rPr>
              <a:t>Green</a:t>
            </a:r>
            <a:r>
              <a:rPr lang="en-US" altLang="zh-CN" sz="2000" b="1" dirty="0">
                <a:cs typeface="Times New Roman" panose="02020603050405020304" pitchFamily="18" charset="0"/>
              </a:rPr>
              <a:t>: New coverage achieved</a:t>
            </a:r>
            <a:endParaRPr lang="zh-CN" altLang="en-US" sz="2000" b="1" dirty="0">
              <a:cs typeface="Times New Roman" panose="02020603050405020304" pitchFamily="18" charset="0"/>
            </a:endParaRPr>
          </a:p>
        </p:txBody>
      </p:sp>
    </p:spTree>
    <p:extLst>
      <p:ext uri="{BB962C8B-B14F-4D97-AF65-F5344CB8AC3E}">
        <p14:creationId xmlns:p14="http://schemas.microsoft.com/office/powerpoint/2010/main" val="83699589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28B0C-96CC-495C-B35B-3E64FB3F00BF}"/>
              </a:ext>
            </a:extLst>
          </p:cNvPr>
          <p:cNvSpPr>
            <a:spLocks noGrp="1"/>
          </p:cNvSpPr>
          <p:nvPr>
            <p:ph type="title"/>
          </p:nvPr>
        </p:nvSpPr>
        <p:spPr/>
        <p:txBody>
          <a:bodyPr/>
          <a:lstStyle/>
          <a:p>
            <a:r>
              <a:rPr lang="en-US" dirty="0"/>
              <a:t>Fuzzing</a:t>
            </a:r>
            <a:endParaRPr lang="en-HK" dirty="0"/>
          </a:p>
        </p:txBody>
      </p:sp>
      <p:sp>
        <p:nvSpPr>
          <p:cNvPr id="3" name="Content Placeholder 2">
            <a:extLst>
              <a:ext uri="{FF2B5EF4-FFF2-40B4-BE49-F238E27FC236}">
                <a16:creationId xmlns:a16="http://schemas.microsoft.com/office/drawing/2014/main" id="{950205E4-114F-4F12-A28B-31CA2DD0D1D7}"/>
              </a:ext>
            </a:extLst>
          </p:cNvPr>
          <p:cNvSpPr>
            <a:spLocks noGrp="1"/>
          </p:cNvSpPr>
          <p:nvPr>
            <p:ph idx="1"/>
          </p:nvPr>
        </p:nvSpPr>
        <p:spPr/>
        <p:txBody>
          <a:bodyPr/>
          <a:lstStyle/>
          <a:p>
            <a:r>
              <a:rPr lang="en-HK" sz="2800" dirty="0"/>
              <a:t>can generate system-level test cases as they generate inputs accepted by UI or </a:t>
            </a:r>
            <a:r>
              <a:rPr lang="en-HK" sz="2800" dirty="0">
                <a:latin typeface="Courier New" panose="02070309020205020404" pitchFamily="49" charset="0"/>
                <a:cs typeface="Courier New" panose="02070309020205020404" pitchFamily="49" charset="0"/>
              </a:rPr>
              <a:t>main() </a:t>
            </a:r>
            <a:r>
              <a:rPr lang="en-HK" sz="2800" dirty="0"/>
              <a:t>as arguments.  </a:t>
            </a:r>
            <a:endParaRPr lang="en-US" sz="2800" dirty="0"/>
          </a:p>
          <a:p>
            <a:pPr marL="512763" lvl="1" indent="0">
              <a:buNone/>
            </a:pPr>
            <a:endParaRPr lang="en-US" dirty="0"/>
          </a:p>
          <a:p>
            <a:r>
              <a:rPr lang="en-HK" sz="2800" dirty="0"/>
              <a:t>could not help developers when the integration and system testing have not been performed.</a:t>
            </a:r>
          </a:p>
          <a:p>
            <a:endParaRPr lang="en-HK" sz="2400" dirty="0"/>
          </a:p>
          <a:p>
            <a:r>
              <a:rPr lang="en-HK" sz="2800" dirty="0"/>
              <a:t>Apart from manually crafting unit test cases, what kinds of </a:t>
            </a:r>
            <a:r>
              <a:rPr lang="en-HK" sz="2800" i="1" dirty="0"/>
              <a:t>automated</a:t>
            </a:r>
            <a:r>
              <a:rPr lang="en-HK" sz="2800" dirty="0"/>
              <a:t> facilities help developers deliver higher productivity and quality?</a:t>
            </a:r>
          </a:p>
          <a:p>
            <a:pPr marL="0" indent="0">
              <a:buNone/>
            </a:pPr>
            <a:endParaRPr lang="en-HK" dirty="0"/>
          </a:p>
        </p:txBody>
      </p:sp>
      <p:sp>
        <p:nvSpPr>
          <p:cNvPr id="4" name="Slide Number Placeholder 3">
            <a:extLst>
              <a:ext uri="{FF2B5EF4-FFF2-40B4-BE49-F238E27FC236}">
                <a16:creationId xmlns:a16="http://schemas.microsoft.com/office/drawing/2014/main" id="{A76980DE-3845-4EFF-8B8A-83CBC620F82B}"/>
              </a:ext>
            </a:extLst>
          </p:cNvPr>
          <p:cNvSpPr>
            <a:spLocks noGrp="1"/>
          </p:cNvSpPr>
          <p:nvPr>
            <p:ph type="sldNum" sz="quarter" idx="12"/>
          </p:nvPr>
        </p:nvSpPr>
        <p:spPr/>
        <p:txBody>
          <a:bodyPr/>
          <a:lstStyle/>
          <a:p>
            <a:pPr>
              <a:defRPr/>
            </a:pPr>
            <a:fld id="{63B8F44C-0EDE-4D7D-9086-BD1CF3CE7AF7}" type="slidenum">
              <a:rPr lang="en-US" smtClean="0"/>
              <a:pPr>
                <a:defRPr/>
              </a:pPr>
              <a:t>3</a:t>
            </a:fld>
            <a:endParaRPr lang="en-US"/>
          </a:p>
        </p:txBody>
      </p:sp>
    </p:spTree>
    <p:extLst>
      <p:ext uri="{BB962C8B-B14F-4D97-AF65-F5344CB8AC3E}">
        <p14:creationId xmlns:p14="http://schemas.microsoft.com/office/powerpoint/2010/main" val="383436871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186C7-C856-4EF2-BD79-126F4BB59A77}"/>
              </a:ext>
            </a:extLst>
          </p:cNvPr>
          <p:cNvSpPr>
            <a:spLocks noGrp="1"/>
          </p:cNvSpPr>
          <p:nvPr>
            <p:ph type="title"/>
          </p:nvPr>
        </p:nvSpPr>
        <p:spPr/>
        <p:txBody>
          <a:bodyPr/>
          <a:lstStyle/>
          <a:p>
            <a:r>
              <a:rPr lang="en-US" dirty="0"/>
              <a:t>1. Concurrency Testing</a:t>
            </a:r>
            <a:endParaRPr lang="en-HK" dirty="0"/>
          </a:p>
        </p:txBody>
      </p:sp>
      <p:sp>
        <p:nvSpPr>
          <p:cNvPr id="3" name="Content Placeholder 2">
            <a:extLst>
              <a:ext uri="{FF2B5EF4-FFF2-40B4-BE49-F238E27FC236}">
                <a16:creationId xmlns:a16="http://schemas.microsoft.com/office/drawing/2014/main" id="{754DB326-1C6E-4FFB-AC15-A1A5AA644F56}"/>
              </a:ext>
            </a:extLst>
          </p:cNvPr>
          <p:cNvSpPr>
            <a:spLocks noGrp="1"/>
          </p:cNvSpPr>
          <p:nvPr>
            <p:ph idx="1"/>
          </p:nvPr>
        </p:nvSpPr>
        <p:spPr>
          <a:xfrm>
            <a:off x="412750" y="1676400"/>
            <a:ext cx="5757862" cy="4953000"/>
          </a:xfrm>
        </p:spPr>
        <p:txBody>
          <a:bodyPr/>
          <a:lstStyle/>
          <a:p>
            <a:r>
              <a:rPr lang="en-US" sz="2400" dirty="0"/>
              <a:t>Programs can be multi-threaded and/or multi-process architecture</a:t>
            </a:r>
          </a:p>
          <a:p>
            <a:r>
              <a:rPr lang="en-US" sz="2400" dirty="0"/>
              <a:t>These programs are nondeterministic </a:t>
            </a:r>
          </a:p>
          <a:p>
            <a:pPr lvl="1"/>
            <a:r>
              <a:rPr lang="en-US" sz="2000" dirty="0"/>
              <a:t>Running the same test case multiple times may give different outputs.</a:t>
            </a:r>
          </a:p>
          <a:p>
            <a:pPr lvl="1"/>
            <a:r>
              <a:rPr lang="en-US" sz="2000" dirty="0"/>
              <a:t>E.g., data race on x in the example on the right.</a:t>
            </a:r>
          </a:p>
        </p:txBody>
      </p:sp>
      <p:sp>
        <p:nvSpPr>
          <p:cNvPr id="4" name="Slide Number Placeholder 3">
            <a:extLst>
              <a:ext uri="{FF2B5EF4-FFF2-40B4-BE49-F238E27FC236}">
                <a16:creationId xmlns:a16="http://schemas.microsoft.com/office/drawing/2014/main" id="{6C65A177-3503-47C0-BE76-061148FA1F67}"/>
              </a:ext>
            </a:extLst>
          </p:cNvPr>
          <p:cNvSpPr>
            <a:spLocks noGrp="1"/>
          </p:cNvSpPr>
          <p:nvPr>
            <p:ph type="sldNum" sz="quarter" idx="12"/>
          </p:nvPr>
        </p:nvSpPr>
        <p:spPr/>
        <p:txBody>
          <a:bodyPr/>
          <a:lstStyle/>
          <a:p>
            <a:pPr>
              <a:defRPr/>
            </a:pPr>
            <a:fld id="{63B8F44C-0EDE-4D7D-9086-BD1CF3CE7AF7}" type="slidenum">
              <a:rPr lang="en-US" smtClean="0"/>
              <a:pPr>
                <a:defRPr/>
              </a:pPr>
              <a:t>4</a:t>
            </a:fld>
            <a:endParaRPr lang="en-US"/>
          </a:p>
        </p:txBody>
      </p:sp>
      <p:sp>
        <p:nvSpPr>
          <p:cNvPr id="5" name="TextBox 4">
            <a:extLst>
              <a:ext uri="{FF2B5EF4-FFF2-40B4-BE49-F238E27FC236}">
                <a16:creationId xmlns:a16="http://schemas.microsoft.com/office/drawing/2014/main" id="{944C31E0-A46A-403B-ABF7-29AFCE5D01EC}"/>
              </a:ext>
            </a:extLst>
          </p:cNvPr>
          <p:cNvSpPr txBox="1"/>
          <p:nvPr/>
        </p:nvSpPr>
        <p:spPr>
          <a:xfrm>
            <a:off x="6065766" y="1905000"/>
            <a:ext cx="3412088" cy="3170099"/>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sz="2000" dirty="0"/>
              <a:t>Thread T1                 Thread T2</a:t>
            </a:r>
          </a:p>
          <a:p>
            <a:endParaRPr lang="en-US" sz="2000" dirty="0"/>
          </a:p>
          <a:p>
            <a:r>
              <a:rPr lang="en-US" sz="2000" dirty="0"/>
              <a:t>x=0; y=0;                   x++;</a:t>
            </a:r>
          </a:p>
          <a:p>
            <a:r>
              <a:rPr lang="en-US" sz="2000" dirty="0"/>
              <a:t>while (x==0)</a:t>
            </a:r>
          </a:p>
          <a:p>
            <a:r>
              <a:rPr lang="en-US" sz="2000" dirty="0"/>
              <a:t>   y++;</a:t>
            </a:r>
          </a:p>
          <a:p>
            <a:endParaRPr lang="en-US" sz="2000" dirty="0"/>
          </a:p>
          <a:p>
            <a:r>
              <a:rPr lang="en-US" sz="2000" dirty="0"/>
              <a:t>if (y%2)</a:t>
            </a:r>
          </a:p>
          <a:p>
            <a:r>
              <a:rPr lang="en-US" sz="2000" dirty="0"/>
              <a:t>    y++;</a:t>
            </a:r>
          </a:p>
          <a:p>
            <a:r>
              <a:rPr lang="en-US" sz="2000" dirty="0"/>
              <a:t>else </a:t>
            </a:r>
          </a:p>
          <a:p>
            <a:r>
              <a:rPr lang="en-US" sz="2000" dirty="0"/>
              <a:t>    y--;</a:t>
            </a:r>
          </a:p>
        </p:txBody>
      </p:sp>
    </p:spTree>
    <p:extLst>
      <p:ext uri="{BB962C8B-B14F-4D97-AF65-F5344CB8AC3E}">
        <p14:creationId xmlns:p14="http://schemas.microsoft.com/office/powerpoint/2010/main" val="41242914"/>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94FD3-8E64-40BE-9A06-BDCB684AB4F7}"/>
              </a:ext>
            </a:extLst>
          </p:cNvPr>
          <p:cNvSpPr>
            <a:spLocks noGrp="1"/>
          </p:cNvSpPr>
          <p:nvPr>
            <p:ph type="title"/>
          </p:nvPr>
        </p:nvSpPr>
        <p:spPr/>
        <p:txBody>
          <a:bodyPr/>
          <a:lstStyle/>
          <a:p>
            <a:r>
              <a:rPr lang="en-US" dirty="0"/>
              <a:t>1. Concurrency Testing</a:t>
            </a:r>
            <a:endParaRPr lang="en-HK" dirty="0"/>
          </a:p>
        </p:txBody>
      </p:sp>
      <p:sp>
        <p:nvSpPr>
          <p:cNvPr id="3" name="Content Placeholder 2">
            <a:extLst>
              <a:ext uri="{FF2B5EF4-FFF2-40B4-BE49-F238E27FC236}">
                <a16:creationId xmlns:a16="http://schemas.microsoft.com/office/drawing/2014/main" id="{663FD545-BE05-458F-8FFC-AEBDF0156FE3}"/>
              </a:ext>
            </a:extLst>
          </p:cNvPr>
          <p:cNvSpPr>
            <a:spLocks noGrp="1"/>
          </p:cNvSpPr>
          <p:nvPr>
            <p:ph idx="1"/>
          </p:nvPr>
        </p:nvSpPr>
        <p:spPr>
          <a:xfrm>
            <a:off x="412750" y="1676400"/>
            <a:ext cx="9263062" cy="4953000"/>
          </a:xfrm>
        </p:spPr>
        <p:txBody>
          <a:bodyPr/>
          <a:lstStyle/>
          <a:p>
            <a:r>
              <a:rPr lang="en-US" sz="2400" dirty="0"/>
              <a:t>Strategy 1</a:t>
            </a:r>
          </a:p>
          <a:p>
            <a:pPr lvl="1"/>
            <a:r>
              <a:rPr lang="en-US" sz="2000" dirty="0"/>
              <a:t>Run the same test case many times without controlling how program threads are coordinated in each test execution.</a:t>
            </a:r>
          </a:p>
          <a:p>
            <a:pPr lvl="2"/>
            <a:r>
              <a:rPr lang="en-US" sz="1800" dirty="0"/>
              <a:t>Ineffective. If you have no other choices, just using it is better than none.</a:t>
            </a:r>
          </a:p>
          <a:p>
            <a:r>
              <a:rPr lang="en-US" sz="2400" dirty="0"/>
              <a:t>Strategy 2</a:t>
            </a:r>
          </a:p>
          <a:p>
            <a:pPr lvl="1"/>
            <a:r>
              <a:rPr lang="en-US" sz="2000" dirty="0"/>
              <a:t>Run the same test cases multiple times with the use of a controller to control when threads execute their program statements relative to one another.</a:t>
            </a:r>
          </a:p>
          <a:p>
            <a:pPr lvl="2"/>
            <a:r>
              <a:rPr lang="en-US" sz="1800" dirty="0"/>
              <a:t>E.g., use </a:t>
            </a:r>
            <a:r>
              <a:rPr lang="en-US" sz="1800" dirty="0" err="1"/>
              <a:t>calfuzzer</a:t>
            </a:r>
            <a:r>
              <a:rPr lang="en-US" sz="1800" dirty="0"/>
              <a:t> to analyze each test execution. Slower</a:t>
            </a:r>
          </a:p>
          <a:p>
            <a:pPr lvl="2"/>
            <a:r>
              <a:rPr lang="en-US" sz="1800" dirty="0"/>
              <a:t>E.g., in routine regression testing, apply </a:t>
            </a:r>
            <a:r>
              <a:rPr lang="en-US" sz="1800" dirty="0" err="1"/>
              <a:t>threadsanitizer</a:t>
            </a:r>
            <a:r>
              <a:rPr lang="en-US" sz="1800" dirty="0"/>
              <a:t> </a:t>
            </a:r>
            <a:r>
              <a:rPr lang="en-US" sz="1800" dirty="0">
                <a:hlinkClick r:id="rId2"/>
              </a:rPr>
              <a:t>https://github.com/google/sanitizers</a:t>
            </a:r>
            <a:endParaRPr lang="en-US" sz="1800" dirty="0"/>
          </a:p>
          <a:p>
            <a:pPr lvl="2"/>
            <a:r>
              <a:rPr lang="en-US" sz="1800" dirty="0"/>
              <a:t>E.g., in my research group, we use Intel Pin or IBM ASM for binary instrumentation.</a:t>
            </a:r>
          </a:p>
          <a:p>
            <a:r>
              <a:rPr lang="en-US" sz="2400" dirty="0"/>
              <a:t>Concurrency testing: Can check individual program executions faster, can suppress false positives, limited in ability, false negative</a:t>
            </a:r>
            <a:endParaRPr lang="en-HK" sz="2400" dirty="0"/>
          </a:p>
          <a:p>
            <a:pPr lvl="1"/>
            <a:r>
              <a:rPr lang="en-US" sz="2000" dirty="0"/>
              <a:t>Thread sanitizer</a:t>
            </a:r>
          </a:p>
        </p:txBody>
      </p:sp>
      <p:sp>
        <p:nvSpPr>
          <p:cNvPr id="4" name="Slide Number Placeholder 3">
            <a:extLst>
              <a:ext uri="{FF2B5EF4-FFF2-40B4-BE49-F238E27FC236}">
                <a16:creationId xmlns:a16="http://schemas.microsoft.com/office/drawing/2014/main" id="{34316324-EEC7-4485-98B1-BF7BFF93BFA7}"/>
              </a:ext>
            </a:extLst>
          </p:cNvPr>
          <p:cNvSpPr>
            <a:spLocks noGrp="1"/>
          </p:cNvSpPr>
          <p:nvPr>
            <p:ph type="sldNum" sz="quarter" idx="12"/>
          </p:nvPr>
        </p:nvSpPr>
        <p:spPr/>
        <p:txBody>
          <a:bodyPr/>
          <a:lstStyle/>
          <a:p>
            <a:pPr>
              <a:defRPr/>
            </a:pPr>
            <a:fld id="{63B8F44C-0EDE-4D7D-9086-BD1CF3CE7AF7}" type="slidenum">
              <a:rPr lang="en-US" smtClean="0"/>
              <a:pPr>
                <a:defRPr/>
              </a:pPr>
              <a:t>5</a:t>
            </a:fld>
            <a:endParaRPr lang="en-US" dirty="0"/>
          </a:p>
        </p:txBody>
      </p:sp>
    </p:spTree>
    <p:extLst>
      <p:ext uri="{BB962C8B-B14F-4D97-AF65-F5344CB8AC3E}">
        <p14:creationId xmlns:p14="http://schemas.microsoft.com/office/powerpoint/2010/main" val="35983522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2F12A-7FE4-48D5-8D87-222133F6890F}"/>
              </a:ext>
            </a:extLst>
          </p:cNvPr>
          <p:cNvSpPr>
            <a:spLocks noGrp="1"/>
          </p:cNvSpPr>
          <p:nvPr>
            <p:ph type="title"/>
          </p:nvPr>
        </p:nvSpPr>
        <p:spPr>
          <a:xfrm>
            <a:off x="412750" y="266700"/>
            <a:ext cx="9339262" cy="1104900"/>
          </a:xfrm>
        </p:spPr>
        <p:txBody>
          <a:bodyPr/>
          <a:lstStyle/>
          <a:p>
            <a:r>
              <a:rPr lang="en-US" sz="3600" dirty="0"/>
              <a:t>Example: </a:t>
            </a:r>
            <a:br>
              <a:rPr lang="en-US" sz="3600" dirty="0"/>
            </a:br>
            <a:r>
              <a:rPr lang="en-US" sz="3600" dirty="0"/>
              <a:t>Examine Execution 2 to Generate Execution 1</a:t>
            </a:r>
            <a:endParaRPr lang="en-HK" sz="3600" dirty="0"/>
          </a:p>
        </p:txBody>
      </p:sp>
      <p:pic>
        <p:nvPicPr>
          <p:cNvPr id="6" name="Content Placeholder 5">
            <a:extLst>
              <a:ext uri="{FF2B5EF4-FFF2-40B4-BE49-F238E27FC236}">
                <a16:creationId xmlns:a16="http://schemas.microsoft.com/office/drawing/2014/main" id="{3843781B-99F0-4F7D-9582-A5F19A4DBCE5}"/>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2064734" y="1676400"/>
            <a:ext cx="5732081" cy="4953000"/>
          </a:xfrm>
        </p:spPr>
      </p:pic>
      <p:sp>
        <p:nvSpPr>
          <p:cNvPr id="4" name="Slide Number Placeholder 3">
            <a:extLst>
              <a:ext uri="{FF2B5EF4-FFF2-40B4-BE49-F238E27FC236}">
                <a16:creationId xmlns:a16="http://schemas.microsoft.com/office/drawing/2014/main" id="{3D0BB410-80EE-4E43-A95B-CCFB25607A31}"/>
              </a:ext>
            </a:extLst>
          </p:cNvPr>
          <p:cNvSpPr>
            <a:spLocks noGrp="1"/>
          </p:cNvSpPr>
          <p:nvPr>
            <p:ph type="sldNum" sz="quarter" idx="12"/>
          </p:nvPr>
        </p:nvSpPr>
        <p:spPr/>
        <p:txBody>
          <a:bodyPr/>
          <a:lstStyle/>
          <a:p>
            <a:pPr>
              <a:defRPr/>
            </a:pPr>
            <a:fld id="{63B8F44C-0EDE-4D7D-9086-BD1CF3CE7AF7}" type="slidenum">
              <a:rPr lang="en-US" smtClean="0"/>
              <a:pPr>
                <a:defRPr/>
              </a:pPr>
              <a:t>6</a:t>
            </a:fld>
            <a:endParaRPr lang="en-US"/>
          </a:p>
        </p:txBody>
      </p:sp>
    </p:spTree>
    <p:extLst>
      <p:ext uri="{BB962C8B-B14F-4D97-AF65-F5344CB8AC3E}">
        <p14:creationId xmlns:p14="http://schemas.microsoft.com/office/powerpoint/2010/main" val="886474107"/>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92D28-5055-46DF-A130-214BF4BCD2D8}"/>
              </a:ext>
            </a:extLst>
          </p:cNvPr>
          <p:cNvSpPr>
            <a:spLocks noGrp="1"/>
          </p:cNvSpPr>
          <p:nvPr>
            <p:ph type="title"/>
          </p:nvPr>
        </p:nvSpPr>
        <p:spPr/>
        <p:txBody>
          <a:bodyPr/>
          <a:lstStyle/>
          <a:p>
            <a:r>
              <a:rPr lang="en-US" dirty="0"/>
              <a:t>2. Static Analysis</a:t>
            </a:r>
            <a:endParaRPr lang="en-HK" dirty="0"/>
          </a:p>
        </p:txBody>
      </p:sp>
      <p:sp>
        <p:nvSpPr>
          <p:cNvPr id="3" name="Content Placeholder 2">
            <a:extLst>
              <a:ext uri="{FF2B5EF4-FFF2-40B4-BE49-F238E27FC236}">
                <a16:creationId xmlns:a16="http://schemas.microsoft.com/office/drawing/2014/main" id="{3FD904C5-C917-486C-B9D4-D04C941A29BC}"/>
              </a:ext>
            </a:extLst>
          </p:cNvPr>
          <p:cNvSpPr>
            <a:spLocks noGrp="1"/>
          </p:cNvSpPr>
          <p:nvPr>
            <p:ph idx="1"/>
          </p:nvPr>
        </p:nvSpPr>
        <p:spPr/>
        <p:txBody>
          <a:bodyPr/>
          <a:lstStyle/>
          <a:p>
            <a:r>
              <a:rPr lang="en-US" sz="2800" dirty="0"/>
              <a:t>Static analysis is to inspect the code without running it.</a:t>
            </a:r>
          </a:p>
          <a:p>
            <a:r>
              <a:rPr lang="en-US" sz="2800" dirty="0"/>
              <a:t>Many modern IDEs have incorporated static analysis to spot potential concurrency issues</a:t>
            </a:r>
          </a:p>
          <a:p>
            <a:pPr lvl="1"/>
            <a:r>
              <a:rPr lang="en-US" sz="2000" dirty="0"/>
              <a:t>E.g. </a:t>
            </a:r>
            <a:r>
              <a:rPr lang="en-US" sz="2000" dirty="0">
                <a:hlinkClick r:id="rId2"/>
              </a:rPr>
              <a:t>https://devblogs.microsoft.com/cppblog/concurrency-code-analysis-in-visual-studio-2019/</a:t>
            </a:r>
            <a:r>
              <a:rPr lang="en-US" sz="2000" dirty="0"/>
              <a:t> , </a:t>
            </a:r>
            <a:r>
              <a:rPr lang="en-HK" sz="2000" dirty="0" err="1"/>
              <a:t>Coverity</a:t>
            </a:r>
            <a:r>
              <a:rPr lang="en-HK" sz="2000" dirty="0"/>
              <a:t> (</a:t>
            </a:r>
            <a:r>
              <a:rPr lang="en-HK" sz="2000" dirty="0">
                <a:hlinkClick r:id="rId3"/>
              </a:rPr>
              <a:t>https://en.wikipedia.org/wiki/Coverity</a:t>
            </a:r>
            <a:r>
              <a:rPr lang="en-HK" sz="2000" dirty="0"/>
              <a:t>): has a free cloud-based scanner for your open-source projects</a:t>
            </a:r>
            <a:endParaRPr lang="en-US" sz="2000" dirty="0"/>
          </a:p>
          <a:p>
            <a:r>
              <a:rPr lang="en-US" sz="2400" dirty="0"/>
              <a:t>Static analysis is a routine task in large projects.</a:t>
            </a:r>
          </a:p>
          <a:p>
            <a:pPr lvl="1"/>
            <a:endParaRPr lang="en-US" sz="2000" dirty="0"/>
          </a:p>
          <a:p>
            <a:r>
              <a:rPr lang="en-US" sz="2400" dirty="0"/>
              <a:t>Static analysis: Can check the whole codebase, applicable to check Library/Framework, slow, non-scalable, many false positives </a:t>
            </a:r>
          </a:p>
          <a:p>
            <a:endParaRPr lang="en-US" sz="2400" dirty="0"/>
          </a:p>
          <a:p>
            <a:r>
              <a:rPr lang="en-US" sz="2400" dirty="0"/>
              <a:t>The mathematics are quite extensive. We will not introduce here.</a:t>
            </a:r>
          </a:p>
        </p:txBody>
      </p:sp>
      <p:sp>
        <p:nvSpPr>
          <p:cNvPr id="4" name="Slide Number Placeholder 3">
            <a:extLst>
              <a:ext uri="{FF2B5EF4-FFF2-40B4-BE49-F238E27FC236}">
                <a16:creationId xmlns:a16="http://schemas.microsoft.com/office/drawing/2014/main" id="{86A2DC1F-B236-43E5-BC90-987559158D43}"/>
              </a:ext>
            </a:extLst>
          </p:cNvPr>
          <p:cNvSpPr>
            <a:spLocks noGrp="1"/>
          </p:cNvSpPr>
          <p:nvPr>
            <p:ph type="sldNum" sz="quarter" idx="12"/>
          </p:nvPr>
        </p:nvSpPr>
        <p:spPr/>
        <p:txBody>
          <a:bodyPr/>
          <a:lstStyle/>
          <a:p>
            <a:pPr>
              <a:defRPr/>
            </a:pPr>
            <a:fld id="{63B8F44C-0EDE-4D7D-9086-BD1CF3CE7AF7}" type="slidenum">
              <a:rPr lang="en-US" smtClean="0"/>
              <a:pPr>
                <a:defRPr/>
              </a:pPr>
              <a:t>7</a:t>
            </a:fld>
            <a:endParaRPr lang="en-US" dirty="0"/>
          </a:p>
        </p:txBody>
      </p:sp>
      <p:pic>
        <p:nvPicPr>
          <p:cNvPr id="6" name="Picture 5" descr="Graphical user interface, text&#10;&#10;Description automatically generated">
            <a:extLst>
              <a:ext uri="{FF2B5EF4-FFF2-40B4-BE49-F238E27FC236}">
                <a16:creationId xmlns:a16="http://schemas.microsoft.com/office/drawing/2014/main" id="{BB22E1F0-78B5-4C57-A55F-6008523ECB0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61012" y="76200"/>
            <a:ext cx="4245162" cy="841617"/>
          </a:xfrm>
          <a:prstGeom prst="rect">
            <a:avLst/>
          </a:prstGeom>
        </p:spPr>
      </p:pic>
      <p:sp>
        <p:nvSpPr>
          <p:cNvPr id="7" name="TextBox 6">
            <a:extLst>
              <a:ext uri="{FF2B5EF4-FFF2-40B4-BE49-F238E27FC236}">
                <a16:creationId xmlns:a16="http://schemas.microsoft.com/office/drawing/2014/main" id="{FA0D6B9E-E038-4B5B-BD27-3C0657578C8A}"/>
              </a:ext>
            </a:extLst>
          </p:cNvPr>
          <p:cNvSpPr txBox="1"/>
          <p:nvPr/>
        </p:nvSpPr>
        <p:spPr>
          <a:xfrm>
            <a:off x="3135348" y="-5529"/>
            <a:ext cx="2425664" cy="523220"/>
          </a:xfrm>
          <a:prstGeom prst="rect">
            <a:avLst/>
          </a:prstGeom>
          <a:noFill/>
        </p:spPr>
        <p:txBody>
          <a:bodyPr wrap="none" rtlCol="0">
            <a:spAutoFit/>
          </a:bodyPr>
          <a:lstStyle/>
          <a:p>
            <a:r>
              <a:rPr lang="en-US" dirty="0"/>
              <a:t>Examples only:</a:t>
            </a:r>
            <a:endParaRPr lang="en-HK" dirty="0"/>
          </a:p>
        </p:txBody>
      </p:sp>
    </p:spTree>
    <p:extLst>
      <p:ext uri="{BB962C8B-B14F-4D97-AF65-F5344CB8AC3E}">
        <p14:creationId xmlns:p14="http://schemas.microsoft.com/office/powerpoint/2010/main" val="1137646543"/>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4E6B0-F239-42E8-BDB2-45ECCEEB0645}"/>
              </a:ext>
            </a:extLst>
          </p:cNvPr>
          <p:cNvSpPr>
            <a:spLocks noGrp="1"/>
          </p:cNvSpPr>
          <p:nvPr>
            <p:ph type="title"/>
          </p:nvPr>
        </p:nvSpPr>
        <p:spPr/>
        <p:txBody>
          <a:bodyPr/>
          <a:lstStyle/>
          <a:p>
            <a:r>
              <a:rPr lang="en-US" dirty="0"/>
              <a:t>3. Automated Test Case Generator</a:t>
            </a:r>
            <a:endParaRPr lang="en-HK" dirty="0"/>
          </a:p>
        </p:txBody>
      </p:sp>
      <p:sp>
        <p:nvSpPr>
          <p:cNvPr id="3" name="Content Placeholder 2">
            <a:extLst>
              <a:ext uri="{FF2B5EF4-FFF2-40B4-BE49-F238E27FC236}">
                <a16:creationId xmlns:a16="http://schemas.microsoft.com/office/drawing/2014/main" id="{6168EE87-BF02-499A-8EF7-D1E612672E6F}"/>
              </a:ext>
            </a:extLst>
          </p:cNvPr>
          <p:cNvSpPr>
            <a:spLocks noGrp="1"/>
          </p:cNvSpPr>
          <p:nvPr>
            <p:ph idx="1"/>
          </p:nvPr>
        </p:nvSpPr>
        <p:spPr/>
        <p:txBody>
          <a:bodyPr/>
          <a:lstStyle/>
          <a:p>
            <a:r>
              <a:rPr lang="en-US" sz="2800" dirty="0"/>
              <a:t>The target is to produce some useful test cases (but without proper check on test outcomes)</a:t>
            </a:r>
          </a:p>
          <a:p>
            <a:pPr lvl="1"/>
            <a:r>
              <a:rPr lang="en-US" sz="2400" dirty="0"/>
              <a:t>E.g., </a:t>
            </a:r>
            <a:r>
              <a:rPr lang="en-US" sz="2400" dirty="0" err="1"/>
              <a:t>Evosuite</a:t>
            </a:r>
            <a:r>
              <a:rPr lang="en-US" sz="2400" dirty="0"/>
              <a:t> (https://www.evosuite.org/)</a:t>
            </a:r>
          </a:p>
          <a:p>
            <a:pPr lvl="1"/>
            <a:r>
              <a:rPr lang="en-US" sz="2400" dirty="0"/>
              <a:t>Still immature for industry use in general. (see Ref [12])</a:t>
            </a:r>
          </a:p>
          <a:p>
            <a:r>
              <a:rPr lang="en-US" sz="2800" dirty="0"/>
              <a:t>Idea in </a:t>
            </a:r>
            <a:r>
              <a:rPr lang="en-US" sz="2800" dirty="0" err="1"/>
              <a:t>Evosuite</a:t>
            </a:r>
            <a:endParaRPr lang="en-US" sz="2800" dirty="0"/>
          </a:p>
          <a:p>
            <a:pPr lvl="1"/>
            <a:r>
              <a:rPr lang="en-US" sz="2400" dirty="0"/>
              <a:t>Given a set of JUnit test methods, each of which contains a sequence of statements</a:t>
            </a:r>
          </a:p>
          <a:p>
            <a:pPr lvl="1"/>
            <a:r>
              <a:rPr lang="en-US" sz="2400" dirty="0"/>
              <a:t>Like fuzzing, apply a series of mutation operators to modify some statements (e.g., exchange statements across test methods, delete some statements, add some statement, change parameter value) to generate a new set of Junit test methods</a:t>
            </a:r>
          </a:p>
          <a:p>
            <a:pPr lvl="1"/>
            <a:r>
              <a:rPr lang="en-US" sz="2400" dirty="0"/>
              <a:t>No idea on whether a test method detects a program failure </a:t>
            </a:r>
            <a:endParaRPr lang="en-HK" sz="2400" dirty="0"/>
          </a:p>
        </p:txBody>
      </p:sp>
      <p:sp>
        <p:nvSpPr>
          <p:cNvPr id="4" name="Slide Number Placeholder 3">
            <a:extLst>
              <a:ext uri="{FF2B5EF4-FFF2-40B4-BE49-F238E27FC236}">
                <a16:creationId xmlns:a16="http://schemas.microsoft.com/office/drawing/2014/main" id="{E6E8A0B8-99FE-4620-AC14-9B412078684F}"/>
              </a:ext>
            </a:extLst>
          </p:cNvPr>
          <p:cNvSpPr>
            <a:spLocks noGrp="1"/>
          </p:cNvSpPr>
          <p:nvPr>
            <p:ph type="sldNum" sz="quarter" idx="12"/>
          </p:nvPr>
        </p:nvSpPr>
        <p:spPr/>
        <p:txBody>
          <a:bodyPr/>
          <a:lstStyle/>
          <a:p>
            <a:pPr>
              <a:defRPr/>
            </a:pPr>
            <a:fld id="{63B8F44C-0EDE-4D7D-9086-BD1CF3CE7AF7}" type="slidenum">
              <a:rPr lang="en-US" smtClean="0"/>
              <a:pPr>
                <a:defRPr/>
              </a:pPr>
              <a:t>8</a:t>
            </a:fld>
            <a:endParaRPr lang="en-US" dirty="0"/>
          </a:p>
        </p:txBody>
      </p:sp>
    </p:spTree>
    <p:extLst>
      <p:ext uri="{BB962C8B-B14F-4D97-AF65-F5344CB8AC3E}">
        <p14:creationId xmlns:p14="http://schemas.microsoft.com/office/powerpoint/2010/main" val="3922775068"/>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3A5700C-E429-4501-AEF1-492F5943C657}"/>
              </a:ext>
            </a:extLst>
          </p:cNvPr>
          <p:cNvSpPr>
            <a:spLocks noGrp="1"/>
          </p:cNvSpPr>
          <p:nvPr>
            <p:ph type="ctrTitle" sz="quarter"/>
          </p:nvPr>
        </p:nvSpPr>
        <p:spPr/>
        <p:txBody>
          <a:bodyPr/>
          <a:lstStyle/>
          <a:p>
            <a:r>
              <a:rPr lang="en-HK" dirty="0"/>
              <a:t>Test Oracle</a:t>
            </a:r>
          </a:p>
        </p:txBody>
      </p:sp>
      <p:sp>
        <p:nvSpPr>
          <p:cNvPr id="6" name="Subtitle 5">
            <a:extLst>
              <a:ext uri="{FF2B5EF4-FFF2-40B4-BE49-F238E27FC236}">
                <a16:creationId xmlns:a16="http://schemas.microsoft.com/office/drawing/2014/main" id="{C652175D-2196-4E3C-9B19-23295C7CF7BD}"/>
              </a:ext>
            </a:extLst>
          </p:cNvPr>
          <p:cNvSpPr>
            <a:spLocks noGrp="1"/>
          </p:cNvSpPr>
          <p:nvPr>
            <p:ph type="subTitle" sz="quarter" idx="1"/>
          </p:nvPr>
        </p:nvSpPr>
        <p:spPr/>
        <p:txBody>
          <a:bodyPr/>
          <a:lstStyle/>
          <a:p>
            <a:endParaRPr lang="en-HK"/>
          </a:p>
        </p:txBody>
      </p:sp>
      <p:sp>
        <p:nvSpPr>
          <p:cNvPr id="4" name="Slide Number Placeholder 3">
            <a:extLst>
              <a:ext uri="{FF2B5EF4-FFF2-40B4-BE49-F238E27FC236}">
                <a16:creationId xmlns:a16="http://schemas.microsoft.com/office/drawing/2014/main" id="{317A29C4-322A-42BB-83B7-E7A937F84147}"/>
              </a:ext>
            </a:extLst>
          </p:cNvPr>
          <p:cNvSpPr>
            <a:spLocks noGrp="1"/>
          </p:cNvSpPr>
          <p:nvPr>
            <p:ph type="sldNum" sz="quarter" idx="12"/>
          </p:nvPr>
        </p:nvSpPr>
        <p:spPr/>
        <p:txBody>
          <a:bodyPr/>
          <a:lstStyle/>
          <a:p>
            <a:pPr>
              <a:defRPr/>
            </a:pPr>
            <a:fld id="{63B8F44C-0EDE-4D7D-9086-BD1CF3CE7AF7}" type="slidenum">
              <a:rPr lang="en-US" smtClean="0"/>
              <a:pPr>
                <a:defRPr/>
              </a:pPr>
              <a:t>9</a:t>
            </a:fld>
            <a:endParaRPr lang="en-US"/>
          </a:p>
        </p:txBody>
      </p:sp>
    </p:spTree>
    <p:extLst>
      <p:ext uri="{BB962C8B-B14F-4D97-AF65-F5344CB8AC3E}">
        <p14:creationId xmlns:p14="http://schemas.microsoft.com/office/powerpoint/2010/main" val="371793627"/>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B55AD-062A-4B89-A8AF-E9908DB42C2D}"/>
              </a:ext>
            </a:extLst>
          </p:cNvPr>
          <p:cNvSpPr>
            <a:spLocks noGrp="1"/>
          </p:cNvSpPr>
          <p:nvPr>
            <p:ph type="title"/>
          </p:nvPr>
        </p:nvSpPr>
        <p:spPr/>
        <p:txBody>
          <a:bodyPr/>
          <a:lstStyle/>
          <a:p>
            <a:r>
              <a:rPr lang="en-HK" dirty="0"/>
              <a:t>Test Oracle Problem</a:t>
            </a:r>
          </a:p>
        </p:txBody>
      </p:sp>
      <p:sp>
        <p:nvSpPr>
          <p:cNvPr id="3" name="Content Placeholder 2">
            <a:extLst>
              <a:ext uri="{FF2B5EF4-FFF2-40B4-BE49-F238E27FC236}">
                <a16:creationId xmlns:a16="http://schemas.microsoft.com/office/drawing/2014/main" id="{B1088B7C-8A8B-4ADB-8EB1-D0D0CF7BB248}"/>
              </a:ext>
            </a:extLst>
          </p:cNvPr>
          <p:cNvSpPr>
            <a:spLocks noGrp="1"/>
          </p:cNvSpPr>
          <p:nvPr>
            <p:ph idx="1"/>
          </p:nvPr>
        </p:nvSpPr>
        <p:spPr>
          <a:xfrm>
            <a:off x="412749" y="1676400"/>
            <a:ext cx="8729663" cy="4953000"/>
          </a:xfrm>
        </p:spPr>
        <p:txBody>
          <a:bodyPr/>
          <a:lstStyle/>
          <a:p>
            <a:r>
              <a:rPr lang="en-HK" sz="2400" dirty="0"/>
              <a:t>Recalling from </a:t>
            </a:r>
            <a:r>
              <a:rPr lang="en-HK" sz="2400" dirty="0" err="1"/>
              <a:t>Evosuite’s</a:t>
            </a:r>
            <a:r>
              <a:rPr lang="en-HK" sz="2400" dirty="0"/>
              <a:t> and fuzzing’s limitations that they could not point out functional failures of the program being written.</a:t>
            </a:r>
          </a:p>
          <a:p>
            <a:pPr lvl="1"/>
            <a:r>
              <a:rPr lang="en-HK" sz="2000" dirty="0"/>
              <a:t>Sometimes, we simply cannot get it: how do you know a Deep Learning engine produces a correct classification?</a:t>
            </a:r>
          </a:p>
          <a:p>
            <a:pPr lvl="1"/>
            <a:endParaRPr lang="en-HK" sz="2000" dirty="0"/>
          </a:p>
          <a:p>
            <a:r>
              <a:rPr lang="en-HK" sz="2400" dirty="0"/>
              <a:t>We need to formulate either a </a:t>
            </a:r>
            <a:r>
              <a:rPr lang="en-HK" sz="2400" i="1" dirty="0"/>
              <a:t>correctness criterion </a:t>
            </a:r>
            <a:r>
              <a:rPr lang="en-HK" sz="2400" dirty="0"/>
              <a:t>or </a:t>
            </a:r>
            <a:r>
              <a:rPr lang="en-HK" sz="2400" i="1" dirty="0"/>
              <a:t>an error condition </a:t>
            </a:r>
            <a:r>
              <a:rPr lang="en-HK" sz="2400" dirty="0"/>
              <a:t>for test cases to know whether the program actually passes these test cases. </a:t>
            </a:r>
          </a:p>
          <a:p>
            <a:r>
              <a:rPr lang="en-HK" sz="2400" dirty="0"/>
              <a:t>This is called the </a:t>
            </a:r>
            <a:r>
              <a:rPr lang="en-HK" sz="2400" b="1" i="1" dirty="0"/>
              <a:t>test oracle problem</a:t>
            </a:r>
            <a:r>
              <a:rPr lang="en-HK" sz="2400" dirty="0"/>
              <a:t>.</a:t>
            </a:r>
          </a:p>
          <a:p>
            <a:endParaRPr lang="en-HK" sz="2400" dirty="0"/>
          </a:p>
        </p:txBody>
      </p:sp>
      <p:sp>
        <p:nvSpPr>
          <p:cNvPr id="4" name="Slide Number Placeholder 3">
            <a:extLst>
              <a:ext uri="{FF2B5EF4-FFF2-40B4-BE49-F238E27FC236}">
                <a16:creationId xmlns:a16="http://schemas.microsoft.com/office/drawing/2014/main" id="{E59FEDC9-D483-471F-8F7C-CD67B44D9396}"/>
              </a:ext>
            </a:extLst>
          </p:cNvPr>
          <p:cNvSpPr>
            <a:spLocks noGrp="1"/>
          </p:cNvSpPr>
          <p:nvPr>
            <p:ph type="sldNum" sz="quarter" idx="12"/>
          </p:nvPr>
        </p:nvSpPr>
        <p:spPr/>
        <p:txBody>
          <a:bodyPr/>
          <a:lstStyle/>
          <a:p>
            <a:pPr>
              <a:defRPr/>
            </a:pPr>
            <a:fld id="{63B8F44C-0EDE-4D7D-9086-BD1CF3CE7AF7}" type="slidenum">
              <a:rPr lang="en-US" smtClean="0"/>
              <a:pPr>
                <a:defRPr/>
              </a:pPr>
              <a:t>10</a:t>
            </a:fld>
            <a:endParaRPr lang="en-US"/>
          </a:p>
        </p:txBody>
      </p:sp>
    </p:spTree>
    <p:extLst>
      <p:ext uri="{BB962C8B-B14F-4D97-AF65-F5344CB8AC3E}">
        <p14:creationId xmlns:p14="http://schemas.microsoft.com/office/powerpoint/2010/main" val="874889466"/>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E1477-D325-422F-B120-A9AD080446BB}"/>
              </a:ext>
            </a:extLst>
          </p:cNvPr>
          <p:cNvSpPr>
            <a:spLocks noGrp="1"/>
          </p:cNvSpPr>
          <p:nvPr>
            <p:ph type="title"/>
          </p:nvPr>
        </p:nvSpPr>
        <p:spPr/>
        <p:txBody>
          <a:bodyPr/>
          <a:lstStyle/>
          <a:p>
            <a:r>
              <a:rPr lang="en-HK" dirty="0"/>
              <a:t>Test Oracle</a:t>
            </a:r>
          </a:p>
        </p:txBody>
      </p:sp>
      <p:sp>
        <p:nvSpPr>
          <p:cNvPr id="3" name="Content Placeholder 2">
            <a:extLst>
              <a:ext uri="{FF2B5EF4-FFF2-40B4-BE49-F238E27FC236}">
                <a16:creationId xmlns:a16="http://schemas.microsoft.com/office/drawing/2014/main" id="{7BF721E5-16D3-46C7-AD79-A4AA95073553}"/>
              </a:ext>
            </a:extLst>
          </p:cNvPr>
          <p:cNvSpPr>
            <a:spLocks noGrp="1"/>
          </p:cNvSpPr>
          <p:nvPr>
            <p:ph idx="1"/>
          </p:nvPr>
        </p:nvSpPr>
        <p:spPr/>
        <p:txBody>
          <a:bodyPr/>
          <a:lstStyle/>
          <a:p>
            <a:r>
              <a:rPr lang="en-HK" sz="2800" dirty="0"/>
              <a:t>Generic Test Oracle [automated]</a:t>
            </a:r>
          </a:p>
          <a:p>
            <a:pPr lvl="1"/>
            <a:r>
              <a:rPr lang="en-HK" sz="2400" dirty="0"/>
              <a:t>There are some errors that we know them being errors. These errors are general and applicable to all types of situations and programs (</a:t>
            </a:r>
            <a:r>
              <a:rPr lang="en-HK" sz="2000" dirty="0"/>
              <a:t>E.g., crash, deadlock.</a:t>
            </a:r>
            <a:r>
              <a:rPr lang="en-HK" sz="2400" dirty="0"/>
              <a:t>)</a:t>
            </a:r>
            <a:endParaRPr lang="en-HK" sz="2000" dirty="0"/>
          </a:p>
          <a:p>
            <a:pPr lvl="2"/>
            <a:r>
              <a:rPr lang="en-HK" sz="2000" dirty="0"/>
              <a:t>They are widely used in automated testing tools.</a:t>
            </a:r>
          </a:p>
          <a:p>
            <a:pPr lvl="2"/>
            <a:endParaRPr lang="en-HK" sz="1200" dirty="0"/>
          </a:p>
          <a:p>
            <a:r>
              <a:rPr lang="en-HK" sz="2800" dirty="0"/>
              <a:t>Pattern-based Test Oracle [automated]</a:t>
            </a:r>
          </a:p>
          <a:p>
            <a:pPr lvl="1"/>
            <a:r>
              <a:rPr lang="en-HK" sz="2400" dirty="0"/>
              <a:t>Sometimes, some code patterns in the code tend to be erroneous. They should be removed from the code if possible. They are formulated heuristically. </a:t>
            </a:r>
          </a:p>
          <a:p>
            <a:pPr lvl="2"/>
            <a:r>
              <a:rPr lang="en-HK" sz="2000" dirty="0"/>
              <a:t>Many static analysis tools use them.</a:t>
            </a:r>
          </a:p>
          <a:p>
            <a:pPr lvl="2"/>
            <a:r>
              <a:rPr lang="en-HK" sz="2000" dirty="0"/>
              <a:t>E.g., </a:t>
            </a:r>
            <a:r>
              <a:rPr lang="en-HK" sz="2000" dirty="0" err="1"/>
              <a:t>FindBugs</a:t>
            </a:r>
            <a:r>
              <a:rPr lang="en-HK" sz="2000" dirty="0"/>
              <a:t> for Java, </a:t>
            </a:r>
            <a:r>
              <a:rPr lang="en-HK" sz="2000" dirty="0" err="1"/>
              <a:t>pylint</a:t>
            </a:r>
            <a:r>
              <a:rPr lang="en-HK" sz="2000" dirty="0"/>
              <a:t> for Python, safety for checking requirement.txt for Python</a:t>
            </a:r>
          </a:p>
          <a:p>
            <a:pPr lvl="2"/>
            <a:endParaRPr lang="en-HK" sz="2000" dirty="0"/>
          </a:p>
        </p:txBody>
      </p:sp>
      <p:sp>
        <p:nvSpPr>
          <p:cNvPr id="4" name="Slide Number Placeholder 3">
            <a:extLst>
              <a:ext uri="{FF2B5EF4-FFF2-40B4-BE49-F238E27FC236}">
                <a16:creationId xmlns:a16="http://schemas.microsoft.com/office/drawing/2014/main" id="{4FBB4646-9678-4B6E-BC02-6DF1F99E653B}"/>
              </a:ext>
            </a:extLst>
          </p:cNvPr>
          <p:cNvSpPr>
            <a:spLocks noGrp="1"/>
          </p:cNvSpPr>
          <p:nvPr>
            <p:ph type="sldNum" sz="quarter" idx="12"/>
          </p:nvPr>
        </p:nvSpPr>
        <p:spPr/>
        <p:txBody>
          <a:bodyPr/>
          <a:lstStyle/>
          <a:p>
            <a:pPr>
              <a:defRPr/>
            </a:pPr>
            <a:fld id="{63B8F44C-0EDE-4D7D-9086-BD1CF3CE7AF7}" type="slidenum">
              <a:rPr lang="en-US" smtClean="0"/>
              <a:pPr>
                <a:defRPr/>
              </a:pPr>
              <a:t>11</a:t>
            </a:fld>
            <a:endParaRPr lang="en-US"/>
          </a:p>
        </p:txBody>
      </p:sp>
    </p:spTree>
    <p:extLst>
      <p:ext uri="{BB962C8B-B14F-4D97-AF65-F5344CB8AC3E}">
        <p14:creationId xmlns:p14="http://schemas.microsoft.com/office/powerpoint/2010/main" val="2570614186"/>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E1477-D325-422F-B120-A9AD080446BB}"/>
              </a:ext>
            </a:extLst>
          </p:cNvPr>
          <p:cNvSpPr>
            <a:spLocks noGrp="1"/>
          </p:cNvSpPr>
          <p:nvPr>
            <p:ph type="title"/>
          </p:nvPr>
        </p:nvSpPr>
        <p:spPr/>
        <p:txBody>
          <a:bodyPr/>
          <a:lstStyle/>
          <a:p>
            <a:r>
              <a:rPr lang="en-HK" dirty="0"/>
              <a:t>Test Oracle</a:t>
            </a:r>
          </a:p>
        </p:txBody>
      </p:sp>
      <p:sp>
        <p:nvSpPr>
          <p:cNvPr id="3" name="Content Placeholder 2">
            <a:extLst>
              <a:ext uri="{FF2B5EF4-FFF2-40B4-BE49-F238E27FC236}">
                <a16:creationId xmlns:a16="http://schemas.microsoft.com/office/drawing/2014/main" id="{7BF721E5-16D3-46C7-AD79-A4AA95073553}"/>
              </a:ext>
            </a:extLst>
          </p:cNvPr>
          <p:cNvSpPr>
            <a:spLocks noGrp="1"/>
          </p:cNvSpPr>
          <p:nvPr>
            <p:ph idx="1"/>
          </p:nvPr>
        </p:nvSpPr>
        <p:spPr/>
        <p:txBody>
          <a:bodyPr/>
          <a:lstStyle/>
          <a:p>
            <a:r>
              <a:rPr lang="en-HK" sz="2800" dirty="0"/>
              <a:t>Reference Test Oracle [automated]</a:t>
            </a:r>
          </a:p>
          <a:p>
            <a:pPr lvl="1"/>
            <a:r>
              <a:rPr lang="en-HK" sz="2400" dirty="0"/>
              <a:t>For programs with clear specialized purposes, one knows the expected test results and test cases. For instance, to test for browser compatibility, we can run the predefine benchmark test suite available on the web.</a:t>
            </a:r>
          </a:p>
          <a:p>
            <a:pPr lvl="1"/>
            <a:endParaRPr lang="en-HK" sz="1200" dirty="0"/>
          </a:p>
          <a:p>
            <a:r>
              <a:rPr lang="en-HK" sz="2800" dirty="0"/>
              <a:t>Regression Test Oracle [automated]</a:t>
            </a:r>
          </a:p>
          <a:p>
            <a:pPr lvl="1"/>
            <a:r>
              <a:rPr lang="en-HK" sz="2400" dirty="0"/>
              <a:t>For programs with versioning, many test cases will be applicable to multiple program versions without revision. In these cases, the test oracle or output of a program version on a test case can be used to check the output of another program version on the same test case.</a:t>
            </a:r>
          </a:p>
          <a:p>
            <a:pPr lvl="1"/>
            <a:endParaRPr lang="en-HK" sz="2400" dirty="0"/>
          </a:p>
          <a:p>
            <a:pPr lvl="2"/>
            <a:endParaRPr lang="en-HK" sz="2000" dirty="0"/>
          </a:p>
        </p:txBody>
      </p:sp>
      <p:sp>
        <p:nvSpPr>
          <p:cNvPr id="4" name="Slide Number Placeholder 3">
            <a:extLst>
              <a:ext uri="{FF2B5EF4-FFF2-40B4-BE49-F238E27FC236}">
                <a16:creationId xmlns:a16="http://schemas.microsoft.com/office/drawing/2014/main" id="{4FBB4646-9678-4B6E-BC02-6DF1F99E653B}"/>
              </a:ext>
            </a:extLst>
          </p:cNvPr>
          <p:cNvSpPr>
            <a:spLocks noGrp="1"/>
          </p:cNvSpPr>
          <p:nvPr>
            <p:ph type="sldNum" sz="quarter" idx="12"/>
          </p:nvPr>
        </p:nvSpPr>
        <p:spPr/>
        <p:txBody>
          <a:bodyPr/>
          <a:lstStyle/>
          <a:p>
            <a:pPr>
              <a:defRPr/>
            </a:pPr>
            <a:fld id="{63B8F44C-0EDE-4D7D-9086-BD1CF3CE7AF7}" type="slidenum">
              <a:rPr lang="en-US" smtClean="0"/>
              <a:pPr>
                <a:defRPr/>
              </a:pPr>
              <a:t>12</a:t>
            </a:fld>
            <a:endParaRPr lang="en-US"/>
          </a:p>
        </p:txBody>
      </p:sp>
    </p:spTree>
    <p:extLst>
      <p:ext uri="{BB962C8B-B14F-4D97-AF65-F5344CB8AC3E}">
        <p14:creationId xmlns:p14="http://schemas.microsoft.com/office/powerpoint/2010/main" val="2722982425"/>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E1477-D325-422F-B120-A9AD080446BB}"/>
              </a:ext>
            </a:extLst>
          </p:cNvPr>
          <p:cNvSpPr>
            <a:spLocks noGrp="1"/>
          </p:cNvSpPr>
          <p:nvPr>
            <p:ph type="title"/>
          </p:nvPr>
        </p:nvSpPr>
        <p:spPr/>
        <p:txBody>
          <a:bodyPr/>
          <a:lstStyle/>
          <a:p>
            <a:r>
              <a:rPr lang="en-HK" dirty="0"/>
              <a:t>Test Oracle</a:t>
            </a:r>
          </a:p>
        </p:txBody>
      </p:sp>
      <p:sp>
        <p:nvSpPr>
          <p:cNvPr id="3" name="Content Placeholder 2">
            <a:extLst>
              <a:ext uri="{FF2B5EF4-FFF2-40B4-BE49-F238E27FC236}">
                <a16:creationId xmlns:a16="http://schemas.microsoft.com/office/drawing/2014/main" id="{7BF721E5-16D3-46C7-AD79-A4AA95073553}"/>
              </a:ext>
            </a:extLst>
          </p:cNvPr>
          <p:cNvSpPr>
            <a:spLocks noGrp="1"/>
          </p:cNvSpPr>
          <p:nvPr>
            <p:ph idx="1"/>
          </p:nvPr>
        </p:nvSpPr>
        <p:spPr/>
        <p:txBody>
          <a:bodyPr/>
          <a:lstStyle/>
          <a:p>
            <a:r>
              <a:rPr lang="en-HK" sz="2800" dirty="0"/>
              <a:t>Program-Specific Test Oracle [manual]</a:t>
            </a:r>
          </a:p>
          <a:p>
            <a:pPr lvl="1"/>
            <a:r>
              <a:rPr lang="en-HK" sz="2400" dirty="0"/>
              <a:t>Each program has its own purpose and functionality. There is no universally applicable test oracle to verify functional outputs fitting every program.</a:t>
            </a:r>
          </a:p>
          <a:p>
            <a:pPr lvl="1"/>
            <a:r>
              <a:rPr lang="en-HK" sz="2400" dirty="0"/>
              <a:t>In a vast majority of cases, developers write their own Assertion Statements (e.g., </a:t>
            </a:r>
            <a:r>
              <a:rPr lang="en-HK" sz="2400" dirty="0" err="1"/>
              <a:t>assertEqual</a:t>
            </a:r>
            <a:r>
              <a:rPr lang="en-HK" sz="2400" dirty="0"/>
              <a:t>() in JUnit)  or validate the outputs manually </a:t>
            </a:r>
          </a:p>
          <a:p>
            <a:pPr lvl="2"/>
            <a:r>
              <a:rPr lang="en-HK" sz="2000" dirty="0"/>
              <a:t>There is no better option yet. </a:t>
            </a:r>
          </a:p>
          <a:p>
            <a:pPr lvl="1"/>
            <a:r>
              <a:rPr lang="en-HK" sz="2400" dirty="0"/>
              <a:t>If developers have some knowledge about the application domain of a program, they can use their “common sense” to spot failures from testing.</a:t>
            </a:r>
            <a:endParaRPr lang="en-HK" sz="2200" dirty="0"/>
          </a:p>
          <a:p>
            <a:pPr marL="976313" lvl="2" indent="0">
              <a:buNone/>
            </a:pPr>
            <a:endParaRPr lang="en-HK" sz="2000" dirty="0"/>
          </a:p>
        </p:txBody>
      </p:sp>
      <p:sp>
        <p:nvSpPr>
          <p:cNvPr id="4" name="Slide Number Placeholder 3">
            <a:extLst>
              <a:ext uri="{FF2B5EF4-FFF2-40B4-BE49-F238E27FC236}">
                <a16:creationId xmlns:a16="http://schemas.microsoft.com/office/drawing/2014/main" id="{4FBB4646-9678-4B6E-BC02-6DF1F99E653B}"/>
              </a:ext>
            </a:extLst>
          </p:cNvPr>
          <p:cNvSpPr>
            <a:spLocks noGrp="1"/>
          </p:cNvSpPr>
          <p:nvPr>
            <p:ph type="sldNum" sz="quarter" idx="12"/>
          </p:nvPr>
        </p:nvSpPr>
        <p:spPr/>
        <p:txBody>
          <a:bodyPr/>
          <a:lstStyle/>
          <a:p>
            <a:pPr>
              <a:defRPr/>
            </a:pPr>
            <a:fld id="{63B8F44C-0EDE-4D7D-9086-BD1CF3CE7AF7}" type="slidenum">
              <a:rPr lang="en-US" smtClean="0"/>
              <a:pPr>
                <a:defRPr/>
              </a:pPr>
              <a:t>13</a:t>
            </a:fld>
            <a:endParaRPr lang="en-US"/>
          </a:p>
        </p:txBody>
      </p:sp>
    </p:spTree>
    <p:extLst>
      <p:ext uri="{BB962C8B-B14F-4D97-AF65-F5344CB8AC3E}">
        <p14:creationId xmlns:p14="http://schemas.microsoft.com/office/powerpoint/2010/main" val="99146841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E1477-D325-422F-B120-A9AD080446BB}"/>
              </a:ext>
            </a:extLst>
          </p:cNvPr>
          <p:cNvSpPr>
            <a:spLocks noGrp="1"/>
          </p:cNvSpPr>
          <p:nvPr>
            <p:ph type="title"/>
          </p:nvPr>
        </p:nvSpPr>
        <p:spPr/>
        <p:txBody>
          <a:bodyPr/>
          <a:lstStyle/>
          <a:p>
            <a:r>
              <a:rPr lang="en-HK" dirty="0"/>
              <a:t>Test Oracle</a:t>
            </a:r>
          </a:p>
        </p:txBody>
      </p:sp>
      <p:sp>
        <p:nvSpPr>
          <p:cNvPr id="3" name="Content Placeholder 2">
            <a:extLst>
              <a:ext uri="{FF2B5EF4-FFF2-40B4-BE49-F238E27FC236}">
                <a16:creationId xmlns:a16="http://schemas.microsoft.com/office/drawing/2014/main" id="{7BF721E5-16D3-46C7-AD79-A4AA95073553}"/>
              </a:ext>
            </a:extLst>
          </p:cNvPr>
          <p:cNvSpPr>
            <a:spLocks noGrp="1"/>
          </p:cNvSpPr>
          <p:nvPr>
            <p:ph idx="1"/>
          </p:nvPr>
        </p:nvSpPr>
        <p:spPr>
          <a:xfrm>
            <a:off x="412750" y="1676400"/>
            <a:ext cx="9339262" cy="4953000"/>
          </a:xfrm>
        </p:spPr>
        <p:txBody>
          <a:bodyPr/>
          <a:lstStyle/>
          <a:p>
            <a:r>
              <a:rPr lang="en-HK" sz="2800" dirty="0"/>
              <a:t>Test Oracle across Multiple Executions</a:t>
            </a:r>
          </a:p>
          <a:p>
            <a:pPr lvl="1"/>
            <a:r>
              <a:rPr lang="en-HK" sz="2400" dirty="0"/>
              <a:t>Suppose developers have some knowledge about the application domain of a program.</a:t>
            </a:r>
          </a:p>
          <a:p>
            <a:pPr lvl="1"/>
            <a:r>
              <a:rPr lang="en-HK" sz="2400" dirty="0"/>
              <a:t>They will know something could be wrong by comparing multiple test results and the expectations on the relations on test results</a:t>
            </a:r>
          </a:p>
          <a:p>
            <a:pPr lvl="1"/>
            <a:r>
              <a:rPr lang="en-HK" sz="2400" dirty="0"/>
              <a:t>It is known as </a:t>
            </a:r>
            <a:r>
              <a:rPr lang="en-HK" sz="2400" b="1" i="1" dirty="0"/>
              <a:t>Metamorphic Testing </a:t>
            </a:r>
            <a:r>
              <a:rPr lang="en-HK" sz="2400" dirty="0"/>
              <a:t>[automated]</a:t>
            </a:r>
          </a:p>
          <a:p>
            <a:pPr lvl="1"/>
            <a:r>
              <a:rPr lang="en-US" sz="2000" dirty="0"/>
              <a:t>Is experimentally used in testing </a:t>
            </a:r>
            <a:r>
              <a:rPr lang="en-HK" sz="2000" dirty="0"/>
              <a:t>Autonomous Driving Systems</a:t>
            </a:r>
          </a:p>
          <a:p>
            <a:pPr lvl="1"/>
            <a:r>
              <a:rPr lang="en-US" sz="2000" dirty="0"/>
              <a:t>I</a:t>
            </a:r>
            <a:r>
              <a:rPr lang="en-HK" sz="2000" dirty="0"/>
              <a:t>s used in </a:t>
            </a:r>
            <a:r>
              <a:rPr lang="en-HK" sz="2000" dirty="0" err="1"/>
              <a:t>startup</a:t>
            </a:r>
            <a:endParaRPr lang="en-HK" sz="2000" dirty="0"/>
          </a:p>
          <a:p>
            <a:pPr lvl="1"/>
            <a:endParaRPr lang="en-HK" sz="2000" dirty="0"/>
          </a:p>
          <a:p>
            <a:pPr marL="976313" lvl="2" indent="0">
              <a:buNone/>
            </a:pPr>
            <a:endParaRPr lang="en-HK" sz="2000" dirty="0"/>
          </a:p>
        </p:txBody>
      </p:sp>
      <p:sp>
        <p:nvSpPr>
          <p:cNvPr id="4" name="Slide Number Placeholder 3">
            <a:extLst>
              <a:ext uri="{FF2B5EF4-FFF2-40B4-BE49-F238E27FC236}">
                <a16:creationId xmlns:a16="http://schemas.microsoft.com/office/drawing/2014/main" id="{4FBB4646-9678-4B6E-BC02-6DF1F99E653B}"/>
              </a:ext>
            </a:extLst>
          </p:cNvPr>
          <p:cNvSpPr>
            <a:spLocks noGrp="1"/>
          </p:cNvSpPr>
          <p:nvPr>
            <p:ph type="sldNum" sz="quarter" idx="12"/>
          </p:nvPr>
        </p:nvSpPr>
        <p:spPr/>
        <p:txBody>
          <a:bodyPr/>
          <a:lstStyle/>
          <a:p>
            <a:pPr>
              <a:defRPr/>
            </a:pPr>
            <a:fld id="{63B8F44C-0EDE-4D7D-9086-BD1CF3CE7AF7}" type="slidenum">
              <a:rPr lang="en-US" smtClean="0"/>
              <a:pPr>
                <a:defRPr/>
              </a:pPr>
              <a:t>14</a:t>
            </a:fld>
            <a:endParaRPr lang="en-US"/>
          </a:p>
        </p:txBody>
      </p:sp>
      <p:pic>
        <p:nvPicPr>
          <p:cNvPr id="6" name="Picture 5" descr="A picture containing object&#10;&#10;Description generated with high confidence">
            <a:extLst>
              <a:ext uri="{FF2B5EF4-FFF2-40B4-BE49-F238E27FC236}">
                <a16:creationId xmlns:a16="http://schemas.microsoft.com/office/drawing/2014/main" id="{1C1C72C2-B645-4C13-9B41-2811C891D5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1812" y="5029200"/>
            <a:ext cx="4001633" cy="662242"/>
          </a:xfrm>
          <a:prstGeom prst="rect">
            <a:avLst/>
          </a:prstGeom>
        </p:spPr>
      </p:pic>
      <p:pic>
        <p:nvPicPr>
          <p:cNvPr id="10" name="Picture 9" descr="A picture containing table, indoor&#10;&#10;Description generated with very high confidence">
            <a:extLst>
              <a:ext uri="{FF2B5EF4-FFF2-40B4-BE49-F238E27FC236}">
                <a16:creationId xmlns:a16="http://schemas.microsoft.com/office/drawing/2014/main" id="{4371D24F-952E-494A-BC5D-83B126E7F8E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5066" y="5449701"/>
            <a:ext cx="5506218" cy="1209844"/>
          </a:xfrm>
          <a:prstGeom prst="rect">
            <a:avLst/>
          </a:prstGeom>
        </p:spPr>
      </p:pic>
    </p:spTree>
    <p:extLst>
      <p:ext uri="{BB962C8B-B14F-4D97-AF65-F5344CB8AC3E}">
        <p14:creationId xmlns:p14="http://schemas.microsoft.com/office/powerpoint/2010/main" val="3341608847"/>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C7BE3-A970-41D5-B53E-120C8DE7EE1A}"/>
              </a:ext>
            </a:extLst>
          </p:cNvPr>
          <p:cNvSpPr>
            <a:spLocks noGrp="1"/>
          </p:cNvSpPr>
          <p:nvPr>
            <p:ph type="title"/>
          </p:nvPr>
        </p:nvSpPr>
        <p:spPr/>
        <p:txBody>
          <a:bodyPr/>
          <a:lstStyle/>
          <a:p>
            <a:r>
              <a:rPr lang="en-HK" dirty="0"/>
              <a:t>Idea of Metamorphic Testing</a:t>
            </a:r>
          </a:p>
        </p:txBody>
      </p:sp>
      <p:sp>
        <p:nvSpPr>
          <p:cNvPr id="3" name="Content Placeholder 2">
            <a:extLst>
              <a:ext uri="{FF2B5EF4-FFF2-40B4-BE49-F238E27FC236}">
                <a16:creationId xmlns:a16="http://schemas.microsoft.com/office/drawing/2014/main" id="{B44D6D63-ED49-4398-8B1D-2AB81727367E}"/>
              </a:ext>
            </a:extLst>
          </p:cNvPr>
          <p:cNvSpPr>
            <a:spLocks noGrp="1"/>
          </p:cNvSpPr>
          <p:nvPr>
            <p:ph idx="1"/>
          </p:nvPr>
        </p:nvSpPr>
        <p:spPr>
          <a:xfrm>
            <a:off x="412750" y="1676400"/>
            <a:ext cx="8511691" cy="4953000"/>
          </a:xfrm>
        </p:spPr>
        <p:txBody>
          <a:bodyPr/>
          <a:lstStyle/>
          <a:p>
            <a:r>
              <a:rPr lang="en-HK" sz="2400" dirty="0"/>
              <a:t>Consider a deterministic program </a:t>
            </a:r>
            <a:r>
              <a:rPr lang="en-HK" sz="2400" dirty="0">
                <a:latin typeface="Courier New" panose="02070309020205020404" pitchFamily="49" charset="0"/>
                <a:cs typeface="Courier New" panose="02070309020205020404" pitchFamily="49" charset="0"/>
              </a:rPr>
              <a:t>P</a:t>
            </a:r>
            <a:r>
              <a:rPr lang="en-HK" sz="2400" dirty="0"/>
              <a:t> that finds a shortest path from a directed graph </a:t>
            </a:r>
            <a:r>
              <a:rPr lang="en-HK" sz="2400" dirty="0">
                <a:latin typeface="Courier New" panose="02070309020205020404" pitchFamily="49" charset="0"/>
                <a:cs typeface="Courier New" panose="02070309020205020404" pitchFamily="49" charset="0"/>
              </a:rPr>
              <a:t>G1</a:t>
            </a:r>
            <a:r>
              <a:rPr lang="en-HK" sz="2400" dirty="0"/>
              <a:t> from node </a:t>
            </a:r>
            <a:r>
              <a:rPr lang="en-HK" sz="2400" dirty="0">
                <a:latin typeface="Courier New" panose="02070309020205020404" pitchFamily="49" charset="0"/>
                <a:cs typeface="Courier New" panose="02070309020205020404" pitchFamily="49" charset="0"/>
              </a:rPr>
              <a:t>x</a:t>
            </a:r>
            <a:r>
              <a:rPr lang="en-HK" sz="2400" dirty="0"/>
              <a:t> to node </a:t>
            </a:r>
            <a:r>
              <a:rPr lang="en-HK" sz="2400" dirty="0">
                <a:latin typeface="Courier New" panose="02070309020205020404" pitchFamily="49" charset="0"/>
                <a:cs typeface="Courier New" panose="02070309020205020404" pitchFamily="49" charset="0"/>
              </a:rPr>
              <a:t>y</a:t>
            </a:r>
            <a:r>
              <a:rPr lang="en-HK" sz="2400" dirty="0"/>
              <a:t>.</a:t>
            </a:r>
          </a:p>
          <a:p>
            <a:r>
              <a:rPr lang="en-HK" sz="2400" dirty="0">
                <a:cs typeface="Courier New" panose="02070309020205020404" pitchFamily="49" charset="0"/>
              </a:rPr>
              <a:t>Test case </a:t>
            </a:r>
            <a:r>
              <a:rPr lang="en-HK" sz="2400" dirty="0">
                <a:latin typeface="Courier New" panose="02070309020205020404" pitchFamily="49" charset="0"/>
                <a:cs typeface="Courier New" panose="02070309020205020404" pitchFamily="49" charset="0"/>
              </a:rPr>
              <a:t>P(G1,</a:t>
            </a:r>
            <a:r>
              <a:rPr lang="en-HK" sz="2400" dirty="0">
                <a:cs typeface="Courier New" panose="02070309020205020404" pitchFamily="49" charset="0"/>
              </a:rPr>
              <a:t> </a:t>
            </a:r>
            <a:r>
              <a:rPr lang="en-HK" sz="2400" dirty="0">
                <a:latin typeface="Courier New" panose="02070309020205020404" pitchFamily="49" charset="0"/>
                <a:cs typeface="Courier New" panose="02070309020205020404" pitchFamily="49" charset="0"/>
              </a:rPr>
              <a:t>x, y)</a:t>
            </a:r>
            <a:r>
              <a:rPr lang="en-HK" sz="2400" dirty="0">
                <a:cs typeface="Courier New" panose="02070309020205020404" pitchFamily="49" charset="0"/>
              </a:rPr>
              <a:t> </a:t>
            </a:r>
            <a:r>
              <a:rPr lang="en-HK" sz="2400" dirty="0"/>
              <a:t>outputs a sequence </a:t>
            </a:r>
            <a:r>
              <a:rPr lang="en-HK" sz="2400" dirty="0">
                <a:latin typeface="Courier New" panose="02070309020205020404" pitchFamily="49" charset="0"/>
                <a:cs typeface="Courier New" panose="02070309020205020404" pitchFamily="49" charset="0"/>
              </a:rPr>
              <a:t>L1</a:t>
            </a:r>
            <a:r>
              <a:rPr lang="en-HK" sz="2400" dirty="0"/>
              <a:t> of nodes in </a:t>
            </a:r>
            <a:r>
              <a:rPr lang="en-HK" sz="2400" dirty="0">
                <a:latin typeface="Courier New" panose="02070309020205020404" pitchFamily="49" charset="0"/>
                <a:cs typeface="Courier New" panose="02070309020205020404" pitchFamily="49" charset="0"/>
              </a:rPr>
              <a:t>G1</a:t>
            </a:r>
            <a:r>
              <a:rPr lang="en-HK" sz="2400" dirty="0"/>
              <a:t> to go from </a:t>
            </a:r>
            <a:r>
              <a:rPr lang="en-HK" sz="2400" dirty="0">
                <a:latin typeface="Courier New" panose="02070309020205020404" pitchFamily="49" charset="0"/>
                <a:cs typeface="Courier New" panose="02070309020205020404" pitchFamily="49" charset="0"/>
              </a:rPr>
              <a:t>x</a:t>
            </a:r>
            <a:r>
              <a:rPr lang="en-HK" sz="2400" dirty="0"/>
              <a:t> to </a:t>
            </a:r>
            <a:r>
              <a:rPr lang="en-HK" sz="2400" dirty="0">
                <a:latin typeface="Courier New" panose="02070309020205020404" pitchFamily="49" charset="0"/>
                <a:cs typeface="Courier New" panose="02070309020205020404" pitchFamily="49" charset="0"/>
              </a:rPr>
              <a:t>y</a:t>
            </a:r>
            <a:r>
              <a:rPr lang="en-HK" sz="2400" dirty="0"/>
              <a:t>.</a:t>
            </a:r>
          </a:p>
          <a:p>
            <a:pPr marL="0" indent="0">
              <a:buNone/>
            </a:pPr>
            <a:r>
              <a:rPr lang="en-HK" sz="2400" b="1" dirty="0"/>
              <a:t>Test case part:</a:t>
            </a:r>
          </a:p>
          <a:p>
            <a:r>
              <a:rPr lang="en-HK" sz="2400" dirty="0"/>
              <a:t>By deleting some nodes (and their connecting edges) in </a:t>
            </a:r>
            <a:r>
              <a:rPr lang="en-HK" sz="2400" dirty="0">
                <a:latin typeface="Courier New" panose="02070309020205020404" pitchFamily="49" charset="0"/>
                <a:cs typeface="Courier New" panose="02070309020205020404" pitchFamily="49" charset="0"/>
              </a:rPr>
              <a:t>G1</a:t>
            </a:r>
            <a:r>
              <a:rPr lang="en-HK" sz="2400" dirty="0"/>
              <a:t> where each of them is not in </a:t>
            </a:r>
            <a:r>
              <a:rPr lang="en-HK" sz="2400" dirty="0">
                <a:latin typeface="Courier New" panose="02070309020205020404" pitchFamily="49" charset="0"/>
                <a:cs typeface="Courier New" panose="02070309020205020404" pitchFamily="49" charset="0"/>
              </a:rPr>
              <a:t>L1,</a:t>
            </a:r>
            <a:r>
              <a:rPr lang="en-HK" sz="2400" dirty="0">
                <a:cs typeface="Courier New" panose="02070309020205020404" pitchFamily="49" charset="0"/>
              </a:rPr>
              <a:t> we c</a:t>
            </a:r>
            <a:r>
              <a:rPr lang="en-HK" sz="2400" dirty="0"/>
              <a:t>onstruct another graph </a:t>
            </a:r>
            <a:r>
              <a:rPr lang="en-HK" sz="2400" dirty="0">
                <a:latin typeface="Courier New" panose="02070309020205020404" pitchFamily="49" charset="0"/>
                <a:cs typeface="Courier New" panose="02070309020205020404" pitchFamily="49" charset="0"/>
              </a:rPr>
              <a:t>G2</a:t>
            </a:r>
            <a:r>
              <a:rPr lang="en-HK" sz="2400" dirty="0"/>
              <a:t>.</a:t>
            </a:r>
            <a:r>
              <a:rPr lang="en-HK" sz="2400" dirty="0">
                <a:latin typeface="Courier New" panose="02070309020205020404" pitchFamily="49" charset="0"/>
                <a:cs typeface="Courier New" panose="02070309020205020404" pitchFamily="49" charset="0"/>
              </a:rPr>
              <a:t> </a:t>
            </a:r>
          </a:p>
          <a:p>
            <a:r>
              <a:rPr lang="en-HK" sz="2400" dirty="0">
                <a:cs typeface="Courier New" panose="02070309020205020404" pitchFamily="49" charset="0"/>
              </a:rPr>
              <a:t>Test case </a:t>
            </a:r>
            <a:r>
              <a:rPr lang="en-HK" sz="2400" dirty="0">
                <a:latin typeface="Courier New" panose="02070309020205020404" pitchFamily="49" charset="0"/>
                <a:cs typeface="Courier New" panose="02070309020205020404" pitchFamily="49" charset="0"/>
              </a:rPr>
              <a:t>P(G2,</a:t>
            </a:r>
            <a:r>
              <a:rPr lang="en-HK" sz="2400" dirty="0">
                <a:cs typeface="Courier New" panose="02070309020205020404" pitchFamily="49" charset="0"/>
              </a:rPr>
              <a:t> </a:t>
            </a:r>
            <a:r>
              <a:rPr lang="en-HK" sz="2400" dirty="0">
                <a:latin typeface="Courier New" panose="02070309020205020404" pitchFamily="49" charset="0"/>
                <a:cs typeface="Courier New" panose="02070309020205020404" pitchFamily="49" charset="0"/>
              </a:rPr>
              <a:t>x, y)</a:t>
            </a:r>
            <a:r>
              <a:rPr lang="en-HK" sz="2400" dirty="0">
                <a:cs typeface="Courier New" panose="02070309020205020404" pitchFamily="49" charset="0"/>
              </a:rPr>
              <a:t> </a:t>
            </a:r>
            <a:r>
              <a:rPr lang="en-HK" sz="2400" dirty="0"/>
              <a:t>outputs </a:t>
            </a:r>
            <a:r>
              <a:rPr lang="en-HK" sz="2400" dirty="0">
                <a:latin typeface="Courier New" panose="02070309020205020404" pitchFamily="49" charset="0"/>
                <a:cs typeface="Courier New" panose="02070309020205020404" pitchFamily="49" charset="0"/>
              </a:rPr>
              <a:t>L2</a:t>
            </a:r>
            <a:r>
              <a:rPr lang="en-HK" sz="2400" dirty="0">
                <a:cs typeface="Courier New" panose="02070309020205020404" pitchFamily="49" charset="0"/>
              </a:rPr>
              <a:t>.</a:t>
            </a:r>
          </a:p>
          <a:p>
            <a:pPr marL="0" indent="0">
              <a:buNone/>
            </a:pPr>
            <a:r>
              <a:rPr lang="en-HK" sz="2400" b="1" dirty="0">
                <a:cs typeface="Courier New" panose="02070309020205020404" pitchFamily="49" charset="0"/>
              </a:rPr>
              <a:t>Oracle part:</a:t>
            </a:r>
            <a:endParaRPr lang="en-HK" sz="2400" b="1" dirty="0"/>
          </a:p>
          <a:p>
            <a:r>
              <a:rPr lang="en-HK" sz="2400" dirty="0">
                <a:cs typeface="Courier New" panose="02070309020205020404" pitchFamily="49" charset="0"/>
              </a:rPr>
              <a:t>Expectation: </a:t>
            </a:r>
            <a:r>
              <a:rPr lang="en-HK" sz="2400" dirty="0">
                <a:latin typeface="Courier New" panose="02070309020205020404" pitchFamily="49" charset="0"/>
                <a:cs typeface="Courier New" panose="02070309020205020404" pitchFamily="49" charset="0"/>
              </a:rPr>
              <a:t>L1 = L2</a:t>
            </a:r>
            <a:r>
              <a:rPr lang="en-HK" sz="2400" dirty="0">
                <a:cs typeface="Courier New" panose="02070309020205020404" pitchFamily="49" charset="0"/>
              </a:rPr>
              <a:t>. If violated, at least one of the two test cases is a failed test case.</a:t>
            </a:r>
            <a:endParaRPr lang="en-HK" sz="2400" dirty="0"/>
          </a:p>
        </p:txBody>
      </p:sp>
      <p:sp>
        <p:nvSpPr>
          <p:cNvPr id="4" name="Slide Number Placeholder 3">
            <a:extLst>
              <a:ext uri="{FF2B5EF4-FFF2-40B4-BE49-F238E27FC236}">
                <a16:creationId xmlns:a16="http://schemas.microsoft.com/office/drawing/2014/main" id="{B689260E-6944-4A96-89E2-B027FDDC199A}"/>
              </a:ext>
            </a:extLst>
          </p:cNvPr>
          <p:cNvSpPr>
            <a:spLocks noGrp="1"/>
          </p:cNvSpPr>
          <p:nvPr>
            <p:ph type="sldNum" sz="quarter" idx="12"/>
          </p:nvPr>
        </p:nvSpPr>
        <p:spPr/>
        <p:txBody>
          <a:bodyPr/>
          <a:lstStyle/>
          <a:p>
            <a:pPr>
              <a:defRPr/>
            </a:pPr>
            <a:fld id="{63B8F44C-0EDE-4D7D-9086-BD1CF3CE7AF7}" type="slidenum">
              <a:rPr lang="en-US" smtClean="0"/>
              <a:pPr>
                <a:defRPr/>
              </a:pPr>
              <a:t>15</a:t>
            </a:fld>
            <a:endParaRPr lang="en-US"/>
          </a:p>
        </p:txBody>
      </p:sp>
    </p:spTree>
    <p:extLst>
      <p:ext uri="{BB962C8B-B14F-4D97-AF65-F5344CB8AC3E}">
        <p14:creationId xmlns:p14="http://schemas.microsoft.com/office/powerpoint/2010/main" val="4259156614"/>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0815C-EBE0-40DB-87EB-A6A66F708D37}"/>
              </a:ext>
            </a:extLst>
          </p:cNvPr>
          <p:cNvSpPr>
            <a:spLocks noGrp="1"/>
          </p:cNvSpPr>
          <p:nvPr>
            <p:ph type="title"/>
          </p:nvPr>
        </p:nvSpPr>
        <p:spPr/>
        <p:txBody>
          <a:bodyPr/>
          <a:lstStyle/>
          <a:p>
            <a:r>
              <a:rPr lang="en-HK" dirty="0"/>
              <a:t>Metamorphic Relation</a:t>
            </a:r>
          </a:p>
        </p:txBody>
      </p:sp>
      <p:sp>
        <p:nvSpPr>
          <p:cNvPr id="3" name="Content Placeholder 2">
            <a:extLst>
              <a:ext uri="{FF2B5EF4-FFF2-40B4-BE49-F238E27FC236}">
                <a16:creationId xmlns:a16="http://schemas.microsoft.com/office/drawing/2014/main" id="{154EFBF9-9CDD-453C-B284-5E5F07DDE30D}"/>
              </a:ext>
            </a:extLst>
          </p:cNvPr>
          <p:cNvSpPr>
            <a:spLocks noGrp="1"/>
          </p:cNvSpPr>
          <p:nvPr>
            <p:ph idx="1"/>
          </p:nvPr>
        </p:nvSpPr>
        <p:spPr>
          <a:xfrm>
            <a:off x="412750" y="1676400"/>
            <a:ext cx="9263062" cy="4953000"/>
          </a:xfrm>
        </p:spPr>
        <p:txBody>
          <a:bodyPr/>
          <a:lstStyle/>
          <a:p>
            <a:r>
              <a:rPr lang="en-HK" sz="2800" dirty="0"/>
              <a:t>An expected relation over multiple test inputs and test outputs to be held. </a:t>
            </a:r>
          </a:p>
          <a:p>
            <a:r>
              <a:rPr lang="en-HK" sz="2800" dirty="0"/>
              <a:t>Such an expected relation is called a </a:t>
            </a:r>
            <a:r>
              <a:rPr lang="en-HK" sz="2800" b="1" dirty="0"/>
              <a:t>metamorphic relation</a:t>
            </a:r>
            <a:r>
              <a:rPr lang="en-HK" sz="2800" dirty="0"/>
              <a:t>.</a:t>
            </a:r>
          </a:p>
          <a:p>
            <a:pPr lvl="1"/>
            <a:r>
              <a:rPr lang="en-HK" sz="2400" dirty="0"/>
              <a:t>E.g., </a:t>
            </a:r>
            <a:r>
              <a:rPr lang="en-HK" sz="2400" dirty="0">
                <a:latin typeface="Courier New" panose="02070309020205020404" pitchFamily="49" charset="0"/>
                <a:cs typeface="Courier New" panose="02070309020205020404" pitchFamily="49" charset="0"/>
              </a:rPr>
              <a:t>P(G1,</a:t>
            </a:r>
            <a:r>
              <a:rPr lang="en-HK" sz="2400" dirty="0">
                <a:cs typeface="Courier New" panose="02070309020205020404" pitchFamily="49" charset="0"/>
              </a:rPr>
              <a:t> </a:t>
            </a:r>
            <a:r>
              <a:rPr lang="en-HK" sz="2400" dirty="0">
                <a:latin typeface="Courier New" panose="02070309020205020404" pitchFamily="49" charset="0"/>
                <a:cs typeface="Courier New" panose="02070309020205020404" pitchFamily="49" charset="0"/>
              </a:rPr>
              <a:t>x, y)</a:t>
            </a:r>
            <a:r>
              <a:rPr lang="en-HK" sz="2400" dirty="0">
                <a:cs typeface="Courier New" panose="02070309020205020404" pitchFamily="49" charset="0"/>
              </a:rPr>
              <a:t> = </a:t>
            </a:r>
            <a:r>
              <a:rPr lang="en-HK" sz="2400" dirty="0">
                <a:latin typeface="Courier New" panose="02070309020205020404" pitchFamily="49" charset="0"/>
                <a:cs typeface="Courier New" panose="02070309020205020404" pitchFamily="49" charset="0"/>
              </a:rPr>
              <a:t>L1</a:t>
            </a:r>
            <a:r>
              <a:rPr lang="en-HK" sz="2400" dirty="0">
                <a:cs typeface="Courier New" panose="02070309020205020404" pitchFamily="49" charset="0"/>
              </a:rPr>
              <a:t> </a:t>
            </a:r>
            <a:r>
              <a:rPr lang="en-HK" sz="2400" dirty="0">
                <a:cs typeface="Courier New" panose="02070309020205020404" pitchFamily="49" charset="0"/>
                <a:sym typeface="Symbol" panose="05050102010706020507" pitchFamily="18" charset="2"/>
              </a:rPr>
              <a:t> </a:t>
            </a:r>
            <a:r>
              <a:rPr lang="en-HK" sz="2400" dirty="0">
                <a:latin typeface="Courier New" panose="02070309020205020404" pitchFamily="49" charset="0"/>
                <a:cs typeface="Courier New" panose="02070309020205020404" pitchFamily="49" charset="0"/>
              </a:rPr>
              <a:t>P(G2,</a:t>
            </a:r>
            <a:r>
              <a:rPr lang="en-HK" sz="2400" dirty="0">
                <a:cs typeface="Courier New" panose="02070309020205020404" pitchFamily="49" charset="0"/>
              </a:rPr>
              <a:t> </a:t>
            </a:r>
            <a:r>
              <a:rPr lang="en-HK" sz="2400" dirty="0">
                <a:latin typeface="Courier New" panose="02070309020205020404" pitchFamily="49" charset="0"/>
                <a:cs typeface="Courier New" panose="02070309020205020404" pitchFamily="49" charset="0"/>
              </a:rPr>
              <a:t>x, y)</a:t>
            </a:r>
            <a:r>
              <a:rPr lang="en-HK" sz="2400" dirty="0">
                <a:cs typeface="Courier New" panose="02070309020205020404" pitchFamily="49" charset="0"/>
              </a:rPr>
              <a:t> = </a:t>
            </a:r>
            <a:r>
              <a:rPr lang="en-HK" sz="2400" dirty="0">
                <a:latin typeface="Courier New" panose="02070309020205020404" pitchFamily="49" charset="0"/>
                <a:cs typeface="Courier New" panose="02070309020205020404" pitchFamily="49" charset="0"/>
              </a:rPr>
              <a:t>L2 </a:t>
            </a:r>
            <a:r>
              <a:rPr lang="en-HK" sz="2400" dirty="0">
                <a:cs typeface="Courier New" panose="02070309020205020404" pitchFamily="49" charset="0"/>
                <a:sym typeface="Symbol" panose="05050102010706020507" pitchFamily="18" charset="2"/>
              </a:rPr>
              <a:t>   </a:t>
            </a:r>
            <a:r>
              <a:rPr lang="en-HK" sz="2400" dirty="0">
                <a:latin typeface="Courier New" panose="02070309020205020404" pitchFamily="49" charset="0"/>
                <a:cs typeface="Courier New" panose="02070309020205020404" pitchFamily="49" charset="0"/>
              </a:rPr>
              <a:t>L1 = L2</a:t>
            </a:r>
            <a:r>
              <a:rPr lang="en-HK" sz="2400" dirty="0">
                <a:highlight>
                  <a:srgbClr val="FFFF00"/>
                </a:highlight>
                <a:cs typeface="Courier New" panose="02070309020205020404" pitchFamily="49" charset="0"/>
                <a:sym typeface="Symbol" panose="05050102010706020507" pitchFamily="18" charset="2"/>
              </a:rPr>
              <a:t> </a:t>
            </a:r>
          </a:p>
          <a:p>
            <a:pPr lvl="1"/>
            <a:r>
              <a:rPr lang="en-HK" sz="2400" dirty="0"/>
              <a:t>The test case {</a:t>
            </a:r>
            <a:r>
              <a:rPr lang="en-HK" sz="2400" dirty="0">
                <a:latin typeface="Courier New" panose="02070309020205020404" pitchFamily="49" charset="0"/>
                <a:cs typeface="Courier New" panose="02070309020205020404" pitchFamily="49" charset="0"/>
              </a:rPr>
              <a:t>G1,</a:t>
            </a:r>
            <a:r>
              <a:rPr lang="en-HK" sz="2400" dirty="0">
                <a:cs typeface="Courier New" panose="02070309020205020404" pitchFamily="49" charset="0"/>
              </a:rPr>
              <a:t> </a:t>
            </a:r>
            <a:r>
              <a:rPr lang="en-HK" sz="2400" dirty="0">
                <a:latin typeface="Courier New" panose="02070309020205020404" pitchFamily="49" charset="0"/>
                <a:cs typeface="Courier New" panose="02070309020205020404" pitchFamily="49" charset="0"/>
              </a:rPr>
              <a:t>x, y</a:t>
            </a:r>
            <a:r>
              <a:rPr lang="en-HK" sz="2400" dirty="0"/>
              <a:t>} is called a </a:t>
            </a:r>
            <a:r>
              <a:rPr lang="en-HK" sz="2400" b="1" dirty="0"/>
              <a:t>source test case</a:t>
            </a:r>
            <a:r>
              <a:rPr lang="en-HK" sz="2400" dirty="0"/>
              <a:t>.</a:t>
            </a:r>
          </a:p>
          <a:p>
            <a:pPr lvl="1"/>
            <a:r>
              <a:rPr lang="en-HK" sz="2400" dirty="0"/>
              <a:t>The test case {</a:t>
            </a:r>
            <a:r>
              <a:rPr lang="en-HK" sz="2400" dirty="0">
                <a:latin typeface="Courier New" panose="02070309020205020404" pitchFamily="49" charset="0"/>
                <a:cs typeface="Courier New" panose="02070309020205020404" pitchFamily="49" charset="0"/>
              </a:rPr>
              <a:t>G2,</a:t>
            </a:r>
            <a:r>
              <a:rPr lang="en-HK" sz="2400" dirty="0">
                <a:cs typeface="Courier New" panose="02070309020205020404" pitchFamily="49" charset="0"/>
              </a:rPr>
              <a:t> </a:t>
            </a:r>
            <a:r>
              <a:rPr lang="en-HK" sz="2400" dirty="0">
                <a:latin typeface="Courier New" panose="02070309020205020404" pitchFamily="49" charset="0"/>
                <a:cs typeface="Courier New" panose="02070309020205020404" pitchFamily="49" charset="0"/>
              </a:rPr>
              <a:t>x, y</a:t>
            </a:r>
            <a:r>
              <a:rPr lang="en-HK" sz="2400" dirty="0"/>
              <a:t>} is called a </a:t>
            </a:r>
            <a:r>
              <a:rPr lang="en-HK" sz="2400" b="1" dirty="0"/>
              <a:t>follow-up test case</a:t>
            </a:r>
            <a:r>
              <a:rPr lang="en-HK" sz="2400" dirty="0"/>
              <a:t>.</a:t>
            </a:r>
          </a:p>
        </p:txBody>
      </p:sp>
      <p:sp>
        <p:nvSpPr>
          <p:cNvPr id="4" name="Slide Number Placeholder 3">
            <a:extLst>
              <a:ext uri="{FF2B5EF4-FFF2-40B4-BE49-F238E27FC236}">
                <a16:creationId xmlns:a16="http://schemas.microsoft.com/office/drawing/2014/main" id="{7B506826-DDC4-4803-9959-EE2A79FE7981}"/>
              </a:ext>
            </a:extLst>
          </p:cNvPr>
          <p:cNvSpPr>
            <a:spLocks noGrp="1"/>
          </p:cNvSpPr>
          <p:nvPr>
            <p:ph type="sldNum" sz="quarter" idx="12"/>
          </p:nvPr>
        </p:nvSpPr>
        <p:spPr/>
        <p:txBody>
          <a:bodyPr/>
          <a:lstStyle/>
          <a:p>
            <a:pPr>
              <a:defRPr/>
            </a:pPr>
            <a:fld id="{63B8F44C-0EDE-4D7D-9086-BD1CF3CE7AF7}" type="slidenum">
              <a:rPr lang="en-US" smtClean="0"/>
              <a:pPr>
                <a:defRPr/>
              </a:pPr>
              <a:t>16</a:t>
            </a:fld>
            <a:endParaRPr lang="en-US"/>
          </a:p>
        </p:txBody>
      </p:sp>
    </p:spTree>
    <p:extLst>
      <p:ext uri="{BB962C8B-B14F-4D97-AF65-F5344CB8AC3E}">
        <p14:creationId xmlns:p14="http://schemas.microsoft.com/office/powerpoint/2010/main" val="1171328687"/>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0815C-EBE0-40DB-87EB-A6A66F708D37}"/>
              </a:ext>
            </a:extLst>
          </p:cNvPr>
          <p:cNvSpPr>
            <a:spLocks noGrp="1"/>
          </p:cNvSpPr>
          <p:nvPr>
            <p:ph type="title"/>
          </p:nvPr>
        </p:nvSpPr>
        <p:spPr/>
        <p:txBody>
          <a:bodyPr/>
          <a:lstStyle/>
          <a:p>
            <a:r>
              <a:rPr lang="en-HK" dirty="0"/>
              <a:t>Simple Metamorphic Relations Could Be Effective to Detect Bugs</a:t>
            </a:r>
          </a:p>
        </p:txBody>
      </p:sp>
      <p:sp>
        <p:nvSpPr>
          <p:cNvPr id="3" name="Content Placeholder 2">
            <a:extLst>
              <a:ext uri="{FF2B5EF4-FFF2-40B4-BE49-F238E27FC236}">
                <a16:creationId xmlns:a16="http://schemas.microsoft.com/office/drawing/2014/main" id="{154EFBF9-9CDD-453C-B284-5E5F07DDE30D}"/>
              </a:ext>
            </a:extLst>
          </p:cNvPr>
          <p:cNvSpPr>
            <a:spLocks noGrp="1"/>
          </p:cNvSpPr>
          <p:nvPr>
            <p:ph idx="1"/>
          </p:nvPr>
        </p:nvSpPr>
        <p:spPr>
          <a:xfrm>
            <a:off x="412750" y="1676400"/>
            <a:ext cx="9036050" cy="4953000"/>
          </a:xfrm>
        </p:spPr>
        <p:txBody>
          <a:bodyPr/>
          <a:lstStyle/>
          <a:p>
            <a:r>
              <a:rPr lang="en-HK" sz="2400" dirty="0"/>
              <a:t>A compiler </a:t>
            </a:r>
            <a:r>
              <a:rPr lang="en-HK" sz="2400" dirty="0">
                <a:latin typeface="Courier New" panose="02070309020205020404" pitchFamily="49" charset="0"/>
                <a:cs typeface="Courier New" panose="02070309020205020404" pitchFamily="49" charset="0"/>
              </a:rPr>
              <a:t>P</a:t>
            </a:r>
            <a:r>
              <a:rPr lang="en-HK" sz="2400" dirty="0"/>
              <a:t> (e.g., the objective-c compiler) to generate the binary code </a:t>
            </a:r>
            <a:r>
              <a:rPr lang="en-HK" sz="2400" dirty="0">
                <a:latin typeface="Courier New" panose="02070309020205020404" pitchFamily="49" charset="0"/>
                <a:cs typeface="Courier New" panose="02070309020205020404" pitchFamily="49" charset="0"/>
              </a:rPr>
              <a:t>B1</a:t>
            </a:r>
            <a:r>
              <a:rPr lang="en-HK" sz="2400" dirty="0"/>
              <a:t> from a source code </a:t>
            </a:r>
            <a:r>
              <a:rPr lang="en-HK" sz="2400" dirty="0">
                <a:latin typeface="Courier New" panose="02070309020205020404" pitchFamily="49" charset="0"/>
                <a:cs typeface="Courier New" panose="02070309020205020404" pitchFamily="49" charset="0"/>
              </a:rPr>
              <a:t>S1</a:t>
            </a:r>
            <a:r>
              <a:rPr lang="en-HK" sz="2400" dirty="0"/>
              <a:t>.</a:t>
            </a:r>
          </a:p>
          <a:p>
            <a:r>
              <a:rPr lang="en-HK" sz="2400" dirty="0"/>
              <a:t>Suppose</a:t>
            </a:r>
            <a:r>
              <a:rPr lang="en-HK" sz="2400" dirty="0">
                <a:latin typeface="Courier New" panose="02070309020205020404" pitchFamily="49" charset="0"/>
                <a:cs typeface="Courier New" panose="02070309020205020404" pitchFamily="49" charset="0"/>
              </a:rPr>
              <a:t> t </a:t>
            </a:r>
            <a:r>
              <a:rPr lang="en-HK" sz="2400" dirty="0"/>
              <a:t>is a test case of </a:t>
            </a:r>
            <a:r>
              <a:rPr lang="en-HK" sz="2400" dirty="0">
                <a:latin typeface="Courier New" panose="02070309020205020404" pitchFamily="49" charset="0"/>
                <a:cs typeface="Courier New" panose="02070309020205020404" pitchFamily="49" charset="0"/>
              </a:rPr>
              <a:t>S1</a:t>
            </a:r>
            <a:r>
              <a:rPr lang="en-HK" sz="2400" dirty="0"/>
              <a:t>.</a:t>
            </a:r>
          </a:p>
          <a:p>
            <a:r>
              <a:rPr lang="en-HK" sz="2400" dirty="0"/>
              <a:t>Compile </a:t>
            </a:r>
            <a:r>
              <a:rPr lang="en-HK" sz="2400" dirty="0">
                <a:latin typeface="Courier New" panose="02070309020205020404" pitchFamily="49" charset="0"/>
                <a:cs typeface="Courier New" panose="02070309020205020404" pitchFamily="49" charset="0"/>
              </a:rPr>
              <a:t>S1</a:t>
            </a:r>
            <a:r>
              <a:rPr lang="en-HK" sz="2400" dirty="0"/>
              <a:t>, run </a:t>
            </a:r>
            <a:r>
              <a:rPr lang="en-HK" sz="2400" dirty="0">
                <a:latin typeface="Courier New" panose="02070309020205020404" pitchFamily="49" charset="0"/>
                <a:cs typeface="Courier New" panose="02070309020205020404" pitchFamily="49" charset="0"/>
              </a:rPr>
              <a:t>B1(t)</a:t>
            </a:r>
            <a:r>
              <a:rPr lang="en-HK" sz="2400" dirty="0"/>
              <a:t>, and then remove some statements in </a:t>
            </a:r>
            <a:r>
              <a:rPr lang="en-HK" sz="2400" dirty="0">
                <a:latin typeface="Courier New" panose="02070309020205020404" pitchFamily="49" charset="0"/>
                <a:cs typeface="Courier New" panose="02070309020205020404" pitchFamily="49" charset="0"/>
              </a:rPr>
              <a:t>S1</a:t>
            </a:r>
            <a:r>
              <a:rPr lang="en-HK" sz="2400" dirty="0"/>
              <a:t> that </a:t>
            </a:r>
            <a:r>
              <a:rPr lang="en-HK" sz="2400" dirty="0">
                <a:latin typeface="Courier New" panose="02070309020205020404" pitchFamily="49" charset="0"/>
                <a:cs typeface="Courier New" panose="02070309020205020404" pitchFamily="49" charset="0"/>
              </a:rPr>
              <a:t>t</a:t>
            </a:r>
            <a:r>
              <a:rPr lang="en-HK" sz="2400" dirty="0"/>
              <a:t> does not pass through them to construct a new program </a:t>
            </a:r>
            <a:r>
              <a:rPr lang="en-HK" sz="2400" dirty="0">
                <a:latin typeface="Courier New" panose="02070309020205020404" pitchFamily="49" charset="0"/>
                <a:cs typeface="Courier New" panose="02070309020205020404" pitchFamily="49" charset="0"/>
              </a:rPr>
              <a:t>S2</a:t>
            </a:r>
            <a:r>
              <a:rPr lang="en-HK" sz="2400" dirty="0"/>
              <a:t>, compile </a:t>
            </a:r>
            <a:r>
              <a:rPr lang="en-HK" sz="2400" dirty="0">
                <a:latin typeface="Courier New" panose="02070309020205020404" pitchFamily="49" charset="0"/>
                <a:cs typeface="Courier New" panose="02070309020205020404" pitchFamily="49" charset="0"/>
              </a:rPr>
              <a:t>S2</a:t>
            </a:r>
            <a:r>
              <a:rPr lang="en-HK" sz="2400" dirty="0"/>
              <a:t> to generate the binary code </a:t>
            </a:r>
            <a:r>
              <a:rPr lang="en-HK" sz="2400" dirty="0">
                <a:latin typeface="Courier New" panose="02070309020205020404" pitchFamily="49" charset="0"/>
                <a:cs typeface="Courier New" panose="02070309020205020404" pitchFamily="49" charset="0"/>
              </a:rPr>
              <a:t>B2</a:t>
            </a:r>
            <a:r>
              <a:rPr lang="en-HK" sz="2400" dirty="0"/>
              <a:t>. </a:t>
            </a:r>
          </a:p>
          <a:p>
            <a:pPr lvl="1"/>
            <a:r>
              <a:rPr lang="en-HK" sz="2000" dirty="0"/>
              <a:t>Expectation: </a:t>
            </a:r>
            <a:r>
              <a:rPr lang="en-HK" sz="2000" dirty="0">
                <a:latin typeface="Courier New" panose="02070309020205020404" pitchFamily="49" charset="0"/>
                <a:cs typeface="Courier New" panose="02070309020205020404" pitchFamily="49" charset="0"/>
              </a:rPr>
              <a:t>B1(t) </a:t>
            </a:r>
            <a:r>
              <a:rPr lang="en-HK" sz="2000" dirty="0"/>
              <a:t>and </a:t>
            </a:r>
            <a:r>
              <a:rPr lang="en-HK" sz="2000" dirty="0">
                <a:latin typeface="Courier New" panose="02070309020205020404" pitchFamily="49" charset="0"/>
                <a:cs typeface="Courier New" panose="02070309020205020404" pitchFamily="49" charset="0"/>
              </a:rPr>
              <a:t>B2(t) </a:t>
            </a:r>
            <a:r>
              <a:rPr lang="en-HK" sz="2000" dirty="0"/>
              <a:t>produce the same output.</a:t>
            </a:r>
          </a:p>
          <a:p>
            <a:r>
              <a:rPr lang="en-HK" sz="2400" dirty="0"/>
              <a:t>Thousands of bugs have been detected from the </a:t>
            </a:r>
            <a:r>
              <a:rPr lang="en-HK" sz="2400" i="1" dirty="0" err="1"/>
              <a:t>gcc</a:t>
            </a:r>
            <a:r>
              <a:rPr lang="en-HK" sz="2400" dirty="0"/>
              <a:t> compiler</a:t>
            </a:r>
          </a:p>
        </p:txBody>
      </p:sp>
      <p:sp>
        <p:nvSpPr>
          <p:cNvPr id="4" name="Slide Number Placeholder 3">
            <a:extLst>
              <a:ext uri="{FF2B5EF4-FFF2-40B4-BE49-F238E27FC236}">
                <a16:creationId xmlns:a16="http://schemas.microsoft.com/office/drawing/2014/main" id="{7B506826-DDC4-4803-9959-EE2A79FE7981}"/>
              </a:ext>
            </a:extLst>
          </p:cNvPr>
          <p:cNvSpPr>
            <a:spLocks noGrp="1"/>
          </p:cNvSpPr>
          <p:nvPr>
            <p:ph type="sldNum" sz="quarter" idx="12"/>
          </p:nvPr>
        </p:nvSpPr>
        <p:spPr/>
        <p:txBody>
          <a:bodyPr/>
          <a:lstStyle/>
          <a:p>
            <a:pPr>
              <a:defRPr/>
            </a:pPr>
            <a:fld id="{63B8F44C-0EDE-4D7D-9086-BD1CF3CE7AF7}" type="slidenum">
              <a:rPr lang="en-US" smtClean="0"/>
              <a:pPr>
                <a:defRPr/>
              </a:pPr>
              <a:t>17</a:t>
            </a:fld>
            <a:endParaRPr lang="en-US"/>
          </a:p>
        </p:txBody>
      </p:sp>
    </p:spTree>
    <p:extLst>
      <p:ext uri="{BB962C8B-B14F-4D97-AF65-F5344CB8AC3E}">
        <p14:creationId xmlns:p14="http://schemas.microsoft.com/office/powerpoint/2010/main" val="2607992980"/>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697ED-5BA2-4BA6-9FA9-1ED34DC7FB5F}"/>
              </a:ext>
            </a:extLst>
          </p:cNvPr>
          <p:cNvSpPr>
            <a:spLocks noGrp="1"/>
          </p:cNvSpPr>
          <p:nvPr>
            <p:ph type="title"/>
          </p:nvPr>
        </p:nvSpPr>
        <p:spPr/>
        <p:txBody>
          <a:bodyPr/>
          <a:lstStyle/>
          <a:p>
            <a:r>
              <a:rPr lang="en-US" dirty="0"/>
              <a:t>MT for Driverless Car [11]</a:t>
            </a:r>
            <a:endParaRPr lang="en-HK" dirty="0"/>
          </a:p>
        </p:txBody>
      </p:sp>
      <p:sp>
        <p:nvSpPr>
          <p:cNvPr id="3" name="Content Placeholder 2">
            <a:extLst>
              <a:ext uri="{FF2B5EF4-FFF2-40B4-BE49-F238E27FC236}">
                <a16:creationId xmlns:a16="http://schemas.microsoft.com/office/drawing/2014/main" id="{B7834F12-841B-47E6-A537-B276D5767E53}"/>
              </a:ext>
            </a:extLst>
          </p:cNvPr>
          <p:cNvSpPr>
            <a:spLocks noGrp="1"/>
          </p:cNvSpPr>
          <p:nvPr>
            <p:ph idx="1"/>
          </p:nvPr>
        </p:nvSpPr>
        <p:spPr>
          <a:xfrm>
            <a:off x="412750" y="1676400"/>
            <a:ext cx="9415462" cy="4953000"/>
          </a:xfrm>
        </p:spPr>
        <p:txBody>
          <a:bodyPr/>
          <a:lstStyle/>
          <a:p>
            <a:r>
              <a:rPr lang="en-US" sz="2400" dirty="0"/>
              <a:t>MR: “the car should behave similarly under variations of the same input (such as the same scene under different lighting conditions).” [11]</a:t>
            </a:r>
          </a:p>
          <a:p>
            <a:pPr lvl="1"/>
            <a:r>
              <a:rPr lang="en-US" sz="2000" dirty="0"/>
              <a:t>“Using these MRs, they generated realistic synthetic images based on seed images. These synthetic images mimic real-world phenomena (such as camera lens distortions and different weather conditions). Using MT, together with a notion of neuron coverage (the number of neurons activated), the researchers found a large number of "corner case" inputs leading to erroneous behavior in three DNN models.”</a:t>
            </a:r>
            <a:endParaRPr lang="en-HK" sz="2000" dirty="0"/>
          </a:p>
        </p:txBody>
      </p:sp>
      <p:sp>
        <p:nvSpPr>
          <p:cNvPr id="4" name="Slide Number Placeholder 3">
            <a:extLst>
              <a:ext uri="{FF2B5EF4-FFF2-40B4-BE49-F238E27FC236}">
                <a16:creationId xmlns:a16="http://schemas.microsoft.com/office/drawing/2014/main" id="{A72F3DE8-D6E9-457F-A2E7-DB4FC35FEEF8}"/>
              </a:ext>
            </a:extLst>
          </p:cNvPr>
          <p:cNvSpPr>
            <a:spLocks noGrp="1"/>
          </p:cNvSpPr>
          <p:nvPr>
            <p:ph type="sldNum" sz="quarter" idx="12"/>
          </p:nvPr>
        </p:nvSpPr>
        <p:spPr/>
        <p:txBody>
          <a:bodyPr/>
          <a:lstStyle/>
          <a:p>
            <a:pPr>
              <a:defRPr/>
            </a:pPr>
            <a:fld id="{63B8F44C-0EDE-4D7D-9086-BD1CF3CE7AF7}" type="slidenum">
              <a:rPr lang="en-US" smtClean="0"/>
              <a:pPr>
                <a:defRPr/>
              </a:pPr>
              <a:t>18</a:t>
            </a:fld>
            <a:endParaRPr lang="en-US"/>
          </a:p>
        </p:txBody>
      </p:sp>
      <p:pic>
        <p:nvPicPr>
          <p:cNvPr id="3074" name="Picture 2" descr="https://dl.acm.org/cms/attachment/bec2c805-1e1c-48cb-a91c-666e26fa1faf/f1.jpg">
            <a:extLst>
              <a:ext uri="{FF2B5EF4-FFF2-40B4-BE49-F238E27FC236}">
                <a16:creationId xmlns:a16="http://schemas.microsoft.com/office/drawing/2014/main" id="{38F1E44B-11D9-4DDC-B2C4-F6B35501701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033" t="12140" r="3277" b="5556"/>
          <a:stretch/>
        </p:blipFill>
        <p:spPr bwMode="auto">
          <a:xfrm>
            <a:off x="2360612" y="4387204"/>
            <a:ext cx="5276057" cy="2204096"/>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D007FE2A-5C90-4F20-829B-139D4627665E}"/>
              </a:ext>
            </a:extLst>
          </p:cNvPr>
          <p:cNvSpPr/>
          <p:nvPr/>
        </p:nvSpPr>
        <p:spPr>
          <a:xfrm>
            <a:off x="1827212" y="6581001"/>
            <a:ext cx="9415462" cy="276999"/>
          </a:xfrm>
          <a:prstGeom prst="rect">
            <a:avLst/>
          </a:prstGeom>
        </p:spPr>
        <p:txBody>
          <a:bodyPr wrap="square">
            <a:spAutoFit/>
          </a:bodyPr>
          <a:lstStyle/>
          <a:p>
            <a:r>
              <a:rPr lang="en-US" sz="1200" dirty="0">
                <a:solidFill>
                  <a:srgbClr val="000000"/>
                </a:solidFill>
                <a:latin typeface="Georgia" panose="02040502050405020303" pitchFamily="18" charset="0"/>
              </a:rPr>
              <a:t> Input pictures used in a metamorphic test revealing inconsistent and erroneous behavior of a DNN</a:t>
            </a:r>
            <a:endParaRPr lang="en-HK" sz="1200" dirty="0"/>
          </a:p>
        </p:txBody>
      </p:sp>
    </p:spTree>
    <p:extLst>
      <p:ext uri="{BB962C8B-B14F-4D97-AF65-F5344CB8AC3E}">
        <p14:creationId xmlns:p14="http://schemas.microsoft.com/office/powerpoint/2010/main" val="166851879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FD4F60-46EE-4C4F-A559-3682043B4552}"/>
              </a:ext>
            </a:extLst>
          </p:cNvPr>
          <p:cNvSpPr>
            <a:spLocks noGrp="1"/>
          </p:cNvSpPr>
          <p:nvPr>
            <p:ph type="title"/>
          </p:nvPr>
        </p:nvSpPr>
        <p:spPr/>
        <p:txBody>
          <a:bodyPr/>
          <a:lstStyle/>
          <a:p>
            <a:r>
              <a:rPr lang="en-HK" dirty="0"/>
              <a:t>Metamorphic Relation</a:t>
            </a:r>
          </a:p>
        </p:txBody>
      </p:sp>
      <p:sp>
        <p:nvSpPr>
          <p:cNvPr id="3" name="Content Placeholder 2">
            <a:extLst>
              <a:ext uri="{FF2B5EF4-FFF2-40B4-BE49-F238E27FC236}">
                <a16:creationId xmlns:a16="http://schemas.microsoft.com/office/drawing/2014/main" id="{94116D82-C247-4A36-8C03-D3ABE6693476}"/>
              </a:ext>
            </a:extLst>
          </p:cNvPr>
          <p:cNvSpPr>
            <a:spLocks noGrp="1"/>
          </p:cNvSpPr>
          <p:nvPr>
            <p:ph idx="1"/>
          </p:nvPr>
        </p:nvSpPr>
        <p:spPr>
          <a:xfrm>
            <a:off x="412750" y="1676400"/>
            <a:ext cx="9110662" cy="4953000"/>
          </a:xfrm>
        </p:spPr>
        <p:txBody>
          <a:bodyPr/>
          <a:lstStyle/>
          <a:p>
            <a:r>
              <a:rPr lang="en-HK" sz="2400" dirty="0"/>
              <a:t>Often, the “Common Sense in the application domain.”</a:t>
            </a:r>
          </a:p>
          <a:p>
            <a:endParaRPr lang="en-HK" sz="2400" dirty="0"/>
          </a:p>
          <a:p>
            <a:r>
              <a:rPr lang="en-HK" sz="2400" dirty="0"/>
              <a:t>Metamorphic testing can be applied beyond Equivalent Inputs (and thus Equivalent Outputs). </a:t>
            </a:r>
          </a:p>
          <a:p>
            <a:r>
              <a:rPr lang="en-HK" sz="2400" dirty="0"/>
              <a:t>Developers knowing the application domains can formulate their own relations for their programs.</a:t>
            </a:r>
          </a:p>
          <a:p>
            <a:pPr lvl="1"/>
            <a:r>
              <a:rPr lang="en-HK" sz="2000" i="1" dirty="0"/>
              <a:t>e.g</a:t>
            </a:r>
            <a:r>
              <a:rPr lang="en-HK" sz="2000" dirty="0"/>
              <a:t>., For a person with a fixed income, spending less means saving more. </a:t>
            </a:r>
          </a:p>
          <a:p>
            <a:pPr lvl="1"/>
            <a:r>
              <a:rPr lang="en-HK" sz="2000" i="1" dirty="0"/>
              <a:t>e.g</a:t>
            </a:r>
            <a:r>
              <a:rPr lang="en-HK" sz="2000" dirty="0"/>
              <a:t>., Shipment by ship should take longer estimated time and lower cost than Shipment by flight.</a:t>
            </a:r>
          </a:p>
          <a:p>
            <a:pPr lvl="1"/>
            <a:r>
              <a:rPr lang="en-HK" sz="2000" i="1" dirty="0"/>
              <a:t>e.g</a:t>
            </a:r>
            <a:r>
              <a:rPr lang="en-HK" sz="2000" dirty="0"/>
              <a:t>., Buying more units of the same item should be charged more.</a:t>
            </a:r>
          </a:p>
          <a:p>
            <a:pPr marL="512763" lvl="1" indent="0">
              <a:buNone/>
            </a:pPr>
            <a:r>
              <a:rPr lang="en-HK" sz="2000" dirty="0"/>
              <a:t> </a:t>
            </a:r>
          </a:p>
        </p:txBody>
      </p:sp>
      <p:sp>
        <p:nvSpPr>
          <p:cNvPr id="4" name="Slide Number Placeholder 3">
            <a:extLst>
              <a:ext uri="{FF2B5EF4-FFF2-40B4-BE49-F238E27FC236}">
                <a16:creationId xmlns:a16="http://schemas.microsoft.com/office/drawing/2014/main" id="{083CB9AB-5532-462F-A863-1DD76BFD4210}"/>
              </a:ext>
            </a:extLst>
          </p:cNvPr>
          <p:cNvSpPr>
            <a:spLocks noGrp="1"/>
          </p:cNvSpPr>
          <p:nvPr>
            <p:ph type="sldNum" sz="quarter" idx="12"/>
          </p:nvPr>
        </p:nvSpPr>
        <p:spPr/>
        <p:txBody>
          <a:bodyPr/>
          <a:lstStyle/>
          <a:p>
            <a:pPr>
              <a:defRPr/>
            </a:pPr>
            <a:fld id="{63B8F44C-0EDE-4D7D-9086-BD1CF3CE7AF7}" type="slidenum">
              <a:rPr lang="en-US" smtClean="0"/>
              <a:pPr>
                <a:defRPr/>
              </a:pPr>
              <a:t>19</a:t>
            </a:fld>
            <a:endParaRPr lang="en-US" dirty="0"/>
          </a:p>
        </p:txBody>
      </p:sp>
    </p:spTree>
    <p:extLst>
      <p:ext uri="{BB962C8B-B14F-4D97-AF65-F5344CB8AC3E}">
        <p14:creationId xmlns:p14="http://schemas.microsoft.com/office/powerpoint/2010/main" val="226334573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82EDE1-52CA-43D8-A968-2247F3A22C8D}"/>
              </a:ext>
            </a:extLst>
          </p:cNvPr>
          <p:cNvSpPr>
            <a:spLocks noGrp="1"/>
          </p:cNvSpPr>
          <p:nvPr>
            <p:ph type="title"/>
          </p:nvPr>
        </p:nvSpPr>
        <p:spPr/>
        <p:txBody>
          <a:bodyPr/>
          <a:lstStyle/>
          <a:p>
            <a:r>
              <a:rPr lang="en-HK" dirty="0"/>
              <a:t>Fuzzing + Metamorphic Testing</a:t>
            </a:r>
          </a:p>
        </p:txBody>
      </p:sp>
      <p:sp>
        <p:nvSpPr>
          <p:cNvPr id="3" name="Content Placeholder 2">
            <a:extLst>
              <a:ext uri="{FF2B5EF4-FFF2-40B4-BE49-F238E27FC236}">
                <a16:creationId xmlns:a16="http://schemas.microsoft.com/office/drawing/2014/main" id="{6F297286-88B0-4193-9F73-E4904A4ABC22}"/>
              </a:ext>
            </a:extLst>
          </p:cNvPr>
          <p:cNvSpPr>
            <a:spLocks noGrp="1"/>
          </p:cNvSpPr>
          <p:nvPr>
            <p:ph idx="1"/>
          </p:nvPr>
        </p:nvSpPr>
        <p:spPr/>
        <p:txBody>
          <a:bodyPr/>
          <a:lstStyle/>
          <a:p>
            <a:r>
              <a:rPr lang="en-HK" sz="2400" dirty="0"/>
              <a:t>An effective use of both techniques</a:t>
            </a:r>
          </a:p>
          <a:p>
            <a:endParaRPr lang="en-HK" sz="2400" dirty="0"/>
          </a:p>
          <a:p>
            <a:endParaRPr lang="en-HK" sz="2400" dirty="0"/>
          </a:p>
          <a:p>
            <a:endParaRPr lang="en-HK" sz="2400" dirty="0"/>
          </a:p>
          <a:p>
            <a:endParaRPr lang="en-HK" sz="2400" dirty="0"/>
          </a:p>
          <a:p>
            <a:pPr marL="0" indent="0">
              <a:buNone/>
            </a:pPr>
            <a:endParaRPr lang="en-HK" sz="2400" dirty="0"/>
          </a:p>
          <a:p>
            <a:endParaRPr lang="en-HK" sz="2400" dirty="0"/>
          </a:p>
          <a:p>
            <a:endParaRPr lang="en-HK" sz="2400" dirty="0"/>
          </a:p>
          <a:p>
            <a:endParaRPr lang="en-HK" sz="2400" dirty="0"/>
          </a:p>
          <a:p>
            <a:r>
              <a:rPr lang="en-HK" sz="2400" dirty="0"/>
              <a:t>Fuzzing to generate one test case as a source test case for metamorphic testing to follow up.</a:t>
            </a:r>
          </a:p>
        </p:txBody>
      </p:sp>
      <p:sp>
        <p:nvSpPr>
          <p:cNvPr id="4" name="Slide Number Placeholder 3">
            <a:extLst>
              <a:ext uri="{FF2B5EF4-FFF2-40B4-BE49-F238E27FC236}">
                <a16:creationId xmlns:a16="http://schemas.microsoft.com/office/drawing/2014/main" id="{43B065B1-D2B5-43EE-B309-E9A5F6AB62A5}"/>
              </a:ext>
            </a:extLst>
          </p:cNvPr>
          <p:cNvSpPr>
            <a:spLocks noGrp="1"/>
          </p:cNvSpPr>
          <p:nvPr>
            <p:ph type="sldNum" sz="quarter" idx="12"/>
          </p:nvPr>
        </p:nvSpPr>
        <p:spPr/>
        <p:txBody>
          <a:bodyPr/>
          <a:lstStyle/>
          <a:p>
            <a:pPr>
              <a:defRPr/>
            </a:pPr>
            <a:fld id="{63B8F44C-0EDE-4D7D-9086-BD1CF3CE7AF7}" type="slidenum">
              <a:rPr lang="en-US" smtClean="0"/>
              <a:pPr>
                <a:defRPr/>
              </a:pPr>
              <a:t>20</a:t>
            </a:fld>
            <a:endParaRPr lang="en-US"/>
          </a:p>
        </p:txBody>
      </p:sp>
      <p:pic>
        <p:nvPicPr>
          <p:cNvPr id="6" name="Picture 5" descr="A screenshot of a cell phone&#10;&#10;Description generated with very high confidence">
            <a:extLst>
              <a:ext uri="{FF2B5EF4-FFF2-40B4-BE49-F238E27FC236}">
                <a16:creationId xmlns:a16="http://schemas.microsoft.com/office/drawing/2014/main" id="{1299268C-8DCB-4609-AE4E-3FC5752AA0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12886" y="2294984"/>
            <a:ext cx="5611008" cy="3312277"/>
          </a:xfrm>
          <a:prstGeom prst="rect">
            <a:avLst/>
          </a:prstGeom>
        </p:spPr>
      </p:pic>
      <p:cxnSp>
        <p:nvCxnSpPr>
          <p:cNvPr id="8" name="Straight Arrow Connector 7">
            <a:extLst>
              <a:ext uri="{FF2B5EF4-FFF2-40B4-BE49-F238E27FC236}">
                <a16:creationId xmlns:a16="http://schemas.microsoft.com/office/drawing/2014/main" id="{88712B5A-9DC4-4335-BD5A-79CC79F15D1A}"/>
              </a:ext>
            </a:extLst>
          </p:cNvPr>
          <p:cNvCxnSpPr>
            <a:cxnSpLocks/>
            <a:stCxn id="9" idx="1"/>
            <a:endCxn id="10" idx="6"/>
          </p:cNvCxnSpPr>
          <p:nvPr/>
        </p:nvCxnSpPr>
        <p:spPr bwMode="auto">
          <a:xfrm flipH="1" flipV="1">
            <a:off x="4588506" y="2622339"/>
            <a:ext cx="3641288" cy="12343"/>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A3AB7BDE-2745-4766-B7BF-8467707C59C5}"/>
              </a:ext>
            </a:extLst>
          </p:cNvPr>
          <p:cNvSpPr txBox="1"/>
          <p:nvPr/>
        </p:nvSpPr>
        <p:spPr>
          <a:xfrm>
            <a:off x="8229794" y="2373072"/>
            <a:ext cx="1340432" cy="523220"/>
          </a:xfrm>
          <a:prstGeom prst="rect">
            <a:avLst/>
          </a:prstGeom>
          <a:noFill/>
        </p:spPr>
        <p:txBody>
          <a:bodyPr wrap="none" rtlCol="0">
            <a:spAutoFit/>
          </a:bodyPr>
          <a:lstStyle/>
          <a:p>
            <a:r>
              <a:rPr lang="en-HK" dirty="0"/>
              <a:t>Fuzzing</a:t>
            </a:r>
          </a:p>
        </p:txBody>
      </p:sp>
      <p:sp>
        <p:nvSpPr>
          <p:cNvPr id="10" name="Oval 9">
            <a:extLst>
              <a:ext uri="{FF2B5EF4-FFF2-40B4-BE49-F238E27FC236}">
                <a16:creationId xmlns:a16="http://schemas.microsoft.com/office/drawing/2014/main" id="{39D4D358-99C1-495D-B31F-C2FE0E2F0D2C}"/>
              </a:ext>
            </a:extLst>
          </p:cNvPr>
          <p:cNvSpPr/>
          <p:nvPr/>
        </p:nvSpPr>
        <p:spPr bwMode="auto">
          <a:xfrm>
            <a:off x="4131306" y="2415334"/>
            <a:ext cx="457200" cy="414010"/>
          </a:xfrm>
          <a:prstGeom prst="ellipse">
            <a:avLst/>
          </a:prstGeom>
          <a:noFill/>
          <a:ln>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cxnSp>
        <p:nvCxnSpPr>
          <p:cNvPr id="11" name="Straight Arrow Connector 10">
            <a:extLst>
              <a:ext uri="{FF2B5EF4-FFF2-40B4-BE49-F238E27FC236}">
                <a16:creationId xmlns:a16="http://schemas.microsoft.com/office/drawing/2014/main" id="{36C828F0-22E8-4EC5-AB61-0BBEAF8338E8}"/>
              </a:ext>
            </a:extLst>
          </p:cNvPr>
          <p:cNvCxnSpPr>
            <a:cxnSpLocks/>
            <a:stCxn id="9" idx="1"/>
          </p:cNvCxnSpPr>
          <p:nvPr/>
        </p:nvCxnSpPr>
        <p:spPr bwMode="auto">
          <a:xfrm flipH="1">
            <a:off x="6094412" y="2634682"/>
            <a:ext cx="2135382" cy="715148"/>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16" name="TextBox 15">
            <a:extLst>
              <a:ext uri="{FF2B5EF4-FFF2-40B4-BE49-F238E27FC236}">
                <a16:creationId xmlns:a16="http://schemas.microsoft.com/office/drawing/2014/main" id="{00427FC9-DB08-4F01-B68C-7563E3C5038F}"/>
              </a:ext>
            </a:extLst>
          </p:cNvPr>
          <p:cNvSpPr txBox="1"/>
          <p:nvPr/>
        </p:nvSpPr>
        <p:spPr>
          <a:xfrm>
            <a:off x="422981" y="2395723"/>
            <a:ext cx="2289905" cy="954107"/>
          </a:xfrm>
          <a:prstGeom prst="rect">
            <a:avLst/>
          </a:prstGeom>
          <a:noFill/>
        </p:spPr>
        <p:txBody>
          <a:bodyPr wrap="square" rtlCol="0">
            <a:spAutoFit/>
          </a:bodyPr>
          <a:lstStyle/>
          <a:p>
            <a:r>
              <a:rPr lang="en-HK" dirty="0"/>
              <a:t>Metamorphic testing</a:t>
            </a:r>
          </a:p>
        </p:txBody>
      </p:sp>
      <p:cxnSp>
        <p:nvCxnSpPr>
          <p:cNvPr id="17" name="Straight Arrow Connector 16">
            <a:extLst>
              <a:ext uri="{FF2B5EF4-FFF2-40B4-BE49-F238E27FC236}">
                <a16:creationId xmlns:a16="http://schemas.microsoft.com/office/drawing/2014/main" id="{6D729EFF-0E0E-450D-B6BC-4C954C18DE31}"/>
              </a:ext>
            </a:extLst>
          </p:cNvPr>
          <p:cNvCxnSpPr>
            <a:cxnSpLocks/>
            <a:stCxn id="16" idx="2"/>
          </p:cNvCxnSpPr>
          <p:nvPr/>
        </p:nvCxnSpPr>
        <p:spPr bwMode="auto">
          <a:xfrm>
            <a:off x="1567934" y="3349830"/>
            <a:ext cx="1249878" cy="198417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179256551"/>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82EDE1-52CA-43D8-A968-2247F3A22C8D}"/>
              </a:ext>
            </a:extLst>
          </p:cNvPr>
          <p:cNvSpPr>
            <a:spLocks noGrp="1"/>
          </p:cNvSpPr>
          <p:nvPr>
            <p:ph type="title"/>
          </p:nvPr>
        </p:nvSpPr>
        <p:spPr/>
        <p:txBody>
          <a:bodyPr/>
          <a:lstStyle/>
          <a:p>
            <a:r>
              <a:rPr lang="en-HK" dirty="0"/>
              <a:t>Fuzzing + Automated Test Oracle </a:t>
            </a:r>
          </a:p>
        </p:txBody>
      </p:sp>
      <p:sp>
        <p:nvSpPr>
          <p:cNvPr id="3" name="Content Placeholder 2">
            <a:extLst>
              <a:ext uri="{FF2B5EF4-FFF2-40B4-BE49-F238E27FC236}">
                <a16:creationId xmlns:a16="http://schemas.microsoft.com/office/drawing/2014/main" id="{6F297286-88B0-4193-9F73-E4904A4ABC22}"/>
              </a:ext>
            </a:extLst>
          </p:cNvPr>
          <p:cNvSpPr>
            <a:spLocks noGrp="1"/>
          </p:cNvSpPr>
          <p:nvPr>
            <p:ph idx="1"/>
          </p:nvPr>
        </p:nvSpPr>
        <p:spPr>
          <a:xfrm>
            <a:off x="277002" y="1382671"/>
            <a:ext cx="9375504" cy="4953000"/>
          </a:xfrm>
        </p:spPr>
        <p:txBody>
          <a:bodyPr/>
          <a:lstStyle/>
          <a:p>
            <a:r>
              <a:rPr lang="en-HK" sz="2800" dirty="0"/>
              <a:t>E.g., </a:t>
            </a:r>
            <a:r>
              <a:rPr lang="en-HK" sz="2800" dirty="0" err="1"/>
              <a:t>ContractFuzzer</a:t>
            </a:r>
            <a:r>
              <a:rPr lang="en-HK" sz="2800" dirty="0"/>
              <a:t> for testing Ethereum smart contracts</a:t>
            </a:r>
          </a:p>
          <a:p>
            <a:endParaRPr lang="en-HK" dirty="0"/>
          </a:p>
          <a:p>
            <a:endParaRPr lang="en-HK" dirty="0"/>
          </a:p>
          <a:p>
            <a:endParaRPr lang="en-HK" dirty="0"/>
          </a:p>
          <a:p>
            <a:pPr marL="0" indent="0">
              <a:buNone/>
            </a:pPr>
            <a:endParaRPr lang="en-HK" dirty="0"/>
          </a:p>
          <a:p>
            <a:endParaRPr lang="en-HK" dirty="0"/>
          </a:p>
        </p:txBody>
      </p:sp>
      <p:sp>
        <p:nvSpPr>
          <p:cNvPr id="4" name="Slide Number Placeholder 3">
            <a:extLst>
              <a:ext uri="{FF2B5EF4-FFF2-40B4-BE49-F238E27FC236}">
                <a16:creationId xmlns:a16="http://schemas.microsoft.com/office/drawing/2014/main" id="{43B065B1-D2B5-43EE-B309-E9A5F6AB62A5}"/>
              </a:ext>
            </a:extLst>
          </p:cNvPr>
          <p:cNvSpPr>
            <a:spLocks noGrp="1"/>
          </p:cNvSpPr>
          <p:nvPr>
            <p:ph type="sldNum" sz="quarter" idx="12"/>
          </p:nvPr>
        </p:nvSpPr>
        <p:spPr>
          <a:xfrm>
            <a:off x="7427913" y="6324600"/>
            <a:ext cx="2062162" cy="457200"/>
          </a:xfrm>
        </p:spPr>
        <p:txBody>
          <a:bodyPr/>
          <a:lstStyle/>
          <a:p>
            <a:pPr>
              <a:defRPr/>
            </a:pPr>
            <a:fld id="{63B8F44C-0EDE-4D7D-9086-BD1CF3CE7AF7}" type="slidenum">
              <a:rPr lang="en-US" smtClean="0"/>
              <a:pPr>
                <a:defRPr/>
              </a:pPr>
              <a:t>21</a:t>
            </a:fld>
            <a:endParaRPr lang="en-US"/>
          </a:p>
        </p:txBody>
      </p:sp>
      <p:pic>
        <p:nvPicPr>
          <p:cNvPr id="13" name="Picture 12" descr="A screenshot of a cell phone&#10;&#10;Description generated with very high confidence">
            <a:extLst>
              <a:ext uri="{FF2B5EF4-FFF2-40B4-BE49-F238E27FC236}">
                <a16:creationId xmlns:a16="http://schemas.microsoft.com/office/drawing/2014/main" id="{B85D5065-EF93-4878-AD40-1D7DF8B8D0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3307" y="2351177"/>
            <a:ext cx="4424380" cy="4583023"/>
          </a:xfrm>
          <a:prstGeom prst="rect">
            <a:avLst/>
          </a:prstGeom>
        </p:spPr>
      </p:pic>
      <p:pic>
        <p:nvPicPr>
          <p:cNvPr id="15" name="Picture 14" descr="A screenshot of a cell phone&#10;&#10;Description generated with high confidence">
            <a:extLst>
              <a:ext uri="{FF2B5EF4-FFF2-40B4-BE49-F238E27FC236}">
                <a16:creationId xmlns:a16="http://schemas.microsoft.com/office/drawing/2014/main" id="{17FF4C7E-5EB1-4650-8EA8-8B4701A6A3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19346" y="1981200"/>
            <a:ext cx="4424380" cy="1603166"/>
          </a:xfrm>
          <a:prstGeom prst="rect">
            <a:avLst/>
          </a:prstGeom>
        </p:spPr>
      </p:pic>
      <p:pic>
        <p:nvPicPr>
          <p:cNvPr id="19" name="Picture 18" descr="A screenshot of a cell phone&#10;&#10;Description generated with very high confidence">
            <a:extLst>
              <a:ext uri="{FF2B5EF4-FFF2-40B4-BE49-F238E27FC236}">
                <a16:creationId xmlns:a16="http://schemas.microsoft.com/office/drawing/2014/main" id="{30FC90E9-DB8A-44CA-BD75-79FDD79FB9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3665" y="3595437"/>
            <a:ext cx="4448024" cy="2534026"/>
          </a:xfrm>
          <a:prstGeom prst="rect">
            <a:avLst/>
          </a:prstGeom>
        </p:spPr>
      </p:pic>
      <p:sp>
        <p:nvSpPr>
          <p:cNvPr id="21" name="Rectangle 20">
            <a:extLst>
              <a:ext uri="{FF2B5EF4-FFF2-40B4-BE49-F238E27FC236}">
                <a16:creationId xmlns:a16="http://schemas.microsoft.com/office/drawing/2014/main" id="{8D84A6B0-E3F0-49E8-BF48-CBE507D62C80}"/>
              </a:ext>
            </a:extLst>
          </p:cNvPr>
          <p:cNvSpPr/>
          <p:nvPr/>
        </p:nvSpPr>
        <p:spPr bwMode="auto">
          <a:xfrm>
            <a:off x="5170832" y="1839823"/>
            <a:ext cx="313980" cy="369977"/>
          </a:xfrm>
          <a:prstGeom prst="rect">
            <a:avLst/>
          </a:prstGeom>
          <a:solidFill>
            <a:schemeClr val="bg1"/>
          </a:solidFill>
          <a:ln>
            <a:noFill/>
            <a:headEnd type="none" w="sm" len="sm"/>
            <a:tailEnd type="none" w="sm" len="sm"/>
          </a:ln>
        </p:spPr>
        <p:style>
          <a:lnRef idx="2">
            <a:schemeClr val="accent1"/>
          </a:lnRef>
          <a:fillRef idx="1">
            <a:schemeClr val="lt1"/>
          </a:fillRef>
          <a:effectRef idx="0">
            <a:schemeClr val="accent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Tree>
    <p:extLst>
      <p:ext uri="{BB962C8B-B14F-4D97-AF65-F5344CB8AC3E}">
        <p14:creationId xmlns:p14="http://schemas.microsoft.com/office/powerpoint/2010/main" val="366230323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80260-5DC9-ED2E-2D6C-6390F3A30B7D}"/>
              </a:ext>
            </a:extLst>
          </p:cNvPr>
          <p:cNvSpPr>
            <a:spLocks noGrp="1"/>
          </p:cNvSpPr>
          <p:nvPr>
            <p:ph type="title"/>
          </p:nvPr>
        </p:nvSpPr>
        <p:spPr/>
        <p:txBody>
          <a:bodyPr/>
          <a:lstStyle/>
          <a:p>
            <a:r>
              <a:rPr lang="en-US" dirty="0"/>
              <a:t>Example</a:t>
            </a:r>
            <a:endParaRPr lang="en-HK" dirty="0"/>
          </a:p>
        </p:txBody>
      </p:sp>
      <p:sp>
        <p:nvSpPr>
          <p:cNvPr id="4" name="Slide Number Placeholder 3">
            <a:extLst>
              <a:ext uri="{FF2B5EF4-FFF2-40B4-BE49-F238E27FC236}">
                <a16:creationId xmlns:a16="http://schemas.microsoft.com/office/drawing/2014/main" id="{C320841C-3DC4-F7DC-2F08-A580A7F61DBF}"/>
              </a:ext>
            </a:extLst>
          </p:cNvPr>
          <p:cNvSpPr>
            <a:spLocks noGrp="1"/>
          </p:cNvSpPr>
          <p:nvPr>
            <p:ph type="sldNum" sz="quarter" idx="12"/>
          </p:nvPr>
        </p:nvSpPr>
        <p:spPr/>
        <p:txBody>
          <a:bodyPr/>
          <a:lstStyle/>
          <a:p>
            <a:pPr>
              <a:defRPr/>
            </a:pPr>
            <a:fld id="{63B8F44C-0EDE-4D7D-9086-BD1CF3CE7AF7}" type="slidenum">
              <a:rPr lang="en-US" smtClean="0"/>
              <a:pPr>
                <a:defRPr/>
              </a:pPr>
              <a:t>22</a:t>
            </a:fld>
            <a:endParaRPr lang="en-US"/>
          </a:p>
        </p:txBody>
      </p:sp>
      <p:pic>
        <p:nvPicPr>
          <p:cNvPr id="1026" name="Picture 2" descr="Light bulb drawing">
            <a:extLst>
              <a:ext uri="{FF2B5EF4-FFF2-40B4-BE49-F238E27FC236}">
                <a16:creationId xmlns:a16="http://schemas.microsoft.com/office/drawing/2014/main" id="{25758317-5D50-F777-CBB9-53579BADFFE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51012" y="2512384"/>
            <a:ext cx="1257300" cy="12573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mote control unit">
            <a:extLst>
              <a:ext uri="{FF2B5EF4-FFF2-40B4-BE49-F238E27FC236}">
                <a16:creationId xmlns:a16="http://schemas.microsoft.com/office/drawing/2014/main" id="{57276D16-BF70-D181-6A79-38C250D69442}"/>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99012" y="2536567"/>
            <a:ext cx="1485900" cy="1485900"/>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1605EA88-471C-D828-E33D-45BCA47EFBD7}"/>
              </a:ext>
            </a:extLst>
          </p:cNvPr>
          <p:cNvCxnSpPr/>
          <p:nvPr/>
        </p:nvCxnSpPr>
        <p:spPr bwMode="auto">
          <a:xfrm flipH="1">
            <a:off x="2741612" y="3141034"/>
            <a:ext cx="2057400" cy="0"/>
          </a:xfrm>
          <a:prstGeom prst="straightConnector1">
            <a:avLst/>
          </a:prstGeom>
          <a:ln w="57150">
            <a:prstDash val="dash"/>
            <a:headEnd type="none" w="sm" len="sm"/>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12BF71E7-68E7-0067-07CE-0852CFEF2007}"/>
              </a:ext>
            </a:extLst>
          </p:cNvPr>
          <p:cNvSpPr txBox="1"/>
          <p:nvPr/>
        </p:nvSpPr>
        <p:spPr>
          <a:xfrm>
            <a:off x="282460" y="1477030"/>
            <a:ext cx="9393351" cy="830997"/>
          </a:xfrm>
          <a:prstGeom prst="rect">
            <a:avLst/>
          </a:prstGeom>
          <a:noFill/>
        </p:spPr>
        <p:txBody>
          <a:bodyPr wrap="square" rtlCol="0">
            <a:spAutoFit/>
          </a:bodyPr>
          <a:lstStyle/>
          <a:p>
            <a:pPr algn="just"/>
            <a:r>
              <a:rPr lang="en-US" sz="2400" dirty="0"/>
              <a:t>This smart light bulb B ensures Y luminance at the remote-control position where Y is set in the </a:t>
            </a:r>
            <a:r>
              <a:rPr lang="en-US" sz="2400" dirty="0" err="1"/>
              <a:t>sLight</a:t>
            </a:r>
            <a:r>
              <a:rPr lang="en-US" sz="2400" dirty="0"/>
              <a:t> app on the control.</a:t>
            </a:r>
            <a:endParaRPr lang="en-HK" sz="2400" dirty="0"/>
          </a:p>
        </p:txBody>
      </p:sp>
      <p:sp>
        <p:nvSpPr>
          <p:cNvPr id="9" name="TextBox 8">
            <a:extLst>
              <a:ext uri="{FF2B5EF4-FFF2-40B4-BE49-F238E27FC236}">
                <a16:creationId xmlns:a16="http://schemas.microsoft.com/office/drawing/2014/main" id="{88EB5B4F-E93E-489D-A8C4-FAA990D6BD8F}"/>
              </a:ext>
            </a:extLst>
          </p:cNvPr>
          <p:cNvSpPr txBox="1"/>
          <p:nvPr/>
        </p:nvSpPr>
        <p:spPr>
          <a:xfrm>
            <a:off x="150812" y="3778567"/>
            <a:ext cx="9393351" cy="1631216"/>
          </a:xfrm>
          <a:prstGeom prst="rect">
            <a:avLst/>
          </a:prstGeom>
          <a:noFill/>
        </p:spPr>
        <p:txBody>
          <a:bodyPr wrap="square" rtlCol="0">
            <a:spAutoFit/>
          </a:bodyPr>
          <a:lstStyle/>
          <a:p>
            <a:r>
              <a:rPr lang="en-US" sz="2400" dirty="0"/>
              <a:t>In traditional testing, we set </a:t>
            </a:r>
            <a:r>
              <a:rPr lang="en-US" sz="2400" dirty="0" err="1"/>
              <a:t>sLight</a:t>
            </a:r>
            <a:r>
              <a:rPr lang="en-US" sz="2400" dirty="0"/>
              <a:t>(Y) and measure Y through the remote control. Nonetheless, if you do it at home or in a factory, you may use alternative methods for testing, …</a:t>
            </a:r>
          </a:p>
          <a:p>
            <a:endParaRPr lang="en-HK" sz="2400" dirty="0"/>
          </a:p>
        </p:txBody>
      </p:sp>
      <p:sp>
        <p:nvSpPr>
          <p:cNvPr id="20" name="TextBox 19">
            <a:extLst>
              <a:ext uri="{FF2B5EF4-FFF2-40B4-BE49-F238E27FC236}">
                <a16:creationId xmlns:a16="http://schemas.microsoft.com/office/drawing/2014/main" id="{11F1EE9B-645A-CF7D-FD24-8E8D414585DA}"/>
              </a:ext>
            </a:extLst>
          </p:cNvPr>
          <p:cNvSpPr txBox="1"/>
          <p:nvPr/>
        </p:nvSpPr>
        <p:spPr>
          <a:xfrm>
            <a:off x="4268093" y="4972079"/>
            <a:ext cx="5634732" cy="584775"/>
          </a:xfrm>
          <a:prstGeom prst="rect">
            <a:avLst/>
          </a:prstGeom>
          <a:noFill/>
        </p:spPr>
        <p:txBody>
          <a:bodyPr wrap="square" rtlCol="0">
            <a:spAutoFit/>
          </a:bodyPr>
          <a:lstStyle/>
          <a:p>
            <a:r>
              <a:rPr lang="en-US" sz="1600" dirty="0"/>
              <a:t>MR1: If position 2 &gt; position 1, </a:t>
            </a:r>
          </a:p>
          <a:p>
            <a:r>
              <a:rPr lang="en-US" sz="1600" dirty="0"/>
              <a:t>          then O observes B brighter when the remote is at position 2</a:t>
            </a:r>
            <a:endParaRPr lang="en-HK" sz="1600" dirty="0"/>
          </a:p>
        </p:txBody>
      </p:sp>
      <p:sp>
        <p:nvSpPr>
          <p:cNvPr id="21" name="TextBox 20">
            <a:extLst>
              <a:ext uri="{FF2B5EF4-FFF2-40B4-BE49-F238E27FC236}">
                <a16:creationId xmlns:a16="http://schemas.microsoft.com/office/drawing/2014/main" id="{1FBDDA3F-1B24-F355-02AA-32BCA7555E56}"/>
              </a:ext>
            </a:extLst>
          </p:cNvPr>
          <p:cNvSpPr txBox="1"/>
          <p:nvPr/>
        </p:nvSpPr>
        <p:spPr>
          <a:xfrm>
            <a:off x="4268093" y="5663889"/>
            <a:ext cx="5788719" cy="1077218"/>
          </a:xfrm>
          <a:prstGeom prst="rect">
            <a:avLst/>
          </a:prstGeom>
          <a:noFill/>
        </p:spPr>
        <p:txBody>
          <a:bodyPr wrap="square" rtlCol="0">
            <a:spAutoFit/>
          </a:bodyPr>
          <a:lstStyle/>
          <a:p>
            <a:r>
              <a:rPr lang="en-US" sz="1600" dirty="0"/>
              <a:t>MR2: If position 2 = position 1, then B looks similar in </a:t>
            </a:r>
          </a:p>
          <a:p>
            <a:r>
              <a:rPr lang="en-US" sz="1600" dirty="0"/>
              <a:t>          brightness from O when the remote is at either position. </a:t>
            </a:r>
          </a:p>
          <a:p>
            <a:endParaRPr lang="en-US" sz="1600" dirty="0"/>
          </a:p>
          <a:p>
            <a:r>
              <a:rPr lang="en-US" sz="1600" dirty="0"/>
              <a:t>How to implement MR2? [Just circle around the bulb]</a:t>
            </a:r>
            <a:endParaRPr lang="en-HK" sz="1600" dirty="0"/>
          </a:p>
        </p:txBody>
      </p:sp>
      <p:sp>
        <p:nvSpPr>
          <p:cNvPr id="22" name="TextBox 21">
            <a:extLst>
              <a:ext uri="{FF2B5EF4-FFF2-40B4-BE49-F238E27FC236}">
                <a16:creationId xmlns:a16="http://schemas.microsoft.com/office/drawing/2014/main" id="{3C2DF337-473D-0795-A114-780496922EF6}"/>
              </a:ext>
            </a:extLst>
          </p:cNvPr>
          <p:cNvSpPr txBox="1"/>
          <p:nvPr/>
        </p:nvSpPr>
        <p:spPr>
          <a:xfrm>
            <a:off x="3500822" y="306741"/>
            <a:ext cx="4338440" cy="830997"/>
          </a:xfrm>
          <a:prstGeom prst="rect">
            <a:avLst/>
          </a:prstGeom>
        </p:spPr>
        <p:style>
          <a:lnRef idx="2">
            <a:schemeClr val="accent4"/>
          </a:lnRef>
          <a:fillRef idx="1">
            <a:schemeClr val="lt1"/>
          </a:fillRef>
          <a:effectRef idx="0">
            <a:schemeClr val="accent4"/>
          </a:effectRef>
          <a:fontRef idx="minor">
            <a:schemeClr val="dk1"/>
          </a:fontRef>
        </p:style>
        <p:txBody>
          <a:bodyPr wrap="square" rtlCol="0">
            <a:spAutoFit/>
          </a:bodyPr>
          <a:lstStyle/>
          <a:p>
            <a:r>
              <a:rPr lang="en-US" sz="2400" dirty="0">
                <a:solidFill>
                  <a:srgbClr val="C00000"/>
                </a:solidFill>
              </a:rPr>
              <a:t>MT and traditional testing find different kinds of bugs</a:t>
            </a:r>
            <a:endParaRPr lang="en-HK" sz="2400" dirty="0">
              <a:solidFill>
                <a:srgbClr val="C00000"/>
              </a:solidFill>
            </a:endParaRPr>
          </a:p>
        </p:txBody>
      </p:sp>
      <p:pic>
        <p:nvPicPr>
          <p:cNvPr id="1030" name="Picture 6" descr="Eye">
            <a:extLst>
              <a:ext uri="{FF2B5EF4-FFF2-40B4-BE49-F238E27FC236}">
                <a16:creationId xmlns:a16="http://schemas.microsoft.com/office/drawing/2014/main" id="{DD8800B6-9EC6-6855-BABE-2CEC1604B34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30775" y="3181560"/>
            <a:ext cx="342901" cy="34290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DB2D98B-7A6C-F603-5310-E06E28D7AC27}"/>
              </a:ext>
            </a:extLst>
          </p:cNvPr>
          <p:cNvSpPr txBox="1"/>
          <p:nvPr/>
        </p:nvSpPr>
        <p:spPr>
          <a:xfrm>
            <a:off x="1479360" y="2302687"/>
            <a:ext cx="5029200" cy="523220"/>
          </a:xfrm>
          <a:prstGeom prst="rect">
            <a:avLst/>
          </a:prstGeom>
          <a:noFill/>
        </p:spPr>
        <p:txBody>
          <a:bodyPr wrap="square">
            <a:spAutoFit/>
          </a:bodyPr>
          <a:lstStyle/>
          <a:p>
            <a:r>
              <a:rPr lang="en-US" sz="2800" dirty="0"/>
              <a:t>B</a:t>
            </a:r>
            <a:endParaRPr lang="en-HK" dirty="0"/>
          </a:p>
        </p:txBody>
      </p:sp>
      <p:grpSp>
        <p:nvGrpSpPr>
          <p:cNvPr id="16" name="Group 15">
            <a:extLst>
              <a:ext uri="{FF2B5EF4-FFF2-40B4-BE49-F238E27FC236}">
                <a16:creationId xmlns:a16="http://schemas.microsoft.com/office/drawing/2014/main" id="{77501750-3692-2DA0-098B-00B0C6554AD3}"/>
              </a:ext>
            </a:extLst>
          </p:cNvPr>
          <p:cNvGrpSpPr/>
          <p:nvPr/>
        </p:nvGrpSpPr>
        <p:grpSpPr>
          <a:xfrm>
            <a:off x="3891" y="5009673"/>
            <a:ext cx="3926448" cy="1539483"/>
            <a:chOff x="3891" y="5009673"/>
            <a:chExt cx="3926448" cy="1539483"/>
          </a:xfrm>
        </p:grpSpPr>
        <p:grpSp>
          <p:nvGrpSpPr>
            <p:cNvPr id="23" name="Group 22">
              <a:extLst>
                <a:ext uri="{FF2B5EF4-FFF2-40B4-BE49-F238E27FC236}">
                  <a16:creationId xmlns:a16="http://schemas.microsoft.com/office/drawing/2014/main" id="{86DE1C5B-77F5-96BD-C86D-1B59CE2CC808}"/>
                </a:ext>
              </a:extLst>
            </p:cNvPr>
            <p:cNvGrpSpPr/>
            <p:nvPr/>
          </p:nvGrpSpPr>
          <p:grpSpPr>
            <a:xfrm>
              <a:off x="923526" y="5104338"/>
              <a:ext cx="3006813" cy="1444818"/>
              <a:chOff x="923526" y="5104338"/>
              <a:chExt cx="3006813" cy="1444818"/>
            </a:xfrm>
          </p:grpSpPr>
          <p:pic>
            <p:nvPicPr>
              <p:cNvPr id="10" name="Picture 2" descr="Light bulb drawing">
                <a:extLst>
                  <a:ext uri="{FF2B5EF4-FFF2-40B4-BE49-F238E27FC236}">
                    <a16:creationId xmlns:a16="http://schemas.microsoft.com/office/drawing/2014/main" id="{0E243DA2-763C-EBD0-8294-862E57FA179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23526" y="5104338"/>
                <a:ext cx="616701" cy="61670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4" descr="Remote control unit">
                <a:extLst>
                  <a:ext uri="{FF2B5EF4-FFF2-40B4-BE49-F238E27FC236}">
                    <a16:creationId xmlns:a16="http://schemas.microsoft.com/office/drawing/2014/main" id="{F2C2C6CD-1537-6A37-0AC4-CAA9209EF494}"/>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59375" y="5818155"/>
                <a:ext cx="731001" cy="731001"/>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Remote control unit">
                <a:extLst>
                  <a:ext uri="{FF2B5EF4-FFF2-40B4-BE49-F238E27FC236}">
                    <a16:creationId xmlns:a16="http://schemas.microsoft.com/office/drawing/2014/main" id="{1E135B4F-4F34-859A-07E5-19FA7FF3181E}"/>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008312" y="5104338"/>
                <a:ext cx="731001" cy="731001"/>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9AE7F070-76AA-13E2-3628-90EE11E003D2}"/>
                  </a:ext>
                </a:extLst>
              </p:cNvPr>
              <p:cNvSpPr txBox="1"/>
              <p:nvPr/>
            </p:nvSpPr>
            <p:spPr>
              <a:xfrm>
                <a:off x="2390376" y="6141507"/>
                <a:ext cx="797013" cy="276999"/>
              </a:xfrm>
              <a:prstGeom prst="rect">
                <a:avLst/>
              </a:prstGeom>
              <a:noFill/>
            </p:spPr>
            <p:txBody>
              <a:bodyPr wrap="none" rtlCol="0">
                <a:spAutoFit/>
              </a:bodyPr>
              <a:lstStyle/>
              <a:p>
                <a:r>
                  <a:rPr lang="en-US" sz="1200" dirty="0"/>
                  <a:t>position 1</a:t>
                </a:r>
                <a:endParaRPr lang="en-HK" sz="1200" dirty="0"/>
              </a:p>
            </p:txBody>
          </p:sp>
          <p:sp>
            <p:nvSpPr>
              <p:cNvPr id="14" name="TextBox 13">
                <a:extLst>
                  <a:ext uri="{FF2B5EF4-FFF2-40B4-BE49-F238E27FC236}">
                    <a16:creationId xmlns:a16="http://schemas.microsoft.com/office/drawing/2014/main" id="{845E6DA3-86E9-48C3-AF66-30DEB93A6C45}"/>
                  </a:ext>
                </a:extLst>
              </p:cNvPr>
              <p:cNvSpPr txBox="1"/>
              <p:nvPr/>
            </p:nvSpPr>
            <p:spPr>
              <a:xfrm>
                <a:off x="3133326" y="5828617"/>
                <a:ext cx="797013" cy="276999"/>
              </a:xfrm>
              <a:prstGeom prst="rect">
                <a:avLst/>
              </a:prstGeom>
              <a:noFill/>
            </p:spPr>
            <p:txBody>
              <a:bodyPr wrap="none" rtlCol="0">
                <a:spAutoFit/>
              </a:bodyPr>
              <a:lstStyle/>
              <a:p>
                <a:r>
                  <a:rPr lang="en-US" sz="1200" dirty="0"/>
                  <a:t>position 2</a:t>
                </a:r>
                <a:endParaRPr lang="en-HK" sz="1200" dirty="0"/>
              </a:p>
            </p:txBody>
          </p:sp>
          <p:cxnSp>
            <p:nvCxnSpPr>
              <p:cNvPr id="15" name="Straight Arrow Connector 14">
                <a:extLst>
                  <a:ext uri="{FF2B5EF4-FFF2-40B4-BE49-F238E27FC236}">
                    <a16:creationId xmlns:a16="http://schemas.microsoft.com/office/drawing/2014/main" id="{86DB4E9C-FB89-C91F-CAA2-08F0978F1D40}"/>
                  </a:ext>
                </a:extLst>
              </p:cNvPr>
              <p:cNvCxnSpPr>
                <a:cxnSpLocks/>
                <a:stCxn id="12" idx="1"/>
              </p:cNvCxnSpPr>
              <p:nvPr/>
            </p:nvCxnSpPr>
            <p:spPr bwMode="auto">
              <a:xfrm flipH="1">
                <a:off x="1524024" y="5469839"/>
                <a:ext cx="1484288" cy="2688"/>
              </a:xfrm>
              <a:prstGeom prst="straightConnector1">
                <a:avLst/>
              </a:prstGeom>
              <a:ln w="57150">
                <a:prstDash val="dash"/>
                <a:headEnd type="none" w="sm" len="sm"/>
                <a:tailEnd type="triangle"/>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994F863F-88BD-0A90-39BC-2D9CB5F4BDAF}"/>
                  </a:ext>
                </a:extLst>
              </p:cNvPr>
              <p:cNvCxnSpPr>
                <a:cxnSpLocks/>
              </p:cNvCxnSpPr>
              <p:nvPr/>
            </p:nvCxnSpPr>
            <p:spPr bwMode="auto">
              <a:xfrm flipH="1" flipV="1">
                <a:off x="1273195" y="5783933"/>
                <a:ext cx="412331" cy="183183"/>
              </a:xfrm>
              <a:prstGeom prst="straightConnector1">
                <a:avLst/>
              </a:prstGeom>
              <a:ln w="57150">
                <a:prstDash val="dash"/>
                <a:headEnd type="none" w="sm" len="sm"/>
                <a:tailEnd type="triangle"/>
              </a:ln>
            </p:spPr>
            <p:style>
              <a:lnRef idx="1">
                <a:schemeClr val="dk1"/>
              </a:lnRef>
              <a:fillRef idx="0">
                <a:schemeClr val="dk1"/>
              </a:fillRef>
              <a:effectRef idx="0">
                <a:schemeClr val="dk1"/>
              </a:effectRef>
              <a:fontRef idx="minor">
                <a:schemeClr val="tx1"/>
              </a:fontRef>
            </p:style>
          </p:cxnSp>
        </p:grpSp>
        <p:pic>
          <p:nvPicPr>
            <p:cNvPr id="24" name="Picture 6" descr="Eye">
              <a:extLst>
                <a:ext uri="{FF2B5EF4-FFF2-40B4-BE49-F238E27FC236}">
                  <a16:creationId xmlns:a16="http://schemas.microsoft.com/office/drawing/2014/main" id="{3CD3AD4F-2F60-6CBB-2828-D7E5BA6DED8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0812" y="5730262"/>
              <a:ext cx="342901" cy="342901"/>
            </a:xfrm>
            <a:prstGeom prst="rect">
              <a:avLst/>
            </a:prstGeom>
            <a:noFill/>
            <a:extLst>
              <a:ext uri="{909E8E84-426E-40DD-AFC4-6F175D3DCCD1}">
                <a14:hiddenFill xmlns:a14="http://schemas.microsoft.com/office/drawing/2010/main">
                  <a:solidFill>
                    <a:srgbClr val="FFFFFF"/>
                  </a:solidFill>
                </a14:hiddenFill>
              </a:ext>
            </a:extLst>
          </p:spPr>
        </p:pic>
        <p:sp>
          <p:nvSpPr>
            <p:cNvPr id="25" name="TextBox 24">
              <a:extLst>
                <a:ext uri="{FF2B5EF4-FFF2-40B4-BE49-F238E27FC236}">
                  <a16:creationId xmlns:a16="http://schemas.microsoft.com/office/drawing/2014/main" id="{6E9DB92F-94AB-31B6-877C-E24CACB2E41F}"/>
                </a:ext>
              </a:extLst>
            </p:cNvPr>
            <p:cNvSpPr txBox="1"/>
            <p:nvPr/>
          </p:nvSpPr>
          <p:spPr>
            <a:xfrm>
              <a:off x="3891" y="5934663"/>
              <a:ext cx="864339" cy="276999"/>
            </a:xfrm>
            <a:prstGeom prst="rect">
              <a:avLst/>
            </a:prstGeom>
            <a:noFill/>
          </p:spPr>
          <p:txBody>
            <a:bodyPr wrap="none" rtlCol="0">
              <a:spAutoFit/>
            </a:bodyPr>
            <a:lstStyle/>
            <a:p>
              <a:r>
                <a:rPr lang="en-US" sz="1200" dirty="0"/>
                <a:t>observer O</a:t>
              </a:r>
              <a:endParaRPr lang="en-HK" sz="1200" dirty="0"/>
            </a:p>
          </p:txBody>
        </p:sp>
        <p:sp>
          <p:nvSpPr>
            <p:cNvPr id="6" name="TextBox 5">
              <a:extLst>
                <a:ext uri="{FF2B5EF4-FFF2-40B4-BE49-F238E27FC236}">
                  <a16:creationId xmlns:a16="http://schemas.microsoft.com/office/drawing/2014/main" id="{07DBEC1D-81D7-8DAE-578F-E19E4EE2E952}"/>
                </a:ext>
              </a:extLst>
            </p:cNvPr>
            <p:cNvSpPr txBox="1"/>
            <p:nvPr/>
          </p:nvSpPr>
          <p:spPr>
            <a:xfrm>
              <a:off x="732500" y="5009673"/>
              <a:ext cx="370286" cy="400110"/>
            </a:xfrm>
            <a:prstGeom prst="rect">
              <a:avLst/>
            </a:prstGeom>
            <a:noFill/>
          </p:spPr>
          <p:txBody>
            <a:bodyPr wrap="square">
              <a:spAutoFit/>
            </a:bodyPr>
            <a:lstStyle/>
            <a:p>
              <a:r>
                <a:rPr lang="en-US" sz="2000" dirty="0"/>
                <a:t>B</a:t>
              </a:r>
              <a:endParaRPr lang="en-HK" sz="2000" dirty="0"/>
            </a:p>
          </p:txBody>
        </p:sp>
      </p:grpSp>
    </p:spTree>
    <p:extLst>
      <p:ext uri="{BB962C8B-B14F-4D97-AF65-F5344CB8AC3E}">
        <p14:creationId xmlns:p14="http://schemas.microsoft.com/office/powerpoint/2010/main" val="179155272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0745C7-A876-401C-B1B7-91475F72B49D}"/>
              </a:ext>
            </a:extLst>
          </p:cNvPr>
          <p:cNvSpPr>
            <a:spLocks noGrp="1"/>
          </p:cNvSpPr>
          <p:nvPr>
            <p:ph type="title"/>
          </p:nvPr>
        </p:nvSpPr>
        <p:spPr/>
        <p:txBody>
          <a:bodyPr/>
          <a:lstStyle/>
          <a:p>
            <a:r>
              <a:rPr lang="en-HK" sz="4000" dirty="0"/>
              <a:t>Tutorial: Exercise on </a:t>
            </a:r>
            <a:br>
              <a:rPr lang="en-HK" sz="4000" dirty="0"/>
            </a:br>
            <a:r>
              <a:rPr lang="en-HK" sz="4000" dirty="0"/>
              <a:t>Identification of Metamorphic Relations</a:t>
            </a:r>
          </a:p>
        </p:txBody>
      </p:sp>
      <p:sp>
        <p:nvSpPr>
          <p:cNvPr id="4" name="Slide Number Placeholder 3">
            <a:extLst>
              <a:ext uri="{FF2B5EF4-FFF2-40B4-BE49-F238E27FC236}">
                <a16:creationId xmlns:a16="http://schemas.microsoft.com/office/drawing/2014/main" id="{DA876CF4-1230-43E2-96FE-8A683B1F5FB2}"/>
              </a:ext>
            </a:extLst>
          </p:cNvPr>
          <p:cNvSpPr>
            <a:spLocks noGrp="1"/>
          </p:cNvSpPr>
          <p:nvPr>
            <p:ph type="sldNum" sz="quarter" idx="12"/>
          </p:nvPr>
        </p:nvSpPr>
        <p:spPr/>
        <p:txBody>
          <a:bodyPr/>
          <a:lstStyle/>
          <a:p>
            <a:pPr>
              <a:defRPr/>
            </a:pPr>
            <a:fld id="{63B8F44C-0EDE-4D7D-9086-BD1CF3CE7AF7}" type="slidenum">
              <a:rPr lang="en-US" smtClean="0"/>
              <a:pPr>
                <a:defRPr/>
              </a:pPr>
              <a:t>23</a:t>
            </a:fld>
            <a:endParaRPr lang="en-US"/>
          </a:p>
        </p:txBody>
      </p:sp>
      <p:sp>
        <p:nvSpPr>
          <p:cNvPr id="7" name="Content Placeholder 6">
            <a:extLst>
              <a:ext uri="{FF2B5EF4-FFF2-40B4-BE49-F238E27FC236}">
                <a16:creationId xmlns:a16="http://schemas.microsoft.com/office/drawing/2014/main" id="{203C73C0-4234-415A-B957-ED6F9714839B}"/>
              </a:ext>
            </a:extLst>
          </p:cNvPr>
          <p:cNvSpPr>
            <a:spLocks noGrp="1"/>
          </p:cNvSpPr>
          <p:nvPr>
            <p:ph idx="1"/>
          </p:nvPr>
        </p:nvSpPr>
        <p:spPr/>
        <p:txBody>
          <a:bodyPr/>
          <a:lstStyle/>
          <a:p>
            <a:r>
              <a:rPr lang="en-HK" sz="2800" dirty="0"/>
              <a:t>Consider a program P that aims to implement the mathematical sine function sin()</a:t>
            </a:r>
          </a:p>
          <a:p>
            <a:pPr marL="863600" lvl="2" indent="0">
              <a:buNone/>
            </a:pPr>
            <a:r>
              <a:rPr lang="en-HK" sz="2800" dirty="0">
                <a:latin typeface="Courier New" panose="02070309020205020404" pitchFamily="49" charset="0"/>
                <a:cs typeface="Courier New" panose="02070309020205020404" pitchFamily="49" charset="0"/>
              </a:rPr>
              <a:t>double P(double </a:t>
            </a:r>
            <a:r>
              <a:rPr lang="en-HK" sz="2800" dirty="0" err="1">
                <a:latin typeface="Courier New" panose="02070309020205020404" pitchFamily="49" charset="0"/>
                <a:cs typeface="Courier New" panose="02070309020205020404" pitchFamily="49" charset="0"/>
              </a:rPr>
              <a:t>i</a:t>
            </a:r>
            <a:r>
              <a:rPr lang="en-HK" sz="2800" dirty="0">
                <a:latin typeface="Courier New" panose="02070309020205020404" pitchFamily="49" charset="0"/>
                <a:cs typeface="Courier New" panose="02070309020205020404" pitchFamily="49" charset="0"/>
              </a:rPr>
              <a:t>)</a:t>
            </a:r>
          </a:p>
          <a:p>
            <a:pPr marL="0" indent="0">
              <a:buNone/>
            </a:pPr>
            <a:r>
              <a:rPr lang="en-HK" sz="2800" dirty="0"/>
              <a:t>    where </a:t>
            </a:r>
            <a:r>
              <a:rPr lang="en-HK" sz="2800" dirty="0" err="1">
                <a:latin typeface="Courier New" panose="02070309020205020404" pitchFamily="49" charset="0"/>
                <a:cs typeface="Courier New" panose="02070309020205020404" pitchFamily="49" charset="0"/>
              </a:rPr>
              <a:t>i</a:t>
            </a:r>
            <a:r>
              <a:rPr lang="en-HK" sz="2800" dirty="0"/>
              <a:t> is the degree.</a:t>
            </a:r>
          </a:p>
          <a:p>
            <a:r>
              <a:rPr lang="en-HK" sz="2800" dirty="0"/>
              <a:t>Traditional testing: E.g., P(30) = 0.5, P(90) = 1, P(180) = 0, P(32) = ?</a:t>
            </a:r>
          </a:p>
          <a:p>
            <a:r>
              <a:rPr lang="en-HK" sz="2800" dirty="0"/>
              <a:t>Any metamorphic relation of P you can think of?</a:t>
            </a:r>
          </a:p>
          <a:p>
            <a:endParaRPr lang="en-HK" sz="2800" dirty="0"/>
          </a:p>
          <a:p>
            <a:endParaRPr lang="en-HK" sz="1600" b="1" dirty="0"/>
          </a:p>
        </p:txBody>
      </p:sp>
      <p:pic>
        <p:nvPicPr>
          <p:cNvPr id="10" name="Picture 9">
            <a:extLst>
              <a:ext uri="{FF2B5EF4-FFF2-40B4-BE49-F238E27FC236}">
                <a16:creationId xmlns:a16="http://schemas.microsoft.com/office/drawing/2014/main" id="{0C5885B9-ED7F-479D-B9F7-14D89485AD4F}"/>
              </a:ext>
            </a:extLst>
          </p:cNvPr>
          <p:cNvPicPr>
            <a:picLocks noChangeAspect="1"/>
          </p:cNvPicPr>
          <p:nvPr/>
        </p:nvPicPr>
        <p:blipFill>
          <a:blip r:embed="rId3"/>
          <a:stretch>
            <a:fillRect/>
          </a:stretch>
        </p:blipFill>
        <p:spPr>
          <a:xfrm>
            <a:off x="7008812" y="2266950"/>
            <a:ext cx="2124075" cy="1314450"/>
          </a:xfrm>
          <a:prstGeom prst="rect">
            <a:avLst/>
          </a:prstGeom>
        </p:spPr>
      </p:pic>
      <p:sp>
        <p:nvSpPr>
          <p:cNvPr id="3" name="TextBox 2">
            <a:extLst>
              <a:ext uri="{FF2B5EF4-FFF2-40B4-BE49-F238E27FC236}">
                <a16:creationId xmlns:a16="http://schemas.microsoft.com/office/drawing/2014/main" id="{76DEBBA0-F141-3729-A6FC-D7EFD508A7D9}"/>
              </a:ext>
            </a:extLst>
          </p:cNvPr>
          <p:cNvSpPr txBox="1"/>
          <p:nvPr/>
        </p:nvSpPr>
        <p:spPr>
          <a:xfrm>
            <a:off x="1809567" y="6019800"/>
            <a:ext cx="6242415" cy="523220"/>
          </a:xfrm>
          <a:prstGeom prst="rect">
            <a:avLst/>
          </a:prstGeom>
        </p:spPr>
        <p:style>
          <a:lnRef idx="3">
            <a:schemeClr val="lt1"/>
          </a:lnRef>
          <a:fillRef idx="1">
            <a:schemeClr val="accent6"/>
          </a:fillRef>
          <a:effectRef idx="1">
            <a:schemeClr val="accent6"/>
          </a:effectRef>
          <a:fontRef idx="minor">
            <a:schemeClr val="lt1"/>
          </a:fontRef>
        </p:style>
        <p:txBody>
          <a:bodyPr wrap="none" rtlCol="0">
            <a:spAutoFit/>
          </a:bodyPr>
          <a:lstStyle/>
          <a:p>
            <a:r>
              <a:rPr lang="en-HK" dirty="0"/>
              <a:t>Example MR: sin(x) = sin(y) if x = 180 -x</a:t>
            </a:r>
            <a:endParaRPr lang="en-US" dirty="0"/>
          </a:p>
        </p:txBody>
      </p:sp>
    </p:spTree>
    <p:extLst>
      <p:ext uri="{BB962C8B-B14F-4D97-AF65-F5344CB8AC3E}">
        <p14:creationId xmlns:p14="http://schemas.microsoft.com/office/powerpoint/2010/main" val="1484678331"/>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 and Resources</a:t>
            </a:r>
          </a:p>
        </p:txBody>
      </p:sp>
      <p:sp>
        <p:nvSpPr>
          <p:cNvPr id="3" name="Content Placeholder 2"/>
          <p:cNvSpPr>
            <a:spLocks noGrp="1"/>
          </p:cNvSpPr>
          <p:nvPr>
            <p:ph idx="1"/>
          </p:nvPr>
        </p:nvSpPr>
        <p:spPr>
          <a:xfrm>
            <a:off x="412750" y="1676400"/>
            <a:ext cx="9263062" cy="4953000"/>
          </a:xfrm>
        </p:spPr>
        <p:txBody>
          <a:bodyPr/>
          <a:lstStyle/>
          <a:p>
            <a:pPr marL="514350" indent="-514350">
              <a:buFont typeface="+mj-lt"/>
              <a:buAutoNum type="arabicPeriod"/>
            </a:pPr>
            <a:r>
              <a:rPr lang="en-US" sz="2000" dirty="0" err="1"/>
              <a:t>Evosuite</a:t>
            </a:r>
            <a:r>
              <a:rPr lang="en-US" sz="2000" dirty="0"/>
              <a:t>, available at </a:t>
            </a:r>
            <a:r>
              <a:rPr lang="en-US" sz="2000" dirty="0">
                <a:hlinkClick r:id="rId2"/>
              </a:rPr>
              <a:t>http://www.evosuite.org/</a:t>
            </a:r>
            <a:r>
              <a:rPr lang="en-US" sz="2000" dirty="0"/>
              <a:t> </a:t>
            </a:r>
          </a:p>
          <a:p>
            <a:pPr marL="969963" lvl="1" indent="-457200">
              <a:buFont typeface="+mj-lt"/>
              <a:buAutoNum type="alphaLcParenR"/>
            </a:pPr>
            <a:r>
              <a:rPr lang="en-HK" sz="1600" dirty="0"/>
              <a:t>Command line tutorial: </a:t>
            </a:r>
            <a:r>
              <a:rPr lang="en-HK" sz="1600" dirty="0">
                <a:hlinkClick r:id="rId3"/>
              </a:rPr>
              <a:t>http://www.evosuite.org/documentation/tutorial-part-1</a:t>
            </a:r>
            <a:r>
              <a:rPr lang="en-HK" sz="1600" dirty="0"/>
              <a:t> </a:t>
            </a:r>
          </a:p>
          <a:p>
            <a:pPr marL="969963" lvl="1" indent="-457200">
              <a:buFont typeface="+mj-lt"/>
              <a:buAutoNum type="alphaLcParenR"/>
            </a:pPr>
            <a:r>
              <a:rPr lang="en-HK" sz="1600" dirty="0"/>
              <a:t>Marven Integration: </a:t>
            </a:r>
            <a:r>
              <a:rPr lang="en-HK" sz="1600" dirty="0">
                <a:hlinkClick r:id="rId4"/>
              </a:rPr>
              <a:t>http://www.evosuite.org/documentation/tutorial-part-2</a:t>
            </a:r>
            <a:endParaRPr lang="en-HK" sz="1600" dirty="0"/>
          </a:p>
          <a:p>
            <a:pPr marL="969963" lvl="1" indent="-457200">
              <a:buFont typeface="+mj-lt"/>
              <a:buAutoNum type="alphaLcParenR"/>
            </a:pPr>
            <a:r>
              <a:rPr lang="en-HK" sz="1600" dirty="0"/>
              <a:t>Eclipse plugin, Jenkins plugin etc are available </a:t>
            </a:r>
            <a:endParaRPr lang="en-US" sz="1600" dirty="0"/>
          </a:p>
          <a:p>
            <a:pPr marL="920750" lvl="1" indent="-457200">
              <a:buFont typeface="+mj-lt"/>
              <a:buAutoNum type="alphaLcParenR"/>
            </a:pPr>
            <a:r>
              <a:rPr lang="en-HK" sz="1600" dirty="0"/>
              <a:t>Gordon Fraser and Andrea Arcuri. 2011. </a:t>
            </a:r>
            <a:r>
              <a:rPr lang="en-HK" sz="1600" dirty="0" err="1"/>
              <a:t>EvoSuite</a:t>
            </a:r>
            <a:r>
              <a:rPr lang="en-HK" sz="1600" dirty="0"/>
              <a:t>: automatic test suite generation for object-oriented software. In Proceedings of the 19th ACM SIGSOFT symposium and the 13th European conference on Foundations of software engineering (ESEC/FSE '11). ACM, New York, NY, USA, 416-419. DOI=http://dx.doi.org/10.1145/2025113.2025179</a:t>
            </a:r>
          </a:p>
          <a:p>
            <a:pPr marL="920750" lvl="1" indent="-457200">
              <a:buFont typeface="+mj-lt"/>
              <a:buAutoNum type="alphaLcParenR"/>
            </a:pPr>
            <a:r>
              <a:rPr lang="en-HK" sz="1600" dirty="0" err="1"/>
              <a:t>Annibale</a:t>
            </a:r>
            <a:r>
              <a:rPr lang="en-HK" sz="1600" dirty="0"/>
              <a:t> </a:t>
            </a:r>
            <a:r>
              <a:rPr lang="en-HK" sz="1600" dirty="0" err="1"/>
              <a:t>Panichella</a:t>
            </a:r>
            <a:r>
              <a:rPr lang="en-HK" sz="1600" dirty="0"/>
              <a:t> and </a:t>
            </a:r>
            <a:r>
              <a:rPr lang="en-HK" sz="1600" dirty="0" err="1"/>
              <a:t>Urko</a:t>
            </a:r>
            <a:r>
              <a:rPr lang="en-HK" sz="1600" dirty="0"/>
              <a:t> Rueda Molina. 2017. Java unit testing tool competition: fifth round. In Proceedings of the 10th International Workshop on Search-Based Software Testing (SBST '17). IEEE Press, Piscataway, NJ, USA, 32-38. </a:t>
            </a:r>
            <a:r>
              <a:rPr lang="en-HK" sz="1600" dirty="0">
                <a:hlinkClick r:id="rId5"/>
              </a:rPr>
              <a:t>https://dl.acm.org/citation.cfm?id=3105434</a:t>
            </a:r>
            <a:endParaRPr lang="en-HK" sz="1600" dirty="0"/>
          </a:p>
          <a:p>
            <a:pPr marL="920750" lvl="1" indent="-457200">
              <a:buFont typeface="+mj-lt"/>
              <a:buAutoNum type="alphaLcParenR"/>
            </a:pPr>
            <a:r>
              <a:rPr lang="en-HK" sz="1600" dirty="0" err="1"/>
              <a:t>Fitsum</a:t>
            </a:r>
            <a:r>
              <a:rPr lang="en-HK" sz="1600" dirty="0"/>
              <a:t> </a:t>
            </a:r>
            <a:r>
              <a:rPr lang="en-HK" sz="1600" dirty="0" err="1"/>
              <a:t>Kifetew</a:t>
            </a:r>
            <a:r>
              <a:rPr lang="en-HK" sz="1600" dirty="0"/>
              <a:t>, Xavier </a:t>
            </a:r>
            <a:r>
              <a:rPr lang="en-HK" sz="1600" dirty="0" err="1"/>
              <a:t>Devroey</a:t>
            </a:r>
            <a:r>
              <a:rPr lang="en-HK" sz="1600" dirty="0"/>
              <a:t>, and </a:t>
            </a:r>
            <a:r>
              <a:rPr lang="en-HK" sz="1600" dirty="0" err="1"/>
              <a:t>Urko</a:t>
            </a:r>
            <a:r>
              <a:rPr lang="en-HK" sz="1600" dirty="0"/>
              <a:t> Rueda. 2019. Java unit testing tool competition: seventh round. In Proceedings of the 12th International Workshop on Search-Based Software Testing (SBST '19). IEEE Press, Piscataway, NJ, USA, 15-20. DOI: </a:t>
            </a:r>
            <a:r>
              <a:rPr lang="en-HK" sz="1600" dirty="0">
                <a:hlinkClick r:id="rId6"/>
              </a:rPr>
              <a:t>https://doi.org/10.1109/SBST.2019.00014</a:t>
            </a:r>
            <a:r>
              <a:rPr lang="en-HK" sz="1600" dirty="0"/>
              <a:t> </a:t>
            </a:r>
          </a:p>
          <a:p>
            <a:pPr marL="514350" indent="-514350">
              <a:buFont typeface="+mj-lt"/>
              <a:buAutoNum type="arabicPeriod"/>
            </a:pPr>
            <a:r>
              <a:rPr lang="en-HK" sz="2000" dirty="0" err="1"/>
              <a:t>Javin</a:t>
            </a:r>
            <a:r>
              <a:rPr lang="en-HK" sz="2000" dirty="0"/>
              <a:t>. Paul. 10 Useful Unit and Integration Testing tools for Java Programmers. Available at </a:t>
            </a:r>
            <a:r>
              <a:rPr lang="en-HK" sz="1800" dirty="0">
                <a:hlinkClick r:id="rId7"/>
              </a:rPr>
              <a:t>https://dzone.com/articles/10-essential-testing-tools-for-java-developers</a:t>
            </a:r>
            <a:r>
              <a:rPr lang="en-HK" sz="1800" dirty="0"/>
              <a:t> </a:t>
            </a:r>
            <a:endParaRPr lang="en-HK" sz="2000" dirty="0"/>
          </a:p>
        </p:txBody>
      </p:sp>
      <p:sp>
        <p:nvSpPr>
          <p:cNvPr id="4" name="Slide Number Placeholder 3"/>
          <p:cNvSpPr>
            <a:spLocks noGrp="1"/>
          </p:cNvSpPr>
          <p:nvPr>
            <p:ph type="sldNum" sz="quarter" idx="12"/>
          </p:nvPr>
        </p:nvSpPr>
        <p:spPr/>
        <p:txBody>
          <a:bodyPr/>
          <a:lstStyle/>
          <a:p>
            <a:pPr>
              <a:defRPr/>
            </a:pPr>
            <a:fld id="{63B8F44C-0EDE-4D7D-9086-BD1CF3CE7AF7}" type="slidenum">
              <a:rPr lang="en-US" smtClean="0"/>
              <a:pPr>
                <a:defRPr/>
              </a:pPr>
              <a:t>24</a:t>
            </a:fld>
            <a:endParaRPr lang="en-US"/>
          </a:p>
        </p:txBody>
      </p:sp>
    </p:spTree>
    <p:extLst>
      <p:ext uri="{BB962C8B-B14F-4D97-AF65-F5344CB8AC3E}">
        <p14:creationId xmlns:p14="http://schemas.microsoft.com/office/powerpoint/2010/main" val="3137775673"/>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 and Resources</a:t>
            </a:r>
          </a:p>
        </p:txBody>
      </p:sp>
      <p:sp>
        <p:nvSpPr>
          <p:cNvPr id="3" name="Content Placeholder 2"/>
          <p:cNvSpPr>
            <a:spLocks noGrp="1"/>
          </p:cNvSpPr>
          <p:nvPr>
            <p:ph idx="1"/>
          </p:nvPr>
        </p:nvSpPr>
        <p:spPr>
          <a:xfrm>
            <a:off x="231287" y="1447800"/>
            <a:ext cx="9263062" cy="4953000"/>
          </a:xfrm>
        </p:spPr>
        <p:txBody>
          <a:bodyPr/>
          <a:lstStyle/>
          <a:p>
            <a:pPr marL="514350" indent="-514350">
              <a:buFont typeface="+mj-lt"/>
              <a:buAutoNum type="arabicPeriod" startAt="3"/>
            </a:pPr>
            <a:r>
              <a:rPr lang="en-US" sz="1400" dirty="0"/>
              <a:t>ASM</a:t>
            </a:r>
            <a:r>
              <a:rPr lang="en-US" sz="1600" dirty="0"/>
              <a:t> </a:t>
            </a:r>
            <a:r>
              <a:rPr lang="en-US" sz="1600" dirty="0">
                <a:hlinkClick r:id="rId2"/>
              </a:rPr>
              <a:t>https://asm.ow2.io/</a:t>
            </a:r>
            <a:r>
              <a:rPr lang="en-US" sz="1600" dirty="0"/>
              <a:t> </a:t>
            </a:r>
          </a:p>
          <a:p>
            <a:pPr marL="977900" lvl="1" indent="-514350"/>
            <a:r>
              <a:rPr lang="en-US" sz="1600" dirty="0"/>
              <a:t>Introduction of ASM: </a:t>
            </a:r>
            <a:r>
              <a:rPr lang="en-US" sz="1600" dirty="0">
                <a:hlinkClick r:id="rId3"/>
              </a:rPr>
              <a:t>https://s3-eu-west-1.amazonaws.com/presentations2012/30_presentation.pdf</a:t>
            </a:r>
            <a:r>
              <a:rPr lang="en-US" sz="1600" dirty="0"/>
              <a:t> </a:t>
            </a:r>
          </a:p>
          <a:p>
            <a:pPr marL="514350" indent="-514350">
              <a:buFont typeface="+mj-lt"/>
              <a:buAutoNum type="arabicPeriod" startAt="3"/>
            </a:pPr>
            <a:r>
              <a:rPr lang="en-US" sz="1600" dirty="0"/>
              <a:t>Safety </a:t>
            </a:r>
            <a:r>
              <a:rPr lang="en-US" sz="1600" dirty="0">
                <a:hlinkClick r:id="rId4"/>
              </a:rPr>
              <a:t>https://github.com/pyupio/safety</a:t>
            </a:r>
            <a:r>
              <a:rPr lang="en-US" sz="1600" dirty="0"/>
              <a:t> </a:t>
            </a:r>
          </a:p>
          <a:p>
            <a:pPr marL="514350" indent="-514350">
              <a:buFont typeface="+mj-lt"/>
              <a:buAutoNum type="arabicPeriod" startAt="3"/>
            </a:pPr>
            <a:r>
              <a:rPr lang="en-US" sz="1600" dirty="0" err="1"/>
              <a:t>Pylint</a:t>
            </a:r>
            <a:r>
              <a:rPr lang="en-US" sz="1600" dirty="0"/>
              <a:t> </a:t>
            </a:r>
            <a:r>
              <a:rPr lang="en-US" sz="1600" dirty="0">
                <a:hlinkClick r:id="rId5"/>
              </a:rPr>
              <a:t>https://www.pylint.org/</a:t>
            </a:r>
            <a:r>
              <a:rPr lang="en-US" sz="1600" dirty="0"/>
              <a:t> </a:t>
            </a:r>
          </a:p>
          <a:p>
            <a:pPr marL="514350" indent="-514350">
              <a:buFont typeface="+mj-lt"/>
              <a:buAutoNum type="arabicPeriod" startAt="3"/>
            </a:pPr>
            <a:r>
              <a:rPr lang="en-HK" sz="1600" dirty="0" err="1"/>
              <a:t>FindBugs</a:t>
            </a:r>
            <a:r>
              <a:rPr lang="en-HK" sz="1600" dirty="0"/>
              <a:t> </a:t>
            </a:r>
            <a:r>
              <a:rPr lang="en-HK" sz="1600" dirty="0">
                <a:hlinkClick r:id="rId6"/>
              </a:rPr>
              <a:t>http://findbugs.sourceforge.net/</a:t>
            </a:r>
            <a:r>
              <a:rPr lang="en-HK" sz="1600" dirty="0"/>
              <a:t> </a:t>
            </a:r>
            <a:endParaRPr lang="en-US" sz="1600" dirty="0"/>
          </a:p>
          <a:p>
            <a:pPr marL="514350" indent="-514350">
              <a:buFont typeface="+mj-lt"/>
              <a:buAutoNum type="arabicPeriod" startAt="3"/>
            </a:pPr>
            <a:r>
              <a:rPr lang="en-HK" sz="1600" dirty="0"/>
              <a:t>Bo Jiang, Ye Liu, and W.K. Chan. 2018. </a:t>
            </a:r>
            <a:r>
              <a:rPr lang="en-HK" sz="1600" dirty="0" err="1"/>
              <a:t>ContractFuzzer</a:t>
            </a:r>
            <a:r>
              <a:rPr lang="en-HK" sz="1600" dirty="0"/>
              <a:t>: Fuzzing Smart Contracts for Vulnerability Detection. In Proceedings of the 33rd IEEE/ACM International Conference on Automated Software Engineering (ASE’18), September 3–7, Montpellier, France, 10 pages. </a:t>
            </a:r>
            <a:r>
              <a:rPr lang="en-HK" sz="1600" dirty="0">
                <a:hlinkClick r:id="rId7"/>
              </a:rPr>
              <a:t>https://doi.org/10.1145/3238147.3238177</a:t>
            </a:r>
            <a:r>
              <a:rPr lang="en-HK" sz="1600" dirty="0"/>
              <a:t> </a:t>
            </a:r>
          </a:p>
          <a:p>
            <a:pPr marL="977900" lvl="1" indent="-514350"/>
            <a:r>
              <a:rPr lang="en-HK" sz="1200" dirty="0"/>
              <a:t>Source code: https://github.com/gongbell/ContractFuzzer</a:t>
            </a:r>
            <a:endParaRPr lang="en-US" sz="1200" dirty="0"/>
          </a:p>
          <a:p>
            <a:pPr marL="514350" indent="-514350">
              <a:buFont typeface="+mj-lt"/>
              <a:buAutoNum type="arabicPeriod" startAt="3"/>
            </a:pPr>
            <a:r>
              <a:rPr lang="en-US" sz="1600" dirty="0" err="1"/>
              <a:t>Prasetya</a:t>
            </a:r>
            <a:r>
              <a:rPr lang="en-US" sz="1600" dirty="0"/>
              <a:t> I.S.W.B. (2014) T3, a </a:t>
            </a:r>
            <a:r>
              <a:rPr lang="en-US" sz="1600" dirty="0" err="1"/>
              <a:t>Combinator</a:t>
            </a:r>
            <a:r>
              <a:rPr lang="en-US" sz="1600" dirty="0"/>
              <a:t>-Based Random Testing Tool for Java: Benchmarking. In: </a:t>
            </a:r>
            <a:r>
              <a:rPr lang="en-US" sz="1600" dirty="0" err="1"/>
              <a:t>Vos</a:t>
            </a:r>
            <a:r>
              <a:rPr lang="en-US" sz="1600" dirty="0"/>
              <a:t> T., </a:t>
            </a:r>
            <a:r>
              <a:rPr lang="en-US" sz="1600" dirty="0" err="1"/>
              <a:t>Lakhotia</a:t>
            </a:r>
            <a:r>
              <a:rPr lang="en-US" sz="1600" dirty="0"/>
              <a:t> K., </a:t>
            </a:r>
            <a:r>
              <a:rPr lang="en-US" sz="1600" dirty="0" err="1"/>
              <a:t>Bauersfeld</a:t>
            </a:r>
            <a:r>
              <a:rPr lang="en-US" sz="1600" dirty="0"/>
              <a:t> S. (</a:t>
            </a:r>
            <a:r>
              <a:rPr lang="en-US" sz="1600" dirty="0" err="1"/>
              <a:t>eds</a:t>
            </a:r>
            <a:r>
              <a:rPr lang="en-US" sz="1600" dirty="0"/>
              <a:t>) Future Internet Testing. FITTEST 2013. Lecture Notes in Computer Science, </a:t>
            </a:r>
            <a:r>
              <a:rPr lang="en-US" sz="1600" dirty="0" err="1"/>
              <a:t>vol</a:t>
            </a:r>
            <a:r>
              <a:rPr lang="en-US" sz="1600" dirty="0"/>
              <a:t> 8432. Springer, Cham</a:t>
            </a:r>
          </a:p>
          <a:p>
            <a:pPr marL="514350" indent="-514350">
              <a:buFont typeface="+mj-lt"/>
              <a:buAutoNum type="arabicPeriod" startAt="3"/>
            </a:pPr>
            <a:r>
              <a:rPr lang="en-HK" sz="1600" dirty="0"/>
              <a:t>Fraser G. (2018) A Tutorial on Using and Extending the </a:t>
            </a:r>
            <a:r>
              <a:rPr lang="en-HK" sz="1600" dirty="0" err="1"/>
              <a:t>EvoSuite</a:t>
            </a:r>
            <a:r>
              <a:rPr lang="en-HK" sz="1600" dirty="0"/>
              <a:t> Search-Based Test Generator. In: </a:t>
            </a:r>
            <a:r>
              <a:rPr lang="en-HK" sz="1600" dirty="0" err="1"/>
              <a:t>Colanzi</a:t>
            </a:r>
            <a:r>
              <a:rPr lang="en-HK" sz="1600" dirty="0"/>
              <a:t> T., McMinn P. (</a:t>
            </a:r>
            <a:r>
              <a:rPr lang="en-HK" sz="1600" dirty="0" err="1"/>
              <a:t>eds</a:t>
            </a:r>
            <a:r>
              <a:rPr lang="en-HK" sz="1600" dirty="0"/>
              <a:t>) Search-Based Software Engineering. SSBSE 2018. Lecture Notes in Computer Science, </a:t>
            </a:r>
            <a:r>
              <a:rPr lang="en-HK" sz="1600" dirty="0" err="1"/>
              <a:t>vol</a:t>
            </a:r>
            <a:r>
              <a:rPr lang="en-HK" sz="1600" dirty="0"/>
              <a:t> 11036. Springer, Cham</a:t>
            </a:r>
          </a:p>
          <a:p>
            <a:pPr marL="514350" indent="-514350">
              <a:buFont typeface="+mj-lt"/>
              <a:buAutoNum type="arabicPeriod" startAt="3"/>
            </a:pPr>
            <a:r>
              <a:rPr lang="en-US" sz="1600" dirty="0"/>
              <a:t>Yan Cai, </a:t>
            </a:r>
            <a:r>
              <a:rPr lang="en-US" sz="1600" dirty="0" err="1"/>
              <a:t>Shangru</a:t>
            </a:r>
            <a:r>
              <a:rPr lang="en-US" sz="1600" dirty="0"/>
              <a:t> Wu, W. K. Chan: </a:t>
            </a:r>
            <a:r>
              <a:rPr lang="en-US" sz="1600" dirty="0" err="1"/>
              <a:t>ConLock</a:t>
            </a:r>
            <a:r>
              <a:rPr lang="en-US" sz="1600" dirty="0"/>
              <a:t>: a constraint-based approach to dynamic checking on deadlocks in multithreaded programs. ICSE 2014: 491-502</a:t>
            </a:r>
          </a:p>
          <a:p>
            <a:pPr marL="514350" indent="-514350">
              <a:buFont typeface="+mj-lt"/>
              <a:buAutoNum type="arabicPeriod" startAt="3"/>
            </a:pPr>
            <a:r>
              <a:rPr lang="en-US" sz="1600" dirty="0"/>
              <a:t>Metamorphic Testing of Driverless Cars. By </a:t>
            </a:r>
            <a:r>
              <a:rPr lang="en-US" sz="1600" dirty="0" err="1"/>
              <a:t>Zhi</a:t>
            </a:r>
            <a:r>
              <a:rPr lang="en-US" sz="1600" dirty="0"/>
              <a:t> Quan Zhou, </a:t>
            </a:r>
            <a:r>
              <a:rPr lang="en-US" sz="1600" dirty="0" err="1"/>
              <a:t>Liqun</a:t>
            </a:r>
            <a:r>
              <a:rPr lang="en-US" sz="1600" dirty="0"/>
              <a:t> Sun Communications of the ACM, March 2019, Vol. 62 No. 3, 61-67.</a:t>
            </a:r>
          </a:p>
          <a:p>
            <a:pPr marL="514350" indent="-514350">
              <a:buFont typeface="+mj-lt"/>
              <a:buAutoNum type="arabicPeriod" startAt="3"/>
            </a:pPr>
            <a:r>
              <a:rPr lang="en-US" sz="1600" dirty="0"/>
              <a:t>Matteo </a:t>
            </a:r>
            <a:r>
              <a:rPr lang="en-US" sz="1600" dirty="0" err="1"/>
              <a:t>Brunetto</a:t>
            </a:r>
            <a:r>
              <a:rPr lang="en-US" sz="1600" dirty="0"/>
              <a:t>, Giovanni </a:t>
            </a:r>
            <a:r>
              <a:rPr lang="en-US" sz="1600" dirty="0" err="1"/>
              <a:t>Denaro</a:t>
            </a:r>
            <a:r>
              <a:rPr lang="en-US" sz="1600" dirty="0"/>
              <a:t>, Leonardo </a:t>
            </a:r>
            <a:r>
              <a:rPr lang="en-US" sz="1600" dirty="0" err="1"/>
              <a:t>Mariani</a:t>
            </a:r>
            <a:r>
              <a:rPr lang="en-US" sz="1600" dirty="0"/>
              <a:t>, Mauro </a:t>
            </a:r>
            <a:r>
              <a:rPr lang="en-US" sz="1600" dirty="0" err="1"/>
              <a:t>Pezzè</a:t>
            </a:r>
            <a:r>
              <a:rPr lang="en-US" sz="1600" dirty="0"/>
              <a:t>: On introducing automatic test case generation in practice: A success story and lessons learned. J. Syst. </a:t>
            </a:r>
            <a:r>
              <a:rPr lang="en-US" sz="1600" dirty="0" err="1"/>
              <a:t>Softw</a:t>
            </a:r>
            <a:r>
              <a:rPr lang="en-US" sz="1600" dirty="0"/>
              <a:t>. 176: 110933 (2021)</a:t>
            </a:r>
            <a:br>
              <a:rPr lang="en-US" sz="1600" dirty="0"/>
            </a:br>
            <a:endParaRPr lang="en-US" sz="1600" dirty="0"/>
          </a:p>
          <a:p>
            <a:pPr marL="514350" indent="-514350">
              <a:buFont typeface="+mj-lt"/>
              <a:buAutoNum type="arabicPeriod" startAt="3"/>
            </a:pPr>
            <a:br>
              <a:rPr lang="en-US" sz="1600" dirty="0"/>
            </a:br>
            <a:endParaRPr lang="en-US" sz="1600" dirty="0"/>
          </a:p>
        </p:txBody>
      </p:sp>
      <p:sp>
        <p:nvSpPr>
          <p:cNvPr id="4" name="Slide Number Placeholder 3"/>
          <p:cNvSpPr>
            <a:spLocks noGrp="1"/>
          </p:cNvSpPr>
          <p:nvPr>
            <p:ph type="sldNum" sz="quarter" idx="12"/>
          </p:nvPr>
        </p:nvSpPr>
        <p:spPr/>
        <p:txBody>
          <a:bodyPr/>
          <a:lstStyle/>
          <a:p>
            <a:pPr>
              <a:defRPr/>
            </a:pPr>
            <a:fld id="{63B8F44C-0EDE-4D7D-9086-BD1CF3CE7AF7}" type="slidenum">
              <a:rPr lang="en-US" smtClean="0"/>
              <a:pPr>
                <a:defRPr/>
              </a:pPr>
              <a:t>25</a:t>
            </a:fld>
            <a:endParaRPr lang="en-US" dirty="0"/>
          </a:p>
        </p:txBody>
      </p:sp>
      <p:sp>
        <p:nvSpPr>
          <p:cNvPr id="5" name="Rectangle 1">
            <a:extLst>
              <a:ext uri="{FF2B5EF4-FFF2-40B4-BE49-F238E27FC236}">
                <a16:creationId xmlns:a16="http://schemas.microsoft.com/office/drawing/2014/main" id="{1B463C3B-96F4-44C8-9525-9F64983F6BCA}"/>
              </a:ext>
            </a:extLst>
          </p:cNvPr>
          <p:cNvSpPr>
            <a:spLocks noChangeArrowheads="1"/>
          </p:cNvSpPr>
          <p:nvPr/>
        </p:nvSpPr>
        <p:spPr bwMode="auto">
          <a:xfrm>
            <a:off x="0" y="-123110"/>
            <a:ext cx="65" cy="24622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4572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1" u="none" strike="noStrike" cap="none" normalizeH="0" baseline="0" dirty="0">
              <a:ln>
                <a:noFill/>
              </a:ln>
              <a:solidFill>
                <a:srgbClr val="505B62"/>
              </a:solidFill>
              <a:effectLst/>
              <a:latin typeface="Open Sans"/>
            </a:endParaRPr>
          </a:p>
        </p:txBody>
      </p:sp>
      <p:pic>
        <p:nvPicPr>
          <p:cNvPr id="2050" name="Picture 2" descr="https://dblp.org/img/orcid-mark.12x12.png">
            <a:extLst>
              <a:ext uri="{FF2B5EF4-FFF2-40B4-BE49-F238E27FC236}">
                <a16:creationId xmlns:a16="http://schemas.microsoft.com/office/drawing/2014/main" id="{46C1C950-838C-45BC-B68B-E5F15DC3297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016125" y="-114300"/>
            <a:ext cx="114300" cy="114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8487375"/>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0D8EA-6496-45DB-869D-C6D44AB7F543}"/>
              </a:ext>
            </a:extLst>
          </p:cNvPr>
          <p:cNvSpPr>
            <a:spLocks noGrp="1"/>
          </p:cNvSpPr>
          <p:nvPr>
            <p:ph type="title"/>
          </p:nvPr>
        </p:nvSpPr>
        <p:spPr/>
        <p:txBody>
          <a:bodyPr/>
          <a:lstStyle/>
          <a:p>
            <a:r>
              <a:rPr lang="en-HK" dirty="0"/>
              <a:t>Appendix: Possible Solution for Metamorphic Relations</a:t>
            </a:r>
          </a:p>
        </p:txBody>
      </p:sp>
      <p:sp>
        <p:nvSpPr>
          <p:cNvPr id="3" name="Content Placeholder 2">
            <a:extLst>
              <a:ext uri="{FF2B5EF4-FFF2-40B4-BE49-F238E27FC236}">
                <a16:creationId xmlns:a16="http://schemas.microsoft.com/office/drawing/2014/main" id="{8FCB7B65-7B0E-4A3F-9984-E042BA2BD393}"/>
              </a:ext>
            </a:extLst>
          </p:cNvPr>
          <p:cNvSpPr>
            <a:spLocks noGrp="1"/>
          </p:cNvSpPr>
          <p:nvPr>
            <p:ph idx="1"/>
          </p:nvPr>
        </p:nvSpPr>
        <p:spPr/>
        <p:txBody>
          <a:bodyPr/>
          <a:lstStyle/>
          <a:p>
            <a:pPr marL="342900" lvl="0" indent="-342900" algn="l">
              <a:buFont typeface="Symbol" panose="05050102010706020507" pitchFamily="18" charset="2"/>
              <a:buChar char=""/>
            </a:pPr>
            <a:r>
              <a:rPr lang="en-HK" sz="2800" kern="100" dirty="0">
                <a:solidFill>
                  <a:srgbClr val="000000"/>
                </a:solidFill>
                <a:effectLst/>
                <a:latin typeface="TimesNewRomanPSMT"/>
                <a:ea typeface="DengXian" panose="02010600030101010101" pitchFamily="2" charset="-122"/>
                <a:cs typeface="Times New Roman" panose="02020603050405020304" pitchFamily="18" charset="0"/>
              </a:rPr>
              <a:t>sin(x) = sin(180-x)</a:t>
            </a:r>
            <a:endParaRPr lang="en-HK" sz="2800" kern="100" dirty="0">
              <a:effectLst/>
              <a:latin typeface="DengXian" panose="02010600030101010101" pitchFamily="2" charset="-122"/>
              <a:ea typeface="DengXian" panose="02010600030101010101" pitchFamily="2" charset="-122"/>
              <a:cs typeface="Times New Roman" panose="02020603050405020304" pitchFamily="18" charset="0"/>
            </a:endParaRPr>
          </a:p>
          <a:p>
            <a:pPr marL="342900" lvl="0" indent="-342900" algn="l">
              <a:buFont typeface="Symbol" panose="05050102010706020507" pitchFamily="18" charset="2"/>
              <a:buChar char=""/>
            </a:pPr>
            <a:r>
              <a:rPr lang="en-HK" sz="2800" kern="100" dirty="0">
                <a:solidFill>
                  <a:srgbClr val="000000"/>
                </a:solidFill>
                <a:effectLst/>
                <a:latin typeface="TimesNewRomanPSMT"/>
                <a:ea typeface="DengXian" panose="02010600030101010101" pitchFamily="2" charset="-122"/>
                <a:cs typeface="Times New Roman" panose="02020603050405020304" pitchFamily="18" charset="0"/>
              </a:rPr>
              <a:t>sin(x) = -sin(x+180)</a:t>
            </a:r>
            <a:endParaRPr lang="en-HK" sz="2800" kern="100" dirty="0">
              <a:effectLst/>
              <a:latin typeface="DengXian" panose="02010600030101010101" pitchFamily="2" charset="-122"/>
              <a:ea typeface="DengXian" panose="02010600030101010101" pitchFamily="2" charset="-122"/>
              <a:cs typeface="Times New Roman" panose="02020603050405020304" pitchFamily="18" charset="0"/>
            </a:endParaRPr>
          </a:p>
          <a:p>
            <a:pPr marL="342900" lvl="0" indent="-342900" algn="l">
              <a:buFont typeface="Symbol" panose="05050102010706020507" pitchFamily="18" charset="2"/>
              <a:buChar char=""/>
            </a:pPr>
            <a:r>
              <a:rPr lang="en-HK" sz="2800" kern="100" dirty="0">
                <a:solidFill>
                  <a:srgbClr val="000000"/>
                </a:solidFill>
                <a:effectLst/>
                <a:latin typeface="TimesNewRomanPSMT"/>
                <a:ea typeface="DengXian" panose="02010600030101010101" pitchFamily="2" charset="-122"/>
                <a:cs typeface="Times New Roman" panose="02020603050405020304" pitchFamily="18" charset="0"/>
              </a:rPr>
              <a:t>sin(-x) = -sin(x)</a:t>
            </a:r>
            <a:endParaRPr lang="en-HK" sz="2800" kern="100" dirty="0">
              <a:effectLst/>
              <a:latin typeface="DengXian" panose="02010600030101010101" pitchFamily="2" charset="-122"/>
              <a:ea typeface="DengXian" panose="02010600030101010101" pitchFamily="2" charset="-122"/>
              <a:cs typeface="Times New Roman" panose="02020603050405020304" pitchFamily="18" charset="0"/>
            </a:endParaRPr>
          </a:p>
          <a:p>
            <a:pPr marL="342900" lvl="0" indent="-342900" algn="l">
              <a:buFont typeface="Symbol" panose="05050102010706020507" pitchFamily="18" charset="2"/>
              <a:buChar char=""/>
            </a:pPr>
            <a:r>
              <a:rPr lang="en-HK" sz="2800" kern="100" dirty="0">
                <a:solidFill>
                  <a:srgbClr val="000000"/>
                </a:solidFill>
                <a:effectLst/>
                <a:latin typeface="TimesNewRomanPSMT"/>
                <a:ea typeface="DengXian" panose="02010600030101010101" pitchFamily="2" charset="-122"/>
                <a:cs typeface="Times New Roman" panose="02020603050405020304" pitchFamily="18" charset="0"/>
              </a:rPr>
              <a:t>sin(x) &lt; sin(</a:t>
            </a:r>
            <a:r>
              <a:rPr lang="en-HK" sz="2800" kern="100" dirty="0" err="1">
                <a:solidFill>
                  <a:srgbClr val="000000"/>
                </a:solidFill>
                <a:effectLst/>
                <a:latin typeface="TimesNewRomanPSMT"/>
                <a:ea typeface="DengXian" panose="02010600030101010101" pitchFamily="2" charset="-122"/>
                <a:cs typeface="Times New Roman" panose="02020603050405020304" pitchFamily="18" charset="0"/>
              </a:rPr>
              <a:t>x+y</a:t>
            </a:r>
            <a:r>
              <a:rPr lang="en-HK" sz="2800" kern="100" dirty="0">
                <a:solidFill>
                  <a:srgbClr val="000000"/>
                </a:solidFill>
                <a:effectLst/>
                <a:latin typeface="TimesNewRomanPSMT"/>
                <a:ea typeface="DengXian" panose="02010600030101010101" pitchFamily="2" charset="-122"/>
                <a:cs typeface="Times New Roman" panose="02020603050405020304" pitchFamily="18" charset="0"/>
              </a:rPr>
              <a:t>) if 0 &lt; x &lt; 90-y and y &gt; 0</a:t>
            </a:r>
            <a:endParaRPr lang="en-HK" sz="2800" kern="100" dirty="0">
              <a:effectLst/>
              <a:latin typeface="DengXian" panose="02010600030101010101" pitchFamily="2" charset="-122"/>
              <a:ea typeface="DengXian" panose="02010600030101010101" pitchFamily="2" charset="-122"/>
              <a:cs typeface="Times New Roman" panose="02020603050405020304" pitchFamily="18" charset="0"/>
            </a:endParaRPr>
          </a:p>
          <a:p>
            <a:pPr marL="342900" lvl="0" indent="-342900" algn="l">
              <a:buFont typeface="Symbol" panose="05050102010706020507" pitchFamily="18" charset="2"/>
              <a:buChar char=""/>
            </a:pPr>
            <a:r>
              <a:rPr lang="en-HK" sz="2800" kern="100" dirty="0">
                <a:solidFill>
                  <a:srgbClr val="000000"/>
                </a:solidFill>
                <a:effectLst/>
                <a:latin typeface="TimesNewRomanPSMT"/>
                <a:ea typeface="DengXian" panose="02010600030101010101" pitchFamily="2" charset="-122"/>
                <a:cs typeface="Times New Roman" panose="02020603050405020304" pitchFamily="18" charset="0"/>
              </a:rPr>
              <a:t>|sin(x)*sin(x)| &lt;= |sin(x)|</a:t>
            </a:r>
            <a:endParaRPr lang="en-HK" sz="2800" kern="100" dirty="0">
              <a:effectLst/>
              <a:latin typeface="DengXian" panose="02010600030101010101" pitchFamily="2" charset="-122"/>
              <a:ea typeface="DengXian" panose="02010600030101010101" pitchFamily="2" charset="-122"/>
              <a:cs typeface="Times New Roman" panose="02020603050405020304" pitchFamily="18" charset="0"/>
            </a:endParaRPr>
          </a:p>
          <a:p>
            <a:pPr marL="0" indent="0">
              <a:buNone/>
            </a:pPr>
            <a:endParaRPr lang="en-HK" sz="2800" dirty="0"/>
          </a:p>
        </p:txBody>
      </p:sp>
      <p:sp>
        <p:nvSpPr>
          <p:cNvPr id="4" name="Slide Number Placeholder 3">
            <a:extLst>
              <a:ext uri="{FF2B5EF4-FFF2-40B4-BE49-F238E27FC236}">
                <a16:creationId xmlns:a16="http://schemas.microsoft.com/office/drawing/2014/main" id="{64FE82B4-4A39-4306-A2EB-00D22955071C}"/>
              </a:ext>
            </a:extLst>
          </p:cNvPr>
          <p:cNvSpPr>
            <a:spLocks noGrp="1"/>
          </p:cNvSpPr>
          <p:nvPr>
            <p:ph type="sldNum" sz="quarter" idx="12"/>
          </p:nvPr>
        </p:nvSpPr>
        <p:spPr/>
        <p:txBody>
          <a:bodyPr/>
          <a:lstStyle/>
          <a:p>
            <a:pPr>
              <a:defRPr/>
            </a:pPr>
            <a:fld id="{63B8F44C-0EDE-4D7D-9086-BD1CF3CE7AF7}" type="slidenum">
              <a:rPr lang="en-US" smtClean="0"/>
              <a:pPr>
                <a:defRPr/>
              </a:pPr>
              <a:t>26</a:t>
            </a:fld>
            <a:endParaRPr lang="en-US"/>
          </a:p>
        </p:txBody>
      </p:sp>
      <p:sp>
        <p:nvSpPr>
          <p:cNvPr id="5" name="Isosceles Triangle 4"/>
          <p:cNvSpPr/>
          <p:nvPr/>
        </p:nvSpPr>
        <p:spPr bwMode="auto">
          <a:xfrm>
            <a:off x="912812" y="4724400"/>
            <a:ext cx="1905000" cy="1219200"/>
          </a:xfrm>
          <a:prstGeom prst="triangle">
            <a:avLst/>
          </a:prstGeom>
          <a:ln>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6" name="TextBox 5"/>
          <p:cNvSpPr txBox="1"/>
          <p:nvPr/>
        </p:nvSpPr>
        <p:spPr>
          <a:xfrm flipH="1">
            <a:off x="989012" y="4876800"/>
            <a:ext cx="487681" cy="523220"/>
          </a:xfrm>
          <a:prstGeom prst="rect">
            <a:avLst/>
          </a:prstGeom>
          <a:noFill/>
        </p:spPr>
        <p:txBody>
          <a:bodyPr wrap="square" rtlCol="0">
            <a:spAutoFit/>
          </a:bodyPr>
          <a:lstStyle/>
          <a:p>
            <a:r>
              <a:rPr lang="en-HK" dirty="0"/>
              <a:t>A</a:t>
            </a:r>
          </a:p>
        </p:txBody>
      </p:sp>
      <p:sp>
        <p:nvSpPr>
          <p:cNvPr id="7" name="TextBox 6"/>
          <p:cNvSpPr txBox="1"/>
          <p:nvPr/>
        </p:nvSpPr>
        <p:spPr>
          <a:xfrm flipH="1">
            <a:off x="1674812" y="5910590"/>
            <a:ext cx="487681" cy="523220"/>
          </a:xfrm>
          <a:prstGeom prst="rect">
            <a:avLst/>
          </a:prstGeom>
          <a:noFill/>
        </p:spPr>
        <p:txBody>
          <a:bodyPr wrap="square" rtlCol="0">
            <a:spAutoFit/>
          </a:bodyPr>
          <a:lstStyle/>
          <a:p>
            <a:r>
              <a:rPr lang="en-HK" dirty="0"/>
              <a:t>B</a:t>
            </a:r>
          </a:p>
        </p:txBody>
      </p:sp>
      <p:sp>
        <p:nvSpPr>
          <p:cNvPr id="8" name="TextBox 7"/>
          <p:cNvSpPr txBox="1"/>
          <p:nvPr/>
        </p:nvSpPr>
        <p:spPr>
          <a:xfrm flipH="1">
            <a:off x="2350969" y="4961885"/>
            <a:ext cx="487681" cy="523220"/>
          </a:xfrm>
          <a:prstGeom prst="rect">
            <a:avLst/>
          </a:prstGeom>
          <a:noFill/>
        </p:spPr>
        <p:txBody>
          <a:bodyPr wrap="square" rtlCol="0">
            <a:spAutoFit/>
          </a:bodyPr>
          <a:lstStyle/>
          <a:p>
            <a:r>
              <a:rPr lang="en-HK" dirty="0"/>
              <a:t>C</a:t>
            </a:r>
          </a:p>
        </p:txBody>
      </p:sp>
      <p:sp>
        <p:nvSpPr>
          <p:cNvPr id="9" name="TextBox 8"/>
          <p:cNvSpPr txBox="1"/>
          <p:nvPr/>
        </p:nvSpPr>
        <p:spPr>
          <a:xfrm>
            <a:off x="2402289" y="5519410"/>
            <a:ext cx="343364" cy="523220"/>
          </a:xfrm>
          <a:prstGeom prst="rect">
            <a:avLst/>
          </a:prstGeom>
          <a:noFill/>
        </p:spPr>
        <p:txBody>
          <a:bodyPr wrap="none" rtlCol="0">
            <a:spAutoFit/>
          </a:bodyPr>
          <a:lstStyle/>
          <a:p>
            <a:r>
              <a:rPr lang="en-HK" dirty="0"/>
              <a:t>a</a:t>
            </a:r>
          </a:p>
        </p:txBody>
      </p:sp>
      <p:sp>
        <p:nvSpPr>
          <p:cNvPr id="10" name="TextBox 9"/>
          <p:cNvSpPr txBox="1"/>
          <p:nvPr/>
        </p:nvSpPr>
        <p:spPr>
          <a:xfrm>
            <a:off x="1693630" y="4674825"/>
            <a:ext cx="364202" cy="523220"/>
          </a:xfrm>
          <a:prstGeom prst="rect">
            <a:avLst/>
          </a:prstGeom>
          <a:noFill/>
        </p:spPr>
        <p:txBody>
          <a:bodyPr wrap="none" rtlCol="0">
            <a:spAutoFit/>
          </a:bodyPr>
          <a:lstStyle/>
          <a:p>
            <a:r>
              <a:rPr lang="en-HK" dirty="0"/>
              <a:t>b</a:t>
            </a:r>
          </a:p>
        </p:txBody>
      </p:sp>
      <p:sp>
        <p:nvSpPr>
          <p:cNvPr id="11" name="TextBox 10"/>
          <p:cNvSpPr txBox="1"/>
          <p:nvPr/>
        </p:nvSpPr>
        <p:spPr>
          <a:xfrm>
            <a:off x="1116400" y="5501670"/>
            <a:ext cx="343364" cy="523220"/>
          </a:xfrm>
          <a:prstGeom prst="rect">
            <a:avLst/>
          </a:prstGeom>
          <a:noFill/>
        </p:spPr>
        <p:txBody>
          <a:bodyPr wrap="none" rtlCol="0">
            <a:spAutoFit/>
          </a:bodyPr>
          <a:lstStyle/>
          <a:p>
            <a:r>
              <a:rPr lang="en-HK" dirty="0"/>
              <a:t>c</a:t>
            </a:r>
          </a:p>
        </p:txBody>
      </p:sp>
      <p:sp>
        <p:nvSpPr>
          <p:cNvPr id="12" name="Rectangle 11"/>
          <p:cNvSpPr/>
          <p:nvPr/>
        </p:nvSpPr>
        <p:spPr>
          <a:xfrm>
            <a:off x="3261792" y="5072390"/>
            <a:ext cx="4436856" cy="523220"/>
          </a:xfrm>
          <a:prstGeom prst="rect">
            <a:avLst/>
          </a:prstGeom>
        </p:spPr>
        <p:txBody>
          <a:bodyPr wrap="none">
            <a:spAutoFit/>
          </a:bodyPr>
          <a:lstStyle/>
          <a:p>
            <a:r>
              <a:rPr lang="es-ES" dirty="0">
                <a:solidFill>
                  <a:srgbClr val="000000"/>
                </a:solidFill>
              </a:rPr>
              <a:t>sin(a)/A = sin(b)/B = sin(c)/C</a:t>
            </a:r>
            <a:endParaRPr lang="en-HK" dirty="0"/>
          </a:p>
        </p:txBody>
      </p:sp>
    </p:spTree>
    <p:extLst>
      <p:ext uri="{BB962C8B-B14F-4D97-AF65-F5344CB8AC3E}">
        <p14:creationId xmlns:p14="http://schemas.microsoft.com/office/powerpoint/2010/main" val="247172877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0745C7-A876-401C-B1B7-91475F72B49D}"/>
              </a:ext>
            </a:extLst>
          </p:cNvPr>
          <p:cNvSpPr>
            <a:spLocks noGrp="1"/>
          </p:cNvSpPr>
          <p:nvPr>
            <p:ph type="title"/>
          </p:nvPr>
        </p:nvSpPr>
        <p:spPr>
          <a:xfrm>
            <a:off x="412750" y="266700"/>
            <a:ext cx="9567862" cy="1104900"/>
          </a:xfrm>
        </p:spPr>
        <p:txBody>
          <a:bodyPr/>
          <a:lstStyle/>
          <a:p>
            <a:r>
              <a:rPr lang="en-HK" dirty="0"/>
              <a:t>Exercise 2 on Identification of</a:t>
            </a:r>
            <a:br>
              <a:rPr lang="en-HK" dirty="0"/>
            </a:br>
            <a:r>
              <a:rPr lang="en-HK" dirty="0"/>
              <a:t>Metamorphic Relations</a:t>
            </a:r>
          </a:p>
        </p:txBody>
      </p:sp>
      <p:sp>
        <p:nvSpPr>
          <p:cNvPr id="3" name="Content Placeholder 2">
            <a:extLst>
              <a:ext uri="{FF2B5EF4-FFF2-40B4-BE49-F238E27FC236}">
                <a16:creationId xmlns:a16="http://schemas.microsoft.com/office/drawing/2014/main" id="{35721BB6-A6EE-4441-9E74-18E536F2C367}"/>
              </a:ext>
            </a:extLst>
          </p:cNvPr>
          <p:cNvSpPr>
            <a:spLocks noGrp="1"/>
          </p:cNvSpPr>
          <p:nvPr>
            <p:ph idx="1"/>
          </p:nvPr>
        </p:nvSpPr>
        <p:spPr>
          <a:xfrm>
            <a:off x="412749" y="2171700"/>
            <a:ext cx="9490075" cy="4229100"/>
          </a:xfrm>
        </p:spPr>
        <p:txBody>
          <a:bodyPr/>
          <a:lstStyle/>
          <a:p>
            <a:pPr marL="0" indent="0">
              <a:buNone/>
            </a:pPr>
            <a:r>
              <a:rPr lang="en-HK" sz="2000" dirty="0">
                <a:latin typeface="Courier New" panose="02070309020205020404" pitchFamily="49" charset="0"/>
                <a:cs typeface="Courier New" panose="02070309020205020404" pitchFamily="49" charset="0"/>
              </a:rPr>
              <a:t>Class X {</a:t>
            </a:r>
          </a:p>
          <a:p>
            <a:pPr marL="0" indent="0">
              <a:buNone/>
            </a:pPr>
            <a:r>
              <a:rPr lang="en-HK" sz="2000" dirty="0">
                <a:latin typeface="Courier New" panose="02070309020205020404" pitchFamily="49" charset="0"/>
                <a:cs typeface="Courier New" panose="02070309020205020404" pitchFamily="49" charset="0"/>
              </a:rPr>
              <a:t>   int cards[52]; // a deck of 52 distinct cards</a:t>
            </a:r>
          </a:p>
          <a:p>
            <a:pPr marL="0" indent="0">
              <a:buNone/>
            </a:pPr>
            <a:endParaRPr lang="en-HK" sz="2000" dirty="0">
              <a:latin typeface="Courier New" panose="02070309020205020404" pitchFamily="49" charset="0"/>
              <a:cs typeface="Courier New" panose="02070309020205020404" pitchFamily="49" charset="0"/>
            </a:endParaRPr>
          </a:p>
          <a:p>
            <a:pPr marL="0" indent="0">
              <a:buNone/>
            </a:pPr>
            <a:r>
              <a:rPr lang="en-HK" sz="2000" dirty="0">
                <a:latin typeface="Courier New" panose="02070309020205020404" pitchFamily="49" charset="0"/>
                <a:cs typeface="Courier New" panose="02070309020205020404" pitchFamily="49" charset="0"/>
              </a:rPr>
              <a:t>   public X(int seed); // initialize the cards[] array</a:t>
            </a:r>
          </a:p>
          <a:p>
            <a:pPr marL="0" indent="0">
              <a:buNone/>
            </a:pPr>
            <a:r>
              <a:rPr lang="en-HK" sz="2000" dirty="0">
                <a:latin typeface="Courier New" panose="02070309020205020404" pitchFamily="49" charset="0"/>
                <a:cs typeface="Courier New" panose="02070309020205020404" pitchFamily="49" charset="0"/>
              </a:rPr>
              <a:t>   // use seed to initialize the random number </a:t>
            </a:r>
          </a:p>
          <a:p>
            <a:pPr marL="0" indent="0">
              <a:buNone/>
            </a:pPr>
            <a:r>
              <a:rPr lang="en-HK" sz="2000" dirty="0">
                <a:latin typeface="Courier New" panose="02070309020205020404" pitchFamily="49" charset="0"/>
                <a:cs typeface="Courier New" panose="02070309020205020404" pitchFamily="49" charset="0"/>
              </a:rPr>
              <a:t>   // generator for shuffling cards    </a:t>
            </a:r>
          </a:p>
          <a:p>
            <a:pPr marL="0" indent="0">
              <a:buNone/>
            </a:pPr>
            <a:r>
              <a:rPr lang="en-HK" sz="2000" dirty="0">
                <a:latin typeface="Courier New" panose="02070309020205020404" pitchFamily="49" charset="0"/>
                <a:cs typeface="Courier New" panose="02070309020205020404" pitchFamily="49" charset="0"/>
              </a:rPr>
              <a:t>   public void shuffle(int n); </a:t>
            </a:r>
          </a:p>
          <a:p>
            <a:pPr marL="0" indent="0">
              <a:buNone/>
            </a:pPr>
            <a:r>
              <a:rPr lang="en-HK" sz="2000" dirty="0">
                <a:latin typeface="Courier New" panose="02070309020205020404" pitchFamily="49" charset="0"/>
                <a:cs typeface="Courier New" panose="02070309020205020404" pitchFamily="49" charset="0"/>
              </a:rPr>
              <a:t>    // randomly shuffle the deck of cards for n times</a:t>
            </a:r>
          </a:p>
          <a:p>
            <a:pPr marL="0" indent="0">
              <a:buNone/>
            </a:pPr>
            <a:r>
              <a:rPr lang="en-HK" sz="2000" dirty="0">
                <a:latin typeface="Courier New" panose="02070309020205020404" pitchFamily="49" charset="0"/>
                <a:cs typeface="Courier New" panose="02070309020205020404" pitchFamily="49" charset="0"/>
              </a:rPr>
              <a:t>   public int draw(int </a:t>
            </a:r>
            <a:r>
              <a:rPr lang="en-HK" sz="2000" dirty="0" err="1">
                <a:latin typeface="Courier New" panose="02070309020205020404" pitchFamily="49" charset="0"/>
                <a:cs typeface="Courier New" panose="02070309020205020404" pitchFamily="49" charset="0"/>
              </a:rPr>
              <a:t>i</a:t>
            </a:r>
            <a:r>
              <a:rPr lang="en-HK" sz="2000" dirty="0">
                <a:latin typeface="Courier New" panose="02070309020205020404" pitchFamily="49" charset="0"/>
                <a:cs typeface="Courier New" panose="02070309020205020404" pitchFamily="49" charset="0"/>
              </a:rPr>
              <a:t>); </a:t>
            </a:r>
          </a:p>
          <a:p>
            <a:pPr marL="0" indent="0">
              <a:buNone/>
            </a:pPr>
            <a:r>
              <a:rPr lang="en-HK" sz="2000" dirty="0">
                <a:latin typeface="Courier New" panose="02070309020205020404" pitchFamily="49" charset="0"/>
                <a:cs typeface="Courier New" panose="02070309020205020404" pitchFamily="49" charset="0"/>
              </a:rPr>
              <a:t>   // return cards[</a:t>
            </a:r>
            <a:r>
              <a:rPr lang="en-HK" sz="2000" dirty="0" err="1">
                <a:latin typeface="Courier New" panose="02070309020205020404" pitchFamily="49" charset="0"/>
                <a:cs typeface="Courier New" panose="02070309020205020404" pitchFamily="49" charset="0"/>
              </a:rPr>
              <a:t>i</a:t>
            </a:r>
            <a:r>
              <a:rPr lang="en-HK" sz="2000" dirty="0">
                <a:latin typeface="Courier New" panose="02070309020205020404" pitchFamily="49" charset="0"/>
                <a:cs typeface="Courier New" panose="02070309020205020404" pitchFamily="49" charset="0"/>
              </a:rPr>
              <a:t>], and cards[</a:t>
            </a:r>
            <a:r>
              <a:rPr lang="en-HK" sz="2000" dirty="0" err="1">
                <a:latin typeface="Courier New" panose="02070309020205020404" pitchFamily="49" charset="0"/>
                <a:cs typeface="Courier New" panose="02070309020205020404" pitchFamily="49" charset="0"/>
              </a:rPr>
              <a:t>i</a:t>
            </a:r>
            <a:r>
              <a:rPr lang="en-HK" sz="2000" dirty="0">
                <a:latin typeface="Courier New" panose="02070309020205020404" pitchFamily="49" charset="0"/>
                <a:cs typeface="Courier New" panose="02070309020205020404" pitchFamily="49" charset="0"/>
              </a:rPr>
              <a:t>] is deleted from cards[]</a:t>
            </a:r>
          </a:p>
          <a:p>
            <a:pPr marL="0" indent="0">
              <a:buNone/>
            </a:pPr>
            <a:r>
              <a:rPr lang="en-HK" sz="2000" dirty="0">
                <a:latin typeface="Courier New" panose="02070309020205020404" pitchFamily="49" charset="0"/>
                <a:cs typeface="Courier New" panose="02070309020205020404" pitchFamily="49" charset="0"/>
              </a:rPr>
              <a:t>   // and the size of cards[] is reduced by 1</a:t>
            </a:r>
          </a:p>
          <a:p>
            <a:pPr marL="0" indent="0">
              <a:buNone/>
            </a:pPr>
            <a:r>
              <a:rPr lang="en-HK" sz="2000" dirty="0">
                <a:latin typeface="Courier New" panose="02070309020205020404" pitchFamily="49" charset="0"/>
                <a:cs typeface="Courier New" panose="02070309020205020404" pitchFamily="49" charset="0"/>
              </a:rPr>
              <a:t>}</a:t>
            </a:r>
          </a:p>
        </p:txBody>
      </p:sp>
      <p:sp>
        <p:nvSpPr>
          <p:cNvPr id="4" name="Slide Number Placeholder 3">
            <a:extLst>
              <a:ext uri="{FF2B5EF4-FFF2-40B4-BE49-F238E27FC236}">
                <a16:creationId xmlns:a16="http://schemas.microsoft.com/office/drawing/2014/main" id="{DA876CF4-1230-43E2-96FE-8A683B1F5FB2}"/>
              </a:ext>
            </a:extLst>
          </p:cNvPr>
          <p:cNvSpPr>
            <a:spLocks noGrp="1"/>
          </p:cNvSpPr>
          <p:nvPr>
            <p:ph type="sldNum" sz="quarter" idx="12"/>
          </p:nvPr>
        </p:nvSpPr>
        <p:spPr/>
        <p:txBody>
          <a:bodyPr/>
          <a:lstStyle/>
          <a:p>
            <a:pPr>
              <a:defRPr/>
            </a:pPr>
            <a:fld id="{63B8F44C-0EDE-4D7D-9086-BD1CF3CE7AF7}" type="slidenum">
              <a:rPr lang="en-US" smtClean="0"/>
              <a:pPr>
                <a:defRPr/>
              </a:pPr>
              <a:t>27</a:t>
            </a:fld>
            <a:endParaRPr lang="en-US"/>
          </a:p>
        </p:txBody>
      </p:sp>
      <p:sp>
        <p:nvSpPr>
          <p:cNvPr id="5" name="TextBox 4">
            <a:extLst>
              <a:ext uri="{FF2B5EF4-FFF2-40B4-BE49-F238E27FC236}">
                <a16:creationId xmlns:a16="http://schemas.microsoft.com/office/drawing/2014/main" id="{99B9EEDE-4E18-4651-9005-F2CBB91665DE}"/>
              </a:ext>
            </a:extLst>
          </p:cNvPr>
          <p:cNvSpPr txBox="1"/>
          <p:nvPr/>
        </p:nvSpPr>
        <p:spPr>
          <a:xfrm>
            <a:off x="442264" y="1568423"/>
            <a:ext cx="8768747" cy="523220"/>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HK" dirty="0"/>
              <a:t>Any metamorphic relations you can find to test the class X?</a:t>
            </a:r>
          </a:p>
        </p:txBody>
      </p:sp>
      <p:pic>
        <p:nvPicPr>
          <p:cNvPr id="5124" name="Picture 4" descr="shuffle cardçåçæå°çµæ">
            <a:extLst>
              <a:ext uri="{FF2B5EF4-FFF2-40B4-BE49-F238E27FC236}">
                <a16:creationId xmlns:a16="http://schemas.microsoft.com/office/drawing/2014/main" id="{E7E2A177-3641-4D3D-8204-AD177AE9CF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3643" y="3765662"/>
            <a:ext cx="1309687" cy="87153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FF5A3EA7-901C-42E3-A44E-840F1D35EE0D}"/>
              </a:ext>
            </a:extLst>
          </p:cNvPr>
          <p:cNvPicPr>
            <a:picLocks noChangeAspect="1"/>
          </p:cNvPicPr>
          <p:nvPr/>
        </p:nvPicPr>
        <p:blipFill>
          <a:blip r:embed="rId4"/>
          <a:stretch>
            <a:fillRect/>
          </a:stretch>
        </p:blipFill>
        <p:spPr>
          <a:xfrm>
            <a:off x="7663219" y="5922234"/>
            <a:ext cx="1338604" cy="871537"/>
          </a:xfrm>
          <a:prstGeom prst="rect">
            <a:avLst/>
          </a:prstGeom>
        </p:spPr>
      </p:pic>
      <p:pic>
        <p:nvPicPr>
          <p:cNvPr id="5128" name="Picture 8" descr="a deck of cardsçåçæå°çµæ">
            <a:extLst>
              <a:ext uri="{FF2B5EF4-FFF2-40B4-BE49-F238E27FC236}">
                <a16:creationId xmlns:a16="http://schemas.microsoft.com/office/drawing/2014/main" id="{65373C2E-E2F9-4F72-8FFB-1F1D075450F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82766" y="2254475"/>
            <a:ext cx="1352550" cy="847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32000"/>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0D8EA-6496-45DB-869D-C6D44AB7F543}"/>
              </a:ext>
            </a:extLst>
          </p:cNvPr>
          <p:cNvSpPr>
            <a:spLocks noGrp="1"/>
          </p:cNvSpPr>
          <p:nvPr>
            <p:ph type="title"/>
          </p:nvPr>
        </p:nvSpPr>
        <p:spPr/>
        <p:txBody>
          <a:bodyPr/>
          <a:lstStyle/>
          <a:p>
            <a:r>
              <a:rPr lang="en-HK" dirty="0"/>
              <a:t>Possible Solution for Metamorphic Relations</a:t>
            </a:r>
          </a:p>
        </p:txBody>
      </p:sp>
      <p:sp>
        <p:nvSpPr>
          <p:cNvPr id="3" name="Content Placeholder 2">
            <a:extLst>
              <a:ext uri="{FF2B5EF4-FFF2-40B4-BE49-F238E27FC236}">
                <a16:creationId xmlns:a16="http://schemas.microsoft.com/office/drawing/2014/main" id="{8FCB7B65-7B0E-4A3F-9984-E042BA2BD393}"/>
              </a:ext>
            </a:extLst>
          </p:cNvPr>
          <p:cNvSpPr>
            <a:spLocks noGrp="1"/>
          </p:cNvSpPr>
          <p:nvPr>
            <p:ph idx="1"/>
          </p:nvPr>
        </p:nvSpPr>
        <p:spPr>
          <a:xfrm>
            <a:off x="227012" y="1454888"/>
            <a:ext cx="9448800" cy="4953000"/>
          </a:xfrm>
        </p:spPr>
        <p:txBody>
          <a:bodyPr/>
          <a:lstStyle/>
          <a:p>
            <a:r>
              <a:rPr lang="en-HK" sz="2400" dirty="0"/>
              <a:t>Each instance of X is deterministic as the seed is inputted when the instance is constructed to initialize the random number generator used to shuffle cards.</a:t>
            </a:r>
          </a:p>
          <a:p>
            <a:r>
              <a:rPr lang="en-HK" sz="2400" dirty="0"/>
              <a:t>MR1: For test cases with the same seed, the values returned by different positions should be different.</a:t>
            </a:r>
          </a:p>
          <a:p>
            <a:pPr marL="0" indent="0">
              <a:buNone/>
            </a:pPr>
            <a:r>
              <a:rPr lang="en-HK" sz="2400" dirty="0"/>
              <a:t>       </a:t>
            </a:r>
            <a:r>
              <a:rPr lang="en-HK" sz="1600" kern="1200" dirty="0">
                <a:latin typeface="Courier New" panose="02070309020205020404" pitchFamily="49" charset="0"/>
                <a:cs typeface="Courier New" panose="02070309020205020404" pitchFamily="49" charset="0"/>
              </a:rPr>
              <a:t>Random rand = new Random(); </a:t>
            </a:r>
          </a:p>
          <a:p>
            <a:pPr marL="0" indent="0">
              <a:buNone/>
            </a:pPr>
            <a:r>
              <a:rPr lang="en-HK" sz="1600" kern="1200" dirty="0">
                <a:latin typeface="Courier New" panose="02070309020205020404" pitchFamily="49" charset="0"/>
                <a:cs typeface="Courier New" panose="02070309020205020404" pitchFamily="49" charset="0"/>
              </a:rPr>
              <a:t>       int p1 = </a:t>
            </a:r>
            <a:r>
              <a:rPr lang="en-HK" sz="1600" kern="1200" dirty="0" err="1">
                <a:latin typeface="Courier New" panose="02070309020205020404" pitchFamily="49" charset="0"/>
                <a:cs typeface="Courier New" panose="02070309020205020404" pitchFamily="49" charset="0"/>
              </a:rPr>
              <a:t>rand.nextInt</a:t>
            </a:r>
            <a:r>
              <a:rPr lang="en-HK" sz="1600" kern="1200" dirty="0">
                <a:latin typeface="Courier New" panose="02070309020205020404" pitchFamily="49" charset="0"/>
                <a:cs typeface="Courier New" panose="02070309020205020404" pitchFamily="49" charset="0"/>
              </a:rPr>
              <a:t>(100) + 1; // get a value from 1 to 100</a:t>
            </a:r>
          </a:p>
          <a:p>
            <a:pPr marL="0" indent="0">
              <a:buNone/>
            </a:pPr>
            <a:r>
              <a:rPr lang="en-HK" sz="1600" kern="1200" dirty="0">
                <a:latin typeface="Courier New" panose="02070309020205020404" pitchFamily="49" charset="0"/>
                <a:cs typeface="Courier New" panose="02070309020205020404" pitchFamily="49" charset="0"/>
              </a:rPr>
              <a:t>        int p2 = </a:t>
            </a:r>
            <a:r>
              <a:rPr lang="en-HK" sz="1600" kern="1200" dirty="0" err="1">
                <a:latin typeface="Courier New" panose="02070309020205020404" pitchFamily="49" charset="0"/>
                <a:cs typeface="Courier New" panose="02070309020205020404" pitchFamily="49" charset="0"/>
              </a:rPr>
              <a:t>rand.nextInt</a:t>
            </a:r>
            <a:r>
              <a:rPr lang="en-HK" sz="1600" kern="1200" dirty="0">
                <a:latin typeface="Courier New" panose="02070309020205020404" pitchFamily="49" charset="0"/>
                <a:cs typeface="Courier New" panose="02070309020205020404" pitchFamily="49" charset="0"/>
              </a:rPr>
              <a:t>(100) + 1; // get a value from 1 to 100</a:t>
            </a:r>
          </a:p>
          <a:p>
            <a:pPr marL="0" indent="0">
              <a:buNone/>
            </a:pPr>
            <a:r>
              <a:rPr lang="en-HK" sz="1600" kern="1200" dirty="0">
                <a:latin typeface="Courier New" panose="02070309020205020404" pitchFamily="49" charset="0"/>
                <a:cs typeface="Courier New" panose="02070309020205020404" pitchFamily="49" charset="0"/>
              </a:rPr>
              <a:t>        int s = </a:t>
            </a:r>
            <a:r>
              <a:rPr lang="en-HK" sz="1600" kern="1200" dirty="0" err="1">
                <a:latin typeface="Courier New" panose="02070309020205020404" pitchFamily="49" charset="0"/>
                <a:cs typeface="Courier New" panose="02070309020205020404" pitchFamily="49" charset="0"/>
              </a:rPr>
              <a:t>rand.nextInt</a:t>
            </a:r>
            <a:r>
              <a:rPr lang="en-HK" sz="1600" kern="1200" dirty="0">
                <a:latin typeface="Courier New" panose="02070309020205020404" pitchFamily="49" charset="0"/>
                <a:cs typeface="Courier New" panose="02070309020205020404" pitchFamily="49" charset="0"/>
              </a:rPr>
              <a:t>(100) + 1;</a:t>
            </a:r>
          </a:p>
          <a:p>
            <a:pPr marL="0" indent="0">
              <a:buNone/>
            </a:pPr>
            <a:r>
              <a:rPr lang="en-HK" sz="1600" kern="1200" dirty="0">
                <a:latin typeface="Courier New" panose="02070309020205020404" pitchFamily="49" charset="0"/>
                <a:cs typeface="Courier New" panose="02070309020205020404" pitchFamily="49" charset="0"/>
              </a:rPr>
              <a:t>       X </a:t>
            </a:r>
            <a:r>
              <a:rPr lang="en-HK" sz="1600" kern="1200" dirty="0" err="1">
                <a:latin typeface="Courier New" panose="02070309020205020404" pitchFamily="49" charset="0"/>
                <a:cs typeface="Courier New" panose="02070309020205020404" pitchFamily="49" charset="0"/>
              </a:rPr>
              <a:t>x</a:t>
            </a:r>
            <a:r>
              <a:rPr lang="en-HK" sz="1600" kern="1200" dirty="0">
                <a:latin typeface="Courier New" panose="02070309020205020404" pitchFamily="49" charset="0"/>
                <a:cs typeface="Courier New" panose="02070309020205020404" pitchFamily="49" charset="0"/>
              </a:rPr>
              <a:t> = new X(s);  </a:t>
            </a:r>
            <a:r>
              <a:rPr lang="en-HK" sz="1600" kern="1200" dirty="0" err="1">
                <a:latin typeface="Courier New" panose="02070309020205020404" pitchFamily="49" charset="0"/>
                <a:cs typeface="Courier New" panose="02070309020205020404" pitchFamily="49" charset="0"/>
              </a:rPr>
              <a:t>x.shuffle</a:t>
            </a:r>
            <a:r>
              <a:rPr lang="en-HK" sz="1600" kern="1200" dirty="0">
                <a:latin typeface="Courier New" panose="02070309020205020404" pitchFamily="49" charset="0"/>
                <a:cs typeface="Courier New" panose="02070309020205020404" pitchFamily="49" charset="0"/>
              </a:rPr>
              <a:t>(p1); </a:t>
            </a:r>
          </a:p>
          <a:p>
            <a:pPr marL="0" indent="0">
              <a:buNone/>
            </a:pPr>
            <a:r>
              <a:rPr lang="en-HK" sz="1600" kern="1200" dirty="0">
                <a:latin typeface="Courier New" panose="02070309020205020404" pitchFamily="49" charset="0"/>
                <a:cs typeface="Courier New" panose="02070309020205020404" pitchFamily="49" charset="0"/>
              </a:rPr>
              <a:t>       X y = new Y(s);  </a:t>
            </a:r>
            <a:r>
              <a:rPr lang="en-HK" sz="1600" kern="1200" dirty="0" err="1">
                <a:latin typeface="Courier New" panose="02070309020205020404" pitchFamily="49" charset="0"/>
                <a:cs typeface="Courier New" panose="02070309020205020404" pitchFamily="49" charset="0"/>
              </a:rPr>
              <a:t>y.shuffle</a:t>
            </a:r>
            <a:r>
              <a:rPr lang="en-HK" sz="1600" kern="1200" dirty="0">
                <a:latin typeface="Courier New" panose="02070309020205020404" pitchFamily="49" charset="0"/>
                <a:cs typeface="Courier New" panose="02070309020205020404" pitchFamily="49" charset="0"/>
              </a:rPr>
              <a:t>(p2);</a:t>
            </a:r>
          </a:p>
          <a:p>
            <a:pPr marL="0" indent="0">
              <a:buNone/>
            </a:pPr>
            <a:r>
              <a:rPr lang="en-HK" sz="1600" kern="1200" dirty="0">
                <a:latin typeface="Courier New" panose="02070309020205020404" pitchFamily="49" charset="0"/>
                <a:cs typeface="Courier New" panose="02070309020205020404" pitchFamily="49" charset="0"/>
              </a:rPr>
              <a:t>       // </a:t>
            </a:r>
            <a:r>
              <a:rPr lang="en-HK" sz="1600" kern="1200" dirty="0" err="1">
                <a:latin typeface="Courier New" panose="02070309020205020404" pitchFamily="49" charset="0"/>
                <a:cs typeface="Courier New" panose="02070309020205020404" pitchFamily="49" charset="0"/>
              </a:rPr>
              <a:t>assertNotEquals</a:t>
            </a:r>
            <a:r>
              <a:rPr lang="en-HK" sz="1600" kern="1200" dirty="0">
                <a:latin typeface="Courier New" panose="02070309020205020404" pitchFamily="49" charset="0"/>
                <a:cs typeface="Courier New" panose="02070309020205020404" pitchFamily="49" charset="0"/>
              </a:rPr>
              <a:t>(</a:t>
            </a:r>
            <a:r>
              <a:rPr lang="en-HK" sz="1600" kern="1200" dirty="0" err="1">
                <a:latin typeface="Courier New" panose="02070309020205020404" pitchFamily="49" charset="0"/>
                <a:cs typeface="Courier New" panose="02070309020205020404" pitchFamily="49" charset="0"/>
              </a:rPr>
              <a:t>x.draw</a:t>
            </a:r>
            <a:r>
              <a:rPr lang="en-HK" sz="1600" kern="1200" dirty="0">
                <a:latin typeface="Courier New" panose="02070309020205020404" pitchFamily="49" charset="0"/>
                <a:cs typeface="Courier New" panose="02070309020205020404" pitchFamily="49" charset="0"/>
              </a:rPr>
              <a:t>(0), </a:t>
            </a:r>
            <a:r>
              <a:rPr lang="en-HK" sz="1600" kern="1200" dirty="0" err="1">
                <a:latin typeface="Courier New" panose="02070309020205020404" pitchFamily="49" charset="0"/>
                <a:cs typeface="Courier New" panose="02070309020205020404" pitchFamily="49" charset="0"/>
              </a:rPr>
              <a:t>x.draw</a:t>
            </a:r>
            <a:r>
              <a:rPr lang="en-HK" sz="1600" kern="1200" dirty="0">
                <a:latin typeface="Courier New" panose="02070309020205020404" pitchFamily="49" charset="0"/>
                <a:cs typeface="Courier New" panose="02070309020205020404" pitchFamily="49" charset="0"/>
              </a:rPr>
              <a:t>(0));  // not MR</a:t>
            </a:r>
          </a:p>
          <a:p>
            <a:pPr marL="0" indent="0">
              <a:buNone/>
            </a:pPr>
            <a:r>
              <a:rPr lang="en-HK" sz="1600" kern="1200" dirty="0">
                <a:latin typeface="Courier New" panose="02070309020205020404" pitchFamily="49" charset="0"/>
                <a:cs typeface="Courier New" panose="02070309020205020404" pitchFamily="49" charset="0"/>
              </a:rPr>
              <a:t>       int y1 = </a:t>
            </a:r>
            <a:r>
              <a:rPr lang="en-HK" sz="1600" kern="1200" dirty="0" err="1">
                <a:latin typeface="Courier New" panose="02070309020205020404" pitchFamily="49" charset="0"/>
                <a:cs typeface="Courier New" panose="02070309020205020404" pitchFamily="49" charset="0"/>
              </a:rPr>
              <a:t>y.draw</a:t>
            </a:r>
            <a:r>
              <a:rPr lang="en-HK" sz="1600" kern="1200" dirty="0">
                <a:latin typeface="Courier New" panose="02070309020205020404" pitchFamily="49" charset="0"/>
                <a:cs typeface="Courier New" panose="02070309020205020404" pitchFamily="49" charset="0"/>
              </a:rPr>
              <a:t>(0);  </a:t>
            </a:r>
          </a:p>
          <a:p>
            <a:pPr marL="0" indent="0">
              <a:buNone/>
            </a:pPr>
            <a:r>
              <a:rPr lang="en-HK" sz="1600" kern="1200" dirty="0">
                <a:latin typeface="Courier New" panose="02070309020205020404" pitchFamily="49" charset="0"/>
                <a:cs typeface="Courier New" panose="02070309020205020404" pitchFamily="49" charset="0"/>
              </a:rPr>
              <a:t>       int y2 = </a:t>
            </a:r>
            <a:r>
              <a:rPr lang="en-HK" sz="1600" kern="1200" dirty="0" err="1">
                <a:latin typeface="Courier New" panose="02070309020205020404" pitchFamily="49" charset="0"/>
                <a:cs typeface="Courier New" panose="02070309020205020404" pitchFamily="49" charset="0"/>
              </a:rPr>
              <a:t>y.draw</a:t>
            </a:r>
            <a:r>
              <a:rPr lang="en-HK" sz="1600" kern="1200" dirty="0">
                <a:latin typeface="Courier New" panose="02070309020205020404" pitchFamily="49" charset="0"/>
                <a:cs typeface="Courier New" panose="02070309020205020404" pitchFamily="49" charset="0"/>
              </a:rPr>
              <a:t>(0);</a:t>
            </a:r>
          </a:p>
          <a:p>
            <a:pPr marL="0" indent="0">
              <a:buNone/>
            </a:pPr>
            <a:r>
              <a:rPr lang="en-HK" sz="1600" kern="1200" dirty="0">
                <a:latin typeface="Courier New" panose="02070309020205020404" pitchFamily="49" charset="0"/>
                <a:cs typeface="Courier New" panose="02070309020205020404" pitchFamily="49" charset="0"/>
              </a:rPr>
              <a:t>       int x1 = </a:t>
            </a:r>
            <a:r>
              <a:rPr lang="en-HK" sz="1600" kern="1200" dirty="0" err="1">
                <a:latin typeface="Courier New" panose="02070309020205020404" pitchFamily="49" charset="0"/>
                <a:cs typeface="Courier New" panose="02070309020205020404" pitchFamily="49" charset="0"/>
              </a:rPr>
              <a:t>x.draw</a:t>
            </a:r>
            <a:r>
              <a:rPr lang="en-HK" sz="1600" kern="1200" dirty="0">
                <a:latin typeface="Courier New" panose="02070309020205020404" pitchFamily="49" charset="0"/>
                <a:cs typeface="Courier New" panose="02070309020205020404" pitchFamily="49" charset="0"/>
              </a:rPr>
              <a:t>(0);</a:t>
            </a:r>
          </a:p>
          <a:p>
            <a:pPr marL="0" indent="0">
              <a:buNone/>
            </a:pPr>
            <a:r>
              <a:rPr lang="en-HK" sz="1600" kern="1200" dirty="0">
                <a:latin typeface="Courier New" panose="02070309020205020404" pitchFamily="49" charset="0"/>
                <a:cs typeface="Courier New" panose="02070309020205020404" pitchFamily="49" charset="0"/>
              </a:rPr>
              <a:t>       </a:t>
            </a:r>
            <a:r>
              <a:rPr lang="en-HK" sz="1600" kern="1200" dirty="0" err="1">
                <a:latin typeface="Courier New" panose="02070309020205020404" pitchFamily="49" charset="0"/>
                <a:cs typeface="Courier New" panose="02070309020205020404" pitchFamily="49" charset="0"/>
              </a:rPr>
              <a:t>assertTrue</a:t>
            </a:r>
            <a:r>
              <a:rPr lang="en-HK" sz="1600" kern="1200" dirty="0">
                <a:latin typeface="Courier New" panose="02070309020205020404" pitchFamily="49" charset="0"/>
                <a:cs typeface="Courier New" panose="02070309020205020404" pitchFamily="49" charset="0"/>
              </a:rPr>
              <a:t>( x1 &lt;&gt; y1 || x1 &lt;&gt; y2);</a:t>
            </a:r>
          </a:p>
          <a:p>
            <a:pPr marL="0" indent="0">
              <a:buNone/>
            </a:pPr>
            <a:endParaRPr lang="en-HK" sz="1600" dirty="0">
              <a:latin typeface="Courier New" panose="02070309020205020404" pitchFamily="49" charset="0"/>
              <a:cs typeface="Courier New" panose="02070309020205020404" pitchFamily="49" charset="0"/>
            </a:endParaRPr>
          </a:p>
          <a:p>
            <a:endParaRPr lang="en-HK" sz="2400" dirty="0"/>
          </a:p>
        </p:txBody>
      </p:sp>
      <p:sp>
        <p:nvSpPr>
          <p:cNvPr id="4" name="Slide Number Placeholder 3">
            <a:extLst>
              <a:ext uri="{FF2B5EF4-FFF2-40B4-BE49-F238E27FC236}">
                <a16:creationId xmlns:a16="http://schemas.microsoft.com/office/drawing/2014/main" id="{64FE82B4-4A39-4306-A2EB-00D22955071C}"/>
              </a:ext>
            </a:extLst>
          </p:cNvPr>
          <p:cNvSpPr>
            <a:spLocks noGrp="1"/>
          </p:cNvSpPr>
          <p:nvPr>
            <p:ph type="sldNum" sz="quarter" idx="12"/>
          </p:nvPr>
        </p:nvSpPr>
        <p:spPr/>
        <p:txBody>
          <a:bodyPr/>
          <a:lstStyle/>
          <a:p>
            <a:pPr>
              <a:defRPr/>
            </a:pPr>
            <a:fld id="{63B8F44C-0EDE-4D7D-9086-BD1CF3CE7AF7}" type="slidenum">
              <a:rPr lang="en-US" smtClean="0"/>
              <a:pPr>
                <a:defRPr/>
              </a:pPr>
              <a:t>28</a:t>
            </a:fld>
            <a:endParaRPr lang="en-US"/>
          </a:p>
        </p:txBody>
      </p:sp>
    </p:spTree>
    <p:extLst>
      <p:ext uri="{BB962C8B-B14F-4D97-AF65-F5344CB8AC3E}">
        <p14:creationId xmlns:p14="http://schemas.microsoft.com/office/powerpoint/2010/main" val="733433463"/>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0745C7-A876-401C-B1B7-91475F72B49D}"/>
              </a:ext>
            </a:extLst>
          </p:cNvPr>
          <p:cNvSpPr>
            <a:spLocks noGrp="1"/>
          </p:cNvSpPr>
          <p:nvPr>
            <p:ph type="title"/>
          </p:nvPr>
        </p:nvSpPr>
        <p:spPr>
          <a:xfrm>
            <a:off x="412750" y="266700"/>
            <a:ext cx="9567862" cy="1104900"/>
          </a:xfrm>
        </p:spPr>
        <p:txBody>
          <a:bodyPr/>
          <a:lstStyle/>
          <a:p>
            <a:r>
              <a:rPr lang="en-HK" dirty="0"/>
              <a:t>Exercise 3 on Identification of</a:t>
            </a:r>
            <a:br>
              <a:rPr lang="en-HK" dirty="0"/>
            </a:br>
            <a:r>
              <a:rPr lang="en-HK" dirty="0"/>
              <a:t>Metamorphic Relations</a:t>
            </a:r>
          </a:p>
        </p:txBody>
      </p:sp>
      <p:sp>
        <p:nvSpPr>
          <p:cNvPr id="3" name="Content Placeholder 2">
            <a:extLst>
              <a:ext uri="{FF2B5EF4-FFF2-40B4-BE49-F238E27FC236}">
                <a16:creationId xmlns:a16="http://schemas.microsoft.com/office/drawing/2014/main" id="{35721BB6-A6EE-4441-9E74-18E536F2C367}"/>
              </a:ext>
            </a:extLst>
          </p:cNvPr>
          <p:cNvSpPr>
            <a:spLocks noGrp="1"/>
          </p:cNvSpPr>
          <p:nvPr>
            <p:ph idx="1"/>
          </p:nvPr>
        </p:nvSpPr>
        <p:spPr>
          <a:xfrm>
            <a:off x="412749" y="2171700"/>
            <a:ext cx="9490075" cy="4229100"/>
          </a:xfrm>
        </p:spPr>
        <p:txBody>
          <a:bodyPr/>
          <a:lstStyle/>
          <a:p>
            <a:pPr marL="0" indent="0">
              <a:buNone/>
            </a:pPr>
            <a:r>
              <a:rPr lang="en-HK" sz="2000" dirty="0">
                <a:latin typeface="Courier New" panose="02070309020205020404" pitchFamily="49" charset="0"/>
                <a:cs typeface="Courier New" panose="02070309020205020404" pitchFamily="49" charset="0"/>
              </a:rPr>
              <a:t>Class Y {</a:t>
            </a:r>
          </a:p>
          <a:p>
            <a:pPr marL="0" indent="0">
              <a:buNone/>
            </a:pPr>
            <a:r>
              <a:rPr lang="en-HK" sz="2000" dirty="0">
                <a:latin typeface="Courier New" panose="02070309020205020404" pitchFamily="49" charset="0"/>
                <a:cs typeface="Courier New" panose="02070309020205020404" pitchFamily="49" charset="0"/>
              </a:rPr>
              <a:t>   int cards[52]; // a deck of 52 distinct cards</a:t>
            </a:r>
          </a:p>
          <a:p>
            <a:pPr marL="0" indent="0">
              <a:buNone/>
            </a:pPr>
            <a:endParaRPr lang="en-HK" sz="2000" dirty="0">
              <a:latin typeface="Courier New" panose="02070309020205020404" pitchFamily="49" charset="0"/>
              <a:cs typeface="Courier New" panose="02070309020205020404" pitchFamily="49" charset="0"/>
            </a:endParaRPr>
          </a:p>
          <a:p>
            <a:pPr marL="0" indent="0">
              <a:buNone/>
            </a:pPr>
            <a:r>
              <a:rPr lang="en-HK" sz="2000" dirty="0">
                <a:latin typeface="Courier New" panose="02070309020205020404" pitchFamily="49" charset="0"/>
                <a:cs typeface="Courier New" panose="02070309020205020404" pitchFamily="49" charset="0"/>
              </a:rPr>
              <a:t>   public X(); // initialize the cards[] array</a:t>
            </a:r>
          </a:p>
          <a:p>
            <a:pPr marL="0" indent="0">
              <a:buNone/>
            </a:pPr>
            <a:r>
              <a:rPr lang="en-HK" sz="2000" dirty="0">
                <a:latin typeface="Courier New" panose="02070309020205020404" pitchFamily="49" charset="0"/>
                <a:cs typeface="Courier New" panose="02070309020205020404" pitchFamily="49" charset="0"/>
              </a:rPr>
              <a:t>   // internally initialize the random number </a:t>
            </a:r>
          </a:p>
          <a:p>
            <a:pPr marL="0" indent="0">
              <a:buNone/>
            </a:pPr>
            <a:r>
              <a:rPr lang="en-HK" sz="2000" dirty="0">
                <a:latin typeface="Courier New" panose="02070309020205020404" pitchFamily="49" charset="0"/>
                <a:cs typeface="Courier New" panose="02070309020205020404" pitchFamily="49" charset="0"/>
              </a:rPr>
              <a:t>   // generator for shuffling cards </a:t>
            </a:r>
          </a:p>
          <a:p>
            <a:pPr marL="0" indent="0">
              <a:buNone/>
            </a:pPr>
            <a:r>
              <a:rPr lang="en-HK" sz="2000" dirty="0">
                <a:latin typeface="Courier New" panose="02070309020205020404" pitchFamily="49" charset="0"/>
                <a:cs typeface="Courier New" panose="02070309020205020404" pitchFamily="49" charset="0"/>
              </a:rPr>
              <a:t>   public void shuffle(int n); </a:t>
            </a:r>
          </a:p>
          <a:p>
            <a:pPr marL="0" indent="0">
              <a:buNone/>
            </a:pPr>
            <a:r>
              <a:rPr lang="en-HK" sz="2000" dirty="0">
                <a:latin typeface="Courier New" panose="02070309020205020404" pitchFamily="49" charset="0"/>
                <a:cs typeface="Courier New" panose="02070309020205020404" pitchFamily="49" charset="0"/>
              </a:rPr>
              <a:t>    // randomly shuffle the deck of cards for n times</a:t>
            </a:r>
          </a:p>
          <a:p>
            <a:pPr marL="0" indent="0">
              <a:buNone/>
            </a:pPr>
            <a:r>
              <a:rPr lang="en-HK" sz="2000" dirty="0">
                <a:latin typeface="Courier New" panose="02070309020205020404" pitchFamily="49" charset="0"/>
                <a:cs typeface="Courier New" panose="02070309020205020404" pitchFamily="49" charset="0"/>
              </a:rPr>
              <a:t>   public int draw(int </a:t>
            </a:r>
            <a:r>
              <a:rPr lang="en-HK" sz="2000" dirty="0" err="1">
                <a:latin typeface="Courier New" panose="02070309020205020404" pitchFamily="49" charset="0"/>
                <a:cs typeface="Courier New" panose="02070309020205020404" pitchFamily="49" charset="0"/>
              </a:rPr>
              <a:t>i</a:t>
            </a:r>
            <a:r>
              <a:rPr lang="en-HK" sz="2000" dirty="0">
                <a:latin typeface="Courier New" panose="02070309020205020404" pitchFamily="49" charset="0"/>
                <a:cs typeface="Courier New" panose="02070309020205020404" pitchFamily="49" charset="0"/>
              </a:rPr>
              <a:t>); </a:t>
            </a:r>
          </a:p>
          <a:p>
            <a:pPr marL="0" indent="0">
              <a:buNone/>
            </a:pPr>
            <a:r>
              <a:rPr lang="en-HK" sz="2000" dirty="0">
                <a:latin typeface="Courier New" panose="02070309020205020404" pitchFamily="49" charset="0"/>
                <a:cs typeface="Courier New" panose="02070309020205020404" pitchFamily="49" charset="0"/>
              </a:rPr>
              <a:t>   // return cards[</a:t>
            </a:r>
            <a:r>
              <a:rPr lang="en-HK" sz="2000" dirty="0" err="1">
                <a:latin typeface="Courier New" panose="02070309020205020404" pitchFamily="49" charset="0"/>
                <a:cs typeface="Courier New" panose="02070309020205020404" pitchFamily="49" charset="0"/>
              </a:rPr>
              <a:t>i</a:t>
            </a:r>
            <a:r>
              <a:rPr lang="en-HK" sz="2000" dirty="0">
                <a:latin typeface="Courier New" panose="02070309020205020404" pitchFamily="49" charset="0"/>
                <a:cs typeface="Courier New" panose="02070309020205020404" pitchFamily="49" charset="0"/>
              </a:rPr>
              <a:t>], and cards[</a:t>
            </a:r>
            <a:r>
              <a:rPr lang="en-HK" sz="2000" dirty="0" err="1">
                <a:latin typeface="Courier New" panose="02070309020205020404" pitchFamily="49" charset="0"/>
                <a:cs typeface="Courier New" panose="02070309020205020404" pitchFamily="49" charset="0"/>
              </a:rPr>
              <a:t>i</a:t>
            </a:r>
            <a:r>
              <a:rPr lang="en-HK" sz="2000" dirty="0">
                <a:latin typeface="Courier New" panose="02070309020205020404" pitchFamily="49" charset="0"/>
                <a:cs typeface="Courier New" panose="02070309020205020404" pitchFamily="49" charset="0"/>
              </a:rPr>
              <a:t>] is deleted from cards[]</a:t>
            </a:r>
          </a:p>
          <a:p>
            <a:pPr marL="0" indent="0">
              <a:buNone/>
            </a:pPr>
            <a:r>
              <a:rPr lang="en-HK" sz="2000" dirty="0">
                <a:latin typeface="Courier New" panose="02070309020205020404" pitchFamily="49" charset="0"/>
                <a:cs typeface="Courier New" panose="02070309020205020404" pitchFamily="49" charset="0"/>
              </a:rPr>
              <a:t>   // and the size of cards[] is reduced by 1</a:t>
            </a:r>
          </a:p>
          <a:p>
            <a:pPr marL="0" indent="0">
              <a:buNone/>
            </a:pPr>
            <a:r>
              <a:rPr lang="en-HK" sz="2000" dirty="0">
                <a:latin typeface="Courier New" panose="02070309020205020404" pitchFamily="49" charset="0"/>
                <a:cs typeface="Courier New" panose="02070309020205020404" pitchFamily="49" charset="0"/>
              </a:rPr>
              <a:t>}</a:t>
            </a:r>
          </a:p>
        </p:txBody>
      </p:sp>
      <p:sp>
        <p:nvSpPr>
          <p:cNvPr id="4" name="Slide Number Placeholder 3">
            <a:extLst>
              <a:ext uri="{FF2B5EF4-FFF2-40B4-BE49-F238E27FC236}">
                <a16:creationId xmlns:a16="http://schemas.microsoft.com/office/drawing/2014/main" id="{DA876CF4-1230-43E2-96FE-8A683B1F5FB2}"/>
              </a:ext>
            </a:extLst>
          </p:cNvPr>
          <p:cNvSpPr>
            <a:spLocks noGrp="1"/>
          </p:cNvSpPr>
          <p:nvPr>
            <p:ph type="sldNum" sz="quarter" idx="12"/>
          </p:nvPr>
        </p:nvSpPr>
        <p:spPr/>
        <p:txBody>
          <a:bodyPr/>
          <a:lstStyle/>
          <a:p>
            <a:pPr>
              <a:defRPr/>
            </a:pPr>
            <a:fld id="{63B8F44C-0EDE-4D7D-9086-BD1CF3CE7AF7}" type="slidenum">
              <a:rPr lang="en-US" smtClean="0"/>
              <a:pPr>
                <a:defRPr/>
              </a:pPr>
              <a:t>29</a:t>
            </a:fld>
            <a:endParaRPr lang="en-US"/>
          </a:p>
        </p:txBody>
      </p:sp>
      <p:sp>
        <p:nvSpPr>
          <p:cNvPr id="5" name="TextBox 4">
            <a:extLst>
              <a:ext uri="{FF2B5EF4-FFF2-40B4-BE49-F238E27FC236}">
                <a16:creationId xmlns:a16="http://schemas.microsoft.com/office/drawing/2014/main" id="{99B9EEDE-4E18-4651-9005-F2CBB91665DE}"/>
              </a:ext>
            </a:extLst>
          </p:cNvPr>
          <p:cNvSpPr txBox="1"/>
          <p:nvPr/>
        </p:nvSpPr>
        <p:spPr>
          <a:xfrm>
            <a:off x="442264" y="1568423"/>
            <a:ext cx="8768747" cy="523220"/>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HK" dirty="0"/>
              <a:t>Any metamorphic relations you can find to test the class Y?</a:t>
            </a:r>
          </a:p>
        </p:txBody>
      </p:sp>
      <p:pic>
        <p:nvPicPr>
          <p:cNvPr id="9" name="Picture 8">
            <a:extLst>
              <a:ext uri="{FF2B5EF4-FFF2-40B4-BE49-F238E27FC236}">
                <a16:creationId xmlns:a16="http://schemas.microsoft.com/office/drawing/2014/main" id="{FF5A3EA7-901C-42E3-A44E-840F1D35EE0D}"/>
              </a:ext>
            </a:extLst>
          </p:cNvPr>
          <p:cNvPicPr>
            <a:picLocks noChangeAspect="1"/>
          </p:cNvPicPr>
          <p:nvPr/>
        </p:nvPicPr>
        <p:blipFill>
          <a:blip r:embed="rId3"/>
          <a:stretch>
            <a:fillRect/>
          </a:stretch>
        </p:blipFill>
        <p:spPr>
          <a:xfrm>
            <a:off x="7663219" y="5922234"/>
            <a:ext cx="1338604" cy="871537"/>
          </a:xfrm>
          <a:prstGeom prst="rect">
            <a:avLst/>
          </a:prstGeom>
        </p:spPr>
      </p:pic>
      <p:pic>
        <p:nvPicPr>
          <p:cNvPr id="5128" name="Picture 8" descr="a deck of cardsçåçæå°çµæ">
            <a:extLst>
              <a:ext uri="{FF2B5EF4-FFF2-40B4-BE49-F238E27FC236}">
                <a16:creationId xmlns:a16="http://schemas.microsoft.com/office/drawing/2014/main" id="{65373C2E-E2F9-4F72-8FFB-1F1D075450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82766" y="2254475"/>
            <a:ext cx="1352550" cy="84772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descr="shuffle cardçåçæå°çµæ">
            <a:extLst>
              <a:ext uri="{FF2B5EF4-FFF2-40B4-BE49-F238E27FC236}">
                <a16:creationId xmlns:a16="http://schemas.microsoft.com/office/drawing/2014/main" id="{A8FD63CA-312D-4EEA-89C6-419BEB290A2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353643" y="3765662"/>
            <a:ext cx="1309687" cy="8715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7436848"/>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0D8EA-6496-45DB-869D-C6D44AB7F543}"/>
              </a:ext>
            </a:extLst>
          </p:cNvPr>
          <p:cNvSpPr>
            <a:spLocks noGrp="1"/>
          </p:cNvSpPr>
          <p:nvPr>
            <p:ph type="title"/>
          </p:nvPr>
        </p:nvSpPr>
        <p:spPr/>
        <p:txBody>
          <a:bodyPr/>
          <a:lstStyle/>
          <a:p>
            <a:r>
              <a:rPr lang="en-HK" dirty="0"/>
              <a:t>Possible Solution for Metamorphic Relations</a:t>
            </a:r>
          </a:p>
        </p:txBody>
      </p:sp>
      <p:sp>
        <p:nvSpPr>
          <p:cNvPr id="3" name="Content Placeholder 2">
            <a:extLst>
              <a:ext uri="{FF2B5EF4-FFF2-40B4-BE49-F238E27FC236}">
                <a16:creationId xmlns:a16="http://schemas.microsoft.com/office/drawing/2014/main" id="{8FCB7B65-7B0E-4A3F-9984-E042BA2BD393}"/>
              </a:ext>
            </a:extLst>
          </p:cNvPr>
          <p:cNvSpPr>
            <a:spLocks noGrp="1"/>
          </p:cNvSpPr>
          <p:nvPr>
            <p:ph idx="1"/>
          </p:nvPr>
        </p:nvSpPr>
        <p:spPr>
          <a:xfrm>
            <a:off x="303212" y="1465521"/>
            <a:ext cx="9339262" cy="4953000"/>
          </a:xfrm>
        </p:spPr>
        <p:txBody>
          <a:bodyPr/>
          <a:lstStyle/>
          <a:p>
            <a:pPr marL="0" indent="0">
              <a:buNone/>
            </a:pPr>
            <a:r>
              <a:rPr lang="en-HK" sz="2000" dirty="0"/>
              <a:t>MR2. Two test cases using the same seed. They shuffle the deck for p and q times, respectively. For each test case, call draw(0) 52 times and sum up the returned values. The sums computed for the two test cases should be the same. </a:t>
            </a:r>
          </a:p>
          <a:p>
            <a:pPr marL="228600" indent="-228600">
              <a:buAutoNum type="arabicPeriod"/>
            </a:pPr>
            <a:endParaRPr lang="en-HK" sz="1600" dirty="0"/>
          </a:p>
          <a:p>
            <a:pPr marL="0" indent="0">
              <a:buNone/>
            </a:pPr>
            <a:r>
              <a:rPr lang="en-HK" sz="1600" dirty="0">
                <a:latin typeface="Courier New" panose="02070309020205020404" pitchFamily="49" charset="0"/>
                <a:cs typeface="Courier New" panose="02070309020205020404" pitchFamily="49" charset="0"/>
              </a:rPr>
              <a:t>       </a:t>
            </a:r>
            <a:r>
              <a:rPr lang="en-HK" sz="1600" kern="1200" dirty="0">
                <a:latin typeface="Courier New" panose="02070309020205020404" pitchFamily="49" charset="0"/>
                <a:cs typeface="Courier New" panose="02070309020205020404" pitchFamily="49" charset="0"/>
              </a:rPr>
              <a:t>Random rand = new Random(); </a:t>
            </a:r>
          </a:p>
          <a:p>
            <a:pPr marL="0" indent="0">
              <a:buNone/>
            </a:pPr>
            <a:r>
              <a:rPr lang="en-HK" sz="1600" kern="1200" dirty="0">
                <a:latin typeface="Courier New" panose="02070309020205020404" pitchFamily="49" charset="0"/>
                <a:cs typeface="Courier New" panose="02070309020205020404" pitchFamily="49" charset="0"/>
              </a:rPr>
              <a:t>       int p = </a:t>
            </a:r>
            <a:r>
              <a:rPr lang="en-HK" sz="1600" kern="1200" dirty="0" err="1">
                <a:latin typeface="Courier New" panose="02070309020205020404" pitchFamily="49" charset="0"/>
                <a:cs typeface="Courier New" panose="02070309020205020404" pitchFamily="49" charset="0"/>
              </a:rPr>
              <a:t>rand.nextInt</a:t>
            </a:r>
            <a:r>
              <a:rPr lang="en-HK" sz="1600" kern="1200" dirty="0">
                <a:latin typeface="Courier New" panose="02070309020205020404" pitchFamily="49" charset="0"/>
                <a:cs typeface="Courier New" panose="02070309020205020404" pitchFamily="49" charset="0"/>
              </a:rPr>
              <a:t>(100) + 1; // get a value from 1 to 100</a:t>
            </a:r>
          </a:p>
          <a:p>
            <a:pPr marL="0" indent="0">
              <a:buNone/>
            </a:pPr>
            <a:r>
              <a:rPr lang="en-HK" sz="1600" kern="1200" dirty="0">
                <a:latin typeface="Courier New" panose="02070309020205020404" pitchFamily="49" charset="0"/>
                <a:cs typeface="Courier New" panose="02070309020205020404" pitchFamily="49" charset="0"/>
              </a:rPr>
              <a:t>       int s = </a:t>
            </a:r>
            <a:r>
              <a:rPr lang="en-HK" sz="1600" kern="1200" dirty="0" err="1">
                <a:latin typeface="Courier New" panose="02070309020205020404" pitchFamily="49" charset="0"/>
                <a:cs typeface="Courier New" panose="02070309020205020404" pitchFamily="49" charset="0"/>
              </a:rPr>
              <a:t>rand.nextInt</a:t>
            </a:r>
            <a:r>
              <a:rPr lang="en-HK" sz="1600" kern="1200" dirty="0">
                <a:latin typeface="Courier New" panose="02070309020205020404" pitchFamily="49" charset="0"/>
                <a:cs typeface="Courier New" panose="02070309020205020404" pitchFamily="49" charset="0"/>
              </a:rPr>
              <a:t>(100) + 1;</a:t>
            </a:r>
          </a:p>
          <a:p>
            <a:pPr marL="0" indent="0">
              <a:buNone/>
            </a:pPr>
            <a:r>
              <a:rPr lang="en-HK" sz="1600" dirty="0">
                <a:latin typeface="Courier New" panose="02070309020205020404" pitchFamily="49" charset="0"/>
                <a:cs typeface="Courier New" panose="02070309020205020404" pitchFamily="49" charset="0"/>
              </a:rPr>
              <a:t>       int </a:t>
            </a:r>
            <a:r>
              <a:rPr lang="en-HK" sz="1600" dirty="0" err="1">
                <a:latin typeface="Courier New" panose="02070309020205020404" pitchFamily="49" charset="0"/>
                <a:cs typeface="Courier New" panose="02070309020205020404" pitchFamily="49" charset="0"/>
              </a:rPr>
              <a:t>sum_x</a:t>
            </a:r>
            <a:r>
              <a:rPr lang="en-HK" sz="1600" dirty="0">
                <a:latin typeface="Courier New" panose="02070309020205020404" pitchFamily="49" charset="0"/>
                <a:cs typeface="Courier New" panose="02070309020205020404" pitchFamily="49" charset="0"/>
              </a:rPr>
              <a:t> = 0; X </a:t>
            </a:r>
            <a:r>
              <a:rPr lang="en-HK" sz="1600" dirty="0" err="1">
                <a:latin typeface="Courier New" panose="02070309020205020404" pitchFamily="49" charset="0"/>
                <a:cs typeface="Courier New" panose="02070309020205020404" pitchFamily="49" charset="0"/>
              </a:rPr>
              <a:t>x</a:t>
            </a:r>
            <a:r>
              <a:rPr lang="en-HK" sz="1600" dirty="0">
                <a:latin typeface="Courier New" panose="02070309020205020404" pitchFamily="49" charset="0"/>
                <a:cs typeface="Courier New" panose="02070309020205020404" pitchFamily="49" charset="0"/>
              </a:rPr>
              <a:t> = new X(s); </a:t>
            </a:r>
            <a:r>
              <a:rPr lang="en-HK" sz="1600" dirty="0" err="1">
                <a:latin typeface="Courier New" panose="02070309020205020404" pitchFamily="49" charset="0"/>
                <a:cs typeface="Courier New" panose="02070309020205020404" pitchFamily="49" charset="0"/>
              </a:rPr>
              <a:t>x.shuffle</a:t>
            </a:r>
            <a:r>
              <a:rPr lang="en-HK" sz="1600" dirty="0">
                <a:latin typeface="Courier New" panose="02070309020205020404" pitchFamily="49" charset="0"/>
                <a:cs typeface="Courier New" panose="02070309020205020404" pitchFamily="49" charset="0"/>
              </a:rPr>
              <a:t>(p); </a:t>
            </a:r>
          </a:p>
          <a:p>
            <a:pPr marL="0" indent="0">
              <a:buNone/>
            </a:pPr>
            <a:r>
              <a:rPr lang="en-HK" sz="1600" dirty="0">
                <a:latin typeface="Courier New" panose="02070309020205020404" pitchFamily="49" charset="0"/>
                <a:cs typeface="Courier New" panose="02070309020205020404" pitchFamily="49" charset="0"/>
              </a:rPr>
              <a:t>       for (int </a:t>
            </a:r>
            <a:r>
              <a:rPr lang="en-HK" sz="1600" dirty="0" err="1">
                <a:latin typeface="Courier New" panose="02070309020205020404" pitchFamily="49" charset="0"/>
                <a:cs typeface="Courier New" panose="02070309020205020404" pitchFamily="49" charset="0"/>
              </a:rPr>
              <a:t>i</a:t>
            </a:r>
            <a:r>
              <a:rPr lang="en-HK" sz="1600" dirty="0">
                <a:latin typeface="Courier New" panose="02070309020205020404" pitchFamily="49" charset="0"/>
                <a:cs typeface="Courier New" panose="02070309020205020404" pitchFamily="49" charset="0"/>
              </a:rPr>
              <a:t>=0;i&lt;52;i++) </a:t>
            </a:r>
            <a:r>
              <a:rPr lang="en-HK" sz="1600" dirty="0" err="1">
                <a:latin typeface="Courier New" panose="02070309020205020404" pitchFamily="49" charset="0"/>
                <a:cs typeface="Courier New" panose="02070309020205020404" pitchFamily="49" charset="0"/>
              </a:rPr>
              <a:t>sum_x</a:t>
            </a:r>
            <a:r>
              <a:rPr lang="en-HK" sz="1600" dirty="0">
                <a:latin typeface="Courier New" panose="02070309020205020404" pitchFamily="49" charset="0"/>
                <a:cs typeface="Courier New" panose="02070309020205020404" pitchFamily="49" charset="0"/>
              </a:rPr>
              <a:t> += </a:t>
            </a:r>
            <a:r>
              <a:rPr lang="en-HK" sz="1600" dirty="0" err="1">
                <a:latin typeface="Courier New" panose="02070309020205020404" pitchFamily="49" charset="0"/>
                <a:cs typeface="Courier New" panose="02070309020205020404" pitchFamily="49" charset="0"/>
              </a:rPr>
              <a:t>x.draw</a:t>
            </a:r>
            <a:r>
              <a:rPr lang="en-HK" sz="1600" dirty="0">
                <a:latin typeface="Courier New" panose="02070309020205020404" pitchFamily="49" charset="0"/>
                <a:cs typeface="Courier New" panose="02070309020205020404" pitchFamily="49" charset="0"/>
              </a:rPr>
              <a:t>(0);</a:t>
            </a:r>
          </a:p>
          <a:p>
            <a:pPr marL="0" indent="0">
              <a:buNone/>
            </a:pPr>
            <a:r>
              <a:rPr lang="en-HK" sz="1600" dirty="0">
                <a:latin typeface="Courier New" panose="02070309020205020404" pitchFamily="49" charset="0"/>
                <a:cs typeface="Courier New" panose="02070309020205020404" pitchFamily="49" charset="0"/>
              </a:rPr>
              <a:t>       int </a:t>
            </a:r>
            <a:r>
              <a:rPr lang="en-HK" sz="1600" dirty="0" err="1">
                <a:latin typeface="Courier New" panose="02070309020205020404" pitchFamily="49" charset="0"/>
                <a:cs typeface="Courier New" panose="02070309020205020404" pitchFamily="49" charset="0"/>
              </a:rPr>
              <a:t>sum_y</a:t>
            </a:r>
            <a:r>
              <a:rPr lang="en-HK" sz="1600" dirty="0">
                <a:latin typeface="Courier New" panose="02070309020205020404" pitchFamily="49" charset="0"/>
                <a:cs typeface="Courier New" panose="02070309020205020404" pitchFamily="49" charset="0"/>
              </a:rPr>
              <a:t> = 0; X y = new X(s); </a:t>
            </a:r>
            <a:r>
              <a:rPr lang="en-HK" sz="1600" dirty="0" err="1">
                <a:latin typeface="Courier New" panose="02070309020205020404" pitchFamily="49" charset="0"/>
                <a:cs typeface="Courier New" panose="02070309020205020404" pitchFamily="49" charset="0"/>
              </a:rPr>
              <a:t>x.shuffle</a:t>
            </a:r>
            <a:r>
              <a:rPr lang="en-HK" sz="1600" dirty="0">
                <a:latin typeface="Courier New" panose="02070309020205020404" pitchFamily="49" charset="0"/>
                <a:cs typeface="Courier New" panose="02070309020205020404" pitchFamily="49" charset="0"/>
              </a:rPr>
              <a:t>(p*p); </a:t>
            </a:r>
          </a:p>
          <a:p>
            <a:pPr marL="0" indent="0">
              <a:buNone/>
            </a:pPr>
            <a:r>
              <a:rPr lang="en-HK" sz="1600" dirty="0">
                <a:latin typeface="Courier New" panose="02070309020205020404" pitchFamily="49" charset="0"/>
                <a:cs typeface="Courier New" panose="02070309020205020404" pitchFamily="49" charset="0"/>
              </a:rPr>
              <a:t>       for (int </a:t>
            </a:r>
            <a:r>
              <a:rPr lang="en-HK" sz="1600" dirty="0" err="1">
                <a:latin typeface="Courier New" panose="02070309020205020404" pitchFamily="49" charset="0"/>
                <a:cs typeface="Courier New" panose="02070309020205020404" pitchFamily="49" charset="0"/>
              </a:rPr>
              <a:t>i</a:t>
            </a:r>
            <a:r>
              <a:rPr lang="en-HK" sz="1600" dirty="0">
                <a:latin typeface="Courier New" panose="02070309020205020404" pitchFamily="49" charset="0"/>
                <a:cs typeface="Courier New" panose="02070309020205020404" pitchFamily="49" charset="0"/>
              </a:rPr>
              <a:t>=0;i&lt;52;i++) </a:t>
            </a:r>
            <a:r>
              <a:rPr lang="en-HK" sz="1600" dirty="0" err="1">
                <a:latin typeface="Courier New" panose="02070309020205020404" pitchFamily="49" charset="0"/>
                <a:cs typeface="Courier New" panose="02070309020205020404" pitchFamily="49" charset="0"/>
              </a:rPr>
              <a:t>sum_y</a:t>
            </a:r>
            <a:r>
              <a:rPr lang="en-HK" sz="1600" dirty="0">
                <a:latin typeface="Courier New" panose="02070309020205020404" pitchFamily="49" charset="0"/>
                <a:cs typeface="Courier New" panose="02070309020205020404" pitchFamily="49" charset="0"/>
              </a:rPr>
              <a:t> += </a:t>
            </a:r>
            <a:r>
              <a:rPr lang="en-HK" sz="1600" dirty="0" err="1">
                <a:latin typeface="Courier New" panose="02070309020205020404" pitchFamily="49" charset="0"/>
                <a:cs typeface="Courier New" panose="02070309020205020404" pitchFamily="49" charset="0"/>
              </a:rPr>
              <a:t>y.draw</a:t>
            </a:r>
            <a:r>
              <a:rPr lang="en-HK" sz="1600" dirty="0">
                <a:latin typeface="Courier New" panose="02070309020205020404" pitchFamily="49" charset="0"/>
                <a:cs typeface="Courier New" panose="02070309020205020404" pitchFamily="49" charset="0"/>
              </a:rPr>
              <a:t>(0);</a:t>
            </a:r>
          </a:p>
          <a:p>
            <a:pPr marL="0" indent="0">
              <a:buNone/>
            </a:pPr>
            <a:r>
              <a:rPr lang="en-HK" sz="1600" dirty="0">
                <a:latin typeface="Courier New" panose="02070309020205020404" pitchFamily="49" charset="0"/>
                <a:cs typeface="Courier New" panose="02070309020205020404" pitchFamily="49" charset="0"/>
              </a:rPr>
              <a:t>       </a:t>
            </a:r>
            <a:r>
              <a:rPr lang="en-HK" sz="1600" dirty="0" err="1">
                <a:latin typeface="Courier New" panose="02070309020205020404" pitchFamily="49" charset="0"/>
                <a:cs typeface="Courier New" panose="02070309020205020404" pitchFamily="49" charset="0"/>
              </a:rPr>
              <a:t>assertEquals</a:t>
            </a:r>
            <a:r>
              <a:rPr lang="en-HK" sz="1600" dirty="0">
                <a:latin typeface="Courier New" panose="02070309020205020404" pitchFamily="49" charset="0"/>
                <a:cs typeface="Courier New" panose="02070309020205020404" pitchFamily="49" charset="0"/>
              </a:rPr>
              <a:t>(</a:t>
            </a:r>
            <a:r>
              <a:rPr lang="en-HK" sz="1600" dirty="0" err="1">
                <a:latin typeface="Courier New" panose="02070309020205020404" pitchFamily="49" charset="0"/>
                <a:cs typeface="Courier New" panose="02070309020205020404" pitchFamily="49" charset="0"/>
              </a:rPr>
              <a:t>sum_x</a:t>
            </a:r>
            <a:r>
              <a:rPr lang="en-HK" sz="1600" dirty="0">
                <a:latin typeface="Courier New" panose="02070309020205020404" pitchFamily="49" charset="0"/>
                <a:cs typeface="Courier New" panose="02070309020205020404" pitchFamily="49" charset="0"/>
              </a:rPr>
              <a:t>, </a:t>
            </a:r>
            <a:r>
              <a:rPr lang="en-HK" sz="1600" dirty="0" err="1">
                <a:latin typeface="Courier New" panose="02070309020205020404" pitchFamily="49" charset="0"/>
                <a:cs typeface="Courier New" panose="02070309020205020404" pitchFamily="49" charset="0"/>
              </a:rPr>
              <a:t>sum_y</a:t>
            </a:r>
            <a:r>
              <a:rPr lang="en-HK" sz="1600" dirty="0">
                <a:latin typeface="Courier New" panose="02070309020205020404" pitchFamily="49" charset="0"/>
                <a:cs typeface="Courier New" panose="02070309020205020404" pitchFamily="49" charset="0"/>
              </a:rPr>
              <a:t>);</a:t>
            </a:r>
          </a:p>
          <a:p>
            <a:pPr marL="0" indent="0">
              <a:buNone/>
            </a:pPr>
            <a:endParaRPr lang="en-HK" sz="1200" dirty="0"/>
          </a:p>
          <a:p>
            <a:pPr marL="0" indent="0">
              <a:buNone/>
            </a:pPr>
            <a:r>
              <a:rPr lang="en-HK" sz="2000" dirty="0"/>
              <a:t>This metamorphic relation is applicable to both Class X and Class Y.</a:t>
            </a:r>
          </a:p>
          <a:p>
            <a:pPr marL="0" indent="0">
              <a:buNone/>
            </a:pPr>
            <a:r>
              <a:rPr lang="en-HK" sz="2000" dirty="0"/>
              <a:t>There are many other relations. </a:t>
            </a:r>
          </a:p>
        </p:txBody>
      </p:sp>
      <p:sp>
        <p:nvSpPr>
          <p:cNvPr id="4" name="Slide Number Placeholder 3">
            <a:extLst>
              <a:ext uri="{FF2B5EF4-FFF2-40B4-BE49-F238E27FC236}">
                <a16:creationId xmlns:a16="http://schemas.microsoft.com/office/drawing/2014/main" id="{64FE82B4-4A39-4306-A2EB-00D22955071C}"/>
              </a:ext>
            </a:extLst>
          </p:cNvPr>
          <p:cNvSpPr>
            <a:spLocks noGrp="1"/>
          </p:cNvSpPr>
          <p:nvPr>
            <p:ph type="sldNum" sz="quarter" idx="12"/>
          </p:nvPr>
        </p:nvSpPr>
        <p:spPr/>
        <p:txBody>
          <a:bodyPr/>
          <a:lstStyle/>
          <a:p>
            <a:pPr>
              <a:defRPr/>
            </a:pPr>
            <a:fld id="{63B8F44C-0EDE-4D7D-9086-BD1CF3CE7AF7}" type="slidenum">
              <a:rPr lang="en-US" smtClean="0"/>
              <a:pPr>
                <a:defRPr/>
              </a:pPr>
              <a:t>30</a:t>
            </a:fld>
            <a:endParaRPr lang="en-US"/>
          </a:p>
        </p:txBody>
      </p:sp>
    </p:spTree>
    <p:extLst>
      <p:ext uri="{BB962C8B-B14F-4D97-AF65-F5344CB8AC3E}">
        <p14:creationId xmlns:p14="http://schemas.microsoft.com/office/powerpoint/2010/main" val="444123094"/>
      </p:ext>
    </p:extLst>
  </p:cSld>
  <p:clrMapOvr>
    <a:masterClrMapping/>
  </p:clrMapOvr>
  <p:transition/>
</p:sld>
</file>

<file path=ppt/theme/theme1.xml><?xml version="1.0" encoding="utf-8"?>
<a:theme xmlns:a="http://schemas.openxmlformats.org/drawingml/2006/main" name="Side Bar">
  <a:themeElements>
    <a:clrScheme name="">
      <a:dk1>
        <a:srgbClr val="000000"/>
      </a:dk1>
      <a:lt1>
        <a:srgbClr val="FFFFFF"/>
      </a:lt1>
      <a:dk2>
        <a:srgbClr val="C00000"/>
      </a:dk2>
      <a:lt2>
        <a:srgbClr val="C00000"/>
      </a:lt2>
      <a:accent1>
        <a:srgbClr val="FFEBEB"/>
      </a:accent1>
      <a:accent2>
        <a:srgbClr val="006600"/>
      </a:accent2>
      <a:accent3>
        <a:srgbClr val="FFFFFF"/>
      </a:accent3>
      <a:accent4>
        <a:srgbClr val="000000"/>
      </a:accent4>
      <a:accent5>
        <a:srgbClr val="FFF3F3"/>
      </a:accent5>
      <a:accent6>
        <a:srgbClr val="005C00"/>
      </a:accent6>
      <a:hlink>
        <a:srgbClr val="000066"/>
      </a:hlink>
      <a:folHlink>
        <a:srgbClr val="808080"/>
      </a:folHlink>
    </a:clrScheme>
    <a:fontScheme name="Side Bar">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Side Bar 1">
        <a:dk1>
          <a:srgbClr val="FF9933"/>
        </a:dk1>
        <a:lt1>
          <a:srgbClr val="FFFFFF"/>
        </a:lt1>
        <a:dk2>
          <a:srgbClr val="003366"/>
        </a:dk2>
        <a:lt2>
          <a:srgbClr val="FF9933"/>
        </a:lt2>
        <a:accent1>
          <a:srgbClr val="2B557F"/>
        </a:accent1>
        <a:accent2>
          <a:srgbClr val="FF9933"/>
        </a:accent2>
        <a:accent3>
          <a:srgbClr val="AAADB8"/>
        </a:accent3>
        <a:accent4>
          <a:srgbClr val="DADADA"/>
        </a:accent4>
        <a:accent5>
          <a:srgbClr val="ACB4C0"/>
        </a:accent5>
        <a:accent6>
          <a:srgbClr val="E78A2D"/>
        </a:accent6>
        <a:hlink>
          <a:srgbClr val="005032"/>
        </a:hlink>
        <a:folHlink>
          <a:srgbClr val="A0A0A0"/>
        </a:folHlink>
      </a:clrScheme>
      <a:clrMap bg1="dk2" tx1="lt1" bg2="dk1" tx2="lt2" accent1="accent1" accent2="accent2" accent3="accent3" accent4="accent4" accent5="accent5" accent6="accent6" hlink="hlink" folHlink="folHlink"/>
    </a:extraClrScheme>
    <a:extraClrScheme>
      <a:clrScheme name="Side Bar 2">
        <a:dk1>
          <a:srgbClr val="000000"/>
        </a:dk1>
        <a:lt1>
          <a:srgbClr val="FFFFFF"/>
        </a:lt1>
        <a:dk2>
          <a:srgbClr val="E16414"/>
        </a:dk2>
        <a:lt2>
          <a:srgbClr val="E16414"/>
        </a:lt2>
        <a:accent1>
          <a:srgbClr val="FFF0EB"/>
        </a:accent1>
        <a:accent2>
          <a:srgbClr val="E16414"/>
        </a:accent2>
        <a:accent3>
          <a:srgbClr val="FFFFFF"/>
        </a:accent3>
        <a:accent4>
          <a:srgbClr val="000000"/>
        </a:accent4>
        <a:accent5>
          <a:srgbClr val="FFF6F3"/>
        </a:accent5>
        <a:accent6>
          <a:srgbClr val="CC5A11"/>
        </a:accent6>
        <a:hlink>
          <a:srgbClr val="C00000"/>
        </a:hlink>
        <a:folHlink>
          <a:srgbClr val="808080"/>
        </a:folHlink>
      </a:clrScheme>
      <a:clrMap bg1="lt1" tx1="dk1" bg2="lt2" tx2="dk2" accent1="accent1" accent2="accent2" accent3="accent3" accent4="accent4" accent5="accent5" accent6="accent6" hlink="hlink" folHlink="folHlink"/>
    </a:extraClrScheme>
    <a:extraClrScheme>
      <a:clrScheme name="Side Bar 3">
        <a:dk1>
          <a:srgbClr val="000000"/>
        </a:dk1>
        <a:lt1>
          <a:srgbClr val="FFFFFF"/>
        </a:lt1>
        <a:dk2>
          <a:srgbClr val="0066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5">
        <a:dk1>
          <a:srgbClr val="000000"/>
        </a:dk1>
        <a:lt1>
          <a:srgbClr val="FFFFFF"/>
        </a:lt1>
        <a:dk2>
          <a:srgbClr val="80808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themeOverride>
</file>

<file path=ppt/theme/themeOverride2.xml><?xml version="1.0" encoding="utf-8"?>
<a:themeOverride xmlns:a="http://schemas.openxmlformats.org/drawingml/2006/main">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themeOverride>
</file>

<file path=docProps/app.xml><?xml version="1.0" encoding="utf-8"?>
<Properties xmlns="http://schemas.openxmlformats.org/officeDocument/2006/extended-properties" xmlns:vt="http://schemas.openxmlformats.org/officeDocument/2006/docPropsVTypes">
  <Template/>
  <TotalTime>21017</TotalTime>
  <Words>3981</Words>
  <Application>Microsoft Office PowerPoint</Application>
  <PresentationFormat>Custom</PresentationFormat>
  <Paragraphs>365</Paragraphs>
  <Slides>30</Slides>
  <Notes>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DengXian</vt:lpstr>
      <vt:lpstr>TimesNewRomanPSMT</vt:lpstr>
      <vt:lpstr>Arial</vt:lpstr>
      <vt:lpstr>Courier New</vt:lpstr>
      <vt:lpstr>Georgia</vt:lpstr>
      <vt:lpstr>Open Sans</vt:lpstr>
      <vt:lpstr>Symbol</vt:lpstr>
      <vt:lpstr>Times New Roman</vt:lpstr>
      <vt:lpstr>Wingdings</vt:lpstr>
      <vt:lpstr>Side Bar</vt:lpstr>
      <vt:lpstr> CS5351 Software Engineering  2025/2026 Semester A Program Testing, Part 2</vt:lpstr>
      <vt:lpstr>PowerPoint Presentation</vt:lpstr>
      <vt:lpstr>Fuzzing</vt:lpstr>
      <vt:lpstr>1. Concurrency Testing</vt:lpstr>
      <vt:lpstr>1. Concurrency Testing</vt:lpstr>
      <vt:lpstr>Example:  Examine Execution 2 to Generate Execution 1</vt:lpstr>
      <vt:lpstr>2. Static Analysis</vt:lpstr>
      <vt:lpstr>3. Automated Test Case Generator</vt:lpstr>
      <vt:lpstr>Test Oracle</vt:lpstr>
      <vt:lpstr>Test Oracle Problem</vt:lpstr>
      <vt:lpstr>Test Oracle</vt:lpstr>
      <vt:lpstr>Test Oracle</vt:lpstr>
      <vt:lpstr>Test Oracle</vt:lpstr>
      <vt:lpstr>Test Oracle</vt:lpstr>
      <vt:lpstr>Idea of Metamorphic Testing</vt:lpstr>
      <vt:lpstr>Metamorphic Relation</vt:lpstr>
      <vt:lpstr>Simple Metamorphic Relations Could Be Effective to Detect Bugs</vt:lpstr>
      <vt:lpstr>MT for Driverless Car [11]</vt:lpstr>
      <vt:lpstr>Metamorphic Relation</vt:lpstr>
      <vt:lpstr>Fuzzing + Metamorphic Testing</vt:lpstr>
      <vt:lpstr>Fuzzing + Automated Test Oracle </vt:lpstr>
      <vt:lpstr>Example</vt:lpstr>
      <vt:lpstr>Tutorial: Exercise on  Identification of Metamorphic Relations</vt:lpstr>
      <vt:lpstr>References and Resources</vt:lpstr>
      <vt:lpstr>References and Resources</vt:lpstr>
      <vt:lpstr>Appendix: Possible Solution for Metamorphic Relations</vt:lpstr>
      <vt:lpstr>Exercise 2 on Identification of Metamorphic Relations</vt:lpstr>
      <vt:lpstr>Possible Solution for Metamorphic Relations</vt:lpstr>
      <vt:lpstr>Exercise 3 on Identification of Metamorphic Relations</vt:lpstr>
      <vt:lpstr>Possible Solution for Metamorphic Relations</vt:lpstr>
    </vt:vector>
  </TitlesOfParts>
  <Company>City University of Hong Kong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CS3343 Software Engineering Practice</dc:title>
  <dc:creator>Dr. W.K. Chan</dc:creator>
  <cp:keywords>Software Engineering</cp:keywords>
  <cp:lastModifiedBy>Prof. Chan Wing Kwong</cp:lastModifiedBy>
  <cp:revision>581</cp:revision>
  <cp:lastPrinted>2019-09-24T10:09:28Z</cp:lastPrinted>
  <dcterms:created xsi:type="dcterms:W3CDTF">1999-09-08T02:17:18Z</dcterms:created>
  <dcterms:modified xsi:type="dcterms:W3CDTF">2025-08-21T07:51:02Z</dcterms:modified>
</cp:coreProperties>
</file>