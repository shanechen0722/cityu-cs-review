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6"/>
  </p:notesMasterIdLst>
  <p:handoutMasterIdLst>
    <p:handoutMasterId r:id="rId27"/>
  </p:handoutMasterIdLst>
  <p:sldIdLst>
    <p:sldId id="1089" r:id="rId2"/>
    <p:sldId id="312" r:id="rId3"/>
    <p:sldId id="326" r:id="rId4"/>
    <p:sldId id="1100" r:id="rId5"/>
    <p:sldId id="1094" r:id="rId6"/>
    <p:sldId id="1095" r:id="rId7"/>
    <p:sldId id="1090" r:id="rId8"/>
    <p:sldId id="1096" r:id="rId9"/>
    <p:sldId id="313" r:id="rId10"/>
    <p:sldId id="1092" r:id="rId11"/>
    <p:sldId id="314" r:id="rId12"/>
    <p:sldId id="318" r:id="rId13"/>
    <p:sldId id="317" r:id="rId14"/>
    <p:sldId id="1097" r:id="rId15"/>
    <p:sldId id="316" r:id="rId16"/>
    <p:sldId id="1098" r:id="rId17"/>
    <p:sldId id="1099" r:id="rId18"/>
    <p:sldId id="327" r:id="rId19"/>
    <p:sldId id="320" r:id="rId20"/>
    <p:sldId id="321" r:id="rId21"/>
    <p:sldId id="322" r:id="rId22"/>
    <p:sldId id="323" r:id="rId23"/>
    <p:sldId id="324" r:id="rId24"/>
    <p:sldId id="325" r:id="rId25"/>
  </p:sldIdLst>
  <p:sldSz cx="9902825" cy="6858000"/>
  <p:notesSz cx="9874250" cy="6797675"/>
  <p:defaultTextStyle>
    <a:defPPr>
      <a:defRPr lang="en-US"/>
    </a:defPPr>
    <a:lvl1pPr algn="l" rtl="0" eaLnBrk="0" fontAlgn="base" hangingPunct="0">
      <a:spcBef>
        <a:spcPct val="0"/>
      </a:spcBef>
      <a:spcAft>
        <a:spcPct val="0"/>
      </a:spcAft>
      <a:defRPr sz="2800" kern="1200">
        <a:solidFill>
          <a:schemeClr val="tx1"/>
        </a:solidFill>
        <a:latin typeface="Times New Roman" pitchFamily="18" charset="0"/>
        <a:ea typeface="+mn-ea"/>
        <a:cs typeface="+mn-cs"/>
      </a:defRPr>
    </a:lvl1pPr>
    <a:lvl2pPr marL="457200" algn="l" rtl="0" eaLnBrk="0" fontAlgn="base" hangingPunct="0">
      <a:spcBef>
        <a:spcPct val="0"/>
      </a:spcBef>
      <a:spcAft>
        <a:spcPct val="0"/>
      </a:spcAft>
      <a:defRPr sz="2800" kern="1200">
        <a:solidFill>
          <a:schemeClr val="tx1"/>
        </a:solidFill>
        <a:latin typeface="Times New Roman" pitchFamily="18" charset="0"/>
        <a:ea typeface="+mn-ea"/>
        <a:cs typeface="+mn-cs"/>
      </a:defRPr>
    </a:lvl2pPr>
    <a:lvl3pPr marL="914400" algn="l" rtl="0" eaLnBrk="0" fontAlgn="base" hangingPunct="0">
      <a:spcBef>
        <a:spcPct val="0"/>
      </a:spcBef>
      <a:spcAft>
        <a:spcPct val="0"/>
      </a:spcAft>
      <a:defRPr sz="2800" kern="1200">
        <a:solidFill>
          <a:schemeClr val="tx1"/>
        </a:solidFill>
        <a:latin typeface="Times New Roman" pitchFamily="18" charset="0"/>
        <a:ea typeface="+mn-ea"/>
        <a:cs typeface="+mn-cs"/>
      </a:defRPr>
    </a:lvl3pPr>
    <a:lvl4pPr marL="1371600" algn="l" rtl="0" eaLnBrk="0" fontAlgn="base" hangingPunct="0">
      <a:spcBef>
        <a:spcPct val="0"/>
      </a:spcBef>
      <a:spcAft>
        <a:spcPct val="0"/>
      </a:spcAft>
      <a:defRPr sz="2800" kern="1200">
        <a:solidFill>
          <a:schemeClr val="tx1"/>
        </a:solidFill>
        <a:latin typeface="Times New Roman" pitchFamily="18" charset="0"/>
        <a:ea typeface="+mn-ea"/>
        <a:cs typeface="+mn-cs"/>
      </a:defRPr>
    </a:lvl4pPr>
    <a:lvl5pPr marL="1828800" algn="l" rtl="0" eaLnBrk="0" fontAlgn="base" hangingPunct="0">
      <a:spcBef>
        <a:spcPct val="0"/>
      </a:spcBef>
      <a:spcAft>
        <a:spcPct val="0"/>
      </a:spcAft>
      <a:defRPr sz="2800" kern="1200">
        <a:solidFill>
          <a:schemeClr val="tx1"/>
        </a:solidFill>
        <a:latin typeface="Times New Roman" pitchFamily="18" charset="0"/>
        <a:ea typeface="+mn-ea"/>
        <a:cs typeface="+mn-cs"/>
      </a:defRPr>
    </a:lvl5pPr>
    <a:lvl6pPr marL="2286000" algn="l" defTabSz="914400" rtl="0" eaLnBrk="1" latinLnBrk="0" hangingPunct="1">
      <a:defRPr sz="2800" kern="1200">
        <a:solidFill>
          <a:schemeClr val="tx1"/>
        </a:solidFill>
        <a:latin typeface="Times New Roman" pitchFamily="18" charset="0"/>
        <a:ea typeface="+mn-ea"/>
        <a:cs typeface="+mn-cs"/>
      </a:defRPr>
    </a:lvl6pPr>
    <a:lvl7pPr marL="2743200" algn="l" defTabSz="914400" rtl="0" eaLnBrk="1" latinLnBrk="0" hangingPunct="1">
      <a:defRPr sz="2800" kern="1200">
        <a:solidFill>
          <a:schemeClr val="tx1"/>
        </a:solidFill>
        <a:latin typeface="Times New Roman" pitchFamily="18" charset="0"/>
        <a:ea typeface="+mn-ea"/>
        <a:cs typeface="+mn-cs"/>
      </a:defRPr>
    </a:lvl7pPr>
    <a:lvl8pPr marL="3200400" algn="l" defTabSz="914400" rtl="0" eaLnBrk="1" latinLnBrk="0" hangingPunct="1">
      <a:defRPr sz="2800" kern="1200">
        <a:solidFill>
          <a:schemeClr val="tx1"/>
        </a:solidFill>
        <a:latin typeface="Times New Roman" pitchFamily="18" charset="0"/>
        <a:ea typeface="+mn-ea"/>
        <a:cs typeface="+mn-cs"/>
      </a:defRPr>
    </a:lvl8pPr>
    <a:lvl9pPr marL="3657600" algn="l" defTabSz="914400" rtl="0" eaLnBrk="1" latinLnBrk="0" hangingPunct="1">
      <a:defRPr sz="28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19">
          <p15:clr>
            <a:srgbClr val="A4A3A4"/>
          </p15:clr>
        </p15:guide>
      </p15:sldGuideLst>
    </p:ext>
    <p:ext uri="{2D200454-40CA-4A62-9FC3-DE9A4176ACB9}">
      <p15:notesGuideLst xmlns:p15="http://schemas.microsoft.com/office/powerpoint/2012/main">
        <p15:guide id="1" orient="horz" pos="1503" userDrawn="1">
          <p15:clr>
            <a:srgbClr val="A4A3A4"/>
          </p15:clr>
        </p15:guide>
        <p15:guide id="2" pos="449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3C78"/>
    <a:srgbClr val="285078"/>
    <a:srgbClr val="1E3C5A"/>
    <a:srgbClr val="234669"/>
    <a:srgbClr val="264B71"/>
    <a:srgbClr val="FF3333"/>
    <a:srgbClr val="FFCC99"/>
    <a:srgbClr val="CCE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892" autoAdjust="0"/>
    <p:restoredTop sz="95450" autoAdjust="0"/>
  </p:normalViewPr>
  <p:slideViewPr>
    <p:cSldViewPr>
      <p:cViewPr varScale="1">
        <p:scale>
          <a:sx n="236" d="100"/>
          <a:sy n="236" d="100"/>
        </p:scale>
        <p:origin x="1896" y="408"/>
      </p:cViewPr>
      <p:guideLst>
        <p:guide orient="horz" pos="2160"/>
        <p:guide pos="311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75" d="100"/>
        <a:sy n="75" d="100"/>
      </p:scale>
      <p:origin x="0" y="0"/>
    </p:cViewPr>
  </p:sorterViewPr>
  <p:notesViewPr>
    <p:cSldViewPr>
      <p:cViewPr varScale="1">
        <p:scale>
          <a:sx n="20" d="100"/>
          <a:sy n="20" d="100"/>
        </p:scale>
        <p:origin x="-1088" y="-84"/>
      </p:cViewPr>
      <p:guideLst>
        <p:guide orient="horz" pos="1503"/>
        <p:guide pos="4494"/>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32143" y="-1124"/>
            <a:ext cx="4232128" cy="315831"/>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68788">
              <a:defRPr sz="1000" i="1"/>
            </a:lvl1pPr>
          </a:lstStyle>
          <a:p>
            <a:pPr>
              <a:defRPr/>
            </a:pPr>
            <a:endParaRPr lang="en-US"/>
          </a:p>
        </p:txBody>
      </p:sp>
      <p:sp>
        <p:nvSpPr>
          <p:cNvPr id="4099" name="Rectangle 3"/>
          <p:cNvSpPr>
            <a:spLocks noGrp="1" noChangeArrowheads="1"/>
          </p:cNvSpPr>
          <p:nvPr>
            <p:ph type="dt" sz="quarter" idx="1"/>
          </p:nvPr>
        </p:nvSpPr>
        <p:spPr bwMode="auto">
          <a:xfrm>
            <a:off x="5609981" y="-1124"/>
            <a:ext cx="4232128" cy="315831"/>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68788">
              <a:defRPr sz="1000" i="1"/>
            </a:lvl1pPr>
          </a:lstStyle>
          <a:p>
            <a:pPr>
              <a:defRPr/>
            </a:pPr>
            <a:endParaRPr lang="en-US"/>
          </a:p>
        </p:txBody>
      </p:sp>
      <p:sp>
        <p:nvSpPr>
          <p:cNvPr id="4100" name="Rectangle 4"/>
          <p:cNvSpPr>
            <a:spLocks noGrp="1" noChangeArrowheads="1"/>
          </p:cNvSpPr>
          <p:nvPr>
            <p:ph type="ftr" sz="quarter" idx="2"/>
          </p:nvPr>
        </p:nvSpPr>
        <p:spPr bwMode="auto">
          <a:xfrm>
            <a:off x="32143" y="6430142"/>
            <a:ext cx="4232128" cy="368657"/>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68788">
              <a:defRPr sz="1000" i="1"/>
            </a:lvl1pPr>
          </a:lstStyle>
          <a:p>
            <a:pPr>
              <a:defRPr/>
            </a:pPr>
            <a:r>
              <a:rPr lang="en-US"/>
              <a:t>Software Design</a:t>
            </a:r>
          </a:p>
        </p:txBody>
      </p:sp>
      <p:sp>
        <p:nvSpPr>
          <p:cNvPr id="4101" name="Rectangle 5"/>
          <p:cNvSpPr>
            <a:spLocks noGrp="1" noChangeArrowheads="1"/>
          </p:cNvSpPr>
          <p:nvPr>
            <p:ph type="sldNum" sz="quarter" idx="3"/>
          </p:nvPr>
        </p:nvSpPr>
        <p:spPr bwMode="auto">
          <a:xfrm>
            <a:off x="5609981" y="6430142"/>
            <a:ext cx="4232128" cy="368657"/>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68788">
              <a:defRPr sz="1000" i="1"/>
            </a:lvl1pPr>
          </a:lstStyle>
          <a:p>
            <a:pPr>
              <a:defRPr/>
            </a:pPr>
            <a:fld id="{B0AC2A3D-B99B-4BE3-904E-8F9BDE86B7D8}" type="slidenum">
              <a:rPr lang="en-US"/>
              <a:pPr>
                <a:defRPr/>
              </a:pPr>
              <a:t>‹#›</a:t>
            </a:fld>
            <a:endParaRPr lang="en-US"/>
          </a:p>
        </p:txBody>
      </p:sp>
    </p:spTree>
    <p:extLst>
      <p:ext uri="{BB962C8B-B14F-4D97-AF65-F5344CB8AC3E}">
        <p14:creationId xmlns:p14="http://schemas.microsoft.com/office/powerpoint/2010/main" val="11715663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25714" y="-6743"/>
            <a:ext cx="4315698" cy="338310"/>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42786">
              <a:defRPr sz="1000" i="1"/>
            </a:lvl1pPr>
          </a:lstStyle>
          <a:p>
            <a:pPr>
              <a:defRPr/>
            </a:pPr>
            <a:endParaRPr lang="en-US"/>
          </a:p>
        </p:txBody>
      </p:sp>
      <p:sp>
        <p:nvSpPr>
          <p:cNvPr id="2051" name="Rectangle 3"/>
          <p:cNvSpPr>
            <a:spLocks noGrp="1" noChangeArrowheads="1"/>
          </p:cNvSpPr>
          <p:nvPr>
            <p:ph type="dt" idx="1"/>
          </p:nvPr>
        </p:nvSpPr>
        <p:spPr bwMode="auto">
          <a:xfrm>
            <a:off x="5584267" y="-6743"/>
            <a:ext cx="4315698" cy="338310"/>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42786">
              <a:defRPr sz="1000" i="1"/>
            </a:lvl1pPr>
          </a:lstStyle>
          <a:p>
            <a:pPr>
              <a:defRPr/>
            </a:pPr>
            <a:endParaRPr lang="en-US"/>
          </a:p>
        </p:txBody>
      </p:sp>
      <p:sp>
        <p:nvSpPr>
          <p:cNvPr id="12292" name="Rectangle 4"/>
          <p:cNvSpPr>
            <a:spLocks noGrp="1" noRot="1" noChangeAspect="1" noChangeArrowheads="1" noTextEdit="1"/>
          </p:cNvSpPr>
          <p:nvPr>
            <p:ph type="sldImg" idx="2"/>
          </p:nvPr>
        </p:nvSpPr>
        <p:spPr bwMode="auto">
          <a:xfrm>
            <a:off x="3098800" y="512763"/>
            <a:ext cx="3676650" cy="254635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sp>
      <p:sp>
        <p:nvSpPr>
          <p:cNvPr id="2053" name="Rectangle 5"/>
          <p:cNvSpPr>
            <a:spLocks noGrp="1" noChangeArrowheads="1"/>
          </p:cNvSpPr>
          <p:nvPr>
            <p:ph type="body" sz="quarter" idx="3"/>
          </p:nvPr>
        </p:nvSpPr>
        <p:spPr bwMode="auto">
          <a:xfrm>
            <a:off x="1272854" y="3230244"/>
            <a:ext cx="7328544" cy="3070643"/>
          </a:xfrm>
          <a:prstGeom prst="rect">
            <a:avLst/>
          </a:prstGeom>
          <a:noFill/>
          <a:ln w="9525">
            <a:noFill/>
            <a:miter lim="800000"/>
            <a:headEnd/>
            <a:tailEnd/>
          </a:ln>
          <a:effectLst/>
        </p:spPr>
        <p:txBody>
          <a:bodyPr vert="horz" wrap="square" lIns="87569" tIns="41397" rIns="87569" bIns="41397"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4" name="Rectangle 6"/>
          <p:cNvSpPr>
            <a:spLocks noGrp="1" noChangeArrowheads="1"/>
          </p:cNvSpPr>
          <p:nvPr>
            <p:ph type="ftr" sz="quarter" idx="4"/>
          </p:nvPr>
        </p:nvSpPr>
        <p:spPr bwMode="auto">
          <a:xfrm>
            <a:off x="-25714" y="6466109"/>
            <a:ext cx="4315698" cy="338310"/>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42786">
              <a:defRPr sz="1000" i="1"/>
            </a:lvl1pPr>
          </a:lstStyle>
          <a:p>
            <a:pPr>
              <a:defRPr/>
            </a:pPr>
            <a:r>
              <a:rPr lang="en-US"/>
              <a:t>Software Design</a:t>
            </a:r>
          </a:p>
        </p:txBody>
      </p:sp>
      <p:sp>
        <p:nvSpPr>
          <p:cNvPr id="2055" name="Rectangle 7"/>
          <p:cNvSpPr>
            <a:spLocks noGrp="1" noChangeArrowheads="1"/>
          </p:cNvSpPr>
          <p:nvPr>
            <p:ph type="sldNum" sz="quarter" idx="5"/>
          </p:nvPr>
        </p:nvSpPr>
        <p:spPr bwMode="auto">
          <a:xfrm>
            <a:off x="5584267" y="6466109"/>
            <a:ext cx="4315698" cy="338310"/>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42786">
              <a:defRPr sz="1000" i="1"/>
            </a:lvl1pPr>
          </a:lstStyle>
          <a:p>
            <a:pPr>
              <a:defRPr/>
            </a:pPr>
            <a:fld id="{A7E88535-4BEA-4EE8-AB4A-C9FA970A9824}" type="slidenum">
              <a:rPr lang="en-US"/>
              <a:pPr>
                <a:defRPr/>
              </a:pPr>
              <a:t>‹#›</a:t>
            </a:fld>
            <a:endParaRPr lang="en-US"/>
          </a:p>
        </p:txBody>
      </p:sp>
    </p:spTree>
    <p:extLst>
      <p:ext uri="{BB962C8B-B14F-4D97-AF65-F5344CB8AC3E}">
        <p14:creationId xmlns:p14="http://schemas.microsoft.com/office/powerpoint/2010/main" val="1836913820"/>
      </p:ext>
    </p:extLst>
  </p:cSld>
  <p:clrMap bg1="lt1" tx1="dk1" bg2="lt2" tx2="dk2" accent1="accent1" accent2="accent2" accent3="accent3" accent4="accent4" accent5="accent5" accent6="accent6" hlink="hlink" folHlink="folHlink"/>
  <p:hf hdr="0" dt="0"/>
  <p:notesStyle>
    <a:lvl1pPr algn="l" defTabSz="839788" rtl="0" eaLnBrk="0" fontAlgn="base" hangingPunct="0">
      <a:spcBef>
        <a:spcPct val="30000"/>
      </a:spcBef>
      <a:spcAft>
        <a:spcPct val="0"/>
      </a:spcAft>
      <a:defRPr sz="1200" kern="1200">
        <a:solidFill>
          <a:schemeClr val="tx1"/>
        </a:solidFill>
        <a:latin typeface="Arial" charset="0"/>
        <a:ea typeface="+mn-ea"/>
        <a:cs typeface="+mn-cs"/>
      </a:defRPr>
    </a:lvl1pPr>
    <a:lvl2pPr marL="439738" algn="l" defTabSz="839788" rtl="0" eaLnBrk="0" fontAlgn="base" hangingPunct="0">
      <a:spcBef>
        <a:spcPct val="30000"/>
      </a:spcBef>
      <a:spcAft>
        <a:spcPct val="0"/>
      </a:spcAft>
      <a:defRPr sz="1200" kern="1200">
        <a:solidFill>
          <a:schemeClr val="tx1"/>
        </a:solidFill>
        <a:latin typeface="Arial" charset="0"/>
        <a:ea typeface="+mn-ea"/>
        <a:cs typeface="+mn-cs"/>
      </a:defRPr>
    </a:lvl2pPr>
    <a:lvl3pPr marL="874713" algn="l" defTabSz="839788" rtl="0" eaLnBrk="0" fontAlgn="base" hangingPunct="0">
      <a:spcBef>
        <a:spcPct val="30000"/>
      </a:spcBef>
      <a:spcAft>
        <a:spcPct val="0"/>
      </a:spcAft>
      <a:defRPr sz="1200" kern="1200">
        <a:solidFill>
          <a:schemeClr val="tx1"/>
        </a:solidFill>
        <a:latin typeface="Arial" charset="0"/>
        <a:ea typeface="+mn-ea"/>
        <a:cs typeface="+mn-cs"/>
      </a:defRPr>
    </a:lvl3pPr>
    <a:lvl4pPr marL="1316038" algn="l" defTabSz="839788" rtl="0" eaLnBrk="0" fontAlgn="base" hangingPunct="0">
      <a:spcBef>
        <a:spcPct val="30000"/>
      </a:spcBef>
      <a:spcAft>
        <a:spcPct val="0"/>
      </a:spcAft>
      <a:defRPr sz="1200" kern="1200">
        <a:solidFill>
          <a:schemeClr val="tx1"/>
        </a:solidFill>
        <a:latin typeface="Arial" charset="0"/>
        <a:ea typeface="+mn-ea"/>
        <a:cs typeface="+mn-cs"/>
      </a:defRPr>
    </a:lvl4pPr>
    <a:lvl5pPr marL="1752600" algn="l" defTabSz="839788"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r>
              <a:rPr lang="en-US" sz="1000"/>
              <a:t>Software Design</a:t>
            </a:r>
          </a:p>
        </p:txBody>
      </p:sp>
      <p:sp>
        <p:nvSpPr>
          <p:cNvPr id="1331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fld id="{9230C636-ECB8-47BE-92DE-F91BE5C0FACE}" type="slidenum">
              <a:rPr lang="en-US" sz="1000" smtClean="0"/>
              <a:pPr/>
              <a:t>1</a:t>
            </a:fld>
            <a:endParaRPr lang="en-US" sz="1000"/>
          </a:p>
        </p:txBody>
      </p:sp>
      <p:sp>
        <p:nvSpPr>
          <p:cNvPr id="13316" name="Rectangle 2"/>
          <p:cNvSpPr>
            <a:spLocks noGrp="1" noRot="1" noChangeAspect="1" noChangeArrowheads="1" noTextEdit="1"/>
          </p:cNvSpPr>
          <p:nvPr>
            <p:ph type="sldImg"/>
          </p:nvPr>
        </p:nvSpPr>
        <p:spPr>
          <a:ln/>
        </p:spPr>
      </p:sp>
      <p:sp>
        <p:nvSpPr>
          <p:cNvPr id="1331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28403181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4" name="Line 1026"/>
          <p:cNvSpPr>
            <a:spLocks noChangeShapeType="1"/>
          </p:cNvSpPr>
          <p:nvPr/>
        </p:nvSpPr>
        <p:spPr bwMode="auto">
          <a:xfrm>
            <a:off x="0" y="34290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3075" name="Rectangle 1027"/>
          <p:cNvSpPr>
            <a:spLocks noGrp="1" noChangeArrowheads="1"/>
          </p:cNvSpPr>
          <p:nvPr>
            <p:ph type="ctrTitle" sz="quarter"/>
          </p:nvPr>
        </p:nvSpPr>
        <p:spPr>
          <a:xfrm>
            <a:off x="381000" y="381000"/>
            <a:ext cx="9067800" cy="3048000"/>
          </a:xfrm>
        </p:spPr>
        <p:txBody>
          <a:bodyPr/>
          <a:lstStyle>
            <a:lvl1pPr>
              <a:defRPr sz="6600"/>
            </a:lvl1pPr>
          </a:lstStyle>
          <a:p>
            <a:r>
              <a:rPr lang="en-US"/>
              <a:t>Click to edit Master title style</a:t>
            </a:r>
          </a:p>
        </p:txBody>
      </p:sp>
      <p:sp>
        <p:nvSpPr>
          <p:cNvPr id="3076" name="Rectangle 1028"/>
          <p:cNvSpPr>
            <a:spLocks noGrp="1" noChangeArrowheads="1"/>
          </p:cNvSpPr>
          <p:nvPr>
            <p:ph type="subTitle" sz="quarter" idx="1"/>
          </p:nvPr>
        </p:nvSpPr>
        <p:spPr>
          <a:xfrm>
            <a:off x="401638" y="3886200"/>
            <a:ext cx="9067800" cy="2819400"/>
          </a:xfrm>
        </p:spPr>
        <p:txBody>
          <a:bodyPr/>
          <a:lstStyle>
            <a:lvl1pPr marL="0" indent="0">
              <a:buFont typeface="Wingdings" pitchFamily="2" charset="2"/>
              <a:buNone/>
              <a:defRPr/>
            </a:lvl1pPr>
          </a:lstStyle>
          <a:p>
            <a:r>
              <a:rPr lang="en-US"/>
              <a:t>Click to edit Master subtitle style</a:t>
            </a:r>
          </a:p>
        </p:txBody>
      </p:sp>
      <p:sp>
        <p:nvSpPr>
          <p:cNvPr id="5" name="Rectangle 1029"/>
          <p:cNvSpPr>
            <a:spLocks noGrp="1" noChangeArrowheads="1"/>
          </p:cNvSpPr>
          <p:nvPr>
            <p:ph type="dt" sz="quarter" idx="10"/>
          </p:nvPr>
        </p:nvSpPr>
        <p:spPr>
          <a:xfrm>
            <a:off x="401638" y="6248400"/>
            <a:ext cx="2062162" cy="457200"/>
          </a:xfrm>
        </p:spPr>
        <p:txBody>
          <a:bodyPr/>
          <a:lstStyle>
            <a:lvl1pPr>
              <a:defRPr/>
            </a:lvl1pPr>
          </a:lstStyle>
          <a:p>
            <a:pPr>
              <a:defRPr/>
            </a:pPr>
            <a:endParaRPr lang="en-US"/>
          </a:p>
        </p:txBody>
      </p:sp>
      <p:sp>
        <p:nvSpPr>
          <p:cNvPr id="6" name="Rectangle 1030"/>
          <p:cNvSpPr>
            <a:spLocks noGrp="1" noChangeArrowheads="1"/>
          </p:cNvSpPr>
          <p:nvPr>
            <p:ph type="ftr" sz="quarter" idx="11"/>
          </p:nvPr>
        </p:nvSpPr>
        <p:spPr>
          <a:xfrm>
            <a:off x="3367088" y="6248400"/>
            <a:ext cx="3136900" cy="457200"/>
          </a:xfrm>
        </p:spPr>
        <p:txBody>
          <a:bodyPr/>
          <a:lstStyle>
            <a:lvl1pPr>
              <a:defRPr/>
            </a:lvl1pPr>
          </a:lstStyle>
          <a:p>
            <a:pPr>
              <a:defRPr/>
            </a:pPr>
            <a:r>
              <a:rPr lang="en-US"/>
              <a:t>Software Quality</a:t>
            </a:r>
          </a:p>
        </p:txBody>
      </p:sp>
      <p:sp>
        <p:nvSpPr>
          <p:cNvPr id="7" name="Rectangle 1031"/>
          <p:cNvSpPr>
            <a:spLocks noGrp="1" noChangeArrowheads="1"/>
          </p:cNvSpPr>
          <p:nvPr>
            <p:ph type="sldNum" sz="quarter" idx="12"/>
          </p:nvPr>
        </p:nvSpPr>
        <p:spPr>
          <a:xfrm>
            <a:off x="7407275" y="6248400"/>
            <a:ext cx="2062163" cy="457200"/>
          </a:xfrm>
        </p:spPr>
        <p:txBody>
          <a:bodyPr/>
          <a:lstStyle>
            <a:lvl1pPr>
              <a:defRPr/>
            </a:lvl1pPr>
          </a:lstStyle>
          <a:p>
            <a:pPr>
              <a:defRPr/>
            </a:pPr>
            <a:fld id="{C9E3E309-C4F3-40C3-813B-7A36DC967DF9}" type="slidenum">
              <a:rPr lang="en-US"/>
              <a:pPr>
                <a:defRPr/>
              </a:pPr>
              <a:t>‹#›</a:t>
            </a:fld>
            <a:endParaRPr lang="en-US"/>
          </a:p>
        </p:txBody>
      </p:sp>
    </p:spTree>
    <p:extLst>
      <p:ext uri="{BB962C8B-B14F-4D97-AF65-F5344CB8AC3E}">
        <p14:creationId xmlns:p14="http://schemas.microsoft.com/office/powerpoint/2010/main" val="3444432482"/>
      </p:ext>
    </p:extLst>
  </p:cSld>
  <p:clrMapOvr>
    <a:overrideClrMapping bg1="lt1" tx1="dk1" bg2="lt2" tx2="dk2" accent1="accent1" accent2="accent2" accent3="accent3" accent4="accent4" accent5="accent5" accent6="accent6" hlink="hlink" folHlink="folHlink"/>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63B8F44C-0EDE-4D7D-9086-BD1CF3CE7AF7}" type="slidenum">
              <a:rPr lang="en-US"/>
              <a:pPr>
                <a:defRPr/>
              </a:pPr>
              <a:t>‹#›</a:t>
            </a:fld>
            <a:endParaRPr lang="en-US"/>
          </a:p>
        </p:txBody>
      </p:sp>
    </p:spTree>
    <p:extLst>
      <p:ext uri="{BB962C8B-B14F-4D97-AF65-F5344CB8AC3E}">
        <p14:creationId xmlns:p14="http://schemas.microsoft.com/office/powerpoint/2010/main" val="3531888079"/>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638" y="4406900"/>
            <a:ext cx="8416925"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82638" y="2906713"/>
            <a:ext cx="841692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ECCD115F-8D68-417D-BE51-0997C55306EF}" type="slidenum">
              <a:rPr lang="en-US"/>
              <a:pPr>
                <a:defRPr/>
              </a:pPr>
              <a:t>‹#›</a:t>
            </a:fld>
            <a:endParaRPr lang="en-US"/>
          </a:p>
        </p:txBody>
      </p:sp>
    </p:spTree>
    <p:extLst>
      <p:ext uri="{BB962C8B-B14F-4D97-AF65-F5344CB8AC3E}">
        <p14:creationId xmlns:p14="http://schemas.microsoft.com/office/powerpoint/2010/main" val="128324402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2750"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06975"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D6C972CB-25A0-49CA-A04F-81E0CCB967DE}" type="slidenum">
              <a:rPr lang="en-US"/>
              <a:pPr>
                <a:defRPr/>
              </a:pPr>
              <a:t>‹#›</a:t>
            </a:fld>
            <a:endParaRPr lang="en-US"/>
          </a:p>
        </p:txBody>
      </p:sp>
    </p:spTree>
    <p:extLst>
      <p:ext uri="{BB962C8B-B14F-4D97-AF65-F5344CB8AC3E}">
        <p14:creationId xmlns:p14="http://schemas.microsoft.com/office/powerpoint/2010/main" val="3245672346"/>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4638"/>
            <a:ext cx="8912225"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3"/>
            <a:ext cx="4375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95300" y="2174875"/>
            <a:ext cx="4375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0788" y="1535113"/>
            <a:ext cx="43767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30788" y="2174875"/>
            <a:ext cx="43767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5"/>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9" name="Rectangle 7"/>
          <p:cNvSpPr>
            <a:spLocks noGrp="1" noChangeArrowheads="1"/>
          </p:cNvSpPr>
          <p:nvPr>
            <p:ph type="sldNum" sz="quarter" idx="12"/>
          </p:nvPr>
        </p:nvSpPr>
        <p:spPr>
          <a:ln/>
        </p:spPr>
        <p:txBody>
          <a:bodyPr/>
          <a:lstStyle>
            <a:lvl1pPr>
              <a:defRPr/>
            </a:lvl1pPr>
          </a:lstStyle>
          <a:p>
            <a:pPr>
              <a:defRPr/>
            </a:pPr>
            <a:fld id="{65FA675B-1F56-4A1F-B974-9460B94FF877}" type="slidenum">
              <a:rPr lang="en-US"/>
              <a:pPr>
                <a:defRPr/>
              </a:pPr>
              <a:t>‹#›</a:t>
            </a:fld>
            <a:endParaRPr lang="en-US"/>
          </a:p>
        </p:txBody>
      </p:sp>
    </p:spTree>
    <p:extLst>
      <p:ext uri="{BB962C8B-B14F-4D97-AF65-F5344CB8AC3E}">
        <p14:creationId xmlns:p14="http://schemas.microsoft.com/office/powerpoint/2010/main" val="4252614090"/>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5"/>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5" name="Rectangle 7"/>
          <p:cNvSpPr>
            <a:spLocks noGrp="1" noChangeArrowheads="1"/>
          </p:cNvSpPr>
          <p:nvPr>
            <p:ph type="sldNum" sz="quarter" idx="12"/>
          </p:nvPr>
        </p:nvSpPr>
        <p:spPr>
          <a:ln/>
        </p:spPr>
        <p:txBody>
          <a:bodyPr/>
          <a:lstStyle>
            <a:lvl1pPr>
              <a:defRPr/>
            </a:lvl1pPr>
          </a:lstStyle>
          <a:p>
            <a:pPr>
              <a:defRPr/>
            </a:pPr>
            <a:fld id="{C55598A2-17A2-444F-952B-9804449BE04B}" type="slidenum">
              <a:rPr lang="en-US"/>
              <a:pPr>
                <a:defRPr/>
              </a:pPr>
              <a:t>‹#›</a:t>
            </a:fld>
            <a:endParaRPr lang="en-US"/>
          </a:p>
        </p:txBody>
      </p:sp>
    </p:spTree>
    <p:extLst>
      <p:ext uri="{BB962C8B-B14F-4D97-AF65-F5344CB8AC3E}">
        <p14:creationId xmlns:p14="http://schemas.microsoft.com/office/powerpoint/2010/main" val="132614715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4" name="Rectangle 7"/>
          <p:cNvSpPr>
            <a:spLocks noGrp="1" noChangeArrowheads="1"/>
          </p:cNvSpPr>
          <p:nvPr>
            <p:ph type="sldNum" sz="quarter" idx="12"/>
          </p:nvPr>
        </p:nvSpPr>
        <p:spPr>
          <a:ln/>
        </p:spPr>
        <p:txBody>
          <a:bodyPr/>
          <a:lstStyle>
            <a:lvl1pPr>
              <a:defRPr/>
            </a:lvl1pPr>
          </a:lstStyle>
          <a:p>
            <a:pPr>
              <a:defRPr/>
            </a:pPr>
            <a:fld id="{1AD18685-0001-4CA4-BB9B-682137D85FB6}" type="slidenum">
              <a:rPr lang="en-US"/>
              <a:pPr>
                <a:defRPr/>
              </a:pPr>
              <a:t>‹#›</a:t>
            </a:fld>
            <a:endParaRPr lang="en-US"/>
          </a:p>
        </p:txBody>
      </p:sp>
    </p:spTree>
    <p:extLst>
      <p:ext uri="{BB962C8B-B14F-4D97-AF65-F5344CB8AC3E}">
        <p14:creationId xmlns:p14="http://schemas.microsoft.com/office/powerpoint/2010/main" val="26966034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3050"/>
            <a:ext cx="3257550"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871913" y="273050"/>
            <a:ext cx="55356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0" y="1435100"/>
            <a:ext cx="3257550"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A00572DE-3297-44C9-8095-AE1A459C6662}" type="slidenum">
              <a:rPr lang="en-US"/>
              <a:pPr>
                <a:defRPr/>
              </a:pPr>
              <a:t>‹#›</a:t>
            </a:fld>
            <a:endParaRPr lang="en-US"/>
          </a:p>
        </p:txBody>
      </p:sp>
    </p:spTree>
    <p:extLst>
      <p:ext uri="{BB962C8B-B14F-4D97-AF65-F5344CB8AC3E}">
        <p14:creationId xmlns:p14="http://schemas.microsoft.com/office/powerpoint/2010/main" val="422564286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513" y="4800600"/>
            <a:ext cx="5940425"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941513" y="612775"/>
            <a:ext cx="594042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941513" y="5367338"/>
            <a:ext cx="594042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C68E5FA2-5579-48D2-AAEA-0395A9685864}" type="slidenum">
              <a:rPr lang="en-US"/>
              <a:pPr>
                <a:defRPr/>
              </a:pPr>
              <a:t>‹#›</a:t>
            </a:fld>
            <a:endParaRPr lang="en-US"/>
          </a:p>
        </p:txBody>
      </p:sp>
    </p:spTree>
    <p:extLst>
      <p:ext uri="{BB962C8B-B14F-4D97-AF65-F5344CB8AC3E}">
        <p14:creationId xmlns:p14="http://schemas.microsoft.com/office/powerpoint/2010/main" val="1610922350"/>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4EDE836C-C506-41B6-AE73-6EC51D540379}" type="slidenum">
              <a:rPr lang="en-US"/>
              <a:pPr>
                <a:defRPr/>
              </a:pPr>
              <a:t>‹#›</a:t>
            </a:fld>
            <a:endParaRPr lang="en-US"/>
          </a:p>
        </p:txBody>
      </p:sp>
    </p:spTree>
    <p:extLst>
      <p:ext uri="{BB962C8B-B14F-4D97-AF65-F5344CB8AC3E}">
        <p14:creationId xmlns:p14="http://schemas.microsoft.com/office/powerpoint/2010/main" val="2008190766"/>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9788" y="266700"/>
            <a:ext cx="2259012" cy="63627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2750" y="266700"/>
            <a:ext cx="6624638" cy="63627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C807D62A-A25F-4874-AB67-6CF4C9C4736C}" type="slidenum">
              <a:rPr lang="en-US"/>
              <a:pPr>
                <a:defRPr/>
              </a:pPr>
              <a:t>‹#›</a:t>
            </a:fld>
            <a:endParaRPr lang="en-US"/>
          </a:p>
        </p:txBody>
      </p:sp>
    </p:spTree>
    <p:extLst>
      <p:ext uri="{BB962C8B-B14F-4D97-AF65-F5344CB8AC3E}">
        <p14:creationId xmlns:p14="http://schemas.microsoft.com/office/powerpoint/2010/main" val="416842038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12750" y="266700"/>
            <a:ext cx="9036050" cy="1104900"/>
          </a:xfrm>
        </p:spPr>
        <p:txBody>
          <a:bodyPr/>
          <a:lstStyle/>
          <a:p>
            <a:r>
              <a:rPr lang="en-US"/>
              <a:t>Click to edit Master title style</a:t>
            </a:r>
          </a:p>
        </p:txBody>
      </p:sp>
      <p:sp>
        <p:nvSpPr>
          <p:cNvPr id="3" name="Table Placeholder 2"/>
          <p:cNvSpPr>
            <a:spLocks noGrp="1"/>
          </p:cNvSpPr>
          <p:nvPr>
            <p:ph type="tbl" idx="1"/>
          </p:nvPr>
        </p:nvSpPr>
        <p:spPr>
          <a:xfrm>
            <a:off x="412750" y="1676400"/>
            <a:ext cx="9036050" cy="4953000"/>
          </a:xfrm>
        </p:spPr>
        <p:txBody>
          <a:bodyPr/>
          <a:lstStyle/>
          <a:p>
            <a:pPr lvl="0"/>
            <a:endParaRPr lang="en-US" noProof="0"/>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5792DDC3-EFA3-4647-8A6E-E8039DA1A91A}" type="slidenum">
              <a:rPr lang="en-US"/>
              <a:pPr>
                <a:defRPr/>
              </a:pPr>
              <a:t>‹#›</a:t>
            </a:fld>
            <a:endParaRPr lang="en-US"/>
          </a:p>
        </p:txBody>
      </p:sp>
    </p:spTree>
    <p:extLst>
      <p:ext uri="{BB962C8B-B14F-4D97-AF65-F5344CB8AC3E}">
        <p14:creationId xmlns:p14="http://schemas.microsoft.com/office/powerpoint/2010/main" val="1249592127"/>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0" y="13716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1027" name="Rectangle 3"/>
          <p:cNvSpPr>
            <a:spLocks noGrp="1" noChangeArrowheads="1"/>
          </p:cNvSpPr>
          <p:nvPr>
            <p:ph type="title"/>
          </p:nvPr>
        </p:nvSpPr>
        <p:spPr bwMode="auto">
          <a:xfrm>
            <a:off x="412750" y="266700"/>
            <a:ext cx="9036050" cy="110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b" anchorCtr="0" compatLnSpc="1">
            <a:prstTxWarp prst="textNoShape">
              <a:avLst/>
            </a:prstTxWarp>
          </a:bodyPr>
          <a:lstStyle/>
          <a:p>
            <a:pPr lvl="0"/>
            <a:r>
              <a:rPr lang="en-US"/>
              <a:t>Click to edit Master title style</a:t>
            </a:r>
          </a:p>
        </p:txBody>
      </p:sp>
      <p:sp>
        <p:nvSpPr>
          <p:cNvPr id="1028" name="Rectangle 4"/>
          <p:cNvSpPr>
            <a:spLocks noGrp="1" noChangeArrowheads="1"/>
          </p:cNvSpPr>
          <p:nvPr>
            <p:ph type="body" idx="1"/>
          </p:nvPr>
        </p:nvSpPr>
        <p:spPr bwMode="auto">
          <a:xfrm>
            <a:off x="412750" y="1676400"/>
            <a:ext cx="9036050"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9" name="Rectangle 5"/>
          <p:cNvSpPr>
            <a:spLocks noGrp="1" noChangeArrowheads="1"/>
          </p:cNvSpPr>
          <p:nvPr>
            <p:ph type="dt" sz="half" idx="2"/>
          </p:nvPr>
        </p:nvSpPr>
        <p:spPr bwMode="auto">
          <a:xfrm>
            <a:off x="412750" y="6172200"/>
            <a:ext cx="2062163"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defRPr sz="1400">
                <a:solidFill>
                  <a:schemeClr val="folHlink"/>
                </a:solidFill>
              </a:defRPr>
            </a:lvl1pPr>
          </a:lstStyle>
          <a:p>
            <a:pPr>
              <a:defRPr/>
            </a:pPr>
            <a:endParaRPr lang="en-US"/>
          </a:p>
        </p:txBody>
      </p:sp>
      <p:sp>
        <p:nvSpPr>
          <p:cNvPr id="1030" name="Rectangle 6"/>
          <p:cNvSpPr>
            <a:spLocks noGrp="1" noChangeArrowheads="1"/>
          </p:cNvSpPr>
          <p:nvPr>
            <p:ph type="ftr" sz="quarter" idx="3"/>
          </p:nvPr>
        </p:nvSpPr>
        <p:spPr bwMode="auto">
          <a:xfrm>
            <a:off x="3382963" y="6172200"/>
            <a:ext cx="31369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a:defRPr sz="1400">
                <a:solidFill>
                  <a:schemeClr val="folHlink"/>
                </a:solidFill>
              </a:defRPr>
            </a:lvl1pPr>
          </a:lstStyle>
          <a:p>
            <a:pPr>
              <a:defRPr/>
            </a:pPr>
            <a:r>
              <a:rPr lang="en-US"/>
              <a:t>Software Quality</a:t>
            </a:r>
          </a:p>
        </p:txBody>
      </p:sp>
      <p:sp>
        <p:nvSpPr>
          <p:cNvPr id="1031" name="Rectangle 7"/>
          <p:cNvSpPr>
            <a:spLocks noGrp="1" noChangeArrowheads="1"/>
          </p:cNvSpPr>
          <p:nvPr>
            <p:ph type="sldNum" sz="quarter" idx="4"/>
          </p:nvPr>
        </p:nvSpPr>
        <p:spPr bwMode="auto">
          <a:xfrm>
            <a:off x="7427913" y="6172200"/>
            <a:ext cx="2062162"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a:defRPr sz="1400">
                <a:solidFill>
                  <a:schemeClr val="folHlink"/>
                </a:solidFill>
              </a:defRPr>
            </a:lvl1pPr>
          </a:lstStyle>
          <a:p>
            <a:pPr>
              <a:defRPr/>
            </a:pPr>
            <a:fld id="{BD8E331F-9D83-4245-9A62-97CA84DE22F4}"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868" r:id="rId1"/>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Lst>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28">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0" end="0"/>
                                            </p:txEl>
                                          </p:spTgt>
                                        </p:tgtEl>
                                        <p:attrNameLst>
                                          <p:attrName>ppt_c</p:attrName>
                                        </p:attrNameLst>
                                      </p:cBhvr>
                                      <p:to>
                                        <a:schemeClr val="folHlink"/>
                                      </p:to>
                                    </p:animClr>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028">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1" end="1"/>
                                            </p:txEl>
                                          </p:spTgt>
                                        </p:tgtEl>
                                        <p:attrNameLst>
                                          <p:attrName>ppt_c</p:attrName>
                                        </p:attrNameLst>
                                      </p:cBhvr>
                                      <p:to>
                                        <a:schemeClr val="folHlink"/>
                                      </p:to>
                                    </p:animClr>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028">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2" end="2"/>
                                            </p:txEl>
                                          </p:spTgt>
                                        </p:tgtEl>
                                        <p:attrNameLst>
                                          <p:attrName>ppt_c</p:attrName>
                                        </p:attrNameLst>
                                      </p:cBhvr>
                                      <p:to>
                                        <a:schemeClr val="folHlink"/>
                                      </p:to>
                                    </p:animClr>
                                  </p:subTnLst>
                                </p:cTn>
                              </p:par>
                              <p:par>
                                <p:cTn id="15" presetID="1" presetClass="entr" presetSubtype="0" fill="hold" grpId="0" nodeType="withEffect">
                                  <p:stCondLst>
                                    <p:cond delay="0"/>
                                  </p:stCondLst>
                                  <p:childTnLst>
                                    <p:set>
                                      <p:cBhvr>
                                        <p:cTn id="16" dur="1" fill="hold">
                                          <p:stCondLst>
                                            <p:cond delay="499"/>
                                          </p:stCondLst>
                                        </p:cTn>
                                        <p:tgtEl>
                                          <p:spTgt spid="1028">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3" end="3"/>
                                            </p:txEl>
                                          </p:spTgt>
                                        </p:tgtEl>
                                        <p:attrNameLst>
                                          <p:attrName>ppt_c</p:attrName>
                                        </p:attrNameLst>
                                      </p:cBhvr>
                                      <p:to>
                                        <a:schemeClr val="folHlink"/>
                                      </p:to>
                                    </p:animClr>
                                  </p:subTnLst>
                                </p:cTn>
                              </p:par>
                              <p:par>
                                <p:cTn id="17" presetID="1" presetClass="entr" presetSubtype="0" fill="hold" grpId="0" nodeType="withEffect">
                                  <p:stCondLst>
                                    <p:cond delay="0"/>
                                  </p:stCondLst>
                                  <p:childTnLst>
                                    <p:set>
                                      <p:cBhvr>
                                        <p:cTn id="18" dur="1" fill="hold">
                                          <p:stCondLst>
                                            <p:cond delay="499"/>
                                          </p:stCondLst>
                                        </p:cTn>
                                        <p:tgtEl>
                                          <p:spTgt spid="1028">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1028">
                                            <p:txEl>
                                              <p:pRg st="4" end="4"/>
                                            </p:txEl>
                                          </p:spTgt>
                                        </p:tgtEl>
                                        <p:attrNameLst>
                                          <p:attrName>ppt_c</p:attrName>
                                        </p:attrNameLst>
                                      </p:cBhvr>
                                      <p:to>
                                        <a:schemeClr val="folHlink"/>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8" grpId="0" build="p" bldLvl="3" autoUpdateAnimBg="0">
        <p:tmplLst>
          <p:tmpl lvl="1">
            <p:tnLst>
              <p:par>
                <p:cTn presetID="1" presetClass="entr" presetSubtype="0" fill="hold" nodeType="click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 lvl="2">
            <p:tnLst>
              <p:par>
                <p:cTn presetID="1" presetClass="entr" presetSubtype="0" fill="hold" nodeType="click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 lvl="3">
            <p:tnLst>
              <p:par>
                <p:cTn presetID="1" presetClass="entr" presetSubtype="0" fill="hold" nodeType="click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 lvl="4">
            <p:tnLst>
              <p:par>
                <p:cTn presetID="1" presetClass="entr" presetSubtype="0" fill="hold" nodeType="with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 lvl="5">
            <p:tnLst>
              <p:par>
                <p:cTn presetID="1" presetClass="entr" presetSubtype="0" fill="hold" nodeType="withEffect">
                  <p:stCondLst>
                    <p:cond delay="0"/>
                  </p:stCondLst>
                  <p:childTnLst>
                    <p:set>
                      <p:cBhvr>
                        <p:cTn dur="1" fill="hold">
                          <p:stCondLst>
                            <p:cond delay="499"/>
                          </p:stCondLst>
                        </p:cTn>
                        <p:tgtEl>
                          <p:spTgt spid="1028"/>
                        </p:tgtEl>
                        <p:attrNameLst>
                          <p:attrName>style.visibility</p:attrName>
                        </p:attrNameLst>
                      </p:cBhvr>
                      <p:to>
                        <p:strVal val="visible"/>
                      </p:to>
                    </p:set>
                  </p:childTnLst>
                  <p:subTnLst>
                    <p:animClr clrSpc="rgb" dir="cw">
                      <p:cBhvr override="childStyle">
                        <p:cTn dur="1" fill="hold" display="0" masterRel="nextClick" afterEffect="1"/>
                        <p:tgtEl>
                          <p:spTgt spid="1028"/>
                        </p:tgtEl>
                        <p:attrNameLst>
                          <p:attrName>ppt_c</p:attrName>
                        </p:attrNameLst>
                      </p:cBhvr>
                      <p:to>
                        <a:schemeClr val="folHlink"/>
                      </p:to>
                    </p:animClr>
                  </p:subTnLst>
                </p:cTn>
              </p:par>
            </p:tnLst>
          </p:tmpl>
        </p:tmplLst>
      </p:bldP>
    </p:bldLst>
  </p:timing>
  <p:hf hdr="0" ftr="0" dt="0"/>
  <p:txStyles>
    <p:titleStyle>
      <a:lvl1pPr algn="l" rtl="0" eaLnBrk="0" fontAlgn="base" hangingPunct="0">
        <a:lnSpc>
          <a:spcPct val="90000"/>
        </a:lnSpc>
        <a:spcBef>
          <a:spcPct val="0"/>
        </a:spcBef>
        <a:spcAft>
          <a:spcPct val="0"/>
        </a:spcAft>
        <a:defRPr sz="4400" b="1">
          <a:solidFill>
            <a:schemeClr val="tx2"/>
          </a:solidFill>
          <a:latin typeface="+mj-lt"/>
          <a:ea typeface="+mj-ea"/>
          <a:cs typeface="+mj-cs"/>
        </a:defRPr>
      </a:lvl1pPr>
      <a:lvl2pPr algn="l" rtl="0" eaLnBrk="0" fontAlgn="base" hangingPunct="0">
        <a:lnSpc>
          <a:spcPct val="90000"/>
        </a:lnSpc>
        <a:spcBef>
          <a:spcPct val="0"/>
        </a:spcBef>
        <a:spcAft>
          <a:spcPct val="0"/>
        </a:spcAft>
        <a:defRPr sz="4400" b="1">
          <a:solidFill>
            <a:schemeClr val="tx2"/>
          </a:solidFill>
          <a:latin typeface="Times New Roman" pitchFamily="18" charset="0"/>
        </a:defRPr>
      </a:lvl2pPr>
      <a:lvl3pPr algn="l" rtl="0" eaLnBrk="0" fontAlgn="base" hangingPunct="0">
        <a:lnSpc>
          <a:spcPct val="90000"/>
        </a:lnSpc>
        <a:spcBef>
          <a:spcPct val="0"/>
        </a:spcBef>
        <a:spcAft>
          <a:spcPct val="0"/>
        </a:spcAft>
        <a:defRPr sz="4400" b="1">
          <a:solidFill>
            <a:schemeClr val="tx2"/>
          </a:solidFill>
          <a:latin typeface="Times New Roman" pitchFamily="18" charset="0"/>
        </a:defRPr>
      </a:lvl3pPr>
      <a:lvl4pPr algn="l" rtl="0" eaLnBrk="0" fontAlgn="base" hangingPunct="0">
        <a:lnSpc>
          <a:spcPct val="90000"/>
        </a:lnSpc>
        <a:spcBef>
          <a:spcPct val="0"/>
        </a:spcBef>
        <a:spcAft>
          <a:spcPct val="0"/>
        </a:spcAft>
        <a:defRPr sz="4400" b="1">
          <a:solidFill>
            <a:schemeClr val="tx2"/>
          </a:solidFill>
          <a:latin typeface="Times New Roman" pitchFamily="18" charset="0"/>
        </a:defRPr>
      </a:lvl4pPr>
      <a:lvl5pPr algn="l" rtl="0" eaLnBrk="0" fontAlgn="base" hangingPunct="0">
        <a:lnSpc>
          <a:spcPct val="90000"/>
        </a:lnSpc>
        <a:spcBef>
          <a:spcPct val="0"/>
        </a:spcBef>
        <a:spcAft>
          <a:spcPct val="0"/>
        </a:spcAft>
        <a:defRPr sz="4400" b="1">
          <a:solidFill>
            <a:schemeClr val="tx2"/>
          </a:solidFill>
          <a:latin typeface="Times New Roman" pitchFamily="18" charset="0"/>
        </a:defRPr>
      </a:lvl5pPr>
      <a:lvl6pPr marL="457200" algn="l" rtl="0" eaLnBrk="0" fontAlgn="base" hangingPunct="0">
        <a:lnSpc>
          <a:spcPct val="90000"/>
        </a:lnSpc>
        <a:spcBef>
          <a:spcPct val="0"/>
        </a:spcBef>
        <a:spcAft>
          <a:spcPct val="0"/>
        </a:spcAft>
        <a:defRPr sz="4400" b="1">
          <a:solidFill>
            <a:schemeClr val="tx2"/>
          </a:solidFill>
          <a:latin typeface="Times New Roman" pitchFamily="18" charset="0"/>
        </a:defRPr>
      </a:lvl6pPr>
      <a:lvl7pPr marL="914400" algn="l" rtl="0" eaLnBrk="0" fontAlgn="base" hangingPunct="0">
        <a:lnSpc>
          <a:spcPct val="90000"/>
        </a:lnSpc>
        <a:spcBef>
          <a:spcPct val="0"/>
        </a:spcBef>
        <a:spcAft>
          <a:spcPct val="0"/>
        </a:spcAft>
        <a:defRPr sz="4400" b="1">
          <a:solidFill>
            <a:schemeClr val="tx2"/>
          </a:solidFill>
          <a:latin typeface="Times New Roman" pitchFamily="18" charset="0"/>
        </a:defRPr>
      </a:lvl7pPr>
      <a:lvl8pPr marL="1371600" algn="l" rtl="0" eaLnBrk="0" fontAlgn="base" hangingPunct="0">
        <a:lnSpc>
          <a:spcPct val="90000"/>
        </a:lnSpc>
        <a:spcBef>
          <a:spcPct val="0"/>
        </a:spcBef>
        <a:spcAft>
          <a:spcPct val="0"/>
        </a:spcAft>
        <a:defRPr sz="4400" b="1">
          <a:solidFill>
            <a:schemeClr val="tx2"/>
          </a:solidFill>
          <a:latin typeface="Times New Roman" pitchFamily="18" charset="0"/>
        </a:defRPr>
      </a:lvl8pPr>
      <a:lvl9pPr marL="1828800" algn="l" rtl="0" eaLnBrk="0" fontAlgn="base" hangingPunct="0">
        <a:lnSpc>
          <a:spcPct val="90000"/>
        </a:lnSpc>
        <a:spcBef>
          <a:spcPct val="0"/>
        </a:spcBef>
        <a:spcAft>
          <a:spcPct val="0"/>
        </a:spcAft>
        <a:defRPr sz="4400" b="1">
          <a:solidFill>
            <a:schemeClr val="tx2"/>
          </a:solidFill>
          <a:latin typeface="Times New Roman" pitchFamily="18" charset="0"/>
        </a:defRPr>
      </a:lvl9pPr>
    </p:titleStyle>
    <p:bodyStyle>
      <a:lvl1pPr marL="398463" indent="-398463" algn="l" rtl="0" eaLnBrk="0" fontAlgn="base" hangingPunct="0">
        <a:spcBef>
          <a:spcPct val="20000"/>
        </a:spcBef>
        <a:spcAft>
          <a:spcPct val="0"/>
        </a:spcAft>
        <a:buClr>
          <a:schemeClr val="tx2"/>
        </a:buClr>
        <a:buSzPct val="60000"/>
        <a:buFont typeface="Wingdings" pitchFamily="2" charset="2"/>
        <a:buChar char="u"/>
        <a:defRPr sz="3200">
          <a:solidFill>
            <a:schemeClr val="tx1"/>
          </a:solidFill>
          <a:latin typeface="+mn-lt"/>
          <a:ea typeface="+mn-ea"/>
          <a:cs typeface="+mn-cs"/>
        </a:defRPr>
      </a:lvl1pPr>
      <a:lvl2pPr marL="862013" indent="-349250" algn="l" rtl="0" eaLnBrk="0" fontAlgn="base" hangingPunct="0">
        <a:spcBef>
          <a:spcPct val="20000"/>
        </a:spcBef>
        <a:spcAft>
          <a:spcPct val="0"/>
        </a:spcAft>
        <a:buClr>
          <a:schemeClr val="tx2"/>
        </a:buClr>
        <a:buSzPct val="60000"/>
        <a:buFont typeface="Wingdings" pitchFamily="2" charset="2"/>
        <a:buChar char="n"/>
        <a:defRPr sz="2800">
          <a:solidFill>
            <a:schemeClr val="tx1"/>
          </a:solidFill>
          <a:latin typeface="+mn-lt"/>
        </a:defRPr>
      </a:lvl2pPr>
      <a:lvl3pPr marL="1262063" indent="-285750" algn="l" rtl="0" eaLnBrk="0" fontAlgn="base" hangingPunct="0">
        <a:spcBef>
          <a:spcPct val="20000"/>
        </a:spcBef>
        <a:spcAft>
          <a:spcPct val="0"/>
        </a:spcAft>
        <a:buClr>
          <a:schemeClr val="tx1"/>
        </a:buClr>
        <a:buSzPct val="60000"/>
        <a:buFont typeface="Wingdings" pitchFamily="2" charset="2"/>
        <a:buChar char="n"/>
        <a:defRPr sz="2400">
          <a:solidFill>
            <a:schemeClr val="tx1"/>
          </a:solidFill>
          <a:latin typeface="+mn-lt"/>
        </a:defRPr>
      </a:lvl3pPr>
      <a:lvl4pPr marL="1660525" indent="-284163" algn="l" rtl="0" eaLnBrk="0" fontAlgn="base" hangingPunct="0">
        <a:spcBef>
          <a:spcPct val="20000"/>
        </a:spcBef>
        <a:spcAft>
          <a:spcPct val="0"/>
        </a:spcAft>
        <a:buClr>
          <a:schemeClr val="tx1"/>
        </a:buClr>
        <a:buSzPct val="60000"/>
        <a:buFont typeface="Wingdings" pitchFamily="2" charset="2"/>
        <a:buChar char="u"/>
        <a:defRPr sz="2000">
          <a:solidFill>
            <a:schemeClr val="tx1"/>
          </a:solidFill>
          <a:latin typeface="+mn-lt"/>
        </a:defRPr>
      </a:lvl4pPr>
      <a:lvl5pPr marL="20589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5pPr>
      <a:lvl6pPr marL="25161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6pPr>
      <a:lvl7pPr marL="29733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7pPr>
      <a:lvl8pPr marL="34305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8pPr>
      <a:lvl9pPr marL="38877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template-selector.ieee.org/secure/templateSelector/publicationType"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1031"/>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itchFamily="18" charset="0"/>
              </a:defRPr>
            </a:lvl1pPr>
            <a:lvl2pPr marL="742950" indent="-285750">
              <a:defRPr sz="2800">
                <a:solidFill>
                  <a:schemeClr val="tx1"/>
                </a:solidFill>
                <a:latin typeface="Times New Roman" pitchFamily="18" charset="0"/>
              </a:defRPr>
            </a:lvl2pPr>
            <a:lvl3pPr marL="1143000" indent="-228600">
              <a:defRPr sz="2800">
                <a:solidFill>
                  <a:schemeClr val="tx1"/>
                </a:solidFill>
                <a:latin typeface="Times New Roman" pitchFamily="18" charset="0"/>
              </a:defRPr>
            </a:lvl3pPr>
            <a:lvl4pPr marL="1600200" indent="-228600">
              <a:defRPr sz="2800">
                <a:solidFill>
                  <a:schemeClr val="tx1"/>
                </a:solidFill>
                <a:latin typeface="Times New Roman" pitchFamily="18" charset="0"/>
              </a:defRPr>
            </a:lvl4pPr>
            <a:lvl5pPr marL="2057400" indent="-228600">
              <a:defRPr sz="2800">
                <a:solidFill>
                  <a:schemeClr val="tx1"/>
                </a:solidFill>
                <a:latin typeface="Times New Roman" pitchFamily="18" charset="0"/>
              </a:defRPr>
            </a:lvl5pPr>
            <a:lvl6pPr marL="2514600" indent="-228600" eaLnBrk="0" fontAlgn="base" hangingPunct="0">
              <a:spcBef>
                <a:spcPct val="0"/>
              </a:spcBef>
              <a:spcAft>
                <a:spcPct val="0"/>
              </a:spcAft>
              <a:defRPr sz="2800">
                <a:solidFill>
                  <a:schemeClr val="tx1"/>
                </a:solidFill>
                <a:latin typeface="Times New Roman" pitchFamily="18" charset="0"/>
              </a:defRPr>
            </a:lvl6pPr>
            <a:lvl7pPr marL="2971800" indent="-228600" eaLnBrk="0" fontAlgn="base" hangingPunct="0">
              <a:spcBef>
                <a:spcPct val="0"/>
              </a:spcBef>
              <a:spcAft>
                <a:spcPct val="0"/>
              </a:spcAft>
              <a:defRPr sz="2800">
                <a:solidFill>
                  <a:schemeClr val="tx1"/>
                </a:solidFill>
                <a:latin typeface="Times New Roman" pitchFamily="18" charset="0"/>
              </a:defRPr>
            </a:lvl7pPr>
            <a:lvl8pPr marL="3429000" indent="-228600" eaLnBrk="0" fontAlgn="base" hangingPunct="0">
              <a:spcBef>
                <a:spcPct val="0"/>
              </a:spcBef>
              <a:spcAft>
                <a:spcPct val="0"/>
              </a:spcAft>
              <a:defRPr sz="2800">
                <a:solidFill>
                  <a:schemeClr val="tx1"/>
                </a:solidFill>
                <a:latin typeface="Times New Roman" pitchFamily="18" charset="0"/>
              </a:defRPr>
            </a:lvl8pPr>
            <a:lvl9pPr marL="3886200" indent="-228600" eaLnBrk="0" fontAlgn="base" hangingPunct="0">
              <a:spcBef>
                <a:spcPct val="0"/>
              </a:spcBef>
              <a:spcAft>
                <a:spcPct val="0"/>
              </a:spcAft>
              <a:defRPr sz="2800">
                <a:solidFill>
                  <a:schemeClr val="tx1"/>
                </a:solidFill>
                <a:latin typeface="Times New Roman" pitchFamily="18" charset="0"/>
              </a:defRPr>
            </a:lvl9pPr>
          </a:lstStyle>
          <a:p>
            <a:fld id="{0465E2E4-7374-46A0-BB59-F56978D5F671}" type="slidenum">
              <a:rPr lang="en-US" sz="1400" smtClean="0">
                <a:solidFill>
                  <a:schemeClr val="folHlink"/>
                </a:solidFill>
              </a:rPr>
              <a:pPr/>
              <a:t>1</a:t>
            </a:fld>
            <a:endParaRPr lang="en-US" sz="1400">
              <a:solidFill>
                <a:schemeClr val="folHlink"/>
              </a:solidFill>
            </a:endParaRPr>
          </a:p>
        </p:txBody>
      </p:sp>
      <p:sp>
        <p:nvSpPr>
          <p:cNvPr id="3075" name="Rectangle 2"/>
          <p:cNvSpPr>
            <a:spLocks noGrp="1" noChangeArrowheads="1"/>
          </p:cNvSpPr>
          <p:nvPr>
            <p:ph type="ctrTitle"/>
          </p:nvPr>
        </p:nvSpPr>
        <p:spPr>
          <a:xfrm>
            <a:off x="412750" y="609600"/>
            <a:ext cx="9034463" cy="2743200"/>
          </a:xfrm>
          <a:noFill/>
        </p:spPr>
        <p:txBody>
          <a:bodyPr/>
          <a:lstStyle/>
          <a:p>
            <a:br>
              <a:rPr lang="en-US" sz="7200" dirty="0"/>
            </a:br>
            <a:r>
              <a:rPr lang="en-US" sz="7200" dirty="0"/>
              <a:t>Course Project </a:t>
            </a:r>
            <a:br>
              <a:rPr lang="en-US" sz="7200" dirty="0"/>
            </a:br>
            <a:r>
              <a:rPr lang="en-US" sz="4800" dirty="0"/>
              <a:t>in CS5351 Software Engineering</a:t>
            </a:r>
            <a:endParaRPr lang="en-US" sz="7200" dirty="0"/>
          </a:p>
        </p:txBody>
      </p:sp>
      <p:sp>
        <p:nvSpPr>
          <p:cNvPr id="3076" name="Rectangle 3"/>
          <p:cNvSpPr>
            <a:spLocks noGrp="1" noChangeArrowheads="1"/>
          </p:cNvSpPr>
          <p:nvPr>
            <p:ph type="subTitle" idx="1"/>
          </p:nvPr>
        </p:nvSpPr>
        <p:spPr>
          <a:xfrm>
            <a:off x="455613" y="3886200"/>
            <a:ext cx="9067800" cy="2667000"/>
          </a:xfrm>
          <a:noFill/>
        </p:spPr>
        <p:txBody>
          <a:bodyPr/>
          <a:lstStyle/>
          <a:p>
            <a:pPr>
              <a:lnSpc>
                <a:spcPct val="90000"/>
              </a:lnSpc>
            </a:pPr>
            <a:r>
              <a:rPr lang="en-US" sz="4000" dirty="0"/>
              <a:t>Dr W.K. Chan</a:t>
            </a:r>
          </a:p>
          <a:p>
            <a:pPr>
              <a:lnSpc>
                <a:spcPct val="90000"/>
              </a:lnSpc>
            </a:pPr>
            <a:r>
              <a:rPr lang="en-US" sz="2400" dirty="0"/>
              <a:t>Department of Computer Science</a:t>
            </a:r>
          </a:p>
          <a:p>
            <a:pPr>
              <a:lnSpc>
                <a:spcPct val="90000"/>
              </a:lnSpc>
            </a:pPr>
            <a:r>
              <a:rPr lang="en-US" sz="2400" dirty="0"/>
              <a:t>Email:</a:t>
            </a:r>
            <a:r>
              <a:rPr lang="en-US" sz="1800" dirty="0">
                <a:latin typeface="Courier New" pitchFamily="49" charset="0"/>
              </a:rPr>
              <a:t> </a:t>
            </a:r>
            <a:r>
              <a:rPr lang="en-US" sz="2000" b="1" dirty="0">
                <a:latin typeface="Courier New" pitchFamily="49" charset="0"/>
              </a:rPr>
              <a:t>wkchan@cityu.edu.hk</a:t>
            </a:r>
            <a:endParaRPr lang="en-US" sz="2000" dirty="0">
              <a:latin typeface="Courier New" pitchFamily="49" charset="0"/>
            </a:endParaRPr>
          </a:p>
          <a:p>
            <a:pPr>
              <a:lnSpc>
                <a:spcPct val="90000"/>
              </a:lnSpc>
            </a:pPr>
            <a:r>
              <a:rPr lang="en-US" sz="2400" dirty="0"/>
              <a:t>Website:</a:t>
            </a:r>
            <a:r>
              <a:rPr lang="en-US" sz="1800" dirty="0">
                <a:latin typeface="Courier New" pitchFamily="49" charset="0"/>
              </a:rPr>
              <a:t> </a:t>
            </a:r>
            <a:r>
              <a:rPr lang="en-US" sz="2000" b="1" dirty="0">
                <a:latin typeface="Courier New" pitchFamily="49" charset="0"/>
              </a:rPr>
              <a:t>http://www.cs.cityu.edu.hk/~wkchan </a:t>
            </a:r>
            <a:endParaRPr lang="en-US" sz="2000" b="1" dirty="0">
              <a:solidFill>
                <a:schemeClr val="folHlink"/>
              </a:solidFill>
            </a:endParaRPr>
          </a:p>
          <a:p>
            <a:pPr>
              <a:lnSpc>
                <a:spcPct val="90000"/>
              </a:lnSpc>
            </a:pPr>
            <a:endParaRPr lang="en-US" sz="2000" b="1" dirty="0">
              <a:solidFill>
                <a:schemeClr val="folHlink"/>
              </a:solidFill>
            </a:endParaRPr>
          </a:p>
          <a:p>
            <a:pPr>
              <a:lnSpc>
                <a:spcPct val="90000"/>
              </a:lnSpc>
            </a:pPr>
            <a:endParaRPr lang="en-US" sz="2000" b="1" dirty="0">
              <a:solidFill>
                <a:schemeClr val="folHlink"/>
              </a:solidFill>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 </a:t>
            </a:r>
          </a:p>
        </p:txBody>
      </p:sp>
      <p:sp>
        <p:nvSpPr>
          <p:cNvPr id="3" name="Content Placeholder 2"/>
          <p:cNvSpPr>
            <a:spLocks noGrp="1"/>
          </p:cNvSpPr>
          <p:nvPr>
            <p:ph idx="1"/>
          </p:nvPr>
        </p:nvSpPr>
        <p:spPr>
          <a:xfrm>
            <a:off x="74612" y="1447800"/>
            <a:ext cx="9753600" cy="4953000"/>
          </a:xfrm>
        </p:spPr>
        <p:txBody>
          <a:bodyPr/>
          <a:lstStyle/>
          <a:p>
            <a:r>
              <a:rPr lang="en-HK" sz="2800" dirty="0"/>
              <a:t>This is a </a:t>
            </a:r>
            <a:r>
              <a:rPr lang="en-HK" sz="2800" b="1" dirty="0"/>
              <a:t>code project</a:t>
            </a:r>
          </a:p>
          <a:p>
            <a:r>
              <a:rPr lang="en-HK" sz="2800" dirty="0"/>
              <a:t>This is a </a:t>
            </a:r>
            <a:r>
              <a:rPr lang="en-HK" sz="2800" b="1" dirty="0"/>
              <a:t>team-based project </a:t>
            </a:r>
          </a:p>
          <a:p>
            <a:pPr lvl="1"/>
            <a:r>
              <a:rPr lang="en-HK" sz="2400" dirty="0"/>
              <a:t>The complexity of a smooth project is in the collaboration among team members</a:t>
            </a:r>
          </a:p>
          <a:p>
            <a:r>
              <a:rPr lang="en-HK" sz="2800" dirty="0"/>
              <a:t>This is a project </a:t>
            </a:r>
            <a:r>
              <a:rPr lang="en-HK" sz="2800" b="1" dirty="0"/>
              <a:t>implementing your creative research-oriented idea</a:t>
            </a:r>
            <a:endParaRPr lang="en-HK" sz="2800" dirty="0"/>
          </a:p>
          <a:p>
            <a:r>
              <a:rPr lang="en-HK" sz="2800" dirty="0"/>
              <a:t>Develop a </a:t>
            </a:r>
            <a:r>
              <a:rPr lang="en-HK" sz="2800" b="1" dirty="0"/>
              <a:t>software engineering tool</a:t>
            </a:r>
          </a:p>
          <a:p>
            <a:pPr lvl="2"/>
            <a:r>
              <a:rPr lang="en-HK" dirty="0"/>
              <a:t> E.g.., a tool for the programming tasks for programmers, a tool for the software design tasks for system analysts, a tool for the project management tasks for the team</a:t>
            </a:r>
            <a:endParaRPr lang="en-HK" sz="1600" dirty="0"/>
          </a:p>
          <a:p>
            <a:r>
              <a:rPr lang="en-HK" sz="2000" b="1" dirty="0"/>
              <a:t>Warning</a:t>
            </a:r>
            <a:r>
              <a:rPr lang="en-HK" sz="2000" dirty="0"/>
              <a:t>: Do NOT simply write a training script for machine learning as your project or an app like a room booking system. They are not software engineering tools. Your team will receive </a:t>
            </a:r>
            <a:r>
              <a:rPr lang="en-HK" sz="2000" b="1" dirty="0">
                <a:solidFill>
                  <a:schemeClr val="bg2"/>
                </a:solidFill>
              </a:rPr>
              <a:t>zero</a:t>
            </a:r>
            <a:r>
              <a:rPr lang="en-HK" sz="2000" dirty="0"/>
              <a:t> marks by then.</a:t>
            </a:r>
          </a:p>
          <a:p>
            <a:pPr marL="512763" lvl="1" indent="0">
              <a:buNone/>
            </a:pPr>
            <a:endParaRPr lang="en-US" dirty="0"/>
          </a:p>
          <a:p>
            <a:pPr lvl="1"/>
            <a:endParaRPr lang="en-US" sz="2400" dirty="0"/>
          </a:p>
          <a:p>
            <a:pPr lvl="1"/>
            <a:endParaRPr lang="en-US" sz="2400" dirty="0"/>
          </a:p>
        </p:txBody>
      </p:sp>
      <p:sp>
        <p:nvSpPr>
          <p:cNvPr id="4" name="Slide Number Placeholder 3"/>
          <p:cNvSpPr>
            <a:spLocks noGrp="1"/>
          </p:cNvSpPr>
          <p:nvPr>
            <p:ph type="sldNum" sz="quarter" idx="12"/>
          </p:nvPr>
        </p:nvSpPr>
        <p:spPr/>
        <p:txBody>
          <a:bodyPr/>
          <a:lstStyle/>
          <a:p>
            <a:pPr>
              <a:defRPr/>
            </a:pPr>
            <a:fld id="{63B8F44C-0EDE-4D7D-9086-BD1CF3CE7AF7}" type="slidenum">
              <a:rPr lang="en-US" smtClean="0"/>
              <a:pPr>
                <a:defRPr/>
              </a:pPr>
              <a:t>2</a:t>
            </a:fld>
            <a:endParaRPr lang="en-US" dirty="0"/>
          </a:p>
        </p:txBody>
      </p:sp>
    </p:spTree>
    <p:extLst>
      <p:ext uri="{BB962C8B-B14F-4D97-AF65-F5344CB8AC3E}">
        <p14:creationId xmlns:p14="http://schemas.microsoft.com/office/powerpoint/2010/main" val="198789874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D11D5-8539-4109-AFD9-FAF7B60C6138}"/>
              </a:ext>
            </a:extLst>
          </p:cNvPr>
          <p:cNvSpPr>
            <a:spLocks noGrp="1"/>
          </p:cNvSpPr>
          <p:nvPr>
            <p:ph type="title"/>
          </p:nvPr>
        </p:nvSpPr>
        <p:spPr/>
        <p:txBody>
          <a:bodyPr/>
          <a:lstStyle/>
          <a:p>
            <a:r>
              <a:rPr lang="en-HK" dirty="0"/>
              <a:t>Project Size and Effort/Student</a:t>
            </a:r>
          </a:p>
        </p:txBody>
      </p:sp>
      <p:sp>
        <p:nvSpPr>
          <p:cNvPr id="3" name="Content Placeholder 2">
            <a:extLst>
              <a:ext uri="{FF2B5EF4-FFF2-40B4-BE49-F238E27FC236}">
                <a16:creationId xmlns:a16="http://schemas.microsoft.com/office/drawing/2014/main" id="{A987925A-1BAD-41FD-83D9-86EFD3C7028B}"/>
              </a:ext>
            </a:extLst>
          </p:cNvPr>
          <p:cNvSpPr>
            <a:spLocks noGrp="1"/>
          </p:cNvSpPr>
          <p:nvPr>
            <p:ph idx="1"/>
          </p:nvPr>
        </p:nvSpPr>
        <p:spPr/>
        <p:txBody>
          <a:bodyPr/>
          <a:lstStyle/>
          <a:p>
            <a:r>
              <a:rPr lang="en-HK" sz="2800" dirty="0"/>
              <a:t>The project accounts for 30% of the coursework component. </a:t>
            </a:r>
          </a:p>
          <a:p>
            <a:r>
              <a:rPr lang="en-HK" sz="2800" dirty="0"/>
              <a:t>E.g., For a team of 6 students, the project size is akin to a single-person final-year project (FYP) in your undergraduate degree.</a:t>
            </a:r>
          </a:p>
          <a:p>
            <a:pPr lvl="1"/>
            <a:r>
              <a:rPr lang="en-HK" sz="2400" dirty="0"/>
              <a:t>Assessment Expectation: Each student will spend </a:t>
            </a:r>
            <a:r>
              <a:rPr lang="en-HK" sz="2400" b="1" dirty="0"/>
              <a:t>30 to 40 man-hours </a:t>
            </a:r>
            <a:r>
              <a:rPr lang="en-HK" sz="2400" dirty="0"/>
              <a:t>on the project</a:t>
            </a:r>
          </a:p>
          <a:p>
            <a:pPr lvl="2"/>
            <a:r>
              <a:rPr lang="en-HK" sz="2000" dirty="0"/>
              <a:t>Including everything.</a:t>
            </a:r>
          </a:p>
          <a:p>
            <a:pPr marL="976313" lvl="2" indent="0">
              <a:buNone/>
            </a:pPr>
            <a:endParaRPr lang="en-HK" sz="1400" dirty="0"/>
          </a:p>
          <a:p>
            <a:pPr marL="512763" lvl="1" indent="0">
              <a:buNone/>
            </a:pPr>
            <a:endParaRPr lang="en-HK" sz="2400" dirty="0"/>
          </a:p>
        </p:txBody>
      </p:sp>
      <p:sp>
        <p:nvSpPr>
          <p:cNvPr id="4" name="Slide Number Placeholder 3">
            <a:extLst>
              <a:ext uri="{FF2B5EF4-FFF2-40B4-BE49-F238E27FC236}">
                <a16:creationId xmlns:a16="http://schemas.microsoft.com/office/drawing/2014/main" id="{51E56F62-1580-4F9E-9624-AC8B0C179635}"/>
              </a:ext>
            </a:extLst>
          </p:cNvPr>
          <p:cNvSpPr>
            <a:spLocks noGrp="1"/>
          </p:cNvSpPr>
          <p:nvPr>
            <p:ph type="sldNum" sz="quarter" idx="12"/>
          </p:nvPr>
        </p:nvSpPr>
        <p:spPr/>
        <p:txBody>
          <a:bodyPr/>
          <a:lstStyle/>
          <a:p>
            <a:pPr>
              <a:defRPr/>
            </a:pPr>
            <a:fld id="{63B8F44C-0EDE-4D7D-9086-BD1CF3CE7AF7}" type="slidenum">
              <a:rPr lang="en-US" smtClean="0"/>
              <a:pPr>
                <a:defRPr/>
              </a:pPr>
              <a:t>3</a:t>
            </a:fld>
            <a:endParaRPr lang="en-US" dirty="0"/>
          </a:p>
        </p:txBody>
      </p:sp>
    </p:spTree>
    <p:extLst>
      <p:ext uri="{BB962C8B-B14F-4D97-AF65-F5344CB8AC3E}">
        <p14:creationId xmlns:p14="http://schemas.microsoft.com/office/powerpoint/2010/main" val="155904688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28462EFF-4C42-48D2-9FB8-930B13165B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7578FE-DC34-ED26-66A8-31D3F0C6AA2F}"/>
              </a:ext>
            </a:extLst>
          </p:cNvPr>
          <p:cNvSpPr>
            <a:spLocks noGrp="1"/>
          </p:cNvSpPr>
          <p:nvPr>
            <p:ph type="title"/>
          </p:nvPr>
        </p:nvSpPr>
        <p:spPr/>
        <p:txBody>
          <a:bodyPr/>
          <a:lstStyle/>
          <a:p>
            <a:r>
              <a:rPr lang="en-HK" dirty="0"/>
              <a:t>Suggested Principle to Avoid Disputes Among Team Members</a:t>
            </a:r>
          </a:p>
        </p:txBody>
      </p:sp>
      <p:sp>
        <p:nvSpPr>
          <p:cNvPr id="3" name="Content Placeholder 2">
            <a:extLst>
              <a:ext uri="{FF2B5EF4-FFF2-40B4-BE49-F238E27FC236}">
                <a16:creationId xmlns:a16="http://schemas.microsoft.com/office/drawing/2014/main" id="{B4456D58-AC84-CBF6-1760-5C04B8265CBE}"/>
              </a:ext>
            </a:extLst>
          </p:cNvPr>
          <p:cNvSpPr>
            <a:spLocks noGrp="1"/>
          </p:cNvSpPr>
          <p:nvPr>
            <p:ph idx="1"/>
          </p:nvPr>
        </p:nvSpPr>
        <p:spPr/>
        <p:txBody>
          <a:bodyPr/>
          <a:lstStyle/>
          <a:p>
            <a:r>
              <a:rPr lang="en-HK" sz="2800" dirty="0"/>
              <a:t>If an </a:t>
            </a:r>
            <a:r>
              <a:rPr lang="en-HK" sz="2800" b="1" dirty="0"/>
              <a:t>average</a:t>
            </a:r>
            <a:r>
              <a:rPr lang="en-HK" sz="2800" dirty="0"/>
              <a:t> programmer takes 3 man-hours to complete a task, and a specific programmer </a:t>
            </a:r>
            <a:r>
              <a:rPr lang="en-HK" sz="2800" i="1" dirty="0"/>
              <a:t>S</a:t>
            </a:r>
            <a:r>
              <a:rPr lang="en-HK" sz="2800" dirty="0"/>
              <a:t> takes 10 hours to deliver it. </a:t>
            </a:r>
            <a:r>
              <a:rPr lang="en-HK" sz="2800" i="1" dirty="0"/>
              <a:t>S</a:t>
            </a:r>
            <a:r>
              <a:rPr lang="en-HK" sz="2800" dirty="0"/>
              <a:t> should only be credited with 3 man-hours. </a:t>
            </a:r>
          </a:p>
          <a:p>
            <a:pPr lvl="1"/>
            <a:r>
              <a:rPr lang="en-HK" sz="2400" dirty="0"/>
              <a:t>Ensure your team sets up the principle upfront and agree on it.</a:t>
            </a:r>
          </a:p>
          <a:p>
            <a:pPr lvl="1"/>
            <a:r>
              <a:rPr lang="en-HK" sz="2400" dirty="0"/>
              <a:t>Rather than using man-hours, a team may choose to Story Point of a task. E.g., 3 points for a task, irrespective to whether S spent 3 hours or 30 hours to complete it.</a:t>
            </a:r>
          </a:p>
          <a:p>
            <a:pPr lvl="1"/>
            <a:r>
              <a:rPr lang="en-HK" sz="2400" dirty="0"/>
              <a:t>Break down a large task into smaller tasks before estimation</a:t>
            </a:r>
          </a:p>
          <a:p>
            <a:pPr lvl="1"/>
            <a:r>
              <a:rPr lang="en-HK" sz="2400" dirty="0"/>
              <a:t>Estimate and gain consensus before task (re-)assignment </a:t>
            </a:r>
          </a:p>
          <a:p>
            <a:pPr lvl="2"/>
            <a:r>
              <a:rPr lang="en-HK" sz="1800" dirty="0"/>
              <a:t>Do not let the one who picks up a task to report the actual to serve as the estimate (it does not work!)</a:t>
            </a:r>
          </a:p>
          <a:p>
            <a:pPr lvl="2"/>
            <a:r>
              <a:rPr lang="en-HK" sz="1800" dirty="0"/>
              <a:t>Task re-assignment should get the consensus among team members and confirm the man-hour/story points received before the re-assignment.</a:t>
            </a:r>
          </a:p>
          <a:p>
            <a:pPr lvl="2"/>
            <a:endParaRPr lang="en-HK" sz="2000" dirty="0"/>
          </a:p>
          <a:p>
            <a:pPr marL="512763" lvl="1" indent="0">
              <a:buNone/>
            </a:pPr>
            <a:endParaRPr lang="en-HK" sz="3600" dirty="0"/>
          </a:p>
        </p:txBody>
      </p:sp>
      <p:sp>
        <p:nvSpPr>
          <p:cNvPr id="4" name="Slide Number Placeholder 3">
            <a:extLst>
              <a:ext uri="{FF2B5EF4-FFF2-40B4-BE49-F238E27FC236}">
                <a16:creationId xmlns:a16="http://schemas.microsoft.com/office/drawing/2014/main" id="{B03062C9-45E3-05C0-374B-BCC41EA2EF1A}"/>
              </a:ext>
            </a:extLst>
          </p:cNvPr>
          <p:cNvSpPr>
            <a:spLocks noGrp="1"/>
          </p:cNvSpPr>
          <p:nvPr>
            <p:ph type="sldNum" sz="quarter" idx="12"/>
          </p:nvPr>
        </p:nvSpPr>
        <p:spPr/>
        <p:txBody>
          <a:bodyPr/>
          <a:lstStyle/>
          <a:p>
            <a:pPr>
              <a:defRPr/>
            </a:pPr>
            <a:fld id="{63B8F44C-0EDE-4D7D-9086-BD1CF3CE7AF7}" type="slidenum">
              <a:rPr lang="en-US" smtClean="0"/>
              <a:pPr>
                <a:defRPr/>
              </a:pPr>
              <a:t>4</a:t>
            </a:fld>
            <a:endParaRPr lang="en-US" dirty="0"/>
          </a:p>
        </p:txBody>
      </p:sp>
    </p:spTree>
    <p:extLst>
      <p:ext uri="{BB962C8B-B14F-4D97-AF65-F5344CB8AC3E}">
        <p14:creationId xmlns:p14="http://schemas.microsoft.com/office/powerpoint/2010/main" val="261957191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CD0CF-6DCB-34A3-3BC1-3AE98F4EB0F5}"/>
              </a:ext>
            </a:extLst>
          </p:cNvPr>
          <p:cNvSpPr>
            <a:spLocks noGrp="1"/>
          </p:cNvSpPr>
          <p:nvPr>
            <p:ph type="title"/>
          </p:nvPr>
        </p:nvSpPr>
        <p:spPr/>
        <p:txBody>
          <a:bodyPr/>
          <a:lstStyle/>
          <a:p>
            <a:r>
              <a:rPr lang="en-US" dirty="0"/>
              <a:t>Project Progress</a:t>
            </a:r>
            <a:endParaRPr lang="en-HK" dirty="0"/>
          </a:p>
        </p:txBody>
      </p:sp>
      <p:sp>
        <p:nvSpPr>
          <p:cNvPr id="3" name="Content Placeholder 2">
            <a:extLst>
              <a:ext uri="{FF2B5EF4-FFF2-40B4-BE49-F238E27FC236}">
                <a16:creationId xmlns:a16="http://schemas.microsoft.com/office/drawing/2014/main" id="{EC2AE500-B17E-C9B6-2084-4444C0B35A96}"/>
              </a:ext>
            </a:extLst>
          </p:cNvPr>
          <p:cNvSpPr>
            <a:spLocks noGrp="1"/>
          </p:cNvSpPr>
          <p:nvPr>
            <p:ph idx="1"/>
          </p:nvPr>
        </p:nvSpPr>
        <p:spPr>
          <a:xfrm>
            <a:off x="412750" y="1676400"/>
            <a:ext cx="9263062" cy="4953000"/>
          </a:xfrm>
        </p:spPr>
        <p:txBody>
          <a:bodyPr/>
          <a:lstStyle/>
          <a:p>
            <a:r>
              <a:rPr lang="en-US" sz="2800" dirty="0"/>
              <a:t>At least two </a:t>
            </a:r>
            <a:r>
              <a:rPr lang="en-US" sz="2800" b="1" dirty="0"/>
              <a:t>non-functional</a:t>
            </a:r>
            <a:r>
              <a:rPr lang="en-US" sz="2800" dirty="0"/>
              <a:t> requirements</a:t>
            </a:r>
          </a:p>
          <a:p>
            <a:pPr lvl="1"/>
            <a:r>
              <a:rPr lang="en-US" sz="2000" dirty="0"/>
              <a:t>Each non-functional requirement is required to be addressed by a software architectural design option with a rationale</a:t>
            </a:r>
          </a:p>
          <a:p>
            <a:r>
              <a:rPr lang="en-US" sz="2400" dirty="0"/>
              <a:t>Apply an Agile methodology with at least three cycles (sprints in Scrum) over 12 weeks as the whole project period</a:t>
            </a:r>
          </a:p>
          <a:p>
            <a:endParaRPr lang="en-US" sz="2400" dirty="0"/>
          </a:p>
          <a:p>
            <a:endParaRPr lang="en-US" sz="2400" dirty="0"/>
          </a:p>
          <a:p>
            <a:endParaRPr lang="en-US" sz="2400" dirty="0"/>
          </a:p>
          <a:p>
            <a:endParaRPr lang="en-US" sz="2400" dirty="0"/>
          </a:p>
          <a:p>
            <a:endParaRPr lang="en-US" sz="2400" dirty="0"/>
          </a:p>
          <a:p>
            <a:endParaRPr lang="en-US" sz="2400" dirty="0"/>
          </a:p>
        </p:txBody>
      </p:sp>
      <p:sp>
        <p:nvSpPr>
          <p:cNvPr id="4" name="Slide Number Placeholder 3">
            <a:extLst>
              <a:ext uri="{FF2B5EF4-FFF2-40B4-BE49-F238E27FC236}">
                <a16:creationId xmlns:a16="http://schemas.microsoft.com/office/drawing/2014/main" id="{D7DB5381-B212-B5E6-0F62-C74FE1B4DBCF}"/>
              </a:ext>
            </a:extLst>
          </p:cNvPr>
          <p:cNvSpPr>
            <a:spLocks noGrp="1"/>
          </p:cNvSpPr>
          <p:nvPr>
            <p:ph type="sldNum" sz="quarter" idx="12"/>
          </p:nvPr>
        </p:nvSpPr>
        <p:spPr/>
        <p:txBody>
          <a:bodyPr/>
          <a:lstStyle/>
          <a:p>
            <a:pPr>
              <a:defRPr/>
            </a:pPr>
            <a:fld id="{63B8F44C-0EDE-4D7D-9086-BD1CF3CE7AF7}" type="slidenum">
              <a:rPr lang="en-US" smtClean="0"/>
              <a:pPr>
                <a:defRPr/>
              </a:pPr>
              <a:t>5</a:t>
            </a:fld>
            <a:endParaRPr lang="en-US"/>
          </a:p>
        </p:txBody>
      </p:sp>
      <p:sp>
        <p:nvSpPr>
          <p:cNvPr id="5" name="Rectangle 4">
            <a:extLst>
              <a:ext uri="{FF2B5EF4-FFF2-40B4-BE49-F238E27FC236}">
                <a16:creationId xmlns:a16="http://schemas.microsoft.com/office/drawing/2014/main" id="{C54C0CAD-0EAA-7823-A0EE-55296B8664EC}"/>
              </a:ext>
            </a:extLst>
          </p:cNvPr>
          <p:cNvSpPr/>
          <p:nvPr/>
        </p:nvSpPr>
        <p:spPr bwMode="auto">
          <a:xfrm>
            <a:off x="1438255" y="3892269"/>
            <a:ext cx="1981200" cy="838200"/>
          </a:xfrm>
          <a:prstGeom prst="rect">
            <a:avLst/>
          </a:prstGeom>
          <a:ln>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dirty="0"/>
              <a:t>Sprint 1</a:t>
            </a:r>
          </a:p>
          <a:p>
            <a:pPr marL="0" marR="0" indent="0" algn="ctr" defTabSz="914400" rtl="0" eaLnBrk="0" fontAlgn="base" latinLnBrk="0" hangingPunct="0">
              <a:lnSpc>
                <a:spcPct val="100000"/>
              </a:lnSpc>
              <a:spcBef>
                <a:spcPct val="0"/>
              </a:spcBef>
              <a:spcAft>
                <a:spcPct val="0"/>
              </a:spcAft>
              <a:buClrTx/>
              <a:buSzTx/>
              <a:buFontTx/>
              <a:buNone/>
              <a:tabLst/>
            </a:pPr>
            <a:r>
              <a:rPr kumimoji="0" lang="en-US" sz="2000" b="0" i="0" u="none" strike="noStrike" cap="none" normalizeH="0" baseline="0" dirty="0">
                <a:ln>
                  <a:noFill/>
                </a:ln>
                <a:solidFill>
                  <a:schemeClr val="tx1"/>
                </a:solidFill>
                <a:effectLst/>
                <a:latin typeface="Times New Roman" pitchFamily="18" charset="0"/>
              </a:rPr>
              <a:t>Weeks 2-5</a:t>
            </a:r>
            <a:endParaRPr kumimoji="0" lang="en-HK" sz="2000" b="0" i="0" u="none" strike="noStrike" cap="none" normalizeH="0" baseline="0" dirty="0">
              <a:ln>
                <a:noFill/>
              </a:ln>
              <a:solidFill>
                <a:schemeClr val="tx1"/>
              </a:solidFill>
              <a:effectLst/>
              <a:latin typeface="Times New Roman" pitchFamily="18" charset="0"/>
            </a:endParaRPr>
          </a:p>
        </p:txBody>
      </p:sp>
      <p:sp>
        <p:nvSpPr>
          <p:cNvPr id="6" name="Rectangle 5">
            <a:extLst>
              <a:ext uri="{FF2B5EF4-FFF2-40B4-BE49-F238E27FC236}">
                <a16:creationId xmlns:a16="http://schemas.microsoft.com/office/drawing/2014/main" id="{0079CC36-1BF9-D223-BA9C-E7847B6A9185}"/>
              </a:ext>
            </a:extLst>
          </p:cNvPr>
          <p:cNvSpPr/>
          <p:nvPr/>
        </p:nvSpPr>
        <p:spPr bwMode="auto">
          <a:xfrm>
            <a:off x="3876655" y="3886200"/>
            <a:ext cx="1981200" cy="838200"/>
          </a:xfrm>
          <a:prstGeom prst="rect">
            <a:avLst/>
          </a:prstGeom>
          <a:ln>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dirty="0"/>
              <a:t>Sprint 2</a:t>
            </a:r>
          </a:p>
          <a:p>
            <a:pPr marL="0" marR="0" indent="0" algn="ctr" defTabSz="914400" rtl="0" eaLnBrk="0" fontAlgn="base" latinLnBrk="0" hangingPunct="0">
              <a:lnSpc>
                <a:spcPct val="100000"/>
              </a:lnSpc>
              <a:spcBef>
                <a:spcPct val="0"/>
              </a:spcBef>
              <a:spcAft>
                <a:spcPct val="0"/>
              </a:spcAft>
              <a:buClrTx/>
              <a:buSzTx/>
              <a:buFontTx/>
              <a:buNone/>
              <a:tabLst/>
            </a:pPr>
            <a:r>
              <a:rPr kumimoji="0" lang="en-US" sz="2000" b="0" i="0" u="none" strike="noStrike" cap="none" normalizeH="0" baseline="0" dirty="0">
                <a:ln>
                  <a:noFill/>
                </a:ln>
                <a:solidFill>
                  <a:schemeClr val="tx1"/>
                </a:solidFill>
                <a:effectLst/>
                <a:latin typeface="Times New Roman" pitchFamily="18" charset="0"/>
              </a:rPr>
              <a:t>Weeks 6-9</a:t>
            </a:r>
            <a:endParaRPr kumimoji="0" lang="en-HK" sz="2000" b="0" i="0" u="none" strike="noStrike" cap="none" normalizeH="0" baseline="0" dirty="0">
              <a:ln>
                <a:noFill/>
              </a:ln>
              <a:solidFill>
                <a:schemeClr val="tx1"/>
              </a:solidFill>
              <a:effectLst/>
              <a:latin typeface="Times New Roman" pitchFamily="18" charset="0"/>
            </a:endParaRPr>
          </a:p>
        </p:txBody>
      </p:sp>
      <p:sp>
        <p:nvSpPr>
          <p:cNvPr id="7" name="Rectangle 6">
            <a:extLst>
              <a:ext uri="{FF2B5EF4-FFF2-40B4-BE49-F238E27FC236}">
                <a16:creationId xmlns:a16="http://schemas.microsoft.com/office/drawing/2014/main" id="{91C8BCAB-F841-773C-11DF-10961A2F4073}"/>
              </a:ext>
            </a:extLst>
          </p:cNvPr>
          <p:cNvSpPr/>
          <p:nvPr/>
        </p:nvSpPr>
        <p:spPr bwMode="auto">
          <a:xfrm>
            <a:off x="6238855" y="3886200"/>
            <a:ext cx="1981200" cy="838200"/>
          </a:xfrm>
          <a:prstGeom prst="rect">
            <a:avLst/>
          </a:prstGeom>
          <a:ln>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dirty="0"/>
              <a:t>Sprint 3</a:t>
            </a:r>
          </a:p>
          <a:p>
            <a:pPr marL="0" marR="0" indent="0" algn="ctr" defTabSz="914400" rtl="0" eaLnBrk="0" fontAlgn="base" latinLnBrk="0" hangingPunct="0">
              <a:lnSpc>
                <a:spcPct val="100000"/>
              </a:lnSpc>
              <a:spcBef>
                <a:spcPct val="0"/>
              </a:spcBef>
              <a:spcAft>
                <a:spcPct val="0"/>
              </a:spcAft>
              <a:buClrTx/>
              <a:buSzTx/>
              <a:buFontTx/>
              <a:buNone/>
              <a:tabLst/>
            </a:pPr>
            <a:r>
              <a:rPr kumimoji="0" lang="en-US" sz="2000" b="0" i="0" u="none" strike="noStrike" cap="none" normalizeH="0" baseline="0" dirty="0">
                <a:ln>
                  <a:noFill/>
                </a:ln>
                <a:solidFill>
                  <a:schemeClr val="tx1"/>
                </a:solidFill>
                <a:effectLst/>
                <a:latin typeface="Times New Roman" pitchFamily="18" charset="0"/>
              </a:rPr>
              <a:t>Weeks 10-13</a:t>
            </a:r>
            <a:endParaRPr kumimoji="0" lang="en-HK" sz="2000" b="0" i="0" u="none" strike="noStrike" cap="none" normalizeH="0" baseline="0" dirty="0">
              <a:ln>
                <a:noFill/>
              </a:ln>
              <a:solidFill>
                <a:schemeClr val="tx1"/>
              </a:solidFill>
              <a:effectLst/>
              <a:latin typeface="Times New Roman" pitchFamily="18" charset="0"/>
            </a:endParaRPr>
          </a:p>
        </p:txBody>
      </p:sp>
      <p:sp>
        <p:nvSpPr>
          <p:cNvPr id="8" name="TextBox 7">
            <a:extLst>
              <a:ext uri="{FF2B5EF4-FFF2-40B4-BE49-F238E27FC236}">
                <a16:creationId xmlns:a16="http://schemas.microsoft.com/office/drawing/2014/main" id="{17EF8E60-34C8-F7BC-6D60-2E0EFE72FD03}"/>
              </a:ext>
            </a:extLst>
          </p:cNvPr>
          <p:cNvSpPr txBox="1"/>
          <p:nvPr/>
        </p:nvSpPr>
        <p:spPr>
          <a:xfrm>
            <a:off x="1418999" y="5086290"/>
            <a:ext cx="7418613" cy="1938992"/>
          </a:xfrm>
          <a:prstGeom prst="rect">
            <a:avLst/>
          </a:prstGeom>
          <a:noFill/>
        </p:spPr>
        <p:txBody>
          <a:bodyPr wrap="square" rtlCol="0">
            <a:spAutoFit/>
          </a:bodyPr>
          <a:lstStyle/>
          <a:p>
            <a:pPr marL="342900" indent="-342900">
              <a:buFont typeface="Arial" panose="020B0604020202020204" pitchFamily="34" charset="0"/>
              <a:buChar char="•"/>
            </a:pPr>
            <a:r>
              <a:rPr lang="en-US" sz="2000" dirty="0"/>
              <a:t>At least one standing </a:t>
            </a:r>
            <a:r>
              <a:rPr lang="en-US" sz="2000" b="1" dirty="0"/>
              <a:t>meeting</a:t>
            </a:r>
            <a:r>
              <a:rPr lang="en-US" sz="2000" dirty="0"/>
              <a:t> </a:t>
            </a:r>
            <a:r>
              <a:rPr lang="en-US" sz="2000" b="1" dirty="0"/>
              <a:t>per week (take photo)</a:t>
            </a:r>
            <a:endParaRPr lang="en-HK" sz="2000" b="1" dirty="0"/>
          </a:p>
          <a:p>
            <a:pPr marL="342900" indent="-342900">
              <a:buFont typeface="Arial" panose="020B0604020202020204" pitchFamily="34" charset="0"/>
              <a:buChar char="•"/>
            </a:pPr>
            <a:r>
              <a:rPr lang="en-HK" sz="2000" dirty="0"/>
              <a:t>Use a </a:t>
            </a:r>
            <a:r>
              <a:rPr lang="en-HK" sz="2000" b="1" dirty="0"/>
              <a:t>burndown chart</a:t>
            </a:r>
          </a:p>
          <a:p>
            <a:pPr marL="342900" indent="-342900">
              <a:buFont typeface="Arial" panose="020B0604020202020204" pitchFamily="34" charset="0"/>
              <a:buChar char="•"/>
            </a:pPr>
            <a:r>
              <a:rPr lang="en-HK" sz="2000" b="1" dirty="0"/>
              <a:t>Track</a:t>
            </a:r>
            <a:r>
              <a:rPr lang="en-HK" sz="2000" dirty="0"/>
              <a:t> progress every week rather than as an aftermath</a:t>
            </a:r>
          </a:p>
          <a:p>
            <a:pPr marL="342900" indent="-342900">
              <a:buFont typeface="Arial" panose="020B0604020202020204" pitchFamily="34" charset="0"/>
              <a:buChar char="•"/>
            </a:pPr>
            <a:r>
              <a:rPr lang="en-US" sz="2000" b="1" dirty="0"/>
              <a:t>Warning</a:t>
            </a:r>
            <a:r>
              <a:rPr lang="en-US" sz="2000" dirty="0"/>
              <a:t>: You will be very busy in Weeks 11-13 due to many other deadlines to meet among all courses. </a:t>
            </a:r>
            <a:endParaRPr lang="en-HK" sz="2000" dirty="0"/>
          </a:p>
          <a:p>
            <a:pPr marL="342900" indent="-342900">
              <a:buFont typeface="Arial" panose="020B0604020202020204" pitchFamily="34" charset="0"/>
              <a:buChar char="•"/>
            </a:pPr>
            <a:endParaRPr lang="en-US" sz="2000" dirty="0"/>
          </a:p>
        </p:txBody>
      </p:sp>
    </p:spTree>
    <p:extLst>
      <p:ext uri="{BB962C8B-B14F-4D97-AF65-F5344CB8AC3E}">
        <p14:creationId xmlns:p14="http://schemas.microsoft.com/office/powerpoint/2010/main" val="3722752378"/>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D234-F4DD-BD39-3590-22A199697320}"/>
              </a:ext>
            </a:extLst>
          </p:cNvPr>
          <p:cNvSpPr>
            <a:spLocks noGrp="1"/>
          </p:cNvSpPr>
          <p:nvPr>
            <p:ph type="title"/>
          </p:nvPr>
        </p:nvSpPr>
        <p:spPr/>
        <p:txBody>
          <a:bodyPr/>
          <a:lstStyle/>
          <a:p>
            <a:r>
              <a:rPr lang="en-US" dirty="0"/>
              <a:t>Project Progress</a:t>
            </a:r>
            <a:endParaRPr lang="en-HK" dirty="0"/>
          </a:p>
        </p:txBody>
      </p:sp>
      <p:sp>
        <p:nvSpPr>
          <p:cNvPr id="3" name="Content Placeholder 2">
            <a:extLst>
              <a:ext uri="{FF2B5EF4-FFF2-40B4-BE49-F238E27FC236}">
                <a16:creationId xmlns:a16="http://schemas.microsoft.com/office/drawing/2014/main" id="{DCB1E1B8-916B-0498-D134-CDC5B32D5F51}"/>
              </a:ext>
            </a:extLst>
          </p:cNvPr>
          <p:cNvSpPr>
            <a:spLocks noGrp="1"/>
          </p:cNvSpPr>
          <p:nvPr>
            <p:ph idx="1"/>
          </p:nvPr>
        </p:nvSpPr>
        <p:spPr>
          <a:xfrm>
            <a:off x="223044" y="1459418"/>
            <a:ext cx="9415462" cy="4953000"/>
          </a:xfrm>
        </p:spPr>
        <p:txBody>
          <a:bodyPr/>
          <a:lstStyle/>
          <a:p>
            <a:r>
              <a:rPr lang="en-US" sz="2800" dirty="0"/>
              <a:t>Sprint 1 (Weeks 2-5)</a:t>
            </a:r>
          </a:p>
          <a:p>
            <a:pPr lvl="1"/>
            <a:r>
              <a:rPr lang="en-US" sz="2400" dirty="0"/>
              <a:t>Develop user stories (including description of both functional and non-functional requirements), sketch the architecture to address non-functional requirements, set up baselines for code/test/review, and identify/track/resolve technical debts</a:t>
            </a:r>
          </a:p>
          <a:p>
            <a:pPr lvl="1"/>
            <a:r>
              <a:rPr lang="en-US" sz="2400" dirty="0"/>
              <a:t>Set up your GitHub project to track the progress. </a:t>
            </a:r>
            <a:endParaRPr lang="en-US" sz="2800" dirty="0"/>
          </a:p>
          <a:p>
            <a:r>
              <a:rPr lang="en-US" sz="2800" dirty="0"/>
              <a:t>Sprint 2 (Weeks 6-9)</a:t>
            </a:r>
          </a:p>
          <a:p>
            <a:pPr lvl="1"/>
            <a:r>
              <a:rPr lang="en-US" sz="2400" dirty="0"/>
              <a:t>Activities in Sprint 1 +  code quality + improved the baseline</a:t>
            </a:r>
            <a:endParaRPr lang="en-US" sz="2800" dirty="0"/>
          </a:p>
          <a:p>
            <a:r>
              <a:rPr lang="en-US" sz="2800" dirty="0"/>
              <a:t>Sprint 3 (Weeks 10-13)</a:t>
            </a:r>
          </a:p>
          <a:p>
            <a:pPr lvl="1"/>
            <a:r>
              <a:rPr lang="en-US" sz="2400" dirty="0"/>
              <a:t>Activities in Sprint 2 + automated testing/debugging/maintenance support</a:t>
            </a:r>
          </a:p>
          <a:p>
            <a:pPr lvl="1"/>
            <a:r>
              <a:rPr lang="en-US" sz="2400" dirty="0"/>
              <a:t>Video clip (for presentation and demo) + final report + </a:t>
            </a:r>
            <a:r>
              <a:rPr lang="en-US" sz="2400" dirty="0" err="1"/>
              <a:t>Github</a:t>
            </a:r>
            <a:r>
              <a:rPr lang="en-US" sz="2400" dirty="0"/>
              <a:t> invite</a:t>
            </a:r>
          </a:p>
          <a:p>
            <a:pPr marL="512763" lvl="1" indent="0">
              <a:buNone/>
            </a:pPr>
            <a:endParaRPr lang="en-US" sz="2400" dirty="0"/>
          </a:p>
          <a:p>
            <a:pPr lvl="1"/>
            <a:endParaRPr lang="en-HK" sz="2400" dirty="0"/>
          </a:p>
        </p:txBody>
      </p:sp>
      <p:sp>
        <p:nvSpPr>
          <p:cNvPr id="4" name="Slide Number Placeholder 3">
            <a:extLst>
              <a:ext uri="{FF2B5EF4-FFF2-40B4-BE49-F238E27FC236}">
                <a16:creationId xmlns:a16="http://schemas.microsoft.com/office/drawing/2014/main" id="{A5BB4DBA-F504-3CD1-E0DB-FC9A7D3DCF8B}"/>
              </a:ext>
            </a:extLst>
          </p:cNvPr>
          <p:cNvSpPr>
            <a:spLocks noGrp="1"/>
          </p:cNvSpPr>
          <p:nvPr>
            <p:ph type="sldNum" sz="quarter" idx="12"/>
          </p:nvPr>
        </p:nvSpPr>
        <p:spPr>
          <a:xfrm>
            <a:off x="7386638" y="6400800"/>
            <a:ext cx="2062162" cy="457200"/>
          </a:xfrm>
        </p:spPr>
        <p:txBody>
          <a:bodyPr/>
          <a:lstStyle/>
          <a:p>
            <a:pPr>
              <a:defRPr/>
            </a:pPr>
            <a:fld id="{63B8F44C-0EDE-4D7D-9086-BD1CF3CE7AF7}" type="slidenum">
              <a:rPr lang="en-US" smtClean="0"/>
              <a:pPr>
                <a:defRPr/>
              </a:pPr>
              <a:t>6</a:t>
            </a:fld>
            <a:endParaRPr lang="en-US" dirty="0"/>
          </a:p>
        </p:txBody>
      </p:sp>
    </p:spTree>
    <p:extLst>
      <p:ext uri="{BB962C8B-B14F-4D97-AF65-F5344CB8AC3E}">
        <p14:creationId xmlns:p14="http://schemas.microsoft.com/office/powerpoint/2010/main" val="3561900779"/>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8308-8D37-4393-BA55-3C5BBA2031DD}"/>
              </a:ext>
            </a:extLst>
          </p:cNvPr>
          <p:cNvSpPr>
            <a:spLocks noGrp="1"/>
          </p:cNvSpPr>
          <p:nvPr>
            <p:ph type="title"/>
          </p:nvPr>
        </p:nvSpPr>
        <p:spPr/>
        <p:txBody>
          <a:bodyPr/>
          <a:lstStyle/>
          <a:p>
            <a:r>
              <a:rPr lang="en-US" dirty="0"/>
              <a:t>Project Mark Components</a:t>
            </a:r>
            <a:endParaRPr lang="en-HK" dirty="0"/>
          </a:p>
        </p:txBody>
      </p:sp>
      <p:sp>
        <p:nvSpPr>
          <p:cNvPr id="3" name="Content Placeholder 2">
            <a:extLst>
              <a:ext uri="{FF2B5EF4-FFF2-40B4-BE49-F238E27FC236}">
                <a16:creationId xmlns:a16="http://schemas.microsoft.com/office/drawing/2014/main" id="{BFAA8FB8-D0E5-4402-9AC2-4A3B0D4B728B}"/>
              </a:ext>
            </a:extLst>
          </p:cNvPr>
          <p:cNvSpPr>
            <a:spLocks noGrp="1"/>
          </p:cNvSpPr>
          <p:nvPr>
            <p:ph idx="1"/>
          </p:nvPr>
        </p:nvSpPr>
        <p:spPr>
          <a:xfrm>
            <a:off x="112711" y="1447800"/>
            <a:ext cx="9790113" cy="4953000"/>
          </a:xfrm>
        </p:spPr>
        <p:txBody>
          <a:bodyPr/>
          <a:lstStyle/>
          <a:p>
            <a:pPr lvl="0"/>
            <a:r>
              <a:rPr lang="en-US" sz="2800" dirty="0"/>
              <a:t>Presentation Video and Demo Video (10%)</a:t>
            </a:r>
            <a:endParaRPr lang="en-HK" sz="2800" dirty="0"/>
          </a:p>
          <a:p>
            <a:pPr lvl="1"/>
            <a:r>
              <a:rPr lang="en-US" sz="2400" dirty="0"/>
              <a:t>Presentation Video</a:t>
            </a:r>
            <a:endParaRPr lang="en-HK" sz="2400" dirty="0"/>
          </a:p>
          <a:p>
            <a:pPr lvl="2"/>
            <a:r>
              <a:rPr lang="en-US" sz="2000" dirty="0"/>
              <a:t>background, motivation, key technical problem solved, review of related works, explain the challenges to address when solving the technical problem, the solution that solves the technical problem, explanation of to what extent the challenges have been solved and what the creativity of the project is, empirical evaluation of the software through scenarios in acceptance tests and user feedbacks.</a:t>
            </a:r>
            <a:endParaRPr lang="en-HK" sz="2000" dirty="0"/>
          </a:p>
          <a:p>
            <a:pPr lvl="1"/>
            <a:r>
              <a:rPr lang="en-US" sz="2400" dirty="0"/>
              <a:t>Demo Video</a:t>
            </a:r>
            <a:endParaRPr lang="en-HK" sz="2400" dirty="0"/>
          </a:p>
          <a:p>
            <a:pPr lvl="2"/>
            <a:r>
              <a:rPr lang="en-US" sz="2000" dirty="0"/>
              <a:t>Demonstrate the most significant end-to-end usages of the constructed software. </a:t>
            </a:r>
            <a:endParaRPr lang="en-HK" sz="2000" dirty="0"/>
          </a:p>
          <a:p>
            <a:pPr lvl="2"/>
            <a:r>
              <a:rPr lang="en-US" sz="2000" dirty="0"/>
              <a:t>Walk through the software development process used and explain why any process improvement you made during the execution of the project. Focus on the most significant, innovative, or unique features rather than going through all the details. </a:t>
            </a:r>
            <a:endParaRPr lang="en-HK" sz="2000" dirty="0"/>
          </a:p>
          <a:p>
            <a:pPr lvl="2"/>
            <a:r>
              <a:rPr lang="en-US" sz="2000" dirty="0"/>
              <a:t>Future enhancement should not be considered as a demonstration of the software constructed as a part of the demonstration.</a:t>
            </a:r>
          </a:p>
          <a:p>
            <a:pPr marL="976313" lvl="2" indent="0">
              <a:buNone/>
            </a:pPr>
            <a:endParaRPr lang="en-HK" sz="2800" dirty="0"/>
          </a:p>
          <a:p>
            <a:endParaRPr lang="en-HK" sz="2800" dirty="0"/>
          </a:p>
        </p:txBody>
      </p:sp>
      <p:sp>
        <p:nvSpPr>
          <p:cNvPr id="4" name="Slide Number Placeholder 3">
            <a:extLst>
              <a:ext uri="{FF2B5EF4-FFF2-40B4-BE49-F238E27FC236}">
                <a16:creationId xmlns:a16="http://schemas.microsoft.com/office/drawing/2014/main" id="{548360D6-B96B-4320-99D3-8769A784ED03}"/>
              </a:ext>
            </a:extLst>
          </p:cNvPr>
          <p:cNvSpPr>
            <a:spLocks noGrp="1"/>
          </p:cNvSpPr>
          <p:nvPr>
            <p:ph type="sldNum" sz="quarter" idx="12"/>
          </p:nvPr>
        </p:nvSpPr>
        <p:spPr/>
        <p:txBody>
          <a:bodyPr/>
          <a:lstStyle/>
          <a:p>
            <a:pPr>
              <a:defRPr/>
            </a:pPr>
            <a:fld id="{63B8F44C-0EDE-4D7D-9086-BD1CF3CE7AF7}" type="slidenum">
              <a:rPr lang="en-US" smtClean="0"/>
              <a:pPr>
                <a:defRPr/>
              </a:pPr>
              <a:t>7</a:t>
            </a:fld>
            <a:endParaRPr lang="en-US"/>
          </a:p>
        </p:txBody>
      </p:sp>
    </p:spTree>
    <p:extLst>
      <p:ext uri="{BB962C8B-B14F-4D97-AF65-F5344CB8AC3E}">
        <p14:creationId xmlns:p14="http://schemas.microsoft.com/office/powerpoint/2010/main" val="2532716509"/>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8308-8D37-4393-BA55-3C5BBA2031DD}"/>
              </a:ext>
            </a:extLst>
          </p:cNvPr>
          <p:cNvSpPr>
            <a:spLocks noGrp="1"/>
          </p:cNvSpPr>
          <p:nvPr>
            <p:ph type="title"/>
          </p:nvPr>
        </p:nvSpPr>
        <p:spPr/>
        <p:txBody>
          <a:bodyPr/>
          <a:lstStyle/>
          <a:p>
            <a:r>
              <a:rPr lang="en-US" dirty="0"/>
              <a:t>Project Mark Components</a:t>
            </a:r>
            <a:endParaRPr lang="en-HK" dirty="0"/>
          </a:p>
        </p:txBody>
      </p:sp>
      <p:sp>
        <p:nvSpPr>
          <p:cNvPr id="3" name="Content Placeholder 2">
            <a:extLst>
              <a:ext uri="{FF2B5EF4-FFF2-40B4-BE49-F238E27FC236}">
                <a16:creationId xmlns:a16="http://schemas.microsoft.com/office/drawing/2014/main" id="{BFAA8FB8-D0E5-4402-9AC2-4A3B0D4B728B}"/>
              </a:ext>
            </a:extLst>
          </p:cNvPr>
          <p:cNvSpPr>
            <a:spLocks noGrp="1"/>
          </p:cNvSpPr>
          <p:nvPr>
            <p:ph idx="1"/>
          </p:nvPr>
        </p:nvSpPr>
        <p:spPr>
          <a:xfrm>
            <a:off x="150812" y="1524000"/>
            <a:ext cx="9677400" cy="4953000"/>
          </a:xfrm>
        </p:spPr>
        <p:txBody>
          <a:bodyPr/>
          <a:lstStyle/>
          <a:p>
            <a:pPr lvl="0"/>
            <a:r>
              <a:rPr lang="en-US" sz="2800" dirty="0"/>
              <a:t>Final Report (20%)</a:t>
            </a:r>
            <a:endParaRPr lang="en-HK" sz="2800" dirty="0"/>
          </a:p>
          <a:p>
            <a:pPr lvl="1"/>
            <a:r>
              <a:rPr lang="en-US" sz="2400" b="1" dirty="0"/>
              <a:t>Technical innovation and creativity </a:t>
            </a:r>
          </a:p>
          <a:p>
            <a:pPr lvl="2"/>
            <a:r>
              <a:rPr lang="en-US" sz="2000" dirty="0"/>
              <a:t>A project without innovation cannot get A- or above</a:t>
            </a:r>
          </a:p>
          <a:p>
            <a:pPr lvl="1"/>
            <a:r>
              <a:rPr lang="en-US" sz="2400" dirty="0"/>
              <a:t>Reporting (including organization, clarity, readability, completeness, and consistency) </a:t>
            </a:r>
            <a:endParaRPr lang="en-HK" sz="2400" dirty="0"/>
          </a:p>
          <a:p>
            <a:pPr lvl="1"/>
            <a:r>
              <a:rPr lang="en-HK" sz="2400" dirty="0"/>
              <a:t>System design, Implementation, testing, and evaluation of the solution  (solution prototype is sufficient)</a:t>
            </a:r>
            <a:endParaRPr lang="en-HK" sz="1600" dirty="0"/>
          </a:p>
          <a:p>
            <a:pPr lvl="1"/>
            <a:r>
              <a:rPr lang="en-HK" sz="2400" dirty="0"/>
              <a:t>Applied advanced software engineering processes, activities, techniques, and tools applied in the project to produce the solution and self-reflection.</a:t>
            </a:r>
          </a:p>
          <a:p>
            <a:pPr lvl="1"/>
            <a:r>
              <a:rPr lang="en-HK" sz="2400" dirty="0"/>
              <a:t>Weekly evidence in your project repository as project commit.</a:t>
            </a:r>
          </a:p>
          <a:p>
            <a:pPr lvl="2"/>
            <a:r>
              <a:rPr lang="en-HK" sz="2000" dirty="0"/>
              <a:t>Suggestion for project management: If only count those commits in the project repo. </a:t>
            </a:r>
          </a:p>
          <a:p>
            <a:endParaRPr lang="en-HK" sz="1800" dirty="0"/>
          </a:p>
        </p:txBody>
      </p:sp>
      <p:sp>
        <p:nvSpPr>
          <p:cNvPr id="4" name="Slide Number Placeholder 3">
            <a:extLst>
              <a:ext uri="{FF2B5EF4-FFF2-40B4-BE49-F238E27FC236}">
                <a16:creationId xmlns:a16="http://schemas.microsoft.com/office/drawing/2014/main" id="{548360D6-B96B-4320-99D3-8769A784ED03}"/>
              </a:ext>
            </a:extLst>
          </p:cNvPr>
          <p:cNvSpPr>
            <a:spLocks noGrp="1"/>
          </p:cNvSpPr>
          <p:nvPr>
            <p:ph type="sldNum" sz="quarter" idx="12"/>
          </p:nvPr>
        </p:nvSpPr>
        <p:spPr/>
        <p:txBody>
          <a:bodyPr/>
          <a:lstStyle/>
          <a:p>
            <a:pPr>
              <a:defRPr/>
            </a:pPr>
            <a:fld id="{63B8F44C-0EDE-4D7D-9086-BD1CF3CE7AF7}" type="slidenum">
              <a:rPr lang="en-US" smtClean="0"/>
              <a:pPr>
                <a:defRPr/>
              </a:pPr>
              <a:t>8</a:t>
            </a:fld>
            <a:endParaRPr lang="en-US"/>
          </a:p>
        </p:txBody>
      </p:sp>
    </p:spTree>
    <p:extLst>
      <p:ext uri="{BB962C8B-B14F-4D97-AF65-F5344CB8AC3E}">
        <p14:creationId xmlns:p14="http://schemas.microsoft.com/office/powerpoint/2010/main" val="300432691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66278F-3829-43CA-BF97-37BBBA0E9F3F}"/>
              </a:ext>
            </a:extLst>
          </p:cNvPr>
          <p:cNvSpPr>
            <a:spLocks noGrp="1"/>
          </p:cNvSpPr>
          <p:nvPr>
            <p:ph type="title"/>
          </p:nvPr>
        </p:nvSpPr>
        <p:spPr/>
        <p:txBody>
          <a:bodyPr/>
          <a:lstStyle/>
          <a:p>
            <a:r>
              <a:rPr lang="en-HK" dirty="0"/>
              <a:t>Note: Software Engineering Tool</a:t>
            </a:r>
          </a:p>
        </p:txBody>
      </p:sp>
      <p:sp>
        <p:nvSpPr>
          <p:cNvPr id="3" name="Content Placeholder 2">
            <a:extLst>
              <a:ext uri="{FF2B5EF4-FFF2-40B4-BE49-F238E27FC236}">
                <a16:creationId xmlns:a16="http://schemas.microsoft.com/office/drawing/2014/main" id="{E149A59E-499B-4C9F-A549-05507979DFF5}"/>
              </a:ext>
            </a:extLst>
          </p:cNvPr>
          <p:cNvSpPr>
            <a:spLocks noGrp="1"/>
          </p:cNvSpPr>
          <p:nvPr>
            <p:ph idx="1"/>
          </p:nvPr>
        </p:nvSpPr>
        <p:spPr>
          <a:xfrm>
            <a:off x="412750" y="1676400"/>
            <a:ext cx="9036050" cy="4953000"/>
          </a:xfrm>
        </p:spPr>
        <p:txBody>
          <a:bodyPr/>
          <a:lstStyle/>
          <a:p>
            <a:r>
              <a:rPr lang="en-HK" sz="2800" dirty="0"/>
              <a:t>A </a:t>
            </a:r>
            <a:r>
              <a:rPr lang="en-US" sz="2800" dirty="0"/>
              <a:t>SE tool is to assist software developers (programmers or project teams) in a variety of software development tasks to improve their productivity (think about how your boss will acknowledge your contribution): writing code, managing projects, conducting code reviews, testing software, debugging, and tracking requirements.</a:t>
            </a:r>
          </a:p>
          <a:p>
            <a:pPr lvl="1"/>
            <a:r>
              <a:rPr lang="en-HK" sz="2400" dirty="0"/>
              <a:t>not for operating software after software/service deployment</a:t>
            </a:r>
          </a:p>
          <a:p>
            <a:pPr lvl="1"/>
            <a:r>
              <a:rPr lang="en-US" sz="2400" dirty="0"/>
              <a:t>E.g., a scrum tool, project management tool, code review assistance, testing tool, debugging tool, code smell tool, technical debt tool, design framework, requirement tracking tool, a tool to identify critical issues</a:t>
            </a:r>
            <a:r>
              <a:rPr lang="en-HK" sz="2400" dirty="0"/>
              <a:t> in app review pool, …</a:t>
            </a:r>
          </a:p>
          <a:p>
            <a:r>
              <a:rPr lang="en-HK" sz="2000" dirty="0"/>
              <a:t>It can be developed using whatever programming languages you choose.</a:t>
            </a:r>
          </a:p>
          <a:p>
            <a:pPr marL="0" indent="0">
              <a:buNone/>
            </a:pPr>
            <a:endParaRPr lang="en-HK" sz="2800" dirty="0"/>
          </a:p>
        </p:txBody>
      </p:sp>
      <p:sp>
        <p:nvSpPr>
          <p:cNvPr id="4" name="Slide Number Placeholder 3">
            <a:extLst>
              <a:ext uri="{FF2B5EF4-FFF2-40B4-BE49-F238E27FC236}">
                <a16:creationId xmlns:a16="http://schemas.microsoft.com/office/drawing/2014/main" id="{A2432C10-8E8B-4DE3-856A-E5154CB4AF99}"/>
              </a:ext>
            </a:extLst>
          </p:cNvPr>
          <p:cNvSpPr>
            <a:spLocks noGrp="1"/>
          </p:cNvSpPr>
          <p:nvPr>
            <p:ph type="sldNum" sz="quarter" idx="12"/>
          </p:nvPr>
        </p:nvSpPr>
        <p:spPr/>
        <p:txBody>
          <a:bodyPr/>
          <a:lstStyle/>
          <a:p>
            <a:pPr>
              <a:defRPr/>
            </a:pPr>
            <a:fld id="{63B8F44C-0EDE-4D7D-9086-BD1CF3CE7AF7}" type="slidenum">
              <a:rPr lang="en-US" smtClean="0"/>
              <a:pPr>
                <a:defRPr/>
              </a:pPr>
              <a:t>9</a:t>
            </a:fld>
            <a:endParaRPr lang="en-US"/>
          </a:p>
        </p:txBody>
      </p:sp>
    </p:spTree>
    <p:extLst>
      <p:ext uri="{BB962C8B-B14F-4D97-AF65-F5344CB8AC3E}">
        <p14:creationId xmlns:p14="http://schemas.microsoft.com/office/powerpoint/2010/main" val="2456864206"/>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CC186-E6EE-E46C-A826-1078A146C11A}"/>
              </a:ext>
            </a:extLst>
          </p:cNvPr>
          <p:cNvSpPr>
            <a:spLocks noGrp="1"/>
          </p:cNvSpPr>
          <p:nvPr>
            <p:ph type="title"/>
          </p:nvPr>
        </p:nvSpPr>
        <p:spPr/>
        <p:txBody>
          <a:bodyPr/>
          <a:lstStyle/>
          <a:p>
            <a:r>
              <a:rPr lang="en-US" dirty="0"/>
              <a:t>Counterexamples of software engineering tool</a:t>
            </a:r>
            <a:endParaRPr lang="en-HK" dirty="0"/>
          </a:p>
        </p:txBody>
      </p:sp>
      <p:sp>
        <p:nvSpPr>
          <p:cNvPr id="3" name="Content Placeholder 2">
            <a:extLst>
              <a:ext uri="{FF2B5EF4-FFF2-40B4-BE49-F238E27FC236}">
                <a16:creationId xmlns:a16="http://schemas.microsoft.com/office/drawing/2014/main" id="{EB0826A2-5F5B-2B55-E91A-2EBB6FBBF8DC}"/>
              </a:ext>
            </a:extLst>
          </p:cNvPr>
          <p:cNvSpPr>
            <a:spLocks noGrp="1"/>
          </p:cNvSpPr>
          <p:nvPr>
            <p:ph idx="1"/>
          </p:nvPr>
        </p:nvSpPr>
        <p:spPr/>
        <p:txBody>
          <a:bodyPr/>
          <a:lstStyle/>
          <a:p>
            <a:r>
              <a:rPr lang="en-US" sz="2800" dirty="0"/>
              <a:t>[</a:t>
            </a:r>
            <a:r>
              <a:rPr lang="en-US" sz="2800" b="1" dirty="0"/>
              <a:t>Don’t</a:t>
            </a:r>
            <a:r>
              <a:rPr lang="en-US" sz="2800" dirty="0"/>
              <a:t> do it] Developing a web-based e-commerce system for selling and buying items </a:t>
            </a:r>
          </a:p>
          <a:p>
            <a:r>
              <a:rPr lang="en-US" sz="2800" dirty="0"/>
              <a:t>[</a:t>
            </a:r>
            <a:r>
              <a:rPr lang="en-US" sz="2800" b="1" dirty="0"/>
              <a:t>Don’t</a:t>
            </a:r>
            <a:r>
              <a:rPr lang="en-US" sz="2800" dirty="0"/>
              <a:t> do it] Developing a library loan system</a:t>
            </a:r>
          </a:p>
          <a:p>
            <a:r>
              <a:rPr lang="en-US" sz="2800" dirty="0"/>
              <a:t>[</a:t>
            </a:r>
            <a:r>
              <a:rPr lang="en-US" sz="2800" b="1" dirty="0"/>
              <a:t>Don’t</a:t>
            </a:r>
            <a:r>
              <a:rPr lang="en-US" sz="2800" dirty="0"/>
              <a:t> do it] Developing a machine learning model</a:t>
            </a:r>
          </a:p>
          <a:p>
            <a:r>
              <a:rPr lang="en-US" sz="2800" dirty="0"/>
              <a:t>[</a:t>
            </a:r>
            <a:r>
              <a:rPr lang="en-US" sz="2800" b="1" dirty="0"/>
              <a:t>Don’t</a:t>
            </a:r>
            <a:r>
              <a:rPr lang="en-US" sz="2800" dirty="0"/>
              <a:t> do it] Developing a script to train a machine learning model</a:t>
            </a:r>
          </a:p>
          <a:p>
            <a:r>
              <a:rPr lang="en-US" sz="2800" dirty="0"/>
              <a:t>[</a:t>
            </a:r>
            <a:r>
              <a:rPr lang="en-US" sz="2800" b="1" dirty="0"/>
              <a:t>Don’t</a:t>
            </a:r>
            <a:r>
              <a:rPr lang="en-US" sz="2800" dirty="0"/>
              <a:t> do it] Develop a website or an app for programmers to book rooms for meetings.   </a:t>
            </a:r>
          </a:p>
          <a:p>
            <a:endParaRPr lang="en-US" dirty="0"/>
          </a:p>
          <a:p>
            <a:endParaRPr lang="en-US" dirty="0"/>
          </a:p>
          <a:p>
            <a:endParaRPr lang="en-US" dirty="0"/>
          </a:p>
          <a:p>
            <a:endParaRPr lang="en-HK" dirty="0"/>
          </a:p>
          <a:p>
            <a:endParaRPr lang="en-HK" dirty="0"/>
          </a:p>
        </p:txBody>
      </p:sp>
      <p:sp>
        <p:nvSpPr>
          <p:cNvPr id="4" name="Slide Number Placeholder 3">
            <a:extLst>
              <a:ext uri="{FF2B5EF4-FFF2-40B4-BE49-F238E27FC236}">
                <a16:creationId xmlns:a16="http://schemas.microsoft.com/office/drawing/2014/main" id="{C69A1F8A-3980-8A2B-C06B-C881B1A84A7D}"/>
              </a:ext>
            </a:extLst>
          </p:cNvPr>
          <p:cNvSpPr>
            <a:spLocks noGrp="1"/>
          </p:cNvSpPr>
          <p:nvPr>
            <p:ph type="sldNum" sz="quarter" idx="12"/>
          </p:nvPr>
        </p:nvSpPr>
        <p:spPr/>
        <p:txBody>
          <a:bodyPr/>
          <a:lstStyle/>
          <a:p>
            <a:pPr>
              <a:defRPr/>
            </a:pPr>
            <a:fld id="{63B8F44C-0EDE-4D7D-9086-BD1CF3CE7AF7}" type="slidenum">
              <a:rPr lang="en-US" smtClean="0"/>
              <a:pPr>
                <a:defRPr/>
              </a:pPr>
              <a:t>10</a:t>
            </a:fld>
            <a:endParaRPr lang="en-US"/>
          </a:p>
        </p:txBody>
      </p:sp>
    </p:spTree>
    <p:extLst>
      <p:ext uri="{BB962C8B-B14F-4D97-AF65-F5344CB8AC3E}">
        <p14:creationId xmlns:p14="http://schemas.microsoft.com/office/powerpoint/2010/main" val="3673021700"/>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6D42F-6035-40A1-977A-F163BEAA519D}"/>
              </a:ext>
            </a:extLst>
          </p:cNvPr>
          <p:cNvSpPr>
            <a:spLocks noGrp="1"/>
          </p:cNvSpPr>
          <p:nvPr>
            <p:ph type="title"/>
          </p:nvPr>
        </p:nvSpPr>
        <p:spPr/>
        <p:txBody>
          <a:bodyPr/>
          <a:lstStyle/>
          <a:p>
            <a:r>
              <a:rPr lang="en-HK" dirty="0"/>
              <a:t>Recommendation</a:t>
            </a:r>
          </a:p>
        </p:txBody>
      </p:sp>
      <p:sp>
        <p:nvSpPr>
          <p:cNvPr id="3" name="Content Placeholder 2">
            <a:extLst>
              <a:ext uri="{FF2B5EF4-FFF2-40B4-BE49-F238E27FC236}">
                <a16:creationId xmlns:a16="http://schemas.microsoft.com/office/drawing/2014/main" id="{E191F47C-4C2A-4EFE-BB6C-DF26DE361D0C}"/>
              </a:ext>
            </a:extLst>
          </p:cNvPr>
          <p:cNvSpPr>
            <a:spLocks noGrp="1"/>
          </p:cNvSpPr>
          <p:nvPr>
            <p:ph idx="1"/>
          </p:nvPr>
        </p:nvSpPr>
        <p:spPr/>
        <p:txBody>
          <a:bodyPr/>
          <a:lstStyle/>
          <a:p>
            <a:r>
              <a:rPr lang="en-HK" sz="2800" b="1" dirty="0"/>
              <a:t>Warning 1</a:t>
            </a:r>
            <a:r>
              <a:rPr lang="en-HK" sz="2800" dirty="0"/>
              <a:t>: A </a:t>
            </a:r>
            <a:r>
              <a:rPr lang="en-US" sz="2800" dirty="0"/>
              <a:t>full-featured tool is too large for a student team to target </a:t>
            </a:r>
            <a:r>
              <a:rPr lang="en-HK" sz="2800" dirty="0"/>
              <a:t>within the project timeline (12 weeks). </a:t>
            </a:r>
          </a:p>
          <a:p>
            <a:pPr lvl="1"/>
            <a:r>
              <a:rPr lang="en-HK" sz="2400" b="1" dirty="0">
                <a:solidFill>
                  <a:schemeClr val="bg2"/>
                </a:solidFill>
              </a:rPr>
              <a:t>Don’t do it!</a:t>
            </a:r>
          </a:p>
          <a:p>
            <a:r>
              <a:rPr lang="en-HK" sz="2800" b="1" dirty="0"/>
              <a:t>Recommendation</a:t>
            </a:r>
            <a:r>
              <a:rPr lang="en-HK" sz="2800" dirty="0"/>
              <a:t>: Start with an operable open-source project </a:t>
            </a:r>
            <a:r>
              <a:rPr lang="en-HK" sz="2800" i="1" dirty="0"/>
              <a:t>(e.g., a project with </a:t>
            </a:r>
            <a:r>
              <a:rPr lang="en-HK" sz="2800" dirty="0"/>
              <a:t>its source code you can get from </a:t>
            </a:r>
            <a:r>
              <a:rPr lang="en-HK" sz="2800" dirty="0" err="1"/>
              <a:t>Github</a:t>
            </a:r>
            <a:r>
              <a:rPr lang="en-HK" sz="2800" dirty="0"/>
              <a:t>) or a project that allows plug-in</a:t>
            </a:r>
            <a:r>
              <a:rPr lang="en-HK" sz="2800" i="1" dirty="0"/>
              <a:t> </a:t>
            </a:r>
            <a:r>
              <a:rPr lang="en-HK" sz="2800" dirty="0"/>
              <a:t>development</a:t>
            </a:r>
            <a:r>
              <a:rPr lang="en-HK" sz="2800" i="1" dirty="0"/>
              <a:t>.</a:t>
            </a:r>
            <a:endParaRPr lang="en-HK" sz="2800" dirty="0"/>
          </a:p>
          <a:p>
            <a:pPr lvl="1"/>
            <a:r>
              <a:rPr lang="en-HK" sz="2400" dirty="0"/>
              <a:t>The best kind is a tool related to a research paper so that you can read the paper about the key algorithm implemented in the tool.</a:t>
            </a:r>
          </a:p>
          <a:p>
            <a:pPr lvl="1"/>
            <a:r>
              <a:rPr lang="en-HK" sz="2400" dirty="0"/>
              <a:t>Implement your original/improved algorithms to solve a specific software development problem.</a:t>
            </a:r>
          </a:p>
          <a:p>
            <a:pPr lvl="1"/>
            <a:r>
              <a:rPr lang="en-HK" sz="2400" dirty="0"/>
              <a:t>A tool can be a standalone tool or a component of a larger tool (e.g., a plugin in Eclipse IDE)</a:t>
            </a:r>
          </a:p>
          <a:p>
            <a:pPr marL="512763" lvl="1" indent="0">
              <a:buNone/>
            </a:pPr>
            <a:endParaRPr lang="en-HK" sz="2400" dirty="0"/>
          </a:p>
        </p:txBody>
      </p:sp>
      <p:sp>
        <p:nvSpPr>
          <p:cNvPr id="4" name="Slide Number Placeholder 3">
            <a:extLst>
              <a:ext uri="{FF2B5EF4-FFF2-40B4-BE49-F238E27FC236}">
                <a16:creationId xmlns:a16="http://schemas.microsoft.com/office/drawing/2014/main" id="{49202D10-DEBC-403B-B3F1-117B61165EF0}"/>
              </a:ext>
            </a:extLst>
          </p:cNvPr>
          <p:cNvSpPr>
            <a:spLocks noGrp="1"/>
          </p:cNvSpPr>
          <p:nvPr>
            <p:ph type="sldNum" sz="quarter" idx="12"/>
          </p:nvPr>
        </p:nvSpPr>
        <p:spPr/>
        <p:txBody>
          <a:bodyPr/>
          <a:lstStyle/>
          <a:p>
            <a:pPr>
              <a:defRPr/>
            </a:pPr>
            <a:fld id="{63B8F44C-0EDE-4D7D-9086-BD1CF3CE7AF7}" type="slidenum">
              <a:rPr lang="en-US" smtClean="0"/>
              <a:pPr>
                <a:defRPr/>
              </a:pPr>
              <a:t>11</a:t>
            </a:fld>
            <a:endParaRPr lang="en-US"/>
          </a:p>
        </p:txBody>
      </p:sp>
    </p:spTree>
    <p:extLst>
      <p:ext uri="{BB962C8B-B14F-4D97-AF65-F5344CB8AC3E}">
        <p14:creationId xmlns:p14="http://schemas.microsoft.com/office/powerpoint/2010/main" val="320473516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7E7FF-D7F0-4EE7-9A14-B31F1CD755CF}"/>
              </a:ext>
            </a:extLst>
          </p:cNvPr>
          <p:cNvSpPr>
            <a:spLocks noGrp="1"/>
          </p:cNvSpPr>
          <p:nvPr>
            <p:ph type="title"/>
          </p:nvPr>
        </p:nvSpPr>
        <p:spPr/>
        <p:txBody>
          <a:bodyPr/>
          <a:lstStyle/>
          <a:p>
            <a:r>
              <a:rPr lang="en-HK" dirty="0"/>
              <a:t>Some Areas You May Consider (1)</a:t>
            </a:r>
          </a:p>
        </p:txBody>
      </p:sp>
      <p:sp>
        <p:nvSpPr>
          <p:cNvPr id="3" name="Content Placeholder 2">
            <a:extLst>
              <a:ext uri="{FF2B5EF4-FFF2-40B4-BE49-F238E27FC236}">
                <a16:creationId xmlns:a16="http://schemas.microsoft.com/office/drawing/2014/main" id="{35165789-B80F-40E4-8C6B-CEACFBDB6BCE}"/>
              </a:ext>
            </a:extLst>
          </p:cNvPr>
          <p:cNvSpPr>
            <a:spLocks noGrp="1"/>
          </p:cNvSpPr>
          <p:nvPr>
            <p:ph idx="1"/>
          </p:nvPr>
        </p:nvSpPr>
        <p:spPr>
          <a:xfrm>
            <a:off x="412750" y="1676400"/>
            <a:ext cx="9263062" cy="4953000"/>
          </a:xfrm>
        </p:spPr>
        <p:txBody>
          <a:bodyPr/>
          <a:lstStyle/>
          <a:p>
            <a:r>
              <a:rPr lang="en-HK" sz="2800" b="1" dirty="0"/>
              <a:t>Improvement of existing SE tasks</a:t>
            </a:r>
            <a:r>
              <a:rPr lang="en-HK" sz="2800" dirty="0"/>
              <a:t>: The main focus of an SE tool is to implement an SE technique for a task in the software process. Some existing tasks may not be good enough (not accurate, far too slow, ineffective, not scalable enough, etc.). If this is the case, you may develop an alternate method to handle the task (i.e., replacing the existing module with your module for that task)</a:t>
            </a:r>
          </a:p>
          <a:p>
            <a:r>
              <a:rPr lang="en-HK" sz="2800" b="1" dirty="0"/>
              <a:t>Lower the acceptance boundary of an existing tool</a:t>
            </a:r>
            <a:r>
              <a:rPr lang="en-HK" sz="2800" dirty="0"/>
              <a:t>: The input/output of a SE tool may depend on too many setups or assumptions to prevent them from being used practically. Your project may develop a module to solve that problem</a:t>
            </a:r>
          </a:p>
        </p:txBody>
      </p:sp>
      <p:sp>
        <p:nvSpPr>
          <p:cNvPr id="4" name="Slide Number Placeholder 3">
            <a:extLst>
              <a:ext uri="{FF2B5EF4-FFF2-40B4-BE49-F238E27FC236}">
                <a16:creationId xmlns:a16="http://schemas.microsoft.com/office/drawing/2014/main" id="{4C460936-12DB-4480-B08A-E4D147420566}"/>
              </a:ext>
            </a:extLst>
          </p:cNvPr>
          <p:cNvSpPr>
            <a:spLocks noGrp="1"/>
          </p:cNvSpPr>
          <p:nvPr>
            <p:ph type="sldNum" sz="quarter" idx="12"/>
          </p:nvPr>
        </p:nvSpPr>
        <p:spPr/>
        <p:txBody>
          <a:bodyPr/>
          <a:lstStyle/>
          <a:p>
            <a:pPr>
              <a:defRPr/>
            </a:pPr>
            <a:fld id="{63B8F44C-0EDE-4D7D-9086-BD1CF3CE7AF7}" type="slidenum">
              <a:rPr lang="en-US" smtClean="0"/>
              <a:pPr>
                <a:defRPr/>
              </a:pPr>
              <a:t>12</a:t>
            </a:fld>
            <a:endParaRPr lang="en-US" dirty="0"/>
          </a:p>
        </p:txBody>
      </p:sp>
    </p:spTree>
    <p:extLst>
      <p:ext uri="{BB962C8B-B14F-4D97-AF65-F5344CB8AC3E}">
        <p14:creationId xmlns:p14="http://schemas.microsoft.com/office/powerpoint/2010/main" val="822863979"/>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7E7FF-D7F0-4EE7-9A14-B31F1CD755CF}"/>
              </a:ext>
            </a:extLst>
          </p:cNvPr>
          <p:cNvSpPr>
            <a:spLocks noGrp="1"/>
          </p:cNvSpPr>
          <p:nvPr>
            <p:ph type="title"/>
          </p:nvPr>
        </p:nvSpPr>
        <p:spPr/>
        <p:txBody>
          <a:bodyPr/>
          <a:lstStyle/>
          <a:p>
            <a:r>
              <a:rPr lang="en-HK" dirty="0"/>
              <a:t>Some Areas You May Consider (2)</a:t>
            </a:r>
          </a:p>
        </p:txBody>
      </p:sp>
      <p:sp>
        <p:nvSpPr>
          <p:cNvPr id="3" name="Content Placeholder 2">
            <a:extLst>
              <a:ext uri="{FF2B5EF4-FFF2-40B4-BE49-F238E27FC236}">
                <a16:creationId xmlns:a16="http://schemas.microsoft.com/office/drawing/2014/main" id="{35165789-B80F-40E4-8C6B-CEACFBDB6BCE}"/>
              </a:ext>
            </a:extLst>
          </p:cNvPr>
          <p:cNvSpPr>
            <a:spLocks noGrp="1"/>
          </p:cNvSpPr>
          <p:nvPr>
            <p:ph idx="1"/>
          </p:nvPr>
        </p:nvSpPr>
        <p:spPr>
          <a:xfrm>
            <a:off x="412750" y="1676400"/>
            <a:ext cx="9263062" cy="4953000"/>
          </a:xfrm>
        </p:spPr>
        <p:txBody>
          <a:bodyPr/>
          <a:lstStyle/>
          <a:p>
            <a:r>
              <a:rPr lang="en-HK" sz="2800" b="1" dirty="0"/>
              <a:t>Extension on top of existing tool</a:t>
            </a:r>
            <a:r>
              <a:rPr lang="en-HK" sz="2800" dirty="0"/>
              <a:t>: The tool provides an API and solves a particular problem. Your project may modify or enhance the tool to solve a related problem.</a:t>
            </a:r>
          </a:p>
          <a:p>
            <a:pPr lvl="1"/>
            <a:r>
              <a:rPr lang="en-US" sz="2400" dirty="0"/>
              <a:t>E</a:t>
            </a:r>
            <a:r>
              <a:rPr lang="en-HK" sz="2400" dirty="0"/>
              <a:t>.g., in your ML course, you may use </a:t>
            </a:r>
            <a:r>
              <a:rPr lang="en-HK" sz="2400" dirty="0" err="1"/>
              <a:t>Pytorch</a:t>
            </a:r>
            <a:r>
              <a:rPr lang="en-HK" sz="2400" dirty="0"/>
              <a:t> to write code for training deep learning models. Can you develop a drag-and-drop GUI so that developers can write code like playing Lego?</a:t>
            </a:r>
          </a:p>
          <a:p>
            <a:r>
              <a:rPr lang="en-HK" sz="2800" b="1" dirty="0"/>
              <a:t>Changing the applicability of an existing tool</a:t>
            </a:r>
            <a:r>
              <a:rPr lang="en-HK" sz="2800" dirty="0"/>
              <a:t>: A tool may statically check the source code and then generate an output. Or, a tool may dynamically </a:t>
            </a:r>
            <a:r>
              <a:rPr lang="en-HK" sz="2800" dirty="0" err="1"/>
              <a:t>analyze</a:t>
            </a:r>
            <a:r>
              <a:rPr lang="en-HK" sz="2800" dirty="0"/>
              <a:t> the execution logs to generate outputs to spot errors in the program executions. You may change the static analysis component to a dynamic analysis component and vice versa.</a:t>
            </a:r>
          </a:p>
        </p:txBody>
      </p:sp>
      <p:sp>
        <p:nvSpPr>
          <p:cNvPr id="4" name="Slide Number Placeholder 3">
            <a:extLst>
              <a:ext uri="{FF2B5EF4-FFF2-40B4-BE49-F238E27FC236}">
                <a16:creationId xmlns:a16="http://schemas.microsoft.com/office/drawing/2014/main" id="{4C460936-12DB-4480-B08A-E4D147420566}"/>
              </a:ext>
            </a:extLst>
          </p:cNvPr>
          <p:cNvSpPr>
            <a:spLocks noGrp="1"/>
          </p:cNvSpPr>
          <p:nvPr>
            <p:ph type="sldNum" sz="quarter" idx="12"/>
          </p:nvPr>
        </p:nvSpPr>
        <p:spPr/>
        <p:txBody>
          <a:bodyPr/>
          <a:lstStyle/>
          <a:p>
            <a:pPr>
              <a:defRPr/>
            </a:pPr>
            <a:fld id="{63B8F44C-0EDE-4D7D-9086-BD1CF3CE7AF7}" type="slidenum">
              <a:rPr lang="en-US" smtClean="0"/>
              <a:pPr>
                <a:defRPr/>
              </a:pPr>
              <a:t>13</a:t>
            </a:fld>
            <a:endParaRPr lang="en-US"/>
          </a:p>
        </p:txBody>
      </p:sp>
    </p:spTree>
    <p:extLst>
      <p:ext uri="{BB962C8B-B14F-4D97-AF65-F5344CB8AC3E}">
        <p14:creationId xmlns:p14="http://schemas.microsoft.com/office/powerpoint/2010/main" val="873062227"/>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7E7FF-D7F0-4EE7-9A14-B31F1CD755CF}"/>
              </a:ext>
            </a:extLst>
          </p:cNvPr>
          <p:cNvSpPr>
            <a:spLocks noGrp="1"/>
          </p:cNvSpPr>
          <p:nvPr>
            <p:ph type="title"/>
          </p:nvPr>
        </p:nvSpPr>
        <p:spPr/>
        <p:txBody>
          <a:bodyPr/>
          <a:lstStyle/>
          <a:p>
            <a:r>
              <a:rPr lang="en-HK" dirty="0"/>
              <a:t>Some Areas You May Consider (2)</a:t>
            </a:r>
          </a:p>
        </p:txBody>
      </p:sp>
      <p:sp>
        <p:nvSpPr>
          <p:cNvPr id="3" name="Content Placeholder 2">
            <a:extLst>
              <a:ext uri="{FF2B5EF4-FFF2-40B4-BE49-F238E27FC236}">
                <a16:creationId xmlns:a16="http://schemas.microsoft.com/office/drawing/2014/main" id="{35165789-B80F-40E4-8C6B-CEACFBDB6BCE}"/>
              </a:ext>
            </a:extLst>
          </p:cNvPr>
          <p:cNvSpPr>
            <a:spLocks noGrp="1"/>
          </p:cNvSpPr>
          <p:nvPr>
            <p:ph idx="1"/>
          </p:nvPr>
        </p:nvSpPr>
        <p:spPr>
          <a:xfrm>
            <a:off x="412750" y="1676400"/>
            <a:ext cx="9263062" cy="4953000"/>
          </a:xfrm>
        </p:spPr>
        <p:txBody>
          <a:bodyPr/>
          <a:lstStyle/>
          <a:p>
            <a:r>
              <a:rPr lang="en-HK" sz="2800" b="1" dirty="0"/>
              <a:t>Your Own Idea: Highly preferable. </a:t>
            </a:r>
            <a:r>
              <a:rPr lang="en-HK" sz="2800" dirty="0"/>
              <a:t>Do not bound by what have been described above or presented in lecture notes.</a:t>
            </a:r>
          </a:p>
        </p:txBody>
      </p:sp>
      <p:sp>
        <p:nvSpPr>
          <p:cNvPr id="4" name="Slide Number Placeholder 3">
            <a:extLst>
              <a:ext uri="{FF2B5EF4-FFF2-40B4-BE49-F238E27FC236}">
                <a16:creationId xmlns:a16="http://schemas.microsoft.com/office/drawing/2014/main" id="{4C460936-12DB-4480-B08A-E4D147420566}"/>
              </a:ext>
            </a:extLst>
          </p:cNvPr>
          <p:cNvSpPr>
            <a:spLocks noGrp="1"/>
          </p:cNvSpPr>
          <p:nvPr>
            <p:ph type="sldNum" sz="quarter" idx="12"/>
          </p:nvPr>
        </p:nvSpPr>
        <p:spPr/>
        <p:txBody>
          <a:bodyPr/>
          <a:lstStyle/>
          <a:p>
            <a:pPr>
              <a:defRPr/>
            </a:pPr>
            <a:fld id="{63B8F44C-0EDE-4D7D-9086-BD1CF3CE7AF7}" type="slidenum">
              <a:rPr lang="en-US" smtClean="0"/>
              <a:pPr>
                <a:defRPr/>
              </a:pPr>
              <a:t>14</a:t>
            </a:fld>
            <a:endParaRPr lang="en-US"/>
          </a:p>
        </p:txBody>
      </p:sp>
    </p:spTree>
    <p:extLst>
      <p:ext uri="{BB962C8B-B14F-4D97-AF65-F5344CB8AC3E}">
        <p14:creationId xmlns:p14="http://schemas.microsoft.com/office/powerpoint/2010/main" val="96413773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1AC37-D54C-40F5-95FF-EF17686646A6}"/>
              </a:ext>
            </a:extLst>
          </p:cNvPr>
          <p:cNvSpPr>
            <a:spLocks noGrp="1"/>
          </p:cNvSpPr>
          <p:nvPr>
            <p:ph type="title"/>
          </p:nvPr>
        </p:nvSpPr>
        <p:spPr/>
        <p:txBody>
          <a:bodyPr/>
          <a:lstStyle/>
          <a:p>
            <a:r>
              <a:rPr lang="en-HK" dirty="0"/>
              <a:t>Tips: Contributions of Team Members</a:t>
            </a:r>
          </a:p>
        </p:txBody>
      </p:sp>
      <p:sp>
        <p:nvSpPr>
          <p:cNvPr id="3" name="Content Placeholder 2">
            <a:extLst>
              <a:ext uri="{FF2B5EF4-FFF2-40B4-BE49-F238E27FC236}">
                <a16:creationId xmlns:a16="http://schemas.microsoft.com/office/drawing/2014/main" id="{4D5E3A5F-0229-43CE-BB19-AF90B7403E10}"/>
              </a:ext>
            </a:extLst>
          </p:cNvPr>
          <p:cNvSpPr>
            <a:spLocks noGrp="1"/>
          </p:cNvSpPr>
          <p:nvPr>
            <p:ph idx="1"/>
          </p:nvPr>
        </p:nvSpPr>
        <p:spPr>
          <a:xfrm>
            <a:off x="399202" y="1524000"/>
            <a:ext cx="9415462" cy="4953000"/>
          </a:xfrm>
        </p:spPr>
        <p:txBody>
          <a:bodyPr/>
          <a:lstStyle/>
          <a:p>
            <a:r>
              <a:rPr lang="en-HK" sz="2800" dirty="0"/>
              <a:t>Suggest using contributed efforts (e.g., pre-agreed manhours or story points) in determining the relative contributions of team members (as all of us are students). </a:t>
            </a:r>
          </a:p>
          <a:p>
            <a:pPr lvl="1"/>
            <a:r>
              <a:rPr lang="en-HK" sz="2400" dirty="0"/>
              <a:t>Teams can decide their measures on contributions. The team should reward students who take up difficult tasks and project management</a:t>
            </a:r>
          </a:p>
          <a:p>
            <a:pPr marL="0" indent="0">
              <a:buNone/>
            </a:pPr>
            <a:endParaRPr lang="en-HK" sz="2400" dirty="0"/>
          </a:p>
          <a:p>
            <a:pPr marL="0" indent="0">
              <a:buNone/>
            </a:pPr>
            <a:endParaRPr lang="en-HK" sz="2400" dirty="0"/>
          </a:p>
          <a:p>
            <a:pPr marL="0" indent="0">
              <a:buNone/>
            </a:pPr>
            <a:endParaRPr lang="en-HK" dirty="0"/>
          </a:p>
          <a:p>
            <a:pPr marL="0" indent="0">
              <a:buNone/>
            </a:pPr>
            <a:endParaRPr lang="en-HK" sz="1100" dirty="0"/>
          </a:p>
          <a:p>
            <a:pPr marL="0" indent="0">
              <a:buNone/>
            </a:pPr>
            <a:endParaRPr lang="en-HK" sz="1100" dirty="0"/>
          </a:p>
          <a:p>
            <a:pPr marL="0" indent="0">
              <a:buNone/>
            </a:pPr>
            <a:endParaRPr lang="en-HK" sz="1100" dirty="0"/>
          </a:p>
          <a:p>
            <a:r>
              <a:rPr lang="en-HK" sz="2000" dirty="0"/>
              <a:t>Marks will be pro-rated accordingly. </a:t>
            </a:r>
            <a:r>
              <a:rPr lang="en-HK" sz="1200" dirty="0"/>
              <a:t>[bounded for extreme, e.g., the presence of a free rider]</a:t>
            </a:r>
            <a:endParaRPr lang="en-HK" sz="2000" dirty="0"/>
          </a:p>
          <a:p>
            <a:r>
              <a:rPr lang="en-HK" sz="2000" dirty="0"/>
              <a:t>Present the contributions in the final report. </a:t>
            </a:r>
          </a:p>
          <a:p>
            <a:r>
              <a:rPr lang="en-HK" sz="2000" dirty="0"/>
              <a:t>Respect your teammates, as not everyone wants A+. </a:t>
            </a:r>
          </a:p>
        </p:txBody>
      </p:sp>
      <p:sp>
        <p:nvSpPr>
          <p:cNvPr id="4" name="Slide Number Placeholder 3">
            <a:extLst>
              <a:ext uri="{FF2B5EF4-FFF2-40B4-BE49-F238E27FC236}">
                <a16:creationId xmlns:a16="http://schemas.microsoft.com/office/drawing/2014/main" id="{240B3326-B548-4194-9E5C-49214DE95EA6}"/>
              </a:ext>
            </a:extLst>
          </p:cNvPr>
          <p:cNvSpPr>
            <a:spLocks noGrp="1"/>
          </p:cNvSpPr>
          <p:nvPr>
            <p:ph type="sldNum" sz="quarter" idx="12"/>
          </p:nvPr>
        </p:nvSpPr>
        <p:spPr/>
        <p:txBody>
          <a:bodyPr/>
          <a:lstStyle/>
          <a:p>
            <a:pPr>
              <a:defRPr/>
            </a:pPr>
            <a:fld id="{63B8F44C-0EDE-4D7D-9086-BD1CF3CE7AF7}" type="slidenum">
              <a:rPr lang="en-US" smtClean="0"/>
              <a:pPr>
                <a:defRPr/>
              </a:pPr>
              <a:t>15</a:t>
            </a:fld>
            <a:endParaRPr lang="en-US"/>
          </a:p>
        </p:txBody>
      </p:sp>
      <p:graphicFrame>
        <p:nvGraphicFramePr>
          <p:cNvPr id="6" name="Table 5">
            <a:extLst>
              <a:ext uri="{FF2B5EF4-FFF2-40B4-BE49-F238E27FC236}">
                <a16:creationId xmlns:a16="http://schemas.microsoft.com/office/drawing/2014/main" id="{0E9FB0B3-E7D7-4723-9679-6314495D2947}"/>
              </a:ext>
            </a:extLst>
          </p:cNvPr>
          <p:cNvGraphicFramePr>
            <a:graphicFrameLocks noGrp="1"/>
          </p:cNvGraphicFramePr>
          <p:nvPr>
            <p:extLst>
              <p:ext uri="{D42A27DB-BD31-4B8C-83A1-F6EECF244321}">
                <p14:modId xmlns:p14="http://schemas.microsoft.com/office/powerpoint/2010/main" val="1313602698"/>
              </p:ext>
            </p:extLst>
          </p:nvPr>
        </p:nvGraphicFramePr>
        <p:xfrm>
          <a:off x="646112" y="3722200"/>
          <a:ext cx="8610600" cy="1992123"/>
        </p:xfrm>
        <a:graphic>
          <a:graphicData uri="http://schemas.openxmlformats.org/drawingml/2006/table">
            <a:tbl>
              <a:tblPr firstRow="1" firstCol="1" bandRow="1">
                <a:tableStyleId>{21E4AEA4-8DFA-4A89-87EB-49C32662AFE0}</a:tableStyleId>
              </a:tblPr>
              <a:tblGrid>
                <a:gridCol w="1680797">
                  <a:extLst>
                    <a:ext uri="{9D8B030D-6E8A-4147-A177-3AD203B41FA5}">
                      <a16:colId xmlns:a16="http://schemas.microsoft.com/office/drawing/2014/main" val="735713592"/>
                    </a:ext>
                  </a:extLst>
                </a:gridCol>
                <a:gridCol w="1042213">
                  <a:extLst>
                    <a:ext uri="{9D8B030D-6E8A-4147-A177-3AD203B41FA5}">
                      <a16:colId xmlns:a16="http://schemas.microsoft.com/office/drawing/2014/main" val="1639402451"/>
                    </a:ext>
                  </a:extLst>
                </a:gridCol>
                <a:gridCol w="1177518">
                  <a:extLst>
                    <a:ext uri="{9D8B030D-6E8A-4147-A177-3AD203B41FA5}">
                      <a16:colId xmlns:a16="http://schemas.microsoft.com/office/drawing/2014/main" val="2986049032"/>
                    </a:ext>
                  </a:extLst>
                </a:gridCol>
                <a:gridCol w="1177518">
                  <a:extLst>
                    <a:ext uri="{9D8B030D-6E8A-4147-A177-3AD203B41FA5}">
                      <a16:colId xmlns:a16="http://schemas.microsoft.com/office/drawing/2014/main" val="1692906945"/>
                    </a:ext>
                  </a:extLst>
                </a:gridCol>
                <a:gridCol w="1177518">
                  <a:extLst>
                    <a:ext uri="{9D8B030D-6E8A-4147-A177-3AD203B41FA5}">
                      <a16:colId xmlns:a16="http://schemas.microsoft.com/office/drawing/2014/main" val="2278007348"/>
                    </a:ext>
                  </a:extLst>
                </a:gridCol>
                <a:gridCol w="1177518">
                  <a:extLst>
                    <a:ext uri="{9D8B030D-6E8A-4147-A177-3AD203B41FA5}">
                      <a16:colId xmlns:a16="http://schemas.microsoft.com/office/drawing/2014/main" val="3795115410"/>
                    </a:ext>
                  </a:extLst>
                </a:gridCol>
                <a:gridCol w="1177518">
                  <a:extLst>
                    <a:ext uri="{9D8B030D-6E8A-4147-A177-3AD203B41FA5}">
                      <a16:colId xmlns:a16="http://schemas.microsoft.com/office/drawing/2014/main" val="3276870572"/>
                    </a:ext>
                  </a:extLst>
                </a:gridCol>
              </a:tblGrid>
              <a:tr h="167301">
                <a:tc rowSpan="2">
                  <a:txBody>
                    <a:bodyPr/>
                    <a:lstStyle/>
                    <a:p>
                      <a:pPr algn="ctr">
                        <a:lnSpc>
                          <a:spcPct val="107000"/>
                        </a:lnSpc>
                        <a:spcAft>
                          <a:spcPts val="0"/>
                        </a:spcAft>
                      </a:pPr>
                      <a:r>
                        <a:rPr lang="en-US" sz="1200" dirty="0" err="1">
                          <a:effectLst/>
                        </a:rPr>
                        <a:t>MyTool</a:t>
                      </a:r>
                      <a:endParaRPr lang="en-HK" sz="12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nchor="ctr"/>
                </a:tc>
                <a:tc gridSpan="6">
                  <a:txBody>
                    <a:bodyPr/>
                    <a:lstStyle/>
                    <a:p>
                      <a:pPr algn="ctr">
                        <a:lnSpc>
                          <a:spcPct val="107000"/>
                        </a:lnSpc>
                        <a:spcAft>
                          <a:spcPts val="0"/>
                        </a:spcAft>
                      </a:pPr>
                      <a:r>
                        <a:rPr lang="en-US" sz="1200" dirty="0">
                          <a:effectLst/>
                        </a:rPr>
                        <a:t>Actual productive hours spent on the project (</a:t>
                      </a:r>
                      <a:r>
                        <a:rPr lang="en-US" sz="1200" dirty="0" err="1">
                          <a:effectLst/>
                        </a:rPr>
                        <a:t>hrs</a:t>
                      </a:r>
                      <a:r>
                        <a:rPr lang="en-US" sz="1200" dirty="0">
                          <a:effectLst/>
                        </a:rPr>
                        <a:t>) or story points</a:t>
                      </a:r>
                      <a:endParaRPr lang="en-HK" sz="12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1605370216"/>
                  </a:ext>
                </a:extLst>
              </a:tr>
              <a:tr h="167301">
                <a:tc vMerge="1">
                  <a:txBody>
                    <a:bodyPr/>
                    <a:lstStyle/>
                    <a:p>
                      <a:endParaRPr lang="en-HK"/>
                    </a:p>
                  </a:txBody>
                  <a:tcPr/>
                </a:tc>
                <a:tc>
                  <a:txBody>
                    <a:bodyPr/>
                    <a:lstStyle/>
                    <a:p>
                      <a:pPr>
                        <a:lnSpc>
                          <a:spcPct val="107000"/>
                        </a:lnSpc>
                        <a:spcAft>
                          <a:spcPts val="0"/>
                        </a:spcAft>
                      </a:pPr>
                      <a:r>
                        <a:rPr lang="en-US" sz="1200">
                          <a:effectLst/>
                        </a:rPr>
                        <a:t>Sprint 1</a:t>
                      </a:r>
                      <a:endParaRPr lang="en-HK" sz="12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200" dirty="0">
                          <a:effectLst/>
                        </a:rPr>
                        <a:t>Sprint 2</a:t>
                      </a:r>
                      <a:endParaRPr lang="en-HK" sz="12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200" dirty="0">
                          <a:effectLst/>
                        </a:rPr>
                        <a:t>Sprint 3</a:t>
                      </a:r>
                      <a:endParaRPr lang="en-HK" sz="12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200" dirty="0">
                          <a:effectLst/>
                        </a:rPr>
                        <a:t>Sprint 4</a:t>
                      </a:r>
                      <a:endParaRPr lang="en-HK" sz="12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200">
                          <a:effectLst/>
                        </a:rPr>
                        <a:t>Sprint 5</a:t>
                      </a:r>
                      <a:endParaRPr lang="en-HK" sz="12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200">
                          <a:effectLst/>
                        </a:rPr>
                        <a:t>Total</a:t>
                      </a:r>
                      <a:endParaRPr lang="en-HK" sz="12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028303404"/>
                  </a:ext>
                </a:extLst>
              </a:tr>
              <a:tr h="139101">
                <a:tc>
                  <a:txBody>
                    <a:bodyPr/>
                    <a:lstStyle/>
                    <a:p>
                      <a:pPr>
                        <a:lnSpc>
                          <a:spcPct val="107000"/>
                        </a:lnSpc>
                        <a:spcAft>
                          <a:spcPts val="0"/>
                        </a:spcAft>
                      </a:pPr>
                      <a:r>
                        <a:rPr lang="en-US" sz="1200" dirty="0">
                          <a:effectLst/>
                        </a:rPr>
                        <a:t>Zhou, A</a:t>
                      </a:r>
                      <a:endParaRPr lang="en-HK" sz="12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12</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a:effectLst/>
                          <a:latin typeface="Calibri" panose="020F0502020204030204" pitchFamily="34" charset="0"/>
                          <a:ea typeface="PMingLiU" panose="02020500000000000000" pitchFamily="18" charset="-120"/>
                          <a:cs typeface="Times New Roman" panose="02020603050405020304" pitchFamily="18" charset="0"/>
                        </a:rPr>
                        <a:t>12</a:t>
                      </a:r>
                      <a:endParaRPr lang="en-HK" sz="14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a:effectLst/>
                          <a:latin typeface="Calibri" panose="020F0502020204030204" pitchFamily="34" charset="0"/>
                          <a:ea typeface="PMingLiU" panose="02020500000000000000" pitchFamily="18" charset="-120"/>
                          <a:cs typeface="Times New Roman" panose="02020603050405020304" pitchFamily="18" charset="0"/>
                        </a:rPr>
                        <a:t>12</a:t>
                      </a:r>
                      <a:endParaRPr lang="en-HK" sz="14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12</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a:effectLst/>
                          <a:latin typeface="Calibri" panose="020F0502020204030204" pitchFamily="34" charset="0"/>
                          <a:ea typeface="PMingLiU" panose="02020500000000000000" pitchFamily="18" charset="-120"/>
                          <a:cs typeface="Times New Roman" panose="02020603050405020304" pitchFamily="18" charset="0"/>
                        </a:rPr>
                        <a:t>12</a:t>
                      </a:r>
                      <a:endParaRPr lang="en-HK" sz="14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60</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983007963"/>
                  </a:ext>
                </a:extLst>
              </a:tr>
              <a:tr h="196125">
                <a:tc>
                  <a:txBody>
                    <a:bodyPr/>
                    <a:lstStyle/>
                    <a:p>
                      <a:pPr>
                        <a:lnSpc>
                          <a:spcPct val="107000"/>
                        </a:lnSpc>
                        <a:spcAft>
                          <a:spcPts val="0"/>
                        </a:spcAft>
                      </a:pPr>
                      <a:r>
                        <a:rPr lang="en-HK" sz="1200" dirty="0">
                          <a:effectLst/>
                          <a:latin typeface="Calibri" panose="020F0502020204030204" pitchFamily="34" charset="0"/>
                          <a:ea typeface="PMingLiU" panose="02020500000000000000" pitchFamily="18" charset="-120"/>
                          <a:cs typeface="Times New Roman" panose="02020603050405020304" pitchFamily="18" charset="0"/>
                        </a:rPr>
                        <a:t>Wang, B</a:t>
                      </a:r>
                    </a:p>
                  </a:txBody>
                  <a:tcPr marL="68580" marR="68580" marT="0" marB="0"/>
                </a:tc>
                <a:tc>
                  <a:txBody>
                    <a:bodyPr/>
                    <a:lstStyle/>
                    <a:p>
                      <a:pPr>
                        <a:lnSpc>
                          <a:spcPct val="107000"/>
                        </a:lnSpc>
                        <a:spcAft>
                          <a:spcPts val="0"/>
                        </a:spcAft>
                      </a:pPr>
                      <a:r>
                        <a:rPr lang="en-US" sz="1400">
                          <a:effectLst/>
                          <a:latin typeface="Calibri" panose="020F0502020204030204" pitchFamily="34" charset="0"/>
                          <a:ea typeface="PMingLiU" panose="02020500000000000000" pitchFamily="18" charset="-120"/>
                          <a:cs typeface="Times New Roman" panose="02020603050405020304" pitchFamily="18" charset="0"/>
                        </a:rPr>
                        <a:t>12</a:t>
                      </a:r>
                      <a:endParaRPr lang="en-HK" sz="14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a:effectLst/>
                          <a:latin typeface="Calibri" panose="020F0502020204030204" pitchFamily="34" charset="0"/>
                          <a:ea typeface="PMingLiU" panose="02020500000000000000" pitchFamily="18" charset="-120"/>
                          <a:cs typeface="Times New Roman" panose="02020603050405020304" pitchFamily="18" charset="0"/>
                        </a:rPr>
                        <a:t>10</a:t>
                      </a:r>
                      <a:endParaRPr lang="en-HK" sz="14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a:effectLst/>
                          <a:latin typeface="Calibri" panose="020F0502020204030204" pitchFamily="34" charset="0"/>
                          <a:ea typeface="PMingLiU" panose="02020500000000000000" pitchFamily="18" charset="-120"/>
                          <a:cs typeface="Times New Roman" panose="02020603050405020304" pitchFamily="18" charset="0"/>
                        </a:rPr>
                        <a:t>5</a:t>
                      </a:r>
                      <a:endParaRPr lang="en-HK" sz="14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20</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a:effectLst/>
                          <a:latin typeface="Calibri" panose="020F0502020204030204" pitchFamily="34" charset="0"/>
                          <a:ea typeface="PMingLiU" panose="02020500000000000000" pitchFamily="18" charset="-120"/>
                          <a:cs typeface="Times New Roman" panose="02020603050405020304" pitchFamily="18" charset="0"/>
                        </a:rPr>
                        <a:t>8</a:t>
                      </a:r>
                      <a:endParaRPr lang="en-HK" sz="140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55</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99647772"/>
                  </a:ext>
                </a:extLst>
              </a:tr>
              <a:tr h="196125">
                <a:tc>
                  <a:txBody>
                    <a:bodyPr/>
                    <a:lstStyle/>
                    <a:p>
                      <a:pPr>
                        <a:lnSpc>
                          <a:spcPct val="107000"/>
                        </a:lnSpc>
                        <a:spcAft>
                          <a:spcPts val="0"/>
                        </a:spcAft>
                      </a:pPr>
                      <a:r>
                        <a:rPr lang="en-US" sz="1200" dirty="0">
                          <a:effectLst/>
                          <a:latin typeface="Calibri" panose="020F0502020204030204" pitchFamily="34" charset="0"/>
                          <a:ea typeface="PMingLiU" panose="02020500000000000000" pitchFamily="18" charset="-120"/>
                          <a:cs typeface="Times New Roman" panose="02020603050405020304" pitchFamily="18" charset="0"/>
                        </a:rPr>
                        <a:t>Chan, C</a:t>
                      </a:r>
                      <a:endParaRPr lang="en-HK" sz="12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5</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10</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5</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5</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5</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tc>
                  <a:txBody>
                    <a:bodyPr/>
                    <a:lstStyle/>
                    <a:p>
                      <a:pPr>
                        <a:lnSpc>
                          <a:spcPct val="107000"/>
                        </a:lnSpc>
                        <a:spcAft>
                          <a:spcPts val="0"/>
                        </a:spcAft>
                      </a:pPr>
                      <a:r>
                        <a:rPr lang="en-US" sz="1400" dirty="0">
                          <a:effectLst/>
                          <a:latin typeface="Calibri" panose="020F0502020204030204" pitchFamily="34" charset="0"/>
                          <a:ea typeface="PMingLiU" panose="02020500000000000000" pitchFamily="18" charset="-120"/>
                          <a:cs typeface="Times New Roman" panose="02020603050405020304" pitchFamily="18" charset="0"/>
                        </a:rPr>
                        <a:t>35</a:t>
                      </a:r>
                      <a:endParaRPr lang="en-HK" sz="1400" dirty="0">
                        <a:effectLst/>
                        <a:latin typeface="Calibri" panose="020F0502020204030204" pitchFamily="34" charset="0"/>
                        <a:ea typeface="PMingLiU"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49430976"/>
                  </a:ext>
                </a:extLst>
              </a:tr>
              <a:tr h="867723">
                <a:tc gridSpan="7">
                  <a:txBody>
                    <a:bodyPr/>
                    <a:lstStyle/>
                    <a:p>
                      <a:pPr>
                        <a:lnSpc>
                          <a:spcPct val="107000"/>
                        </a:lnSpc>
                        <a:spcAft>
                          <a:spcPts val="0"/>
                        </a:spcAft>
                      </a:pPr>
                      <a:r>
                        <a:rPr lang="en-HK" sz="1200" dirty="0">
                          <a:solidFill>
                            <a:sysClr val="windowText" lastClr="000000"/>
                          </a:solidFill>
                          <a:effectLst/>
                        </a:rPr>
                        <a:t>Mean contribution = ( 60+55+35) / 3 = 50</a:t>
                      </a:r>
                    </a:p>
                    <a:p>
                      <a:pPr>
                        <a:lnSpc>
                          <a:spcPct val="107000"/>
                        </a:lnSpc>
                        <a:spcAft>
                          <a:spcPts val="0"/>
                        </a:spcAft>
                      </a:pPr>
                      <a:r>
                        <a:rPr lang="en-HK" sz="1200" dirty="0">
                          <a:solidFill>
                            <a:sysClr val="windowText" lastClr="000000"/>
                          </a:solidFill>
                          <a:effectLst/>
                        </a:rPr>
                        <a:t>Zhou:  60 / Mean contribution = 60 / 50 = 1.2</a:t>
                      </a:r>
                    </a:p>
                    <a:p>
                      <a:pPr>
                        <a:lnSpc>
                          <a:spcPct val="107000"/>
                        </a:lnSpc>
                        <a:spcAft>
                          <a:spcPts val="0"/>
                        </a:spcAft>
                      </a:pPr>
                      <a:r>
                        <a:rPr lang="en-HK" sz="1200" dirty="0">
                          <a:solidFill>
                            <a:sysClr val="windowText" lastClr="000000"/>
                          </a:solidFill>
                          <a:effectLst/>
                        </a:rPr>
                        <a:t>Wang: 55 / Mean contribution = 55 / 50 = 1.1</a:t>
                      </a:r>
                    </a:p>
                    <a:p>
                      <a:pPr>
                        <a:lnSpc>
                          <a:spcPct val="107000"/>
                        </a:lnSpc>
                        <a:spcAft>
                          <a:spcPts val="0"/>
                        </a:spcAft>
                      </a:pPr>
                      <a:r>
                        <a:rPr lang="en-HK" sz="1200" dirty="0">
                          <a:solidFill>
                            <a:sysClr val="windowText" lastClr="000000"/>
                          </a:solidFill>
                          <a:effectLst/>
                        </a:rPr>
                        <a:t>Chan: 35 / Mean contribution = 35/50 = 0.7</a:t>
                      </a:r>
                    </a:p>
                    <a:p>
                      <a:pPr>
                        <a:lnSpc>
                          <a:spcPct val="107000"/>
                        </a:lnSpc>
                        <a:spcAft>
                          <a:spcPts val="0"/>
                        </a:spcAft>
                      </a:pPr>
                      <a:r>
                        <a:rPr lang="en-HK" sz="1200" dirty="0">
                          <a:solidFill>
                            <a:sysClr val="windowText" lastClr="000000"/>
                          </a:solidFill>
                          <a:effectLst/>
                        </a:rPr>
                        <a:t>If the project gets 69 (in the range of B+ [66.5, 69.5), then Zhou gets 82.8 (A+), Wang gets 75.9 (A), and Chan gets 48.3 (C)</a:t>
                      </a:r>
                    </a:p>
                  </a:txBody>
                  <a:tcPr marL="68580" marR="68580" marT="0" marB="0">
                    <a:solidFill>
                      <a:schemeClr val="bg1"/>
                    </a:solidFill>
                  </a:tcPr>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3614719946"/>
                  </a:ext>
                </a:extLst>
              </a:tr>
            </a:tbl>
          </a:graphicData>
        </a:graphic>
      </p:graphicFrame>
    </p:spTree>
    <p:extLst>
      <p:ext uri="{BB962C8B-B14F-4D97-AF65-F5344CB8AC3E}">
        <p14:creationId xmlns:p14="http://schemas.microsoft.com/office/powerpoint/2010/main" val="3974099900"/>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BF99-9C34-F27D-4C2A-90769922D533}"/>
              </a:ext>
            </a:extLst>
          </p:cNvPr>
          <p:cNvSpPr>
            <a:spLocks noGrp="1"/>
          </p:cNvSpPr>
          <p:nvPr>
            <p:ph type="title"/>
          </p:nvPr>
        </p:nvSpPr>
        <p:spPr/>
        <p:txBody>
          <a:bodyPr/>
          <a:lstStyle/>
          <a:p>
            <a:r>
              <a:rPr lang="en-US" dirty="0"/>
              <a:t>Tips: Tasks and Team Leader</a:t>
            </a:r>
            <a:endParaRPr lang="en-HK" dirty="0"/>
          </a:p>
        </p:txBody>
      </p:sp>
      <p:sp>
        <p:nvSpPr>
          <p:cNvPr id="3" name="Content Placeholder 2">
            <a:extLst>
              <a:ext uri="{FF2B5EF4-FFF2-40B4-BE49-F238E27FC236}">
                <a16:creationId xmlns:a16="http://schemas.microsoft.com/office/drawing/2014/main" id="{26F7C978-169A-C5BE-B0E9-013F128FA2FF}"/>
              </a:ext>
            </a:extLst>
          </p:cNvPr>
          <p:cNvSpPr>
            <a:spLocks noGrp="1"/>
          </p:cNvSpPr>
          <p:nvPr>
            <p:ph idx="1"/>
          </p:nvPr>
        </p:nvSpPr>
        <p:spPr>
          <a:xfrm>
            <a:off x="303212" y="1524000"/>
            <a:ext cx="9448800" cy="4953000"/>
          </a:xfrm>
        </p:spPr>
        <p:txBody>
          <a:bodyPr/>
          <a:lstStyle/>
          <a:p>
            <a:pPr>
              <a:spcBef>
                <a:spcPts val="0"/>
              </a:spcBef>
            </a:pPr>
            <a:r>
              <a:rPr lang="en-HK" sz="2800" dirty="0"/>
              <a:t>The team leader should encourage all team members to contribute. </a:t>
            </a:r>
          </a:p>
          <a:p>
            <a:pPr lvl="1">
              <a:spcBef>
                <a:spcPts val="0"/>
              </a:spcBef>
            </a:pPr>
            <a:r>
              <a:rPr lang="en-HK" sz="2400" dirty="0"/>
              <a:t>The leader is still a student. S/he needs not bear the responsibility of other student’s failure or high-quality project management. </a:t>
            </a:r>
          </a:p>
          <a:p>
            <a:pPr>
              <a:spcBef>
                <a:spcPts val="0"/>
              </a:spcBef>
            </a:pPr>
            <a:r>
              <a:rPr lang="en-HK" sz="2800" dirty="0"/>
              <a:t>Each student is responsible for his/her assigned project task. </a:t>
            </a:r>
          </a:p>
          <a:p>
            <a:pPr lvl="1">
              <a:spcBef>
                <a:spcPts val="0"/>
              </a:spcBef>
            </a:pPr>
            <a:r>
              <a:rPr lang="en-HK" sz="2400" dirty="0"/>
              <a:t>If a student is a free runner or consistently fail to deliver in time, let that student fail the project.</a:t>
            </a:r>
          </a:p>
          <a:p>
            <a:pPr lvl="1">
              <a:spcBef>
                <a:spcPts val="0"/>
              </a:spcBef>
            </a:pPr>
            <a:r>
              <a:rPr lang="en-HK" sz="2400" dirty="0"/>
              <a:t>The student should speak (freely) for him/herself in all meetings.</a:t>
            </a:r>
          </a:p>
          <a:p>
            <a:pPr>
              <a:spcBef>
                <a:spcPts val="0"/>
              </a:spcBef>
            </a:pPr>
            <a:r>
              <a:rPr lang="en-HK" sz="2800" dirty="0"/>
              <a:t>Use the standing meetings to list out the tasks to complete and let team members choose through consensus.</a:t>
            </a:r>
          </a:p>
          <a:p>
            <a:pPr lvl="1">
              <a:spcBef>
                <a:spcPts val="0"/>
              </a:spcBef>
            </a:pPr>
            <a:r>
              <a:rPr lang="en-HK" sz="2400" dirty="0"/>
              <a:t>If a student is absent from a meeting, the student must send a request to the team leader and authorize the team leader to pick tasks for him/her in the meeting. </a:t>
            </a:r>
          </a:p>
        </p:txBody>
      </p:sp>
      <p:sp>
        <p:nvSpPr>
          <p:cNvPr id="4" name="Slide Number Placeholder 3">
            <a:extLst>
              <a:ext uri="{FF2B5EF4-FFF2-40B4-BE49-F238E27FC236}">
                <a16:creationId xmlns:a16="http://schemas.microsoft.com/office/drawing/2014/main" id="{25DEF506-BB6A-4587-DF88-70912CE65916}"/>
              </a:ext>
            </a:extLst>
          </p:cNvPr>
          <p:cNvSpPr>
            <a:spLocks noGrp="1"/>
          </p:cNvSpPr>
          <p:nvPr>
            <p:ph type="sldNum" sz="quarter" idx="12"/>
          </p:nvPr>
        </p:nvSpPr>
        <p:spPr/>
        <p:txBody>
          <a:bodyPr/>
          <a:lstStyle/>
          <a:p>
            <a:pPr>
              <a:defRPr/>
            </a:pPr>
            <a:fld id="{63B8F44C-0EDE-4D7D-9086-BD1CF3CE7AF7}" type="slidenum">
              <a:rPr lang="en-US" smtClean="0"/>
              <a:pPr>
                <a:defRPr/>
              </a:pPr>
              <a:t>16</a:t>
            </a:fld>
            <a:endParaRPr lang="en-US"/>
          </a:p>
        </p:txBody>
      </p:sp>
    </p:spTree>
    <p:extLst>
      <p:ext uri="{BB962C8B-B14F-4D97-AF65-F5344CB8AC3E}">
        <p14:creationId xmlns:p14="http://schemas.microsoft.com/office/powerpoint/2010/main" val="1453058536"/>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902D7D-5F44-54A6-C357-CDD4A1D8D83F}"/>
              </a:ext>
            </a:extLst>
          </p:cNvPr>
          <p:cNvSpPr>
            <a:spLocks noGrp="1"/>
          </p:cNvSpPr>
          <p:nvPr>
            <p:ph type="title"/>
          </p:nvPr>
        </p:nvSpPr>
        <p:spPr/>
        <p:txBody>
          <a:bodyPr/>
          <a:lstStyle/>
          <a:p>
            <a:r>
              <a:rPr lang="en-US" dirty="0"/>
              <a:t>Tips: Extent of Success</a:t>
            </a:r>
            <a:endParaRPr lang="en-HK" dirty="0"/>
          </a:p>
        </p:txBody>
      </p:sp>
      <p:sp>
        <p:nvSpPr>
          <p:cNvPr id="3" name="Content Placeholder 2">
            <a:extLst>
              <a:ext uri="{FF2B5EF4-FFF2-40B4-BE49-F238E27FC236}">
                <a16:creationId xmlns:a16="http://schemas.microsoft.com/office/drawing/2014/main" id="{4C366CD5-5D22-BD9E-4A8E-C1C01981F5E4}"/>
              </a:ext>
            </a:extLst>
          </p:cNvPr>
          <p:cNvSpPr>
            <a:spLocks noGrp="1"/>
          </p:cNvSpPr>
          <p:nvPr>
            <p:ph idx="1"/>
          </p:nvPr>
        </p:nvSpPr>
        <p:spPr>
          <a:xfrm>
            <a:off x="412750" y="1524000"/>
            <a:ext cx="9036050" cy="4953000"/>
          </a:xfrm>
        </p:spPr>
        <p:txBody>
          <a:bodyPr/>
          <a:lstStyle/>
          <a:p>
            <a:r>
              <a:rPr lang="en-US" dirty="0"/>
              <a:t>A fully functional application is good, but not mandatory for a course project.</a:t>
            </a:r>
          </a:p>
          <a:p>
            <a:r>
              <a:rPr lang="en-US" dirty="0"/>
              <a:t>A key point is to practice all the software engineering skills (from process to software maintenance)</a:t>
            </a:r>
          </a:p>
          <a:p>
            <a:r>
              <a:rPr lang="en-HK" dirty="0"/>
              <a:t>Another key point is to include Research Ideas into the project as this is a graduate-level course, rather than an undergraduate-level course.</a:t>
            </a:r>
          </a:p>
          <a:p>
            <a:r>
              <a:rPr lang="en-HK" dirty="0"/>
              <a:t>Innovative Research Ideas may not work in all cases. Don’t worry. It will overweight limitations</a:t>
            </a:r>
          </a:p>
        </p:txBody>
      </p:sp>
      <p:sp>
        <p:nvSpPr>
          <p:cNvPr id="4" name="Slide Number Placeholder 3">
            <a:extLst>
              <a:ext uri="{FF2B5EF4-FFF2-40B4-BE49-F238E27FC236}">
                <a16:creationId xmlns:a16="http://schemas.microsoft.com/office/drawing/2014/main" id="{CCF2CCA0-FB12-2F7B-E49F-6B1854C926A6}"/>
              </a:ext>
            </a:extLst>
          </p:cNvPr>
          <p:cNvSpPr>
            <a:spLocks noGrp="1"/>
          </p:cNvSpPr>
          <p:nvPr>
            <p:ph type="sldNum" sz="quarter" idx="12"/>
          </p:nvPr>
        </p:nvSpPr>
        <p:spPr/>
        <p:txBody>
          <a:bodyPr/>
          <a:lstStyle/>
          <a:p>
            <a:pPr>
              <a:defRPr/>
            </a:pPr>
            <a:fld id="{63B8F44C-0EDE-4D7D-9086-BD1CF3CE7AF7}" type="slidenum">
              <a:rPr lang="en-US" smtClean="0"/>
              <a:pPr>
                <a:defRPr/>
              </a:pPr>
              <a:t>17</a:t>
            </a:fld>
            <a:endParaRPr lang="en-US"/>
          </a:p>
        </p:txBody>
      </p:sp>
    </p:spTree>
    <p:extLst>
      <p:ext uri="{BB962C8B-B14F-4D97-AF65-F5344CB8AC3E}">
        <p14:creationId xmlns:p14="http://schemas.microsoft.com/office/powerpoint/2010/main" val="385718923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HK" dirty="0"/>
              <a:t>Milestone 0</a:t>
            </a:r>
          </a:p>
        </p:txBody>
      </p:sp>
      <p:sp>
        <p:nvSpPr>
          <p:cNvPr id="3" name="Content Placeholder 2"/>
          <p:cNvSpPr>
            <a:spLocks noGrp="1"/>
          </p:cNvSpPr>
          <p:nvPr>
            <p:ph idx="1"/>
          </p:nvPr>
        </p:nvSpPr>
        <p:spPr>
          <a:xfrm>
            <a:off x="451200" y="1447800"/>
            <a:ext cx="9224611" cy="4953000"/>
          </a:xfrm>
        </p:spPr>
        <p:txBody>
          <a:bodyPr/>
          <a:lstStyle/>
          <a:p>
            <a:r>
              <a:rPr lang="en-HK" sz="2800" b="1" dirty="0"/>
              <a:t>Form your team in Week 1</a:t>
            </a:r>
          </a:p>
          <a:p>
            <a:pPr lvl="1"/>
            <a:r>
              <a:rPr lang="en-HK" sz="2400" dirty="0"/>
              <a:t>Nominate a team leader</a:t>
            </a:r>
          </a:p>
          <a:p>
            <a:pPr lvl="1"/>
            <a:r>
              <a:rPr lang="en-HK" sz="2400" dirty="0"/>
              <a:t>Team leader chooses and joins an empty project group in Canvas.</a:t>
            </a:r>
          </a:p>
          <a:p>
            <a:pPr lvl="2"/>
            <a:r>
              <a:rPr lang="en-HK" sz="2000" dirty="0"/>
              <a:t>the first one to join an empty group is the team leader.</a:t>
            </a:r>
          </a:p>
          <a:p>
            <a:pPr lvl="1"/>
            <a:r>
              <a:rPr lang="en-HK" sz="2400" dirty="0"/>
              <a:t>Other team members join that group</a:t>
            </a:r>
          </a:p>
          <a:p>
            <a:pPr lvl="1"/>
            <a:r>
              <a:rPr lang="en-HK" sz="2400" b="1" dirty="0"/>
              <a:t>Email to TAs </a:t>
            </a:r>
            <a:r>
              <a:rPr lang="en-HK" sz="2400" dirty="0"/>
              <a:t>and the course lecturer about your team member list (full student name and student ID) and project number </a:t>
            </a:r>
            <a:r>
              <a:rPr lang="en-HK" sz="2400" b="1" dirty="0"/>
              <a:t>by Week 2</a:t>
            </a:r>
          </a:p>
          <a:p>
            <a:pPr lvl="2"/>
            <a:r>
              <a:rPr lang="en-HK" sz="2000" dirty="0"/>
              <a:t>TA will verify the name list in Canvas accordingly. </a:t>
            </a:r>
          </a:p>
          <a:p>
            <a:endParaRPr lang="en-HK" sz="2800" dirty="0"/>
          </a:p>
          <a:p>
            <a:r>
              <a:rPr lang="en-HK" sz="2800" dirty="0"/>
              <a:t>Latecomer: Use the discussion forum or find team members in the class.  The course instructor may add any team member to a team (perhaps more than 9 members at the end)</a:t>
            </a:r>
          </a:p>
        </p:txBody>
      </p:sp>
      <p:sp>
        <p:nvSpPr>
          <p:cNvPr id="4" name="Slide Number Placeholder 3"/>
          <p:cNvSpPr>
            <a:spLocks noGrp="1"/>
          </p:cNvSpPr>
          <p:nvPr>
            <p:ph type="sldNum" sz="quarter" idx="12"/>
          </p:nvPr>
        </p:nvSpPr>
        <p:spPr/>
        <p:txBody>
          <a:bodyPr/>
          <a:lstStyle/>
          <a:p>
            <a:pPr>
              <a:defRPr/>
            </a:pPr>
            <a:fld id="{63B8F44C-0EDE-4D7D-9086-BD1CF3CE7AF7}" type="slidenum">
              <a:rPr lang="en-US" smtClean="0"/>
              <a:pPr>
                <a:defRPr/>
              </a:pPr>
              <a:t>18</a:t>
            </a:fld>
            <a:endParaRPr lang="en-US"/>
          </a:p>
        </p:txBody>
      </p:sp>
    </p:spTree>
    <p:extLst>
      <p:ext uri="{BB962C8B-B14F-4D97-AF65-F5344CB8AC3E}">
        <p14:creationId xmlns:p14="http://schemas.microsoft.com/office/powerpoint/2010/main" val="386695942"/>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D1BF3-34F8-49FC-A10F-B3AC100F1E05}"/>
              </a:ext>
            </a:extLst>
          </p:cNvPr>
          <p:cNvSpPr>
            <a:spLocks noGrp="1"/>
          </p:cNvSpPr>
          <p:nvPr>
            <p:ph type="title"/>
          </p:nvPr>
        </p:nvSpPr>
        <p:spPr/>
        <p:txBody>
          <a:bodyPr/>
          <a:lstStyle/>
          <a:p>
            <a:r>
              <a:rPr lang="en-HK" dirty="0"/>
              <a:t>Final Deliverable</a:t>
            </a:r>
          </a:p>
        </p:txBody>
      </p:sp>
      <p:sp>
        <p:nvSpPr>
          <p:cNvPr id="3" name="Content Placeholder 2">
            <a:extLst>
              <a:ext uri="{FF2B5EF4-FFF2-40B4-BE49-F238E27FC236}">
                <a16:creationId xmlns:a16="http://schemas.microsoft.com/office/drawing/2014/main" id="{96C88F27-46CD-47A6-86D2-EF9E7C0A554E}"/>
              </a:ext>
            </a:extLst>
          </p:cNvPr>
          <p:cNvSpPr>
            <a:spLocks noGrp="1"/>
          </p:cNvSpPr>
          <p:nvPr>
            <p:ph idx="1"/>
          </p:nvPr>
        </p:nvSpPr>
        <p:spPr>
          <a:xfrm>
            <a:off x="412750" y="1676400"/>
            <a:ext cx="9415462" cy="4953000"/>
          </a:xfrm>
        </p:spPr>
        <p:txBody>
          <a:bodyPr/>
          <a:lstStyle/>
          <a:p>
            <a:r>
              <a:rPr lang="en-HK" b="1" dirty="0"/>
              <a:t>a </a:t>
            </a:r>
            <a:r>
              <a:rPr lang="en-HK" sz="2800" b="1" dirty="0"/>
              <a:t>10-minute</a:t>
            </a:r>
            <a:r>
              <a:rPr lang="en-HK" b="1" dirty="0"/>
              <a:t> Video Clip</a:t>
            </a:r>
            <a:r>
              <a:rPr lang="en-HK" dirty="0"/>
              <a:t> to </a:t>
            </a:r>
            <a:r>
              <a:rPr lang="en-HK" b="1" dirty="0"/>
              <a:t>demo</a:t>
            </a:r>
            <a:r>
              <a:rPr lang="en-HK" dirty="0"/>
              <a:t> your project</a:t>
            </a:r>
          </a:p>
          <a:p>
            <a:pPr lvl="1"/>
            <a:r>
              <a:rPr lang="en-HK" dirty="0"/>
              <a:t>Submit in </a:t>
            </a:r>
            <a:r>
              <a:rPr lang="en-HK" sz="2400" b="1" dirty="0"/>
              <a:t>Week 13</a:t>
            </a:r>
            <a:r>
              <a:rPr lang="en-HK" b="1" dirty="0"/>
              <a:t> </a:t>
            </a:r>
            <a:r>
              <a:rPr lang="en-HK" dirty="0"/>
              <a:t> </a:t>
            </a:r>
            <a:endParaRPr lang="en-HK" b="1" dirty="0"/>
          </a:p>
          <a:p>
            <a:r>
              <a:rPr lang="en-HK" b="1" dirty="0"/>
              <a:t>a </a:t>
            </a:r>
            <a:r>
              <a:rPr lang="en-HK" sz="2800" b="1" dirty="0"/>
              <a:t>10-minute</a:t>
            </a:r>
            <a:r>
              <a:rPr lang="en-HK" b="1" dirty="0"/>
              <a:t> Video</a:t>
            </a:r>
            <a:r>
              <a:rPr lang="en-HK" dirty="0"/>
              <a:t> </a:t>
            </a:r>
            <a:r>
              <a:rPr lang="en-HK" b="1" dirty="0"/>
              <a:t>Clip</a:t>
            </a:r>
            <a:r>
              <a:rPr lang="en-HK" dirty="0"/>
              <a:t> to </a:t>
            </a:r>
            <a:r>
              <a:rPr lang="en-HK" b="1" dirty="0"/>
              <a:t>present</a:t>
            </a:r>
            <a:r>
              <a:rPr lang="en-HK" dirty="0"/>
              <a:t> your project</a:t>
            </a:r>
          </a:p>
          <a:p>
            <a:pPr lvl="1"/>
            <a:r>
              <a:rPr lang="en-HK" dirty="0"/>
              <a:t>Submit in </a:t>
            </a:r>
            <a:r>
              <a:rPr lang="en-HK" sz="2400" b="1" dirty="0"/>
              <a:t>Week 13</a:t>
            </a:r>
            <a:r>
              <a:rPr lang="en-HK" b="1" dirty="0"/>
              <a:t> </a:t>
            </a:r>
            <a:r>
              <a:rPr lang="en-HK" dirty="0"/>
              <a:t> </a:t>
            </a:r>
          </a:p>
          <a:p>
            <a:pPr lvl="1"/>
            <a:r>
              <a:rPr lang="en-HK" b="1" dirty="0"/>
              <a:t>Ensure you to elaborate areas related to specific topics of this course</a:t>
            </a:r>
            <a:endParaRPr lang="en-HK" sz="3200" b="1" dirty="0"/>
          </a:p>
          <a:p>
            <a:r>
              <a:rPr lang="en-HK" b="1" dirty="0"/>
              <a:t>a Final Report and the source code</a:t>
            </a:r>
          </a:p>
          <a:p>
            <a:pPr lvl="1"/>
            <a:r>
              <a:rPr lang="en-HK" dirty="0"/>
              <a:t>Submit in </a:t>
            </a:r>
            <a:r>
              <a:rPr lang="en-HK" b="1" dirty="0"/>
              <a:t>Week 13 </a:t>
            </a:r>
          </a:p>
          <a:p>
            <a:pPr lvl="1"/>
            <a:r>
              <a:rPr lang="en-US" dirty="0"/>
              <a:t>P</a:t>
            </a:r>
            <a:r>
              <a:rPr lang="en-HK" dirty="0"/>
              <a:t>lace your project code in a GitHub project. </a:t>
            </a:r>
          </a:p>
          <a:p>
            <a:endParaRPr lang="en-HK" dirty="0"/>
          </a:p>
        </p:txBody>
      </p:sp>
      <p:sp>
        <p:nvSpPr>
          <p:cNvPr id="4" name="Slide Number Placeholder 3">
            <a:extLst>
              <a:ext uri="{FF2B5EF4-FFF2-40B4-BE49-F238E27FC236}">
                <a16:creationId xmlns:a16="http://schemas.microsoft.com/office/drawing/2014/main" id="{3E74B9BA-90B7-4AE8-8D3F-8677942E5A8E}"/>
              </a:ext>
            </a:extLst>
          </p:cNvPr>
          <p:cNvSpPr>
            <a:spLocks noGrp="1"/>
          </p:cNvSpPr>
          <p:nvPr>
            <p:ph type="sldNum" sz="quarter" idx="12"/>
          </p:nvPr>
        </p:nvSpPr>
        <p:spPr/>
        <p:txBody>
          <a:bodyPr/>
          <a:lstStyle/>
          <a:p>
            <a:pPr>
              <a:defRPr/>
            </a:pPr>
            <a:fld id="{63B8F44C-0EDE-4D7D-9086-BD1CF3CE7AF7}" type="slidenum">
              <a:rPr lang="en-US" smtClean="0"/>
              <a:pPr>
                <a:defRPr/>
              </a:pPr>
              <a:t>19</a:t>
            </a:fld>
            <a:endParaRPr lang="en-US"/>
          </a:p>
        </p:txBody>
      </p:sp>
    </p:spTree>
    <p:extLst>
      <p:ext uri="{BB962C8B-B14F-4D97-AF65-F5344CB8AC3E}">
        <p14:creationId xmlns:p14="http://schemas.microsoft.com/office/powerpoint/2010/main" val="125437363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19E6A-97AB-473B-B42F-961AC75516E2}"/>
              </a:ext>
            </a:extLst>
          </p:cNvPr>
          <p:cNvSpPr>
            <a:spLocks noGrp="1"/>
          </p:cNvSpPr>
          <p:nvPr>
            <p:ph type="title"/>
          </p:nvPr>
        </p:nvSpPr>
        <p:spPr/>
        <p:txBody>
          <a:bodyPr/>
          <a:lstStyle/>
          <a:p>
            <a:r>
              <a:rPr lang="en-HK" dirty="0"/>
              <a:t>Content of Final Report (1/4)</a:t>
            </a:r>
          </a:p>
        </p:txBody>
      </p:sp>
      <p:sp>
        <p:nvSpPr>
          <p:cNvPr id="3" name="Content Placeholder 2">
            <a:extLst>
              <a:ext uri="{FF2B5EF4-FFF2-40B4-BE49-F238E27FC236}">
                <a16:creationId xmlns:a16="http://schemas.microsoft.com/office/drawing/2014/main" id="{9FDC1191-D838-41EF-AA38-C56602CFAF17}"/>
              </a:ext>
            </a:extLst>
          </p:cNvPr>
          <p:cNvSpPr>
            <a:spLocks noGrp="1"/>
          </p:cNvSpPr>
          <p:nvPr>
            <p:ph idx="1"/>
          </p:nvPr>
        </p:nvSpPr>
        <p:spPr>
          <a:xfrm>
            <a:off x="303212" y="1524000"/>
            <a:ext cx="9036050" cy="4953000"/>
          </a:xfrm>
        </p:spPr>
        <p:txBody>
          <a:bodyPr/>
          <a:lstStyle/>
          <a:p>
            <a:r>
              <a:rPr lang="en-HK" sz="2800" dirty="0"/>
              <a:t>The length of your report: no limit.  </a:t>
            </a:r>
          </a:p>
          <a:p>
            <a:r>
              <a:rPr lang="en-HK" sz="2800" dirty="0"/>
              <a:t>Contents </a:t>
            </a:r>
            <a:r>
              <a:rPr lang="en-US" sz="2800" dirty="0"/>
              <a:t>include the project title, student names and IDs, abstract, introduction, related work, preliminaries, all figures/tables, technical contents, evaluation, relative contribution, self-reflection, references, and a short bio of each student (</a:t>
            </a:r>
            <a:r>
              <a:rPr lang="en-US" sz="2800" b="1" dirty="0"/>
              <a:t>don’t disclose about your privacy</a:t>
            </a:r>
            <a:r>
              <a:rPr lang="en-US" sz="2800" dirty="0"/>
              <a:t>),</a:t>
            </a:r>
            <a:r>
              <a:rPr lang="en-HK" sz="2800" dirty="0"/>
              <a:t> including the declaration of the contribution of the student.</a:t>
            </a:r>
          </a:p>
          <a:p>
            <a:r>
              <a:rPr lang="en-HK" sz="2800" dirty="0"/>
              <a:t>Format your report in the IEEE Transactions on Software Engineering format.</a:t>
            </a:r>
          </a:p>
          <a:p>
            <a:pPr lvl="1"/>
            <a:r>
              <a:rPr lang="en-HK" sz="1800" dirty="0">
                <a:hlinkClick r:id="rId2"/>
              </a:rPr>
              <a:t>https://template-selector.ieee.org/secure/templateSelector/publicationType</a:t>
            </a:r>
            <a:endParaRPr lang="en-HK" sz="1800" dirty="0"/>
          </a:p>
          <a:p>
            <a:pPr marL="512763" lvl="1" indent="0">
              <a:buNone/>
            </a:pPr>
            <a:r>
              <a:rPr lang="en-HK" sz="1800" dirty="0" err="1"/>
              <a:t>Transactions</a:t>
            </a:r>
            <a:r>
              <a:rPr lang="en-HK" sz="1800" dirty="0" err="1">
                <a:sym typeface="Wingdings" panose="05000000000000000000" pitchFamily="2" charset="2"/>
              </a:rPr>
              <a:t></a:t>
            </a:r>
            <a:r>
              <a:rPr lang="en-HK" sz="1800" dirty="0" err="1"/>
              <a:t>IEEE</a:t>
            </a:r>
            <a:r>
              <a:rPr lang="en-HK" sz="1800" dirty="0"/>
              <a:t> Transactions on Software Engineering</a:t>
            </a:r>
            <a:r>
              <a:rPr lang="en-HK" sz="1800" dirty="0">
                <a:sym typeface="Wingdings" panose="05000000000000000000" pitchFamily="2" charset="2"/>
              </a:rPr>
              <a:t>  </a:t>
            </a:r>
            <a:r>
              <a:rPr lang="en-HK" sz="1800" dirty="0"/>
              <a:t>Original Research</a:t>
            </a:r>
            <a:r>
              <a:rPr lang="en-HK" sz="1800" dirty="0">
                <a:sym typeface="Wingdings" panose="05000000000000000000" pitchFamily="2" charset="2"/>
              </a:rPr>
              <a:t>  </a:t>
            </a:r>
            <a:r>
              <a:rPr lang="en-HK" sz="1800" dirty="0"/>
              <a:t>Word or LaTeX</a:t>
            </a:r>
            <a:r>
              <a:rPr lang="en-HK" sz="1800" dirty="0">
                <a:sym typeface="Wingdings" panose="05000000000000000000" pitchFamily="2" charset="2"/>
              </a:rPr>
              <a:t>  </a:t>
            </a:r>
            <a:r>
              <a:rPr lang="en-HK" sz="1800" dirty="0"/>
              <a:t>Download Template   </a:t>
            </a:r>
          </a:p>
        </p:txBody>
      </p:sp>
      <p:sp>
        <p:nvSpPr>
          <p:cNvPr id="4" name="Slide Number Placeholder 3">
            <a:extLst>
              <a:ext uri="{FF2B5EF4-FFF2-40B4-BE49-F238E27FC236}">
                <a16:creationId xmlns:a16="http://schemas.microsoft.com/office/drawing/2014/main" id="{815789A8-9AB4-4B03-B747-0955A597E664}"/>
              </a:ext>
            </a:extLst>
          </p:cNvPr>
          <p:cNvSpPr>
            <a:spLocks noGrp="1"/>
          </p:cNvSpPr>
          <p:nvPr>
            <p:ph type="sldNum" sz="quarter" idx="12"/>
          </p:nvPr>
        </p:nvSpPr>
        <p:spPr/>
        <p:txBody>
          <a:bodyPr/>
          <a:lstStyle/>
          <a:p>
            <a:pPr>
              <a:defRPr/>
            </a:pPr>
            <a:fld id="{63B8F44C-0EDE-4D7D-9086-BD1CF3CE7AF7}" type="slidenum">
              <a:rPr lang="en-US" smtClean="0"/>
              <a:pPr>
                <a:defRPr/>
              </a:pPr>
              <a:t>20</a:t>
            </a:fld>
            <a:endParaRPr lang="en-US"/>
          </a:p>
        </p:txBody>
      </p:sp>
    </p:spTree>
    <p:extLst>
      <p:ext uri="{BB962C8B-B14F-4D97-AF65-F5344CB8AC3E}">
        <p14:creationId xmlns:p14="http://schemas.microsoft.com/office/powerpoint/2010/main" val="156238203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19E6A-97AB-473B-B42F-961AC75516E2}"/>
              </a:ext>
            </a:extLst>
          </p:cNvPr>
          <p:cNvSpPr>
            <a:spLocks noGrp="1"/>
          </p:cNvSpPr>
          <p:nvPr>
            <p:ph type="title"/>
          </p:nvPr>
        </p:nvSpPr>
        <p:spPr/>
        <p:txBody>
          <a:bodyPr/>
          <a:lstStyle/>
          <a:p>
            <a:r>
              <a:rPr lang="en-HK" dirty="0"/>
              <a:t>Content of Final Report (2/4)</a:t>
            </a:r>
          </a:p>
        </p:txBody>
      </p:sp>
      <p:sp>
        <p:nvSpPr>
          <p:cNvPr id="3" name="Content Placeholder 2">
            <a:extLst>
              <a:ext uri="{FF2B5EF4-FFF2-40B4-BE49-F238E27FC236}">
                <a16:creationId xmlns:a16="http://schemas.microsoft.com/office/drawing/2014/main" id="{9FDC1191-D838-41EF-AA38-C56602CFAF17}"/>
              </a:ext>
            </a:extLst>
          </p:cNvPr>
          <p:cNvSpPr>
            <a:spLocks noGrp="1"/>
          </p:cNvSpPr>
          <p:nvPr>
            <p:ph idx="1"/>
          </p:nvPr>
        </p:nvSpPr>
        <p:spPr>
          <a:xfrm>
            <a:off x="412750" y="1447800"/>
            <a:ext cx="9339262" cy="4953000"/>
          </a:xfrm>
        </p:spPr>
        <p:txBody>
          <a:bodyPr/>
          <a:lstStyle/>
          <a:p>
            <a:r>
              <a:rPr lang="en-HK" sz="2400" b="1" dirty="0"/>
              <a:t>Project Title</a:t>
            </a:r>
            <a:r>
              <a:rPr lang="en-HK" sz="2400" dirty="0"/>
              <a:t>: An informative title  </a:t>
            </a:r>
          </a:p>
          <a:p>
            <a:r>
              <a:rPr lang="en-HK" sz="2400" dirty="0"/>
              <a:t>Present your team name before listing out each student with their student ID (not EID!), e.g., CHAN Tai Man 54321987</a:t>
            </a:r>
            <a:endParaRPr lang="en-HK" sz="2400" b="1" dirty="0"/>
          </a:p>
          <a:p>
            <a:r>
              <a:rPr lang="en-HK" sz="2400" b="1" dirty="0"/>
              <a:t>Abstract</a:t>
            </a:r>
            <a:r>
              <a:rPr lang="en-HK" sz="2400" dirty="0"/>
              <a:t>: (</a:t>
            </a:r>
            <a:r>
              <a:rPr lang="en-HK" sz="2400" b="1" dirty="0"/>
              <a:t>150 words</a:t>
            </a:r>
            <a:r>
              <a:rPr lang="en-HK" sz="2400" dirty="0"/>
              <a:t>) Summarize the main problem solved, how your project solves it, and its evaluation results.</a:t>
            </a:r>
            <a:endParaRPr lang="en-HK" sz="2400" b="1" dirty="0"/>
          </a:p>
          <a:p>
            <a:r>
              <a:rPr lang="en-HK" sz="2400" b="1" dirty="0"/>
              <a:t>Introduction (1-1.5 pages)</a:t>
            </a:r>
            <a:r>
              <a:rPr lang="en-HK" sz="2400" dirty="0"/>
              <a:t>: Summarize the background, the problem you solve, the solutions taken by existing approaches/tools, the reason why existing tools/approaches are still inadequate to solve the problem, your idea, your solution, evaluation.</a:t>
            </a:r>
          </a:p>
          <a:p>
            <a:r>
              <a:rPr lang="en-HK" sz="2400" b="1" dirty="0"/>
              <a:t>Related Work (1 page)</a:t>
            </a:r>
            <a:r>
              <a:rPr lang="en-HK" sz="2400" dirty="0"/>
              <a:t>: Present your fact-finding about existing solutions toward solving the problem you have stated</a:t>
            </a:r>
          </a:p>
          <a:p>
            <a:r>
              <a:rPr lang="en-HK" sz="2400" b="1" dirty="0"/>
              <a:t>Preliminaries (1-2 pages)</a:t>
            </a:r>
            <a:r>
              <a:rPr lang="en-HK" sz="2400" dirty="0"/>
              <a:t>: Summary of the technical background information necessary to follow your idea and solution. </a:t>
            </a:r>
          </a:p>
          <a:p>
            <a:pPr marL="0" indent="0">
              <a:buNone/>
            </a:pPr>
            <a:endParaRPr lang="en-HK" sz="2400" dirty="0"/>
          </a:p>
          <a:p>
            <a:endParaRPr lang="en-HK" sz="2800" dirty="0"/>
          </a:p>
        </p:txBody>
      </p:sp>
    </p:spTree>
    <p:extLst>
      <p:ext uri="{BB962C8B-B14F-4D97-AF65-F5344CB8AC3E}">
        <p14:creationId xmlns:p14="http://schemas.microsoft.com/office/powerpoint/2010/main" val="400108247"/>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19E6A-97AB-473B-B42F-961AC75516E2}"/>
              </a:ext>
            </a:extLst>
          </p:cNvPr>
          <p:cNvSpPr>
            <a:spLocks noGrp="1"/>
          </p:cNvSpPr>
          <p:nvPr>
            <p:ph type="title"/>
          </p:nvPr>
        </p:nvSpPr>
        <p:spPr/>
        <p:txBody>
          <a:bodyPr/>
          <a:lstStyle/>
          <a:p>
            <a:r>
              <a:rPr lang="en-HK" dirty="0"/>
              <a:t>Content of Final Report (3/4)</a:t>
            </a:r>
          </a:p>
        </p:txBody>
      </p:sp>
      <p:sp>
        <p:nvSpPr>
          <p:cNvPr id="3" name="Content Placeholder 2">
            <a:extLst>
              <a:ext uri="{FF2B5EF4-FFF2-40B4-BE49-F238E27FC236}">
                <a16:creationId xmlns:a16="http://schemas.microsoft.com/office/drawing/2014/main" id="{9FDC1191-D838-41EF-AA38-C56602CFAF17}"/>
              </a:ext>
            </a:extLst>
          </p:cNvPr>
          <p:cNvSpPr>
            <a:spLocks noGrp="1"/>
          </p:cNvSpPr>
          <p:nvPr>
            <p:ph idx="1"/>
          </p:nvPr>
        </p:nvSpPr>
        <p:spPr>
          <a:xfrm>
            <a:off x="129380" y="1676400"/>
            <a:ext cx="9644063" cy="4953000"/>
          </a:xfrm>
        </p:spPr>
        <p:txBody>
          <a:bodyPr/>
          <a:lstStyle/>
          <a:p>
            <a:r>
              <a:rPr lang="en-HK" sz="2400" b="1" dirty="0"/>
              <a:t>Solution (2-3 pages): </a:t>
            </a:r>
            <a:r>
              <a:rPr lang="en-HK" sz="2400" dirty="0"/>
              <a:t>Present your solution, probably with algorithms, figures, code listing, and an example walkthrough to assist you in presenting your solution. Relate the content to each topic covered in CS5351.</a:t>
            </a:r>
          </a:p>
          <a:p>
            <a:r>
              <a:rPr lang="en-HK" sz="2400" b="1" dirty="0"/>
              <a:t>Software Process (N pages)</a:t>
            </a:r>
            <a:r>
              <a:rPr lang="en-HK" sz="2400" dirty="0"/>
              <a:t>: Document the activities and the achieved of each sprint in 2 pages (a total of 2*N pages for a project with N sprints). Include the burndown chart for the whole project.</a:t>
            </a:r>
          </a:p>
          <a:p>
            <a:r>
              <a:rPr lang="en-HK" sz="2400" b="1" dirty="0"/>
              <a:t>Evaluation (2-5 pages)</a:t>
            </a:r>
            <a:r>
              <a:rPr lang="en-HK" sz="2400" dirty="0"/>
              <a:t>: Summarize what you have verified or evaluated your solution to have solved the problem stated in the report, and compare it to the results of existing tools</a:t>
            </a:r>
          </a:p>
          <a:p>
            <a:r>
              <a:rPr lang="en-HK" sz="2400" b="1" dirty="0"/>
              <a:t>Conclusion (1 page): </a:t>
            </a:r>
            <a:r>
              <a:rPr lang="en-HK" sz="2400" dirty="0"/>
              <a:t>Recap the main achievement (process, activities, techniques, deliverables, tool, people, and best practice) and future work.</a:t>
            </a:r>
          </a:p>
        </p:txBody>
      </p:sp>
    </p:spTree>
    <p:extLst>
      <p:ext uri="{BB962C8B-B14F-4D97-AF65-F5344CB8AC3E}">
        <p14:creationId xmlns:p14="http://schemas.microsoft.com/office/powerpoint/2010/main" val="273540997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19E6A-97AB-473B-B42F-961AC75516E2}"/>
              </a:ext>
            </a:extLst>
          </p:cNvPr>
          <p:cNvSpPr>
            <a:spLocks noGrp="1"/>
          </p:cNvSpPr>
          <p:nvPr>
            <p:ph type="title"/>
          </p:nvPr>
        </p:nvSpPr>
        <p:spPr/>
        <p:txBody>
          <a:bodyPr/>
          <a:lstStyle/>
          <a:p>
            <a:r>
              <a:rPr lang="en-HK" dirty="0"/>
              <a:t>Content of Final Report (4/4)</a:t>
            </a:r>
          </a:p>
        </p:txBody>
      </p:sp>
      <p:sp>
        <p:nvSpPr>
          <p:cNvPr id="3" name="Content Placeholder 2">
            <a:extLst>
              <a:ext uri="{FF2B5EF4-FFF2-40B4-BE49-F238E27FC236}">
                <a16:creationId xmlns:a16="http://schemas.microsoft.com/office/drawing/2014/main" id="{9FDC1191-D838-41EF-AA38-C56602CFAF17}"/>
              </a:ext>
            </a:extLst>
          </p:cNvPr>
          <p:cNvSpPr>
            <a:spLocks noGrp="1"/>
          </p:cNvSpPr>
          <p:nvPr>
            <p:ph idx="1"/>
          </p:nvPr>
        </p:nvSpPr>
        <p:spPr>
          <a:xfrm>
            <a:off x="412749" y="1676400"/>
            <a:ext cx="8653463" cy="4953000"/>
          </a:xfrm>
        </p:spPr>
        <p:txBody>
          <a:bodyPr/>
          <a:lstStyle/>
          <a:p>
            <a:r>
              <a:rPr lang="en-HK" sz="2400" b="1" dirty="0"/>
              <a:t>Relative Contribution</a:t>
            </a:r>
            <a:r>
              <a:rPr lang="en-HK" sz="2400" dirty="0"/>
              <a:t>:  Present the relative contribution as illustrated on Slide 14 of this document. If the information is missing, </a:t>
            </a:r>
            <a:r>
              <a:rPr lang="en-US" sz="2400" dirty="0"/>
              <a:t>all team members will assume equal contributions</a:t>
            </a:r>
            <a:r>
              <a:rPr lang="en-HK" sz="2400" dirty="0"/>
              <a:t>.</a:t>
            </a:r>
          </a:p>
          <a:p>
            <a:endParaRPr lang="en-HK" sz="2400" b="1" dirty="0"/>
          </a:p>
          <a:p>
            <a:r>
              <a:rPr lang="en-HK" sz="2400" b="1" dirty="0"/>
              <a:t>Student Bio</a:t>
            </a:r>
            <a:r>
              <a:rPr lang="en-HK" sz="2400" dirty="0"/>
              <a:t>: Present a bio of each student. Who you are, your background, technical ideas, current interests, etc. Give a </a:t>
            </a:r>
            <a:r>
              <a:rPr lang="en-HK" sz="2400" b="1" dirty="0">
                <a:solidFill>
                  <a:srgbClr val="0070C0"/>
                </a:solidFill>
              </a:rPr>
              <a:t>self-reflection</a:t>
            </a:r>
            <a:r>
              <a:rPr lang="en-HK" sz="2400" b="1" dirty="0"/>
              <a:t> </a:t>
            </a:r>
            <a:r>
              <a:rPr lang="en-HK" sz="2400" dirty="0"/>
              <a:t>on the work done by you. </a:t>
            </a:r>
            <a:r>
              <a:rPr lang="en-HK" sz="2400" b="1" dirty="0">
                <a:solidFill>
                  <a:srgbClr val="0070C0"/>
                </a:solidFill>
              </a:rPr>
              <a:t>State and justify your contribution </a:t>
            </a:r>
            <a:r>
              <a:rPr lang="en-HK" sz="2400" dirty="0"/>
              <a:t>to the project.</a:t>
            </a:r>
          </a:p>
          <a:p>
            <a:pPr lvl="1"/>
            <a:r>
              <a:rPr lang="en-HK" sz="2000" dirty="0"/>
              <a:t>If you do not agree with the relative contribution stated in the final report, you should state out your view. You may alternatively send your emails to the course instructor directly.</a:t>
            </a:r>
          </a:p>
          <a:p>
            <a:endParaRPr lang="en-HK" sz="2400" dirty="0"/>
          </a:p>
          <a:p>
            <a:endParaRPr lang="en-HK" sz="2400" dirty="0"/>
          </a:p>
        </p:txBody>
      </p:sp>
    </p:spTree>
    <p:extLst>
      <p:ext uri="{BB962C8B-B14F-4D97-AF65-F5344CB8AC3E}">
        <p14:creationId xmlns:p14="http://schemas.microsoft.com/office/powerpoint/2010/main" val="382449628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599A68A-724D-4B66-B23F-550FEE6FF0F4}"/>
              </a:ext>
            </a:extLst>
          </p:cNvPr>
          <p:cNvSpPr>
            <a:spLocks noGrp="1"/>
          </p:cNvSpPr>
          <p:nvPr>
            <p:ph type="ctrTitle" sz="quarter"/>
          </p:nvPr>
        </p:nvSpPr>
        <p:spPr/>
        <p:txBody>
          <a:bodyPr/>
          <a:lstStyle/>
          <a:p>
            <a:r>
              <a:rPr lang="en-HK" dirty="0"/>
              <a:t>Enjoy Your Project</a:t>
            </a:r>
          </a:p>
        </p:txBody>
      </p:sp>
      <p:sp>
        <p:nvSpPr>
          <p:cNvPr id="4" name="Slide Number Placeholder 3">
            <a:extLst>
              <a:ext uri="{FF2B5EF4-FFF2-40B4-BE49-F238E27FC236}">
                <a16:creationId xmlns:a16="http://schemas.microsoft.com/office/drawing/2014/main" id="{E0F95320-4360-476A-92A6-2D2341A4807B}"/>
              </a:ext>
            </a:extLst>
          </p:cNvPr>
          <p:cNvSpPr>
            <a:spLocks noGrp="1"/>
          </p:cNvSpPr>
          <p:nvPr>
            <p:ph type="sldNum" sz="quarter" idx="12"/>
          </p:nvPr>
        </p:nvSpPr>
        <p:spPr/>
        <p:txBody>
          <a:bodyPr/>
          <a:lstStyle/>
          <a:p>
            <a:pPr>
              <a:defRPr/>
            </a:pPr>
            <a:fld id="{63B8F44C-0EDE-4D7D-9086-BD1CF3CE7AF7}" type="slidenum">
              <a:rPr lang="en-US" smtClean="0"/>
              <a:pPr>
                <a:defRPr/>
              </a:pPr>
              <a:t>24</a:t>
            </a:fld>
            <a:endParaRPr lang="en-US"/>
          </a:p>
        </p:txBody>
      </p:sp>
    </p:spTree>
    <p:extLst>
      <p:ext uri="{BB962C8B-B14F-4D97-AF65-F5344CB8AC3E}">
        <p14:creationId xmlns:p14="http://schemas.microsoft.com/office/powerpoint/2010/main" val="3742561241"/>
      </p:ext>
    </p:extLst>
  </p:cSld>
  <p:clrMapOvr>
    <a:masterClrMapping/>
  </p:clrMapOvr>
  <p:transition/>
</p:sld>
</file>

<file path=ppt/theme/theme1.xml><?xml version="1.0" encoding="utf-8"?>
<a:theme xmlns:a="http://schemas.openxmlformats.org/drawingml/2006/main" name="Side Bar">
  <a:themeElements>
    <a:clrScheme name="">
      <a:dk1>
        <a:srgbClr val="000000"/>
      </a:dk1>
      <a:lt1>
        <a:srgbClr val="FFFFFF"/>
      </a:lt1>
      <a:dk2>
        <a:srgbClr val="C00000"/>
      </a:dk2>
      <a:lt2>
        <a:srgbClr val="C00000"/>
      </a:lt2>
      <a:accent1>
        <a:srgbClr val="FFEBEB"/>
      </a:accent1>
      <a:accent2>
        <a:srgbClr val="006600"/>
      </a:accent2>
      <a:accent3>
        <a:srgbClr val="FFFFFF"/>
      </a:accent3>
      <a:accent4>
        <a:srgbClr val="000000"/>
      </a:accent4>
      <a:accent5>
        <a:srgbClr val="FFF3F3"/>
      </a:accent5>
      <a:accent6>
        <a:srgbClr val="005C00"/>
      </a:accent6>
      <a:hlink>
        <a:srgbClr val="000066"/>
      </a:hlink>
      <a:folHlink>
        <a:srgbClr val="808080"/>
      </a:folHlink>
    </a:clrScheme>
    <a:fontScheme name="Side Bar">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Side Bar 1">
        <a:dk1>
          <a:srgbClr val="FF9933"/>
        </a:dk1>
        <a:lt1>
          <a:srgbClr val="FFFFFF"/>
        </a:lt1>
        <a:dk2>
          <a:srgbClr val="003366"/>
        </a:dk2>
        <a:lt2>
          <a:srgbClr val="FF9933"/>
        </a:lt2>
        <a:accent1>
          <a:srgbClr val="2B557F"/>
        </a:accent1>
        <a:accent2>
          <a:srgbClr val="FF9933"/>
        </a:accent2>
        <a:accent3>
          <a:srgbClr val="AAADB8"/>
        </a:accent3>
        <a:accent4>
          <a:srgbClr val="DADADA"/>
        </a:accent4>
        <a:accent5>
          <a:srgbClr val="ACB4C0"/>
        </a:accent5>
        <a:accent6>
          <a:srgbClr val="E78A2D"/>
        </a:accent6>
        <a:hlink>
          <a:srgbClr val="005032"/>
        </a:hlink>
        <a:folHlink>
          <a:srgbClr val="A0A0A0"/>
        </a:folHlink>
      </a:clrScheme>
      <a:clrMap bg1="dk2" tx1="lt1" bg2="dk1" tx2="lt2" accent1="accent1" accent2="accent2" accent3="accent3" accent4="accent4" accent5="accent5" accent6="accent6" hlink="hlink" folHlink="folHlink"/>
    </a:extraClrScheme>
    <a:extraClrScheme>
      <a:clrScheme name="Side Bar 2">
        <a:dk1>
          <a:srgbClr val="000000"/>
        </a:dk1>
        <a:lt1>
          <a:srgbClr val="FFFFFF"/>
        </a:lt1>
        <a:dk2>
          <a:srgbClr val="E16414"/>
        </a:dk2>
        <a:lt2>
          <a:srgbClr val="E16414"/>
        </a:lt2>
        <a:accent1>
          <a:srgbClr val="FFF0EB"/>
        </a:accent1>
        <a:accent2>
          <a:srgbClr val="E16414"/>
        </a:accent2>
        <a:accent3>
          <a:srgbClr val="FFFFFF"/>
        </a:accent3>
        <a:accent4>
          <a:srgbClr val="000000"/>
        </a:accent4>
        <a:accent5>
          <a:srgbClr val="FFF6F3"/>
        </a:accent5>
        <a:accent6>
          <a:srgbClr val="CC5A11"/>
        </a:accent6>
        <a:hlink>
          <a:srgbClr val="C00000"/>
        </a:hlink>
        <a:folHlink>
          <a:srgbClr val="808080"/>
        </a:folHlink>
      </a:clrScheme>
      <a:clrMap bg1="lt1" tx1="dk1" bg2="lt2" tx2="dk2" accent1="accent1" accent2="accent2" accent3="accent3" accent4="accent4" accent5="accent5" accent6="accent6" hlink="hlink" folHlink="folHlink"/>
    </a:extraClrScheme>
    <a:extraClrScheme>
      <a:clrScheme name="Side Bar 3">
        <a:dk1>
          <a:srgbClr val="000000"/>
        </a:dk1>
        <a:lt1>
          <a:srgbClr val="FFFFFF"/>
        </a:lt1>
        <a:dk2>
          <a:srgbClr val="0066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5">
        <a:dk1>
          <a:srgbClr val="000000"/>
        </a:dk1>
        <a:lt1>
          <a:srgbClr val="FFFFFF"/>
        </a:lt1>
        <a:dk2>
          <a:srgbClr val="80808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themeOverride>
</file>

<file path=docProps/app.xml><?xml version="1.0" encoding="utf-8"?>
<Properties xmlns="http://schemas.openxmlformats.org/officeDocument/2006/extended-properties" xmlns:vt="http://schemas.openxmlformats.org/officeDocument/2006/docPropsVTypes">
  <Template/>
  <TotalTime>12095</TotalTime>
  <Words>2656</Words>
  <Application>Microsoft Office PowerPoint</Application>
  <PresentationFormat>Custom</PresentationFormat>
  <Paragraphs>226</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Calibri</vt:lpstr>
      <vt:lpstr>Courier New</vt:lpstr>
      <vt:lpstr>Times New Roman</vt:lpstr>
      <vt:lpstr>Wingdings</vt:lpstr>
      <vt:lpstr>Side Bar</vt:lpstr>
      <vt:lpstr> Course Project  in CS5351 Software Engineering</vt:lpstr>
      <vt:lpstr>Goal </vt:lpstr>
      <vt:lpstr>Project Size and Effort/Student</vt:lpstr>
      <vt:lpstr>Suggested Principle to Avoid Disputes Among Team Members</vt:lpstr>
      <vt:lpstr>Project Progress</vt:lpstr>
      <vt:lpstr>Project Progress</vt:lpstr>
      <vt:lpstr>Project Mark Components</vt:lpstr>
      <vt:lpstr>Project Mark Components</vt:lpstr>
      <vt:lpstr>Note: Software Engineering Tool</vt:lpstr>
      <vt:lpstr>Counterexamples of software engineering tool</vt:lpstr>
      <vt:lpstr>Recommendation</vt:lpstr>
      <vt:lpstr>Some Areas You May Consider (1)</vt:lpstr>
      <vt:lpstr>Some Areas You May Consider (2)</vt:lpstr>
      <vt:lpstr>Some Areas You May Consider (2)</vt:lpstr>
      <vt:lpstr>Tips: Contributions of Team Members</vt:lpstr>
      <vt:lpstr>Tips: Tasks and Team Leader</vt:lpstr>
      <vt:lpstr>Tips: Extent of Success</vt:lpstr>
      <vt:lpstr>Milestone 0</vt:lpstr>
      <vt:lpstr>Final Deliverable</vt:lpstr>
      <vt:lpstr>Content of Final Report (1/4)</vt:lpstr>
      <vt:lpstr>Content of Final Report (2/4)</vt:lpstr>
      <vt:lpstr>Content of Final Report (3/4)</vt:lpstr>
      <vt:lpstr>Content of Final Report (4/4)</vt:lpstr>
      <vt:lpstr>Enjoy Your Project</vt:lpstr>
    </vt:vector>
  </TitlesOfParts>
  <Company>City University of Hong Kong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CS3343 Software Engineering Practice</dc:title>
  <dc:creator>Dr. W.K. Chan</dc:creator>
  <cp:keywords>Software Engineering</cp:keywords>
  <cp:lastModifiedBy>Prof. Chan Wing Kwong</cp:lastModifiedBy>
  <cp:revision>378</cp:revision>
  <cp:lastPrinted>2014-08-25T03:37:42Z</cp:lastPrinted>
  <dcterms:created xsi:type="dcterms:W3CDTF">1999-09-08T02:17:18Z</dcterms:created>
  <dcterms:modified xsi:type="dcterms:W3CDTF">2025-08-21T03:19:57Z</dcterms:modified>
</cp:coreProperties>
</file>