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2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90" r:id="rId2"/>
    <p:sldId id="1067" r:id="rId3"/>
    <p:sldId id="1080" r:id="rId4"/>
    <p:sldId id="1083" r:id="rId5"/>
    <p:sldId id="1051" r:id="rId6"/>
    <p:sldId id="1074" r:id="rId7"/>
    <p:sldId id="1068" r:id="rId8"/>
    <p:sldId id="1075" r:id="rId9"/>
    <p:sldId id="1085" r:id="rId10"/>
    <p:sldId id="1086" r:id="rId11"/>
    <p:sldId id="1092" r:id="rId12"/>
    <p:sldId id="1093" r:id="rId13"/>
    <p:sldId id="1088" r:id="rId14"/>
    <p:sldId id="1091" r:id="rId15"/>
  </p:sldIdLst>
  <p:sldSz cx="9902825" cy="6858000"/>
  <p:notesSz cx="9874250" cy="67976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2800" kern="1200">
        <a:solidFill>
          <a:schemeClr val="tx1"/>
        </a:solidFill>
        <a:latin typeface="Times New Roman" pitchFamily="18" charset="0"/>
        <a:ea typeface="+mn-ea"/>
        <a:cs typeface="+mn-cs"/>
      </a:defRPr>
    </a:lvl6pPr>
    <a:lvl7pPr marL="2743200" algn="l" defTabSz="914400" rtl="0" eaLnBrk="1" latinLnBrk="0" hangingPunct="1">
      <a:defRPr sz="2800" kern="1200">
        <a:solidFill>
          <a:schemeClr val="tx1"/>
        </a:solidFill>
        <a:latin typeface="Times New Roman" pitchFamily="18" charset="0"/>
        <a:ea typeface="+mn-ea"/>
        <a:cs typeface="+mn-cs"/>
      </a:defRPr>
    </a:lvl7pPr>
    <a:lvl8pPr marL="3200400" algn="l" defTabSz="914400" rtl="0" eaLnBrk="1" latinLnBrk="0" hangingPunct="1">
      <a:defRPr sz="2800" kern="1200">
        <a:solidFill>
          <a:schemeClr val="tx1"/>
        </a:solidFill>
        <a:latin typeface="Times New Roman" pitchFamily="18" charset="0"/>
        <a:ea typeface="+mn-ea"/>
        <a:cs typeface="+mn-cs"/>
      </a:defRPr>
    </a:lvl8pPr>
    <a:lvl9pPr marL="3657600" algn="l" defTabSz="914400" rtl="0" eaLnBrk="1" latinLnBrk="0" hangingPunct="1">
      <a:defRPr sz="2800" kern="1200">
        <a:solidFill>
          <a:schemeClr val="tx1"/>
        </a:solidFill>
        <a:latin typeface="Times New Roman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1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503" userDrawn="1">
          <p15:clr>
            <a:srgbClr val="A4A3A4"/>
          </p15:clr>
        </p15:guide>
        <p15:guide id="2" pos="4494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3C78"/>
    <a:srgbClr val="285078"/>
    <a:srgbClr val="1E3C5A"/>
    <a:srgbClr val="234669"/>
    <a:srgbClr val="264B71"/>
    <a:srgbClr val="FF3333"/>
    <a:srgbClr val="FFCC99"/>
    <a:srgbClr val="CCE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892" autoAdjust="0"/>
    <p:restoredTop sz="95450" autoAdjust="0"/>
  </p:normalViewPr>
  <p:slideViewPr>
    <p:cSldViewPr>
      <p:cViewPr varScale="1">
        <p:scale>
          <a:sx n="236" d="100"/>
          <a:sy n="236" d="100"/>
        </p:scale>
        <p:origin x="2718" y="408"/>
      </p:cViewPr>
      <p:guideLst>
        <p:guide orient="horz" pos="2160"/>
        <p:guide pos="311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>
      <p:cViewPr varScale="1">
        <p:scale>
          <a:sx n="20" d="100"/>
          <a:sy n="20" d="100"/>
        </p:scale>
        <p:origin x="-1088" y="-84"/>
      </p:cViewPr>
      <p:guideLst>
        <p:guide orient="horz" pos="1503"/>
        <p:guide pos="449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32143" y="-1124"/>
            <a:ext cx="4232128" cy="3158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105" tIns="0" rIns="19105" bIns="0" numCol="1" anchor="t" anchorCtr="0" compatLnSpc="1">
            <a:prstTxWarp prst="textNoShape">
              <a:avLst/>
            </a:prstTxWarp>
          </a:bodyPr>
          <a:lstStyle>
            <a:lvl1pPr defTabSz="868788">
              <a:defRPr sz="1000" i="1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609981" y="-1124"/>
            <a:ext cx="4232128" cy="3158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105" tIns="0" rIns="19105" bIns="0" numCol="1" anchor="t" anchorCtr="0" compatLnSpc="1">
            <a:prstTxWarp prst="textNoShape">
              <a:avLst/>
            </a:prstTxWarp>
          </a:bodyPr>
          <a:lstStyle>
            <a:lvl1pPr algn="r" defTabSz="868788">
              <a:defRPr sz="1000" i="1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32143" y="6430142"/>
            <a:ext cx="4232128" cy="3686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105" tIns="0" rIns="19105" bIns="0" numCol="1" anchor="b" anchorCtr="0" compatLnSpc="1">
            <a:prstTxWarp prst="textNoShape">
              <a:avLst/>
            </a:prstTxWarp>
          </a:bodyPr>
          <a:lstStyle>
            <a:lvl1pPr defTabSz="868788">
              <a:defRPr sz="1000" i="1"/>
            </a:lvl1pPr>
          </a:lstStyle>
          <a:p>
            <a:pPr>
              <a:defRPr/>
            </a:pPr>
            <a:r>
              <a:rPr lang="en-US"/>
              <a:t>Software Design</a:t>
            </a:r>
          </a:p>
        </p:txBody>
      </p:sp>
      <p:sp>
        <p:nvSpPr>
          <p:cNvPr id="410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609981" y="6430142"/>
            <a:ext cx="4232128" cy="3686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105" tIns="0" rIns="19105" bIns="0" numCol="1" anchor="b" anchorCtr="0" compatLnSpc="1">
            <a:prstTxWarp prst="textNoShape">
              <a:avLst/>
            </a:prstTxWarp>
          </a:bodyPr>
          <a:lstStyle>
            <a:lvl1pPr algn="r" defTabSz="868788">
              <a:defRPr sz="1000" i="1"/>
            </a:lvl1pPr>
          </a:lstStyle>
          <a:p>
            <a:pPr>
              <a:defRPr/>
            </a:pPr>
            <a:fld id="{B0AC2A3D-B99B-4BE3-904E-8F9BDE86B7D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5663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-25714" y="-6743"/>
            <a:ext cx="4315698" cy="3383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105" tIns="0" rIns="19105" bIns="0" numCol="1" anchor="t" anchorCtr="0" compatLnSpc="1">
            <a:prstTxWarp prst="textNoShape">
              <a:avLst/>
            </a:prstTxWarp>
          </a:bodyPr>
          <a:lstStyle>
            <a:lvl1pPr defTabSz="842786">
              <a:defRPr sz="1000" i="1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584267" y="-6743"/>
            <a:ext cx="4315698" cy="3383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105" tIns="0" rIns="19105" bIns="0" numCol="1" anchor="t" anchorCtr="0" compatLnSpc="1">
            <a:prstTxWarp prst="textNoShape">
              <a:avLst/>
            </a:prstTxWarp>
          </a:bodyPr>
          <a:lstStyle>
            <a:lvl1pPr algn="r" defTabSz="842786">
              <a:defRPr sz="1000" i="1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229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098800" y="512763"/>
            <a:ext cx="3676650" cy="254635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72854" y="3230244"/>
            <a:ext cx="7328544" cy="30706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7569" tIns="41397" rIns="87569" bIns="4139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-25714" y="6466109"/>
            <a:ext cx="4315698" cy="3383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105" tIns="0" rIns="19105" bIns="0" numCol="1" anchor="b" anchorCtr="0" compatLnSpc="1">
            <a:prstTxWarp prst="textNoShape">
              <a:avLst/>
            </a:prstTxWarp>
          </a:bodyPr>
          <a:lstStyle>
            <a:lvl1pPr defTabSz="842786">
              <a:defRPr sz="1000" i="1"/>
            </a:lvl1pPr>
          </a:lstStyle>
          <a:p>
            <a:pPr>
              <a:defRPr/>
            </a:pPr>
            <a:r>
              <a:rPr lang="en-US"/>
              <a:t>Software Design</a:t>
            </a:r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584267" y="6466109"/>
            <a:ext cx="4315698" cy="3383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105" tIns="0" rIns="19105" bIns="0" numCol="1" anchor="b" anchorCtr="0" compatLnSpc="1">
            <a:prstTxWarp prst="textNoShape">
              <a:avLst/>
            </a:prstTxWarp>
          </a:bodyPr>
          <a:lstStyle>
            <a:lvl1pPr algn="r" defTabSz="842786">
              <a:defRPr sz="1000" i="1"/>
            </a:lvl1pPr>
          </a:lstStyle>
          <a:p>
            <a:pPr>
              <a:defRPr/>
            </a:pPr>
            <a:fld id="{A7E88535-4BEA-4EE8-AB4A-C9FA970A982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913820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defTabSz="839788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39738" algn="l" defTabSz="839788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874713" algn="l" defTabSz="839788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16038" algn="l" defTabSz="839788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752600" algn="l" defTabSz="839788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r>
              <a:rPr lang="en-US" sz="1000"/>
              <a:t>Software Design</a:t>
            </a:r>
          </a:p>
        </p:txBody>
      </p:sp>
      <p:sp>
        <p:nvSpPr>
          <p:cNvPr id="1331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fld id="{9230C636-ECB8-47BE-92DE-F91BE5C0FACE}" type="slidenum">
              <a:rPr lang="en-US" sz="1000" smtClean="0"/>
              <a:pPr/>
              <a:t>1</a:t>
            </a:fld>
            <a:endParaRPr lang="en-US" sz="1000"/>
          </a:p>
        </p:txBody>
      </p:sp>
      <p:sp>
        <p:nvSpPr>
          <p:cNvPr id="1331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31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0318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r>
              <a:rPr lang="en-US" sz="1000"/>
              <a:t>Software Design</a:t>
            </a:r>
          </a:p>
        </p:txBody>
      </p:sp>
      <p:sp>
        <p:nvSpPr>
          <p:cNvPr id="1536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fld id="{F9320131-E95B-4F2B-B28A-51834DBB853C}" type="slidenum">
              <a:rPr lang="en-US" sz="1000" smtClean="0"/>
              <a:pPr/>
              <a:t>5</a:t>
            </a:fld>
            <a:endParaRPr lang="en-US" sz="1000"/>
          </a:p>
        </p:txBody>
      </p:sp>
      <p:sp>
        <p:nvSpPr>
          <p:cNvPr id="1536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4840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r>
              <a:rPr lang="en-US" sz="1000"/>
              <a:t>Software Design</a:t>
            </a:r>
          </a:p>
        </p:txBody>
      </p:sp>
      <p:sp>
        <p:nvSpPr>
          <p:cNvPr id="1536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fld id="{F9320131-E95B-4F2B-B28A-51834DBB853C}" type="slidenum">
              <a:rPr lang="en-US" sz="1000" smtClean="0"/>
              <a:pPr/>
              <a:t>6</a:t>
            </a:fld>
            <a:endParaRPr lang="en-US" sz="1000"/>
          </a:p>
        </p:txBody>
      </p:sp>
      <p:sp>
        <p:nvSpPr>
          <p:cNvPr id="1536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077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ine 1026"/>
          <p:cNvSpPr>
            <a:spLocks noChangeShapeType="1"/>
          </p:cNvSpPr>
          <p:nvPr/>
        </p:nvSpPr>
        <p:spPr bwMode="auto">
          <a:xfrm>
            <a:off x="0" y="3429000"/>
            <a:ext cx="8693150" cy="0"/>
          </a:xfrm>
          <a:prstGeom prst="line">
            <a:avLst/>
          </a:prstGeom>
          <a:noFill/>
          <a:ln w="50800">
            <a:solidFill>
              <a:schemeClr val="tx2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75" name="Rectangle 1027"/>
          <p:cNvSpPr>
            <a:spLocks noGrp="1" noChangeArrowheads="1"/>
          </p:cNvSpPr>
          <p:nvPr>
            <p:ph type="ctrTitle" sz="quarter"/>
          </p:nvPr>
        </p:nvSpPr>
        <p:spPr>
          <a:xfrm>
            <a:off x="381000" y="381000"/>
            <a:ext cx="9067800" cy="3048000"/>
          </a:xfrm>
        </p:spPr>
        <p:txBody>
          <a:bodyPr/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076" name="Rectangle 1028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401638" y="3886200"/>
            <a:ext cx="9067800" cy="2819400"/>
          </a:xfrm>
        </p:spPr>
        <p:txBody>
          <a:bodyPr/>
          <a:lstStyle>
            <a:lvl1pPr marL="0" indent="0">
              <a:buFont typeface="Wingdings" pitchFamily="2" charset="2"/>
              <a:buNone/>
              <a:defRPr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Rectangle 1029"/>
          <p:cNvSpPr>
            <a:spLocks noGrp="1" noChangeArrowheads="1"/>
          </p:cNvSpPr>
          <p:nvPr>
            <p:ph type="dt" sz="quarter" idx="10"/>
          </p:nvPr>
        </p:nvSpPr>
        <p:spPr>
          <a:xfrm>
            <a:off x="401638" y="6248400"/>
            <a:ext cx="2062162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030"/>
          <p:cNvSpPr>
            <a:spLocks noGrp="1" noChangeArrowheads="1"/>
          </p:cNvSpPr>
          <p:nvPr>
            <p:ph type="ftr" sz="quarter" idx="11"/>
          </p:nvPr>
        </p:nvSpPr>
        <p:spPr>
          <a:xfrm>
            <a:off x="3367088" y="6248400"/>
            <a:ext cx="31369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Software Quality</a:t>
            </a:r>
          </a:p>
        </p:txBody>
      </p:sp>
      <p:sp>
        <p:nvSpPr>
          <p:cNvPr id="7" name="Rectangle 1031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407275" y="6248400"/>
            <a:ext cx="2062163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9E3E309-C4F3-40C3-813B-7A36DC967DF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4324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Software Quality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3B8F44C-0EDE-4D7D-9086-BD1CF3CE7AF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888079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16925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16925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Software Quality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CCD115F-8D68-417D-BE51-0997C55306E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244025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2750" y="1676400"/>
            <a:ext cx="4441825" cy="4953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06975" y="1676400"/>
            <a:ext cx="4441825" cy="4953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Software Quality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6C972CB-25A0-49CA-A04F-81E0CCB967D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672346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2225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515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515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0788" y="1535113"/>
            <a:ext cx="437673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0788" y="2174875"/>
            <a:ext cx="437673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Software Quality</a:t>
            </a:r>
          </a:p>
        </p:txBody>
      </p:sp>
      <p:sp>
        <p:nvSpPr>
          <p:cNvPr id="9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5FA675B-1F56-4A1F-B974-9460B94FF87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614090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Software Quality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55598A2-17A2-444F-952B-9804449BE04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147151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Software Quality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AD18685-0001-4CA4-BB9B-682137D85FB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60345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7550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1913" y="273050"/>
            <a:ext cx="55356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7550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Software Quality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00572DE-3297-44C9-8095-AE1A459C666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642869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0425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0425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0425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Software Quality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68E5FA2-5579-48D2-AAEA-0395A968586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922350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Software Quality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EDE836C-C506-41B6-AE73-6EC51D54037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190766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9788" y="266700"/>
            <a:ext cx="2259012" cy="63627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12750" y="266700"/>
            <a:ext cx="6624638" cy="63627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Software Quality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807D62A-A25F-4874-AB67-6CF4C9C4736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420388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2750" y="266700"/>
            <a:ext cx="9036050" cy="1104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412750" y="1676400"/>
            <a:ext cx="9036050" cy="49530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Software Quality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792DDC3-EFA3-4647-8A6E-E8039DA1A91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592127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Line 2"/>
          <p:cNvSpPr>
            <a:spLocks noChangeShapeType="1"/>
          </p:cNvSpPr>
          <p:nvPr/>
        </p:nvSpPr>
        <p:spPr bwMode="auto">
          <a:xfrm>
            <a:off x="0" y="1371600"/>
            <a:ext cx="8693150" cy="0"/>
          </a:xfrm>
          <a:prstGeom prst="line">
            <a:avLst/>
          </a:prstGeom>
          <a:noFill/>
          <a:ln w="50800">
            <a:solidFill>
              <a:schemeClr val="tx2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12750" y="266700"/>
            <a:ext cx="9036050" cy="1104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12750" y="1676400"/>
            <a:ext cx="903605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12750" y="6172200"/>
            <a:ext cx="206216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>
              <a:defRPr sz="1400">
                <a:solidFill>
                  <a:schemeClr val="folHlink"/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382963" y="6172200"/>
            <a:ext cx="31369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ctr">
              <a:defRPr sz="1400">
                <a:solidFill>
                  <a:schemeClr val="folHlink"/>
                </a:solidFill>
              </a:defRPr>
            </a:lvl1pPr>
          </a:lstStyle>
          <a:p>
            <a:pPr>
              <a:defRPr/>
            </a:pPr>
            <a:r>
              <a:rPr lang="en-US"/>
              <a:t>Software Quality</a:t>
            </a:r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427913" y="6172200"/>
            <a:ext cx="2062162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r">
              <a:defRPr sz="1400">
                <a:solidFill>
                  <a:schemeClr val="folHlink"/>
                </a:solidFill>
              </a:defRPr>
            </a:lvl1pPr>
          </a:lstStyle>
          <a:p>
            <a:pPr>
              <a:defRPr/>
            </a:pPr>
            <a:fld id="{BD8E331F-9D83-4245-9A62-97CA84DE22F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68" r:id="rId1"/>
    <p:sldLayoutId id="2147483857" r:id="rId2"/>
    <p:sldLayoutId id="2147483858" r:id="rId3"/>
    <p:sldLayoutId id="2147483859" r:id="rId4"/>
    <p:sldLayoutId id="2147483860" r:id="rId5"/>
    <p:sldLayoutId id="2147483861" r:id="rId6"/>
    <p:sldLayoutId id="2147483862" r:id="rId7"/>
    <p:sldLayoutId id="2147483863" r:id="rId8"/>
    <p:sldLayoutId id="2147483864" r:id="rId9"/>
    <p:sldLayoutId id="2147483865" r:id="rId10"/>
    <p:sldLayoutId id="2147483866" r:id="rId11"/>
    <p:sldLayoutId id="2147483867" r:id="rId12"/>
  </p:sldLayoutIdLst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folHlink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folHlink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folHlink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folHlink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folHlink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8" grpId="0" build="p" bldLvl="3" autoUpdateAnimBg="0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499"/>
                          </p:stCondLst>
                        </p:cTn>
                        <p:tgtEl>
                          <p:spTgt spid="10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1028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folHlink"/>
                      </p:to>
                    </p:animClr>
                  </p:subTnLst>
                </p:cTn>
              </p:par>
            </p:tnLst>
          </p:tmpl>
          <p:tmpl lvl="2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499"/>
                          </p:stCondLst>
                        </p:cTn>
                        <p:tgtEl>
                          <p:spTgt spid="10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1028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folHlink"/>
                      </p:to>
                    </p:animClr>
                  </p:subTnLst>
                </p:cTn>
              </p:par>
            </p:tnLst>
          </p:tmpl>
          <p:tmpl lvl="3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499"/>
                          </p:stCondLst>
                        </p:cTn>
                        <p:tgtEl>
                          <p:spTgt spid="10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1028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folHlink"/>
                      </p:to>
                    </p:animClr>
                  </p:subTnLst>
                </p:cTn>
              </p:par>
            </p:tnLst>
          </p:tmpl>
          <p:tmpl lvl="4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499"/>
                          </p:stCondLst>
                        </p:cTn>
                        <p:tgtEl>
                          <p:spTgt spid="10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1028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folHlink"/>
                      </p:to>
                    </p:animClr>
                  </p:subTnLst>
                </p:cTn>
              </p:par>
            </p:tnLst>
          </p:tmpl>
          <p:tmpl lvl="5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499"/>
                          </p:stCondLst>
                        </p:cTn>
                        <p:tgtEl>
                          <p:spTgt spid="10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1028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folHlink"/>
                      </p:to>
                    </p:animClr>
                  </p:subTnLst>
                </p:cTn>
              </p:par>
            </p:tnLst>
          </p:tmpl>
        </p:tmplLst>
      </p:bldP>
    </p:bldLst>
  </p:timing>
  <p:hf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itchFamily="18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itchFamily="18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itchFamily="18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itchFamily="18" charset="0"/>
        </a:defRPr>
      </a:lvl5pPr>
      <a:lvl6pPr marL="457200"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itchFamily="18" charset="0"/>
        </a:defRPr>
      </a:lvl6pPr>
      <a:lvl7pPr marL="914400"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itchFamily="18" charset="0"/>
        </a:defRPr>
      </a:lvl7pPr>
      <a:lvl8pPr marL="1371600"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itchFamily="18" charset="0"/>
        </a:defRPr>
      </a:lvl8pPr>
      <a:lvl9pPr marL="1828800"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itchFamily="18" charset="0"/>
        </a:defRPr>
      </a:lvl9pPr>
    </p:titleStyle>
    <p:bodyStyle>
      <a:lvl1pPr marL="398463" indent="-39846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0000"/>
        <a:buFont typeface="Wingdings" pitchFamily="2" charset="2"/>
        <a:buChar char="u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862013" indent="-34925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0000"/>
        <a:buFont typeface="Wingdings" pitchFamily="2" charset="2"/>
        <a:buChar char="n"/>
        <a:defRPr sz="2800">
          <a:solidFill>
            <a:schemeClr val="tx1"/>
          </a:solidFill>
          <a:latin typeface="+mn-lt"/>
        </a:defRPr>
      </a:lvl2pPr>
      <a:lvl3pPr marL="1262063" indent="-2857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60000"/>
        <a:buFont typeface="Wingdings" pitchFamily="2" charset="2"/>
        <a:buChar char="n"/>
        <a:defRPr sz="2400">
          <a:solidFill>
            <a:schemeClr val="tx1"/>
          </a:solidFill>
          <a:latin typeface="+mn-lt"/>
        </a:defRPr>
      </a:lvl3pPr>
      <a:lvl4pPr marL="1660525" indent="-284163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60000"/>
        <a:buFont typeface="Wingdings" pitchFamily="2" charset="2"/>
        <a:buChar char="u"/>
        <a:defRPr sz="2000">
          <a:solidFill>
            <a:schemeClr val="tx1"/>
          </a:solidFill>
          <a:latin typeface="+mn-lt"/>
        </a:defRPr>
      </a:lvl4pPr>
      <a:lvl5pPr marL="2058988" indent="-284163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6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5pPr>
      <a:lvl6pPr marL="2516188" indent="-284163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6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6pPr>
      <a:lvl7pPr marL="2973388" indent="-284163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6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7pPr>
      <a:lvl8pPr marL="3430588" indent="-284163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6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8pPr>
      <a:lvl9pPr marL="3887788" indent="-284163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6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cityu.edu.hk/~wkchan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mailto:zhuo.wang@my.cityu.edu.hk" TargetMode="External"/><Relationship Id="rId2" Type="http://schemas.openxmlformats.org/officeDocument/2006/relationships/hyperlink" Target="mailto:qilin.zhou@my.cityu.edu.hk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yueli345-c@my.cityu.edu.hk" TargetMode="External"/><Relationship Id="rId5" Type="http://schemas.openxmlformats.org/officeDocument/2006/relationships/hyperlink" Target="mailto:xiazeng9-c@my.cityu.edu.hk" TargetMode="External"/><Relationship Id="rId4" Type="http://schemas.openxmlformats.org/officeDocument/2006/relationships/hyperlink" Target="mailto:xiaonali3-c@my.cityu.edu.hk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mp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mp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031"/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fld id="{0465E2E4-7374-46A0-BB59-F56978D5F671}" type="slidenum">
              <a:rPr lang="en-US" sz="1400" smtClean="0">
                <a:solidFill>
                  <a:schemeClr val="folHlink"/>
                </a:solidFill>
              </a:rPr>
              <a:pPr/>
              <a:t>1</a:t>
            </a:fld>
            <a:endParaRPr lang="en-US" sz="1400">
              <a:solidFill>
                <a:schemeClr val="folHlink"/>
              </a:solidFill>
            </a:endParaRPr>
          </a:p>
        </p:txBody>
      </p:sp>
      <p:sp>
        <p:nvSpPr>
          <p:cNvPr id="3075" name="Rectangle 2"/>
          <p:cNvSpPr>
            <a:spLocks noGrp="1" noChangeArrowheads="1"/>
          </p:cNvSpPr>
          <p:nvPr>
            <p:ph type="ctrTitle"/>
          </p:nvPr>
        </p:nvSpPr>
        <p:spPr>
          <a:xfrm>
            <a:off x="412750" y="609600"/>
            <a:ext cx="9034463" cy="2743200"/>
          </a:xfrm>
          <a:noFill/>
        </p:spPr>
        <p:txBody>
          <a:bodyPr/>
          <a:lstStyle/>
          <a:p>
            <a:r>
              <a:rPr lang="en-US" sz="5400" dirty="0"/>
              <a:t>CS5351</a:t>
            </a:r>
            <a:br>
              <a:rPr lang="en-US" sz="5400" i="1" dirty="0"/>
            </a:br>
            <a:r>
              <a:rPr lang="en-US" sz="6000" dirty="0"/>
              <a:t>Software Engineering</a:t>
            </a:r>
            <a:br>
              <a:rPr lang="en-US" sz="6000" dirty="0"/>
            </a:br>
            <a:r>
              <a:rPr lang="en-US" sz="4400" dirty="0"/>
              <a:t>2025-2026 Semester A</a:t>
            </a:r>
            <a:endParaRPr lang="en-US" sz="3200" dirty="0"/>
          </a:p>
        </p:txBody>
      </p:sp>
      <p:sp>
        <p:nvSpPr>
          <p:cNvPr id="3076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55613" y="3886200"/>
            <a:ext cx="9067800" cy="2667000"/>
          </a:xfrm>
          <a:noFill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4000" dirty="0"/>
              <a:t>Dr W.K. Chan</a:t>
            </a:r>
          </a:p>
          <a:p>
            <a:pPr>
              <a:lnSpc>
                <a:spcPct val="90000"/>
              </a:lnSpc>
            </a:pPr>
            <a:r>
              <a:rPr lang="en-US" sz="2400" dirty="0"/>
              <a:t>Department of Computer Science</a:t>
            </a:r>
          </a:p>
          <a:p>
            <a:pPr>
              <a:lnSpc>
                <a:spcPct val="90000"/>
              </a:lnSpc>
            </a:pPr>
            <a:r>
              <a:rPr lang="en-US" sz="2400" dirty="0"/>
              <a:t>Email: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2000" b="1" dirty="0">
                <a:latin typeface="Courier New" pitchFamily="49" charset="0"/>
              </a:rPr>
              <a:t>wkchan@cityu.edu.hk</a:t>
            </a:r>
            <a:endParaRPr lang="en-US" sz="2000" dirty="0">
              <a:latin typeface="Courier New" pitchFamily="49" charset="0"/>
            </a:endParaRPr>
          </a:p>
          <a:p>
            <a:pPr>
              <a:lnSpc>
                <a:spcPct val="90000"/>
              </a:lnSpc>
            </a:pPr>
            <a:r>
              <a:rPr lang="en-US" sz="2400" dirty="0"/>
              <a:t>Website: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2000" b="1" dirty="0">
                <a:latin typeface="Courier New" pitchFamily="49" charset="0"/>
              </a:rPr>
              <a:t>http://www.cs.cityu.edu.hk/~wkchan </a:t>
            </a:r>
            <a:endParaRPr lang="en-US" sz="2000" b="1" dirty="0">
              <a:solidFill>
                <a:schemeClr val="folHlink"/>
              </a:solidFill>
            </a:endParaRPr>
          </a:p>
          <a:p>
            <a:pPr>
              <a:lnSpc>
                <a:spcPct val="90000"/>
              </a:lnSpc>
            </a:pPr>
            <a:endParaRPr lang="en-US" sz="2000" b="1" dirty="0">
              <a:solidFill>
                <a:schemeClr val="folHlink"/>
              </a:solidFill>
            </a:endParaRPr>
          </a:p>
          <a:p>
            <a:pPr>
              <a:lnSpc>
                <a:spcPct val="90000"/>
              </a:lnSpc>
            </a:pPr>
            <a:endParaRPr lang="en-US" sz="2000" b="1" dirty="0">
              <a:solidFill>
                <a:schemeClr val="folHlink"/>
              </a:solidFill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Instructor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2750" y="1676400"/>
            <a:ext cx="9339262" cy="4953000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/>
              <a:t>W.K. Chan</a:t>
            </a:r>
          </a:p>
          <a:p>
            <a:pPr marL="0" indent="0">
              <a:buNone/>
            </a:pPr>
            <a:r>
              <a:rPr lang="en-US" sz="2800" dirty="0"/>
              <a:t>    </a:t>
            </a:r>
          </a:p>
          <a:p>
            <a:r>
              <a:rPr lang="en-US" sz="2800" dirty="0"/>
              <a:t>Office: 7/F, G7309, Yeung Building (AC1)</a:t>
            </a:r>
          </a:p>
          <a:p>
            <a:r>
              <a:rPr lang="en-US" sz="2800" dirty="0"/>
              <a:t>Tel: 3442 9684</a:t>
            </a:r>
          </a:p>
          <a:p>
            <a:r>
              <a:rPr lang="en-US" sz="2800" dirty="0"/>
              <a:t>Email: wkchan@cityu.edu.hk</a:t>
            </a:r>
          </a:p>
          <a:p>
            <a:r>
              <a:rPr lang="en-US" sz="2800" dirty="0"/>
              <a:t>Web: </a:t>
            </a:r>
            <a:r>
              <a:rPr lang="en-US" sz="2800" dirty="0">
                <a:hlinkClick r:id="rId2"/>
              </a:rPr>
              <a:t>www.cs.cityu.edu.hk/~wkchan</a:t>
            </a: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Consultation Time: Monday the whole afternoon. Drop by my office.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460438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K" dirty="0"/>
              <a:t>Teaching Assistants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9412" y="1403968"/>
            <a:ext cx="9036050" cy="4953000"/>
          </a:xfrm>
        </p:spPr>
        <p:txBody>
          <a:bodyPr/>
          <a:lstStyle/>
          <a:p>
            <a:r>
              <a:rPr lang="en-US" sz="2800" dirty="0" err="1"/>
              <a:t>Qilin</a:t>
            </a:r>
            <a:r>
              <a:rPr lang="en-US" sz="2800" dirty="0"/>
              <a:t> Zhou </a:t>
            </a:r>
            <a:r>
              <a:rPr lang="en-US" sz="2800" dirty="0">
                <a:hlinkClick r:id="rId2"/>
              </a:rPr>
              <a:t>qilin.zhou@my.cityu.edu.hk</a:t>
            </a:r>
            <a:r>
              <a:rPr lang="en-US" sz="2800" dirty="0"/>
              <a:t>  </a:t>
            </a:r>
          </a:p>
          <a:p>
            <a:r>
              <a:rPr lang="en-US" sz="2800" dirty="0"/>
              <a:t>Zhuo Wang </a:t>
            </a:r>
            <a:r>
              <a:rPr lang="en-US" sz="2800" dirty="0">
                <a:hlinkClick r:id="rId3"/>
              </a:rPr>
              <a:t>zhuo.wang@my.cityu.edu.hk</a:t>
            </a:r>
            <a:endParaRPr lang="en-US" sz="2800" dirty="0"/>
          </a:p>
          <a:p>
            <a:r>
              <a:rPr lang="en-US" sz="2800" dirty="0"/>
              <a:t>LI </a:t>
            </a:r>
            <a:r>
              <a:rPr lang="en-US" sz="2800" dirty="0" err="1"/>
              <a:t>Xiaona</a:t>
            </a:r>
            <a:r>
              <a:rPr lang="en-US" sz="2800" dirty="0"/>
              <a:t>, </a:t>
            </a:r>
            <a:r>
              <a:rPr lang="en-US" sz="2800" dirty="0">
                <a:hlinkClick r:id="rId4"/>
              </a:rPr>
              <a:t>xiaonali3-c@my.cityu.edu.hk</a:t>
            </a:r>
            <a:r>
              <a:rPr lang="en-US" sz="2800" dirty="0"/>
              <a:t>  </a:t>
            </a:r>
          </a:p>
          <a:p>
            <a:r>
              <a:rPr lang="en-US" sz="2800" dirty="0"/>
              <a:t>ZENG </a:t>
            </a:r>
            <a:r>
              <a:rPr lang="en-US" sz="2800" dirty="0" err="1"/>
              <a:t>Xiangrui</a:t>
            </a:r>
            <a:r>
              <a:rPr lang="en-US" sz="2800" dirty="0"/>
              <a:t>, </a:t>
            </a:r>
            <a:r>
              <a:rPr lang="en-US" sz="2800" dirty="0">
                <a:hlinkClick r:id="rId5"/>
              </a:rPr>
              <a:t>xiazeng9-c@my.cityu.edu.hk</a:t>
            </a:r>
            <a:r>
              <a:rPr lang="en-US" sz="2800" dirty="0"/>
              <a:t> </a:t>
            </a:r>
          </a:p>
          <a:p>
            <a:r>
              <a:rPr lang="en-HK" dirty="0"/>
              <a:t>LI Yue, </a:t>
            </a:r>
            <a:r>
              <a:rPr lang="en-HK" dirty="0">
                <a:hlinkClick r:id="rId6"/>
              </a:rPr>
              <a:t>yueli345-c@my.cityu.edu.hk</a:t>
            </a:r>
            <a:r>
              <a:rPr lang="en-HK" dirty="0"/>
              <a:t> </a:t>
            </a:r>
            <a:r>
              <a:rPr lang="en-US" sz="2800" dirty="0"/>
              <a:t>  </a:t>
            </a:r>
            <a:endParaRPr lang="en-HK" sz="2800" dirty="0"/>
          </a:p>
          <a:p>
            <a:endParaRPr lang="en-HK" sz="2000" dirty="0"/>
          </a:p>
          <a:p>
            <a:pPr marL="0" indent="0">
              <a:buNone/>
            </a:pPr>
            <a:endParaRPr lang="en-HK" sz="2000" dirty="0"/>
          </a:p>
          <a:p>
            <a:pPr lvl="1"/>
            <a:endParaRPr lang="en-HK" sz="1800" dirty="0"/>
          </a:p>
          <a:p>
            <a:pPr lvl="1"/>
            <a:endParaRPr lang="en-HK" sz="1800" dirty="0"/>
          </a:p>
          <a:p>
            <a:pPr lvl="1"/>
            <a:endParaRPr lang="en-HK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824441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7F32E-D2F8-4A81-8847-D0742C259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CS5351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D01209-5088-4554-BC82-9AB74C8571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Interleaving between Lecture and Hands-On Activities</a:t>
            </a:r>
          </a:p>
          <a:p>
            <a:endParaRPr lang="en-US" sz="3200" b="1" dirty="0"/>
          </a:p>
          <a:p>
            <a:r>
              <a:rPr lang="en-US" sz="3200" dirty="0"/>
              <a:t>Start at 6:30 pm every Monday </a:t>
            </a:r>
          </a:p>
          <a:p>
            <a:r>
              <a:rPr lang="en-US" sz="3200" dirty="0"/>
              <a:t>Normally end before 9:30 pm. </a:t>
            </a:r>
          </a:p>
          <a:p>
            <a:pPr lvl="1"/>
            <a:r>
              <a:rPr lang="en-US" dirty="0"/>
              <a:t>Some weeks may extend to 10 pm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H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00938F-3380-4B82-ABAE-84B7161BA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1005440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fld id="{05E1498F-C56B-4CCD-AE73-28F2A74BD764}" type="slidenum">
              <a:rPr lang="en-US" sz="1400" smtClean="0">
                <a:solidFill>
                  <a:schemeClr val="folHlink"/>
                </a:solidFill>
              </a:rPr>
              <a:pPr/>
              <a:t>5</a:t>
            </a:fld>
            <a:endParaRPr lang="en-US" sz="1400">
              <a:solidFill>
                <a:schemeClr val="folHlink"/>
              </a:solidFill>
            </a:endParaRPr>
          </a:p>
        </p:txBody>
      </p:sp>
      <p:sp>
        <p:nvSpPr>
          <p:cNvPr id="51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CILOs in Brief</a:t>
            </a:r>
            <a:endParaRPr lang="en-US" sz="2400" b="0" dirty="0"/>
          </a:p>
        </p:txBody>
      </p:sp>
      <p:sp>
        <p:nvSpPr>
          <p:cNvPr id="51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79413" y="1600200"/>
            <a:ext cx="8991599" cy="4953000"/>
          </a:xfrm>
        </p:spPr>
        <p:txBody>
          <a:bodyPr/>
          <a:lstStyle/>
          <a:p>
            <a:r>
              <a:rPr lang="en-US" sz="2800" dirty="0"/>
              <a:t>Study fundamental SE </a:t>
            </a:r>
            <a:r>
              <a:rPr lang="en-US" sz="2800" dirty="0">
                <a:solidFill>
                  <a:srgbClr val="C00000"/>
                </a:solidFill>
              </a:rPr>
              <a:t>process models </a:t>
            </a:r>
            <a:r>
              <a:rPr lang="en-US" sz="2800" dirty="0"/>
              <a:t> </a:t>
            </a:r>
          </a:p>
          <a:p>
            <a:r>
              <a:rPr lang="en-US" sz="2800" dirty="0"/>
              <a:t>Study advanced SE </a:t>
            </a:r>
            <a:r>
              <a:rPr lang="en-US" sz="2800" dirty="0">
                <a:solidFill>
                  <a:srgbClr val="C00000"/>
                </a:solidFill>
              </a:rPr>
              <a:t>principles and techniques</a:t>
            </a:r>
          </a:p>
          <a:p>
            <a:r>
              <a:rPr lang="en-US" sz="2800" dirty="0">
                <a:solidFill>
                  <a:schemeClr val="bg2"/>
                </a:solidFill>
              </a:rPr>
              <a:t>Design and maintain </a:t>
            </a:r>
            <a:r>
              <a:rPr lang="en-US" sz="2800" dirty="0"/>
              <a:t>SE </a:t>
            </a:r>
            <a:r>
              <a:rPr lang="en-US" sz="2800" dirty="0">
                <a:solidFill>
                  <a:srgbClr val="C00000"/>
                </a:solidFill>
              </a:rPr>
              <a:t>projects</a:t>
            </a:r>
          </a:p>
          <a:p>
            <a:r>
              <a:rPr lang="en-US" sz="2800" dirty="0"/>
              <a:t>Perform</a:t>
            </a:r>
            <a:r>
              <a:rPr lang="en-US" sz="2800" dirty="0">
                <a:solidFill>
                  <a:srgbClr val="C00000"/>
                </a:solidFill>
              </a:rPr>
              <a:t> team-based</a:t>
            </a:r>
            <a:r>
              <a:rPr lang="en-US" sz="2800" dirty="0"/>
              <a:t> SE tasks</a:t>
            </a:r>
          </a:p>
          <a:p>
            <a:pPr marL="0" indent="0">
              <a:buNone/>
            </a:pPr>
            <a:endParaRPr lang="en-US" sz="2800" dirty="0">
              <a:sym typeface="Symbol" panose="05050102010706020507" pitchFamily="18" charset="2"/>
            </a:endParaRPr>
          </a:p>
          <a:p>
            <a:pPr marL="0" indent="0">
              <a:buNone/>
            </a:pPr>
            <a:r>
              <a:rPr lang="en-US" sz="2800" dirty="0">
                <a:sym typeface="Symbol" panose="05050102010706020507" pitchFamily="18" charset="2"/>
              </a:rPr>
              <a:t> </a:t>
            </a:r>
            <a:r>
              <a:rPr lang="en-US" sz="2800" dirty="0"/>
              <a:t>You need to log/apply/implement advanced software engineering processes, principles, and techniques in your team-based projects  </a:t>
            </a:r>
          </a:p>
          <a:p>
            <a:endParaRPr lang="en-US" sz="2800" dirty="0"/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fld id="{05E1498F-C56B-4CCD-AE73-28F2A74BD764}" type="slidenum">
              <a:rPr lang="en-US" sz="1400" smtClean="0">
                <a:solidFill>
                  <a:schemeClr val="folHlink"/>
                </a:solidFill>
              </a:rPr>
              <a:pPr/>
              <a:t>6</a:t>
            </a:fld>
            <a:endParaRPr lang="en-US" sz="1400">
              <a:solidFill>
                <a:schemeClr val="folHlink"/>
              </a:solidFill>
            </a:endParaRPr>
          </a:p>
        </p:txBody>
      </p:sp>
      <p:sp>
        <p:nvSpPr>
          <p:cNvPr id="51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Pre-requisite </a:t>
            </a:r>
          </a:p>
        </p:txBody>
      </p:sp>
      <p:sp>
        <p:nvSpPr>
          <p:cNvPr id="51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79413" y="1600200"/>
            <a:ext cx="8991599" cy="4953000"/>
          </a:xfrm>
        </p:spPr>
        <p:txBody>
          <a:bodyPr/>
          <a:lstStyle/>
          <a:p>
            <a:r>
              <a:rPr lang="en-US" sz="2800" dirty="0"/>
              <a:t>CS2312 Problem Solving and Programming or equivalent</a:t>
            </a:r>
          </a:p>
          <a:p>
            <a:pPr lvl="1"/>
            <a:r>
              <a:rPr lang="en-US" sz="2400" dirty="0"/>
              <a:t>CS1302 </a:t>
            </a:r>
            <a:r>
              <a:rPr lang="en-US" sz="2400" dirty="0">
                <a:sym typeface="Wingdings" panose="05000000000000000000" pitchFamily="2" charset="2"/>
              </a:rPr>
              <a:t> </a:t>
            </a:r>
            <a:r>
              <a:rPr lang="en-US" sz="2400" dirty="0"/>
              <a:t>CS2310 </a:t>
            </a:r>
            <a:r>
              <a:rPr lang="en-US" sz="2400" dirty="0">
                <a:sym typeface="Wingdings" panose="05000000000000000000" pitchFamily="2" charset="2"/>
              </a:rPr>
              <a:t> CS231</a:t>
            </a:r>
            <a:endParaRPr lang="en-US" sz="2400" dirty="0"/>
          </a:p>
          <a:p>
            <a:pPr lvl="1"/>
            <a:r>
              <a:rPr lang="en-US" sz="2400" dirty="0"/>
              <a:t>CS1302: Introductory JavaScript Programming</a:t>
            </a:r>
          </a:p>
          <a:p>
            <a:pPr lvl="1"/>
            <a:r>
              <a:rPr lang="en-US" sz="2400" dirty="0"/>
              <a:t>CS2310: C++ Programming</a:t>
            </a:r>
          </a:p>
          <a:p>
            <a:pPr lvl="1"/>
            <a:r>
              <a:rPr lang="en-US" sz="2400" dirty="0"/>
              <a:t>CS2312: Object-Oriented Programming (Java) + Python </a:t>
            </a:r>
          </a:p>
          <a:p>
            <a:pPr lvl="1"/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601063653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Course Assessment</a:t>
            </a:r>
          </a:p>
        </p:txBody>
      </p:sp>
      <p:sp>
        <p:nvSpPr>
          <p:cNvPr id="3789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TW" sz="2800" dirty="0">
                <a:ea typeface="MS UI Gothic" pitchFamily="34" charset="-128"/>
              </a:rPr>
              <a:t>Course Assessment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400" dirty="0">
                <a:ea typeface="MS UI Gothic" pitchFamily="34" charset="-128"/>
              </a:rPr>
              <a:t>	Course Work  60%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400" dirty="0">
                <a:ea typeface="MS UI Gothic" pitchFamily="34" charset="-128"/>
              </a:rPr>
              <a:t>	Final Exam    	40%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</a:pPr>
            <a:endParaRPr lang="en-US" altLang="zh-TW" sz="2800" dirty="0">
              <a:ea typeface="MS UI Gothic" pitchFamily="34" charset="-128"/>
            </a:endParaRP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</a:pPr>
            <a:endParaRPr lang="en-US" altLang="zh-TW" sz="900" dirty="0">
              <a:ea typeface="MS UI Gothic" pitchFamily="34" charset="-128"/>
            </a:endParaRPr>
          </a:p>
          <a:p>
            <a:pPr eaLnBrk="1" hangingPunct="1">
              <a:lnSpc>
                <a:spcPct val="90000"/>
              </a:lnSpc>
              <a:buSzPct val="70000"/>
            </a:pPr>
            <a:r>
              <a:rPr lang="en-US" altLang="zh-TW" sz="2800" dirty="0">
                <a:ea typeface="MS UI Gothic" pitchFamily="34" charset="-128"/>
              </a:rPr>
              <a:t>Weighting of Coursework Assessment</a:t>
            </a:r>
          </a:p>
          <a:p>
            <a:pPr lvl="1">
              <a:lnSpc>
                <a:spcPct val="90000"/>
              </a:lnSpc>
              <a:buSzPct val="70000"/>
            </a:pPr>
            <a:r>
              <a:rPr lang="en-US" altLang="zh-TW" sz="2400" dirty="0">
                <a:ea typeface="MS UI Gothic" pitchFamily="34" charset="-128"/>
              </a:rPr>
              <a:t>Quizzes			20%  [</a:t>
            </a:r>
            <a:r>
              <a:rPr lang="en-US" altLang="zh-TW" sz="2400" b="1" dirty="0">
                <a:ea typeface="MS UI Gothic" pitchFamily="34" charset="-128"/>
              </a:rPr>
              <a:t>not allow </a:t>
            </a:r>
            <a:r>
              <a:rPr lang="en-US" altLang="zh-TW" sz="2400" dirty="0">
                <a:ea typeface="MS UI Gothic" pitchFamily="34" charset="-128"/>
              </a:rPr>
              <a:t>to use GenAI]</a:t>
            </a:r>
          </a:p>
          <a:p>
            <a:pPr lvl="1">
              <a:lnSpc>
                <a:spcPct val="90000"/>
              </a:lnSpc>
              <a:buSzPct val="70000"/>
            </a:pPr>
            <a:r>
              <a:rPr lang="en-US" altLang="zh-TW" sz="2400" dirty="0">
                <a:ea typeface="MS UI Gothic" pitchFamily="34" charset="-128"/>
              </a:rPr>
              <a:t>Research Papers     		10%  [</a:t>
            </a:r>
            <a:r>
              <a:rPr lang="en-US" altLang="zh-TW" sz="2400" b="1" dirty="0">
                <a:ea typeface="MS UI Gothic" pitchFamily="34" charset="-128"/>
              </a:rPr>
              <a:t>not allow </a:t>
            </a:r>
            <a:r>
              <a:rPr lang="en-US" altLang="zh-TW" sz="2400" dirty="0">
                <a:ea typeface="MS UI Gothic" pitchFamily="34" charset="-128"/>
              </a:rPr>
              <a:t>to use GenAI] </a:t>
            </a:r>
          </a:p>
          <a:p>
            <a:pPr lvl="1">
              <a:lnSpc>
                <a:spcPct val="90000"/>
              </a:lnSpc>
              <a:buSzPct val="70000"/>
            </a:pPr>
            <a:r>
              <a:rPr lang="en-US" altLang="zh-TW" sz="2400" dirty="0">
                <a:ea typeface="MS UI Gothic" pitchFamily="34" charset="-128"/>
              </a:rPr>
              <a:t>Team-Based Code Project 	30%  [</a:t>
            </a:r>
            <a:r>
              <a:rPr lang="en-US" altLang="zh-TW" sz="2400" b="1" dirty="0">
                <a:ea typeface="MS UI Gothic" pitchFamily="34" charset="-128"/>
              </a:rPr>
              <a:t>allow</a:t>
            </a:r>
            <a:r>
              <a:rPr lang="en-US" altLang="zh-TW" sz="2400" dirty="0">
                <a:ea typeface="MS UI Gothic" pitchFamily="34" charset="-128"/>
              </a:rPr>
              <a:t> to use GenAI]</a:t>
            </a:r>
          </a:p>
          <a:p>
            <a:pPr marL="512763" lvl="1" indent="0">
              <a:lnSpc>
                <a:spcPct val="90000"/>
              </a:lnSpc>
              <a:buSzPct val="70000"/>
              <a:buNone/>
            </a:pPr>
            <a:endParaRPr lang="en-US" altLang="zh-TW" sz="2400" dirty="0">
              <a:ea typeface="MS UI Gothic" pitchFamily="34" charset="-128"/>
            </a:endParaRPr>
          </a:p>
          <a:p>
            <a:pPr lvl="1">
              <a:lnSpc>
                <a:spcPct val="90000"/>
              </a:lnSpc>
              <a:buSzPct val="70000"/>
            </a:pPr>
            <a:endParaRPr lang="en-US" altLang="zh-TW" sz="2400" dirty="0">
              <a:ea typeface="MS UI Gothic" pitchFamily="34" charset="-128"/>
            </a:endParaRPr>
          </a:p>
          <a:p>
            <a:endParaRPr lang="en-US" dirty="0"/>
          </a:p>
        </p:txBody>
      </p:sp>
      <p:sp>
        <p:nvSpPr>
          <p:cNvPr id="37892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8792031C-61AE-4B4A-9F5F-8739A49BACE5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698634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Tentative Course Schedule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3078824"/>
              </p:ext>
            </p:extLst>
          </p:nvPr>
        </p:nvGraphicFramePr>
        <p:xfrm>
          <a:off x="684212" y="1676400"/>
          <a:ext cx="7391400" cy="4379976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9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981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HK" sz="2400" dirty="0">
                          <a:effectLst/>
                        </a:rPr>
                        <a:t>Week </a:t>
                      </a:r>
                      <a:endParaRPr lang="en-HK" sz="2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HK" sz="2400" dirty="0">
                          <a:effectLst/>
                        </a:rPr>
                        <a:t>Topic</a:t>
                      </a:r>
                      <a:endParaRPr lang="en-HK" sz="2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87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HK" sz="2400" dirty="0">
                          <a:effectLst/>
                        </a:rPr>
                        <a:t>1</a:t>
                      </a:r>
                      <a:endParaRPr lang="en-HK" sz="2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2400" dirty="0">
                          <a:effectLst/>
                        </a:rPr>
                        <a:t>Software Process</a:t>
                      </a:r>
                      <a:endParaRPr lang="en-HK" sz="2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87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24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HK" sz="2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Modern Code Review (MCR)</a:t>
                      </a:r>
                      <a:endParaRPr lang="en-HK" sz="2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53487712"/>
                  </a:ext>
                </a:extLst>
              </a:tr>
              <a:tr h="30587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24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HK" sz="2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HK" sz="2400" dirty="0">
                          <a:effectLst/>
                        </a:rPr>
                        <a:t>Software Requirements (RE)</a:t>
                      </a:r>
                      <a:endParaRPr lang="en-HK" sz="2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87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24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HK" sz="2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2400" dirty="0">
                          <a:effectLst/>
                        </a:rPr>
                        <a:t>Software Architecture (SA)</a:t>
                      </a:r>
                      <a:endParaRPr lang="en-HK" sz="2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50346829"/>
                  </a:ext>
                </a:extLst>
              </a:tr>
              <a:tr h="30587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24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5</a:t>
                      </a:r>
                      <a:endParaRPr lang="en-HK" sz="2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HK" sz="2400" dirty="0">
                          <a:effectLst/>
                        </a:rPr>
                        <a:t>Technical Debt in Software Design</a:t>
                      </a:r>
                      <a:endParaRPr lang="en-HK" sz="2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587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24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7 (revised)</a:t>
                      </a:r>
                      <a:endParaRPr lang="en-HK" sz="2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Quiz 1: Process + MCR + RE + SA + Debt</a:t>
                      </a:r>
                      <a:endParaRPr lang="en-HK" sz="2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75330519"/>
                  </a:ext>
                </a:extLst>
              </a:tr>
              <a:tr h="30587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24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6-8</a:t>
                      </a:r>
                      <a:endParaRPr lang="en-HK" sz="2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Code with Quality</a:t>
                      </a:r>
                      <a:endParaRPr lang="en-HK" sz="2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43646252"/>
                  </a:ext>
                </a:extLst>
              </a:tr>
              <a:tr h="30587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24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9-10</a:t>
                      </a:r>
                      <a:endParaRPr lang="en-HK" sz="2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Software Testing</a:t>
                      </a:r>
                      <a:endParaRPr lang="en-HK" sz="2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587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24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11</a:t>
                      </a:r>
                      <a:endParaRPr lang="en-HK" sz="2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HK" sz="2400" dirty="0">
                          <a:effectLst/>
                        </a:rPr>
                        <a:t>Software Debugging</a:t>
                      </a:r>
                      <a:endParaRPr lang="en-HK" sz="2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33450283"/>
                  </a:ext>
                </a:extLst>
              </a:tr>
              <a:tr h="30587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24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12</a:t>
                      </a:r>
                      <a:endParaRPr lang="en-HK" sz="2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Quiz 2: Code + Test + Debug</a:t>
                      </a:r>
                      <a:endParaRPr lang="en-HK" sz="2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2482356"/>
                  </a:ext>
                </a:extLst>
              </a:tr>
              <a:tr h="30587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24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13</a:t>
                      </a:r>
                      <a:endParaRPr lang="en-HK" sz="2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24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Software Maintenance</a:t>
                      </a:r>
                      <a:endParaRPr lang="en-HK" sz="2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254755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4509362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8273D-30AC-4328-A459-6E4CED669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Assessment: </a:t>
            </a:r>
            <a:r>
              <a:rPr lang="en-US" dirty="0" err="1"/>
              <a:t>Quizzies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40A0A-A43A-4286-A2B2-F6C25F2759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Weight: 20%</a:t>
            </a:r>
          </a:p>
          <a:p>
            <a:pPr lvl="1"/>
            <a:r>
              <a:rPr lang="en-US" sz="2400" dirty="0"/>
              <a:t>10% for each quiz</a:t>
            </a:r>
          </a:p>
          <a:p>
            <a:pPr lvl="1"/>
            <a:r>
              <a:rPr lang="en-US" sz="2400" dirty="0"/>
              <a:t>Each quiz consists of a number of questions. </a:t>
            </a:r>
          </a:p>
          <a:p>
            <a:r>
              <a:rPr lang="en-US" sz="2800" b="1" dirty="0"/>
              <a:t>Online</a:t>
            </a:r>
            <a:r>
              <a:rPr lang="en-US" sz="2800" dirty="0"/>
              <a:t>, </a:t>
            </a:r>
            <a:r>
              <a:rPr lang="en-US" sz="2800" b="1" dirty="0"/>
              <a:t>bring your computer</a:t>
            </a:r>
          </a:p>
          <a:p>
            <a:pPr lvl="1"/>
            <a:r>
              <a:rPr lang="en-US" sz="1600" dirty="0"/>
              <a:t>Single attempt. Once submitted, no change is allowed</a:t>
            </a:r>
          </a:p>
          <a:p>
            <a:pPr lvl="1"/>
            <a:r>
              <a:rPr lang="en-US" sz="1600" dirty="0"/>
              <a:t>No use of AI tool or social media or any communication means</a:t>
            </a:r>
          </a:p>
          <a:p>
            <a:r>
              <a:rPr lang="en-US" sz="2400" dirty="0"/>
              <a:t>Quiz 1 (Week 6)</a:t>
            </a:r>
          </a:p>
          <a:p>
            <a:pPr lvl="1"/>
            <a:r>
              <a:rPr lang="en-US" sz="2000" dirty="0"/>
              <a:t>Topics: Software Process, Modern Code Review, Software Requirements, Software Architecture, and Technical Debt in Software Design</a:t>
            </a:r>
          </a:p>
          <a:p>
            <a:r>
              <a:rPr lang="en-US" sz="2400" dirty="0"/>
              <a:t>Quiz 2 (Week 12)</a:t>
            </a:r>
          </a:p>
          <a:p>
            <a:pPr lvl="1"/>
            <a:r>
              <a:rPr lang="en-US" sz="2000" dirty="0"/>
              <a:t>Topic: Code with Quality, Software Testing, and Software Debugging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DBBDAE-9660-4AB2-96D6-5A4C48C6F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886345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8273D-30AC-4328-A459-6E4CED669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Assessment: Research Paper (1)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40A0A-A43A-4286-A2B2-F6C25F2759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412" y="1600200"/>
            <a:ext cx="9036050" cy="4953000"/>
          </a:xfrm>
        </p:spPr>
        <p:txBody>
          <a:bodyPr/>
          <a:lstStyle/>
          <a:p>
            <a:r>
              <a:rPr lang="en-US" sz="2800" dirty="0"/>
              <a:t>Weight: 10% </a:t>
            </a:r>
          </a:p>
          <a:p>
            <a:r>
              <a:rPr lang="en-US" sz="2800" b="1" dirty="0"/>
              <a:t>Submit the Final Report in Week 12</a:t>
            </a:r>
          </a:p>
          <a:p>
            <a:r>
              <a:rPr lang="en-US" sz="2800" b="1" dirty="0"/>
              <a:t>Individual</a:t>
            </a:r>
            <a:r>
              <a:rPr lang="en-US" sz="2800" dirty="0"/>
              <a:t> assignment (i.e., not a group assignment) </a:t>
            </a:r>
          </a:p>
          <a:p>
            <a:endParaRPr lang="en-US" sz="2800" dirty="0"/>
          </a:p>
          <a:p>
            <a:r>
              <a:rPr lang="en-US" sz="2800" dirty="0"/>
              <a:t>Your task: </a:t>
            </a:r>
            <a:r>
              <a:rPr lang="en-US" sz="2400" dirty="0"/>
              <a:t>paper reading + report writing  </a:t>
            </a:r>
          </a:p>
          <a:p>
            <a:pPr lvl="1"/>
            <a:r>
              <a:rPr lang="en-US" sz="2000" dirty="0"/>
              <a:t>Read the assignment requirement on the next two slides</a:t>
            </a:r>
          </a:p>
          <a:p>
            <a:endParaRPr lang="en-US" sz="2400" dirty="0"/>
          </a:p>
          <a:p>
            <a:pPr marL="0" indent="0">
              <a:buNone/>
            </a:pPr>
            <a:endParaRPr lang="en-US" sz="2800" dirty="0"/>
          </a:p>
          <a:p>
            <a:pPr lvl="1"/>
            <a:endParaRPr lang="en-US" sz="2400" dirty="0"/>
          </a:p>
          <a:p>
            <a:endParaRPr lang="en-US" sz="2800" dirty="0"/>
          </a:p>
          <a:p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DBBDAE-9660-4AB2-96D6-5A4C48C6F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721913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867F0-74E4-4B60-AB13-312BB428A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Assessment: Research Papers (2)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4D312-CEC4-42BE-8DE7-ACE19113D4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3212" y="1447800"/>
            <a:ext cx="9036050" cy="4953000"/>
          </a:xfrm>
        </p:spPr>
        <p:txBody>
          <a:bodyPr/>
          <a:lstStyle/>
          <a:p>
            <a:r>
              <a:rPr lang="en-US" sz="2400" dirty="0"/>
              <a:t>Each student </a:t>
            </a:r>
            <a:r>
              <a:rPr lang="en-US" sz="2400" b="1" dirty="0"/>
              <a:t>MUST </a:t>
            </a:r>
            <a:r>
              <a:rPr lang="en-US" sz="2400" dirty="0"/>
              <a:t>select one of the sever papers identified in [People]-&gt;[Research Paper] for this assignment.</a:t>
            </a:r>
          </a:p>
          <a:p>
            <a:pPr lvl="1"/>
            <a:r>
              <a:rPr lang="en-US" sz="1400" dirty="0"/>
              <a:t>Students who do not follow this requirement will receive </a:t>
            </a:r>
            <a:r>
              <a:rPr lang="en-US" sz="1400" dirty="0">
                <a:solidFill>
                  <a:srgbClr val="FF0000"/>
                </a:solidFill>
              </a:rPr>
              <a:t>ZERO</a:t>
            </a:r>
            <a:r>
              <a:rPr lang="en-US" sz="1400" dirty="0"/>
              <a:t> mark on this assignment.</a:t>
            </a:r>
          </a:p>
          <a:p>
            <a:pPr lvl="1"/>
            <a:endParaRPr lang="en-US" sz="1400" dirty="0"/>
          </a:p>
          <a:p>
            <a:pPr marL="512763" lvl="1" indent="0">
              <a:buNone/>
            </a:pPr>
            <a:endParaRPr lang="en-US" sz="2000" b="1" dirty="0"/>
          </a:p>
          <a:p>
            <a:endParaRPr lang="en-US" sz="2800" dirty="0"/>
          </a:p>
          <a:p>
            <a:endParaRPr lang="en-US" sz="2800" dirty="0"/>
          </a:p>
          <a:p>
            <a:endParaRPr lang="en-HK" sz="1800" dirty="0"/>
          </a:p>
          <a:p>
            <a:endParaRPr lang="en-HK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386A9A-E9A1-4658-A19C-761773C3F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A68A184-A406-C027-7B9A-2B9ED1E774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750" y="2469795"/>
            <a:ext cx="4211434" cy="392628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0E20175-A59A-AA6A-C7A6-A09D01ED0AA9}"/>
              </a:ext>
            </a:extLst>
          </p:cNvPr>
          <p:cNvSpPr txBox="1"/>
          <p:nvPr/>
        </p:nvSpPr>
        <p:spPr>
          <a:xfrm>
            <a:off x="4804139" y="2743200"/>
            <a:ext cx="495232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1800" dirty="0"/>
              <a:t>Self-enroll to one of the seven paper group in Canvas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/>
              <a:t>Submit your original 1000-word report 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1800" b="1" dirty="0"/>
              <a:t>Read the next slide </a:t>
            </a:r>
          </a:p>
          <a:p>
            <a:pPr marL="514350" indent="-514350">
              <a:buFont typeface="+mj-lt"/>
              <a:buAutoNum type="arabicPeriod"/>
            </a:pPr>
            <a:endParaRPr lang="en-US" sz="1800" dirty="0"/>
          </a:p>
          <a:p>
            <a:pPr marL="342900" indent="-342900">
              <a:buFontTx/>
              <a:buChar char="-"/>
            </a:pPr>
            <a:endParaRPr lang="en-US" sz="1800" dirty="0"/>
          </a:p>
          <a:p>
            <a:pPr marL="342900" indent="-342900">
              <a:buFontTx/>
              <a:buChar char="-"/>
            </a:pPr>
            <a:endParaRPr lang="en-US" sz="1800" dirty="0"/>
          </a:p>
          <a:p>
            <a:pPr marL="514350" indent="-514350">
              <a:buFont typeface="+mj-lt"/>
              <a:buAutoNum type="arabicPeriod"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24743935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113FC-3E1A-DC3F-ED49-51E7B754A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Assessment: Research Paper (3)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A5085D-9542-7EE0-0FF4-CF4518B04F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The final report should include all following three sections</a:t>
            </a:r>
          </a:p>
          <a:p>
            <a:pPr lvl="1"/>
            <a:r>
              <a:rPr lang="en-US" sz="2400" dirty="0"/>
              <a:t>Section A [300 words or more]</a:t>
            </a:r>
          </a:p>
          <a:p>
            <a:pPr lvl="2"/>
            <a:r>
              <a:rPr lang="en-US" sz="2000" dirty="0"/>
              <a:t>The background, problem to address, the approach taken to address the problem, findings of the paper</a:t>
            </a:r>
          </a:p>
          <a:p>
            <a:pPr lvl="1"/>
            <a:r>
              <a:rPr lang="en-US" sz="2400" dirty="0"/>
              <a:t>Section B [400 words or more]</a:t>
            </a:r>
          </a:p>
          <a:p>
            <a:pPr lvl="2"/>
            <a:r>
              <a:rPr lang="en-US" sz="2000" dirty="0"/>
              <a:t>Your evaluation of the key strengths and key weaknesses of the research content.</a:t>
            </a:r>
          </a:p>
          <a:p>
            <a:pPr lvl="1"/>
            <a:r>
              <a:rPr lang="en-US" sz="2400" dirty="0"/>
              <a:t>Section C [300 words or more]</a:t>
            </a:r>
          </a:p>
          <a:p>
            <a:pPr lvl="2"/>
            <a:r>
              <a:rPr lang="en-US" sz="2000" dirty="0"/>
              <a:t>Your own self-reflection if you need to conduct the research yourself as the author to address the weaknesses you identified in Section B. </a:t>
            </a:r>
          </a:p>
          <a:p>
            <a:r>
              <a:rPr lang="en-US" sz="2400" dirty="0"/>
              <a:t>Marks will be deducted if insufficient content is observed.</a:t>
            </a:r>
          </a:p>
          <a:p>
            <a:r>
              <a:rPr lang="en-US" sz="2400" dirty="0"/>
              <a:t>Only technical content will receive marks. </a:t>
            </a:r>
          </a:p>
          <a:p>
            <a:r>
              <a:rPr lang="en-US" sz="2400" dirty="0"/>
              <a:t>Format of the Report: Free. Choose an article template to follow</a:t>
            </a:r>
          </a:p>
          <a:p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F40CBF-EF43-E723-BACA-A283D98AB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992751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867F0-74E4-4B60-AB13-312BB428A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Assessment: Project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4D312-CEC4-42BE-8DE7-ACE19113D4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676400"/>
            <a:ext cx="9415462" cy="4953000"/>
          </a:xfrm>
        </p:spPr>
        <p:txBody>
          <a:bodyPr/>
          <a:lstStyle/>
          <a:p>
            <a:r>
              <a:rPr lang="en-HK" sz="2400" dirty="0"/>
              <a:t>Weight: 30% </a:t>
            </a:r>
          </a:p>
          <a:p>
            <a:r>
              <a:rPr lang="en-HK" sz="2400" dirty="0"/>
              <a:t>6-8 students per team.</a:t>
            </a:r>
          </a:p>
          <a:p>
            <a:pPr lvl="1"/>
            <a:r>
              <a:rPr lang="en-HK" sz="2000" dirty="0"/>
              <a:t>A tiny team could not effectively practice project management and collaboration</a:t>
            </a:r>
          </a:p>
          <a:p>
            <a:r>
              <a:rPr lang="en-HK" sz="2400" dirty="0"/>
              <a:t>Self-enrol in a team in Canvas</a:t>
            </a:r>
          </a:p>
          <a:p>
            <a:r>
              <a:rPr lang="en-HK" sz="2400" dirty="0"/>
              <a:t>Produce a code-based and executable project</a:t>
            </a:r>
          </a:p>
          <a:p>
            <a:endParaRPr lang="en-HK" sz="2400" dirty="0"/>
          </a:p>
          <a:p>
            <a:endParaRPr lang="en-HK" sz="2400" dirty="0"/>
          </a:p>
          <a:p>
            <a:r>
              <a:rPr lang="en-HK" sz="2400" dirty="0"/>
              <a:t>A project is heavy. Can build your project on top of existing tools/platforms/browser. Mini-app in WeChat is possible </a:t>
            </a:r>
          </a:p>
          <a:p>
            <a:endParaRPr lang="en-HK" sz="2400" dirty="0"/>
          </a:p>
          <a:p>
            <a:r>
              <a:rPr lang="en-HK" sz="2400" dirty="0"/>
              <a:t>Demonstrate your original idea to solve specific software engineering tasks through the project</a:t>
            </a:r>
          </a:p>
          <a:p>
            <a:endParaRPr lang="en-HK" sz="2400" dirty="0"/>
          </a:p>
          <a:p>
            <a:endParaRPr lang="en-HK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386A9A-E9A1-4658-A19C-761773C3F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pic>
        <p:nvPicPr>
          <p:cNvPr id="6" name="Picture 5" descr="A screenshot of a research paper&#10;&#10;AI-generated content may be incorrect.">
            <a:extLst>
              <a:ext uri="{FF2B5EF4-FFF2-40B4-BE49-F238E27FC236}">
                <a16:creationId xmlns:a16="http://schemas.microsoft.com/office/drawing/2014/main" id="{8DADEDFF-DD45-374A-E380-299CEDAD16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7812" y="3048000"/>
            <a:ext cx="2748294" cy="139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5232638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5D936-E4F8-D990-3EEE-BABD84FDA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Discussions Threads in Canvas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61FA1-0202-CDF4-C16E-9A9A2F20EE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676400"/>
            <a:ext cx="5376862" cy="4953000"/>
          </a:xfrm>
        </p:spPr>
        <p:txBody>
          <a:bodyPr/>
          <a:lstStyle/>
          <a:p>
            <a:r>
              <a:rPr lang="en-US" sz="2800" dirty="0"/>
              <a:t>Share your thoughts, comments, inquiries and items facilitating peer learning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207FA8-E427-4328-4C47-0E8822C4E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16B464A-85B7-1EEF-7910-C451F97C2B4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2415" y="1524000"/>
            <a:ext cx="1874722" cy="495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586218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Side Bar">
  <a:themeElements>
    <a:clrScheme name="">
      <a:dk1>
        <a:srgbClr val="000000"/>
      </a:dk1>
      <a:lt1>
        <a:srgbClr val="FFFFFF"/>
      </a:lt1>
      <a:dk2>
        <a:srgbClr val="C00000"/>
      </a:dk2>
      <a:lt2>
        <a:srgbClr val="C00000"/>
      </a:lt2>
      <a:accent1>
        <a:srgbClr val="FFEBEB"/>
      </a:accent1>
      <a:accent2>
        <a:srgbClr val="006600"/>
      </a:accent2>
      <a:accent3>
        <a:srgbClr val="FFFFFF"/>
      </a:accent3>
      <a:accent4>
        <a:srgbClr val="000000"/>
      </a:accent4>
      <a:accent5>
        <a:srgbClr val="FFF3F3"/>
      </a:accent5>
      <a:accent6>
        <a:srgbClr val="005C00"/>
      </a:accent6>
      <a:hlink>
        <a:srgbClr val="000066"/>
      </a:hlink>
      <a:folHlink>
        <a:srgbClr val="808080"/>
      </a:folHlink>
    </a:clrScheme>
    <a:fontScheme name="Side Bar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>
          <a:outerShdw dist="71842" dir="2700000" algn="ctr" rotWithShape="0">
            <a:schemeClr val="bg2"/>
          </a:outerShdw>
        </a:effec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>
          <a:outerShdw dist="71842" dir="2700000" algn="ctr" rotWithShape="0">
            <a:schemeClr val="bg2"/>
          </a:outerShdw>
        </a:effec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Side Bar 1">
        <a:dk1>
          <a:srgbClr val="FF9933"/>
        </a:dk1>
        <a:lt1>
          <a:srgbClr val="FFFFFF"/>
        </a:lt1>
        <a:dk2>
          <a:srgbClr val="003366"/>
        </a:dk2>
        <a:lt2>
          <a:srgbClr val="FF9933"/>
        </a:lt2>
        <a:accent1>
          <a:srgbClr val="2B557F"/>
        </a:accent1>
        <a:accent2>
          <a:srgbClr val="FF9933"/>
        </a:accent2>
        <a:accent3>
          <a:srgbClr val="AAADB8"/>
        </a:accent3>
        <a:accent4>
          <a:srgbClr val="DADADA"/>
        </a:accent4>
        <a:accent5>
          <a:srgbClr val="ACB4C0"/>
        </a:accent5>
        <a:accent6>
          <a:srgbClr val="E78A2D"/>
        </a:accent6>
        <a:hlink>
          <a:srgbClr val="005032"/>
        </a:hlink>
        <a:folHlink>
          <a:srgbClr val="A0A0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ide Bar 2">
        <a:dk1>
          <a:srgbClr val="000000"/>
        </a:dk1>
        <a:lt1>
          <a:srgbClr val="FFFFFF"/>
        </a:lt1>
        <a:dk2>
          <a:srgbClr val="E16414"/>
        </a:dk2>
        <a:lt2>
          <a:srgbClr val="E16414"/>
        </a:lt2>
        <a:accent1>
          <a:srgbClr val="FFF0EB"/>
        </a:accent1>
        <a:accent2>
          <a:srgbClr val="E16414"/>
        </a:accent2>
        <a:accent3>
          <a:srgbClr val="FFFFFF"/>
        </a:accent3>
        <a:accent4>
          <a:srgbClr val="000000"/>
        </a:accent4>
        <a:accent5>
          <a:srgbClr val="FFF6F3"/>
        </a:accent5>
        <a:accent6>
          <a:srgbClr val="CC5A11"/>
        </a:accent6>
        <a:hlink>
          <a:srgbClr val="C00000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ide Bar 3">
        <a:dk1>
          <a:srgbClr val="000000"/>
        </a:dk1>
        <a:lt1>
          <a:srgbClr val="FFFFFF"/>
        </a:lt1>
        <a:dk2>
          <a:srgbClr val="006600"/>
        </a:dk2>
        <a:lt2>
          <a:srgbClr val="CC0000"/>
        </a:lt2>
        <a:accent1>
          <a:srgbClr val="EAEAEA"/>
        </a:accent1>
        <a:accent2>
          <a:srgbClr val="00660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005C00"/>
        </a:accent6>
        <a:hlink>
          <a:srgbClr val="000066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ide Bar 4">
        <a:dk1>
          <a:srgbClr val="000000"/>
        </a:dk1>
        <a:lt1>
          <a:srgbClr val="FFFFFF"/>
        </a:lt1>
        <a:dk2>
          <a:srgbClr val="CC0000"/>
        </a:dk2>
        <a:lt2>
          <a:srgbClr val="CC0000"/>
        </a:lt2>
        <a:accent1>
          <a:srgbClr val="EAEAEA"/>
        </a:accent1>
        <a:accent2>
          <a:srgbClr val="00660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005C00"/>
        </a:accent6>
        <a:hlink>
          <a:srgbClr val="000066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ide Bar 5">
        <a:dk1>
          <a:srgbClr val="000000"/>
        </a:dk1>
        <a:lt1>
          <a:srgbClr val="FFFFFF"/>
        </a:lt1>
        <a:dk2>
          <a:srgbClr val="808080"/>
        </a:dk2>
        <a:lt2>
          <a:srgbClr val="CC0000"/>
        </a:lt2>
        <a:accent1>
          <a:srgbClr val="EAEAEA"/>
        </a:accent1>
        <a:accent2>
          <a:srgbClr val="00660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005C00"/>
        </a:accent6>
        <a:hlink>
          <a:srgbClr val="000066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Side Bar 4">
    <a:dk1>
      <a:srgbClr val="000000"/>
    </a:dk1>
    <a:lt1>
      <a:srgbClr val="FFFFFF"/>
    </a:lt1>
    <a:dk2>
      <a:srgbClr val="CC0000"/>
    </a:dk2>
    <a:lt2>
      <a:srgbClr val="CC0000"/>
    </a:lt2>
    <a:accent1>
      <a:srgbClr val="EAEAEA"/>
    </a:accent1>
    <a:accent2>
      <a:srgbClr val="006600"/>
    </a:accent2>
    <a:accent3>
      <a:srgbClr val="FFFFFF"/>
    </a:accent3>
    <a:accent4>
      <a:srgbClr val="000000"/>
    </a:accent4>
    <a:accent5>
      <a:srgbClr val="F3F3F3"/>
    </a:accent5>
    <a:accent6>
      <a:srgbClr val="005C00"/>
    </a:accent6>
    <a:hlink>
      <a:srgbClr val="000066"/>
    </a:hlink>
    <a:folHlink>
      <a:srgbClr val="808080"/>
    </a:folHlink>
  </a:clrScheme>
</a:themeOverride>
</file>

<file path=ppt/theme/themeOverride2.xml><?xml version="1.0" encoding="utf-8"?>
<a:themeOverride xmlns:a="http://schemas.openxmlformats.org/drawingml/2006/main">
  <a:clrScheme name="Side Bar 4">
    <a:dk1>
      <a:srgbClr val="000000"/>
    </a:dk1>
    <a:lt1>
      <a:srgbClr val="FFFFFF"/>
    </a:lt1>
    <a:dk2>
      <a:srgbClr val="CC0000"/>
    </a:dk2>
    <a:lt2>
      <a:srgbClr val="CC0000"/>
    </a:lt2>
    <a:accent1>
      <a:srgbClr val="EAEAEA"/>
    </a:accent1>
    <a:accent2>
      <a:srgbClr val="006600"/>
    </a:accent2>
    <a:accent3>
      <a:srgbClr val="FFFFFF"/>
    </a:accent3>
    <a:accent4>
      <a:srgbClr val="000000"/>
    </a:accent4>
    <a:accent5>
      <a:srgbClr val="F3F3F3"/>
    </a:accent5>
    <a:accent6>
      <a:srgbClr val="005C00"/>
    </a:accent6>
    <a:hlink>
      <a:srgbClr val="000066"/>
    </a:hlink>
    <a:folHlink>
      <a:srgbClr val="808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13102</TotalTime>
  <Words>837</Words>
  <Application>Microsoft Office PowerPoint</Application>
  <PresentationFormat>Custom</PresentationFormat>
  <Paragraphs>157</Paragraphs>
  <Slides>14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MS UI Gothic</vt:lpstr>
      <vt:lpstr>Arial</vt:lpstr>
      <vt:lpstr>Courier New</vt:lpstr>
      <vt:lpstr>Symbol</vt:lpstr>
      <vt:lpstr>Times New Roman</vt:lpstr>
      <vt:lpstr>Wingdings</vt:lpstr>
      <vt:lpstr>Side Bar</vt:lpstr>
      <vt:lpstr>CS5351 Software Engineering 2025-2026 Semester A</vt:lpstr>
      <vt:lpstr>Course Instructor</vt:lpstr>
      <vt:lpstr>Teaching Assistants</vt:lpstr>
      <vt:lpstr>CS5351</vt:lpstr>
      <vt:lpstr>CILOs in Brief</vt:lpstr>
      <vt:lpstr>Pre-requisite </vt:lpstr>
      <vt:lpstr>Course Assessment</vt:lpstr>
      <vt:lpstr>Tentative Course Schedule </vt:lpstr>
      <vt:lpstr>Assessment: Quizzies</vt:lpstr>
      <vt:lpstr>Assessment: Research Paper (1)</vt:lpstr>
      <vt:lpstr>Assessment: Research Papers (2)</vt:lpstr>
      <vt:lpstr>Assessment: Research Paper (3)</vt:lpstr>
      <vt:lpstr>Assessment: Project</vt:lpstr>
      <vt:lpstr>Discussions Threads in Canvas</vt:lpstr>
    </vt:vector>
  </TitlesOfParts>
  <Company>City University of Hong Kong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CS3343 Software Engineering Practice</dc:title>
  <dc:creator>Dr. W.K. Chan</dc:creator>
  <cp:keywords>Software Engineering</cp:keywords>
  <cp:lastModifiedBy>Prof. Chan Wing Kwong</cp:lastModifiedBy>
  <cp:revision>387</cp:revision>
  <cp:lastPrinted>2014-08-25T03:37:42Z</cp:lastPrinted>
  <dcterms:created xsi:type="dcterms:W3CDTF">1999-09-08T02:17:18Z</dcterms:created>
  <dcterms:modified xsi:type="dcterms:W3CDTF">2025-09-02T07:08:39Z</dcterms:modified>
</cp:coreProperties>
</file>