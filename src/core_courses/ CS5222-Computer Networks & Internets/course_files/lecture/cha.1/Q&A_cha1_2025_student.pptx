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1" r:id="rId1"/>
  </p:sldMasterIdLst>
  <p:notesMasterIdLst>
    <p:notesMasterId r:id="rId8"/>
  </p:notesMasterIdLst>
  <p:sldIdLst>
    <p:sldId id="256" r:id="rId2"/>
    <p:sldId id="259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530" autoAdjust="0"/>
  </p:normalViewPr>
  <p:slideViewPr>
    <p:cSldViewPr snapToGrid="0">
      <p:cViewPr varScale="1">
        <p:scale>
          <a:sx n="73" d="100"/>
          <a:sy n="73" d="100"/>
        </p:scale>
        <p:origin x="1070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BB7B4A-420D-411F-9B09-47D0E51B98FF}" type="datetimeFigureOut">
              <a:rPr lang="zh-HK" altLang="en-US" smtClean="0"/>
              <a:t>13/9/2025</a:t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7DB07F-1779-41BC-BD34-D238F375ED69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64403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1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776109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D) Router</a:t>
            </a: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2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153143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B) 4L/R</a:t>
            </a: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3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312657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HK" dirty="0"/>
              <a:t>B) queueing delay</a:t>
            </a:r>
          </a:p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4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5849304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UcParenR"/>
              <a:tabLst/>
              <a:defRPr/>
            </a:pPr>
            <a:r>
              <a:rPr lang="en-US" altLang="zh-HK" dirty="0"/>
              <a:t>100 Mbps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5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014015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HK" dirty="0"/>
              <a:t>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HK" dirty="0"/>
          </a:p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6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59522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315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788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004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23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7277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496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85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4153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1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790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4285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7907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6339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6461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6055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46255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172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9/13/2025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763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FDC0F-AD5D-46F7-8FF0-065D11CDF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HK" sz="4800" dirty="0"/>
              <a:t>CS5222 Q&amp;A (Chapter 1)</a:t>
            </a:r>
            <a:endParaRPr lang="zh-HK" altLang="en-US" sz="48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FABD1C0-59BA-452E-9B84-1E27EFFA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94305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B23BAA-6A94-4191-822C-1662E0E6D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AD342A-CCCC-4BD2-8F4E-48943E2A6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this is </a:t>
            </a:r>
            <a:r>
              <a:rPr lang="en-US" altLang="zh-HK" b="1" dirty="0"/>
              <a:t>not</a:t>
            </a:r>
            <a:r>
              <a:rPr lang="en-US" altLang="zh-HK" dirty="0"/>
              <a:t> a network edge device?</a:t>
            </a:r>
            <a:br>
              <a:rPr lang="en-US" altLang="zh-HK" dirty="0"/>
            </a:br>
            <a:r>
              <a:rPr lang="en-US" altLang="zh-HK" dirty="0"/>
              <a:t>A) PC</a:t>
            </a:r>
            <a:br>
              <a:rPr lang="en-US" altLang="zh-HK" dirty="0"/>
            </a:br>
            <a:r>
              <a:rPr lang="en-US" altLang="zh-HK" dirty="0"/>
              <a:t>B) Smartphones</a:t>
            </a:r>
            <a:br>
              <a:rPr lang="en-US" altLang="zh-HK" dirty="0"/>
            </a:br>
            <a:r>
              <a:rPr lang="en-US" altLang="zh-HK" dirty="0"/>
              <a:t>C) Servers</a:t>
            </a:r>
            <a:br>
              <a:rPr lang="en-US" altLang="zh-HK" dirty="0"/>
            </a:br>
            <a:r>
              <a:rPr lang="en-US" altLang="zh-HK" dirty="0"/>
              <a:t>D) Router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3568731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719128-AD4F-436B-A6EB-C4EE2F354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5390BDB-D2F9-4E7D-9B97-FFF19B96F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HK" dirty="0"/>
              <a:t>(</a:t>
            </a:r>
            <a:r>
              <a:rPr lang="en-US" altLang="zh-HK" b="1" dirty="0"/>
              <a:t>Store-and-forward</a:t>
            </a:r>
            <a:r>
              <a:rPr lang="en-US" altLang="zh-HK" dirty="0"/>
              <a:t> transmission) Ignore queuing, propagation delay, and processing delay. What will be the end-to-end delay for sending 3 packets each of length L across 2 links?</a:t>
            </a:r>
          </a:p>
          <a:p>
            <a:pPr marL="514350" indent="-514350">
              <a:buFont typeface="+mj-lt"/>
              <a:buAutoNum type="alphaUcPeriod"/>
            </a:pPr>
            <a:r>
              <a:rPr lang="en-US" altLang="zh-HK" dirty="0"/>
              <a:t>3L/R</a:t>
            </a:r>
          </a:p>
          <a:p>
            <a:pPr marL="514350" indent="-514350">
              <a:buFont typeface="+mj-lt"/>
              <a:buAutoNum type="alphaUcPeriod"/>
            </a:pPr>
            <a:r>
              <a:rPr lang="en-US" altLang="zh-HK" dirty="0"/>
              <a:t>4L/R</a:t>
            </a:r>
          </a:p>
          <a:p>
            <a:pPr marL="514350" indent="-514350">
              <a:buFont typeface="+mj-lt"/>
              <a:buAutoNum type="alphaUcPeriod"/>
            </a:pPr>
            <a:r>
              <a:rPr lang="en-US" altLang="zh-HK" dirty="0"/>
              <a:t>5L/R</a:t>
            </a:r>
          </a:p>
          <a:p>
            <a:pPr marL="514350" indent="-514350">
              <a:buFont typeface="+mj-lt"/>
              <a:buAutoNum type="alphaUcPeriod"/>
            </a:pPr>
            <a:r>
              <a:rPr lang="en-US" altLang="zh-HK" dirty="0"/>
              <a:t>6L/R</a:t>
            </a:r>
          </a:p>
          <a:p>
            <a:pPr marL="514350" indent="-514350">
              <a:buAutoNum type="alphaUcPeriod"/>
            </a:pPr>
            <a:endParaRPr lang="en-US" altLang="zh-HK" dirty="0"/>
          </a:p>
          <a:p>
            <a:pPr marL="0" indent="0">
              <a:buNone/>
            </a:pPr>
            <a:endParaRPr lang="en-US" altLang="zh-HK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2B74FC61-6E3F-45BE-B383-651434815ED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7569" y="3528646"/>
            <a:ext cx="7514493" cy="218049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3385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655538-762C-69BC-D9ED-95E283F64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1AE33C7-B657-F44A-7996-62AC2F175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the following packet delay(s) is/are affected by network congestion?</a:t>
            </a:r>
          </a:p>
          <a:p>
            <a:r>
              <a:rPr lang="en-US" altLang="zh-HK" dirty="0"/>
              <a:t>A) nodal processing delay</a:t>
            </a:r>
          </a:p>
          <a:p>
            <a:r>
              <a:rPr lang="en-US" altLang="zh-HK" dirty="0"/>
              <a:t>B) queueing delay</a:t>
            </a:r>
          </a:p>
          <a:p>
            <a:r>
              <a:rPr lang="en-US" altLang="zh-HK" dirty="0"/>
              <a:t>C) transmission delay</a:t>
            </a:r>
          </a:p>
          <a:p>
            <a:r>
              <a:rPr lang="en-US" altLang="zh-HK" dirty="0"/>
              <a:t>D) propagation delay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102810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0113EE-EADB-4D9C-5E6B-3AE252B68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AA50F4-EE9D-D9D8-3EA7-689BDF356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HK" dirty="0"/>
              <a:t>Suppose you are using a modem with speed 100 Mbps for your wireless router with speed 54 Mbps. They are connecting your </a:t>
            </a:r>
            <a:r>
              <a:rPr lang="en-US" altLang="zh-HK" dirty="0" err="1"/>
              <a:t>smarthphone</a:t>
            </a:r>
            <a:r>
              <a:rPr lang="en-US" altLang="zh-HK" dirty="0"/>
              <a:t> to the Internet. During contract renewal, PCCW offers to give you a new Wi-Fi router of 1 Gbps to replace the old one. What is the end-to-end throughput of your smartphone if you accept this offer?</a:t>
            </a:r>
          </a:p>
          <a:p>
            <a:r>
              <a:rPr lang="en-US" altLang="zh-HK" dirty="0"/>
              <a:t>A) 100 Mbps </a:t>
            </a:r>
          </a:p>
          <a:p>
            <a:r>
              <a:rPr lang="en-US" altLang="zh-HK" dirty="0"/>
              <a:t>B) 54 Mbps</a:t>
            </a:r>
          </a:p>
          <a:p>
            <a:r>
              <a:rPr lang="en-US" altLang="zh-HK" dirty="0"/>
              <a:t>C) 154 Mbps </a:t>
            </a:r>
          </a:p>
          <a:p>
            <a:r>
              <a:rPr lang="en-US" altLang="zh-HK" dirty="0"/>
              <a:t>D) 1 Gbps </a:t>
            </a:r>
          </a:p>
          <a:p>
            <a:endParaRPr lang="zh-HK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C5A88EC-B6E6-2EAE-A8E2-C3873D441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918" y="3737315"/>
            <a:ext cx="4345081" cy="244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565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560AF5-7CD7-CB1D-BABD-F09B9663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8BC7FA-B698-03B5-4A32-9017C3368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What of the following statement(s) is/are true about the transport layer?</a:t>
            </a:r>
          </a:p>
          <a:p>
            <a:r>
              <a:rPr lang="en-US" altLang="zh-HK" dirty="0"/>
              <a:t>A) It is always providing a reliable process-process data transfer.</a:t>
            </a:r>
          </a:p>
          <a:p>
            <a:r>
              <a:rPr lang="en-US" altLang="zh-HK" dirty="0"/>
              <a:t>B) It is in Layer 4 of the Internet protocol stack.</a:t>
            </a:r>
          </a:p>
          <a:p>
            <a:r>
              <a:rPr lang="en-US" altLang="zh-HK" dirty="0"/>
              <a:t>C) It is providing services for the network layer below.</a:t>
            </a:r>
          </a:p>
          <a:p>
            <a:r>
              <a:rPr lang="en-US" altLang="zh-HK" dirty="0"/>
              <a:t>D) In the encapsulation, it adds a header to the segment and pass it to the application layer above.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131441306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109</TotalTime>
  <Words>289</Words>
  <Application>Microsoft Office PowerPoint</Application>
  <PresentationFormat>寬螢幕</PresentationFormat>
  <Paragraphs>33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Garamond</vt:lpstr>
      <vt:lpstr>有機</vt:lpstr>
      <vt:lpstr>CS5222 Q&amp;A (Chapter 1)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Q&amp;a (Chapter 1)</dc:title>
  <dc:creator>Man Hon Cheung (IEG)</dc:creator>
  <cp:lastModifiedBy>Prof. CHEUNG Man Hon Michael</cp:lastModifiedBy>
  <cp:revision>20</cp:revision>
  <dcterms:created xsi:type="dcterms:W3CDTF">2020-09-10T03:56:12Z</dcterms:created>
  <dcterms:modified xsi:type="dcterms:W3CDTF">2025-09-13T09:40:50Z</dcterms:modified>
</cp:coreProperties>
</file>