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60" r:id="rId2"/>
    <p:sldMasterId id="2147483672" r:id="rId3"/>
  </p:sldMasterIdLst>
  <p:notesMasterIdLst>
    <p:notesMasterId r:id="rId122"/>
  </p:notesMasterIdLst>
  <p:handoutMasterIdLst>
    <p:handoutMasterId r:id="rId123"/>
  </p:handoutMasterIdLst>
  <p:sldIdLst>
    <p:sldId id="499" r:id="rId4"/>
    <p:sldId id="256" r:id="rId5"/>
    <p:sldId id="365" r:id="rId6"/>
    <p:sldId id="258" r:id="rId7"/>
    <p:sldId id="549" r:id="rId8"/>
    <p:sldId id="368" r:id="rId9"/>
    <p:sldId id="259" r:id="rId10"/>
    <p:sldId id="466" r:id="rId11"/>
    <p:sldId id="467" r:id="rId12"/>
    <p:sldId id="261" r:id="rId13"/>
    <p:sldId id="371" r:id="rId14"/>
    <p:sldId id="372" r:id="rId15"/>
    <p:sldId id="373" r:id="rId16"/>
    <p:sldId id="547" r:id="rId17"/>
    <p:sldId id="469" r:id="rId18"/>
    <p:sldId id="470" r:id="rId19"/>
    <p:sldId id="263" r:id="rId20"/>
    <p:sldId id="264" r:id="rId21"/>
    <p:sldId id="265" r:id="rId22"/>
    <p:sldId id="445" r:id="rId23"/>
    <p:sldId id="471" r:id="rId24"/>
    <p:sldId id="408" r:id="rId25"/>
    <p:sldId id="446" r:id="rId26"/>
    <p:sldId id="447" r:id="rId27"/>
    <p:sldId id="531" r:id="rId28"/>
    <p:sldId id="410" r:id="rId29"/>
    <p:sldId id="548" r:id="rId30"/>
    <p:sldId id="550" r:id="rId31"/>
    <p:sldId id="517" r:id="rId32"/>
    <p:sldId id="518" r:id="rId33"/>
    <p:sldId id="519" r:id="rId34"/>
    <p:sldId id="520" r:id="rId35"/>
    <p:sldId id="521" r:id="rId36"/>
    <p:sldId id="522" r:id="rId37"/>
    <p:sldId id="523" r:id="rId38"/>
    <p:sldId id="524" r:id="rId39"/>
    <p:sldId id="525" r:id="rId40"/>
    <p:sldId id="526" r:id="rId41"/>
    <p:sldId id="527" r:id="rId42"/>
    <p:sldId id="528" r:id="rId43"/>
    <p:sldId id="529" r:id="rId44"/>
    <p:sldId id="532" r:id="rId45"/>
    <p:sldId id="472" r:id="rId46"/>
    <p:sldId id="473" r:id="rId47"/>
    <p:sldId id="456" r:id="rId48"/>
    <p:sldId id="427" r:id="rId49"/>
    <p:sldId id="428" r:id="rId50"/>
    <p:sldId id="429" r:id="rId51"/>
    <p:sldId id="530" r:id="rId52"/>
    <p:sldId id="457" r:id="rId53"/>
    <p:sldId id="458" r:id="rId54"/>
    <p:sldId id="431" r:id="rId55"/>
    <p:sldId id="432" r:id="rId56"/>
    <p:sldId id="533" r:id="rId57"/>
    <p:sldId id="433" r:id="rId58"/>
    <p:sldId id="434" r:id="rId59"/>
    <p:sldId id="459" r:id="rId60"/>
    <p:sldId id="436" r:id="rId61"/>
    <p:sldId id="437" r:id="rId62"/>
    <p:sldId id="475" r:id="rId63"/>
    <p:sldId id="320" r:id="rId64"/>
    <p:sldId id="321" r:id="rId65"/>
    <p:sldId id="322" r:id="rId66"/>
    <p:sldId id="504" r:id="rId67"/>
    <p:sldId id="534" r:id="rId68"/>
    <p:sldId id="485" r:id="rId69"/>
    <p:sldId id="503" r:id="rId70"/>
    <p:sldId id="378" r:id="rId71"/>
    <p:sldId id="379" r:id="rId72"/>
    <p:sldId id="381" r:id="rId73"/>
    <p:sldId id="476" r:id="rId74"/>
    <p:sldId id="383" r:id="rId75"/>
    <p:sldId id="506" r:id="rId76"/>
    <p:sldId id="505" r:id="rId77"/>
    <p:sldId id="384" r:id="rId78"/>
    <p:sldId id="326" r:id="rId79"/>
    <p:sldId id="480" r:id="rId80"/>
    <p:sldId id="386" r:id="rId81"/>
    <p:sldId id="451" r:id="rId82"/>
    <p:sldId id="481" r:id="rId83"/>
    <p:sldId id="482" r:id="rId84"/>
    <p:sldId id="483" r:id="rId85"/>
    <p:sldId id="484" r:id="rId86"/>
    <p:sldId id="486" r:id="rId87"/>
    <p:sldId id="489" r:id="rId88"/>
    <p:sldId id="490" r:id="rId89"/>
    <p:sldId id="492" r:id="rId90"/>
    <p:sldId id="491" r:id="rId91"/>
    <p:sldId id="493" r:id="rId92"/>
    <p:sldId id="334" r:id="rId93"/>
    <p:sldId id="535" r:id="rId94"/>
    <p:sldId id="536" r:id="rId95"/>
    <p:sldId id="537" r:id="rId96"/>
    <p:sldId id="538" r:id="rId97"/>
    <p:sldId id="539" r:id="rId98"/>
    <p:sldId id="540" r:id="rId99"/>
    <p:sldId id="541" r:id="rId100"/>
    <p:sldId id="542" r:id="rId101"/>
    <p:sldId id="543" r:id="rId102"/>
    <p:sldId id="340" r:id="rId103"/>
    <p:sldId id="498" r:id="rId104"/>
    <p:sldId id="544" r:id="rId105"/>
    <p:sldId id="394" r:id="rId106"/>
    <p:sldId id="508" r:id="rId107"/>
    <p:sldId id="509" r:id="rId108"/>
    <p:sldId id="510" r:id="rId109"/>
    <p:sldId id="398" r:id="rId110"/>
    <p:sldId id="514" r:id="rId111"/>
    <p:sldId id="511" r:id="rId112"/>
    <p:sldId id="512" r:id="rId113"/>
    <p:sldId id="513" r:id="rId114"/>
    <p:sldId id="400" r:id="rId115"/>
    <p:sldId id="551" r:id="rId116"/>
    <p:sldId id="545" r:id="rId117"/>
    <p:sldId id="347" r:id="rId118"/>
    <p:sldId id="348" r:id="rId119"/>
    <p:sldId id="401" r:id="rId120"/>
    <p:sldId id="354" r:id="rId121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Tahom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DDDDDD"/>
    <a:srgbClr val="FFCCFF"/>
    <a:srgbClr val="FF99CC"/>
    <a:srgbClr val="000099"/>
    <a:srgbClr val="CC0000"/>
    <a:srgbClr val="FF66FF"/>
    <a:srgbClr val="7777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7" autoAdjust="0"/>
    <p:restoredTop sz="79571" autoAdjust="0"/>
  </p:normalViewPr>
  <p:slideViewPr>
    <p:cSldViewPr snapToGrid="0">
      <p:cViewPr varScale="1">
        <p:scale>
          <a:sx n="67" d="100"/>
          <a:sy n="67" d="100"/>
        </p:scale>
        <p:origin x="1800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008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117" Type="http://schemas.openxmlformats.org/officeDocument/2006/relationships/slide" Target="slides/slide114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12" Type="http://schemas.openxmlformats.org/officeDocument/2006/relationships/slide" Target="slides/slide109.xml"/><Relationship Id="rId16" Type="http://schemas.openxmlformats.org/officeDocument/2006/relationships/slide" Target="slides/slide13.xml"/><Relationship Id="rId107" Type="http://schemas.openxmlformats.org/officeDocument/2006/relationships/slide" Target="slides/slide104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slide" Target="slides/slide99.xml"/><Relationship Id="rId123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113" Type="http://schemas.openxmlformats.org/officeDocument/2006/relationships/slide" Target="slides/slide110.xml"/><Relationship Id="rId118" Type="http://schemas.openxmlformats.org/officeDocument/2006/relationships/slide" Target="slides/slide115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slide" Target="slides/slide100.xml"/><Relationship Id="rId108" Type="http://schemas.openxmlformats.org/officeDocument/2006/relationships/slide" Target="slides/slide105.xml"/><Relationship Id="rId124" Type="http://schemas.openxmlformats.org/officeDocument/2006/relationships/presProps" Target="presProps.xml"/><Relationship Id="rId54" Type="http://schemas.openxmlformats.org/officeDocument/2006/relationships/slide" Target="slides/slide51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49" Type="http://schemas.openxmlformats.org/officeDocument/2006/relationships/slide" Target="slides/slide46.xml"/><Relationship Id="rId114" Type="http://schemas.openxmlformats.org/officeDocument/2006/relationships/slide" Target="slides/slide111.xml"/><Relationship Id="rId119" Type="http://schemas.openxmlformats.org/officeDocument/2006/relationships/slide" Target="slides/slide116.xml"/><Relationship Id="rId44" Type="http://schemas.openxmlformats.org/officeDocument/2006/relationships/slide" Target="slides/slide41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109" Type="http://schemas.openxmlformats.org/officeDocument/2006/relationships/slide" Target="slides/slide10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slide" Target="slides/slide101.xml"/><Relationship Id="rId120" Type="http://schemas.openxmlformats.org/officeDocument/2006/relationships/slide" Target="slides/slide117.xml"/><Relationship Id="rId125" Type="http://schemas.openxmlformats.org/officeDocument/2006/relationships/viewProps" Target="viewProps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110" Type="http://schemas.openxmlformats.org/officeDocument/2006/relationships/slide" Target="slides/slide107.xml"/><Relationship Id="rId115" Type="http://schemas.openxmlformats.org/officeDocument/2006/relationships/slide" Target="slides/slide112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slide" Target="slides/slide97.xml"/><Relationship Id="rId105" Type="http://schemas.openxmlformats.org/officeDocument/2006/relationships/slide" Target="slides/slide102.xml"/><Relationship Id="rId126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121" Type="http://schemas.openxmlformats.org/officeDocument/2006/relationships/slide" Target="slides/slide118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Relationship Id="rId116" Type="http://schemas.openxmlformats.org/officeDocument/2006/relationships/slide" Target="slides/slide11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62" Type="http://schemas.openxmlformats.org/officeDocument/2006/relationships/slide" Target="slides/slide59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111" Type="http://schemas.openxmlformats.org/officeDocument/2006/relationships/slide" Target="slides/slide108.xml"/><Relationship Id="rId15" Type="http://schemas.openxmlformats.org/officeDocument/2006/relationships/slide" Target="slides/slide12.xml"/><Relationship Id="rId36" Type="http://schemas.openxmlformats.org/officeDocument/2006/relationships/slide" Target="slides/slide33.xml"/><Relationship Id="rId57" Type="http://schemas.openxmlformats.org/officeDocument/2006/relationships/slide" Target="slides/slide54.xml"/><Relationship Id="rId106" Type="http://schemas.openxmlformats.org/officeDocument/2006/relationships/slide" Target="slides/slide103.xml"/><Relationship Id="rId127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52" Type="http://schemas.openxmlformats.org/officeDocument/2006/relationships/slide" Target="slides/slide49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slide" Target="slides/slide98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>
            <a:extLst>
              <a:ext uri="{FF2B5EF4-FFF2-40B4-BE49-F238E27FC236}">
                <a16:creationId xmlns:a16="http://schemas.microsoft.com/office/drawing/2014/main" id="{9AB551BB-4164-43B2-90FD-DCEA7140C1F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algn="l" defTabSz="966027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8547" name="Rectangle 3">
            <a:extLst>
              <a:ext uri="{FF2B5EF4-FFF2-40B4-BE49-F238E27FC236}">
                <a16:creationId xmlns:a16="http://schemas.microsoft.com/office/drawing/2014/main" id="{3E1FD2B9-374C-42AF-8D3D-54539288839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4963" y="0"/>
            <a:ext cx="3170237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algn="r" defTabSz="966027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8548" name="Rectangle 4">
            <a:extLst>
              <a:ext uri="{FF2B5EF4-FFF2-40B4-BE49-F238E27FC236}">
                <a16:creationId xmlns:a16="http://schemas.microsoft.com/office/drawing/2014/main" id="{1481F787-015F-4676-A828-F28617265232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algn="l" defTabSz="966027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8549" name="Rectangle 5">
            <a:extLst>
              <a:ext uri="{FF2B5EF4-FFF2-40B4-BE49-F238E27FC236}">
                <a16:creationId xmlns:a16="http://schemas.microsoft.com/office/drawing/2014/main" id="{178786F9-C57D-4090-9796-20666EB781F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0188"/>
            <a:ext cx="3170237" cy="481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85450FEF-39CB-4BF0-8754-95D66555528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28C2447E-AADD-4A40-851D-60806874268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algn="l" defTabSz="966027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B6C2E43A-4F88-4CAF-A615-6A9B4860A8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algn="r" defTabSz="966027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26628" name="Rectangle 4">
            <a:extLst>
              <a:ext uri="{FF2B5EF4-FFF2-40B4-BE49-F238E27FC236}">
                <a16:creationId xmlns:a16="http://schemas.microsoft.com/office/drawing/2014/main" id="{9407439A-7438-48A8-B9FA-CAED984D2605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19138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C2C970B6-DBF9-4BD6-AE9A-D7B2C0DFBD4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3BE04509-1377-4BF9-BBDB-479066C5A9B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algn="l" defTabSz="966027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5DECF450-F19E-4B1E-BC3B-3FD93E8D0E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0188"/>
            <a:ext cx="3170237" cy="481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4BCD7AD9-03E5-4EFA-9FB5-DCD0222A649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274139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67001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>
            <a:extLst>
              <a:ext uri="{FF2B5EF4-FFF2-40B4-BE49-F238E27FC236}">
                <a16:creationId xmlns:a16="http://schemas.microsoft.com/office/drawing/2014/main" id="{94E1BE8C-528C-46E4-B67A-D0147E428E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>
            <a:extLst>
              <a:ext uri="{FF2B5EF4-FFF2-40B4-BE49-F238E27FC236}">
                <a16:creationId xmlns:a16="http://schemas.microsoft.com/office/drawing/2014/main" id="{A1DE79D9-1ECF-4C31-867A-19BFFC1CA9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32772" name="Slide Number Placeholder 3">
            <a:extLst>
              <a:ext uri="{FF2B5EF4-FFF2-40B4-BE49-F238E27FC236}">
                <a16:creationId xmlns:a16="http://schemas.microsoft.com/office/drawing/2014/main" id="{8AACBB2D-7A2B-4C86-A5E9-FCA6ABFF2CB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94E46997-BEBE-40A8-AFCD-0625C5B5FEEC}" type="slidenum">
              <a:rPr lang="en-US" altLang="zh-TW" sz="1200" smtClean="0">
                <a:latin typeface="Times New Roman" panose="02020603050405020304" pitchFamily="18" charset="0"/>
              </a:rPr>
              <a:pPr/>
              <a:t>4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940623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>
            <a:extLst>
              <a:ext uri="{FF2B5EF4-FFF2-40B4-BE49-F238E27FC236}">
                <a16:creationId xmlns:a16="http://schemas.microsoft.com/office/drawing/2014/main" id="{04482D15-788A-4993-9231-E6ED241DFE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>
            <a:extLst>
              <a:ext uri="{FF2B5EF4-FFF2-40B4-BE49-F238E27FC236}">
                <a16:creationId xmlns:a16="http://schemas.microsoft.com/office/drawing/2014/main" id="{CACA3BAD-DBAE-463F-921F-A939BC8FAC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34820" name="Slide Number Placeholder 3">
            <a:extLst>
              <a:ext uri="{FF2B5EF4-FFF2-40B4-BE49-F238E27FC236}">
                <a16:creationId xmlns:a16="http://schemas.microsoft.com/office/drawing/2014/main" id="{ABF22B13-A587-4E0D-A09D-FEC22F46215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17B5F5F4-8DEE-4D3C-8C41-5B22A1AB5A8D}" type="slidenum">
              <a:rPr lang="en-US" altLang="zh-TW" sz="1200" smtClean="0">
                <a:latin typeface="Times New Roman" panose="02020603050405020304" pitchFamily="18" charset="0"/>
              </a:rPr>
              <a:pPr/>
              <a:t>6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266865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>
            <a:extLst>
              <a:ext uri="{FF2B5EF4-FFF2-40B4-BE49-F238E27FC236}">
                <a16:creationId xmlns:a16="http://schemas.microsoft.com/office/drawing/2014/main" id="{6D20B894-5967-4CA0-8DE0-72BD4B15C9B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>
            <a:extLst>
              <a:ext uri="{FF2B5EF4-FFF2-40B4-BE49-F238E27FC236}">
                <a16:creationId xmlns:a16="http://schemas.microsoft.com/office/drawing/2014/main" id="{E8DD8B32-227A-4160-8D86-983F9664228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38916" name="Slide Number Placeholder 3">
            <a:extLst>
              <a:ext uri="{FF2B5EF4-FFF2-40B4-BE49-F238E27FC236}">
                <a16:creationId xmlns:a16="http://schemas.microsoft.com/office/drawing/2014/main" id="{A8EAC8E8-A072-49A1-929D-FAA9C34EEC2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7AE81FDB-310F-4BAD-B9A6-733D97CB7E32}" type="slidenum">
              <a:rPr lang="en-US" altLang="zh-TW" sz="1200" smtClean="0">
                <a:latin typeface="Times New Roman" panose="02020603050405020304" pitchFamily="18" charset="0"/>
              </a:rPr>
              <a:pPr/>
              <a:t>9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>
            <a:extLst>
              <a:ext uri="{FF2B5EF4-FFF2-40B4-BE49-F238E27FC236}">
                <a16:creationId xmlns:a16="http://schemas.microsoft.com/office/drawing/2014/main" id="{517A666B-8388-411A-B505-C7FEB7037A8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>
            <a:extLst>
              <a:ext uri="{FF2B5EF4-FFF2-40B4-BE49-F238E27FC236}">
                <a16:creationId xmlns:a16="http://schemas.microsoft.com/office/drawing/2014/main" id="{0B822EAD-DF94-40C3-AED2-FE23F7EC140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0964" name="Slide Number Placeholder 3">
            <a:extLst>
              <a:ext uri="{FF2B5EF4-FFF2-40B4-BE49-F238E27FC236}">
                <a16:creationId xmlns:a16="http://schemas.microsoft.com/office/drawing/2014/main" id="{63D11B5B-BBA3-4C09-9DAB-2D8C6D8113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807DBB4A-9EEA-4194-8327-9B84121D0BFE}" type="slidenum">
              <a:rPr lang="en-US" altLang="zh-TW" sz="1200" smtClean="0">
                <a:latin typeface="Times New Roman" panose="02020603050405020304" pitchFamily="18" charset="0"/>
              </a:rPr>
              <a:pPr/>
              <a:t>10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556741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111041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180231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322320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228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28274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755971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155639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>
            <a:extLst>
              <a:ext uri="{FF2B5EF4-FFF2-40B4-BE49-F238E27FC236}">
                <a16:creationId xmlns:a16="http://schemas.microsoft.com/office/drawing/2014/main" id="{406B6C83-57E1-4FDB-9090-6500AC44A7E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60878617-00BF-4106-BB6D-DF965BDF5177}" type="slidenum">
              <a:rPr lang="en-US" altLang="zh-TW" sz="1200" smtClean="0">
                <a:latin typeface="Times New Roman" panose="02020603050405020304" pitchFamily="18" charset="0"/>
              </a:rPr>
              <a:pPr/>
              <a:t>20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  <p:sp>
        <p:nvSpPr>
          <p:cNvPr id="54275" name="Rectangle 2">
            <a:extLst>
              <a:ext uri="{FF2B5EF4-FFF2-40B4-BE49-F238E27FC236}">
                <a16:creationId xmlns:a16="http://schemas.microsoft.com/office/drawing/2014/main" id="{933565F1-6126-427F-8259-3B543988D2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4692" name="Rectangle 3">
            <a:extLst>
              <a:ext uri="{FF2B5EF4-FFF2-40B4-BE49-F238E27FC236}">
                <a16:creationId xmlns:a16="http://schemas.microsoft.com/office/drawing/2014/main" id="{2AD42F11-6E5D-488F-A67B-CC763FD167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Slide Image Placeholder 1">
            <a:extLst>
              <a:ext uri="{FF2B5EF4-FFF2-40B4-BE49-F238E27FC236}">
                <a16:creationId xmlns:a16="http://schemas.microsoft.com/office/drawing/2014/main" id="{47D2BC1D-8822-47F9-A103-103AF81BF1F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7" name="Notes Placeholder 2">
            <a:extLst>
              <a:ext uri="{FF2B5EF4-FFF2-40B4-BE49-F238E27FC236}">
                <a16:creationId xmlns:a16="http://schemas.microsoft.com/office/drawing/2014/main" id="{05171404-C898-4504-B047-4BE4AA253F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HK" dirty="0"/>
          </a:p>
        </p:txBody>
      </p:sp>
      <p:sp>
        <p:nvSpPr>
          <p:cNvPr id="57348" name="Slide Number Placeholder 3">
            <a:extLst>
              <a:ext uri="{FF2B5EF4-FFF2-40B4-BE49-F238E27FC236}">
                <a16:creationId xmlns:a16="http://schemas.microsoft.com/office/drawing/2014/main" id="{98836155-404A-4A84-9F63-2D3B2B5E34E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780FD0C0-30D5-4772-B6B8-4F804686AC91}" type="slidenum">
              <a:rPr lang="en-US" altLang="zh-TW" sz="1200" smtClean="0">
                <a:latin typeface="Times New Roman" panose="02020603050405020304" pitchFamily="18" charset="0"/>
              </a:rPr>
              <a:pPr/>
              <a:t>22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Slide Image Placeholder 1">
            <a:extLst>
              <a:ext uri="{FF2B5EF4-FFF2-40B4-BE49-F238E27FC236}">
                <a16:creationId xmlns:a16="http://schemas.microsoft.com/office/drawing/2014/main" id="{4A2147DB-E16D-4A17-9A36-4E10E63EF36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Notes Placeholder 2">
            <a:extLst>
              <a:ext uri="{FF2B5EF4-FFF2-40B4-BE49-F238E27FC236}">
                <a16:creationId xmlns:a16="http://schemas.microsoft.com/office/drawing/2014/main" id="{1FE0BE1D-2039-4EA1-B4E7-04C9384208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59396" name="Slide Number Placeholder 3">
            <a:extLst>
              <a:ext uri="{FF2B5EF4-FFF2-40B4-BE49-F238E27FC236}">
                <a16:creationId xmlns:a16="http://schemas.microsoft.com/office/drawing/2014/main" id="{1952D281-7598-4C2C-A81B-BB8E6407BCD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505735CC-7CA4-488E-AF7C-AFA824F726B2}" type="slidenum">
              <a:rPr lang="en-US" altLang="zh-TW" sz="1200" smtClean="0">
                <a:latin typeface="Times New Roman" panose="02020603050405020304" pitchFamily="18" charset="0"/>
              </a:rPr>
              <a:pPr/>
              <a:t>23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Slide Image Placeholder 1">
            <a:extLst>
              <a:ext uri="{FF2B5EF4-FFF2-40B4-BE49-F238E27FC236}">
                <a16:creationId xmlns:a16="http://schemas.microsoft.com/office/drawing/2014/main" id="{61A88F2D-6718-49CB-9667-B01864013D7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Notes Placeholder 2">
            <a:extLst>
              <a:ext uri="{FF2B5EF4-FFF2-40B4-BE49-F238E27FC236}">
                <a16:creationId xmlns:a16="http://schemas.microsoft.com/office/drawing/2014/main" id="{B96B601D-00E5-41D1-9E74-4758F60E15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61444" name="Slide Number Placeholder 3">
            <a:extLst>
              <a:ext uri="{FF2B5EF4-FFF2-40B4-BE49-F238E27FC236}">
                <a16:creationId xmlns:a16="http://schemas.microsoft.com/office/drawing/2014/main" id="{9071C362-34D2-4D75-A9A2-CCDA59256C3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21AE21D6-5B63-4C2B-9234-F40A5C01EB42}" type="slidenum">
              <a:rPr lang="en-US" altLang="zh-TW" sz="1200" smtClean="0">
                <a:latin typeface="Times New Roman" panose="02020603050405020304" pitchFamily="18" charset="0"/>
              </a:rPr>
              <a:pPr/>
              <a:t>24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25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133228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Slide Image Placeholder 1">
            <a:extLst>
              <a:ext uri="{FF2B5EF4-FFF2-40B4-BE49-F238E27FC236}">
                <a16:creationId xmlns:a16="http://schemas.microsoft.com/office/drawing/2014/main" id="{CF764A5C-7A04-4DE9-87E1-E1B15F7DE2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5" name="Notes Placeholder 2">
            <a:extLst>
              <a:ext uri="{FF2B5EF4-FFF2-40B4-BE49-F238E27FC236}">
                <a16:creationId xmlns:a16="http://schemas.microsoft.com/office/drawing/2014/main" id="{674813E8-CE27-4092-8D5D-01DC3F2595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64516" name="Slide Number Placeholder 3">
            <a:extLst>
              <a:ext uri="{FF2B5EF4-FFF2-40B4-BE49-F238E27FC236}">
                <a16:creationId xmlns:a16="http://schemas.microsoft.com/office/drawing/2014/main" id="{431EC692-30F3-4494-A70C-19A9A110CF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2CF14CE8-7A8A-4F82-AD26-2A5EDDA60646}" type="slidenum">
              <a:rPr lang="en-US" altLang="zh-TW" sz="1200" smtClean="0">
                <a:latin typeface="Times New Roman" panose="02020603050405020304" pitchFamily="18" charset="0"/>
              </a:rPr>
              <a:pPr/>
              <a:t>26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Slide Image Placeholder 1">
            <a:extLst>
              <a:ext uri="{FF2B5EF4-FFF2-40B4-BE49-F238E27FC236}">
                <a16:creationId xmlns:a16="http://schemas.microsoft.com/office/drawing/2014/main" id="{CF764A5C-7A04-4DE9-87E1-E1B15F7DE2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5" name="Notes Placeholder 2">
            <a:extLst>
              <a:ext uri="{FF2B5EF4-FFF2-40B4-BE49-F238E27FC236}">
                <a16:creationId xmlns:a16="http://schemas.microsoft.com/office/drawing/2014/main" id="{674813E8-CE27-4092-8D5D-01DC3F2595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64516" name="Slide Number Placeholder 3">
            <a:extLst>
              <a:ext uri="{FF2B5EF4-FFF2-40B4-BE49-F238E27FC236}">
                <a16:creationId xmlns:a16="http://schemas.microsoft.com/office/drawing/2014/main" id="{431EC692-30F3-4494-A70C-19A9A110CF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2CF14CE8-7A8A-4F82-AD26-2A5EDDA60646}" type="slidenum">
              <a:rPr lang="en-US" altLang="zh-TW" sz="1200" smtClean="0">
                <a:latin typeface="Times New Roman" panose="02020603050405020304" pitchFamily="18" charset="0"/>
              </a:rPr>
              <a:pPr/>
              <a:t>27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96700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Slide Image Placeholder 1">
            <a:extLst>
              <a:ext uri="{FF2B5EF4-FFF2-40B4-BE49-F238E27FC236}">
                <a16:creationId xmlns:a16="http://schemas.microsoft.com/office/drawing/2014/main" id="{B5851D27-CD19-4DB5-BA23-53A3548CCD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3" name="Notes Placeholder 2">
            <a:extLst>
              <a:ext uri="{FF2B5EF4-FFF2-40B4-BE49-F238E27FC236}">
                <a16:creationId xmlns:a16="http://schemas.microsoft.com/office/drawing/2014/main" id="{B34AB7EB-ABBE-46CA-BBAF-CB0E07DE9B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66564" name="Slide Number Placeholder 3">
            <a:extLst>
              <a:ext uri="{FF2B5EF4-FFF2-40B4-BE49-F238E27FC236}">
                <a16:creationId xmlns:a16="http://schemas.microsoft.com/office/drawing/2014/main" id="{8D7D1EA2-4053-452D-A7F2-DC4B7283AB4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A29FB424-49E4-421D-8D47-97720B1CE0B7}" type="slidenum">
              <a:rPr lang="en-US" altLang="zh-TW" sz="1200" smtClean="0">
                <a:latin typeface="Times New Roman" panose="02020603050405020304" pitchFamily="18" charset="0"/>
              </a:rPr>
              <a:pPr/>
              <a:t>28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006282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Slide Image Placeholder 1">
            <a:extLst>
              <a:ext uri="{FF2B5EF4-FFF2-40B4-BE49-F238E27FC236}">
                <a16:creationId xmlns:a16="http://schemas.microsoft.com/office/drawing/2014/main" id="{FA34E31B-9FB9-4D92-A8F3-5C40A1270B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1" name="Notes Placeholder 2">
            <a:extLst>
              <a:ext uri="{FF2B5EF4-FFF2-40B4-BE49-F238E27FC236}">
                <a16:creationId xmlns:a16="http://schemas.microsoft.com/office/drawing/2014/main" id="{560A038A-B697-4346-900F-81ACCE5E5B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68612" name="Slide Number Placeholder 3">
            <a:extLst>
              <a:ext uri="{FF2B5EF4-FFF2-40B4-BE49-F238E27FC236}">
                <a16:creationId xmlns:a16="http://schemas.microsoft.com/office/drawing/2014/main" id="{CC71E03B-A383-49F4-AE4F-44D0BB060A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28379E5F-533B-4B6E-98FF-6D25A76029FA}" type="slidenum">
              <a:rPr lang="en-US" altLang="zh-TW" sz="1200" smtClean="0">
                <a:latin typeface="Times New Roman" panose="02020603050405020304" pitchFamily="18" charset="0"/>
              </a:rPr>
              <a:pPr/>
              <a:t>29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Slide Image Placeholder 1">
            <a:extLst>
              <a:ext uri="{FF2B5EF4-FFF2-40B4-BE49-F238E27FC236}">
                <a16:creationId xmlns:a16="http://schemas.microsoft.com/office/drawing/2014/main" id="{83DCD779-B0FB-4979-9D1D-0CEA49FE5E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59" name="Notes Placeholder 2">
            <a:extLst>
              <a:ext uri="{FF2B5EF4-FFF2-40B4-BE49-F238E27FC236}">
                <a16:creationId xmlns:a16="http://schemas.microsoft.com/office/drawing/2014/main" id="{0E44DBB1-EDDF-4EF1-8E26-3DBAEE23BAF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70660" name="Slide Number Placeholder 3">
            <a:extLst>
              <a:ext uri="{FF2B5EF4-FFF2-40B4-BE49-F238E27FC236}">
                <a16:creationId xmlns:a16="http://schemas.microsoft.com/office/drawing/2014/main" id="{5E4C87F6-6771-430E-AB42-F4FE0AEC99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CF7909D0-AE74-408F-A026-456A9349B5E7}" type="slidenum">
              <a:rPr lang="en-US" altLang="zh-TW" sz="1200" smtClean="0">
                <a:latin typeface="Times New Roman" panose="02020603050405020304" pitchFamily="18" charset="0"/>
              </a:rPr>
              <a:pPr/>
              <a:t>30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Slide Image Placeholder 1">
            <a:extLst>
              <a:ext uri="{FF2B5EF4-FFF2-40B4-BE49-F238E27FC236}">
                <a16:creationId xmlns:a16="http://schemas.microsoft.com/office/drawing/2014/main" id="{7C927FF2-A851-4084-86A2-8A43E6EE830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7" name="Notes Placeholder 2">
            <a:extLst>
              <a:ext uri="{FF2B5EF4-FFF2-40B4-BE49-F238E27FC236}">
                <a16:creationId xmlns:a16="http://schemas.microsoft.com/office/drawing/2014/main" id="{A9BCEB37-31C8-4A70-BFF1-6C0F124D2F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72708" name="Slide Number Placeholder 3">
            <a:extLst>
              <a:ext uri="{FF2B5EF4-FFF2-40B4-BE49-F238E27FC236}">
                <a16:creationId xmlns:a16="http://schemas.microsoft.com/office/drawing/2014/main" id="{98910295-CCC7-4D71-8355-76A3C2DC2A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8D97F801-B693-44C3-B094-C7CE93E52258}" type="slidenum">
              <a:rPr lang="en-US" altLang="zh-TW" sz="1200" smtClean="0">
                <a:latin typeface="Times New Roman" panose="02020603050405020304" pitchFamily="18" charset="0"/>
              </a:rPr>
              <a:pPr/>
              <a:t>31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Slide Image Placeholder 1">
            <a:extLst>
              <a:ext uri="{FF2B5EF4-FFF2-40B4-BE49-F238E27FC236}">
                <a16:creationId xmlns:a16="http://schemas.microsoft.com/office/drawing/2014/main" id="{9BEF925B-6F32-44DB-B746-7BCE4E7DF44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5" name="Notes Placeholder 2">
            <a:extLst>
              <a:ext uri="{FF2B5EF4-FFF2-40B4-BE49-F238E27FC236}">
                <a16:creationId xmlns:a16="http://schemas.microsoft.com/office/drawing/2014/main" id="{23B0C485-1C9A-4552-93EB-2F86954469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74756" name="Slide Number Placeholder 3">
            <a:extLst>
              <a:ext uri="{FF2B5EF4-FFF2-40B4-BE49-F238E27FC236}">
                <a16:creationId xmlns:a16="http://schemas.microsoft.com/office/drawing/2014/main" id="{FAFAD165-7C85-4063-ABED-C8F7D12E8E9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277253BC-5B3D-44F4-B97D-C4325A3E4DF2}" type="slidenum">
              <a:rPr lang="en-US" altLang="zh-TW" sz="1200" smtClean="0">
                <a:latin typeface="Times New Roman" panose="02020603050405020304" pitchFamily="18" charset="0"/>
              </a:rPr>
              <a:pPr/>
              <a:t>32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Slide Image Placeholder 1">
            <a:extLst>
              <a:ext uri="{FF2B5EF4-FFF2-40B4-BE49-F238E27FC236}">
                <a16:creationId xmlns:a16="http://schemas.microsoft.com/office/drawing/2014/main" id="{099E8AEB-FD90-46B1-9D43-5A810482C2A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3" name="Notes Placeholder 2">
            <a:extLst>
              <a:ext uri="{FF2B5EF4-FFF2-40B4-BE49-F238E27FC236}">
                <a16:creationId xmlns:a16="http://schemas.microsoft.com/office/drawing/2014/main" id="{ED799561-4FC8-4C7F-BA95-672F6D0EBD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76804" name="Slide Number Placeholder 3">
            <a:extLst>
              <a:ext uri="{FF2B5EF4-FFF2-40B4-BE49-F238E27FC236}">
                <a16:creationId xmlns:a16="http://schemas.microsoft.com/office/drawing/2014/main" id="{34C732D6-70AA-44DD-8BC1-9A2E57B365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369027BC-ED0D-4349-B8FB-97D99054BB31}" type="slidenum">
              <a:rPr lang="en-US" altLang="zh-TW" sz="1200" smtClean="0">
                <a:latin typeface="Times New Roman" panose="02020603050405020304" pitchFamily="18" charset="0"/>
              </a:rPr>
              <a:pPr/>
              <a:t>33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34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937161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Slide Image Placeholder 1">
            <a:extLst>
              <a:ext uri="{FF2B5EF4-FFF2-40B4-BE49-F238E27FC236}">
                <a16:creationId xmlns:a16="http://schemas.microsoft.com/office/drawing/2014/main" id="{4CF4D1DB-717E-41EC-B26A-00AECA32062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5" name="Notes Placeholder 2">
            <a:extLst>
              <a:ext uri="{FF2B5EF4-FFF2-40B4-BE49-F238E27FC236}">
                <a16:creationId xmlns:a16="http://schemas.microsoft.com/office/drawing/2014/main" id="{47D7F72C-61D9-4475-9FA1-DAAAEF8521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79876" name="Slide Number Placeholder 3">
            <a:extLst>
              <a:ext uri="{FF2B5EF4-FFF2-40B4-BE49-F238E27FC236}">
                <a16:creationId xmlns:a16="http://schemas.microsoft.com/office/drawing/2014/main" id="{16930328-A5CE-4B00-B5CE-1C7A324C744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6F2AFC6A-E372-4833-AD7C-2BFFA828289C}" type="slidenum">
              <a:rPr lang="en-US" altLang="zh-TW" sz="1200" smtClean="0">
                <a:latin typeface="Times New Roman" panose="02020603050405020304" pitchFamily="18" charset="0"/>
              </a:rPr>
              <a:pPr/>
              <a:t>35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Slide Image Placeholder 1">
            <a:extLst>
              <a:ext uri="{FF2B5EF4-FFF2-40B4-BE49-F238E27FC236}">
                <a16:creationId xmlns:a16="http://schemas.microsoft.com/office/drawing/2014/main" id="{38DBD57D-A0E3-440A-B321-441FA7E4BDC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3" name="Notes Placeholder 2">
            <a:extLst>
              <a:ext uri="{FF2B5EF4-FFF2-40B4-BE49-F238E27FC236}">
                <a16:creationId xmlns:a16="http://schemas.microsoft.com/office/drawing/2014/main" id="{A347A013-8494-494A-87F0-3D07438295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81924" name="Slide Number Placeholder 3">
            <a:extLst>
              <a:ext uri="{FF2B5EF4-FFF2-40B4-BE49-F238E27FC236}">
                <a16:creationId xmlns:a16="http://schemas.microsoft.com/office/drawing/2014/main" id="{4EAB2E01-F55C-413F-982B-CE726A3197B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32A9DE03-54E3-44D1-AE10-94B8B7ADCD9F}" type="slidenum">
              <a:rPr lang="en-US" altLang="zh-TW" sz="1200" smtClean="0">
                <a:latin typeface="Times New Roman" panose="02020603050405020304" pitchFamily="18" charset="0"/>
              </a:rPr>
              <a:pPr/>
              <a:t>36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Slide Image Placeholder 1">
            <a:extLst>
              <a:ext uri="{FF2B5EF4-FFF2-40B4-BE49-F238E27FC236}">
                <a16:creationId xmlns:a16="http://schemas.microsoft.com/office/drawing/2014/main" id="{DB70049D-D9B6-43AD-8784-B0D508C6C6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3971" name="Notes Placeholder 2">
            <a:extLst>
              <a:ext uri="{FF2B5EF4-FFF2-40B4-BE49-F238E27FC236}">
                <a16:creationId xmlns:a16="http://schemas.microsoft.com/office/drawing/2014/main" id="{C0C3E722-E249-4F31-BFA1-3C5FCC29E8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83972" name="Slide Number Placeholder 3">
            <a:extLst>
              <a:ext uri="{FF2B5EF4-FFF2-40B4-BE49-F238E27FC236}">
                <a16:creationId xmlns:a16="http://schemas.microsoft.com/office/drawing/2014/main" id="{F76DA1BE-4227-4B64-BABC-F96A0F5C32C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E7ACD02D-6EDA-465C-A64E-10567EE87FFB}" type="slidenum">
              <a:rPr lang="en-US" altLang="zh-TW" sz="1200" smtClean="0">
                <a:latin typeface="Times New Roman" panose="02020603050405020304" pitchFamily="18" charset="0"/>
              </a:rPr>
              <a:pPr/>
              <a:t>37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Slide Image Placeholder 1">
            <a:extLst>
              <a:ext uri="{FF2B5EF4-FFF2-40B4-BE49-F238E27FC236}">
                <a16:creationId xmlns:a16="http://schemas.microsoft.com/office/drawing/2014/main" id="{89A6BBA4-BAC1-4927-BD2C-4E4DF3595A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241F7-5F99-49C5-8ED1-B531EF49F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  <a:defRPr/>
            </a:pPr>
            <a:endParaRPr lang="zh-HK" altLang="en-US" dirty="0"/>
          </a:p>
        </p:txBody>
      </p:sp>
      <p:sp>
        <p:nvSpPr>
          <p:cNvPr id="86020" name="Slide Number Placeholder 3">
            <a:extLst>
              <a:ext uri="{FF2B5EF4-FFF2-40B4-BE49-F238E27FC236}">
                <a16:creationId xmlns:a16="http://schemas.microsoft.com/office/drawing/2014/main" id="{05EB7A99-E838-4EA5-A252-069F018B01A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B56DBE25-C3DF-4C95-9482-51C8160D8628}" type="slidenum">
              <a:rPr lang="en-US" altLang="zh-TW" sz="1200" smtClean="0">
                <a:latin typeface="Times New Roman" panose="02020603050405020304" pitchFamily="18" charset="0"/>
              </a:rPr>
              <a:pPr/>
              <a:t>38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39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486591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Slide Image Placeholder 1">
            <a:extLst>
              <a:ext uri="{FF2B5EF4-FFF2-40B4-BE49-F238E27FC236}">
                <a16:creationId xmlns:a16="http://schemas.microsoft.com/office/drawing/2014/main" id="{CE9FC760-D045-40FB-A6F0-1CCFA12381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1" name="Notes Placeholder 2">
            <a:extLst>
              <a:ext uri="{FF2B5EF4-FFF2-40B4-BE49-F238E27FC236}">
                <a16:creationId xmlns:a16="http://schemas.microsoft.com/office/drawing/2014/main" id="{D026F589-294E-4EC1-A3DD-A68457EF91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89092" name="Slide Number Placeholder 3">
            <a:extLst>
              <a:ext uri="{FF2B5EF4-FFF2-40B4-BE49-F238E27FC236}">
                <a16:creationId xmlns:a16="http://schemas.microsoft.com/office/drawing/2014/main" id="{E93E5FFA-39AA-4DA5-8E04-522AFA226CD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B24F4047-096C-40F3-BED8-703A3496D37C}" type="slidenum">
              <a:rPr lang="en-US" altLang="zh-TW" sz="1200" smtClean="0">
                <a:latin typeface="Times New Roman" panose="02020603050405020304" pitchFamily="18" charset="0"/>
              </a:rPr>
              <a:pPr/>
              <a:t>40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41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183226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42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048974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43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757403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Slide Image Placeholder 1">
            <a:extLst>
              <a:ext uri="{FF2B5EF4-FFF2-40B4-BE49-F238E27FC236}">
                <a16:creationId xmlns:a16="http://schemas.microsoft.com/office/drawing/2014/main" id="{48043E23-396A-4683-AD5D-12AB5F6AABC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211" name="Notes Placeholder 2">
            <a:extLst>
              <a:ext uri="{FF2B5EF4-FFF2-40B4-BE49-F238E27FC236}">
                <a16:creationId xmlns:a16="http://schemas.microsoft.com/office/drawing/2014/main" id="{3664DE35-5391-401A-9635-D71A2203C51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94212" name="Slide Number Placeholder 3">
            <a:extLst>
              <a:ext uri="{FF2B5EF4-FFF2-40B4-BE49-F238E27FC236}">
                <a16:creationId xmlns:a16="http://schemas.microsoft.com/office/drawing/2014/main" id="{052B684B-9FF1-4CE7-ADD5-9A49A85370E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EAEE0A1B-3EE8-4E50-8724-CE74FFE44BED}" type="slidenum">
              <a:rPr lang="en-US" altLang="zh-TW" sz="1200" smtClean="0">
                <a:latin typeface="Times New Roman" panose="02020603050405020304" pitchFamily="18" charset="0"/>
              </a:rPr>
              <a:pPr/>
              <a:t>44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45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884550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46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812361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47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783465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48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6703125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49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227098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50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7376000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Slide Image Placeholder 1">
            <a:extLst>
              <a:ext uri="{FF2B5EF4-FFF2-40B4-BE49-F238E27FC236}">
                <a16:creationId xmlns:a16="http://schemas.microsoft.com/office/drawing/2014/main" id="{4881EE2F-1D9F-4677-B994-298FB46A14B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3" name="Notes Placeholder 2">
            <a:extLst>
              <a:ext uri="{FF2B5EF4-FFF2-40B4-BE49-F238E27FC236}">
                <a16:creationId xmlns:a16="http://schemas.microsoft.com/office/drawing/2014/main" id="{59639B84-67AD-4397-9A5A-10FB6E2C27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628650" lvl="1" indent="-171450">
              <a:buFontTx/>
              <a:buChar char="•"/>
            </a:pPr>
            <a:endParaRPr lang="en-US" altLang="zh-HK" dirty="0"/>
          </a:p>
        </p:txBody>
      </p:sp>
      <p:sp>
        <p:nvSpPr>
          <p:cNvPr id="102404" name="Slide Number Placeholder 3">
            <a:extLst>
              <a:ext uri="{FF2B5EF4-FFF2-40B4-BE49-F238E27FC236}">
                <a16:creationId xmlns:a16="http://schemas.microsoft.com/office/drawing/2014/main" id="{C2E8438E-0003-4CD6-84BC-FC30A4E3D43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984EBA57-028D-47CA-B27E-1722D11A7AC3}" type="slidenum">
              <a:rPr lang="en-US" altLang="zh-TW" sz="1200" smtClean="0">
                <a:latin typeface="Times New Roman" panose="02020603050405020304" pitchFamily="18" charset="0"/>
              </a:rPr>
              <a:pPr/>
              <a:t>51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52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9969686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53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2191428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Slide Image Placeholder 1">
            <a:extLst>
              <a:ext uri="{FF2B5EF4-FFF2-40B4-BE49-F238E27FC236}">
                <a16:creationId xmlns:a16="http://schemas.microsoft.com/office/drawing/2014/main" id="{CB8488CB-CCBD-43B5-8B5A-4546D3AFB9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6499" name="Notes Placeholder 2">
            <a:extLst>
              <a:ext uri="{FF2B5EF4-FFF2-40B4-BE49-F238E27FC236}">
                <a16:creationId xmlns:a16="http://schemas.microsoft.com/office/drawing/2014/main" id="{3101ACE8-A416-4CC5-BCF6-31D754AF99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06500" name="Slide Number Placeholder 3">
            <a:extLst>
              <a:ext uri="{FF2B5EF4-FFF2-40B4-BE49-F238E27FC236}">
                <a16:creationId xmlns:a16="http://schemas.microsoft.com/office/drawing/2014/main" id="{B9F48EC4-86BA-46F0-9162-B7B1DCF9B08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A6DAD403-8806-4FFD-A7E9-C250B6CD7D97}" type="slidenum">
              <a:rPr lang="en-US" altLang="zh-TW" sz="1200" smtClean="0">
                <a:latin typeface="Times New Roman" panose="02020603050405020304" pitchFamily="18" charset="0"/>
              </a:rPr>
              <a:pPr/>
              <a:t>54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Slide Image Placeholder 1">
            <a:extLst>
              <a:ext uri="{FF2B5EF4-FFF2-40B4-BE49-F238E27FC236}">
                <a16:creationId xmlns:a16="http://schemas.microsoft.com/office/drawing/2014/main" id="{C1D470D9-AA87-437F-A681-2829D250006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7" name="Notes Placeholder 2">
            <a:extLst>
              <a:ext uri="{FF2B5EF4-FFF2-40B4-BE49-F238E27FC236}">
                <a16:creationId xmlns:a16="http://schemas.microsoft.com/office/drawing/2014/main" id="{78E70F89-B471-492B-A0B8-45ED988507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08548" name="Slide Number Placeholder 3">
            <a:extLst>
              <a:ext uri="{FF2B5EF4-FFF2-40B4-BE49-F238E27FC236}">
                <a16:creationId xmlns:a16="http://schemas.microsoft.com/office/drawing/2014/main" id="{5D8F5B14-C97A-42BF-BDC4-C0AC5088C6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65B02A27-B10B-4720-B021-F6B4D3703042}" type="slidenum">
              <a:rPr lang="en-US" altLang="zh-TW" sz="1200" smtClean="0">
                <a:latin typeface="Times New Roman" panose="02020603050405020304" pitchFamily="18" charset="0"/>
              </a:rPr>
              <a:pPr/>
              <a:t>55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56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6767992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Image Placeholder 1">
            <a:extLst>
              <a:ext uri="{FF2B5EF4-FFF2-40B4-BE49-F238E27FC236}">
                <a16:creationId xmlns:a16="http://schemas.microsoft.com/office/drawing/2014/main" id="{E8509621-C373-4CED-B0C3-40BE623212E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1619" name="Notes Placeholder 2">
            <a:extLst>
              <a:ext uri="{FF2B5EF4-FFF2-40B4-BE49-F238E27FC236}">
                <a16:creationId xmlns:a16="http://schemas.microsoft.com/office/drawing/2014/main" id="{665CB533-E3A1-47B4-9E3A-177E2B5CB00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zh-HK" altLang="en-US" dirty="0"/>
          </a:p>
        </p:txBody>
      </p:sp>
      <p:sp>
        <p:nvSpPr>
          <p:cNvPr id="111620" name="Slide Number Placeholder 3">
            <a:extLst>
              <a:ext uri="{FF2B5EF4-FFF2-40B4-BE49-F238E27FC236}">
                <a16:creationId xmlns:a16="http://schemas.microsoft.com/office/drawing/2014/main" id="{3A58E18E-1341-45D9-AFE9-9BB07E63BA8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4B6E5123-6AF5-4166-A203-EB4D0CDE496F}" type="slidenum">
              <a:rPr lang="en-US" altLang="zh-TW" sz="1200" smtClean="0">
                <a:latin typeface="Times New Roman" panose="02020603050405020304" pitchFamily="18" charset="0"/>
              </a:rPr>
              <a:pPr/>
              <a:t>57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Slide Image Placeholder 1">
            <a:extLst>
              <a:ext uri="{FF2B5EF4-FFF2-40B4-BE49-F238E27FC236}">
                <a16:creationId xmlns:a16="http://schemas.microsoft.com/office/drawing/2014/main" id="{55BAF174-4ACF-4A64-A77B-2D7B4B73EE3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Notes Placeholder 2">
            <a:extLst>
              <a:ext uri="{FF2B5EF4-FFF2-40B4-BE49-F238E27FC236}">
                <a16:creationId xmlns:a16="http://schemas.microsoft.com/office/drawing/2014/main" id="{91D00CBF-1F20-43F5-B9A9-CE300887F3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13668" name="Slide Number Placeholder 3">
            <a:extLst>
              <a:ext uri="{FF2B5EF4-FFF2-40B4-BE49-F238E27FC236}">
                <a16:creationId xmlns:a16="http://schemas.microsoft.com/office/drawing/2014/main" id="{42A98BA5-3DE6-459B-BA47-75C39504DC3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284F1053-EF31-4434-8688-CD22185FE659}" type="slidenum">
              <a:rPr lang="en-US" altLang="zh-TW" sz="1200" smtClean="0">
                <a:latin typeface="Times New Roman" panose="02020603050405020304" pitchFamily="18" charset="0"/>
              </a:rPr>
              <a:pPr/>
              <a:t>58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59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8547999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60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1055690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61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1059424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Slide Image Placeholder 1">
            <a:extLst>
              <a:ext uri="{FF2B5EF4-FFF2-40B4-BE49-F238E27FC236}">
                <a16:creationId xmlns:a16="http://schemas.microsoft.com/office/drawing/2014/main" id="{DB91968B-6ED4-4DCC-9B4B-05AAFC36A50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835" name="Notes Placeholder 2">
            <a:extLst>
              <a:ext uri="{FF2B5EF4-FFF2-40B4-BE49-F238E27FC236}">
                <a16:creationId xmlns:a16="http://schemas.microsoft.com/office/drawing/2014/main" id="{CADEA162-28B9-4D77-BA74-6E238E4A49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20836" name="Slide Number Placeholder 3">
            <a:extLst>
              <a:ext uri="{FF2B5EF4-FFF2-40B4-BE49-F238E27FC236}">
                <a16:creationId xmlns:a16="http://schemas.microsoft.com/office/drawing/2014/main" id="{AD26DDE3-CA79-4A88-B84C-EAE5E7DF509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AC89B9EF-7D77-444B-A064-363DA73679C6}" type="slidenum">
              <a:rPr lang="en-US" altLang="zh-TW" sz="1200" smtClean="0">
                <a:latin typeface="Times New Roman" panose="02020603050405020304" pitchFamily="18" charset="0"/>
              </a:rPr>
              <a:pPr/>
              <a:t>62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Slide Image Placeholder 1">
            <a:extLst>
              <a:ext uri="{FF2B5EF4-FFF2-40B4-BE49-F238E27FC236}">
                <a16:creationId xmlns:a16="http://schemas.microsoft.com/office/drawing/2014/main" id="{CC031DB5-F7A9-4969-B699-C9BE7AF359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04BD4-802D-4B96-9215-3EC1465938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  <a:defRPr/>
            </a:pPr>
            <a:endParaRPr lang="zh-HK" altLang="en-US" dirty="0"/>
          </a:p>
        </p:txBody>
      </p:sp>
      <p:sp>
        <p:nvSpPr>
          <p:cNvPr id="122884" name="Slide Number Placeholder 3">
            <a:extLst>
              <a:ext uri="{FF2B5EF4-FFF2-40B4-BE49-F238E27FC236}">
                <a16:creationId xmlns:a16="http://schemas.microsoft.com/office/drawing/2014/main" id="{95C73A9E-C3D0-4D51-A697-08E3F849C1E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6A19021F-DD7D-4C51-BE2F-C0B0054CCD8A}" type="slidenum">
              <a:rPr lang="en-US" altLang="zh-TW" sz="1200" smtClean="0">
                <a:latin typeface="Times New Roman" panose="02020603050405020304" pitchFamily="18" charset="0"/>
              </a:rPr>
              <a:pPr/>
              <a:t>63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Slide Image Placeholder 1">
            <a:extLst>
              <a:ext uri="{FF2B5EF4-FFF2-40B4-BE49-F238E27FC236}">
                <a16:creationId xmlns:a16="http://schemas.microsoft.com/office/drawing/2014/main" id="{1830D6AD-0EBB-49CE-BCCC-E27D982417C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541CE9-4042-4C07-8422-2B2368CEB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  <a:defRPr/>
            </a:pPr>
            <a:endParaRPr lang="zh-HK" altLang="en-US" dirty="0"/>
          </a:p>
        </p:txBody>
      </p:sp>
      <p:sp>
        <p:nvSpPr>
          <p:cNvPr id="124932" name="Slide Number Placeholder 3">
            <a:extLst>
              <a:ext uri="{FF2B5EF4-FFF2-40B4-BE49-F238E27FC236}">
                <a16:creationId xmlns:a16="http://schemas.microsoft.com/office/drawing/2014/main" id="{3F9767A4-382E-4FF3-BF76-939F2C70373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A7EBAEE2-5E51-4F97-9D2D-6BBBA417C550}" type="slidenum">
              <a:rPr lang="en-US" altLang="zh-TW" sz="1200" smtClean="0">
                <a:latin typeface="Times New Roman" panose="02020603050405020304" pitchFamily="18" charset="0"/>
              </a:rPr>
              <a:pPr/>
              <a:t>64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65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6206159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投影片圖像版面配置區 1">
            <a:extLst>
              <a:ext uri="{FF2B5EF4-FFF2-40B4-BE49-F238E27FC236}">
                <a16:creationId xmlns:a16="http://schemas.microsoft.com/office/drawing/2014/main" id="{1656CD25-0B15-49DF-B9BC-AF40A58F3B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3" name="備忘稿版面配置區 2">
            <a:extLst>
              <a:ext uri="{FF2B5EF4-FFF2-40B4-BE49-F238E27FC236}">
                <a16:creationId xmlns:a16="http://schemas.microsoft.com/office/drawing/2014/main" id="{CC1145A1-7146-4797-BB70-3784C6AE02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 dirty="0"/>
          </a:p>
        </p:txBody>
      </p:sp>
      <p:sp>
        <p:nvSpPr>
          <p:cNvPr id="128004" name="投影片編號版面配置區 3">
            <a:extLst>
              <a:ext uri="{FF2B5EF4-FFF2-40B4-BE49-F238E27FC236}">
                <a16:creationId xmlns:a16="http://schemas.microsoft.com/office/drawing/2014/main" id="{0B2079A3-086C-4A4C-BDD4-625E1F903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3ACF2FB2-B778-46A1-9B44-83CBDC246B98}" type="slidenum">
              <a:rPr lang="en-US" altLang="zh-TW" sz="1200" smtClean="0">
                <a:latin typeface="Times New Roman" panose="02020603050405020304" pitchFamily="18" charset="0"/>
              </a:rPr>
              <a:pPr/>
              <a:t>66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投影片圖像版面配置區 1">
            <a:extLst>
              <a:ext uri="{FF2B5EF4-FFF2-40B4-BE49-F238E27FC236}">
                <a16:creationId xmlns:a16="http://schemas.microsoft.com/office/drawing/2014/main" id="{754C8C5F-E9EB-4A6A-86D0-0F4479DAA89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0051" name="備忘稿版面配置區 2">
            <a:extLst>
              <a:ext uri="{FF2B5EF4-FFF2-40B4-BE49-F238E27FC236}">
                <a16:creationId xmlns:a16="http://schemas.microsoft.com/office/drawing/2014/main" id="{EC50C5AC-4E9F-4737-88B1-E2A693940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 dirty="0"/>
          </a:p>
        </p:txBody>
      </p:sp>
      <p:sp>
        <p:nvSpPr>
          <p:cNvPr id="130052" name="投影片編號版面配置區 3">
            <a:extLst>
              <a:ext uri="{FF2B5EF4-FFF2-40B4-BE49-F238E27FC236}">
                <a16:creationId xmlns:a16="http://schemas.microsoft.com/office/drawing/2014/main" id="{2AFA12FD-EA55-4E78-95F8-A92FECA361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D6FF8747-9175-4198-ABA6-B8E069CD0EF8}" type="slidenum">
              <a:rPr lang="en-US" altLang="zh-TW" sz="1200" smtClean="0">
                <a:latin typeface="Times New Roman" panose="02020603050405020304" pitchFamily="18" charset="0"/>
              </a:rPr>
              <a:pPr/>
              <a:t>67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Slide Image Placeholder 1">
            <a:extLst>
              <a:ext uri="{FF2B5EF4-FFF2-40B4-BE49-F238E27FC236}">
                <a16:creationId xmlns:a16="http://schemas.microsoft.com/office/drawing/2014/main" id="{7FB36BB7-2712-4651-8D7B-B710BDEC8F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099" name="Notes Placeholder 2">
            <a:extLst>
              <a:ext uri="{FF2B5EF4-FFF2-40B4-BE49-F238E27FC236}">
                <a16:creationId xmlns:a16="http://schemas.microsoft.com/office/drawing/2014/main" id="{5B705D36-FA8D-4E82-8F45-88ED5683FB1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32100" name="Slide Number Placeholder 3">
            <a:extLst>
              <a:ext uri="{FF2B5EF4-FFF2-40B4-BE49-F238E27FC236}">
                <a16:creationId xmlns:a16="http://schemas.microsoft.com/office/drawing/2014/main" id="{BE9D614F-48F6-4B50-9DF8-72068BFD04D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5CFEBD11-7D5A-41E1-8401-76D057F26A8F}" type="slidenum">
              <a:rPr lang="en-US" altLang="zh-TW" sz="1200" smtClean="0">
                <a:latin typeface="Times New Roman" panose="02020603050405020304" pitchFamily="18" charset="0"/>
              </a:rPr>
              <a:pPr/>
              <a:t>68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Slide Image Placeholder 1">
            <a:extLst>
              <a:ext uri="{FF2B5EF4-FFF2-40B4-BE49-F238E27FC236}">
                <a16:creationId xmlns:a16="http://schemas.microsoft.com/office/drawing/2014/main" id="{3D182E44-FDA4-4171-A916-A87651A2D49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4147" name="Notes Placeholder 2">
            <a:extLst>
              <a:ext uri="{FF2B5EF4-FFF2-40B4-BE49-F238E27FC236}">
                <a16:creationId xmlns:a16="http://schemas.microsoft.com/office/drawing/2014/main" id="{BD22189D-51A5-452B-8B0B-7CBF359AFB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134148" name="Slide Number Placeholder 3">
            <a:extLst>
              <a:ext uri="{FF2B5EF4-FFF2-40B4-BE49-F238E27FC236}">
                <a16:creationId xmlns:a16="http://schemas.microsoft.com/office/drawing/2014/main" id="{6906A4BF-B33E-4628-A52B-D74FA940CA9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E78F4F9B-E28E-4C1D-8055-6D984E2702C7}" type="slidenum">
              <a:rPr lang="en-US" altLang="zh-TW" sz="1200" smtClean="0">
                <a:latin typeface="Times New Roman" panose="02020603050405020304" pitchFamily="18" charset="0"/>
              </a:rPr>
              <a:pPr/>
              <a:t>69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70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0794444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71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3270842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Slide Image Placeholder 1">
            <a:extLst>
              <a:ext uri="{FF2B5EF4-FFF2-40B4-BE49-F238E27FC236}">
                <a16:creationId xmlns:a16="http://schemas.microsoft.com/office/drawing/2014/main" id="{7AD7F745-5A44-4387-887D-27B1E505FBB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3" name="Notes Placeholder 2">
            <a:extLst>
              <a:ext uri="{FF2B5EF4-FFF2-40B4-BE49-F238E27FC236}">
                <a16:creationId xmlns:a16="http://schemas.microsoft.com/office/drawing/2014/main" id="{B5CB144F-BBFD-4595-A78A-96390C4B2D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138244" name="Slide Number Placeholder 3">
            <a:extLst>
              <a:ext uri="{FF2B5EF4-FFF2-40B4-BE49-F238E27FC236}">
                <a16:creationId xmlns:a16="http://schemas.microsoft.com/office/drawing/2014/main" id="{B461C481-AFEA-4074-B5D5-3A59A956283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0FC29B46-1939-48FC-8666-688BA647A9EA}" type="slidenum">
              <a:rPr lang="en-US" altLang="zh-TW" sz="1200" smtClean="0">
                <a:latin typeface="Times New Roman" panose="02020603050405020304" pitchFamily="18" charset="0"/>
              </a:rPr>
              <a:pPr/>
              <a:t>72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73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6255332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74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9854144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Slide Image Placeholder 1">
            <a:extLst>
              <a:ext uri="{FF2B5EF4-FFF2-40B4-BE49-F238E27FC236}">
                <a16:creationId xmlns:a16="http://schemas.microsoft.com/office/drawing/2014/main" id="{E95AD4F8-2B18-4231-8A55-5F46906665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39" name="Notes Placeholder 2">
            <a:extLst>
              <a:ext uri="{FF2B5EF4-FFF2-40B4-BE49-F238E27FC236}">
                <a16:creationId xmlns:a16="http://schemas.microsoft.com/office/drawing/2014/main" id="{D55636F1-2FFB-4139-AE3B-110344F6CA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142340" name="Slide Number Placeholder 3">
            <a:extLst>
              <a:ext uri="{FF2B5EF4-FFF2-40B4-BE49-F238E27FC236}">
                <a16:creationId xmlns:a16="http://schemas.microsoft.com/office/drawing/2014/main" id="{F32F4350-C1AB-4F2F-BB29-852AB00383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A0E390D2-3536-4DF5-A481-8658513F040D}" type="slidenum">
              <a:rPr lang="en-US" altLang="zh-TW" sz="1200" smtClean="0">
                <a:latin typeface="Times New Roman" panose="02020603050405020304" pitchFamily="18" charset="0"/>
              </a:rPr>
              <a:pPr/>
              <a:t>75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>
            <a:extLst>
              <a:ext uri="{FF2B5EF4-FFF2-40B4-BE49-F238E27FC236}">
                <a16:creationId xmlns:a16="http://schemas.microsoft.com/office/drawing/2014/main" id="{C769FECE-5CD5-4FF4-9E50-CA68217BF2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CD0FAACC-FC55-44C5-9EE7-A6917BE6D595}" type="slidenum">
              <a:rPr lang="en-US" altLang="zh-TW" sz="1200" smtClean="0">
                <a:latin typeface="Times New Roman" panose="02020603050405020304" pitchFamily="18" charset="0"/>
              </a:rPr>
              <a:pPr/>
              <a:t>76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  <p:sp>
        <p:nvSpPr>
          <p:cNvPr id="144387" name="Rectangle 2">
            <a:extLst>
              <a:ext uri="{FF2B5EF4-FFF2-40B4-BE49-F238E27FC236}">
                <a16:creationId xmlns:a16="http://schemas.microsoft.com/office/drawing/2014/main" id="{5E57B468-8EDB-4367-9891-19A65352C07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388" name="Rectangle 3">
            <a:extLst>
              <a:ext uri="{FF2B5EF4-FFF2-40B4-BE49-F238E27FC236}">
                <a16:creationId xmlns:a16="http://schemas.microsoft.com/office/drawing/2014/main" id="{4EADECED-DA01-431F-802B-DC192C7511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>
            <a:extLst>
              <a:ext uri="{FF2B5EF4-FFF2-40B4-BE49-F238E27FC236}">
                <a16:creationId xmlns:a16="http://schemas.microsoft.com/office/drawing/2014/main" id="{9EE989DB-3554-4D6D-99FA-1BCB98ABCE4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4EE235F0-9701-40E6-A418-217853EC8330}" type="slidenum">
              <a:rPr lang="en-US" altLang="zh-TW" sz="1200" smtClean="0">
                <a:latin typeface="Times New Roman" panose="02020603050405020304" pitchFamily="18" charset="0"/>
              </a:rPr>
              <a:pPr/>
              <a:t>77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  <p:sp>
        <p:nvSpPr>
          <p:cNvPr id="146435" name="Rectangle 2">
            <a:extLst>
              <a:ext uri="{FF2B5EF4-FFF2-40B4-BE49-F238E27FC236}">
                <a16:creationId xmlns:a16="http://schemas.microsoft.com/office/drawing/2014/main" id="{E5C12657-5C91-436D-8F18-4C12E91F904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6436" name="Rectangle 3">
            <a:extLst>
              <a:ext uri="{FF2B5EF4-FFF2-40B4-BE49-F238E27FC236}">
                <a16:creationId xmlns:a16="http://schemas.microsoft.com/office/drawing/2014/main" id="{CCC68789-D7FB-4E71-8E73-2D95C418EB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78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5870376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79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5429905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81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3711648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82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226757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83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8250384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84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1499368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Slide Image Placeholder 1">
            <a:extLst>
              <a:ext uri="{FF2B5EF4-FFF2-40B4-BE49-F238E27FC236}">
                <a16:creationId xmlns:a16="http://schemas.microsoft.com/office/drawing/2014/main" id="{E6D9F733-F841-4827-ACF7-221161FFA7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6675" name="Notes Placeholder 2">
            <a:extLst>
              <a:ext uri="{FF2B5EF4-FFF2-40B4-BE49-F238E27FC236}">
                <a16:creationId xmlns:a16="http://schemas.microsoft.com/office/drawing/2014/main" id="{F34AFE73-D88E-4F6C-8528-A946D65744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HK" dirty="0"/>
          </a:p>
        </p:txBody>
      </p:sp>
      <p:sp>
        <p:nvSpPr>
          <p:cNvPr id="156676" name="Slide Number Placeholder 3">
            <a:extLst>
              <a:ext uri="{FF2B5EF4-FFF2-40B4-BE49-F238E27FC236}">
                <a16:creationId xmlns:a16="http://schemas.microsoft.com/office/drawing/2014/main" id="{BCFFCD44-A8CC-451F-8CD6-23E15F8FBA2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4BA6CD0D-A1FB-4E02-B5ED-BF5514D8A792}" type="slidenum">
              <a:rPr lang="en-US" altLang="zh-TW" sz="1200" smtClean="0">
                <a:latin typeface="Times New Roman" panose="02020603050405020304" pitchFamily="18" charset="0"/>
              </a:rPr>
              <a:pPr/>
              <a:t>85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86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8621753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87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4310957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88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4138259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8037453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8433396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9004052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9077950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8237101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6012477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6918268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4602335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2885527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99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5406413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8681927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4024708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83460154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3583690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9611837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3880176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40795813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7255848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109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524883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110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0987935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111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1968026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112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7985858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5163495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114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81703033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115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5386206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BCD7AD9-03E5-4EFA-9FB5-DCD0222A6498}" type="slidenum">
              <a:rPr lang="en-US" altLang="zh-TW" smtClean="0"/>
              <a:pPr>
                <a:defRPr/>
              </a:pPr>
              <a:t>116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2438414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Slide Image Placeholder 1">
            <a:extLst>
              <a:ext uri="{FF2B5EF4-FFF2-40B4-BE49-F238E27FC236}">
                <a16:creationId xmlns:a16="http://schemas.microsoft.com/office/drawing/2014/main" id="{32D4AD67-8949-4170-9B45-8E6DD09241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1491" name="Notes Placeholder 2">
            <a:extLst>
              <a:ext uri="{FF2B5EF4-FFF2-40B4-BE49-F238E27FC236}">
                <a16:creationId xmlns:a16="http://schemas.microsoft.com/office/drawing/2014/main" id="{E8A23AA4-C0FE-4C85-A70F-F6D33BDAFD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91492" name="Slide Number Placeholder 3">
            <a:extLst>
              <a:ext uri="{FF2B5EF4-FFF2-40B4-BE49-F238E27FC236}">
                <a16:creationId xmlns:a16="http://schemas.microsoft.com/office/drawing/2014/main" id="{31A34E66-8FEF-4BA9-ADCD-3BF3B3BB989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75438322-AD18-4B5F-A489-3DFDE786ACC2}" type="slidenum">
              <a:rPr lang="en-US" altLang="zh-TW" sz="1200" smtClean="0">
                <a:latin typeface="Times New Roman" panose="02020603050405020304" pitchFamily="18" charset="0"/>
              </a:rPr>
              <a:pPr/>
              <a:t>117</a:t>
            </a:fld>
            <a:endParaRPr lang="en-US" altLang="zh-TW" sz="12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E740F07-0138-43DE-BE38-CBF819A26B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27FFB9C-18E7-4CA5-BE93-7F6117393AF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6EF08FF-3586-4CD8-B1A5-933DEB0969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5F5C2C7C-1ECB-4716-9952-2A792C73507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14078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651993F-71A7-4993-A14B-B54DA3C5D6B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4DE85E8-8A48-4A8A-A8F7-56E4FD76D64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491D3ED-FECD-40E5-94A0-C0848E05062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5798DB4A-FD53-4AF4-98DC-EDF3BEB8E001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10200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C4822EB-529A-4AD1-AB30-9BE43B888F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A09C7D7-237E-4792-A449-A2BFD9EE353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2272FD6-9A16-4F73-85B6-66E21AFA21D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67A5DE27-D496-4916-B5A4-478D7148C4D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93272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E24A2-B2B4-4169-B0AB-0DDDFB5FD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7EFCD-325C-4A06-BEA8-8FC7E32A01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7D0EC4-1CFC-4DA5-9697-D16B7B32B33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4D25E474-CBE0-4FEB-91CC-59DB198151B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52156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78C93F54-8764-4536-949E-F3671A610B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D4EC87FB-FD45-49A1-B3AA-BE3B0DF0D65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08761B90-B9D4-499D-A903-086CE9109ED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ABFEBDF9-B6B5-4BC3-BFA1-056B847114F3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15281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632338AF-15CD-4269-801A-7059C1811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314B90C4-846B-4322-91FD-491CDBF5F03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8004E43-BC78-4332-8617-A587EE5D9B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213ED3E9-2D54-4C79-9114-0A47A600B5B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64276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7D9126BC-60F9-4A68-B0E7-58F9FA524AA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8EDCDB3-BF35-4695-A1F5-8EB4707DF14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1E44963-B10D-4EBA-BDD8-56528D9FA7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CA810AB5-3F19-4736-A479-EE978D12B37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19889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FC151E-8EDF-40DC-94B0-C1C638011F6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98838F-384A-468A-95AD-9688F49B17D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374995-0028-4CB3-9F2D-4926F67981D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DAE2EFAC-2B85-4B27-BC6C-127F1540E03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2152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C42B4F-2396-4331-A73D-00BD63297D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18E4D0-F7E5-4410-93DD-2CCAA9CFF97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1A0F-F8EF-4B50-860E-6015B138281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E42DBEF0-A785-4F9D-A5C1-880A164877C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63251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860A4CB-94A9-49D0-8295-265F8ABC5AC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A83F53C-7B6D-4F95-8588-9E120A625DC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B7F4609-C75A-459A-B5AD-D32B0739C63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05C175F8-BA2E-4CFB-8C0A-0783005C5B4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171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FF94943-BB6F-4D2A-98BF-7CCB8F97AE7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26A0C9-24E3-447C-952C-6ED7061E99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644231-7168-411B-8235-A93434BA38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3-</a:t>
            </a:r>
            <a:fld id="{DA80584E-6B12-426F-96E7-BB7BE0B9A7C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380806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C437BD6-A065-45E4-8D5D-9101408FEA6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DB89C3-B8B8-4E56-AECD-CE69F30E77B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8F28534-4839-403F-B4AB-9656F262A9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B6ECC930-8E4D-48AF-9A88-7E5938AAC92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098327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0662F3-FE0D-453E-A3E4-CB128155E34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6EBE007-A8E1-4C97-BF43-1DD2E0071E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235AD34-999A-4547-8630-41A75F8F73D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A855E88A-92CF-4420-9413-B07781FF60F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548796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D6FC5C4-E60B-4900-9F2B-94F8CCE3F3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78DCEB5-71ED-4EC8-9CE1-21EE3596751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FCBC31-F83F-4B21-9D48-B3B5E874856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F955FACE-1ABE-4CDF-B631-5BFBDF19974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779947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8E505D-26F8-408C-A7B9-18AD32F1DD2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96BBC1-BCFF-4097-A469-C2B4DEA7488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377699-F5E2-4E52-A6EF-5CACC2B3948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E177EA1A-C767-477C-A179-4C1407186FE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392684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AFD100-1D02-4259-9C37-EB36C41A340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C038839B-7E43-4BF9-988C-D438D43F0A7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69FF6CD-4A33-486B-990C-DF0240B210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6BB2B798-D253-45B5-92A9-7EEF20D042F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1233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1711A6A-F40D-4CBD-AB2D-A5B9E2A041D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7A197D46-CD22-4F9B-B89A-C1057931D9C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24E1151-8F68-4EF3-ADEA-D1A6DC9CF9B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AEE84E8B-C7F9-42B1-BFF2-CDE033ACAF8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386014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74111036-43D3-4232-908F-25B1561B9F0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88D698D1-DF84-4152-A828-0A23405E8CB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7F85F198-9FCA-4F2B-97BB-EA38164A60D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F57B8EF4-6C74-4B9C-9E97-BC185376831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084003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4C8D98-E23D-4E8E-9F16-5876EDAEEB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98DEE8-8456-4869-B41C-8FA584E7B6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188E5C-EC1D-4143-8FDA-E580EE50877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669B7410-617A-4E3A-B7E4-FAFB34F83CDE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6731352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BBA19-7E5D-4ACA-A4CB-85C5EBA2B8A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A49E19-8B2A-4739-BC11-7627AD861C7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4237A6-A03A-4113-8EF7-236054DAB8A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38A619B0-D34F-4AB2-BCBB-FF8EC399C3D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123662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FC24C09-6B2B-43CE-8B3D-E56088B66A8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9B43E62-6545-4F3B-971E-6CE912D7E5D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270B5B0-7325-4D07-BE71-504944DDB56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D86658E6-4DB8-44BD-847D-F2506BC4E60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939711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DD2E26E-F3EA-42BE-9229-FD63E681756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7BBDC0F-78C6-4F57-90C3-1E6A7460852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9B79840-FC09-49D2-98A5-B5B7661E6B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F776E007-2A74-48EF-85E0-B4D2729AAFF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787347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7EB1D9C-89DF-4102-B0EF-1E82FA5221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C43F63-D6A6-4B33-A45D-D8D24818894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A423025-DDD6-4648-AA0C-0A75C5409B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3DFE82C0-9F34-40AA-B57E-4DE961B9A9D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580316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5C1CD3F-26A9-474E-B8F2-410721CA7C9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D3BA03B-5C69-47C7-A38D-16E5787207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70F0D4B-2605-4077-BDF3-183F490BEB2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22A808E6-2E6F-4576-82D7-AE688DD6767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390796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CCF1C6-3B97-41C6-B27F-063594CFA36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3C36E05-456E-4139-A5B0-FB406C1C29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E229E74-D207-4E2E-9AFD-D0A28BA1FC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E3BA60BB-6601-4F59-982D-EAF6353E9D1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952180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C7407-6B4E-4AA0-BEB1-7C754483F0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2CFEC6-779E-40F5-9357-5A28183684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A29FF-EE5E-476F-943C-6604AA1FEDE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7706FC4C-2BBA-45B7-B414-104A18615D9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51005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408AB31E-E008-4AF8-B2B6-4A71E2A977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EFACF1D-16F6-418F-8673-ED3376CC354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0559C577-7999-40A4-9F29-9474A1826F2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288C6098-D88B-4951-9D7C-1669B9D7853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419191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51DAB6A-79C7-4D03-811F-BA26BD92FF5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91BC501-3450-4F85-9BD2-94084E893D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8B0225C-696A-46F6-9306-746D754C52E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59BECAFE-3B8A-4480-B1E4-2C8BCCFCBD7E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828098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DE7EA95-D4D7-4CF1-887C-8BDB0ADE1BC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2206DE64-4F3D-4038-BB3E-22EFF1FA573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809B7CE-3A5E-4BD9-9401-5448F484B69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A4C7673F-9C6E-4444-91E4-5C2927B7D5F1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4025979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BA40C9-DAE2-4A0A-AA33-5F89F909D4B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ACF870-FF2F-44A9-A099-059C1B607A8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BDDD0-8BCB-44BA-A490-794D2E732C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A0AF8E83-F908-49B2-AC73-1287EB56FFC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933831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24788-3FB5-42F6-8FC7-4F18689AC8B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8024FC-95AA-459F-B1D6-71808A915C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655BC-7DB7-49A3-889F-444D881A7B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A327F2BF-0294-43FB-A59D-7E3D2EDEF9B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8976644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443F611-3B55-42AD-9257-95702396C5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748C37D-5765-4166-87A9-B586881454B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5071470-C27D-4C77-9F54-3C33D04C66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8BCAB81B-0A70-415B-A335-AF97C885482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6125623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8EA88B9-3A94-430D-A7F6-CDEC07922A2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ctr" eaLnBrk="1" hangingPunct="1">
              <a:defRPr kumimoji="1"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3A33896-8A67-433C-B599-F2127129780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eaLnBrk="1" hangingPunct="1">
              <a:defRPr kumimoji="1"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70D02C6-8766-4B13-B6BE-8EFDE786769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 algn="ctr" eaLnBrk="1" hangingPunct="1">
              <a:defRPr kumimoji="1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DE1BEC2A-80BD-4DB7-BE3D-967A8CCCC0D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79101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3B0A99D7-24BA-4B61-AEBF-DF51145FF8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A8A096E8-EDF6-42AA-9545-F0926DD579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CB6930F-F1FC-4979-B6EA-3808EBBDED8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5DBE47C2-E790-4A1F-8917-DCB92BE5474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45250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288CB566-46E7-4964-830C-66CDC602D76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pPr>
              <a:defRPr/>
            </a:pPr>
            <a:r>
              <a:rPr lang="en-US" altLang="zh-TW"/>
              <a:t>3-</a:t>
            </a:r>
            <a:fld id="{000A6F55-3B54-4FD7-90E6-34CC92D80401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971" r:id="rId1"/>
    <p:sldLayoutId id="2147484972" r:id="rId2"/>
    <p:sldLayoutId id="2147484973" r:id="rId3"/>
    <p:sldLayoutId id="2147484974" r:id="rId4"/>
    <p:sldLayoutId id="2147484975" r:id="rId5"/>
    <p:sldLayoutId id="2147484976" r:id="rId6"/>
    <p:sldLayoutId id="2147484977" r:id="rId7"/>
    <p:sldLayoutId id="2147484978" r:id="rId8"/>
    <p:sldLayoutId id="2147484979" r:id="rId9"/>
    <p:sldLayoutId id="2147484980" r:id="rId10"/>
    <p:sldLayoutId id="2147484981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3200">
          <a:solidFill>
            <a:schemeClr val="tx1"/>
          </a:solidFill>
          <a:latin typeface="+mn-lt"/>
          <a:ea typeface="ＭＳ Ｐゴシック" pitchFamily="34" charset="-128"/>
          <a:cs typeface="ＭＳ Ｐゴシック" charset="0"/>
        </a:defRPr>
      </a:lvl1pPr>
      <a:lvl2pPr marL="688975" indent="-231775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n-lt"/>
          <a:ea typeface="ＭＳ Ｐゴシック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B75D0248-7D5B-4AB9-AA23-E7571E621C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D7776D74-CF8D-497D-9F8C-6BF211C3CE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82DF2F3-76E2-4A70-9FAA-3154EACBE71D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kumimoji="0" sz="1400">
                <a:solidFill>
                  <a:srgbClr val="000000"/>
                </a:solidFill>
                <a:latin typeface="Times New Roman" pitchFamily="18" charset="0"/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6EB09FDF-19B5-4A6E-A454-10C26346307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45250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kumimoji="0"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B2B3479F-A955-403A-A060-8D33E8145C8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0F59CBA1-7E48-4C92-B58B-890DA2AEDEB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982" r:id="rId1"/>
    <p:sldLayoutId id="2147484983" r:id="rId2"/>
    <p:sldLayoutId id="2147484984" r:id="rId3"/>
    <p:sldLayoutId id="2147484985" r:id="rId4"/>
    <p:sldLayoutId id="2147484986" r:id="rId5"/>
    <p:sldLayoutId id="2147484987" r:id="rId6"/>
    <p:sldLayoutId id="2147484988" r:id="rId7"/>
    <p:sldLayoutId id="2147484989" r:id="rId8"/>
    <p:sldLayoutId id="2147484990" r:id="rId9"/>
    <p:sldLayoutId id="2147484991" r:id="rId10"/>
    <p:sldLayoutId id="2147484992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3200">
          <a:solidFill>
            <a:schemeClr val="tx1"/>
          </a:solidFill>
          <a:latin typeface="+mn-lt"/>
          <a:ea typeface="ＭＳ Ｐゴシック" pitchFamily="34" charset="-128"/>
          <a:cs typeface="ＭＳ Ｐゴシック" charset="0"/>
        </a:defRPr>
      </a:lvl1pPr>
      <a:lvl2pPr marL="688975" indent="-231775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n-lt"/>
          <a:ea typeface="ＭＳ Ｐゴシック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37A420C-BB7D-4F71-A14A-59A134D085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EB3A12E8-F363-47AD-B27D-C652B26AEF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FBFA207E-2F29-4858-9D3B-C28A69A753FC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kumimoji="0" sz="1400">
                <a:solidFill>
                  <a:srgbClr val="000000"/>
                </a:solidFill>
                <a:latin typeface="Times New Roman" pitchFamily="18" charset="0"/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B34F0929-3D27-4FC1-88E0-25DF45AE22D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45250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kumimoji="0"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34124FA8-0DFC-4E44-8271-2491A15E256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C5E7B10B-31E5-4F36-8AD2-4E0CD49D1C2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993" r:id="rId1"/>
    <p:sldLayoutId id="2147484994" r:id="rId2"/>
    <p:sldLayoutId id="2147484995" r:id="rId3"/>
    <p:sldLayoutId id="2147484996" r:id="rId4"/>
    <p:sldLayoutId id="2147484997" r:id="rId5"/>
    <p:sldLayoutId id="2147484998" r:id="rId6"/>
    <p:sldLayoutId id="2147484999" r:id="rId7"/>
    <p:sldLayoutId id="2147485000" r:id="rId8"/>
    <p:sldLayoutId id="2147485001" r:id="rId9"/>
    <p:sldLayoutId id="2147485002" r:id="rId10"/>
    <p:sldLayoutId id="2147485003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3200">
          <a:solidFill>
            <a:schemeClr val="tx1"/>
          </a:solidFill>
          <a:latin typeface="+mn-lt"/>
          <a:ea typeface="ＭＳ Ｐゴシック" pitchFamily="34" charset="-128"/>
          <a:cs typeface="ＭＳ Ｐゴシック" charset="0"/>
        </a:defRPr>
      </a:lvl1pPr>
      <a:lvl2pPr marL="688975" indent="-231775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n-lt"/>
          <a:ea typeface="ＭＳ Ｐゴシック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wmf"/><Relationship Id="rId4" Type="http://schemas.openxmlformats.org/officeDocument/2006/relationships/oleObject" Target="../embeddings/oleObject1.bin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wmf"/><Relationship Id="rId4" Type="http://schemas.openxmlformats.org/officeDocument/2006/relationships/oleObject" Target="../embeddings/oleObject2.bin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44.jpe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png"/><Relationship Id="rId5" Type="http://schemas.openxmlformats.org/officeDocument/2006/relationships/image" Target="../media/image2.png"/><Relationship Id="rId4" Type="http://schemas.openxmlformats.org/officeDocument/2006/relationships/image" Target="../media/image44.jpe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Footer Placeholder 2">
            <a:extLst>
              <a:ext uri="{FF2B5EF4-FFF2-40B4-BE49-F238E27FC236}">
                <a16:creationId xmlns:a16="http://schemas.microsoft.com/office/drawing/2014/main" id="{C147B68B-DA75-4CB6-893A-56DEE9CDF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62600" y="6459538"/>
            <a:ext cx="2895600" cy="28733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  <a:cs typeface="Arial" panose="020B0604020202020204" pitchFamily="34" charset="0"/>
              </a:rPr>
              <a:t>Transport Layer</a:t>
            </a:r>
          </a:p>
        </p:txBody>
      </p:sp>
      <p:sp>
        <p:nvSpPr>
          <p:cNvPr id="28675" name="Slide Number Placeholder 3">
            <a:extLst>
              <a:ext uri="{FF2B5EF4-FFF2-40B4-BE49-F238E27FC236}">
                <a16:creationId xmlns:a16="http://schemas.microsoft.com/office/drawing/2014/main" id="{67F0EFCB-86BA-48B5-B78D-BC4C2AD5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  <a:cs typeface="Arial" panose="020B0604020202020204" pitchFamily="34" charset="0"/>
              </a:rPr>
              <a:t>3-</a:t>
            </a:r>
            <a:fld id="{36AB00B2-08B7-4C1F-9F1A-DD23FBF12599}" type="slidenum">
              <a:rPr lang="en-US" altLang="zh-TW" sz="1200" smtClean="0">
                <a:latin typeface="Tahoma" panose="020B0604030504040204" pitchFamily="34" charset="0"/>
                <a:cs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</a:t>
            </a:fld>
            <a:endParaRPr lang="en-US" altLang="zh-TW" sz="1200"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8676" name="Rectangle 3">
            <a:extLst>
              <a:ext uri="{FF2B5EF4-FFF2-40B4-BE49-F238E27FC236}">
                <a16:creationId xmlns:a16="http://schemas.microsoft.com/office/drawing/2014/main" id="{05C40EEF-F2B6-442A-9A83-76C6FF8F54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715963"/>
            <a:ext cx="4487863" cy="172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400">
                <a:solidFill>
                  <a:srgbClr val="000099"/>
                </a:solidFill>
                <a:cs typeface="Arial" panose="020B0604020202020204" pitchFamily="34" charset="0"/>
              </a:rPr>
              <a:t>Chapter 3</a:t>
            </a:r>
            <a:br>
              <a:rPr lang="en-US" altLang="zh-TW" sz="4800">
                <a:solidFill>
                  <a:srgbClr val="000099"/>
                </a:solidFill>
                <a:cs typeface="Arial" panose="020B0604020202020204" pitchFamily="34" charset="0"/>
              </a:rPr>
            </a:br>
            <a:r>
              <a:rPr lang="en-US" altLang="zh-TW" sz="4400">
                <a:solidFill>
                  <a:srgbClr val="000099"/>
                </a:solidFill>
                <a:cs typeface="Arial" panose="020B0604020202020204" pitchFamily="34" charset="0"/>
              </a:rPr>
              <a:t>Transport Layer</a:t>
            </a:r>
          </a:p>
        </p:txBody>
      </p:sp>
      <p:sp>
        <p:nvSpPr>
          <p:cNvPr id="28678" name="Text Box 6">
            <a:extLst>
              <a:ext uri="{FF2B5EF4-FFF2-40B4-BE49-F238E27FC236}">
                <a16:creationId xmlns:a16="http://schemas.microsoft.com/office/drawing/2014/main" id="{BCA7937A-08FA-43AD-88D0-A19A9EB654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888" y="3268663"/>
            <a:ext cx="5378450" cy="148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Arial" panose="020B0604020202020204" pitchFamily="34" charset="0"/>
              </a:rPr>
              <a:t>A note on the use of these ppt slides: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ja-JP" altLang="en-US" sz="120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  <a:r>
              <a:rPr lang="en-US" altLang="ja-JP" sz="1200">
                <a:latin typeface="Arial" panose="020B0604020202020204" pitchFamily="34" charset="0"/>
                <a:cs typeface="Arial" panose="020B0604020202020204" pitchFamily="34" charset="0"/>
              </a:rPr>
              <a:t>re making these slides freely available to all (faculty, students, readers). They</a:t>
            </a:r>
            <a:r>
              <a:rPr lang="ja-JP" altLang="en-US" sz="120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  <a:r>
              <a:rPr lang="en-US" altLang="ja-JP" sz="1200">
                <a:latin typeface="Arial" panose="020B0604020202020204" pitchFamily="34" charset="0"/>
                <a:cs typeface="Arial" panose="020B0604020202020204" pitchFamily="34" charset="0"/>
              </a:rPr>
              <a:t>re in PowerPoint form so you see the animations; and can add, modify, and delete slides  (including this one) and slide content to suit your needs. They obviously represent a </a:t>
            </a:r>
            <a:r>
              <a:rPr lang="en-US" altLang="ja-JP" sz="1200" i="1">
                <a:latin typeface="Arial" panose="020B0604020202020204" pitchFamily="34" charset="0"/>
                <a:cs typeface="Arial" panose="020B0604020202020204" pitchFamily="34" charset="0"/>
              </a:rPr>
              <a:t>lot</a:t>
            </a:r>
            <a:r>
              <a:rPr lang="en-US" altLang="ja-JP" sz="1200">
                <a:latin typeface="Arial" panose="020B0604020202020204" pitchFamily="34" charset="0"/>
                <a:cs typeface="Arial" panose="020B0604020202020204" pitchFamily="34" charset="0"/>
              </a:rPr>
              <a:t> of work on our part. In return for use, we only ask the following: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679" name="Text Box 7">
            <a:extLst>
              <a:ext uri="{FF2B5EF4-FFF2-40B4-BE49-F238E27FC236}">
                <a16:creationId xmlns:a16="http://schemas.microsoft.com/office/drawing/2014/main" id="{8CADF111-1940-420B-91DC-AC683FAD25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063" y="4267200"/>
            <a:ext cx="5378450" cy="201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3038" indent="-1730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SzPct val="75000"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If you use these slides (e.g., in a class) that you mention their source (after all, we</a:t>
            </a:r>
            <a:r>
              <a:rPr lang="ja-JP" altLang="en-US" sz="120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  <a:r>
              <a:rPr lang="en-US" altLang="ja-JP" sz="1200">
                <a:latin typeface="Arial" panose="020B0604020202020204" pitchFamily="34" charset="0"/>
                <a:cs typeface="Arial" panose="020B0604020202020204" pitchFamily="34" charset="0"/>
              </a:rPr>
              <a:t>d like people to use our book!)</a:t>
            </a:r>
          </a:p>
          <a:p>
            <a:pPr>
              <a:lnSpc>
                <a:spcPct val="100000"/>
              </a:lnSpc>
              <a:spcBef>
                <a:spcPct val="0"/>
              </a:spcBef>
              <a:buSzPct val="75000"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If you post any slides on a www site, that you note that they are adapted from (or perhaps identical to) our slides, and note our copyright of this material.</a:t>
            </a:r>
          </a:p>
          <a:p>
            <a:pPr>
              <a:lnSpc>
                <a:spcPct val="100000"/>
              </a:lnSpc>
              <a:spcBef>
                <a:spcPct val="0"/>
              </a:spcBef>
              <a:buClr>
                <a:schemeClr val="accent2"/>
              </a:buClr>
              <a:buSzTx/>
              <a:buFont typeface="Wingdings" panose="05000000000000000000" pitchFamily="2" charset="2"/>
              <a:buChar char="q"/>
            </a:pPr>
            <a:endParaRPr lang="en-US" altLang="zh-TW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ct val="0"/>
              </a:spcBef>
              <a:buClr>
                <a:schemeClr val="accent2"/>
              </a:buClr>
              <a:buSzTx/>
              <a:buFont typeface="Wingdings" panose="05000000000000000000" pitchFamily="2" charset="2"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Thanks and enjoy!  JFK/KWR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     All material copyright 1996-2013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     J.F Kurose and K.W. Ross, All Rights Reserved</a:t>
            </a:r>
          </a:p>
        </p:txBody>
      </p:sp>
      <p:pic>
        <p:nvPicPr>
          <p:cNvPr id="28680" name="Picture 8">
            <a:extLst>
              <a:ext uri="{FF2B5EF4-FFF2-40B4-BE49-F238E27FC236}">
                <a16:creationId xmlns:a16="http://schemas.microsoft.com/office/drawing/2014/main" id="{DA54B22D-4645-4949-B131-7C02EB379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00" y="5942013"/>
            <a:ext cx="187325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681" name="Picture 9" descr="underline_base">
            <a:extLst>
              <a:ext uri="{FF2B5EF4-FFF2-40B4-BE49-F238E27FC236}">
                <a16:creationId xmlns:a16="http://schemas.microsoft.com/office/drawing/2014/main" id="{17EF5FCD-8D4C-4116-993B-1FDC6CC33EE5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2097088"/>
            <a:ext cx="3656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83" name="TextBox 2">
            <a:extLst>
              <a:ext uri="{FF2B5EF4-FFF2-40B4-BE49-F238E27FC236}">
                <a16:creationId xmlns:a16="http://schemas.microsoft.com/office/drawing/2014/main" id="{CCE62642-218A-4247-B020-9940C2DBE5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995488" y="3043238"/>
            <a:ext cx="1841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28684" name="矩形 10">
            <a:extLst>
              <a:ext uri="{FF2B5EF4-FFF2-40B4-BE49-F238E27FC236}">
                <a16:creationId xmlns:a16="http://schemas.microsoft.com/office/drawing/2014/main" id="{77A008D5-A8BA-4E9C-8987-200E847334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7425" y="6311900"/>
            <a:ext cx="2787650" cy="473075"/>
          </a:xfrm>
          <a:prstGeom prst="rect">
            <a:avLst/>
          </a:prstGeom>
          <a:noFill/>
          <a:ln w="9525" algn="ctr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500">
                <a:solidFill>
                  <a:srgbClr val="000099"/>
                </a:solidFill>
                <a:latin typeface="Tahoma" panose="020B0604030504040204" pitchFamily="34" charset="0"/>
              </a:rPr>
              <a:t>Modified by Man Hon Cheung</a:t>
            </a:r>
            <a:endParaRPr lang="zh-TW" altLang="en-US" sz="1500">
              <a:solidFill>
                <a:srgbClr val="000099"/>
              </a:solidFill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Footer Placeholder 5">
            <a:extLst>
              <a:ext uri="{FF2B5EF4-FFF2-40B4-BE49-F238E27FC236}">
                <a16:creationId xmlns:a16="http://schemas.microsoft.com/office/drawing/2014/main" id="{AB2A7BE9-2790-471C-9C94-6A8291D0D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29699" name="Slide Number Placeholder 6">
            <a:extLst>
              <a:ext uri="{FF2B5EF4-FFF2-40B4-BE49-F238E27FC236}">
                <a16:creationId xmlns:a16="http://schemas.microsoft.com/office/drawing/2014/main" id="{F4F7A5CD-3BA5-46E5-8E04-C7D0F10AF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829D97BF-6784-44A4-B846-E4A9A58363E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29700" name="Picture 9" descr="underline_base">
            <a:extLst>
              <a:ext uri="{FF2B5EF4-FFF2-40B4-BE49-F238E27FC236}">
                <a16:creationId xmlns:a16="http://schemas.microsoft.com/office/drawing/2014/main" id="{4388B213-32EE-4B84-ACDB-D0DBF2477C9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25" y="1028700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3" name="Rectangle 2">
            <a:extLst>
              <a:ext uri="{FF2B5EF4-FFF2-40B4-BE49-F238E27FC236}">
                <a16:creationId xmlns:a16="http://schemas.microsoft.com/office/drawing/2014/main" id="{03A6E08D-D498-42A2-AC18-5847051688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3: Transport Layer</a:t>
            </a:r>
          </a:p>
        </p:txBody>
      </p:sp>
      <p:sp>
        <p:nvSpPr>
          <p:cNvPr id="29702" name="Rectangle 3">
            <a:extLst>
              <a:ext uri="{FF2B5EF4-FFF2-40B4-BE49-F238E27FC236}">
                <a16:creationId xmlns:a16="http://schemas.microsoft.com/office/drawing/2014/main" id="{847C06D0-EFF5-45D5-82BF-9DCC2214302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449388"/>
            <a:ext cx="35814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3200">
                <a:solidFill>
                  <a:srgbClr val="CC0000"/>
                </a:solidFill>
              </a:rPr>
              <a:t>our goals: </a:t>
            </a:r>
          </a:p>
          <a:p>
            <a:r>
              <a:rPr lang="en-US" altLang="zh-TW"/>
              <a:t>understand principles behind transport layer services:</a:t>
            </a:r>
          </a:p>
          <a:p>
            <a:pPr lvl="1"/>
            <a:r>
              <a:rPr lang="en-US" altLang="zh-TW"/>
              <a:t>multiplexing, demultiplexing</a:t>
            </a:r>
          </a:p>
          <a:p>
            <a:pPr lvl="1"/>
            <a:r>
              <a:rPr lang="en-US" altLang="zh-TW"/>
              <a:t>reliable data transfer</a:t>
            </a:r>
          </a:p>
          <a:p>
            <a:pPr lvl="1"/>
            <a:r>
              <a:rPr lang="en-US" altLang="zh-TW"/>
              <a:t>flow control</a:t>
            </a:r>
          </a:p>
          <a:p>
            <a:pPr lvl="1"/>
            <a:r>
              <a:rPr lang="en-US" altLang="zh-TW"/>
              <a:t>congestion control</a:t>
            </a:r>
            <a:endParaRPr lang="en-US" altLang="zh-TW" sz="2800"/>
          </a:p>
        </p:txBody>
      </p:sp>
      <p:sp>
        <p:nvSpPr>
          <p:cNvPr id="29703" name="Rectangle 4">
            <a:extLst>
              <a:ext uri="{FF2B5EF4-FFF2-40B4-BE49-F238E27FC236}">
                <a16:creationId xmlns:a16="http://schemas.microsoft.com/office/drawing/2014/main" id="{415DD1B9-D35D-4770-BA52-1E800A20763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348163" y="1501775"/>
            <a:ext cx="4267200" cy="4648200"/>
          </a:xfrm>
        </p:spPr>
        <p:txBody>
          <a:bodyPr/>
          <a:lstStyle/>
          <a:p>
            <a:endParaRPr lang="en-US" altLang="zh-TW"/>
          </a:p>
          <a:p>
            <a:r>
              <a:rPr lang="en-US" altLang="zh-TW"/>
              <a:t>learn about Internet transport layer protocols:</a:t>
            </a:r>
          </a:p>
          <a:p>
            <a:pPr lvl="1"/>
            <a:r>
              <a:rPr lang="en-US" altLang="zh-TW"/>
              <a:t>UDP: connectionless transport</a:t>
            </a:r>
          </a:p>
          <a:p>
            <a:pPr lvl="1"/>
            <a:r>
              <a:rPr lang="en-US" altLang="zh-TW"/>
              <a:t>TCP: connection-oriented reliable transport</a:t>
            </a:r>
          </a:p>
          <a:p>
            <a:pPr lvl="1"/>
            <a:r>
              <a:rPr lang="en-US" altLang="zh-TW"/>
              <a:t>TCP congestion control</a:t>
            </a:r>
            <a:endParaRPr lang="en-US" altLang="zh-TW" sz="2000"/>
          </a:p>
          <a:p>
            <a:endParaRPr lang="en-US" altLang="zh-TW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Footer Placeholder 5">
            <a:extLst>
              <a:ext uri="{FF2B5EF4-FFF2-40B4-BE49-F238E27FC236}">
                <a16:creationId xmlns:a16="http://schemas.microsoft.com/office/drawing/2014/main" id="{47F64AE8-DC90-4B76-9926-F6492E74F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30723" name="Slide Number Placeholder 6">
            <a:extLst>
              <a:ext uri="{FF2B5EF4-FFF2-40B4-BE49-F238E27FC236}">
                <a16:creationId xmlns:a16="http://schemas.microsoft.com/office/drawing/2014/main" id="{0E7F833B-7DF2-4159-8AB1-50905FF6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6423D25B-718F-4CED-8EDC-E83A9E755B1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30724" name="Picture 7" descr="underline_base">
            <a:extLst>
              <a:ext uri="{FF2B5EF4-FFF2-40B4-BE49-F238E27FC236}">
                <a16:creationId xmlns:a16="http://schemas.microsoft.com/office/drawing/2014/main" id="{53D81C73-6FD2-48D5-81CC-0B65AD4A265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7" name="Rectangle 2">
            <a:extLst>
              <a:ext uri="{FF2B5EF4-FFF2-40B4-BE49-F238E27FC236}">
                <a16:creationId xmlns:a16="http://schemas.microsoft.com/office/drawing/2014/main" id="{00ACD216-CE2C-4C50-BDE1-7637A96BFF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3078" name="Rectangle 3">
            <a:extLst>
              <a:ext uri="{FF2B5EF4-FFF2-40B4-BE49-F238E27FC236}">
                <a16:creationId xmlns:a16="http://schemas.microsoft.com/office/drawing/2014/main" id="{820B8D58-B99C-457E-97AA-D25947DF358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3079" name="Rectangle 4">
            <a:extLst>
              <a:ext uri="{FF2B5EF4-FFF2-40B4-BE49-F238E27FC236}">
                <a16:creationId xmlns:a16="http://schemas.microsoft.com/office/drawing/2014/main" id="{20EAE37E-4E8B-4879-A024-EFA6B496FB50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Footer Placeholder 5">
            <a:extLst>
              <a:ext uri="{FF2B5EF4-FFF2-40B4-BE49-F238E27FC236}">
                <a16:creationId xmlns:a16="http://schemas.microsoft.com/office/drawing/2014/main" id="{89545A7D-7211-4D7C-AE41-D58B5B431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Transport</a:t>
            </a:r>
            <a:r>
              <a:rPr lang="en-US" altLang="zh-TW" sz="1400" dirty="0">
                <a:latin typeface="Tahoma" panose="020B0604030504040204" pitchFamily="34" charset="0"/>
              </a:rPr>
              <a:t> </a:t>
            </a:r>
            <a:r>
              <a:rPr lang="en-US" altLang="zh-TW" sz="1200" dirty="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31747" name="Slide Number Placeholder 6">
            <a:extLst>
              <a:ext uri="{FF2B5EF4-FFF2-40B4-BE49-F238E27FC236}">
                <a16:creationId xmlns:a16="http://schemas.microsoft.com/office/drawing/2014/main" id="{0B9CD97B-2333-4D8D-AB5F-998888B37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4BA33002-6846-4AAF-AAF4-83B30734B23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31748" name="Group 894">
            <a:extLst>
              <a:ext uri="{FF2B5EF4-FFF2-40B4-BE49-F238E27FC236}">
                <a16:creationId xmlns:a16="http://schemas.microsoft.com/office/drawing/2014/main" id="{F9B8D7AB-7874-4BAF-A574-1305C4513D80}"/>
              </a:ext>
            </a:extLst>
          </p:cNvPr>
          <p:cNvGrpSpPr>
            <a:grpSpLocks/>
          </p:cNvGrpSpPr>
          <p:nvPr/>
        </p:nvGrpSpPr>
        <p:grpSpPr bwMode="auto">
          <a:xfrm>
            <a:off x="5102225" y="1601788"/>
            <a:ext cx="3540125" cy="4545012"/>
            <a:chOff x="3277" y="974"/>
            <a:chExt cx="2230" cy="2863"/>
          </a:xfrm>
        </p:grpSpPr>
        <p:sp>
          <p:nvSpPr>
            <p:cNvPr id="31777" name="Freeform 895">
              <a:extLst>
                <a:ext uri="{FF2B5EF4-FFF2-40B4-BE49-F238E27FC236}">
                  <a16:creationId xmlns:a16="http://schemas.microsoft.com/office/drawing/2014/main" id="{148F4567-FEE0-4DDF-84CF-C2BDA9D3ADA1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7" y="1079"/>
              <a:ext cx="1094" cy="675"/>
            </a:xfrm>
            <a:custGeom>
              <a:avLst/>
              <a:gdLst>
                <a:gd name="T0" fmla="*/ 5726 w 1036"/>
                <a:gd name="T1" fmla="*/ 11 h 675"/>
                <a:gd name="T2" fmla="*/ 3446 w 1036"/>
                <a:gd name="T3" fmla="*/ 53 h 675"/>
                <a:gd name="T4" fmla="*/ 1824 w 1036"/>
                <a:gd name="T5" fmla="*/ 129 h 675"/>
                <a:gd name="T6" fmla="*/ 1348 w 1036"/>
                <a:gd name="T7" fmla="*/ 229 h 675"/>
                <a:gd name="T8" fmla="*/ 187 w 1036"/>
                <a:gd name="T9" fmla="*/ 297 h 675"/>
                <a:gd name="T10" fmla="*/ 151 w 1036"/>
                <a:gd name="T11" fmla="*/ 459 h 675"/>
                <a:gd name="T12" fmla="*/ 1170 w 1036"/>
                <a:gd name="T13" fmla="*/ 489 h 675"/>
                <a:gd name="T14" fmla="*/ 4056 w 1036"/>
                <a:gd name="T15" fmla="*/ 489 h 675"/>
                <a:gd name="T16" fmla="*/ 5280 w 1036"/>
                <a:gd name="T17" fmla="*/ 555 h 675"/>
                <a:gd name="T18" fmla="*/ 6637 w 1036"/>
                <a:gd name="T19" fmla="*/ 657 h 675"/>
                <a:gd name="T20" fmla="*/ 7685 w 1036"/>
                <a:gd name="T21" fmla="*/ 661 h 675"/>
                <a:gd name="T22" fmla="*/ 8400 w 1036"/>
                <a:gd name="T23" fmla="*/ 603 h 675"/>
                <a:gd name="T24" fmla="*/ 8768 w 1036"/>
                <a:gd name="T25" fmla="*/ 445 h 675"/>
                <a:gd name="T26" fmla="*/ 8995 w 1036"/>
                <a:gd name="T27" fmla="*/ 291 h 675"/>
                <a:gd name="T28" fmla="*/ 9021 w 1036"/>
                <a:gd name="T29" fmla="*/ 107 h 675"/>
                <a:gd name="T30" fmla="*/ 8245 w 1036"/>
                <a:gd name="T31" fmla="*/ 17 h 675"/>
                <a:gd name="T32" fmla="*/ 6850 w 1036"/>
                <a:gd name="T33" fmla="*/ 3 h 675"/>
                <a:gd name="T34" fmla="*/ 5726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1778" name="Group 896">
              <a:extLst>
                <a:ext uri="{FF2B5EF4-FFF2-40B4-BE49-F238E27FC236}">
                  <a16:creationId xmlns:a16="http://schemas.microsoft.com/office/drawing/2014/main" id="{B648074D-869A-41C3-A690-F2D9A158BA7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83" y="1920"/>
              <a:ext cx="919" cy="588"/>
              <a:chOff x="2889" y="1631"/>
              <a:chExt cx="980" cy="743"/>
            </a:xfrm>
          </p:grpSpPr>
          <p:sp>
            <p:nvSpPr>
              <p:cNvPr id="32156" name="Rectangle 897">
                <a:extLst>
                  <a:ext uri="{FF2B5EF4-FFF2-40B4-BE49-F238E27FC236}">
                    <a16:creationId xmlns:a16="http://schemas.microsoft.com/office/drawing/2014/main" id="{B4C2FC7E-3329-48E8-8F39-335DC483F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2157" name="AutoShape 898">
                <a:extLst>
                  <a:ext uri="{FF2B5EF4-FFF2-40B4-BE49-F238E27FC236}">
                    <a16:creationId xmlns:a16="http://schemas.microsoft.com/office/drawing/2014/main" id="{F16F3CAE-1FBF-452C-B835-272594CC49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1779" name="Freeform 899">
              <a:extLst>
                <a:ext uri="{FF2B5EF4-FFF2-40B4-BE49-F238E27FC236}">
                  <a16:creationId xmlns:a16="http://schemas.microsoft.com/office/drawing/2014/main" id="{11EB89C1-E037-467B-959C-EFB217F557F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9" y="2788"/>
              <a:ext cx="2032" cy="1049"/>
            </a:xfrm>
            <a:custGeom>
              <a:avLst/>
              <a:gdLst>
                <a:gd name="T0" fmla="*/ 1044 w 2032"/>
                <a:gd name="T1" fmla="*/ 26 h 1049"/>
                <a:gd name="T2" fmla="*/ 847 w 2032"/>
                <a:gd name="T3" fmla="*/ 125 h 1049"/>
                <a:gd name="T4" fmla="*/ 580 w 2032"/>
                <a:gd name="T5" fmla="*/ 68 h 1049"/>
                <a:gd name="T6" fmla="*/ 143 w 2032"/>
                <a:gd name="T7" fmla="*/ 170 h 1049"/>
                <a:gd name="T8" fmla="*/ 48 w 2032"/>
                <a:gd name="T9" fmla="*/ 374 h 1049"/>
                <a:gd name="T10" fmla="*/ 41 w 2032"/>
                <a:gd name="T11" fmla="*/ 680 h 1049"/>
                <a:gd name="T12" fmla="*/ 294 w 2032"/>
                <a:gd name="T13" fmla="*/ 744 h 1049"/>
                <a:gd name="T14" fmla="*/ 660 w 2032"/>
                <a:gd name="T15" fmla="*/ 893 h 1049"/>
                <a:gd name="T16" fmla="*/ 1088 w 2032"/>
                <a:gd name="T17" fmla="*/ 1014 h 1049"/>
                <a:gd name="T18" fmla="*/ 1525 w 2032"/>
                <a:gd name="T19" fmla="*/ 1031 h 1049"/>
                <a:gd name="T20" fmla="*/ 1831 w 2032"/>
                <a:gd name="T21" fmla="*/ 907 h 1049"/>
                <a:gd name="T22" fmla="*/ 2015 w 2032"/>
                <a:gd name="T23" fmla="*/ 714 h 1049"/>
                <a:gd name="T24" fmla="*/ 1931 w 2032"/>
                <a:gd name="T25" fmla="*/ 251 h 1049"/>
                <a:gd name="T26" fmla="*/ 1658 w 2032"/>
                <a:gd name="T27" fmla="*/ 114 h 1049"/>
                <a:gd name="T28" fmla="*/ 1355 w 2032"/>
                <a:gd name="T29" fmla="*/ 15 h 1049"/>
                <a:gd name="T30" fmla="*/ 1044 w 2032"/>
                <a:gd name="T31" fmla="*/ 2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2032"/>
                <a:gd name="T49" fmla="*/ 0 h 1049"/>
                <a:gd name="T50" fmla="*/ 2032 w 2032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2032" h="1049">
                  <a:moveTo>
                    <a:pt x="1044" y="26"/>
                  </a:moveTo>
                  <a:cubicBezTo>
                    <a:pt x="959" y="45"/>
                    <a:pt x="924" y="118"/>
                    <a:pt x="847" y="125"/>
                  </a:cubicBezTo>
                  <a:cubicBezTo>
                    <a:pt x="770" y="132"/>
                    <a:pt x="697" y="61"/>
                    <a:pt x="580" y="68"/>
                  </a:cubicBezTo>
                  <a:cubicBezTo>
                    <a:pt x="463" y="75"/>
                    <a:pt x="232" y="119"/>
                    <a:pt x="143" y="170"/>
                  </a:cubicBezTo>
                  <a:cubicBezTo>
                    <a:pt x="54" y="221"/>
                    <a:pt x="65" y="289"/>
                    <a:pt x="48" y="374"/>
                  </a:cubicBezTo>
                  <a:cubicBezTo>
                    <a:pt x="31" y="459"/>
                    <a:pt x="0" y="618"/>
                    <a:pt x="41" y="680"/>
                  </a:cubicBezTo>
                  <a:cubicBezTo>
                    <a:pt x="82" y="742"/>
                    <a:pt x="191" y="709"/>
                    <a:pt x="294" y="744"/>
                  </a:cubicBezTo>
                  <a:cubicBezTo>
                    <a:pt x="397" y="779"/>
                    <a:pt x="527" y="849"/>
                    <a:pt x="660" y="893"/>
                  </a:cubicBezTo>
                  <a:cubicBezTo>
                    <a:pt x="793" y="938"/>
                    <a:pt x="944" y="991"/>
                    <a:pt x="1088" y="1014"/>
                  </a:cubicBezTo>
                  <a:cubicBezTo>
                    <a:pt x="1232" y="1036"/>
                    <a:pt x="1401" y="1049"/>
                    <a:pt x="1525" y="1031"/>
                  </a:cubicBezTo>
                  <a:cubicBezTo>
                    <a:pt x="1649" y="1012"/>
                    <a:pt x="1749" y="960"/>
                    <a:pt x="1831" y="907"/>
                  </a:cubicBezTo>
                  <a:cubicBezTo>
                    <a:pt x="1913" y="855"/>
                    <a:pt x="1998" y="824"/>
                    <a:pt x="2015" y="714"/>
                  </a:cubicBezTo>
                  <a:cubicBezTo>
                    <a:pt x="2032" y="604"/>
                    <a:pt x="1990" y="350"/>
                    <a:pt x="1931" y="251"/>
                  </a:cubicBezTo>
                  <a:cubicBezTo>
                    <a:pt x="1872" y="151"/>
                    <a:pt x="1754" y="153"/>
                    <a:pt x="1658" y="114"/>
                  </a:cubicBezTo>
                  <a:cubicBezTo>
                    <a:pt x="1562" y="76"/>
                    <a:pt x="1457" y="30"/>
                    <a:pt x="1355" y="15"/>
                  </a:cubicBezTo>
                  <a:cubicBezTo>
                    <a:pt x="1253" y="0"/>
                    <a:pt x="1129" y="8"/>
                    <a:pt x="1044" y="26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80" name="Line 900">
              <a:extLst>
                <a:ext uri="{FF2B5EF4-FFF2-40B4-BE49-F238E27FC236}">
                  <a16:creationId xmlns:a16="http://schemas.microsoft.com/office/drawing/2014/main" id="{AD560770-6BD1-475C-92A1-BE93D4AB7E7D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4942" y="3252"/>
              <a:ext cx="330" cy="88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1781" name="Line 901">
              <a:extLst>
                <a:ext uri="{FF2B5EF4-FFF2-40B4-BE49-F238E27FC236}">
                  <a16:creationId xmlns:a16="http://schemas.microsoft.com/office/drawing/2014/main" id="{920D4AE0-B400-4C04-B954-9072025F9FC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9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1782" name="Line 902">
              <a:extLst>
                <a:ext uri="{FF2B5EF4-FFF2-40B4-BE49-F238E27FC236}">
                  <a16:creationId xmlns:a16="http://schemas.microsoft.com/office/drawing/2014/main" id="{F8C3F583-1D43-4C56-8CAA-866475F6569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5151" y="3225"/>
              <a:ext cx="0" cy="72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1783" name="Line 903">
              <a:extLst>
                <a:ext uri="{FF2B5EF4-FFF2-40B4-BE49-F238E27FC236}">
                  <a16:creationId xmlns:a16="http://schemas.microsoft.com/office/drawing/2014/main" id="{5182EB1F-12C6-4F25-8DF7-4F8EBF4278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27" y="2977"/>
              <a:ext cx="160" cy="29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84" name="Line 904">
              <a:extLst>
                <a:ext uri="{FF2B5EF4-FFF2-40B4-BE49-F238E27FC236}">
                  <a16:creationId xmlns:a16="http://schemas.microsoft.com/office/drawing/2014/main" id="{5898405A-C39D-426A-9194-217C4B383E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3" y="3009"/>
              <a:ext cx="124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85" name="Line 905">
              <a:extLst>
                <a:ext uri="{FF2B5EF4-FFF2-40B4-BE49-F238E27FC236}">
                  <a16:creationId xmlns:a16="http://schemas.microsoft.com/office/drawing/2014/main" id="{95A551A6-D6C4-4C6D-9675-B306A64D8E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80" y="3221"/>
              <a:ext cx="17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86" name="Line 906">
              <a:extLst>
                <a:ext uri="{FF2B5EF4-FFF2-40B4-BE49-F238E27FC236}">
                  <a16:creationId xmlns:a16="http://schemas.microsoft.com/office/drawing/2014/main" id="{66D0DE87-CFE1-4260-8B52-18BD06767D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14" y="3271"/>
              <a:ext cx="30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87" name="Line 907">
              <a:extLst>
                <a:ext uri="{FF2B5EF4-FFF2-40B4-BE49-F238E27FC236}">
                  <a16:creationId xmlns:a16="http://schemas.microsoft.com/office/drawing/2014/main" id="{E44F34DC-8A73-423C-BA31-BFBB2D4EF4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65" y="3213"/>
              <a:ext cx="34" cy="5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88" name="Line 908">
              <a:extLst>
                <a:ext uri="{FF2B5EF4-FFF2-40B4-BE49-F238E27FC236}">
                  <a16:creationId xmlns:a16="http://schemas.microsoft.com/office/drawing/2014/main" id="{5BAB1BBA-5A6B-4B25-B97C-67233C5321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47" y="3269"/>
              <a:ext cx="1" cy="5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89" name="Line 909">
              <a:extLst>
                <a:ext uri="{FF2B5EF4-FFF2-40B4-BE49-F238E27FC236}">
                  <a16:creationId xmlns:a16="http://schemas.microsoft.com/office/drawing/2014/main" id="{D75627B6-6A04-48A7-BFD0-95BBEAEA38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97" y="3274"/>
              <a:ext cx="0" cy="4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90" name="Line 910">
              <a:extLst>
                <a:ext uri="{FF2B5EF4-FFF2-40B4-BE49-F238E27FC236}">
                  <a16:creationId xmlns:a16="http://schemas.microsoft.com/office/drawing/2014/main" id="{08416F3F-25CC-4195-A1BC-4068860A19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" y="3185"/>
              <a:ext cx="317" cy="17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91" name="Line 911">
              <a:extLst>
                <a:ext uri="{FF2B5EF4-FFF2-40B4-BE49-F238E27FC236}">
                  <a16:creationId xmlns:a16="http://schemas.microsoft.com/office/drawing/2014/main" id="{DF660F06-4951-41F3-9C1B-EB0C15C3CD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1" y="3144"/>
              <a:ext cx="51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92" name="Line 912">
              <a:extLst>
                <a:ext uri="{FF2B5EF4-FFF2-40B4-BE49-F238E27FC236}">
                  <a16:creationId xmlns:a16="http://schemas.microsoft.com/office/drawing/2014/main" id="{BF303BCF-5301-45E0-96C4-ACBFD2D466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9" y="2257"/>
              <a:ext cx="148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93" name="Line 913">
              <a:extLst>
                <a:ext uri="{FF2B5EF4-FFF2-40B4-BE49-F238E27FC236}">
                  <a16:creationId xmlns:a16="http://schemas.microsoft.com/office/drawing/2014/main" id="{6F5EDAE3-A66F-48BE-A62F-8C76C62578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1" y="2354"/>
              <a:ext cx="106" cy="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1794" name="Group 914">
              <a:extLst>
                <a:ext uri="{FF2B5EF4-FFF2-40B4-BE49-F238E27FC236}">
                  <a16:creationId xmlns:a16="http://schemas.microsoft.com/office/drawing/2014/main" id="{CD94F6CF-40AE-4D8C-AA7F-F7A2C9C72F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5" y="2207"/>
              <a:ext cx="319" cy="222"/>
              <a:chOff x="2967" y="478"/>
              <a:chExt cx="788" cy="625"/>
            </a:xfrm>
          </p:grpSpPr>
          <p:pic>
            <p:nvPicPr>
              <p:cNvPr id="32154" name="Picture 915" descr="access_point_stylized_small">
                <a:extLst>
                  <a:ext uri="{FF2B5EF4-FFF2-40B4-BE49-F238E27FC236}">
                    <a16:creationId xmlns:a16="http://schemas.microsoft.com/office/drawing/2014/main" id="{15F56B12-A5D9-4640-8946-BCEC8CF169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2155" name="Picture 916" descr="antenna_radiation_stylized">
                <a:extLst>
                  <a:ext uri="{FF2B5EF4-FFF2-40B4-BE49-F238E27FC236}">
                    <a16:creationId xmlns:a16="http://schemas.microsoft.com/office/drawing/2014/main" id="{DDC37BF1-C844-4DBF-8435-EF649A3FE6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31795" name="Freeform 917">
              <a:extLst>
                <a:ext uri="{FF2B5EF4-FFF2-40B4-BE49-F238E27FC236}">
                  <a16:creationId xmlns:a16="http://schemas.microsoft.com/office/drawing/2014/main" id="{AAFEC098-A371-42DE-AE58-B2FDC8357B0C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9" y="2224"/>
              <a:ext cx="828" cy="425"/>
            </a:xfrm>
            <a:custGeom>
              <a:avLst/>
              <a:gdLst>
                <a:gd name="T0" fmla="*/ 382 w 828"/>
                <a:gd name="T1" fmla="*/ 30 h 425"/>
                <a:gd name="T2" fmla="*/ 370 w 828"/>
                <a:gd name="T3" fmla="*/ 30 h 425"/>
                <a:gd name="T4" fmla="*/ 126 w 828"/>
                <a:gd name="T5" fmla="*/ 32 h 425"/>
                <a:gd name="T6" fmla="*/ 6 w 828"/>
                <a:gd name="T7" fmla="*/ 126 h 425"/>
                <a:gd name="T8" fmla="*/ 92 w 828"/>
                <a:gd name="T9" fmla="*/ 274 h 425"/>
                <a:gd name="T10" fmla="*/ 292 w 828"/>
                <a:gd name="T11" fmla="*/ 384 h 425"/>
                <a:gd name="T12" fmla="*/ 540 w 828"/>
                <a:gd name="T13" fmla="*/ 416 h 425"/>
                <a:gd name="T14" fmla="*/ 698 w 828"/>
                <a:gd name="T15" fmla="*/ 330 h 425"/>
                <a:gd name="T16" fmla="*/ 776 w 828"/>
                <a:gd name="T17" fmla="*/ 170 h 425"/>
                <a:gd name="T18" fmla="*/ 792 w 828"/>
                <a:gd name="T19" fmla="*/ 22 h 425"/>
                <a:gd name="T20" fmla="*/ 560 w 828"/>
                <a:gd name="T21" fmla="*/ 38 h 425"/>
                <a:gd name="T22" fmla="*/ 382 w 828"/>
                <a:gd name="T23" fmla="*/ 30 h 425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828"/>
                <a:gd name="T37" fmla="*/ 0 h 425"/>
                <a:gd name="T38" fmla="*/ 828 w 828"/>
                <a:gd name="T39" fmla="*/ 425 h 425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828" h="425">
                  <a:moveTo>
                    <a:pt x="382" y="30"/>
                  </a:moveTo>
                  <a:cubicBezTo>
                    <a:pt x="350" y="29"/>
                    <a:pt x="413" y="30"/>
                    <a:pt x="370" y="30"/>
                  </a:cubicBezTo>
                  <a:cubicBezTo>
                    <a:pt x="327" y="30"/>
                    <a:pt x="187" y="16"/>
                    <a:pt x="126" y="32"/>
                  </a:cubicBezTo>
                  <a:cubicBezTo>
                    <a:pt x="65" y="48"/>
                    <a:pt x="12" y="86"/>
                    <a:pt x="6" y="126"/>
                  </a:cubicBezTo>
                  <a:cubicBezTo>
                    <a:pt x="0" y="166"/>
                    <a:pt x="44" y="231"/>
                    <a:pt x="92" y="274"/>
                  </a:cubicBezTo>
                  <a:cubicBezTo>
                    <a:pt x="140" y="317"/>
                    <a:pt x="217" y="360"/>
                    <a:pt x="292" y="384"/>
                  </a:cubicBezTo>
                  <a:cubicBezTo>
                    <a:pt x="367" y="408"/>
                    <a:pt x="472" y="425"/>
                    <a:pt x="540" y="416"/>
                  </a:cubicBezTo>
                  <a:cubicBezTo>
                    <a:pt x="608" y="407"/>
                    <a:pt x="659" y="371"/>
                    <a:pt x="698" y="330"/>
                  </a:cubicBezTo>
                  <a:cubicBezTo>
                    <a:pt x="737" y="289"/>
                    <a:pt x="760" y="221"/>
                    <a:pt x="776" y="170"/>
                  </a:cubicBezTo>
                  <a:cubicBezTo>
                    <a:pt x="792" y="119"/>
                    <a:pt x="828" y="44"/>
                    <a:pt x="792" y="22"/>
                  </a:cubicBezTo>
                  <a:cubicBezTo>
                    <a:pt x="756" y="0"/>
                    <a:pt x="630" y="37"/>
                    <a:pt x="560" y="38"/>
                  </a:cubicBezTo>
                  <a:cubicBezTo>
                    <a:pt x="490" y="39"/>
                    <a:pt x="414" y="31"/>
                    <a:pt x="382" y="3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96" name="Freeform 918">
              <a:extLst>
                <a:ext uri="{FF2B5EF4-FFF2-40B4-BE49-F238E27FC236}">
                  <a16:creationId xmlns:a16="http://schemas.microsoft.com/office/drawing/2014/main" id="{3F806B57-B550-48A9-89E6-C1C124A995AE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7" y="1263"/>
              <a:ext cx="1090" cy="709"/>
            </a:xfrm>
            <a:custGeom>
              <a:avLst/>
              <a:gdLst>
                <a:gd name="T0" fmla="*/ 599941990 w 765"/>
                <a:gd name="T1" fmla="*/ 352945333 h 459"/>
                <a:gd name="T2" fmla="*/ 406559188 w 765"/>
                <a:gd name="T3" fmla="*/ 2147483646 h 459"/>
                <a:gd name="T4" fmla="*/ 136007644 w 765"/>
                <a:gd name="T5" fmla="*/ 2147483646 h 459"/>
                <a:gd name="T6" fmla="*/ 19434385 w 765"/>
                <a:gd name="T7" fmla="*/ 2147483646 h 459"/>
                <a:gd name="T8" fmla="*/ 254382390 w 765"/>
                <a:gd name="T9" fmla="*/ 2147483646 h 459"/>
                <a:gd name="T10" fmla="*/ 489002591 w 765"/>
                <a:gd name="T11" fmla="*/ 2147483646 h 459"/>
                <a:gd name="T12" fmla="*/ 825379590 w 765"/>
                <a:gd name="T13" fmla="*/ 2147483646 h 459"/>
                <a:gd name="T14" fmla="*/ 987694542 w 765"/>
                <a:gd name="T15" fmla="*/ 2147483646 h 459"/>
                <a:gd name="T16" fmla="*/ 1063159525 w 765"/>
                <a:gd name="T17" fmla="*/ 2147483646 h 459"/>
                <a:gd name="T18" fmla="*/ 1061292822 w 765"/>
                <a:gd name="T19" fmla="*/ 2147483646 h 459"/>
                <a:gd name="T20" fmla="*/ 936641125 w 765"/>
                <a:gd name="T21" fmla="*/ 1232372677 h 459"/>
                <a:gd name="T22" fmla="*/ 599941990 w 765"/>
                <a:gd name="T23" fmla="*/ 352945333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97" name="Line 919">
              <a:extLst>
                <a:ext uri="{FF2B5EF4-FFF2-40B4-BE49-F238E27FC236}">
                  <a16:creationId xmlns:a16="http://schemas.microsoft.com/office/drawing/2014/main" id="{2DCB23AA-99DE-4FB0-8FC8-ED7150BEBF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" y="2404"/>
              <a:ext cx="103" cy="7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98" name="Line 920">
              <a:extLst>
                <a:ext uri="{FF2B5EF4-FFF2-40B4-BE49-F238E27FC236}">
                  <a16:creationId xmlns:a16="http://schemas.microsoft.com/office/drawing/2014/main" id="{958B84FE-186C-4A87-8876-00F39BC762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20" y="2354"/>
              <a:ext cx="176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799" name="Line 921">
              <a:extLst>
                <a:ext uri="{FF2B5EF4-FFF2-40B4-BE49-F238E27FC236}">
                  <a16:creationId xmlns:a16="http://schemas.microsoft.com/office/drawing/2014/main" id="{E429EF65-D7E0-4F01-B13C-F57D461D35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" y="2408"/>
              <a:ext cx="85" cy="6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0" name="Line 922">
              <a:extLst>
                <a:ext uri="{FF2B5EF4-FFF2-40B4-BE49-F238E27FC236}">
                  <a16:creationId xmlns:a16="http://schemas.microsoft.com/office/drawing/2014/main" id="{ABEA817B-FE34-4F55-AC64-28D6A4C739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" y="1632"/>
              <a:ext cx="321" cy="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1" name="Line 923">
              <a:extLst>
                <a:ext uri="{FF2B5EF4-FFF2-40B4-BE49-F238E27FC236}">
                  <a16:creationId xmlns:a16="http://schemas.microsoft.com/office/drawing/2014/main" id="{504F91FF-B836-40C2-A870-4B9D8E7F28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5" y="2961"/>
              <a:ext cx="246" cy="11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2" name="Line 924">
              <a:extLst>
                <a:ext uri="{FF2B5EF4-FFF2-40B4-BE49-F238E27FC236}">
                  <a16:creationId xmlns:a16="http://schemas.microsoft.com/office/drawing/2014/main" id="{750340AF-9E6D-424E-97C4-50778F0407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4" y="2953"/>
              <a:ext cx="203" cy="1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3" name="Line 925">
              <a:extLst>
                <a:ext uri="{FF2B5EF4-FFF2-40B4-BE49-F238E27FC236}">
                  <a16:creationId xmlns:a16="http://schemas.microsoft.com/office/drawing/2014/main" id="{4A46B5A2-94B1-4572-B009-8E26AFDE74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1" y="3137"/>
              <a:ext cx="6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4" name="Line 926">
              <a:extLst>
                <a:ext uri="{FF2B5EF4-FFF2-40B4-BE49-F238E27FC236}">
                  <a16:creationId xmlns:a16="http://schemas.microsoft.com/office/drawing/2014/main" id="{BC960FE8-E43F-44A4-BA36-FC0368F1F45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572"/>
              <a:ext cx="78" cy="5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5" name="Line 927">
              <a:extLst>
                <a:ext uri="{FF2B5EF4-FFF2-40B4-BE49-F238E27FC236}">
                  <a16:creationId xmlns:a16="http://schemas.microsoft.com/office/drawing/2014/main" id="{E5DD51A4-EBBD-4F5F-800D-30D0BB98AD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5" y="1681"/>
              <a:ext cx="0" cy="5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6" name="Line 928">
              <a:extLst>
                <a:ext uri="{FF2B5EF4-FFF2-40B4-BE49-F238E27FC236}">
                  <a16:creationId xmlns:a16="http://schemas.microsoft.com/office/drawing/2014/main" id="{B431927E-0B74-476A-85BA-391575A669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616"/>
              <a:ext cx="166" cy="18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7" name="Line 929">
              <a:extLst>
                <a:ext uri="{FF2B5EF4-FFF2-40B4-BE49-F238E27FC236}">
                  <a16:creationId xmlns:a16="http://schemas.microsoft.com/office/drawing/2014/main" id="{33AFEA56-4874-436C-9EB6-E0B321C301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03" y="1615"/>
              <a:ext cx="0" cy="12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8" name="Line 930">
              <a:extLst>
                <a:ext uri="{FF2B5EF4-FFF2-40B4-BE49-F238E27FC236}">
                  <a16:creationId xmlns:a16="http://schemas.microsoft.com/office/drawing/2014/main" id="{756A70F4-5074-4D27-8E62-D7620966A2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85" y="1808"/>
              <a:ext cx="11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09" name="Line 931">
              <a:extLst>
                <a:ext uri="{FF2B5EF4-FFF2-40B4-BE49-F238E27FC236}">
                  <a16:creationId xmlns:a16="http://schemas.microsoft.com/office/drawing/2014/main" id="{4FE31343-8242-4BDC-AE2A-DE7ACBB8B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4" y="1802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10" name="Line 932">
              <a:extLst>
                <a:ext uri="{FF2B5EF4-FFF2-40B4-BE49-F238E27FC236}">
                  <a16:creationId xmlns:a16="http://schemas.microsoft.com/office/drawing/2014/main" id="{5C2A5CAC-0642-4613-98D7-A4E8B7DB0F0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96" y="1850"/>
              <a:ext cx="62" cy="444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11" name="Line 933">
              <a:extLst>
                <a:ext uri="{FF2B5EF4-FFF2-40B4-BE49-F238E27FC236}">
                  <a16:creationId xmlns:a16="http://schemas.microsoft.com/office/drawing/2014/main" id="{41BEE361-8220-4D59-8B2D-74485F0FB5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69" y="1850"/>
              <a:ext cx="70" cy="45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12" name="Line 934">
              <a:extLst>
                <a:ext uri="{FF2B5EF4-FFF2-40B4-BE49-F238E27FC236}">
                  <a16:creationId xmlns:a16="http://schemas.microsoft.com/office/drawing/2014/main" id="{CB997EB8-931C-48E8-96A1-1FFBD7BC5C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81" y="2569"/>
              <a:ext cx="143" cy="27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13" name="Line 935">
              <a:extLst>
                <a:ext uri="{FF2B5EF4-FFF2-40B4-BE49-F238E27FC236}">
                  <a16:creationId xmlns:a16="http://schemas.microsoft.com/office/drawing/2014/main" id="{2323304B-C4A0-400C-AE4B-09F2DB7EF1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" y="1801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1814" name="Group 936">
              <a:extLst>
                <a:ext uri="{FF2B5EF4-FFF2-40B4-BE49-F238E27FC236}">
                  <a16:creationId xmlns:a16="http://schemas.microsoft.com/office/drawing/2014/main" id="{008567B2-53F7-46D7-9218-56B3870F09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3" y="1163"/>
              <a:ext cx="295" cy="391"/>
              <a:chOff x="1653" y="3023"/>
              <a:chExt cx="622" cy="911"/>
            </a:xfrm>
          </p:grpSpPr>
          <p:sp>
            <p:nvSpPr>
              <p:cNvPr id="32137" name="Line 270">
                <a:extLst>
                  <a:ext uri="{FF2B5EF4-FFF2-40B4-BE49-F238E27FC236}">
                    <a16:creationId xmlns:a16="http://schemas.microsoft.com/office/drawing/2014/main" id="{B380E9C8-A905-4F85-BF63-C6A456478EF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66" y="3287"/>
                <a:ext cx="188" cy="586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38" name="Line 271">
                <a:extLst>
                  <a:ext uri="{FF2B5EF4-FFF2-40B4-BE49-F238E27FC236}">
                    <a16:creationId xmlns:a16="http://schemas.microsoft.com/office/drawing/2014/main" id="{A1A4F847-2160-4E7C-BA2E-64D326A1DC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287"/>
                <a:ext cx="188" cy="58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39" name="Line 272">
                <a:extLst>
                  <a:ext uri="{FF2B5EF4-FFF2-40B4-BE49-F238E27FC236}">
                    <a16:creationId xmlns:a16="http://schemas.microsoft.com/office/drawing/2014/main" id="{2B163E63-5AA6-4049-B1C7-4E84500AF4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66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0" name="Line 273">
                <a:extLst>
                  <a:ext uri="{FF2B5EF4-FFF2-40B4-BE49-F238E27FC236}">
                    <a16:creationId xmlns:a16="http://schemas.microsoft.com/office/drawing/2014/main" id="{6DBF723E-0E41-42C2-AD30-4410CC7B75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54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1" name="Line 274">
                <a:extLst>
                  <a:ext uri="{FF2B5EF4-FFF2-40B4-BE49-F238E27FC236}">
                    <a16:creationId xmlns:a16="http://schemas.microsoft.com/office/drawing/2014/main" id="{2BD953C2-896F-4AD9-803F-6F1A023D75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300"/>
                <a:ext cx="0" cy="63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2" name="Line 275">
                <a:extLst>
                  <a:ext uri="{FF2B5EF4-FFF2-40B4-BE49-F238E27FC236}">
                    <a16:creationId xmlns:a16="http://schemas.microsoft.com/office/drawing/2014/main" id="{6106BD36-1866-4069-8B13-8E5D34AB4A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66" y="3810"/>
                <a:ext cx="188" cy="6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3" name="Line 276">
                <a:extLst>
                  <a:ext uri="{FF2B5EF4-FFF2-40B4-BE49-F238E27FC236}">
                    <a16:creationId xmlns:a16="http://schemas.microsoft.com/office/drawing/2014/main" id="{584EBA62-C1E0-4D20-9B1F-EC36B7ECCE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54" y="3810"/>
                <a:ext cx="188" cy="60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4" name="Line 277">
                <a:extLst>
                  <a:ext uri="{FF2B5EF4-FFF2-40B4-BE49-F238E27FC236}">
                    <a16:creationId xmlns:a16="http://schemas.microsoft.com/office/drawing/2014/main" id="{106229F9-BBBC-40A0-894D-F0BC64D5D7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46" y="3618"/>
                <a:ext cx="108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5" name="Line 278">
                <a:extLst>
                  <a:ext uri="{FF2B5EF4-FFF2-40B4-BE49-F238E27FC236}">
                    <a16:creationId xmlns:a16="http://schemas.microsoft.com/office/drawing/2014/main" id="{6DD5EB0E-5ED8-4719-AC52-E64095554A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618"/>
                <a:ext cx="114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6" name="Line 279">
                <a:extLst>
                  <a:ext uri="{FF2B5EF4-FFF2-40B4-BE49-F238E27FC236}">
                    <a16:creationId xmlns:a16="http://schemas.microsoft.com/office/drawing/2014/main" id="{ADB63F19-9D48-4B98-BB2C-85B83C1E0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10" y="3704"/>
                <a:ext cx="139" cy="65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7" name="Line 280">
                <a:extLst>
                  <a:ext uri="{FF2B5EF4-FFF2-40B4-BE49-F238E27FC236}">
                    <a16:creationId xmlns:a16="http://schemas.microsoft.com/office/drawing/2014/main" id="{02AA3418-35BE-4B9E-8089-58FF8B96AD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717"/>
                <a:ext cx="140" cy="57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8" name="Line 281">
                <a:extLst>
                  <a:ext uri="{FF2B5EF4-FFF2-40B4-BE49-F238E27FC236}">
                    <a16:creationId xmlns:a16="http://schemas.microsoft.com/office/drawing/2014/main" id="{51BF578A-092F-4D19-8959-C1EDA1DC55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530"/>
                <a:ext cx="72" cy="2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49" name="Line 282">
                <a:extLst>
                  <a:ext uri="{FF2B5EF4-FFF2-40B4-BE49-F238E27FC236}">
                    <a16:creationId xmlns:a16="http://schemas.microsoft.com/office/drawing/2014/main" id="{9CE5DA4F-8E75-4DE3-AD55-A254CACFBB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409"/>
                <a:ext cx="45" cy="1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50" name="Line 283">
                <a:extLst>
                  <a:ext uri="{FF2B5EF4-FFF2-40B4-BE49-F238E27FC236}">
                    <a16:creationId xmlns:a16="http://schemas.microsoft.com/office/drawing/2014/main" id="{8BA5B547-3482-4899-A9DE-E62384F326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73" y="3522"/>
                <a:ext cx="87" cy="32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51" name="Line 284">
                <a:extLst>
                  <a:ext uri="{FF2B5EF4-FFF2-40B4-BE49-F238E27FC236}">
                    <a16:creationId xmlns:a16="http://schemas.microsoft.com/office/drawing/2014/main" id="{4B362278-17DA-4F19-AC6F-516D1088BC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12" y="3404"/>
                <a:ext cx="50" cy="31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2152" name="Oval 952">
                <a:extLst>
                  <a:ext uri="{FF2B5EF4-FFF2-40B4-BE49-F238E27FC236}">
                    <a16:creationId xmlns:a16="http://schemas.microsoft.com/office/drawing/2014/main" id="{DA127E92-472C-405C-9683-CBD3F80CE7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21" y="3233"/>
                <a:ext cx="63" cy="68"/>
              </a:xfrm>
              <a:prstGeom prst="ellipse">
                <a:avLst/>
              </a:prstGeom>
              <a:solidFill>
                <a:srgbClr val="808080"/>
              </a:solidFill>
              <a:ln w="9525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pic>
            <p:nvPicPr>
              <p:cNvPr id="32153" name="Picture 953" descr="cell_tower_radiation_gray">
                <a:extLst>
                  <a:ext uri="{FF2B5EF4-FFF2-40B4-BE49-F238E27FC236}">
                    <a16:creationId xmlns:a16="http://schemas.microsoft.com/office/drawing/2014/main" id="{5C53D233-3974-43CB-B459-5D2A2D0558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53" y="3023"/>
                <a:ext cx="622" cy="5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1815" name="Group 954">
              <a:extLst>
                <a:ext uri="{FF2B5EF4-FFF2-40B4-BE49-F238E27FC236}">
                  <a16:creationId xmlns:a16="http://schemas.microsoft.com/office/drawing/2014/main" id="{857676F2-60ED-44DB-9A31-6A9056FA17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2" y="1516"/>
              <a:ext cx="286" cy="160"/>
              <a:chOff x="3843" y="1516"/>
              <a:chExt cx="286" cy="160"/>
            </a:xfrm>
          </p:grpSpPr>
          <p:sp>
            <p:nvSpPr>
              <p:cNvPr id="32128" name="Line 955">
                <a:extLst>
                  <a:ext uri="{FF2B5EF4-FFF2-40B4-BE49-F238E27FC236}">
                    <a16:creationId xmlns:a16="http://schemas.microsoft.com/office/drawing/2014/main" id="{F1E44409-566A-43B6-A9C6-9FF8F31920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3" y="1516"/>
                <a:ext cx="96" cy="60"/>
              </a:xfrm>
              <a:prstGeom prst="line">
                <a:avLst/>
              </a:prstGeom>
              <a:noFill/>
              <a:ln w="952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29" name="Oval 407">
                <a:extLst>
                  <a:ext uri="{FF2B5EF4-FFF2-40B4-BE49-F238E27FC236}">
                    <a16:creationId xmlns:a16="http://schemas.microsoft.com/office/drawing/2014/main" id="{1182C9B3-31C1-47C0-8DCE-013DEEE9CB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6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30" name="Rectangle 410">
                <a:extLst>
                  <a:ext uri="{FF2B5EF4-FFF2-40B4-BE49-F238E27FC236}">
                    <a16:creationId xmlns:a16="http://schemas.microsoft.com/office/drawing/2014/main" id="{E475B64D-3409-4C1D-9596-A96D572CC2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0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31" name="Oval 411">
                <a:extLst>
                  <a:ext uri="{FF2B5EF4-FFF2-40B4-BE49-F238E27FC236}">
                    <a16:creationId xmlns:a16="http://schemas.microsoft.com/office/drawing/2014/main" id="{792BAFE9-4B98-44CE-9F2B-156602B8B8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3" y="1569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132" name="Group 959">
                <a:extLst>
                  <a:ext uri="{FF2B5EF4-FFF2-40B4-BE49-F238E27FC236}">
                    <a16:creationId xmlns:a16="http://schemas.microsoft.com/office/drawing/2014/main" id="{71C6AE48-42C9-438B-BC24-116DF6B5F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32" y="1587"/>
                <a:ext cx="138" cy="33"/>
                <a:chOff x="2468" y="1332"/>
                <a:chExt cx="310" cy="60"/>
              </a:xfrm>
            </p:grpSpPr>
            <p:sp>
              <p:nvSpPr>
                <p:cNvPr id="32135" name="Freeform 960">
                  <a:extLst>
                    <a:ext uri="{FF2B5EF4-FFF2-40B4-BE49-F238E27FC236}">
                      <a16:creationId xmlns:a16="http://schemas.microsoft.com/office/drawing/2014/main" id="{D5857014-E7E8-4243-A916-850D285A6C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136" name="Freeform 961">
                  <a:extLst>
                    <a:ext uri="{FF2B5EF4-FFF2-40B4-BE49-F238E27FC236}">
                      <a16:creationId xmlns:a16="http://schemas.microsoft.com/office/drawing/2014/main" id="{AB8CF0EE-1E00-4490-803A-BB9C0C924C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133" name="Line 962">
                <a:extLst>
                  <a:ext uri="{FF2B5EF4-FFF2-40B4-BE49-F238E27FC236}">
                    <a16:creationId xmlns:a16="http://schemas.microsoft.com/office/drawing/2014/main" id="{4202C11F-20C8-4C28-B820-D6A82A25A8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84" y="1602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34" name="Line 963">
                <a:extLst>
                  <a:ext uri="{FF2B5EF4-FFF2-40B4-BE49-F238E27FC236}">
                    <a16:creationId xmlns:a16="http://schemas.microsoft.com/office/drawing/2014/main" id="{6CC5FED7-A8AB-41BD-A5CC-516CFB0C45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27" y="1604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16" name="Group 964">
              <a:extLst>
                <a:ext uri="{FF2B5EF4-FFF2-40B4-BE49-F238E27FC236}">
                  <a16:creationId xmlns:a16="http://schemas.microsoft.com/office/drawing/2014/main" id="{44BC10F3-8546-437D-A82B-F6AF9C36E2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7" y="1571"/>
              <a:ext cx="246" cy="110"/>
              <a:chOff x="4334" y="1470"/>
              <a:chExt cx="246" cy="107"/>
            </a:xfrm>
          </p:grpSpPr>
          <p:sp>
            <p:nvSpPr>
              <p:cNvPr id="32120" name="Oval 407">
                <a:extLst>
                  <a:ext uri="{FF2B5EF4-FFF2-40B4-BE49-F238E27FC236}">
                    <a16:creationId xmlns:a16="http://schemas.microsoft.com/office/drawing/2014/main" id="{D3FCEC87-315B-4829-B382-E9EA50A13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21" name="Rectangle 410">
                <a:extLst>
                  <a:ext uri="{FF2B5EF4-FFF2-40B4-BE49-F238E27FC236}">
                    <a16:creationId xmlns:a16="http://schemas.microsoft.com/office/drawing/2014/main" id="{F0CC1D44-D00C-430C-8FF3-A36E9E4326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22" name="Oval 411">
                <a:extLst>
                  <a:ext uri="{FF2B5EF4-FFF2-40B4-BE49-F238E27FC236}">
                    <a16:creationId xmlns:a16="http://schemas.microsoft.com/office/drawing/2014/main" id="{5B223F43-9FD5-424D-B560-75D4B89496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123" name="Group 968">
                <a:extLst>
                  <a:ext uri="{FF2B5EF4-FFF2-40B4-BE49-F238E27FC236}">
                    <a16:creationId xmlns:a16="http://schemas.microsoft.com/office/drawing/2014/main" id="{36F259FC-C662-4E4A-8ABC-2284E18C73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126" name="Freeform 969">
                  <a:extLst>
                    <a:ext uri="{FF2B5EF4-FFF2-40B4-BE49-F238E27FC236}">
                      <a16:creationId xmlns:a16="http://schemas.microsoft.com/office/drawing/2014/main" id="{0240B62C-392B-465F-956E-3D1D6DCF7DF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127" name="Freeform 970">
                  <a:extLst>
                    <a:ext uri="{FF2B5EF4-FFF2-40B4-BE49-F238E27FC236}">
                      <a16:creationId xmlns:a16="http://schemas.microsoft.com/office/drawing/2014/main" id="{F166269B-9783-420E-BE07-C5212DE7B4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124" name="Line 971">
                <a:extLst>
                  <a:ext uri="{FF2B5EF4-FFF2-40B4-BE49-F238E27FC236}">
                    <a16:creationId xmlns:a16="http://schemas.microsoft.com/office/drawing/2014/main" id="{5DE3C8B1-ECB8-4179-A236-FEDA742626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25" name="Line 972">
                <a:extLst>
                  <a:ext uri="{FF2B5EF4-FFF2-40B4-BE49-F238E27FC236}">
                    <a16:creationId xmlns:a16="http://schemas.microsoft.com/office/drawing/2014/main" id="{D75EED31-2FBD-4995-A97B-BB0260350F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17" name="Group 973">
              <a:extLst>
                <a:ext uri="{FF2B5EF4-FFF2-40B4-BE49-F238E27FC236}">
                  <a16:creationId xmlns:a16="http://schemas.microsoft.com/office/drawing/2014/main" id="{A0DE28C8-46CC-44B3-9D91-7F4D36D400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4" y="1737"/>
              <a:ext cx="246" cy="110"/>
              <a:chOff x="4334" y="1470"/>
              <a:chExt cx="246" cy="107"/>
            </a:xfrm>
          </p:grpSpPr>
          <p:sp>
            <p:nvSpPr>
              <p:cNvPr id="32112" name="Oval 407">
                <a:extLst>
                  <a:ext uri="{FF2B5EF4-FFF2-40B4-BE49-F238E27FC236}">
                    <a16:creationId xmlns:a16="http://schemas.microsoft.com/office/drawing/2014/main" id="{2F285DA8-A8D6-42C3-B161-58739BB490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13" name="Rectangle 410">
                <a:extLst>
                  <a:ext uri="{FF2B5EF4-FFF2-40B4-BE49-F238E27FC236}">
                    <a16:creationId xmlns:a16="http://schemas.microsoft.com/office/drawing/2014/main" id="{D1035165-C96C-4004-8DCB-112A9EC0E3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14" name="Oval 411">
                <a:extLst>
                  <a:ext uri="{FF2B5EF4-FFF2-40B4-BE49-F238E27FC236}">
                    <a16:creationId xmlns:a16="http://schemas.microsoft.com/office/drawing/2014/main" id="{EF3D33B6-370E-4271-ACC5-4449B1FCEA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115" name="Group 977">
                <a:extLst>
                  <a:ext uri="{FF2B5EF4-FFF2-40B4-BE49-F238E27FC236}">
                    <a16:creationId xmlns:a16="http://schemas.microsoft.com/office/drawing/2014/main" id="{139B2C6D-C4AF-421A-B72A-9BEBABE1D57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118" name="Freeform 978">
                  <a:extLst>
                    <a:ext uri="{FF2B5EF4-FFF2-40B4-BE49-F238E27FC236}">
                      <a16:creationId xmlns:a16="http://schemas.microsoft.com/office/drawing/2014/main" id="{605A59AB-BFD8-4D69-AE30-D0503D4168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119" name="Freeform 979">
                  <a:extLst>
                    <a:ext uri="{FF2B5EF4-FFF2-40B4-BE49-F238E27FC236}">
                      <a16:creationId xmlns:a16="http://schemas.microsoft.com/office/drawing/2014/main" id="{822EE3FC-35F6-4D7E-90C7-CC65238F981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116" name="Line 980">
                <a:extLst>
                  <a:ext uri="{FF2B5EF4-FFF2-40B4-BE49-F238E27FC236}">
                    <a16:creationId xmlns:a16="http://schemas.microsoft.com/office/drawing/2014/main" id="{8D02B7F9-74B3-4B14-BCCC-51FF478BC1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17" name="Line 981">
                <a:extLst>
                  <a:ext uri="{FF2B5EF4-FFF2-40B4-BE49-F238E27FC236}">
                    <a16:creationId xmlns:a16="http://schemas.microsoft.com/office/drawing/2014/main" id="{CF37A7E4-A875-45A8-8C00-8CC85FB242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18" name="Group 982">
              <a:extLst>
                <a:ext uri="{FF2B5EF4-FFF2-40B4-BE49-F238E27FC236}">
                  <a16:creationId xmlns:a16="http://schemas.microsoft.com/office/drawing/2014/main" id="{F8DF537B-4EF3-44FD-83C2-9D2CC00A65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90" y="1738"/>
              <a:ext cx="246" cy="110"/>
              <a:chOff x="4334" y="1470"/>
              <a:chExt cx="246" cy="107"/>
            </a:xfrm>
          </p:grpSpPr>
          <p:sp>
            <p:nvSpPr>
              <p:cNvPr id="32104" name="Oval 407">
                <a:extLst>
                  <a:ext uri="{FF2B5EF4-FFF2-40B4-BE49-F238E27FC236}">
                    <a16:creationId xmlns:a16="http://schemas.microsoft.com/office/drawing/2014/main" id="{44FF6EA7-3CBC-4BCB-A233-5F58FEB61F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05" name="Rectangle 410">
                <a:extLst>
                  <a:ext uri="{FF2B5EF4-FFF2-40B4-BE49-F238E27FC236}">
                    <a16:creationId xmlns:a16="http://schemas.microsoft.com/office/drawing/2014/main" id="{904F1A05-BFA6-4AAF-8C84-DE614BD65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06" name="Oval 411">
                <a:extLst>
                  <a:ext uri="{FF2B5EF4-FFF2-40B4-BE49-F238E27FC236}">
                    <a16:creationId xmlns:a16="http://schemas.microsoft.com/office/drawing/2014/main" id="{1107DF0A-6FFA-4977-B4BA-7B1306C520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107" name="Group 986">
                <a:extLst>
                  <a:ext uri="{FF2B5EF4-FFF2-40B4-BE49-F238E27FC236}">
                    <a16:creationId xmlns:a16="http://schemas.microsoft.com/office/drawing/2014/main" id="{13C191E3-382F-4660-ADED-53B8B20716D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110" name="Freeform 987">
                  <a:extLst>
                    <a:ext uri="{FF2B5EF4-FFF2-40B4-BE49-F238E27FC236}">
                      <a16:creationId xmlns:a16="http://schemas.microsoft.com/office/drawing/2014/main" id="{CAF0BD37-E301-438C-BDA4-F25C166977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111" name="Freeform 988">
                  <a:extLst>
                    <a:ext uri="{FF2B5EF4-FFF2-40B4-BE49-F238E27FC236}">
                      <a16:creationId xmlns:a16="http://schemas.microsoft.com/office/drawing/2014/main" id="{210FF353-A62A-47A6-A907-F24DE5BEF2E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108" name="Line 989">
                <a:extLst>
                  <a:ext uri="{FF2B5EF4-FFF2-40B4-BE49-F238E27FC236}">
                    <a16:creationId xmlns:a16="http://schemas.microsoft.com/office/drawing/2014/main" id="{A671538E-5939-423A-B28E-45FEBF7A31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09" name="Line 990">
                <a:extLst>
                  <a:ext uri="{FF2B5EF4-FFF2-40B4-BE49-F238E27FC236}">
                    <a16:creationId xmlns:a16="http://schemas.microsoft.com/office/drawing/2014/main" id="{937D1566-84F3-444A-ACD4-9C3A14E790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19" name="Group 991">
              <a:extLst>
                <a:ext uri="{FF2B5EF4-FFF2-40B4-BE49-F238E27FC236}">
                  <a16:creationId xmlns:a16="http://schemas.microsoft.com/office/drawing/2014/main" id="{C4032462-3872-474F-8759-7743888BAB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44" y="1508"/>
              <a:ext cx="246" cy="110"/>
              <a:chOff x="4334" y="1470"/>
              <a:chExt cx="246" cy="107"/>
            </a:xfrm>
          </p:grpSpPr>
          <p:sp>
            <p:nvSpPr>
              <p:cNvPr id="32096" name="Oval 407">
                <a:extLst>
                  <a:ext uri="{FF2B5EF4-FFF2-40B4-BE49-F238E27FC236}">
                    <a16:creationId xmlns:a16="http://schemas.microsoft.com/office/drawing/2014/main" id="{600CADE6-4156-4B82-AC88-503F48249A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97" name="Rectangle 410">
                <a:extLst>
                  <a:ext uri="{FF2B5EF4-FFF2-40B4-BE49-F238E27FC236}">
                    <a16:creationId xmlns:a16="http://schemas.microsoft.com/office/drawing/2014/main" id="{23F29610-AC96-4011-9C11-2FA41507C7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98" name="Oval 411">
                <a:extLst>
                  <a:ext uri="{FF2B5EF4-FFF2-40B4-BE49-F238E27FC236}">
                    <a16:creationId xmlns:a16="http://schemas.microsoft.com/office/drawing/2014/main" id="{2F877576-9581-4BB1-AE42-D9AABCF5F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099" name="Group 995">
                <a:extLst>
                  <a:ext uri="{FF2B5EF4-FFF2-40B4-BE49-F238E27FC236}">
                    <a16:creationId xmlns:a16="http://schemas.microsoft.com/office/drawing/2014/main" id="{71C44D24-86C8-4794-8741-A97ED384702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102" name="Freeform 996">
                  <a:extLst>
                    <a:ext uri="{FF2B5EF4-FFF2-40B4-BE49-F238E27FC236}">
                      <a16:creationId xmlns:a16="http://schemas.microsoft.com/office/drawing/2014/main" id="{C4166E06-E75E-4C0A-9C75-09B365A182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103" name="Freeform 997">
                  <a:extLst>
                    <a:ext uri="{FF2B5EF4-FFF2-40B4-BE49-F238E27FC236}">
                      <a16:creationId xmlns:a16="http://schemas.microsoft.com/office/drawing/2014/main" id="{633BC96D-F5DB-48D3-9BA7-A477ACC220F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100" name="Line 998">
                <a:extLst>
                  <a:ext uri="{FF2B5EF4-FFF2-40B4-BE49-F238E27FC236}">
                    <a16:creationId xmlns:a16="http://schemas.microsoft.com/office/drawing/2014/main" id="{2B952CA8-044F-44AD-BC26-13A48C6560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01" name="Line 999">
                <a:extLst>
                  <a:ext uri="{FF2B5EF4-FFF2-40B4-BE49-F238E27FC236}">
                    <a16:creationId xmlns:a16="http://schemas.microsoft.com/office/drawing/2014/main" id="{62D97E93-C3A1-47DD-A5B9-9CDE0E05E9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20" name="Group 1000">
              <a:extLst>
                <a:ext uri="{FF2B5EF4-FFF2-40B4-BE49-F238E27FC236}">
                  <a16:creationId xmlns:a16="http://schemas.microsoft.com/office/drawing/2014/main" id="{601EDD38-FED6-4746-8F2E-9704B7C99C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74" y="2296"/>
              <a:ext cx="310" cy="130"/>
              <a:chOff x="4334" y="1470"/>
              <a:chExt cx="246" cy="107"/>
            </a:xfrm>
          </p:grpSpPr>
          <p:sp>
            <p:nvSpPr>
              <p:cNvPr id="32088" name="Oval 407">
                <a:extLst>
                  <a:ext uri="{FF2B5EF4-FFF2-40B4-BE49-F238E27FC236}">
                    <a16:creationId xmlns:a16="http://schemas.microsoft.com/office/drawing/2014/main" id="{69F18DEE-26B3-49F5-A487-07B9DB1BAF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89" name="Rectangle 410">
                <a:extLst>
                  <a:ext uri="{FF2B5EF4-FFF2-40B4-BE49-F238E27FC236}">
                    <a16:creationId xmlns:a16="http://schemas.microsoft.com/office/drawing/2014/main" id="{BB492E10-320B-404E-BAE7-DBD6B36951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90" name="Oval 411">
                <a:extLst>
                  <a:ext uri="{FF2B5EF4-FFF2-40B4-BE49-F238E27FC236}">
                    <a16:creationId xmlns:a16="http://schemas.microsoft.com/office/drawing/2014/main" id="{FCA340E0-6244-4AD3-AE95-1E582232FF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091" name="Group 1004">
                <a:extLst>
                  <a:ext uri="{FF2B5EF4-FFF2-40B4-BE49-F238E27FC236}">
                    <a16:creationId xmlns:a16="http://schemas.microsoft.com/office/drawing/2014/main" id="{FBECDD94-03C1-4BBB-AA0B-A0F01C3EAE9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094" name="Freeform 1005">
                  <a:extLst>
                    <a:ext uri="{FF2B5EF4-FFF2-40B4-BE49-F238E27FC236}">
                      <a16:creationId xmlns:a16="http://schemas.microsoft.com/office/drawing/2014/main" id="{CAA59E8E-F8C0-4730-B8B1-824B543D41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95" name="Freeform 1006">
                  <a:extLst>
                    <a:ext uri="{FF2B5EF4-FFF2-40B4-BE49-F238E27FC236}">
                      <a16:creationId xmlns:a16="http://schemas.microsoft.com/office/drawing/2014/main" id="{90ACD18B-C53A-4856-9D4E-729637F19A1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092" name="Line 1007">
                <a:extLst>
                  <a:ext uri="{FF2B5EF4-FFF2-40B4-BE49-F238E27FC236}">
                    <a16:creationId xmlns:a16="http://schemas.microsoft.com/office/drawing/2014/main" id="{42FFDD38-AE3D-434C-9A6D-5595779779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093" name="Line 1008">
                <a:extLst>
                  <a:ext uri="{FF2B5EF4-FFF2-40B4-BE49-F238E27FC236}">
                    <a16:creationId xmlns:a16="http://schemas.microsoft.com/office/drawing/2014/main" id="{17EA4CD0-D5FF-417D-A989-DDD230C1F7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1821" name="Line 1009">
              <a:extLst>
                <a:ext uri="{FF2B5EF4-FFF2-40B4-BE49-F238E27FC236}">
                  <a16:creationId xmlns:a16="http://schemas.microsoft.com/office/drawing/2014/main" id="{E249ACD2-7CB6-4D22-B55A-729E00AC2D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49" y="2358"/>
              <a:ext cx="42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1822" name="Group 1010">
              <a:extLst>
                <a:ext uri="{FF2B5EF4-FFF2-40B4-BE49-F238E27FC236}">
                  <a16:creationId xmlns:a16="http://schemas.microsoft.com/office/drawing/2014/main" id="{08359B0B-1A09-46C6-A760-F642811FC0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4" y="2288"/>
              <a:ext cx="310" cy="130"/>
              <a:chOff x="4334" y="1470"/>
              <a:chExt cx="246" cy="107"/>
            </a:xfrm>
          </p:grpSpPr>
          <p:sp>
            <p:nvSpPr>
              <p:cNvPr id="32080" name="Oval 407">
                <a:extLst>
                  <a:ext uri="{FF2B5EF4-FFF2-40B4-BE49-F238E27FC236}">
                    <a16:creationId xmlns:a16="http://schemas.microsoft.com/office/drawing/2014/main" id="{10CCFCB7-D46C-41F4-A69F-CD9B93E49D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81" name="Rectangle 410">
                <a:extLst>
                  <a:ext uri="{FF2B5EF4-FFF2-40B4-BE49-F238E27FC236}">
                    <a16:creationId xmlns:a16="http://schemas.microsoft.com/office/drawing/2014/main" id="{40483672-FC7F-4258-B097-0B21476D80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82" name="Oval 411">
                <a:extLst>
                  <a:ext uri="{FF2B5EF4-FFF2-40B4-BE49-F238E27FC236}">
                    <a16:creationId xmlns:a16="http://schemas.microsoft.com/office/drawing/2014/main" id="{FAF45170-C298-4502-985E-FEC2E99F9B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083" name="Group 1014">
                <a:extLst>
                  <a:ext uri="{FF2B5EF4-FFF2-40B4-BE49-F238E27FC236}">
                    <a16:creationId xmlns:a16="http://schemas.microsoft.com/office/drawing/2014/main" id="{773CF184-546F-425D-9115-7B8D94E7B0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086" name="Freeform 1015">
                  <a:extLst>
                    <a:ext uri="{FF2B5EF4-FFF2-40B4-BE49-F238E27FC236}">
                      <a16:creationId xmlns:a16="http://schemas.microsoft.com/office/drawing/2014/main" id="{D02650B8-0265-4535-9530-C285245614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87" name="Freeform 1016">
                  <a:extLst>
                    <a:ext uri="{FF2B5EF4-FFF2-40B4-BE49-F238E27FC236}">
                      <a16:creationId xmlns:a16="http://schemas.microsoft.com/office/drawing/2014/main" id="{942EC1DD-4818-4428-9170-6CE3F9876E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084" name="Line 1017">
                <a:extLst>
                  <a:ext uri="{FF2B5EF4-FFF2-40B4-BE49-F238E27FC236}">
                    <a16:creationId xmlns:a16="http://schemas.microsoft.com/office/drawing/2014/main" id="{9BCC2E2A-2ADE-402E-9372-CC620DC876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085" name="Line 1018">
                <a:extLst>
                  <a:ext uri="{FF2B5EF4-FFF2-40B4-BE49-F238E27FC236}">
                    <a16:creationId xmlns:a16="http://schemas.microsoft.com/office/drawing/2014/main" id="{6C80493C-9FB4-4BAD-ADF3-7C6D8A2C1B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23" name="Group 1019">
              <a:extLst>
                <a:ext uri="{FF2B5EF4-FFF2-40B4-BE49-F238E27FC236}">
                  <a16:creationId xmlns:a16="http://schemas.microsoft.com/office/drawing/2014/main" id="{C59A89C2-7801-40A9-904A-5485863811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32072" name="Oval 407">
                <a:extLst>
                  <a:ext uri="{FF2B5EF4-FFF2-40B4-BE49-F238E27FC236}">
                    <a16:creationId xmlns:a16="http://schemas.microsoft.com/office/drawing/2014/main" id="{0AFF46A4-A56F-42B5-97AC-BF315F3FFA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73" name="Rectangle 410">
                <a:extLst>
                  <a:ext uri="{FF2B5EF4-FFF2-40B4-BE49-F238E27FC236}">
                    <a16:creationId xmlns:a16="http://schemas.microsoft.com/office/drawing/2014/main" id="{29F8F9B8-A7C0-4500-A25F-7348FD7435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74" name="Oval 411">
                <a:extLst>
                  <a:ext uri="{FF2B5EF4-FFF2-40B4-BE49-F238E27FC236}">
                    <a16:creationId xmlns:a16="http://schemas.microsoft.com/office/drawing/2014/main" id="{FBD57699-4EC1-4D70-8FEA-9C84D6F697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075" name="Group 1023">
                <a:extLst>
                  <a:ext uri="{FF2B5EF4-FFF2-40B4-BE49-F238E27FC236}">
                    <a16:creationId xmlns:a16="http://schemas.microsoft.com/office/drawing/2014/main" id="{3147896C-2E40-421A-B321-4AEF8ECEC33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078" name="Freeform 1024">
                  <a:extLst>
                    <a:ext uri="{FF2B5EF4-FFF2-40B4-BE49-F238E27FC236}">
                      <a16:creationId xmlns:a16="http://schemas.microsoft.com/office/drawing/2014/main" id="{6CBF36D4-6C94-4570-8708-E2D7688FA84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79" name="Freeform 1025">
                  <a:extLst>
                    <a:ext uri="{FF2B5EF4-FFF2-40B4-BE49-F238E27FC236}">
                      <a16:creationId xmlns:a16="http://schemas.microsoft.com/office/drawing/2014/main" id="{B3196360-4FAA-4834-911A-90DF3972A4F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076" name="Line 1026">
                <a:extLst>
                  <a:ext uri="{FF2B5EF4-FFF2-40B4-BE49-F238E27FC236}">
                    <a16:creationId xmlns:a16="http://schemas.microsoft.com/office/drawing/2014/main" id="{39BCBA9B-0084-4746-98C0-50AF0A20CF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077" name="Line 1027">
                <a:extLst>
                  <a:ext uri="{FF2B5EF4-FFF2-40B4-BE49-F238E27FC236}">
                    <a16:creationId xmlns:a16="http://schemas.microsoft.com/office/drawing/2014/main" id="{3C33ED20-C092-4D73-A518-98B9AC52D5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24" name="Group 1028">
              <a:extLst>
                <a:ext uri="{FF2B5EF4-FFF2-40B4-BE49-F238E27FC236}">
                  <a16:creationId xmlns:a16="http://schemas.microsoft.com/office/drawing/2014/main" id="{D26C705E-176F-4567-9BFE-DF9EA03BD7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82" y="3028"/>
              <a:ext cx="392" cy="154"/>
              <a:chOff x="4334" y="1470"/>
              <a:chExt cx="246" cy="107"/>
            </a:xfrm>
          </p:grpSpPr>
          <p:sp>
            <p:nvSpPr>
              <p:cNvPr id="32064" name="Oval 407">
                <a:extLst>
                  <a:ext uri="{FF2B5EF4-FFF2-40B4-BE49-F238E27FC236}">
                    <a16:creationId xmlns:a16="http://schemas.microsoft.com/office/drawing/2014/main" id="{16664B51-85EB-4173-9887-3CE089B8A8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65" name="Rectangle 410">
                <a:extLst>
                  <a:ext uri="{FF2B5EF4-FFF2-40B4-BE49-F238E27FC236}">
                    <a16:creationId xmlns:a16="http://schemas.microsoft.com/office/drawing/2014/main" id="{D24046AD-33A1-48E7-AD25-BFBAB262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66" name="Oval 411">
                <a:extLst>
                  <a:ext uri="{FF2B5EF4-FFF2-40B4-BE49-F238E27FC236}">
                    <a16:creationId xmlns:a16="http://schemas.microsoft.com/office/drawing/2014/main" id="{61ED6622-E981-4639-8033-B31519D34F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067" name="Group 1032">
                <a:extLst>
                  <a:ext uri="{FF2B5EF4-FFF2-40B4-BE49-F238E27FC236}">
                    <a16:creationId xmlns:a16="http://schemas.microsoft.com/office/drawing/2014/main" id="{F3B2C9A7-643D-4007-81CD-F36B9BA54E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070" name="Freeform 1033">
                  <a:extLst>
                    <a:ext uri="{FF2B5EF4-FFF2-40B4-BE49-F238E27FC236}">
                      <a16:creationId xmlns:a16="http://schemas.microsoft.com/office/drawing/2014/main" id="{63521AE1-5B73-40CF-8A8F-AC14EE22D7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71" name="Freeform 1034">
                  <a:extLst>
                    <a:ext uri="{FF2B5EF4-FFF2-40B4-BE49-F238E27FC236}">
                      <a16:creationId xmlns:a16="http://schemas.microsoft.com/office/drawing/2014/main" id="{A6BDABE1-DCE9-4C17-88CE-93697D418B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068" name="Line 1035">
                <a:extLst>
                  <a:ext uri="{FF2B5EF4-FFF2-40B4-BE49-F238E27FC236}">
                    <a16:creationId xmlns:a16="http://schemas.microsoft.com/office/drawing/2014/main" id="{C3A9E432-B857-45F8-8BF4-C50958FE5A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069" name="Line 1036">
                <a:extLst>
                  <a:ext uri="{FF2B5EF4-FFF2-40B4-BE49-F238E27FC236}">
                    <a16:creationId xmlns:a16="http://schemas.microsoft.com/office/drawing/2014/main" id="{68BADD34-07BE-45FC-A5C4-876169F6F1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25" name="Group 1037">
              <a:extLst>
                <a:ext uri="{FF2B5EF4-FFF2-40B4-BE49-F238E27FC236}">
                  <a16:creationId xmlns:a16="http://schemas.microsoft.com/office/drawing/2014/main" id="{97A51EF0-768C-4943-B41E-31E2F032571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8" y="2840"/>
              <a:ext cx="392" cy="154"/>
              <a:chOff x="4334" y="1470"/>
              <a:chExt cx="246" cy="107"/>
            </a:xfrm>
          </p:grpSpPr>
          <p:sp>
            <p:nvSpPr>
              <p:cNvPr id="32056" name="Oval 407">
                <a:extLst>
                  <a:ext uri="{FF2B5EF4-FFF2-40B4-BE49-F238E27FC236}">
                    <a16:creationId xmlns:a16="http://schemas.microsoft.com/office/drawing/2014/main" id="{AC83505E-1361-426F-8D7C-3F79D3A411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57" name="Rectangle 410">
                <a:extLst>
                  <a:ext uri="{FF2B5EF4-FFF2-40B4-BE49-F238E27FC236}">
                    <a16:creationId xmlns:a16="http://schemas.microsoft.com/office/drawing/2014/main" id="{82ED65C3-E54B-4D10-A5E3-D3867C7658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58" name="Oval 411">
                <a:extLst>
                  <a:ext uri="{FF2B5EF4-FFF2-40B4-BE49-F238E27FC236}">
                    <a16:creationId xmlns:a16="http://schemas.microsoft.com/office/drawing/2014/main" id="{824FC5A5-5749-426B-8C9B-0132A16B8A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059" name="Group 1041">
                <a:extLst>
                  <a:ext uri="{FF2B5EF4-FFF2-40B4-BE49-F238E27FC236}">
                    <a16:creationId xmlns:a16="http://schemas.microsoft.com/office/drawing/2014/main" id="{7CB5F5CD-E683-45D5-9C55-6E9AD91F09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062" name="Freeform 1042">
                  <a:extLst>
                    <a:ext uri="{FF2B5EF4-FFF2-40B4-BE49-F238E27FC236}">
                      <a16:creationId xmlns:a16="http://schemas.microsoft.com/office/drawing/2014/main" id="{C7129876-C44D-43A9-AF8D-CD5B556F6C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63" name="Freeform 1043">
                  <a:extLst>
                    <a:ext uri="{FF2B5EF4-FFF2-40B4-BE49-F238E27FC236}">
                      <a16:creationId xmlns:a16="http://schemas.microsoft.com/office/drawing/2014/main" id="{92E505B0-7F49-4DA4-93EA-5704674D07F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060" name="Line 1044">
                <a:extLst>
                  <a:ext uri="{FF2B5EF4-FFF2-40B4-BE49-F238E27FC236}">
                    <a16:creationId xmlns:a16="http://schemas.microsoft.com/office/drawing/2014/main" id="{00723ABB-5574-470E-8A3F-5F69709850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061" name="Line 1045">
                <a:extLst>
                  <a:ext uri="{FF2B5EF4-FFF2-40B4-BE49-F238E27FC236}">
                    <a16:creationId xmlns:a16="http://schemas.microsoft.com/office/drawing/2014/main" id="{167E511E-1F01-4230-A1E4-42957AD9F6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26" name="Group 1046">
              <a:extLst>
                <a:ext uri="{FF2B5EF4-FFF2-40B4-BE49-F238E27FC236}">
                  <a16:creationId xmlns:a16="http://schemas.microsoft.com/office/drawing/2014/main" id="{7B6E98AE-1C1C-4ED5-A351-42945323EA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" y="3056"/>
              <a:ext cx="392" cy="154"/>
              <a:chOff x="4334" y="1470"/>
              <a:chExt cx="246" cy="107"/>
            </a:xfrm>
          </p:grpSpPr>
          <p:sp>
            <p:nvSpPr>
              <p:cNvPr id="32048" name="Oval 407">
                <a:extLst>
                  <a:ext uri="{FF2B5EF4-FFF2-40B4-BE49-F238E27FC236}">
                    <a16:creationId xmlns:a16="http://schemas.microsoft.com/office/drawing/2014/main" id="{94FEF9DB-DDDB-4805-8D5A-9B1C82FB66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49" name="Rectangle 410">
                <a:extLst>
                  <a:ext uri="{FF2B5EF4-FFF2-40B4-BE49-F238E27FC236}">
                    <a16:creationId xmlns:a16="http://schemas.microsoft.com/office/drawing/2014/main" id="{0AAE6A47-CB5C-4028-9CF6-0EE45DF574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50" name="Oval 411">
                <a:extLst>
                  <a:ext uri="{FF2B5EF4-FFF2-40B4-BE49-F238E27FC236}">
                    <a16:creationId xmlns:a16="http://schemas.microsoft.com/office/drawing/2014/main" id="{A42FB29C-DEA2-4DE3-BCAC-FABD6D42B2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051" name="Group 1050">
                <a:extLst>
                  <a:ext uri="{FF2B5EF4-FFF2-40B4-BE49-F238E27FC236}">
                    <a16:creationId xmlns:a16="http://schemas.microsoft.com/office/drawing/2014/main" id="{391B4200-7DEA-430F-B4FD-A3DD19BA071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054" name="Freeform 1051">
                  <a:extLst>
                    <a:ext uri="{FF2B5EF4-FFF2-40B4-BE49-F238E27FC236}">
                      <a16:creationId xmlns:a16="http://schemas.microsoft.com/office/drawing/2014/main" id="{A55E103D-7B9A-4611-A2E5-8F61E424A3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55" name="Freeform 1052">
                  <a:extLst>
                    <a:ext uri="{FF2B5EF4-FFF2-40B4-BE49-F238E27FC236}">
                      <a16:creationId xmlns:a16="http://schemas.microsoft.com/office/drawing/2014/main" id="{ED5994F4-23B1-4EC3-9799-238053EB32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052" name="Line 1053">
                <a:extLst>
                  <a:ext uri="{FF2B5EF4-FFF2-40B4-BE49-F238E27FC236}">
                    <a16:creationId xmlns:a16="http://schemas.microsoft.com/office/drawing/2014/main" id="{2745C447-3BDE-4725-A3B4-2481CA2BBE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053" name="Line 1054">
                <a:extLst>
                  <a:ext uri="{FF2B5EF4-FFF2-40B4-BE49-F238E27FC236}">
                    <a16:creationId xmlns:a16="http://schemas.microsoft.com/office/drawing/2014/main" id="{B136B26B-114F-413B-91B1-B3ECA32159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27" name="Group 1055">
              <a:extLst>
                <a:ext uri="{FF2B5EF4-FFF2-40B4-BE49-F238E27FC236}">
                  <a16:creationId xmlns:a16="http://schemas.microsoft.com/office/drawing/2014/main" id="{4183A6B5-3F22-4351-86DC-DA1B529F6B6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2" y="2296"/>
              <a:ext cx="246" cy="108"/>
              <a:chOff x="4334" y="1470"/>
              <a:chExt cx="246" cy="107"/>
            </a:xfrm>
          </p:grpSpPr>
          <p:sp>
            <p:nvSpPr>
              <p:cNvPr id="32040" name="Oval 407">
                <a:extLst>
                  <a:ext uri="{FF2B5EF4-FFF2-40B4-BE49-F238E27FC236}">
                    <a16:creationId xmlns:a16="http://schemas.microsoft.com/office/drawing/2014/main" id="{CECF9535-668B-44DB-936B-8E01F7DD7F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41" name="Rectangle 410">
                <a:extLst>
                  <a:ext uri="{FF2B5EF4-FFF2-40B4-BE49-F238E27FC236}">
                    <a16:creationId xmlns:a16="http://schemas.microsoft.com/office/drawing/2014/main" id="{3612E273-EFDA-49B1-A798-FD0555E7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42" name="Oval 411">
                <a:extLst>
                  <a:ext uri="{FF2B5EF4-FFF2-40B4-BE49-F238E27FC236}">
                    <a16:creationId xmlns:a16="http://schemas.microsoft.com/office/drawing/2014/main" id="{7746255B-E91B-40D5-91B8-A43CD53AF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043" name="Group 1059">
                <a:extLst>
                  <a:ext uri="{FF2B5EF4-FFF2-40B4-BE49-F238E27FC236}">
                    <a16:creationId xmlns:a16="http://schemas.microsoft.com/office/drawing/2014/main" id="{D74A4127-60A4-4E4A-9C1B-8A7B8524A53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2046" name="Freeform 1060">
                  <a:extLst>
                    <a:ext uri="{FF2B5EF4-FFF2-40B4-BE49-F238E27FC236}">
                      <a16:creationId xmlns:a16="http://schemas.microsoft.com/office/drawing/2014/main" id="{C2C02DB7-6CD3-4C36-B092-3C974BD3AC9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47" name="Freeform 1061">
                  <a:extLst>
                    <a:ext uri="{FF2B5EF4-FFF2-40B4-BE49-F238E27FC236}">
                      <a16:creationId xmlns:a16="http://schemas.microsoft.com/office/drawing/2014/main" id="{79D3B490-DC60-4811-A46A-83277A5F5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2044" name="Line 1062">
                <a:extLst>
                  <a:ext uri="{FF2B5EF4-FFF2-40B4-BE49-F238E27FC236}">
                    <a16:creationId xmlns:a16="http://schemas.microsoft.com/office/drawing/2014/main" id="{4C5A767E-9306-4E73-B630-852CE5D07F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51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045" name="Line 1063">
                <a:extLst>
                  <a:ext uri="{FF2B5EF4-FFF2-40B4-BE49-F238E27FC236}">
                    <a16:creationId xmlns:a16="http://schemas.microsoft.com/office/drawing/2014/main" id="{BF301777-D5F1-4A5C-A24B-85264D93AE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5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28" name="Group 1064">
              <a:extLst>
                <a:ext uri="{FF2B5EF4-FFF2-40B4-BE49-F238E27FC236}">
                  <a16:creationId xmlns:a16="http://schemas.microsoft.com/office/drawing/2014/main" id="{97DCDB28-67BA-4A5E-AF62-A72A2AEF6C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11" y="3153"/>
              <a:ext cx="281" cy="266"/>
              <a:chOff x="5072" y="3611"/>
              <a:chExt cx="459" cy="380"/>
            </a:xfrm>
          </p:grpSpPr>
          <p:grpSp>
            <p:nvGrpSpPr>
              <p:cNvPr id="32026" name="Group 1065">
                <a:extLst>
                  <a:ext uri="{FF2B5EF4-FFF2-40B4-BE49-F238E27FC236}">
                    <a16:creationId xmlns:a16="http://schemas.microsoft.com/office/drawing/2014/main" id="{C067B468-C98E-44D9-B5BA-BB0261AF8B9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32028" name="Freeform 1066">
                  <a:extLst>
                    <a:ext uri="{FF2B5EF4-FFF2-40B4-BE49-F238E27FC236}">
                      <a16:creationId xmlns:a16="http://schemas.microsoft.com/office/drawing/2014/main" id="{8FDC2393-716F-4024-B068-C05F96C6F8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29" name="Freeform 1067">
                  <a:extLst>
                    <a:ext uri="{FF2B5EF4-FFF2-40B4-BE49-F238E27FC236}">
                      <a16:creationId xmlns:a16="http://schemas.microsoft.com/office/drawing/2014/main" id="{18228442-02D3-4B5F-A269-C22CC09378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0" name="Freeform 1068">
                  <a:extLst>
                    <a:ext uri="{FF2B5EF4-FFF2-40B4-BE49-F238E27FC236}">
                      <a16:creationId xmlns:a16="http://schemas.microsoft.com/office/drawing/2014/main" id="{09210E70-747E-4AE0-B290-43940745940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1" name="Freeform 1069">
                  <a:extLst>
                    <a:ext uri="{FF2B5EF4-FFF2-40B4-BE49-F238E27FC236}">
                      <a16:creationId xmlns:a16="http://schemas.microsoft.com/office/drawing/2014/main" id="{15F52270-200B-467F-8564-4652F463DF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2" name="Freeform 1070">
                  <a:extLst>
                    <a:ext uri="{FF2B5EF4-FFF2-40B4-BE49-F238E27FC236}">
                      <a16:creationId xmlns:a16="http://schemas.microsoft.com/office/drawing/2014/main" id="{CA39BBB5-AE64-456D-ACFF-F9D992F9600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3" name="Freeform 1071">
                  <a:extLst>
                    <a:ext uri="{FF2B5EF4-FFF2-40B4-BE49-F238E27FC236}">
                      <a16:creationId xmlns:a16="http://schemas.microsoft.com/office/drawing/2014/main" id="{A92E0F6E-C387-44B4-B7BD-BC7DF11D2E4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4" name="Freeform 1072">
                  <a:extLst>
                    <a:ext uri="{FF2B5EF4-FFF2-40B4-BE49-F238E27FC236}">
                      <a16:creationId xmlns:a16="http://schemas.microsoft.com/office/drawing/2014/main" id="{AAE00928-16A6-47D2-8605-DACBFC1E537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5" name="Freeform 1073">
                  <a:extLst>
                    <a:ext uri="{FF2B5EF4-FFF2-40B4-BE49-F238E27FC236}">
                      <a16:creationId xmlns:a16="http://schemas.microsoft.com/office/drawing/2014/main" id="{1BFE692F-DBBF-4CD8-AA2C-E02A9543132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6" name="Freeform 1074">
                  <a:extLst>
                    <a:ext uri="{FF2B5EF4-FFF2-40B4-BE49-F238E27FC236}">
                      <a16:creationId xmlns:a16="http://schemas.microsoft.com/office/drawing/2014/main" id="{680525E8-67C2-4002-9AC5-FF9AB54D0C8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7" name="Freeform 1075">
                  <a:extLst>
                    <a:ext uri="{FF2B5EF4-FFF2-40B4-BE49-F238E27FC236}">
                      <a16:creationId xmlns:a16="http://schemas.microsoft.com/office/drawing/2014/main" id="{FA4AAB81-BAB0-489A-8758-ED124ED15E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8" name="Freeform 1076">
                  <a:extLst>
                    <a:ext uri="{FF2B5EF4-FFF2-40B4-BE49-F238E27FC236}">
                      <a16:creationId xmlns:a16="http://schemas.microsoft.com/office/drawing/2014/main" id="{591B0FBE-B5B0-485C-8334-A89969AFEDC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39" name="Freeform 1077">
                  <a:extLst>
                    <a:ext uri="{FF2B5EF4-FFF2-40B4-BE49-F238E27FC236}">
                      <a16:creationId xmlns:a16="http://schemas.microsoft.com/office/drawing/2014/main" id="{359DBE30-1039-4E38-B50F-059B4857715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32027" name="Picture 1078" descr="access_point_stylized_gray_small">
                <a:extLst>
                  <a:ext uri="{FF2B5EF4-FFF2-40B4-BE49-F238E27FC236}">
                    <a16:creationId xmlns:a16="http://schemas.microsoft.com/office/drawing/2014/main" id="{0897B76F-FB7B-4810-91C6-0FB63DCCEB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1829" name="Group 1079">
              <a:extLst>
                <a:ext uri="{FF2B5EF4-FFF2-40B4-BE49-F238E27FC236}">
                  <a16:creationId xmlns:a16="http://schemas.microsoft.com/office/drawing/2014/main" id="{8EFA93B8-1090-455A-A7FE-95429DFBE8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52" y="2211"/>
              <a:ext cx="251" cy="226"/>
              <a:chOff x="5072" y="3611"/>
              <a:chExt cx="459" cy="380"/>
            </a:xfrm>
          </p:grpSpPr>
          <p:grpSp>
            <p:nvGrpSpPr>
              <p:cNvPr id="32012" name="Group 1080">
                <a:extLst>
                  <a:ext uri="{FF2B5EF4-FFF2-40B4-BE49-F238E27FC236}">
                    <a16:creationId xmlns:a16="http://schemas.microsoft.com/office/drawing/2014/main" id="{5A26F077-287F-4DD1-8C47-AB9580A041D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32014" name="Freeform 1081">
                  <a:extLst>
                    <a:ext uri="{FF2B5EF4-FFF2-40B4-BE49-F238E27FC236}">
                      <a16:creationId xmlns:a16="http://schemas.microsoft.com/office/drawing/2014/main" id="{91E731D5-FB07-4D50-93A5-338F8D59805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15" name="Freeform 1082">
                  <a:extLst>
                    <a:ext uri="{FF2B5EF4-FFF2-40B4-BE49-F238E27FC236}">
                      <a16:creationId xmlns:a16="http://schemas.microsoft.com/office/drawing/2014/main" id="{99C66036-64D3-4E0E-924D-EC7E02F3FD0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16" name="Freeform 1083">
                  <a:extLst>
                    <a:ext uri="{FF2B5EF4-FFF2-40B4-BE49-F238E27FC236}">
                      <a16:creationId xmlns:a16="http://schemas.microsoft.com/office/drawing/2014/main" id="{E99FA309-CF91-4E80-ABB7-09A7345C54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17" name="Freeform 1084">
                  <a:extLst>
                    <a:ext uri="{FF2B5EF4-FFF2-40B4-BE49-F238E27FC236}">
                      <a16:creationId xmlns:a16="http://schemas.microsoft.com/office/drawing/2014/main" id="{CA51EEE8-0297-45F3-A7CF-F2994369432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18" name="Freeform 1085">
                  <a:extLst>
                    <a:ext uri="{FF2B5EF4-FFF2-40B4-BE49-F238E27FC236}">
                      <a16:creationId xmlns:a16="http://schemas.microsoft.com/office/drawing/2014/main" id="{4570D7FC-3096-4277-A0BA-DCFDEAAD85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19" name="Freeform 1086">
                  <a:extLst>
                    <a:ext uri="{FF2B5EF4-FFF2-40B4-BE49-F238E27FC236}">
                      <a16:creationId xmlns:a16="http://schemas.microsoft.com/office/drawing/2014/main" id="{6B77B058-8C7F-4C33-A32E-97557F9BC5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20" name="Freeform 1087">
                  <a:extLst>
                    <a:ext uri="{FF2B5EF4-FFF2-40B4-BE49-F238E27FC236}">
                      <a16:creationId xmlns:a16="http://schemas.microsoft.com/office/drawing/2014/main" id="{D0B2232F-D458-49FD-91B8-E295AF02409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21" name="Freeform 1088">
                  <a:extLst>
                    <a:ext uri="{FF2B5EF4-FFF2-40B4-BE49-F238E27FC236}">
                      <a16:creationId xmlns:a16="http://schemas.microsoft.com/office/drawing/2014/main" id="{AAED485A-0632-4405-9583-04E6B2B3AF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22" name="Freeform 1089">
                  <a:extLst>
                    <a:ext uri="{FF2B5EF4-FFF2-40B4-BE49-F238E27FC236}">
                      <a16:creationId xmlns:a16="http://schemas.microsoft.com/office/drawing/2014/main" id="{030CB0B1-FEF8-4FEA-9066-0529DC26A0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23" name="Freeform 1090">
                  <a:extLst>
                    <a:ext uri="{FF2B5EF4-FFF2-40B4-BE49-F238E27FC236}">
                      <a16:creationId xmlns:a16="http://schemas.microsoft.com/office/drawing/2014/main" id="{D4EB0312-B198-42E7-A744-EB0773C192C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24" name="Freeform 1091">
                  <a:extLst>
                    <a:ext uri="{FF2B5EF4-FFF2-40B4-BE49-F238E27FC236}">
                      <a16:creationId xmlns:a16="http://schemas.microsoft.com/office/drawing/2014/main" id="{35FD4095-E0CA-4DF5-8605-F4A96E3B0E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2025" name="Freeform 1092">
                  <a:extLst>
                    <a:ext uri="{FF2B5EF4-FFF2-40B4-BE49-F238E27FC236}">
                      <a16:creationId xmlns:a16="http://schemas.microsoft.com/office/drawing/2014/main" id="{6B012A62-A433-4833-BE71-ECA3AA94CC5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32013" name="Picture 1093" descr="access_point_stylized_gray_small">
                <a:extLst>
                  <a:ext uri="{FF2B5EF4-FFF2-40B4-BE49-F238E27FC236}">
                    <a16:creationId xmlns:a16="http://schemas.microsoft.com/office/drawing/2014/main" id="{A5E3056A-A754-44C8-92BC-F1C4A674CA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31830" name="Line 1094">
              <a:extLst>
                <a:ext uri="{FF2B5EF4-FFF2-40B4-BE49-F238E27FC236}">
                  <a16:creationId xmlns:a16="http://schemas.microsoft.com/office/drawing/2014/main" id="{5DC6AE41-8CEF-4055-9727-250760CEE81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7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31831" name="Group 1095">
              <a:extLst>
                <a:ext uri="{FF2B5EF4-FFF2-40B4-BE49-F238E27FC236}">
                  <a16:creationId xmlns:a16="http://schemas.microsoft.com/office/drawing/2014/main" id="{4262DD45-6AD8-44FD-B0D4-9BB9DF10263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638" y="2856"/>
              <a:ext cx="261" cy="235"/>
              <a:chOff x="2839" y="3501"/>
              <a:chExt cx="755" cy="803"/>
            </a:xfrm>
          </p:grpSpPr>
          <p:pic>
            <p:nvPicPr>
              <p:cNvPr id="32010" name="Picture 1096" descr="desktop_computer_stylized_medium">
                <a:extLst>
                  <a:ext uri="{FF2B5EF4-FFF2-40B4-BE49-F238E27FC236}">
                    <a16:creationId xmlns:a16="http://schemas.microsoft.com/office/drawing/2014/main" id="{0BB62B79-C3DA-4C30-A831-698F90702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2011" name="Freeform 1097">
                <a:extLst>
                  <a:ext uri="{FF2B5EF4-FFF2-40B4-BE49-F238E27FC236}">
                    <a16:creationId xmlns:a16="http://schemas.microsoft.com/office/drawing/2014/main" id="{D3A04408-B2B6-4323-92D2-7E483FB4E4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31832" name="Group 1098">
              <a:extLst>
                <a:ext uri="{FF2B5EF4-FFF2-40B4-BE49-F238E27FC236}">
                  <a16:creationId xmlns:a16="http://schemas.microsoft.com/office/drawing/2014/main" id="{0F27B351-78E9-4DC0-9409-54EFEC3806DF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438" y="3121"/>
              <a:ext cx="304" cy="256"/>
              <a:chOff x="2839" y="3501"/>
              <a:chExt cx="755" cy="803"/>
            </a:xfrm>
          </p:grpSpPr>
          <p:pic>
            <p:nvPicPr>
              <p:cNvPr id="32008" name="Picture 1099" descr="desktop_computer_stylized_medium">
                <a:extLst>
                  <a:ext uri="{FF2B5EF4-FFF2-40B4-BE49-F238E27FC236}">
                    <a16:creationId xmlns:a16="http://schemas.microsoft.com/office/drawing/2014/main" id="{D18C48BF-CE69-4F84-8436-C554C2555DC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2009" name="Freeform 1100">
                <a:extLst>
                  <a:ext uri="{FF2B5EF4-FFF2-40B4-BE49-F238E27FC236}">
                    <a16:creationId xmlns:a16="http://schemas.microsoft.com/office/drawing/2014/main" id="{3444E395-DF22-4F38-8BAC-426E428FFF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31833" name="Group 1101">
              <a:extLst>
                <a:ext uri="{FF2B5EF4-FFF2-40B4-BE49-F238E27FC236}">
                  <a16:creationId xmlns:a16="http://schemas.microsoft.com/office/drawing/2014/main" id="{355F72B3-1426-49D1-84FB-44CA73827B35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39" y="3311"/>
              <a:ext cx="269" cy="220"/>
              <a:chOff x="2839" y="3501"/>
              <a:chExt cx="755" cy="803"/>
            </a:xfrm>
          </p:grpSpPr>
          <p:pic>
            <p:nvPicPr>
              <p:cNvPr id="32006" name="Picture 1102" descr="desktop_computer_stylized_medium">
                <a:extLst>
                  <a:ext uri="{FF2B5EF4-FFF2-40B4-BE49-F238E27FC236}">
                    <a16:creationId xmlns:a16="http://schemas.microsoft.com/office/drawing/2014/main" id="{56191784-9F53-432B-8E17-84C3BACB2E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2007" name="Freeform 1103">
                <a:extLst>
                  <a:ext uri="{FF2B5EF4-FFF2-40B4-BE49-F238E27FC236}">
                    <a16:creationId xmlns:a16="http://schemas.microsoft.com/office/drawing/2014/main" id="{A882005F-CA97-43FB-A40F-ED31EC4BC1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31834" name="Group 1104">
              <a:extLst>
                <a:ext uri="{FF2B5EF4-FFF2-40B4-BE49-F238E27FC236}">
                  <a16:creationId xmlns:a16="http://schemas.microsoft.com/office/drawing/2014/main" id="{6A35AB64-CF00-47FB-9930-962630B258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26" y="3300"/>
              <a:ext cx="269" cy="221"/>
              <a:chOff x="2839" y="3501"/>
              <a:chExt cx="755" cy="803"/>
            </a:xfrm>
          </p:grpSpPr>
          <p:pic>
            <p:nvPicPr>
              <p:cNvPr id="32004" name="Picture 1105" descr="desktop_computer_stylized_medium">
                <a:extLst>
                  <a:ext uri="{FF2B5EF4-FFF2-40B4-BE49-F238E27FC236}">
                    <a16:creationId xmlns:a16="http://schemas.microsoft.com/office/drawing/2014/main" id="{D122BB38-1B08-4043-98A4-206CBDDF05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2005" name="Freeform 1106">
                <a:extLst>
                  <a:ext uri="{FF2B5EF4-FFF2-40B4-BE49-F238E27FC236}">
                    <a16:creationId xmlns:a16="http://schemas.microsoft.com/office/drawing/2014/main" id="{E1C457AE-56B8-4DA1-B42C-B3333C3E4F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31835" name="Picture 1107" descr="car_icon_small">
              <a:extLst>
                <a:ext uri="{FF2B5EF4-FFF2-40B4-BE49-F238E27FC236}">
                  <a16:creationId xmlns:a16="http://schemas.microsoft.com/office/drawing/2014/main" id="{41AFF9C2-EA1A-4325-9FBC-DF66ACCCF8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" y="1084"/>
              <a:ext cx="535" cy="1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31836" name="Group 1108">
              <a:extLst>
                <a:ext uri="{FF2B5EF4-FFF2-40B4-BE49-F238E27FC236}">
                  <a16:creationId xmlns:a16="http://schemas.microsoft.com/office/drawing/2014/main" id="{1831654C-799A-4687-8BBC-67372101EB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6" y="974"/>
              <a:ext cx="262" cy="243"/>
              <a:chOff x="2751" y="1851"/>
              <a:chExt cx="462" cy="478"/>
            </a:xfrm>
          </p:grpSpPr>
          <p:pic>
            <p:nvPicPr>
              <p:cNvPr id="32002" name="Picture 1109" descr="iphone_stylized_small">
                <a:extLst>
                  <a:ext uri="{FF2B5EF4-FFF2-40B4-BE49-F238E27FC236}">
                    <a16:creationId xmlns:a16="http://schemas.microsoft.com/office/drawing/2014/main" id="{BA9F80B2-3A7F-4F7F-8CAD-BF5F9CD62F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2003" name="Picture 1110" descr="antenna_radiation_stylized">
                <a:extLst>
                  <a:ext uri="{FF2B5EF4-FFF2-40B4-BE49-F238E27FC236}">
                    <a16:creationId xmlns:a16="http://schemas.microsoft.com/office/drawing/2014/main" id="{F4978A97-E06C-48B6-A1A3-E9603E69DF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1837" name="Group 1111">
              <a:extLst>
                <a:ext uri="{FF2B5EF4-FFF2-40B4-BE49-F238E27FC236}">
                  <a16:creationId xmlns:a16="http://schemas.microsoft.com/office/drawing/2014/main" id="{97D16FCB-C8D5-4628-AB14-534E33D6AB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91" y="3151"/>
              <a:ext cx="143" cy="303"/>
              <a:chOff x="4140" y="429"/>
              <a:chExt cx="1425" cy="2396"/>
            </a:xfrm>
          </p:grpSpPr>
          <p:sp>
            <p:nvSpPr>
              <p:cNvPr id="31970" name="Freeform 1112">
                <a:extLst>
                  <a:ext uri="{FF2B5EF4-FFF2-40B4-BE49-F238E27FC236}">
                    <a16:creationId xmlns:a16="http://schemas.microsoft.com/office/drawing/2014/main" id="{1B8C60B1-533F-423F-BFA8-BB2DEC6358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71" name="Rectangle 1113">
                <a:extLst>
                  <a:ext uri="{FF2B5EF4-FFF2-40B4-BE49-F238E27FC236}">
                    <a16:creationId xmlns:a16="http://schemas.microsoft.com/office/drawing/2014/main" id="{10BDA83F-39B3-422D-9141-99B234BFE4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72" name="Freeform 1114">
                <a:extLst>
                  <a:ext uri="{FF2B5EF4-FFF2-40B4-BE49-F238E27FC236}">
                    <a16:creationId xmlns:a16="http://schemas.microsoft.com/office/drawing/2014/main" id="{76513042-07D6-4F32-8204-44559D4FF5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73" name="Freeform 1115">
                <a:extLst>
                  <a:ext uri="{FF2B5EF4-FFF2-40B4-BE49-F238E27FC236}">
                    <a16:creationId xmlns:a16="http://schemas.microsoft.com/office/drawing/2014/main" id="{8BEE6EC2-E673-41BC-9CC1-7497F4B1AA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74" name="Rectangle 1116">
                <a:extLst>
                  <a:ext uri="{FF2B5EF4-FFF2-40B4-BE49-F238E27FC236}">
                    <a16:creationId xmlns:a16="http://schemas.microsoft.com/office/drawing/2014/main" id="{D1CBD1AB-0DB3-441D-8484-E3556061AD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1975" name="Group 1117">
                <a:extLst>
                  <a:ext uri="{FF2B5EF4-FFF2-40B4-BE49-F238E27FC236}">
                    <a16:creationId xmlns:a16="http://schemas.microsoft.com/office/drawing/2014/main" id="{1E7CF404-180C-4F00-BD94-87753434DF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2000" name="AutoShape 1118">
                  <a:extLst>
                    <a:ext uri="{FF2B5EF4-FFF2-40B4-BE49-F238E27FC236}">
                      <a16:creationId xmlns:a16="http://schemas.microsoft.com/office/drawing/2014/main" id="{BFCB6A3A-8A27-476C-B43B-C4D49AFAB7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001" name="AutoShape 1119">
                  <a:extLst>
                    <a:ext uri="{FF2B5EF4-FFF2-40B4-BE49-F238E27FC236}">
                      <a16:creationId xmlns:a16="http://schemas.microsoft.com/office/drawing/2014/main" id="{85D6C196-B2B0-4DCA-8D5A-65041F8976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976" name="Rectangle 1120">
                <a:extLst>
                  <a:ext uri="{FF2B5EF4-FFF2-40B4-BE49-F238E27FC236}">
                    <a16:creationId xmlns:a16="http://schemas.microsoft.com/office/drawing/2014/main" id="{BD4B1317-82ED-420E-80E4-BB5C85F5F6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1977" name="Group 1121">
                <a:extLst>
                  <a:ext uri="{FF2B5EF4-FFF2-40B4-BE49-F238E27FC236}">
                    <a16:creationId xmlns:a16="http://schemas.microsoft.com/office/drawing/2014/main" id="{BAB7C3BB-B365-4528-8D0B-E5B4D2F111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1998" name="AutoShape 1122">
                  <a:extLst>
                    <a:ext uri="{FF2B5EF4-FFF2-40B4-BE49-F238E27FC236}">
                      <a16:creationId xmlns:a16="http://schemas.microsoft.com/office/drawing/2014/main" id="{66089269-50F8-49AB-A7AD-EE8BBB43C2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99" name="AutoShape 1123">
                  <a:extLst>
                    <a:ext uri="{FF2B5EF4-FFF2-40B4-BE49-F238E27FC236}">
                      <a16:creationId xmlns:a16="http://schemas.microsoft.com/office/drawing/2014/main" id="{450B7BCE-16E7-4583-BB64-0A0280D986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978" name="Rectangle 1124">
                <a:extLst>
                  <a:ext uri="{FF2B5EF4-FFF2-40B4-BE49-F238E27FC236}">
                    <a16:creationId xmlns:a16="http://schemas.microsoft.com/office/drawing/2014/main" id="{D4383385-0650-4397-9958-E2A2A9DC1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79" name="Rectangle 1125">
                <a:extLst>
                  <a:ext uri="{FF2B5EF4-FFF2-40B4-BE49-F238E27FC236}">
                    <a16:creationId xmlns:a16="http://schemas.microsoft.com/office/drawing/2014/main" id="{A07C3A8A-E749-454F-B4DA-2EECAF15A0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1980" name="Group 1126">
                <a:extLst>
                  <a:ext uri="{FF2B5EF4-FFF2-40B4-BE49-F238E27FC236}">
                    <a16:creationId xmlns:a16="http://schemas.microsoft.com/office/drawing/2014/main" id="{547CC687-1ADB-4A90-92B6-CC7D52D642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1996" name="AutoShape 1127">
                  <a:extLst>
                    <a:ext uri="{FF2B5EF4-FFF2-40B4-BE49-F238E27FC236}">
                      <a16:creationId xmlns:a16="http://schemas.microsoft.com/office/drawing/2014/main" id="{C201B3F3-488A-4300-869F-3439D72ECDE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97" name="AutoShape 1128">
                  <a:extLst>
                    <a:ext uri="{FF2B5EF4-FFF2-40B4-BE49-F238E27FC236}">
                      <a16:creationId xmlns:a16="http://schemas.microsoft.com/office/drawing/2014/main" id="{21ED515C-0082-4C94-BFC8-74B03A14A6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981" name="Freeform 1129">
                <a:extLst>
                  <a:ext uri="{FF2B5EF4-FFF2-40B4-BE49-F238E27FC236}">
                    <a16:creationId xmlns:a16="http://schemas.microsoft.com/office/drawing/2014/main" id="{DEC01D9B-EBC8-4664-B659-2ECBA17A9E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1982" name="Group 1130">
                <a:extLst>
                  <a:ext uri="{FF2B5EF4-FFF2-40B4-BE49-F238E27FC236}">
                    <a16:creationId xmlns:a16="http://schemas.microsoft.com/office/drawing/2014/main" id="{1F91B6BE-F804-4959-A7C1-EE634A27B7B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1994" name="AutoShape 1131">
                  <a:extLst>
                    <a:ext uri="{FF2B5EF4-FFF2-40B4-BE49-F238E27FC236}">
                      <a16:creationId xmlns:a16="http://schemas.microsoft.com/office/drawing/2014/main" id="{AC32D293-48E6-44E3-A739-707CF22DB5B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95" name="AutoShape 1132">
                  <a:extLst>
                    <a:ext uri="{FF2B5EF4-FFF2-40B4-BE49-F238E27FC236}">
                      <a16:creationId xmlns:a16="http://schemas.microsoft.com/office/drawing/2014/main" id="{D780D96C-3498-405A-9037-0FC8E2A4680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983" name="Rectangle 1133">
                <a:extLst>
                  <a:ext uri="{FF2B5EF4-FFF2-40B4-BE49-F238E27FC236}">
                    <a16:creationId xmlns:a16="http://schemas.microsoft.com/office/drawing/2014/main" id="{9F436ABD-2819-4132-B8AF-C01F5ADB76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84" name="Freeform 1134">
                <a:extLst>
                  <a:ext uri="{FF2B5EF4-FFF2-40B4-BE49-F238E27FC236}">
                    <a16:creationId xmlns:a16="http://schemas.microsoft.com/office/drawing/2014/main" id="{A35E14AB-428B-48DF-8AE6-AF864B825D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85" name="Freeform 1135">
                <a:extLst>
                  <a:ext uri="{FF2B5EF4-FFF2-40B4-BE49-F238E27FC236}">
                    <a16:creationId xmlns:a16="http://schemas.microsoft.com/office/drawing/2014/main" id="{CB3561F6-9D54-44D8-9E39-8DB0023095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86" name="Oval 1136">
                <a:extLst>
                  <a:ext uri="{FF2B5EF4-FFF2-40B4-BE49-F238E27FC236}">
                    <a16:creationId xmlns:a16="http://schemas.microsoft.com/office/drawing/2014/main" id="{C27EF057-1614-4496-896B-52BE8E0C9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87" name="Freeform 1137">
                <a:extLst>
                  <a:ext uri="{FF2B5EF4-FFF2-40B4-BE49-F238E27FC236}">
                    <a16:creationId xmlns:a16="http://schemas.microsoft.com/office/drawing/2014/main" id="{EEF4C9C0-22A2-4CB5-BD7A-8F4F1BDD5F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88" name="AutoShape 1138">
                <a:extLst>
                  <a:ext uri="{FF2B5EF4-FFF2-40B4-BE49-F238E27FC236}">
                    <a16:creationId xmlns:a16="http://schemas.microsoft.com/office/drawing/2014/main" id="{CC20F5B5-A96D-4E7E-B8D8-59F6AD2B81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89" name="AutoShape 1139">
                <a:extLst>
                  <a:ext uri="{FF2B5EF4-FFF2-40B4-BE49-F238E27FC236}">
                    <a16:creationId xmlns:a16="http://schemas.microsoft.com/office/drawing/2014/main" id="{232AF94F-288A-4DF8-A2F2-35A8E2E89A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90" name="Oval 1140">
                <a:extLst>
                  <a:ext uri="{FF2B5EF4-FFF2-40B4-BE49-F238E27FC236}">
                    <a16:creationId xmlns:a16="http://schemas.microsoft.com/office/drawing/2014/main" id="{AE32ADC9-F237-4494-93CF-1902A12BD2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91" name="Oval 1141">
                <a:extLst>
                  <a:ext uri="{FF2B5EF4-FFF2-40B4-BE49-F238E27FC236}">
                    <a16:creationId xmlns:a16="http://schemas.microsoft.com/office/drawing/2014/main" id="{A56E0135-CA5F-4085-B4F9-69731DBADA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992" name="Oval 1142">
                <a:extLst>
                  <a:ext uri="{FF2B5EF4-FFF2-40B4-BE49-F238E27FC236}">
                    <a16:creationId xmlns:a16="http://schemas.microsoft.com/office/drawing/2014/main" id="{1EDE2BCA-8922-46F7-A411-D951767017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93" name="Rectangle 1143">
                <a:extLst>
                  <a:ext uri="{FF2B5EF4-FFF2-40B4-BE49-F238E27FC236}">
                    <a16:creationId xmlns:a16="http://schemas.microsoft.com/office/drawing/2014/main" id="{773A872B-DAAC-44AF-AF80-EA7F1BBA0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1838" name="Group 1144">
              <a:extLst>
                <a:ext uri="{FF2B5EF4-FFF2-40B4-BE49-F238E27FC236}">
                  <a16:creationId xmlns:a16="http://schemas.microsoft.com/office/drawing/2014/main" id="{FB8409CA-851F-4429-993A-342D96D90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92" y="3341"/>
              <a:ext cx="143" cy="303"/>
              <a:chOff x="4140" y="429"/>
              <a:chExt cx="1425" cy="2396"/>
            </a:xfrm>
          </p:grpSpPr>
          <p:sp>
            <p:nvSpPr>
              <p:cNvPr id="31938" name="Freeform 1145">
                <a:extLst>
                  <a:ext uri="{FF2B5EF4-FFF2-40B4-BE49-F238E27FC236}">
                    <a16:creationId xmlns:a16="http://schemas.microsoft.com/office/drawing/2014/main" id="{ADBAE598-49F8-4CD5-A7B7-6A3ABF6F53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39" name="Rectangle 1146">
                <a:extLst>
                  <a:ext uri="{FF2B5EF4-FFF2-40B4-BE49-F238E27FC236}">
                    <a16:creationId xmlns:a16="http://schemas.microsoft.com/office/drawing/2014/main" id="{9760986C-A795-4436-80A8-DC42660ADA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40" name="Freeform 1147">
                <a:extLst>
                  <a:ext uri="{FF2B5EF4-FFF2-40B4-BE49-F238E27FC236}">
                    <a16:creationId xmlns:a16="http://schemas.microsoft.com/office/drawing/2014/main" id="{28D890E2-1D4C-4EC5-AFEF-FEB300258F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41" name="Freeform 1148">
                <a:extLst>
                  <a:ext uri="{FF2B5EF4-FFF2-40B4-BE49-F238E27FC236}">
                    <a16:creationId xmlns:a16="http://schemas.microsoft.com/office/drawing/2014/main" id="{3FBBD43B-D87F-44F4-86A3-DA3F87BA79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42" name="Rectangle 1149">
                <a:extLst>
                  <a:ext uri="{FF2B5EF4-FFF2-40B4-BE49-F238E27FC236}">
                    <a16:creationId xmlns:a16="http://schemas.microsoft.com/office/drawing/2014/main" id="{8A771A6C-CF96-4939-AA72-FE994297A8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1943" name="Group 1150">
                <a:extLst>
                  <a:ext uri="{FF2B5EF4-FFF2-40B4-BE49-F238E27FC236}">
                    <a16:creationId xmlns:a16="http://schemas.microsoft.com/office/drawing/2014/main" id="{9B74F609-1C69-47A3-B4DC-E1C779C8FC3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1968" name="AutoShape 1151">
                  <a:extLst>
                    <a:ext uri="{FF2B5EF4-FFF2-40B4-BE49-F238E27FC236}">
                      <a16:creationId xmlns:a16="http://schemas.microsoft.com/office/drawing/2014/main" id="{AE33E6C3-F953-437F-B37E-B1145FCB6A9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69" name="AutoShape 1152">
                  <a:extLst>
                    <a:ext uri="{FF2B5EF4-FFF2-40B4-BE49-F238E27FC236}">
                      <a16:creationId xmlns:a16="http://schemas.microsoft.com/office/drawing/2014/main" id="{5FFE8338-3E85-485B-8BB6-595CADBB4B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944" name="Rectangle 1153">
                <a:extLst>
                  <a:ext uri="{FF2B5EF4-FFF2-40B4-BE49-F238E27FC236}">
                    <a16:creationId xmlns:a16="http://schemas.microsoft.com/office/drawing/2014/main" id="{6FCC794B-8022-4F09-945C-D8BFF60EBD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1945" name="Group 1154">
                <a:extLst>
                  <a:ext uri="{FF2B5EF4-FFF2-40B4-BE49-F238E27FC236}">
                    <a16:creationId xmlns:a16="http://schemas.microsoft.com/office/drawing/2014/main" id="{722C080E-7A3A-4C97-B6B8-EB27620DC3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1966" name="AutoShape 1155">
                  <a:extLst>
                    <a:ext uri="{FF2B5EF4-FFF2-40B4-BE49-F238E27FC236}">
                      <a16:creationId xmlns:a16="http://schemas.microsoft.com/office/drawing/2014/main" id="{11C7854C-6A17-4D4F-AEB0-84C375FDF0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67" name="AutoShape 1156">
                  <a:extLst>
                    <a:ext uri="{FF2B5EF4-FFF2-40B4-BE49-F238E27FC236}">
                      <a16:creationId xmlns:a16="http://schemas.microsoft.com/office/drawing/2014/main" id="{9E9BA320-A3AB-4415-A341-6426CF2E51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946" name="Rectangle 1157">
                <a:extLst>
                  <a:ext uri="{FF2B5EF4-FFF2-40B4-BE49-F238E27FC236}">
                    <a16:creationId xmlns:a16="http://schemas.microsoft.com/office/drawing/2014/main" id="{3E0FD8ED-D7C5-4033-83CE-2207110E6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47" name="Rectangle 1158">
                <a:extLst>
                  <a:ext uri="{FF2B5EF4-FFF2-40B4-BE49-F238E27FC236}">
                    <a16:creationId xmlns:a16="http://schemas.microsoft.com/office/drawing/2014/main" id="{9FC55338-0013-47DA-B3C7-C19DF29E9A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1948" name="Group 1159">
                <a:extLst>
                  <a:ext uri="{FF2B5EF4-FFF2-40B4-BE49-F238E27FC236}">
                    <a16:creationId xmlns:a16="http://schemas.microsoft.com/office/drawing/2014/main" id="{DAE61944-3602-4EC5-83E1-99DC5992BA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1964" name="AutoShape 1160">
                  <a:extLst>
                    <a:ext uri="{FF2B5EF4-FFF2-40B4-BE49-F238E27FC236}">
                      <a16:creationId xmlns:a16="http://schemas.microsoft.com/office/drawing/2014/main" id="{3412F78E-5FDB-4E26-A4E2-7F1B022ECE5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65" name="AutoShape 1161">
                  <a:extLst>
                    <a:ext uri="{FF2B5EF4-FFF2-40B4-BE49-F238E27FC236}">
                      <a16:creationId xmlns:a16="http://schemas.microsoft.com/office/drawing/2014/main" id="{356C679D-4A0E-4F38-BFA9-AAA7DEA1E2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949" name="Freeform 1162">
                <a:extLst>
                  <a:ext uri="{FF2B5EF4-FFF2-40B4-BE49-F238E27FC236}">
                    <a16:creationId xmlns:a16="http://schemas.microsoft.com/office/drawing/2014/main" id="{0B62ECA8-4986-4946-B83E-BCE4BDD7AA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1950" name="Group 1163">
                <a:extLst>
                  <a:ext uri="{FF2B5EF4-FFF2-40B4-BE49-F238E27FC236}">
                    <a16:creationId xmlns:a16="http://schemas.microsoft.com/office/drawing/2014/main" id="{813B29B2-726D-4371-8246-9BF47667A6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1962" name="AutoShape 1164">
                  <a:extLst>
                    <a:ext uri="{FF2B5EF4-FFF2-40B4-BE49-F238E27FC236}">
                      <a16:creationId xmlns:a16="http://schemas.microsoft.com/office/drawing/2014/main" id="{72579489-3966-42F4-9C4F-9E59687054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63" name="AutoShape 1165">
                  <a:extLst>
                    <a:ext uri="{FF2B5EF4-FFF2-40B4-BE49-F238E27FC236}">
                      <a16:creationId xmlns:a16="http://schemas.microsoft.com/office/drawing/2014/main" id="{0DA7369E-1F4B-4985-B777-2D20BB2C49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1951" name="Rectangle 1166">
                <a:extLst>
                  <a:ext uri="{FF2B5EF4-FFF2-40B4-BE49-F238E27FC236}">
                    <a16:creationId xmlns:a16="http://schemas.microsoft.com/office/drawing/2014/main" id="{9DA02F84-4093-49B8-A968-B9F659299E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52" name="Freeform 1167">
                <a:extLst>
                  <a:ext uri="{FF2B5EF4-FFF2-40B4-BE49-F238E27FC236}">
                    <a16:creationId xmlns:a16="http://schemas.microsoft.com/office/drawing/2014/main" id="{03F8C561-8F98-4023-8D78-E29F8320F5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53" name="Freeform 1168">
                <a:extLst>
                  <a:ext uri="{FF2B5EF4-FFF2-40B4-BE49-F238E27FC236}">
                    <a16:creationId xmlns:a16="http://schemas.microsoft.com/office/drawing/2014/main" id="{A4AC40C5-97BA-490F-916A-4E53118728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54" name="Oval 1169">
                <a:extLst>
                  <a:ext uri="{FF2B5EF4-FFF2-40B4-BE49-F238E27FC236}">
                    <a16:creationId xmlns:a16="http://schemas.microsoft.com/office/drawing/2014/main" id="{457BDB7A-3744-434E-96B5-1005B8A403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55" name="Freeform 1170">
                <a:extLst>
                  <a:ext uri="{FF2B5EF4-FFF2-40B4-BE49-F238E27FC236}">
                    <a16:creationId xmlns:a16="http://schemas.microsoft.com/office/drawing/2014/main" id="{7CBF2A0A-04D5-4293-9264-DE82498788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56" name="AutoShape 1171">
                <a:extLst>
                  <a:ext uri="{FF2B5EF4-FFF2-40B4-BE49-F238E27FC236}">
                    <a16:creationId xmlns:a16="http://schemas.microsoft.com/office/drawing/2014/main" id="{CB1FA5F7-761B-48EF-B898-EC8728C22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57" name="AutoShape 1172">
                <a:extLst>
                  <a:ext uri="{FF2B5EF4-FFF2-40B4-BE49-F238E27FC236}">
                    <a16:creationId xmlns:a16="http://schemas.microsoft.com/office/drawing/2014/main" id="{DCFF1B71-ECBE-432A-822B-9B25D337BD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58" name="Oval 1173">
                <a:extLst>
                  <a:ext uri="{FF2B5EF4-FFF2-40B4-BE49-F238E27FC236}">
                    <a16:creationId xmlns:a16="http://schemas.microsoft.com/office/drawing/2014/main" id="{EFA65D7C-4450-4AEA-9253-C01BF0691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59" name="Oval 1174">
                <a:extLst>
                  <a:ext uri="{FF2B5EF4-FFF2-40B4-BE49-F238E27FC236}">
                    <a16:creationId xmlns:a16="http://schemas.microsoft.com/office/drawing/2014/main" id="{D5DBB5DD-0E1B-4CC3-B56E-FB6C98D235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960" name="Oval 1175">
                <a:extLst>
                  <a:ext uri="{FF2B5EF4-FFF2-40B4-BE49-F238E27FC236}">
                    <a16:creationId xmlns:a16="http://schemas.microsoft.com/office/drawing/2014/main" id="{EDFF6D5F-02DA-4FE4-9959-041559547F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961" name="Rectangle 1176">
                <a:extLst>
                  <a:ext uri="{FF2B5EF4-FFF2-40B4-BE49-F238E27FC236}">
                    <a16:creationId xmlns:a16="http://schemas.microsoft.com/office/drawing/2014/main" id="{E234A0B8-E3C4-4F90-8B8D-89F300127F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1839" name="Group 1177">
              <a:extLst>
                <a:ext uri="{FF2B5EF4-FFF2-40B4-BE49-F238E27FC236}">
                  <a16:creationId xmlns:a16="http://schemas.microsoft.com/office/drawing/2014/main" id="{A9AEAB2C-EA87-42AF-8912-CCE4E7C9D1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0" y="1287"/>
              <a:ext cx="337" cy="257"/>
              <a:chOff x="877" y="1008"/>
              <a:chExt cx="2747" cy="2591"/>
            </a:xfrm>
          </p:grpSpPr>
          <p:pic>
            <p:nvPicPr>
              <p:cNvPr id="31915" name="Picture 1178" descr="antenna_stylized">
                <a:extLst>
                  <a:ext uri="{FF2B5EF4-FFF2-40B4-BE49-F238E27FC236}">
                    <a16:creationId xmlns:a16="http://schemas.microsoft.com/office/drawing/2014/main" id="{36B5BB7C-A7BE-4B57-A4B3-1B535CC232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1916" name="Picture 1179" descr="laptop_keyboard">
                <a:extLst>
                  <a:ext uri="{FF2B5EF4-FFF2-40B4-BE49-F238E27FC236}">
                    <a16:creationId xmlns:a16="http://schemas.microsoft.com/office/drawing/2014/main" id="{E5329B34-B8E7-4985-A3DF-E32A66E54C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917" name="Freeform 1180">
                <a:extLst>
                  <a:ext uri="{FF2B5EF4-FFF2-40B4-BE49-F238E27FC236}">
                    <a16:creationId xmlns:a16="http://schemas.microsoft.com/office/drawing/2014/main" id="{467A281B-2C8C-4E74-858C-CD076121FC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31918" name="Picture 1181" descr="screen">
                <a:extLst>
                  <a:ext uri="{FF2B5EF4-FFF2-40B4-BE49-F238E27FC236}">
                    <a16:creationId xmlns:a16="http://schemas.microsoft.com/office/drawing/2014/main" id="{3DEA7C26-5D95-4BA4-A12E-08193B2FE3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919" name="Freeform 1182">
                <a:extLst>
                  <a:ext uri="{FF2B5EF4-FFF2-40B4-BE49-F238E27FC236}">
                    <a16:creationId xmlns:a16="http://schemas.microsoft.com/office/drawing/2014/main" id="{BB6CD360-4F2C-4C44-8759-D14E4148ED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0" name="Freeform 1183">
                <a:extLst>
                  <a:ext uri="{FF2B5EF4-FFF2-40B4-BE49-F238E27FC236}">
                    <a16:creationId xmlns:a16="http://schemas.microsoft.com/office/drawing/2014/main" id="{0BC75AA4-CA7B-41DB-9D18-8551A9A984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1" name="Freeform 1184">
                <a:extLst>
                  <a:ext uri="{FF2B5EF4-FFF2-40B4-BE49-F238E27FC236}">
                    <a16:creationId xmlns:a16="http://schemas.microsoft.com/office/drawing/2014/main" id="{66E8695F-AF2F-485C-B757-7C4AD6DFB3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2" name="Freeform 1185">
                <a:extLst>
                  <a:ext uri="{FF2B5EF4-FFF2-40B4-BE49-F238E27FC236}">
                    <a16:creationId xmlns:a16="http://schemas.microsoft.com/office/drawing/2014/main" id="{BA001BA9-4188-473C-B3ED-EAFC448D7E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3" name="Freeform 1186">
                <a:extLst>
                  <a:ext uri="{FF2B5EF4-FFF2-40B4-BE49-F238E27FC236}">
                    <a16:creationId xmlns:a16="http://schemas.microsoft.com/office/drawing/2014/main" id="{19A5E177-EB19-4517-A3FE-BDE371BD6D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4" name="Freeform 1187">
                <a:extLst>
                  <a:ext uri="{FF2B5EF4-FFF2-40B4-BE49-F238E27FC236}">
                    <a16:creationId xmlns:a16="http://schemas.microsoft.com/office/drawing/2014/main" id="{CA3F27AD-FA03-49F7-8070-73F3198936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1925" name="Group 1188">
                <a:extLst>
                  <a:ext uri="{FF2B5EF4-FFF2-40B4-BE49-F238E27FC236}">
                    <a16:creationId xmlns:a16="http://schemas.microsoft.com/office/drawing/2014/main" id="{DFD7DAD5-60E1-465F-9537-70945D17CF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31932" name="Freeform 1189">
                  <a:extLst>
                    <a:ext uri="{FF2B5EF4-FFF2-40B4-BE49-F238E27FC236}">
                      <a16:creationId xmlns:a16="http://schemas.microsoft.com/office/drawing/2014/main" id="{3B2088FF-31FE-4322-8FDB-F4D103E063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33" name="Freeform 1190">
                  <a:extLst>
                    <a:ext uri="{FF2B5EF4-FFF2-40B4-BE49-F238E27FC236}">
                      <a16:creationId xmlns:a16="http://schemas.microsoft.com/office/drawing/2014/main" id="{56AD78A1-D859-42A3-9E9B-943661EED9A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34" name="Freeform 1191">
                  <a:extLst>
                    <a:ext uri="{FF2B5EF4-FFF2-40B4-BE49-F238E27FC236}">
                      <a16:creationId xmlns:a16="http://schemas.microsoft.com/office/drawing/2014/main" id="{18E67AEE-83FF-4CAA-892A-66AD94EAAEA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35" name="Freeform 1192">
                  <a:extLst>
                    <a:ext uri="{FF2B5EF4-FFF2-40B4-BE49-F238E27FC236}">
                      <a16:creationId xmlns:a16="http://schemas.microsoft.com/office/drawing/2014/main" id="{FDF7278C-BB36-4509-AE56-4930F01D5C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36" name="Freeform 1193">
                  <a:extLst>
                    <a:ext uri="{FF2B5EF4-FFF2-40B4-BE49-F238E27FC236}">
                      <a16:creationId xmlns:a16="http://schemas.microsoft.com/office/drawing/2014/main" id="{D6175A20-BF8C-4E1B-B12D-857408A666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37" name="Freeform 1194">
                  <a:extLst>
                    <a:ext uri="{FF2B5EF4-FFF2-40B4-BE49-F238E27FC236}">
                      <a16:creationId xmlns:a16="http://schemas.microsoft.com/office/drawing/2014/main" id="{511146F4-7CFD-4C9A-99A5-79A5FB9A097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1926" name="Freeform 1195">
                <a:extLst>
                  <a:ext uri="{FF2B5EF4-FFF2-40B4-BE49-F238E27FC236}">
                    <a16:creationId xmlns:a16="http://schemas.microsoft.com/office/drawing/2014/main" id="{565D775F-F858-4CA7-AD96-DC54380FF5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7" name="Freeform 1196">
                <a:extLst>
                  <a:ext uri="{FF2B5EF4-FFF2-40B4-BE49-F238E27FC236}">
                    <a16:creationId xmlns:a16="http://schemas.microsoft.com/office/drawing/2014/main" id="{BC3C051C-5007-4D3B-98FE-0F6D8E50FF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8" name="Freeform 1197">
                <a:extLst>
                  <a:ext uri="{FF2B5EF4-FFF2-40B4-BE49-F238E27FC236}">
                    <a16:creationId xmlns:a16="http://schemas.microsoft.com/office/drawing/2014/main" id="{192BCE10-CF08-4072-9D3E-62CE576661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9" name="Freeform 1198">
                <a:extLst>
                  <a:ext uri="{FF2B5EF4-FFF2-40B4-BE49-F238E27FC236}">
                    <a16:creationId xmlns:a16="http://schemas.microsoft.com/office/drawing/2014/main" id="{D0B84487-5907-48FE-82C0-D9DEF961D8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30" name="Freeform 1199">
                <a:extLst>
                  <a:ext uri="{FF2B5EF4-FFF2-40B4-BE49-F238E27FC236}">
                    <a16:creationId xmlns:a16="http://schemas.microsoft.com/office/drawing/2014/main" id="{0AA48B67-28BC-44AD-92A8-6C5E07129F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31" name="Freeform 1200">
                <a:extLst>
                  <a:ext uri="{FF2B5EF4-FFF2-40B4-BE49-F238E27FC236}">
                    <a16:creationId xmlns:a16="http://schemas.microsoft.com/office/drawing/2014/main" id="{E40424C1-BC87-4F1B-B602-F7B423F5C7B2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40" name="Group 1201">
              <a:extLst>
                <a:ext uri="{FF2B5EF4-FFF2-40B4-BE49-F238E27FC236}">
                  <a16:creationId xmlns:a16="http://schemas.microsoft.com/office/drawing/2014/main" id="{A2A07DE9-1D92-4899-AE08-B1A7BD99CA7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29" y="3456"/>
              <a:ext cx="299" cy="257"/>
              <a:chOff x="877" y="1008"/>
              <a:chExt cx="2747" cy="2591"/>
            </a:xfrm>
          </p:grpSpPr>
          <p:pic>
            <p:nvPicPr>
              <p:cNvPr id="31892" name="Picture 1202" descr="antenna_stylized">
                <a:extLst>
                  <a:ext uri="{FF2B5EF4-FFF2-40B4-BE49-F238E27FC236}">
                    <a16:creationId xmlns:a16="http://schemas.microsoft.com/office/drawing/2014/main" id="{D6A20AB9-7995-4896-AC2F-59BBF3FABD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1893" name="Picture 1203" descr="laptop_keyboard">
                <a:extLst>
                  <a:ext uri="{FF2B5EF4-FFF2-40B4-BE49-F238E27FC236}">
                    <a16:creationId xmlns:a16="http://schemas.microsoft.com/office/drawing/2014/main" id="{F6C4277E-D173-471F-85A5-0755B163513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894" name="Freeform 1204">
                <a:extLst>
                  <a:ext uri="{FF2B5EF4-FFF2-40B4-BE49-F238E27FC236}">
                    <a16:creationId xmlns:a16="http://schemas.microsoft.com/office/drawing/2014/main" id="{B905C511-64C0-4DF1-BE1F-3A8F650542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31895" name="Picture 1205" descr="screen">
                <a:extLst>
                  <a:ext uri="{FF2B5EF4-FFF2-40B4-BE49-F238E27FC236}">
                    <a16:creationId xmlns:a16="http://schemas.microsoft.com/office/drawing/2014/main" id="{3B8EF0AF-94CC-4D11-8BE7-55320982B7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896" name="Freeform 1206">
                <a:extLst>
                  <a:ext uri="{FF2B5EF4-FFF2-40B4-BE49-F238E27FC236}">
                    <a16:creationId xmlns:a16="http://schemas.microsoft.com/office/drawing/2014/main" id="{B9D0421E-1A9C-421B-8856-D14F4C0905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97" name="Freeform 1207">
                <a:extLst>
                  <a:ext uri="{FF2B5EF4-FFF2-40B4-BE49-F238E27FC236}">
                    <a16:creationId xmlns:a16="http://schemas.microsoft.com/office/drawing/2014/main" id="{07BB7F0C-A0FB-47F3-AE63-BA23A9D26A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98" name="Freeform 1208">
                <a:extLst>
                  <a:ext uri="{FF2B5EF4-FFF2-40B4-BE49-F238E27FC236}">
                    <a16:creationId xmlns:a16="http://schemas.microsoft.com/office/drawing/2014/main" id="{79827046-EDDB-48CA-A94F-7DFCA373C5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99" name="Freeform 1209">
                <a:extLst>
                  <a:ext uri="{FF2B5EF4-FFF2-40B4-BE49-F238E27FC236}">
                    <a16:creationId xmlns:a16="http://schemas.microsoft.com/office/drawing/2014/main" id="{1AF0A19E-5EB7-4E23-8E71-2A46C25169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00" name="Freeform 1210">
                <a:extLst>
                  <a:ext uri="{FF2B5EF4-FFF2-40B4-BE49-F238E27FC236}">
                    <a16:creationId xmlns:a16="http://schemas.microsoft.com/office/drawing/2014/main" id="{4AC75615-6CF9-4E5A-9A10-CF78754301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01" name="Freeform 1211">
                <a:extLst>
                  <a:ext uri="{FF2B5EF4-FFF2-40B4-BE49-F238E27FC236}">
                    <a16:creationId xmlns:a16="http://schemas.microsoft.com/office/drawing/2014/main" id="{8AB4451E-720C-40A5-BDC0-CA41800C79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1902" name="Group 1212">
                <a:extLst>
                  <a:ext uri="{FF2B5EF4-FFF2-40B4-BE49-F238E27FC236}">
                    <a16:creationId xmlns:a16="http://schemas.microsoft.com/office/drawing/2014/main" id="{D2804FCE-5D66-49C5-AF75-16841B61B3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31909" name="Freeform 1213">
                  <a:extLst>
                    <a:ext uri="{FF2B5EF4-FFF2-40B4-BE49-F238E27FC236}">
                      <a16:creationId xmlns:a16="http://schemas.microsoft.com/office/drawing/2014/main" id="{92781B23-7F67-413B-8525-E01CEE2CBB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10" name="Freeform 1214">
                  <a:extLst>
                    <a:ext uri="{FF2B5EF4-FFF2-40B4-BE49-F238E27FC236}">
                      <a16:creationId xmlns:a16="http://schemas.microsoft.com/office/drawing/2014/main" id="{5A821735-696D-4C61-8DFA-5606940A51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11" name="Freeform 1215">
                  <a:extLst>
                    <a:ext uri="{FF2B5EF4-FFF2-40B4-BE49-F238E27FC236}">
                      <a16:creationId xmlns:a16="http://schemas.microsoft.com/office/drawing/2014/main" id="{80421372-2D4A-4C03-8241-8DB89B32A04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12" name="Freeform 1216">
                  <a:extLst>
                    <a:ext uri="{FF2B5EF4-FFF2-40B4-BE49-F238E27FC236}">
                      <a16:creationId xmlns:a16="http://schemas.microsoft.com/office/drawing/2014/main" id="{007193A1-2147-4498-BC18-4E5A557897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13" name="Freeform 1217">
                  <a:extLst>
                    <a:ext uri="{FF2B5EF4-FFF2-40B4-BE49-F238E27FC236}">
                      <a16:creationId xmlns:a16="http://schemas.microsoft.com/office/drawing/2014/main" id="{C686AD03-C7B9-4A61-ADFD-DED880F0DB5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914" name="Freeform 1218">
                  <a:extLst>
                    <a:ext uri="{FF2B5EF4-FFF2-40B4-BE49-F238E27FC236}">
                      <a16:creationId xmlns:a16="http://schemas.microsoft.com/office/drawing/2014/main" id="{AF4B7072-49A8-4D33-9A46-D519AA31C0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1903" name="Freeform 1219">
                <a:extLst>
                  <a:ext uri="{FF2B5EF4-FFF2-40B4-BE49-F238E27FC236}">
                    <a16:creationId xmlns:a16="http://schemas.microsoft.com/office/drawing/2014/main" id="{79E233FA-C3DA-479D-A3F5-89F8C9BA53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04" name="Freeform 1220">
                <a:extLst>
                  <a:ext uri="{FF2B5EF4-FFF2-40B4-BE49-F238E27FC236}">
                    <a16:creationId xmlns:a16="http://schemas.microsoft.com/office/drawing/2014/main" id="{B68AEEB2-A273-4BB5-974F-14751A9C55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05" name="Freeform 1221">
                <a:extLst>
                  <a:ext uri="{FF2B5EF4-FFF2-40B4-BE49-F238E27FC236}">
                    <a16:creationId xmlns:a16="http://schemas.microsoft.com/office/drawing/2014/main" id="{FC045E8D-408D-43E6-895B-35E81F3BB0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06" name="Freeform 1222">
                <a:extLst>
                  <a:ext uri="{FF2B5EF4-FFF2-40B4-BE49-F238E27FC236}">
                    <a16:creationId xmlns:a16="http://schemas.microsoft.com/office/drawing/2014/main" id="{7CEDF452-002D-4720-8EE1-FD74F21E55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07" name="Freeform 1223">
                <a:extLst>
                  <a:ext uri="{FF2B5EF4-FFF2-40B4-BE49-F238E27FC236}">
                    <a16:creationId xmlns:a16="http://schemas.microsoft.com/office/drawing/2014/main" id="{E17319A1-DD85-496E-8FD2-CB00EBA4E7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08" name="Freeform 1224">
                <a:extLst>
                  <a:ext uri="{FF2B5EF4-FFF2-40B4-BE49-F238E27FC236}">
                    <a16:creationId xmlns:a16="http://schemas.microsoft.com/office/drawing/2014/main" id="{94330841-9C45-4C37-8CC9-A9F2482644A8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41" name="Group 1225">
              <a:extLst>
                <a:ext uri="{FF2B5EF4-FFF2-40B4-BE49-F238E27FC236}">
                  <a16:creationId xmlns:a16="http://schemas.microsoft.com/office/drawing/2014/main" id="{16F3FEB8-1C1E-4BCC-B71A-F9EE5C345F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3" y="1916"/>
              <a:ext cx="280" cy="257"/>
              <a:chOff x="877" y="1008"/>
              <a:chExt cx="2747" cy="2591"/>
            </a:xfrm>
          </p:grpSpPr>
          <p:pic>
            <p:nvPicPr>
              <p:cNvPr id="31869" name="Picture 1226" descr="antenna_stylized">
                <a:extLst>
                  <a:ext uri="{FF2B5EF4-FFF2-40B4-BE49-F238E27FC236}">
                    <a16:creationId xmlns:a16="http://schemas.microsoft.com/office/drawing/2014/main" id="{37CD85EB-3E46-40B5-92A9-A10D23B9D1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1870" name="Picture 1227" descr="laptop_keyboard">
                <a:extLst>
                  <a:ext uri="{FF2B5EF4-FFF2-40B4-BE49-F238E27FC236}">
                    <a16:creationId xmlns:a16="http://schemas.microsoft.com/office/drawing/2014/main" id="{3CCFFBCD-A6B6-4F4A-B8B3-B08C8F86B5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871" name="Freeform 1228">
                <a:extLst>
                  <a:ext uri="{FF2B5EF4-FFF2-40B4-BE49-F238E27FC236}">
                    <a16:creationId xmlns:a16="http://schemas.microsoft.com/office/drawing/2014/main" id="{1B3995A4-5772-4544-9AFE-9E59BA4DB0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31872" name="Picture 1229" descr="screen">
                <a:extLst>
                  <a:ext uri="{FF2B5EF4-FFF2-40B4-BE49-F238E27FC236}">
                    <a16:creationId xmlns:a16="http://schemas.microsoft.com/office/drawing/2014/main" id="{B3D86435-0106-4697-8C3A-6F831C8582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873" name="Freeform 1230">
                <a:extLst>
                  <a:ext uri="{FF2B5EF4-FFF2-40B4-BE49-F238E27FC236}">
                    <a16:creationId xmlns:a16="http://schemas.microsoft.com/office/drawing/2014/main" id="{D73CC9AC-3FB7-40DD-805C-E75722CCFE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74" name="Freeform 1231">
                <a:extLst>
                  <a:ext uri="{FF2B5EF4-FFF2-40B4-BE49-F238E27FC236}">
                    <a16:creationId xmlns:a16="http://schemas.microsoft.com/office/drawing/2014/main" id="{DA37C0F4-5EFF-4C23-9F78-1B1BC97BBE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75" name="Freeform 1232">
                <a:extLst>
                  <a:ext uri="{FF2B5EF4-FFF2-40B4-BE49-F238E27FC236}">
                    <a16:creationId xmlns:a16="http://schemas.microsoft.com/office/drawing/2014/main" id="{624CDCD9-E531-4703-81F9-49D1C70744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76" name="Freeform 1233">
                <a:extLst>
                  <a:ext uri="{FF2B5EF4-FFF2-40B4-BE49-F238E27FC236}">
                    <a16:creationId xmlns:a16="http://schemas.microsoft.com/office/drawing/2014/main" id="{3E4DF2A0-15B2-4CD3-8CA0-905DBD6E26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77" name="Freeform 1234">
                <a:extLst>
                  <a:ext uri="{FF2B5EF4-FFF2-40B4-BE49-F238E27FC236}">
                    <a16:creationId xmlns:a16="http://schemas.microsoft.com/office/drawing/2014/main" id="{49AF5BAC-A6C8-4060-AF26-5AE1A6C454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78" name="Freeform 1235">
                <a:extLst>
                  <a:ext uri="{FF2B5EF4-FFF2-40B4-BE49-F238E27FC236}">
                    <a16:creationId xmlns:a16="http://schemas.microsoft.com/office/drawing/2014/main" id="{F8092D04-49E1-433A-B68D-CF23AF9E77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1879" name="Group 1236">
                <a:extLst>
                  <a:ext uri="{FF2B5EF4-FFF2-40B4-BE49-F238E27FC236}">
                    <a16:creationId xmlns:a16="http://schemas.microsoft.com/office/drawing/2014/main" id="{D12F8067-89A5-4EE5-84B6-EDB08720A0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31886" name="Freeform 1237">
                  <a:extLst>
                    <a:ext uri="{FF2B5EF4-FFF2-40B4-BE49-F238E27FC236}">
                      <a16:creationId xmlns:a16="http://schemas.microsoft.com/office/drawing/2014/main" id="{71848488-0029-470F-A95D-03720F05E8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87" name="Freeform 1238">
                  <a:extLst>
                    <a:ext uri="{FF2B5EF4-FFF2-40B4-BE49-F238E27FC236}">
                      <a16:creationId xmlns:a16="http://schemas.microsoft.com/office/drawing/2014/main" id="{A17E3910-D806-48E5-8247-C9EB91FB3E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88" name="Freeform 1239">
                  <a:extLst>
                    <a:ext uri="{FF2B5EF4-FFF2-40B4-BE49-F238E27FC236}">
                      <a16:creationId xmlns:a16="http://schemas.microsoft.com/office/drawing/2014/main" id="{95D96098-552A-4176-AB74-1D27698446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89" name="Freeform 1240">
                  <a:extLst>
                    <a:ext uri="{FF2B5EF4-FFF2-40B4-BE49-F238E27FC236}">
                      <a16:creationId xmlns:a16="http://schemas.microsoft.com/office/drawing/2014/main" id="{803572DC-67BA-48FF-A103-C1A001D6926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90" name="Freeform 1241">
                  <a:extLst>
                    <a:ext uri="{FF2B5EF4-FFF2-40B4-BE49-F238E27FC236}">
                      <a16:creationId xmlns:a16="http://schemas.microsoft.com/office/drawing/2014/main" id="{A0218B9C-4589-41CC-B9E9-DDBEABF4C4C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91" name="Freeform 1242">
                  <a:extLst>
                    <a:ext uri="{FF2B5EF4-FFF2-40B4-BE49-F238E27FC236}">
                      <a16:creationId xmlns:a16="http://schemas.microsoft.com/office/drawing/2014/main" id="{0CB6E3A2-86AE-46A2-BF77-2C934216ED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1880" name="Freeform 1243">
                <a:extLst>
                  <a:ext uri="{FF2B5EF4-FFF2-40B4-BE49-F238E27FC236}">
                    <a16:creationId xmlns:a16="http://schemas.microsoft.com/office/drawing/2014/main" id="{3CB0FDD1-3888-4DA0-A2E7-167174A246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81" name="Freeform 1244">
                <a:extLst>
                  <a:ext uri="{FF2B5EF4-FFF2-40B4-BE49-F238E27FC236}">
                    <a16:creationId xmlns:a16="http://schemas.microsoft.com/office/drawing/2014/main" id="{E7656115-E41F-464E-BBE2-C1B65D3E12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82" name="Freeform 1245">
                <a:extLst>
                  <a:ext uri="{FF2B5EF4-FFF2-40B4-BE49-F238E27FC236}">
                    <a16:creationId xmlns:a16="http://schemas.microsoft.com/office/drawing/2014/main" id="{DF18AE7D-A084-4515-8C1D-027D79BA23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83" name="Freeform 1246">
                <a:extLst>
                  <a:ext uri="{FF2B5EF4-FFF2-40B4-BE49-F238E27FC236}">
                    <a16:creationId xmlns:a16="http://schemas.microsoft.com/office/drawing/2014/main" id="{E325F76A-E6BB-441E-847D-C97EE59387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84" name="Freeform 1247">
                <a:extLst>
                  <a:ext uri="{FF2B5EF4-FFF2-40B4-BE49-F238E27FC236}">
                    <a16:creationId xmlns:a16="http://schemas.microsoft.com/office/drawing/2014/main" id="{A1C79206-DF05-496B-8E2E-2C995CB5AB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85" name="Freeform 1248">
                <a:extLst>
                  <a:ext uri="{FF2B5EF4-FFF2-40B4-BE49-F238E27FC236}">
                    <a16:creationId xmlns:a16="http://schemas.microsoft.com/office/drawing/2014/main" id="{733A7B55-A3AF-44AF-AC7A-F0471B21494D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1842" name="Group 1249">
              <a:extLst>
                <a:ext uri="{FF2B5EF4-FFF2-40B4-BE49-F238E27FC236}">
                  <a16:creationId xmlns:a16="http://schemas.microsoft.com/office/drawing/2014/main" id="{BFDD6758-0F11-4A71-AFDA-27DC4A8EA38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2" y="2030"/>
              <a:ext cx="261" cy="235"/>
              <a:chOff x="2839" y="3501"/>
              <a:chExt cx="755" cy="803"/>
            </a:xfrm>
          </p:grpSpPr>
          <p:pic>
            <p:nvPicPr>
              <p:cNvPr id="31867" name="Picture 1250" descr="desktop_computer_stylized_medium">
                <a:extLst>
                  <a:ext uri="{FF2B5EF4-FFF2-40B4-BE49-F238E27FC236}">
                    <a16:creationId xmlns:a16="http://schemas.microsoft.com/office/drawing/2014/main" id="{483EE102-17A7-4A24-8A33-73CA5ADC23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868" name="Freeform 1251">
                <a:extLst>
                  <a:ext uri="{FF2B5EF4-FFF2-40B4-BE49-F238E27FC236}">
                    <a16:creationId xmlns:a16="http://schemas.microsoft.com/office/drawing/2014/main" id="{881D668C-5CAC-4DFE-B2A2-7B0681BB31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31843" name="Group 1252">
              <a:extLst>
                <a:ext uri="{FF2B5EF4-FFF2-40B4-BE49-F238E27FC236}">
                  <a16:creationId xmlns:a16="http://schemas.microsoft.com/office/drawing/2014/main" id="{58EDC2CB-0E83-489F-902A-B2BC8C14C6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3" y="3416"/>
              <a:ext cx="299" cy="257"/>
              <a:chOff x="877" y="1008"/>
              <a:chExt cx="2747" cy="2591"/>
            </a:xfrm>
          </p:grpSpPr>
          <p:pic>
            <p:nvPicPr>
              <p:cNvPr id="31844" name="Picture 1253" descr="antenna_stylized">
                <a:extLst>
                  <a:ext uri="{FF2B5EF4-FFF2-40B4-BE49-F238E27FC236}">
                    <a16:creationId xmlns:a16="http://schemas.microsoft.com/office/drawing/2014/main" id="{D3017485-EF71-4FB6-B63D-B62E5EE7F1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1845" name="Picture 1254" descr="laptop_keyboard">
                <a:extLst>
                  <a:ext uri="{FF2B5EF4-FFF2-40B4-BE49-F238E27FC236}">
                    <a16:creationId xmlns:a16="http://schemas.microsoft.com/office/drawing/2014/main" id="{F336D619-231B-40BB-A7AF-BC6081DE53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846" name="Freeform 1255">
                <a:extLst>
                  <a:ext uri="{FF2B5EF4-FFF2-40B4-BE49-F238E27FC236}">
                    <a16:creationId xmlns:a16="http://schemas.microsoft.com/office/drawing/2014/main" id="{9064478D-25AB-439C-84D6-F071AE1CC3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31847" name="Picture 1256" descr="screen">
                <a:extLst>
                  <a:ext uri="{FF2B5EF4-FFF2-40B4-BE49-F238E27FC236}">
                    <a16:creationId xmlns:a16="http://schemas.microsoft.com/office/drawing/2014/main" id="{F11AD44B-EF07-44D9-8E47-94C50B5A22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1848" name="Freeform 1257">
                <a:extLst>
                  <a:ext uri="{FF2B5EF4-FFF2-40B4-BE49-F238E27FC236}">
                    <a16:creationId xmlns:a16="http://schemas.microsoft.com/office/drawing/2014/main" id="{CD79D996-E12B-404A-96DD-901557E2AE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49" name="Freeform 1258">
                <a:extLst>
                  <a:ext uri="{FF2B5EF4-FFF2-40B4-BE49-F238E27FC236}">
                    <a16:creationId xmlns:a16="http://schemas.microsoft.com/office/drawing/2014/main" id="{CF6E4181-5EB2-414C-8408-C88193938B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50" name="Freeform 1259">
                <a:extLst>
                  <a:ext uri="{FF2B5EF4-FFF2-40B4-BE49-F238E27FC236}">
                    <a16:creationId xmlns:a16="http://schemas.microsoft.com/office/drawing/2014/main" id="{2BE50281-EEA3-4605-B9E1-4EC535901B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51" name="Freeform 1260">
                <a:extLst>
                  <a:ext uri="{FF2B5EF4-FFF2-40B4-BE49-F238E27FC236}">
                    <a16:creationId xmlns:a16="http://schemas.microsoft.com/office/drawing/2014/main" id="{133A14E6-BEA5-46F1-9CC8-12E9F54DD5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52" name="Freeform 1261">
                <a:extLst>
                  <a:ext uri="{FF2B5EF4-FFF2-40B4-BE49-F238E27FC236}">
                    <a16:creationId xmlns:a16="http://schemas.microsoft.com/office/drawing/2014/main" id="{3FB66915-B38C-4E09-B6B8-6D2EA2EC17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53" name="Freeform 1262">
                <a:extLst>
                  <a:ext uri="{FF2B5EF4-FFF2-40B4-BE49-F238E27FC236}">
                    <a16:creationId xmlns:a16="http://schemas.microsoft.com/office/drawing/2014/main" id="{7B06CEC2-138D-4CC9-BEDC-231B23A185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1854" name="Group 1263">
                <a:extLst>
                  <a:ext uri="{FF2B5EF4-FFF2-40B4-BE49-F238E27FC236}">
                    <a16:creationId xmlns:a16="http://schemas.microsoft.com/office/drawing/2014/main" id="{8C38F782-F2B1-4810-AF5E-E26B667757A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31861" name="Freeform 1264">
                  <a:extLst>
                    <a:ext uri="{FF2B5EF4-FFF2-40B4-BE49-F238E27FC236}">
                      <a16:creationId xmlns:a16="http://schemas.microsoft.com/office/drawing/2014/main" id="{23E7A7BA-11E4-445F-8DB6-55F53A849A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62" name="Freeform 1265">
                  <a:extLst>
                    <a:ext uri="{FF2B5EF4-FFF2-40B4-BE49-F238E27FC236}">
                      <a16:creationId xmlns:a16="http://schemas.microsoft.com/office/drawing/2014/main" id="{6069C930-59D9-400C-8CD9-AF29567E2C3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63" name="Freeform 1266">
                  <a:extLst>
                    <a:ext uri="{FF2B5EF4-FFF2-40B4-BE49-F238E27FC236}">
                      <a16:creationId xmlns:a16="http://schemas.microsoft.com/office/drawing/2014/main" id="{5D234063-C6E8-4D4F-B23D-E218EA8F7B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64" name="Freeform 1267">
                  <a:extLst>
                    <a:ext uri="{FF2B5EF4-FFF2-40B4-BE49-F238E27FC236}">
                      <a16:creationId xmlns:a16="http://schemas.microsoft.com/office/drawing/2014/main" id="{58798E83-E6CB-4FCF-8627-FBB0F947A2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65" name="Freeform 1268">
                  <a:extLst>
                    <a:ext uri="{FF2B5EF4-FFF2-40B4-BE49-F238E27FC236}">
                      <a16:creationId xmlns:a16="http://schemas.microsoft.com/office/drawing/2014/main" id="{8DF7F1EF-0D44-416E-B89B-23EF280F21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1866" name="Freeform 1269">
                  <a:extLst>
                    <a:ext uri="{FF2B5EF4-FFF2-40B4-BE49-F238E27FC236}">
                      <a16:creationId xmlns:a16="http://schemas.microsoft.com/office/drawing/2014/main" id="{1B467BCA-1902-4620-B50B-3B58BD06644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1855" name="Freeform 1270">
                <a:extLst>
                  <a:ext uri="{FF2B5EF4-FFF2-40B4-BE49-F238E27FC236}">
                    <a16:creationId xmlns:a16="http://schemas.microsoft.com/office/drawing/2014/main" id="{BB27B8B7-BCAF-48D3-B895-9BAA53112B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56" name="Freeform 1271">
                <a:extLst>
                  <a:ext uri="{FF2B5EF4-FFF2-40B4-BE49-F238E27FC236}">
                    <a16:creationId xmlns:a16="http://schemas.microsoft.com/office/drawing/2014/main" id="{CC1DC2CA-3D61-4DED-AB01-61BD2A684D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57" name="Freeform 1272">
                <a:extLst>
                  <a:ext uri="{FF2B5EF4-FFF2-40B4-BE49-F238E27FC236}">
                    <a16:creationId xmlns:a16="http://schemas.microsoft.com/office/drawing/2014/main" id="{C726DB8C-58B6-4A27-8230-CF4D3264D8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58" name="Freeform 1273">
                <a:extLst>
                  <a:ext uri="{FF2B5EF4-FFF2-40B4-BE49-F238E27FC236}">
                    <a16:creationId xmlns:a16="http://schemas.microsoft.com/office/drawing/2014/main" id="{152F93C2-BA8D-4491-B582-D12D83C716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59" name="Freeform 1274">
                <a:extLst>
                  <a:ext uri="{FF2B5EF4-FFF2-40B4-BE49-F238E27FC236}">
                    <a16:creationId xmlns:a16="http://schemas.microsoft.com/office/drawing/2014/main" id="{63BF27FF-4CEA-41CD-9A09-7C3760AA3A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60" name="Freeform 1275">
                <a:extLst>
                  <a:ext uri="{FF2B5EF4-FFF2-40B4-BE49-F238E27FC236}">
                    <a16:creationId xmlns:a16="http://schemas.microsoft.com/office/drawing/2014/main" id="{7BC83AD6-21BF-413F-9273-79A2E1F9ABE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pic>
        <p:nvPicPr>
          <p:cNvPr id="31749" name="Picture 864" descr="underline_base">
            <a:extLst>
              <a:ext uri="{FF2B5EF4-FFF2-40B4-BE49-F238E27FC236}">
                <a16:creationId xmlns:a16="http://schemas.microsoft.com/office/drawing/2014/main" id="{5EA3F182-5EB5-430F-8F4A-6F08513E79DE}"/>
              </a:ext>
            </a:extLst>
          </p:cNvPr>
          <p:cNvPicPr>
            <a:picLocks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13" y="1035050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Rectangle 2">
            <a:extLst>
              <a:ext uri="{FF2B5EF4-FFF2-40B4-BE49-F238E27FC236}">
                <a16:creationId xmlns:a16="http://schemas.microsoft.com/office/drawing/2014/main" id="{38476624-D5CA-4669-AB24-7E195CA3CB3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228600"/>
            <a:ext cx="83820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Transport services and protocols</a:t>
            </a:r>
          </a:p>
        </p:txBody>
      </p:sp>
      <p:sp>
        <p:nvSpPr>
          <p:cNvPr id="4103" name="Rectangle 3">
            <a:extLst>
              <a:ext uri="{FF2B5EF4-FFF2-40B4-BE49-F238E27FC236}">
                <a16:creationId xmlns:a16="http://schemas.microsoft.com/office/drawing/2014/main" id="{DADAB143-50E0-4932-8915-6A09753E315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38150" y="1511300"/>
            <a:ext cx="4086225" cy="511492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provide</a:t>
            </a:r>
            <a:r>
              <a:rPr lang="en-US" sz="2400" i="1" dirty="0">
                <a:solidFill>
                  <a:srgbClr val="FF0000"/>
                </a:solidFill>
                <a:ea typeface="ＭＳ Ｐゴシック" charset="0"/>
                <a:cs typeface="+mn-cs"/>
              </a:rPr>
              <a:t> </a:t>
            </a:r>
            <a:r>
              <a:rPr lang="en-US" sz="2400" i="1" dirty="0">
                <a:solidFill>
                  <a:srgbClr val="CC0000"/>
                </a:solidFill>
                <a:ea typeface="ＭＳ Ｐゴシック" charset="0"/>
                <a:cs typeface="+mn-cs"/>
              </a:rPr>
              <a:t>logical communication</a:t>
            </a:r>
            <a:r>
              <a:rPr lang="en-US" sz="2400" dirty="0">
                <a:ea typeface="ＭＳ Ｐゴシック" charset="0"/>
                <a:cs typeface="+mn-cs"/>
              </a:rPr>
              <a:t> between app processes running on different hosts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transport protocols run in end systems 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send side: breaks app </a:t>
            </a: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messages</a:t>
            </a:r>
            <a:r>
              <a:rPr lang="en-US" dirty="0">
                <a:ea typeface="ＭＳ Ｐゴシック" charset="0"/>
              </a:rPr>
              <a:t> into </a:t>
            </a:r>
            <a:r>
              <a:rPr lang="en-US" i="1" dirty="0">
                <a:solidFill>
                  <a:srgbClr val="FF0000"/>
                </a:solidFill>
                <a:ea typeface="ＭＳ Ｐゴシック" charset="0"/>
              </a:rPr>
              <a:t>segments</a:t>
            </a:r>
            <a:r>
              <a:rPr lang="en-US" dirty="0">
                <a:ea typeface="ＭＳ Ｐゴシック" charset="0"/>
              </a:rPr>
              <a:t>, passes to  network layer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rcv side: reassembles </a:t>
            </a:r>
            <a:r>
              <a:rPr lang="en-US" dirty="0">
                <a:solidFill>
                  <a:srgbClr val="FF0000"/>
                </a:solidFill>
                <a:ea typeface="ＭＳ Ｐゴシック" charset="0"/>
              </a:rPr>
              <a:t>segments</a:t>
            </a:r>
            <a:r>
              <a:rPr lang="en-US" dirty="0">
                <a:ea typeface="ＭＳ Ｐゴシック" charset="0"/>
              </a:rPr>
              <a:t> into </a:t>
            </a: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messages</a:t>
            </a:r>
            <a:r>
              <a:rPr lang="en-US" dirty="0">
                <a:ea typeface="ＭＳ Ｐゴシック" charset="0"/>
              </a:rPr>
              <a:t>, passes to app layer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more than one transport protocol available to apps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Internet: TCP and UDP</a:t>
            </a:r>
          </a:p>
        </p:txBody>
      </p:sp>
      <p:grpSp>
        <p:nvGrpSpPr>
          <p:cNvPr id="29781" name="Group 669">
            <a:extLst>
              <a:ext uri="{FF2B5EF4-FFF2-40B4-BE49-F238E27FC236}">
                <a16:creationId xmlns:a16="http://schemas.microsoft.com/office/drawing/2014/main" id="{E444079C-CC00-4EF1-89BD-845413EF2690}"/>
              </a:ext>
            </a:extLst>
          </p:cNvPr>
          <p:cNvGrpSpPr>
            <a:grpSpLocks/>
          </p:cNvGrpSpPr>
          <p:nvPr/>
        </p:nvGrpSpPr>
        <p:grpSpPr bwMode="auto">
          <a:xfrm>
            <a:off x="7856538" y="4454525"/>
            <a:ext cx="1057275" cy="957263"/>
            <a:chOff x="-153" y="1680"/>
            <a:chExt cx="666" cy="603"/>
          </a:xfrm>
        </p:grpSpPr>
        <p:grpSp>
          <p:nvGrpSpPr>
            <p:cNvPr id="31768" name="Group 670">
              <a:extLst>
                <a:ext uri="{FF2B5EF4-FFF2-40B4-BE49-F238E27FC236}">
                  <a16:creationId xmlns:a16="http://schemas.microsoft.com/office/drawing/2014/main" id="{50E12FE4-475C-421A-B469-275248B99A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1680"/>
              <a:ext cx="513" cy="538"/>
              <a:chOff x="4180" y="744"/>
              <a:chExt cx="513" cy="538"/>
            </a:xfrm>
          </p:grpSpPr>
          <p:sp>
            <p:nvSpPr>
              <p:cNvPr id="31770" name="Rectangle 671">
                <a:extLst>
                  <a:ext uri="{FF2B5EF4-FFF2-40B4-BE49-F238E27FC236}">
                    <a16:creationId xmlns:a16="http://schemas.microsoft.com/office/drawing/2014/main" id="{E9A9A0B4-3136-4480-801C-B0C015A945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42" y="747"/>
                <a:ext cx="426" cy="48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771" name="Rectangle 672">
                <a:extLst>
                  <a:ext uri="{FF2B5EF4-FFF2-40B4-BE49-F238E27FC236}">
                    <a16:creationId xmlns:a16="http://schemas.microsoft.com/office/drawing/2014/main" id="{3DE087C3-B762-40F0-9D5D-971E567FD8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1" y="762"/>
                <a:ext cx="435" cy="50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772" name="Rectangle 673">
                <a:extLst>
                  <a:ext uri="{FF2B5EF4-FFF2-40B4-BE49-F238E27FC236}">
                    <a16:creationId xmlns:a16="http://schemas.microsoft.com/office/drawing/2014/main" id="{865CC410-8A79-468A-8BEE-958833D17E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4" y="873"/>
                <a:ext cx="42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773" name="Text Box 674">
                <a:extLst>
                  <a:ext uri="{FF2B5EF4-FFF2-40B4-BE49-F238E27FC236}">
                    <a16:creationId xmlns:a16="http://schemas.microsoft.com/office/drawing/2014/main" id="{C3E137A9-B4B0-4DF8-9B05-943DF699405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80" y="744"/>
                <a:ext cx="513" cy="5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application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Tahoma" panose="020B0604030504040204" pitchFamily="34" charset="0"/>
                  </a:rPr>
                  <a:t>transport</a:t>
                </a:r>
                <a:endParaRPr lang="en-US" altLang="zh-TW" sz="1000">
                  <a:latin typeface="Tahoma" panose="020B060403050404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physical</a:t>
                </a:r>
                <a:endParaRPr lang="en-US" altLang="zh-TW" sz="2400">
                  <a:latin typeface="Tahoma" panose="020B0604030504040204" pitchFamily="34" charset="0"/>
                </a:endParaRPr>
              </a:p>
            </p:txBody>
          </p:sp>
          <p:sp>
            <p:nvSpPr>
              <p:cNvPr id="31774" name="Line 675">
                <a:extLst>
                  <a:ext uri="{FF2B5EF4-FFF2-40B4-BE49-F238E27FC236}">
                    <a16:creationId xmlns:a16="http://schemas.microsoft.com/office/drawing/2014/main" id="{2F66FBCC-72E0-4E66-8274-D93FBA0BBC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1" y="978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31775" name="Line 676">
                <a:extLst>
                  <a:ext uri="{FF2B5EF4-FFF2-40B4-BE49-F238E27FC236}">
                    <a16:creationId xmlns:a16="http://schemas.microsoft.com/office/drawing/2014/main" id="{1C280E34-8798-4F65-AD15-FBC741E029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7" y="106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31776" name="Line 677">
                <a:extLst>
                  <a:ext uri="{FF2B5EF4-FFF2-40B4-BE49-F238E27FC236}">
                    <a16:creationId xmlns:a16="http://schemas.microsoft.com/office/drawing/2014/main" id="{79D98052-DEB2-4E4C-8373-7C315412C4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7" y="1152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sp>
          <p:nvSpPr>
            <p:cNvPr id="31769" name="Freeform 678">
              <a:extLst>
                <a:ext uri="{FF2B5EF4-FFF2-40B4-BE49-F238E27FC236}">
                  <a16:creationId xmlns:a16="http://schemas.microsoft.com/office/drawing/2014/main" id="{6A04AFF4-72A1-45D6-9E04-1C2B2394CD97}"/>
                </a:ext>
              </a:extLst>
            </p:cNvPr>
            <p:cNvSpPr>
              <a:spLocks/>
            </p:cNvSpPr>
            <p:nvPr/>
          </p:nvSpPr>
          <p:spPr bwMode="auto">
            <a:xfrm>
              <a:off x="-153" y="1689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FF0000"/>
                </a:gs>
              </a:gsLst>
              <a:lin ang="0" scaled="1"/>
            </a:gradFill>
            <a:ln w="9525" cap="flat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9784" name="Group 298">
            <a:extLst>
              <a:ext uri="{FF2B5EF4-FFF2-40B4-BE49-F238E27FC236}">
                <a16:creationId xmlns:a16="http://schemas.microsoft.com/office/drawing/2014/main" id="{357FFB32-C748-4E1D-A26C-2D4F1B285264}"/>
              </a:ext>
            </a:extLst>
          </p:cNvPr>
          <p:cNvGrpSpPr>
            <a:grpSpLocks/>
          </p:cNvGrpSpPr>
          <p:nvPr/>
        </p:nvGrpSpPr>
        <p:grpSpPr bwMode="auto">
          <a:xfrm rot="2937887">
            <a:off x="5389563" y="3022600"/>
            <a:ext cx="3781425" cy="434975"/>
            <a:chOff x="2937" y="3579"/>
            <a:chExt cx="2382" cy="274"/>
          </a:xfrm>
        </p:grpSpPr>
        <p:sp>
          <p:nvSpPr>
            <p:cNvPr id="31764" name="Rectangle 295">
              <a:extLst>
                <a:ext uri="{FF2B5EF4-FFF2-40B4-BE49-F238E27FC236}">
                  <a16:creationId xmlns:a16="http://schemas.microsoft.com/office/drawing/2014/main" id="{0BE63BEB-6298-4FBB-ABA7-66F50F97F6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65" y="3631"/>
              <a:ext cx="1920" cy="1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1765" name="Text Box 293">
              <a:extLst>
                <a:ext uri="{FF2B5EF4-FFF2-40B4-BE49-F238E27FC236}">
                  <a16:creationId xmlns:a16="http://schemas.microsoft.com/office/drawing/2014/main" id="{D405D72E-6523-45D6-BD00-59CA8DB336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84" y="3612"/>
              <a:ext cx="152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chemeClr val="bg1"/>
                  </a:solidFill>
                  <a:latin typeface="Tahoma" panose="020B0604030504040204" pitchFamily="34" charset="0"/>
                </a:rPr>
                <a:t>logical end-end transport</a:t>
              </a:r>
              <a:endParaRPr lang="en-US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1766" name="Freeform 296">
              <a:extLst>
                <a:ext uri="{FF2B5EF4-FFF2-40B4-BE49-F238E27FC236}">
                  <a16:creationId xmlns:a16="http://schemas.microsoft.com/office/drawing/2014/main" id="{64F7BE7C-0854-4240-9972-1A8111834F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37" y="3579"/>
              <a:ext cx="282" cy="264"/>
            </a:xfrm>
            <a:custGeom>
              <a:avLst/>
              <a:gdLst>
                <a:gd name="T0" fmla="*/ 282 w 282"/>
                <a:gd name="T1" fmla="*/ 0 h 264"/>
                <a:gd name="T2" fmla="*/ 282 w 282"/>
                <a:gd name="T3" fmla="*/ 264 h 264"/>
                <a:gd name="T4" fmla="*/ 0 w 282"/>
                <a:gd name="T5" fmla="*/ 129 h 264"/>
                <a:gd name="T6" fmla="*/ 282 w 282"/>
                <a:gd name="T7" fmla="*/ 0 h 26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2"/>
                <a:gd name="T13" fmla="*/ 0 h 264"/>
                <a:gd name="T14" fmla="*/ 282 w 282"/>
                <a:gd name="T15" fmla="*/ 264 h 26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2" h="264">
                  <a:moveTo>
                    <a:pt x="282" y="0"/>
                  </a:moveTo>
                  <a:cubicBezTo>
                    <a:pt x="282" y="132"/>
                    <a:pt x="282" y="264"/>
                    <a:pt x="282" y="264"/>
                  </a:cubicBezTo>
                  <a:cubicBezTo>
                    <a:pt x="159" y="150"/>
                    <a:pt x="0" y="153"/>
                    <a:pt x="0" y="129"/>
                  </a:cubicBezTo>
                  <a:cubicBezTo>
                    <a:pt x="0" y="108"/>
                    <a:pt x="153" y="108"/>
                    <a:pt x="282" y="0"/>
                  </a:cubicBez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1767" name="Freeform 297">
              <a:extLst>
                <a:ext uri="{FF2B5EF4-FFF2-40B4-BE49-F238E27FC236}">
                  <a16:creationId xmlns:a16="http://schemas.microsoft.com/office/drawing/2014/main" id="{4B9A8A74-17C7-4C0F-8967-B6DF575064D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037" y="3589"/>
              <a:ext cx="282" cy="264"/>
            </a:xfrm>
            <a:custGeom>
              <a:avLst/>
              <a:gdLst>
                <a:gd name="T0" fmla="*/ 282 w 282"/>
                <a:gd name="T1" fmla="*/ 0 h 264"/>
                <a:gd name="T2" fmla="*/ 282 w 282"/>
                <a:gd name="T3" fmla="*/ 264 h 264"/>
                <a:gd name="T4" fmla="*/ 0 w 282"/>
                <a:gd name="T5" fmla="*/ 129 h 264"/>
                <a:gd name="T6" fmla="*/ 282 w 282"/>
                <a:gd name="T7" fmla="*/ 0 h 26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2"/>
                <a:gd name="T13" fmla="*/ 0 h 264"/>
                <a:gd name="T14" fmla="*/ 282 w 282"/>
                <a:gd name="T15" fmla="*/ 264 h 26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2" h="264">
                  <a:moveTo>
                    <a:pt x="282" y="0"/>
                  </a:moveTo>
                  <a:cubicBezTo>
                    <a:pt x="282" y="132"/>
                    <a:pt x="282" y="264"/>
                    <a:pt x="282" y="264"/>
                  </a:cubicBezTo>
                  <a:cubicBezTo>
                    <a:pt x="159" y="150"/>
                    <a:pt x="0" y="153"/>
                    <a:pt x="0" y="129"/>
                  </a:cubicBezTo>
                  <a:cubicBezTo>
                    <a:pt x="0" y="108"/>
                    <a:pt x="153" y="108"/>
                    <a:pt x="282" y="0"/>
                  </a:cubicBez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29785" name="Group 865">
            <a:extLst>
              <a:ext uri="{FF2B5EF4-FFF2-40B4-BE49-F238E27FC236}">
                <a16:creationId xmlns:a16="http://schemas.microsoft.com/office/drawing/2014/main" id="{820852EA-C902-4773-9D2A-E2ACE1BD1B41}"/>
              </a:ext>
            </a:extLst>
          </p:cNvPr>
          <p:cNvGrpSpPr>
            <a:grpSpLocks/>
          </p:cNvGrpSpPr>
          <p:nvPr/>
        </p:nvGrpSpPr>
        <p:grpSpPr bwMode="auto">
          <a:xfrm>
            <a:off x="5462588" y="1296988"/>
            <a:ext cx="1057275" cy="957262"/>
            <a:chOff x="-153" y="1680"/>
            <a:chExt cx="666" cy="603"/>
          </a:xfrm>
        </p:grpSpPr>
        <p:grpSp>
          <p:nvGrpSpPr>
            <p:cNvPr id="31755" name="Group 866">
              <a:extLst>
                <a:ext uri="{FF2B5EF4-FFF2-40B4-BE49-F238E27FC236}">
                  <a16:creationId xmlns:a16="http://schemas.microsoft.com/office/drawing/2014/main" id="{29DC4A83-B2A9-437A-8E9A-FBF81DAF7B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1680"/>
              <a:ext cx="513" cy="538"/>
              <a:chOff x="4180" y="744"/>
              <a:chExt cx="513" cy="538"/>
            </a:xfrm>
          </p:grpSpPr>
          <p:sp>
            <p:nvSpPr>
              <p:cNvPr id="31757" name="Rectangle 867">
                <a:extLst>
                  <a:ext uri="{FF2B5EF4-FFF2-40B4-BE49-F238E27FC236}">
                    <a16:creationId xmlns:a16="http://schemas.microsoft.com/office/drawing/2014/main" id="{53B98087-6A9A-4D8B-AA70-C927343999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42" y="747"/>
                <a:ext cx="426" cy="48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758" name="Rectangle 868">
                <a:extLst>
                  <a:ext uri="{FF2B5EF4-FFF2-40B4-BE49-F238E27FC236}">
                    <a16:creationId xmlns:a16="http://schemas.microsoft.com/office/drawing/2014/main" id="{BF6123AF-09BC-4048-BEEA-7B5DFB5913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1" y="762"/>
                <a:ext cx="435" cy="50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759" name="Rectangle 869">
                <a:extLst>
                  <a:ext uri="{FF2B5EF4-FFF2-40B4-BE49-F238E27FC236}">
                    <a16:creationId xmlns:a16="http://schemas.microsoft.com/office/drawing/2014/main" id="{74C3F0C3-CF44-4175-8B29-03466299D0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4" y="873"/>
                <a:ext cx="42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1760" name="Text Box 870">
                <a:extLst>
                  <a:ext uri="{FF2B5EF4-FFF2-40B4-BE49-F238E27FC236}">
                    <a16:creationId xmlns:a16="http://schemas.microsoft.com/office/drawing/2014/main" id="{3B8A0627-A59F-4D5E-8AC9-0785B07353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80" y="744"/>
                <a:ext cx="513" cy="5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application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Tahoma" panose="020B0604030504040204" pitchFamily="34" charset="0"/>
                  </a:rPr>
                  <a:t>transport</a:t>
                </a:r>
                <a:endParaRPr lang="en-US" altLang="zh-TW" sz="1000">
                  <a:latin typeface="Tahoma" panose="020B060403050404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physical</a:t>
                </a:r>
                <a:endParaRPr lang="en-US" altLang="zh-TW" sz="2400">
                  <a:latin typeface="Tahoma" panose="020B0604030504040204" pitchFamily="34" charset="0"/>
                </a:endParaRPr>
              </a:p>
            </p:txBody>
          </p:sp>
          <p:sp>
            <p:nvSpPr>
              <p:cNvPr id="31761" name="Line 871">
                <a:extLst>
                  <a:ext uri="{FF2B5EF4-FFF2-40B4-BE49-F238E27FC236}">
                    <a16:creationId xmlns:a16="http://schemas.microsoft.com/office/drawing/2014/main" id="{80675970-C4AC-4016-931D-AD70790B6C3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1" y="978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31762" name="Line 872">
                <a:extLst>
                  <a:ext uri="{FF2B5EF4-FFF2-40B4-BE49-F238E27FC236}">
                    <a16:creationId xmlns:a16="http://schemas.microsoft.com/office/drawing/2014/main" id="{835310B5-7DDF-452E-A243-1795ABE4CF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7" y="106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31763" name="Line 873">
                <a:extLst>
                  <a:ext uri="{FF2B5EF4-FFF2-40B4-BE49-F238E27FC236}">
                    <a16:creationId xmlns:a16="http://schemas.microsoft.com/office/drawing/2014/main" id="{D893DD1F-221C-46C8-AFAD-354C005CE2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7" y="1152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sp>
          <p:nvSpPr>
            <p:cNvPr id="31756" name="Freeform 874">
              <a:extLst>
                <a:ext uri="{FF2B5EF4-FFF2-40B4-BE49-F238E27FC236}">
                  <a16:creationId xmlns:a16="http://schemas.microsoft.com/office/drawing/2014/main" id="{BE1B640B-A9F3-4331-A4EF-E60CCC569E0A}"/>
                </a:ext>
              </a:extLst>
            </p:cNvPr>
            <p:cNvSpPr>
              <a:spLocks/>
            </p:cNvSpPr>
            <p:nvPr/>
          </p:nvSpPr>
          <p:spPr bwMode="auto">
            <a:xfrm>
              <a:off x="-153" y="1689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FF0000"/>
                </a:gs>
              </a:gsLst>
              <a:lin ang="0" scaled="1"/>
            </a:gradFill>
            <a:ln w="9525" cap="flat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7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97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97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Footer Placeholder 2">
            <a:extLst>
              <a:ext uri="{FF2B5EF4-FFF2-40B4-BE49-F238E27FC236}">
                <a16:creationId xmlns:a16="http://schemas.microsoft.com/office/drawing/2014/main" id="{DEF95E5A-22D7-4ACE-B6AB-C003FA219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Transport</a:t>
            </a:r>
            <a:r>
              <a:rPr lang="en-US" altLang="zh-TW" sz="1400" dirty="0">
                <a:latin typeface="Tahoma" panose="020B0604030504040204" pitchFamily="34" charset="0"/>
              </a:rPr>
              <a:t> </a:t>
            </a:r>
            <a:r>
              <a:rPr lang="en-US" altLang="zh-TW" sz="1200" dirty="0">
                <a:latin typeface="Tahoma" panose="020B0604030504040204" pitchFamily="34" charset="0"/>
              </a:rPr>
              <a:t>Layer</a:t>
            </a:r>
          </a:p>
        </p:txBody>
      </p:sp>
      <p:pic>
        <p:nvPicPr>
          <p:cNvPr id="131075" name="Picture 9" descr="underline_base">
            <a:extLst>
              <a:ext uri="{FF2B5EF4-FFF2-40B4-BE49-F238E27FC236}">
                <a16:creationId xmlns:a16="http://schemas.microsoft.com/office/drawing/2014/main" id="{5EE9EABB-A49F-4117-81C8-C66012AB820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650" y="892175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1076" name="Rectangle 2">
            <a:extLst>
              <a:ext uri="{FF2B5EF4-FFF2-40B4-BE49-F238E27FC236}">
                <a16:creationId xmlns:a16="http://schemas.microsoft.com/office/drawing/2014/main" id="{09FDA401-7443-4BA3-B680-C436017B517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33375" y="77788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 dirty="0">
                <a:ea typeface="ＭＳ Ｐゴシック" panose="020B0600070205080204" pitchFamily="34" charset="-128"/>
              </a:rPr>
              <a:t>“Packet” at different layers</a:t>
            </a:r>
          </a:p>
        </p:txBody>
      </p:sp>
      <p:sp>
        <p:nvSpPr>
          <p:cNvPr id="131077" name="Rectangle 3">
            <a:extLst>
              <a:ext uri="{FF2B5EF4-FFF2-40B4-BE49-F238E27FC236}">
                <a16:creationId xmlns:a16="http://schemas.microsoft.com/office/drawing/2014/main" id="{7DC6F584-6C61-4A91-A003-347BB186554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33400" y="1365250"/>
            <a:ext cx="7772400" cy="5119688"/>
          </a:xfrm>
        </p:spPr>
        <p:txBody>
          <a:bodyPr/>
          <a:lstStyle/>
          <a:p>
            <a:pPr eaLnBrk="1" hangingPunct="1"/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31078" name="Slide Number Placeholder 3">
            <a:extLst>
              <a:ext uri="{FF2B5EF4-FFF2-40B4-BE49-F238E27FC236}">
                <a16:creationId xmlns:a16="http://schemas.microsoft.com/office/drawing/2014/main" id="{68DBF303-68E2-4FA3-8313-E13F1A29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3-</a:t>
            </a:r>
            <a:fld id="{B1213920-BB02-4D4E-AA01-2237DB2A954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zh-TW" sz="1200" dirty="0">
              <a:latin typeface="Tahoma" panose="020B0604030504040204" pitchFamily="34" charset="0"/>
            </a:endParaRPr>
          </a:p>
        </p:txBody>
      </p:sp>
      <p:sp>
        <p:nvSpPr>
          <p:cNvPr id="131084" name="Freeform 10">
            <a:extLst>
              <a:ext uri="{FF2B5EF4-FFF2-40B4-BE49-F238E27FC236}">
                <a16:creationId xmlns:a16="http://schemas.microsoft.com/office/drawing/2014/main" id="{84EEB4F2-822F-1F6E-71E4-11FD4468D0C9}"/>
              </a:ext>
            </a:extLst>
          </p:cNvPr>
          <p:cNvSpPr>
            <a:spLocks/>
          </p:cNvSpPr>
          <p:nvPr/>
        </p:nvSpPr>
        <p:spPr bwMode="auto">
          <a:xfrm>
            <a:off x="4302496" y="2256939"/>
            <a:ext cx="360362" cy="1577975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31085" name="Rectangle 23">
            <a:extLst>
              <a:ext uri="{FF2B5EF4-FFF2-40B4-BE49-F238E27FC236}">
                <a16:creationId xmlns:a16="http://schemas.microsoft.com/office/drawing/2014/main" id="{2E66B3B2-61B4-615E-5D4D-42BD950B9E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533" y="2266464"/>
            <a:ext cx="1296988" cy="1546225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31086" name="Rectangle 24">
            <a:extLst>
              <a:ext uri="{FF2B5EF4-FFF2-40B4-BE49-F238E27FC236}">
                <a16:creationId xmlns:a16="http://schemas.microsoft.com/office/drawing/2014/main" id="{A596E054-78BF-02B9-DE63-A1AEDF2B37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0908" y="2337902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31087" name="Line 25">
            <a:extLst>
              <a:ext uri="{FF2B5EF4-FFF2-40B4-BE49-F238E27FC236}">
                <a16:creationId xmlns:a16="http://schemas.microsoft.com/office/drawing/2014/main" id="{FC75AF25-7A25-61D7-AE32-429D4B862878}"/>
              </a:ext>
            </a:extLst>
          </p:cNvPr>
          <p:cNvSpPr>
            <a:spLocks noChangeShapeType="1"/>
          </p:cNvSpPr>
          <p:nvPr/>
        </p:nvSpPr>
        <p:spPr bwMode="auto">
          <a:xfrm>
            <a:off x="3030908" y="2655402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1088" name="Text Box 26">
            <a:extLst>
              <a:ext uri="{FF2B5EF4-FFF2-40B4-BE49-F238E27FC236}">
                <a16:creationId xmlns:a16="http://schemas.microsoft.com/office/drawing/2014/main" id="{45E6328F-4CBE-8D19-5143-F1F2246DB1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8046" y="2304564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application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transport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network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link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physical</a:t>
            </a:r>
          </a:p>
        </p:txBody>
      </p:sp>
      <p:sp>
        <p:nvSpPr>
          <p:cNvPr id="131089" name="Line 27">
            <a:extLst>
              <a:ext uri="{FF2B5EF4-FFF2-40B4-BE49-F238E27FC236}">
                <a16:creationId xmlns:a16="http://schemas.microsoft.com/office/drawing/2014/main" id="{BDE339E1-0C7F-47D4-8D1E-BB53B7C07F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038846" y="2976077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1090" name="Line 28">
            <a:extLst>
              <a:ext uri="{FF2B5EF4-FFF2-40B4-BE49-F238E27FC236}">
                <a16:creationId xmlns:a16="http://schemas.microsoft.com/office/drawing/2014/main" id="{5BA819B8-5466-6C18-9FB7-4D4E6ABAEC7B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3608" y="3257064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1091" name="Line 29">
            <a:extLst>
              <a:ext uri="{FF2B5EF4-FFF2-40B4-BE49-F238E27FC236}">
                <a16:creationId xmlns:a16="http://schemas.microsoft.com/office/drawing/2014/main" id="{9E4A5C09-0572-2D24-CDB6-9C53086466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3608" y="3533289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31092" name="Group 39">
            <a:extLst>
              <a:ext uri="{FF2B5EF4-FFF2-40B4-BE49-F238E27FC236}">
                <a16:creationId xmlns:a16="http://schemas.microsoft.com/office/drawing/2014/main" id="{842B016B-3ABC-93B1-22FF-9219AB6092C3}"/>
              </a:ext>
            </a:extLst>
          </p:cNvPr>
          <p:cNvGrpSpPr>
            <a:grpSpLocks/>
          </p:cNvGrpSpPr>
          <p:nvPr/>
        </p:nvGrpSpPr>
        <p:grpSpPr bwMode="auto">
          <a:xfrm>
            <a:off x="1652958" y="2974489"/>
            <a:ext cx="1208088" cy="303213"/>
            <a:chOff x="501" y="1990"/>
            <a:chExt cx="761" cy="191"/>
          </a:xfrm>
        </p:grpSpPr>
        <p:sp>
          <p:nvSpPr>
            <p:cNvPr id="131093" name="Rectangle 40">
              <a:extLst>
                <a:ext uri="{FF2B5EF4-FFF2-40B4-BE49-F238E27FC236}">
                  <a16:creationId xmlns:a16="http://schemas.microsoft.com/office/drawing/2014/main" id="{4A46F267-AAB0-5315-18D8-6EFA6325CE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094" name="Rectangle 41">
              <a:extLst>
                <a:ext uri="{FF2B5EF4-FFF2-40B4-BE49-F238E27FC236}">
                  <a16:creationId xmlns:a16="http://schemas.microsoft.com/office/drawing/2014/main" id="{9EC863A6-4431-E7FA-DDBF-1C5D11C638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  <p:sp>
          <p:nvSpPr>
            <p:cNvPr id="131095" name="Rectangle 42">
              <a:extLst>
                <a:ext uri="{FF2B5EF4-FFF2-40B4-BE49-F238E27FC236}">
                  <a16:creationId xmlns:a16="http://schemas.microsoft.com/office/drawing/2014/main" id="{16EF2655-780F-0622-E503-1C5397FA78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  <p:sp>
          <p:nvSpPr>
            <p:cNvPr id="131096" name="Rectangle 43">
              <a:extLst>
                <a:ext uri="{FF2B5EF4-FFF2-40B4-BE49-F238E27FC236}">
                  <a16:creationId xmlns:a16="http://schemas.microsoft.com/office/drawing/2014/main" id="{3D11DB1F-3671-BAF6-8C83-BB9B5CA3B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  <p:sp>
          <p:nvSpPr>
            <p:cNvPr id="131097" name="Line 44">
              <a:extLst>
                <a:ext uri="{FF2B5EF4-FFF2-40B4-BE49-F238E27FC236}">
                  <a16:creationId xmlns:a16="http://schemas.microsoft.com/office/drawing/2014/main" id="{9605FA91-EF61-E2B6-B534-F4D8044ED4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1098" name="Line 45">
              <a:extLst>
                <a:ext uri="{FF2B5EF4-FFF2-40B4-BE49-F238E27FC236}">
                  <a16:creationId xmlns:a16="http://schemas.microsoft.com/office/drawing/2014/main" id="{8BBC9C93-1DCD-1AC8-EFE6-D56B81B2E4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31099" name="Text Box 5">
            <a:extLst>
              <a:ext uri="{FF2B5EF4-FFF2-40B4-BE49-F238E27FC236}">
                <a16:creationId xmlns:a16="http://schemas.microsoft.com/office/drawing/2014/main" id="{B2593A18-0F57-33F1-55F9-BA05288B28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9046" y="2603014"/>
            <a:ext cx="9636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segment</a:t>
            </a:r>
          </a:p>
        </p:txBody>
      </p:sp>
      <p:grpSp>
        <p:nvGrpSpPr>
          <p:cNvPr id="131100" name="Group 178">
            <a:extLst>
              <a:ext uri="{FF2B5EF4-FFF2-40B4-BE49-F238E27FC236}">
                <a16:creationId xmlns:a16="http://schemas.microsoft.com/office/drawing/2014/main" id="{2EDF153F-634E-A4F6-4370-A9EA1EA3A7AC}"/>
              </a:ext>
            </a:extLst>
          </p:cNvPr>
          <p:cNvGrpSpPr>
            <a:grpSpLocks/>
          </p:cNvGrpSpPr>
          <p:nvPr/>
        </p:nvGrpSpPr>
        <p:grpSpPr bwMode="auto">
          <a:xfrm>
            <a:off x="1967283" y="2639527"/>
            <a:ext cx="301625" cy="292100"/>
            <a:chOff x="1962" y="2058"/>
            <a:chExt cx="190" cy="184"/>
          </a:xfrm>
        </p:grpSpPr>
        <p:sp>
          <p:nvSpPr>
            <p:cNvPr id="131101" name="Rectangle 47">
              <a:extLst>
                <a:ext uri="{FF2B5EF4-FFF2-40B4-BE49-F238E27FC236}">
                  <a16:creationId xmlns:a16="http://schemas.microsoft.com/office/drawing/2014/main" id="{A57A8958-82E9-6194-1A95-29A05E94AC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102" name="Rectangle 48">
              <a:extLst>
                <a:ext uri="{FF2B5EF4-FFF2-40B4-BE49-F238E27FC236}">
                  <a16:creationId xmlns:a16="http://schemas.microsoft.com/office/drawing/2014/main" id="{D471BD1A-B4B8-A295-E2C0-1070C60908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</p:grpSp>
      <p:sp>
        <p:nvSpPr>
          <p:cNvPr id="131103" name="Text Box 4">
            <a:extLst>
              <a:ext uri="{FF2B5EF4-FFF2-40B4-BE49-F238E27FC236}">
                <a16:creationId xmlns:a16="http://schemas.microsoft.com/office/drawing/2014/main" id="{4258DF8D-875B-0543-3E11-25B8882839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021" y="2942739"/>
            <a:ext cx="10429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datagram</a:t>
            </a:r>
          </a:p>
        </p:txBody>
      </p:sp>
      <p:grpSp>
        <p:nvGrpSpPr>
          <p:cNvPr id="131104" name="Group 156">
            <a:extLst>
              <a:ext uri="{FF2B5EF4-FFF2-40B4-BE49-F238E27FC236}">
                <a16:creationId xmlns:a16="http://schemas.microsoft.com/office/drawing/2014/main" id="{3B387B02-0639-668F-F1A2-06772490FEF5}"/>
              </a:ext>
            </a:extLst>
          </p:cNvPr>
          <p:cNvGrpSpPr>
            <a:grpSpLocks/>
          </p:cNvGrpSpPr>
          <p:nvPr/>
        </p:nvGrpSpPr>
        <p:grpSpPr bwMode="auto">
          <a:xfrm>
            <a:off x="1371971" y="3271352"/>
            <a:ext cx="1479550" cy="303212"/>
            <a:chOff x="332" y="2224"/>
            <a:chExt cx="932" cy="191"/>
          </a:xfrm>
        </p:grpSpPr>
        <p:sp>
          <p:nvSpPr>
            <p:cNvPr id="131105" name="Rectangle 157">
              <a:extLst>
                <a:ext uri="{FF2B5EF4-FFF2-40B4-BE49-F238E27FC236}">
                  <a16:creationId xmlns:a16="http://schemas.microsoft.com/office/drawing/2014/main" id="{BEC7BF06-5F8E-023A-06FA-F779DC8038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106" name="Rectangle 158">
              <a:extLst>
                <a:ext uri="{FF2B5EF4-FFF2-40B4-BE49-F238E27FC236}">
                  <a16:creationId xmlns:a16="http://schemas.microsoft.com/office/drawing/2014/main" id="{17C5CE31-33BF-8A2F-1E03-3624E87EDE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  <p:sp>
          <p:nvSpPr>
            <p:cNvPr id="131107" name="Rectangle 159">
              <a:extLst>
                <a:ext uri="{FF2B5EF4-FFF2-40B4-BE49-F238E27FC236}">
                  <a16:creationId xmlns:a16="http://schemas.microsoft.com/office/drawing/2014/main" id="{7BFBE03B-C657-C19F-F63F-950B244DC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  <p:sp>
          <p:nvSpPr>
            <p:cNvPr id="131108" name="Rectangle 160">
              <a:extLst>
                <a:ext uri="{FF2B5EF4-FFF2-40B4-BE49-F238E27FC236}">
                  <a16:creationId xmlns:a16="http://schemas.microsoft.com/office/drawing/2014/main" id="{FCA082F8-67DB-9166-C1E1-2E67F492DD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l</a:t>
              </a:r>
            </a:p>
          </p:txBody>
        </p:sp>
        <p:sp>
          <p:nvSpPr>
            <p:cNvPr id="131109" name="Rectangle 161">
              <a:extLst>
                <a:ext uri="{FF2B5EF4-FFF2-40B4-BE49-F238E27FC236}">
                  <a16:creationId xmlns:a16="http://schemas.microsoft.com/office/drawing/2014/main" id="{BB6D0AFE-960F-F64C-56D7-D5DE32132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  <p:sp>
          <p:nvSpPr>
            <p:cNvPr id="131110" name="Line 162">
              <a:extLst>
                <a:ext uri="{FF2B5EF4-FFF2-40B4-BE49-F238E27FC236}">
                  <a16:creationId xmlns:a16="http://schemas.microsoft.com/office/drawing/2014/main" id="{B2D8E008-6F07-2FF1-8EC8-76484F9265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1111" name="Line 163">
              <a:extLst>
                <a:ext uri="{FF2B5EF4-FFF2-40B4-BE49-F238E27FC236}">
                  <a16:creationId xmlns:a16="http://schemas.microsoft.com/office/drawing/2014/main" id="{80ACE1B5-BB9B-C328-76FE-7BA4424FCD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1112" name="Line 164">
              <a:extLst>
                <a:ext uri="{FF2B5EF4-FFF2-40B4-BE49-F238E27FC236}">
                  <a16:creationId xmlns:a16="http://schemas.microsoft.com/office/drawing/2014/main" id="{C0D21A81-1CD2-2D24-4E2D-2BACBD58C9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31113" name="Text Box 174">
            <a:extLst>
              <a:ext uri="{FF2B5EF4-FFF2-40B4-BE49-F238E27FC236}">
                <a16:creationId xmlns:a16="http://schemas.microsoft.com/office/drawing/2014/main" id="{CB564583-EA7A-5D76-A19D-B083CB2004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7021" y="2298214"/>
            <a:ext cx="10080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message</a:t>
            </a:r>
          </a:p>
        </p:txBody>
      </p:sp>
      <p:grpSp>
        <p:nvGrpSpPr>
          <p:cNvPr id="131114" name="Group 175">
            <a:extLst>
              <a:ext uri="{FF2B5EF4-FFF2-40B4-BE49-F238E27FC236}">
                <a16:creationId xmlns:a16="http://schemas.microsoft.com/office/drawing/2014/main" id="{957E2413-DB2B-658D-DFFB-5A1FDA1B5B21}"/>
              </a:ext>
            </a:extLst>
          </p:cNvPr>
          <p:cNvGrpSpPr>
            <a:grpSpLocks/>
          </p:cNvGrpSpPr>
          <p:nvPr/>
        </p:nvGrpSpPr>
        <p:grpSpPr bwMode="auto">
          <a:xfrm>
            <a:off x="2197471" y="2325202"/>
            <a:ext cx="679450" cy="301625"/>
            <a:chOff x="780" y="1553"/>
            <a:chExt cx="428" cy="190"/>
          </a:xfrm>
        </p:grpSpPr>
        <p:sp>
          <p:nvSpPr>
            <p:cNvPr id="131115" name="Rectangle 176">
              <a:extLst>
                <a:ext uri="{FF2B5EF4-FFF2-40B4-BE49-F238E27FC236}">
                  <a16:creationId xmlns:a16="http://schemas.microsoft.com/office/drawing/2014/main" id="{E445F83E-6A2D-C8E2-779C-D0757AF8BA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116" name="Rectangle 177">
              <a:extLst>
                <a:ext uri="{FF2B5EF4-FFF2-40B4-BE49-F238E27FC236}">
                  <a16:creationId xmlns:a16="http://schemas.microsoft.com/office/drawing/2014/main" id="{7EE6B8C8-6D03-550B-C791-5A324B6256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</p:grpSp>
      <p:grpSp>
        <p:nvGrpSpPr>
          <p:cNvPr id="131117" name="Group 185">
            <a:extLst>
              <a:ext uri="{FF2B5EF4-FFF2-40B4-BE49-F238E27FC236}">
                <a16:creationId xmlns:a16="http://schemas.microsoft.com/office/drawing/2014/main" id="{AD413C8A-CBC2-199B-53E8-688BC248A23D}"/>
              </a:ext>
            </a:extLst>
          </p:cNvPr>
          <p:cNvGrpSpPr>
            <a:grpSpLocks/>
          </p:cNvGrpSpPr>
          <p:nvPr/>
        </p:nvGrpSpPr>
        <p:grpSpPr bwMode="auto">
          <a:xfrm>
            <a:off x="1962521" y="2645877"/>
            <a:ext cx="903287" cy="301625"/>
            <a:chOff x="1851" y="2046"/>
            <a:chExt cx="569" cy="190"/>
          </a:xfrm>
        </p:grpSpPr>
        <p:grpSp>
          <p:nvGrpSpPr>
            <p:cNvPr id="131118" name="Group 179">
              <a:extLst>
                <a:ext uri="{FF2B5EF4-FFF2-40B4-BE49-F238E27FC236}">
                  <a16:creationId xmlns:a16="http://schemas.microsoft.com/office/drawing/2014/main" id="{E4E22861-698B-E38F-15A3-21918818DF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51" y="2047"/>
              <a:ext cx="190" cy="184"/>
              <a:chOff x="1962" y="2058"/>
              <a:chExt cx="190" cy="184"/>
            </a:xfrm>
          </p:grpSpPr>
          <p:sp>
            <p:nvSpPr>
              <p:cNvPr id="131122" name="Rectangle 180">
                <a:extLst>
                  <a:ext uri="{FF2B5EF4-FFF2-40B4-BE49-F238E27FC236}">
                    <a16:creationId xmlns:a16="http://schemas.microsoft.com/office/drawing/2014/main" id="{9DCD855E-4247-C676-A78F-43AA8CE43A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2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31123" name="Rectangle 181">
                <a:extLst>
                  <a:ext uri="{FF2B5EF4-FFF2-40B4-BE49-F238E27FC236}">
                    <a16:creationId xmlns:a16="http://schemas.microsoft.com/office/drawing/2014/main" id="{C10F37F0-51EC-6816-5509-33957B1CC8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5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1119" name="Group 182">
              <a:extLst>
                <a:ext uri="{FF2B5EF4-FFF2-40B4-BE49-F238E27FC236}">
                  <a16:creationId xmlns:a16="http://schemas.microsoft.com/office/drawing/2014/main" id="{CB1AC701-77FA-B6C7-91FE-8F1623DD15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1120" name="Rectangle 183">
                <a:extLst>
                  <a:ext uri="{FF2B5EF4-FFF2-40B4-BE49-F238E27FC236}">
                    <a16:creationId xmlns:a16="http://schemas.microsoft.com/office/drawing/2014/main" id="{3B1B3909-45B1-FEBF-84E4-202C6CFFD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31121" name="Rectangle 184">
                <a:extLst>
                  <a:ext uri="{FF2B5EF4-FFF2-40B4-BE49-F238E27FC236}">
                    <a16:creationId xmlns:a16="http://schemas.microsoft.com/office/drawing/2014/main" id="{1FAD4C14-85B6-DF28-0E8F-9E8A948F75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131124" name="Group 187">
            <a:extLst>
              <a:ext uri="{FF2B5EF4-FFF2-40B4-BE49-F238E27FC236}">
                <a16:creationId xmlns:a16="http://schemas.microsoft.com/office/drawing/2014/main" id="{93B95967-F83B-64E5-3DB1-7A89B54B1E08}"/>
              </a:ext>
            </a:extLst>
          </p:cNvPr>
          <p:cNvGrpSpPr>
            <a:grpSpLocks/>
          </p:cNvGrpSpPr>
          <p:nvPr/>
        </p:nvGrpSpPr>
        <p:grpSpPr bwMode="auto">
          <a:xfrm>
            <a:off x="1668833" y="2969727"/>
            <a:ext cx="301625" cy="292100"/>
            <a:chOff x="1962" y="2058"/>
            <a:chExt cx="190" cy="184"/>
          </a:xfrm>
        </p:grpSpPr>
        <p:sp>
          <p:nvSpPr>
            <p:cNvPr id="131125" name="Rectangle 188">
              <a:extLst>
                <a:ext uri="{FF2B5EF4-FFF2-40B4-BE49-F238E27FC236}">
                  <a16:creationId xmlns:a16="http://schemas.microsoft.com/office/drawing/2014/main" id="{7E2BD398-8F19-95C5-9856-CA7F67F0A7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126" name="Rectangle 189">
              <a:extLst>
                <a:ext uri="{FF2B5EF4-FFF2-40B4-BE49-F238E27FC236}">
                  <a16:creationId xmlns:a16="http://schemas.microsoft.com/office/drawing/2014/main" id="{95A4A1D8-B235-BE1B-2B0E-E6CFE7F87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</p:grpSp>
      <p:sp>
        <p:nvSpPr>
          <p:cNvPr id="131127" name="Text Box 7">
            <a:extLst>
              <a:ext uri="{FF2B5EF4-FFF2-40B4-BE49-F238E27FC236}">
                <a16:creationId xmlns:a16="http://schemas.microsoft.com/office/drawing/2014/main" id="{5B78BA3C-3B74-33DC-2F52-54C89BDD7F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921" y="3249127"/>
            <a:ext cx="704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frame</a:t>
            </a:r>
          </a:p>
        </p:txBody>
      </p:sp>
    </p:spTree>
    <p:extLst>
      <p:ext uri="{BB962C8B-B14F-4D97-AF65-F5344CB8AC3E}">
        <p14:creationId xmlns:p14="http://schemas.microsoft.com/office/powerpoint/2010/main" val="238224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Footer Placeholder 5">
            <a:extLst>
              <a:ext uri="{FF2B5EF4-FFF2-40B4-BE49-F238E27FC236}">
                <a16:creationId xmlns:a16="http://schemas.microsoft.com/office/drawing/2014/main" id="{CF7EEBE9-0CBF-411C-A132-318EDE17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33795" name="Slide Number Placeholder 6">
            <a:extLst>
              <a:ext uri="{FF2B5EF4-FFF2-40B4-BE49-F238E27FC236}">
                <a16:creationId xmlns:a16="http://schemas.microsoft.com/office/drawing/2014/main" id="{1A421CF3-90ED-4441-BAA9-55A3EBDC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6AEEFC7A-A5E3-4C70-A351-71B0CAC79838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33796" name="Picture 10" descr="underline_base">
            <a:extLst>
              <a:ext uri="{FF2B5EF4-FFF2-40B4-BE49-F238E27FC236}">
                <a16:creationId xmlns:a16="http://schemas.microsoft.com/office/drawing/2014/main" id="{15E33D56-AA57-498C-852D-7B8C9DD5F31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1039813"/>
            <a:ext cx="658177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2">
            <a:extLst>
              <a:ext uri="{FF2B5EF4-FFF2-40B4-BE49-F238E27FC236}">
                <a16:creationId xmlns:a16="http://schemas.microsoft.com/office/drawing/2014/main" id="{8B5DD445-B994-4819-A8EB-B9E8C41C75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Transport vs. network layer</a:t>
            </a:r>
          </a:p>
        </p:txBody>
      </p:sp>
      <p:sp>
        <p:nvSpPr>
          <p:cNvPr id="5126" name="Rectangle 3">
            <a:extLst>
              <a:ext uri="{FF2B5EF4-FFF2-40B4-BE49-F238E27FC236}">
                <a16:creationId xmlns:a16="http://schemas.microsoft.com/office/drawing/2014/main" id="{21BE1B8B-DCFD-4164-A514-353ACD4DE44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589088"/>
            <a:ext cx="3810000" cy="4648200"/>
          </a:xfrm>
        </p:spPr>
        <p:txBody>
          <a:bodyPr/>
          <a:lstStyle/>
          <a:p>
            <a:pPr>
              <a:lnSpc>
                <a:spcPct val="70000"/>
              </a:lnSpc>
              <a:buFont typeface="Wingdings" charset="0"/>
              <a:buChar char="v"/>
              <a:defRPr/>
            </a:pPr>
            <a:r>
              <a:rPr lang="en-US" sz="3200" i="1" dirty="0">
                <a:solidFill>
                  <a:srgbClr val="000099"/>
                </a:solidFill>
                <a:ea typeface="ＭＳ Ｐゴシック" charset="0"/>
                <a:cs typeface="+mn-cs"/>
              </a:rPr>
              <a:t>network layer:</a:t>
            </a:r>
            <a:r>
              <a:rPr lang="en-US" sz="3200" dirty="0">
                <a:ea typeface="ＭＳ Ｐゴシック" charset="0"/>
                <a:cs typeface="+mn-cs"/>
              </a:rPr>
              <a:t> logical communication between </a:t>
            </a:r>
            <a:r>
              <a:rPr lang="en-US" sz="3200" dirty="0">
                <a:solidFill>
                  <a:srgbClr val="7030A0"/>
                </a:solidFill>
                <a:ea typeface="ＭＳ Ｐゴシック" charset="0"/>
                <a:cs typeface="+mn-cs"/>
              </a:rPr>
              <a:t>hosts</a:t>
            </a:r>
          </a:p>
          <a:p>
            <a:pPr>
              <a:lnSpc>
                <a:spcPct val="70000"/>
              </a:lnSpc>
              <a:buFont typeface="Wingdings" charset="0"/>
              <a:buChar char="v"/>
              <a:defRPr/>
            </a:pPr>
            <a:r>
              <a:rPr lang="en-US" sz="3200" i="1" dirty="0">
                <a:solidFill>
                  <a:srgbClr val="000099"/>
                </a:solidFill>
                <a:ea typeface="ＭＳ Ｐゴシック" charset="0"/>
                <a:cs typeface="+mn-cs"/>
              </a:rPr>
              <a:t>transport layer:</a:t>
            </a:r>
            <a:r>
              <a:rPr lang="en-US" sz="3200" dirty="0">
                <a:ea typeface="ＭＳ Ｐゴシック" charset="0"/>
                <a:cs typeface="+mn-cs"/>
              </a:rPr>
              <a:t> logical communication between </a:t>
            </a:r>
            <a:r>
              <a:rPr lang="en-US" sz="3200" dirty="0">
                <a:solidFill>
                  <a:srgbClr val="7030A0"/>
                </a:solidFill>
                <a:ea typeface="ＭＳ Ｐゴシック" charset="0"/>
                <a:cs typeface="+mn-cs"/>
              </a:rPr>
              <a:t>processes</a:t>
            </a:r>
            <a:r>
              <a:rPr lang="en-US" dirty="0">
                <a:ea typeface="ＭＳ Ｐゴシック" charset="0"/>
                <a:cs typeface="+mn-cs"/>
              </a:rPr>
              <a:t> </a:t>
            </a:r>
          </a:p>
          <a:p>
            <a:pPr lvl="1">
              <a:lnSpc>
                <a:spcPct val="70000"/>
              </a:lnSpc>
              <a:buFont typeface="Wingdings" charset="0"/>
              <a:buChar char="§"/>
              <a:defRPr/>
            </a:pPr>
            <a:r>
              <a:rPr lang="en-US" sz="2800" dirty="0">
                <a:ea typeface="ＭＳ Ｐゴシック" charset="0"/>
              </a:rPr>
              <a:t>relies on, enhances, network layer services</a:t>
            </a:r>
          </a:p>
        </p:txBody>
      </p:sp>
      <p:sp>
        <p:nvSpPr>
          <p:cNvPr id="33799" name="Rectangle 4">
            <a:extLst>
              <a:ext uri="{FF2B5EF4-FFF2-40B4-BE49-F238E27FC236}">
                <a16:creationId xmlns:a16="http://schemas.microsoft.com/office/drawing/2014/main" id="{EB5D2E4D-A317-4607-9554-569DC3BC008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760913" y="2230438"/>
            <a:ext cx="3967162" cy="4249737"/>
          </a:xfrm>
        </p:spPr>
        <p:txBody>
          <a:bodyPr/>
          <a:lstStyle/>
          <a:p>
            <a:pPr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n-US" altLang="zh-TW" sz="2400" i="1"/>
              <a:t>12 kids in Ann</a:t>
            </a:r>
            <a:r>
              <a:rPr lang="ja-JP" altLang="en-US" sz="2400" i="1"/>
              <a:t>’</a:t>
            </a:r>
            <a:r>
              <a:rPr lang="en-US" altLang="ja-JP" sz="2400" i="1"/>
              <a:t>s house sending letters to 12 kids in Bill</a:t>
            </a:r>
            <a:r>
              <a:rPr lang="ja-JP" altLang="en-US" sz="2400" i="1"/>
              <a:t>’</a:t>
            </a:r>
            <a:r>
              <a:rPr lang="en-US" altLang="ja-JP" sz="2400" i="1"/>
              <a:t>s house:</a:t>
            </a:r>
            <a:endParaRPr lang="en-US" altLang="ja-JP" sz="2400"/>
          </a:p>
          <a:p>
            <a:pPr>
              <a:lnSpc>
                <a:spcPct val="70000"/>
              </a:lnSpc>
            </a:pPr>
            <a:r>
              <a:rPr lang="en-US" altLang="zh-TW" sz="2400"/>
              <a:t>hosts = houses</a:t>
            </a:r>
          </a:p>
          <a:p>
            <a:pPr>
              <a:lnSpc>
                <a:spcPct val="70000"/>
              </a:lnSpc>
            </a:pPr>
            <a:r>
              <a:rPr lang="en-US" altLang="zh-TW" sz="2400"/>
              <a:t>processes = kids</a:t>
            </a:r>
          </a:p>
          <a:p>
            <a:pPr>
              <a:lnSpc>
                <a:spcPct val="70000"/>
              </a:lnSpc>
            </a:pPr>
            <a:r>
              <a:rPr lang="en-US" altLang="zh-TW" sz="2400"/>
              <a:t>app messages = letters in envelopes</a:t>
            </a:r>
          </a:p>
          <a:p>
            <a:pPr>
              <a:lnSpc>
                <a:spcPct val="70000"/>
              </a:lnSpc>
            </a:pPr>
            <a:r>
              <a:rPr lang="en-US" altLang="zh-TW" sz="2400"/>
              <a:t>transport protocol = Ann and Bill who demux to in-house siblings</a:t>
            </a:r>
          </a:p>
          <a:p>
            <a:pPr>
              <a:lnSpc>
                <a:spcPct val="70000"/>
              </a:lnSpc>
            </a:pPr>
            <a:r>
              <a:rPr lang="en-US" altLang="zh-TW" sz="2400"/>
              <a:t>network-layer protocol = postal service</a:t>
            </a:r>
          </a:p>
          <a:p>
            <a:pPr>
              <a:lnSpc>
                <a:spcPct val="70000"/>
              </a:lnSpc>
              <a:buFont typeface="Wingdings" panose="05000000000000000000" pitchFamily="2" charset="2"/>
              <a:buNone/>
            </a:pPr>
            <a:endParaRPr lang="en-US" altLang="zh-TW" sz="2400"/>
          </a:p>
        </p:txBody>
      </p:sp>
      <p:sp>
        <p:nvSpPr>
          <p:cNvPr id="33800" name="Rectangle 7">
            <a:extLst>
              <a:ext uri="{FF2B5EF4-FFF2-40B4-BE49-F238E27FC236}">
                <a16:creationId xmlns:a16="http://schemas.microsoft.com/office/drawing/2014/main" id="{7F5325FE-FEFE-4A7E-81C8-B6A70D8193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9963" y="1947863"/>
            <a:ext cx="4016375" cy="3836987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33801" name="Text Box 11">
            <a:extLst>
              <a:ext uri="{FF2B5EF4-FFF2-40B4-BE49-F238E27FC236}">
                <a16:creationId xmlns:a16="http://schemas.microsoft.com/office/drawing/2014/main" id="{FEC00A86-E629-4C79-9C2D-519FDC0BD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0613" y="1724025"/>
            <a:ext cx="2695575" cy="4333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45000"/>
              </a:spcBef>
              <a:buFont typeface="Wingdings" panose="05000000000000000000" pitchFamily="2" charset="2"/>
              <a:buNone/>
            </a:pPr>
            <a:r>
              <a:rPr lang="en-US" altLang="zh-TW" sz="2800" i="1">
                <a:solidFill>
                  <a:srgbClr val="000099"/>
                </a:solidFill>
              </a:rPr>
              <a:t>household analogy:</a:t>
            </a:r>
            <a:endParaRPr lang="en-US" altLang="zh-TW" sz="2800" i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Footer Placeholder 5">
            <a:extLst>
              <a:ext uri="{FF2B5EF4-FFF2-40B4-BE49-F238E27FC236}">
                <a16:creationId xmlns:a16="http://schemas.microsoft.com/office/drawing/2014/main" id="{ABE7E0ED-AE80-43F0-A257-44B04F75D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35843" name="Slide Number Placeholder 6">
            <a:extLst>
              <a:ext uri="{FF2B5EF4-FFF2-40B4-BE49-F238E27FC236}">
                <a16:creationId xmlns:a16="http://schemas.microsoft.com/office/drawing/2014/main" id="{A93BC8E3-5488-4D92-A980-ACDB9F04C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1E467EDE-411D-4F0A-91E2-70FB37335628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35844" name="Group 940">
            <a:extLst>
              <a:ext uri="{FF2B5EF4-FFF2-40B4-BE49-F238E27FC236}">
                <a16:creationId xmlns:a16="http://schemas.microsoft.com/office/drawing/2014/main" id="{88BB08EF-1DDE-4FB7-806A-D5AB119D3CEF}"/>
              </a:ext>
            </a:extLst>
          </p:cNvPr>
          <p:cNvGrpSpPr>
            <a:grpSpLocks/>
          </p:cNvGrpSpPr>
          <p:nvPr/>
        </p:nvGrpSpPr>
        <p:grpSpPr bwMode="auto">
          <a:xfrm>
            <a:off x="5048250" y="1524000"/>
            <a:ext cx="3540125" cy="4545013"/>
            <a:chOff x="3277" y="974"/>
            <a:chExt cx="2230" cy="2863"/>
          </a:xfrm>
        </p:grpSpPr>
        <p:sp>
          <p:nvSpPr>
            <p:cNvPr id="35974" name="Freeform 941">
              <a:extLst>
                <a:ext uri="{FF2B5EF4-FFF2-40B4-BE49-F238E27FC236}">
                  <a16:creationId xmlns:a16="http://schemas.microsoft.com/office/drawing/2014/main" id="{3A7C6970-B9A7-4ED4-A126-7D62B8ABDAAA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7" y="1079"/>
              <a:ext cx="1094" cy="675"/>
            </a:xfrm>
            <a:custGeom>
              <a:avLst/>
              <a:gdLst>
                <a:gd name="T0" fmla="*/ 5726 w 1036"/>
                <a:gd name="T1" fmla="*/ 11 h 675"/>
                <a:gd name="T2" fmla="*/ 3446 w 1036"/>
                <a:gd name="T3" fmla="*/ 53 h 675"/>
                <a:gd name="T4" fmla="*/ 1824 w 1036"/>
                <a:gd name="T5" fmla="*/ 129 h 675"/>
                <a:gd name="T6" fmla="*/ 1348 w 1036"/>
                <a:gd name="T7" fmla="*/ 229 h 675"/>
                <a:gd name="T8" fmla="*/ 187 w 1036"/>
                <a:gd name="T9" fmla="*/ 297 h 675"/>
                <a:gd name="T10" fmla="*/ 151 w 1036"/>
                <a:gd name="T11" fmla="*/ 459 h 675"/>
                <a:gd name="T12" fmla="*/ 1170 w 1036"/>
                <a:gd name="T13" fmla="*/ 489 h 675"/>
                <a:gd name="T14" fmla="*/ 4056 w 1036"/>
                <a:gd name="T15" fmla="*/ 489 h 675"/>
                <a:gd name="T16" fmla="*/ 5280 w 1036"/>
                <a:gd name="T17" fmla="*/ 555 h 675"/>
                <a:gd name="T18" fmla="*/ 6637 w 1036"/>
                <a:gd name="T19" fmla="*/ 657 h 675"/>
                <a:gd name="T20" fmla="*/ 7685 w 1036"/>
                <a:gd name="T21" fmla="*/ 661 h 675"/>
                <a:gd name="T22" fmla="*/ 8400 w 1036"/>
                <a:gd name="T23" fmla="*/ 603 h 675"/>
                <a:gd name="T24" fmla="*/ 8768 w 1036"/>
                <a:gd name="T25" fmla="*/ 445 h 675"/>
                <a:gd name="T26" fmla="*/ 8995 w 1036"/>
                <a:gd name="T27" fmla="*/ 291 h 675"/>
                <a:gd name="T28" fmla="*/ 9021 w 1036"/>
                <a:gd name="T29" fmla="*/ 107 h 675"/>
                <a:gd name="T30" fmla="*/ 8245 w 1036"/>
                <a:gd name="T31" fmla="*/ 17 h 675"/>
                <a:gd name="T32" fmla="*/ 6850 w 1036"/>
                <a:gd name="T33" fmla="*/ 3 h 675"/>
                <a:gd name="T34" fmla="*/ 5726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5975" name="Group 942">
              <a:extLst>
                <a:ext uri="{FF2B5EF4-FFF2-40B4-BE49-F238E27FC236}">
                  <a16:creationId xmlns:a16="http://schemas.microsoft.com/office/drawing/2014/main" id="{7386645D-C8BC-45B7-A747-B9BCE69953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83" y="1920"/>
              <a:ext cx="919" cy="588"/>
              <a:chOff x="2889" y="1631"/>
              <a:chExt cx="980" cy="743"/>
            </a:xfrm>
          </p:grpSpPr>
          <p:sp>
            <p:nvSpPr>
              <p:cNvPr id="36353" name="Rectangle 943">
                <a:extLst>
                  <a:ext uri="{FF2B5EF4-FFF2-40B4-BE49-F238E27FC236}">
                    <a16:creationId xmlns:a16="http://schemas.microsoft.com/office/drawing/2014/main" id="{608C3F46-A3D9-4D12-BC42-7CA3D4B90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354" name="AutoShape 944">
                <a:extLst>
                  <a:ext uri="{FF2B5EF4-FFF2-40B4-BE49-F238E27FC236}">
                    <a16:creationId xmlns:a16="http://schemas.microsoft.com/office/drawing/2014/main" id="{FA79AEF6-3476-45B8-9FA5-530CB82BEC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5976" name="Freeform 945">
              <a:extLst>
                <a:ext uri="{FF2B5EF4-FFF2-40B4-BE49-F238E27FC236}">
                  <a16:creationId xmlns:a16="http://schemas.microsoft.com/office/drawing/2014/main" id="{98AAAB95-0ADD-4CA5-9531-1A749E131CA2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9" y="2788"/>
              <a:ext cx="2032" cy="1049"/>
            </a:xfrm>
            <a:custGeom>
              <a:avLst/>
              <a:gdLst>
                <a:gd name="T0" fmla="*/ 1044 w 2032"/>
                <a:gd name="T1" fmla="*/ 26 h 1049"/>
                <a:gd name="T2" fmla="*/ 847 w 2032"/>
                <a:gd name="T3" fmla="*/ 125 h 1049"/>
                <a:gd name="T4" fmla="*/ 580 w 2032"/>
                <a:gd name="T5" fmla="*/ 68 h 1049"/>
                <a:gd name="T6" fmla="*/ 143 w 2032"/>
                <a:gd name="T7" fmla="*/ 170 h 1049"/>
                <a:gd name="T8" fmla="*/ 48 w 2032"/>
                <a:gd name="T9" fmla="*/ 374 h 1049"/>
                <a:gd name="T10" fmla="*/ 41 w 2032"/>
                <a:gd name="T11" fmla="*/ 680 h 1049"/>
                <a:gd name="T12" fmla="*/ 294 w 2032"/>
                <a:gd name="T13" fmla="*/ 744 h 1049"/>
                <a:gd name="T14" fmla="*/ 660 w 2032"/>
                <a:gd name="T15" fmla="*/ 893 h 1049"/>
                <a:gd name="T16" fmla="*/ 1088 w 2032"/>
                <a:gd name="T17" fmla="*/ 1014 h 1049"/>
                <a:gd name="T18" fmla="*/ 1525 w 2032"/>
                <a:gd name="T19" fmla="*/ 1031 h 1049"/>
                <a:gd name="T20" fmla="*/ 1831 w 2032"/>
                <a:gd name="T21" fmla="*/ 907 h 1049"/>
                <a:gd name="T22" fmla="*/ 2015 w 2032"/>
                <a:gd name="T23" fmla="*/ 714 h 1049"/>
                <a:gd name="T24" fmla="*/ 1931 w 2032"/>
                <a:gd name="T25" fmla="*/ 251 h 1049"/>
                <a:gd name="T26" fmla="*/ 1658 w 2032"/>
                <a:gd name="T27" fmla="*/ 114 h 1049"/>
                <a:gd name="T28" fmla="*/ 1355 w 2032"/>
                <a:gd name="T29" fmla="*/ 15 h 1049"/>
                <a:gd name="T30" fmla="*/ 1044 w 2032"/>
                <a:gd name="T31" fmla="*/ 2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2032"/>
                <a:gd name="T49" fmla="*/ 0 h 1049"/>
                <a:gd name="T50" fmla="*/ 2032 w 2032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2032" h="1049">
                  <a:moveTo>
                    <a:pt x="1044" y="26"/>
                  </a:moveTo>
                  <a:cubicBezTo>
                    <a:pt x="959" y="45"/>
                    <a:pt x="924" y="118"/>
                    <a:pt x="847" y="125"/>
                  </a:cubicBezTo>
                  <a:cubicBezTo>
                    <a:pt x="770" y="132"/>
                    <a:pt x="697" y="61"/>
                    <a:pt x="580" y="68"/>
                  </a:cubicBezTo>
                  <a:cubicBezTo>
                    <a:pt x="463" y="75"/>
                    <a:pt x="232" y="119"/>
                    <a:pt x="143" y="170"/>
                  </a:cubicBezTo>
                  <a:cubicBezTo>
                    <a:pt x="54" y="221"/>
                    <a:pt x="65" y="289"/>
                    <a:pt x="48" y="374"/>
                  </a:cubicBezTo>
                  <a:cubicBezTo>
                    <a:pt x="31" y="459"/>
                    <a:pt x="0" y="618"/>
                    <a:pt x="41" y="680"/>
                  </a:cubicBezTo>
                  <a:cubicBezTo>
                    <a:pt x="82" y="742"/>
                    <a:pt x="191" y="709"/>
                    <a:pt x="294" y="744"/>
                  </a:cubicBezTo>
                  <a:cubicBezTo>
                    <a:pt x="397" y="779"/>
                    <a:pt x="527" y="849"/>
                    <a:pt x="660" y="893"/>
                  </a:cubicBezTo>
                  <a:cubicBezTo>
                    <a:pt x="793" y="938"/>
                    <a:pt x="944" y="991"/>
                    <a:pt x="1088" y="1014"/>
                  </a:cubicBezTo>
                  <a:cubicBezTo>
                    <a:pt x="1232" y="1036"/>
                    <a:pt x="1401" y="1049"/>
                    <a:pt x="1525" y="1031"/>
                  </a:cubicBezTo>
                  <a:cubicBezTo>
                    <a:pt x="1649" y="1012"/>
                    <a:pt x="1749" y="960"/>
                    <a:pt x="1831" y="907"/>
                  </a:cubicBezTo>
                  <a:cubicBezTo>
                    <a:pt x="1913" y="855"/>
                    <a:pt x="1998" y="824"/>
                    <a:pt x="2015" y="714"/>
                  </a:cubicBezTo>
                  <a:cubicBezTo>
                    <a:pt x="2032" y="604"/>
                    <a:pt x="1990" y="350"/>
                    <a:pt x="1931" y="251"/>
                  </a:cubicBezTo>
                  <a:cubicBezTo>
                    <a:pt x="1872" y="151"/>
                    <a:pt x="1754" y="153"/>
                    <a:pt x="1658" y="114"/>
                  </a:cubicBezTo>
                  <a:cubicBezTo>
                    <a:pt x="1562" y="76"/>
                    <a:pt x="1457" y="30"/>
                    <a:pt x="1355" y="15"/>
                  </a:cubicBezTo>
                  <a:cubicBezTo>
                    <a:pt x="1253" y="0"/>
                    <a:pt x="1129" y="8"/>
                    <a:pt x="1044" y="26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77" name="Line 946">
              <a:extLst>
                <a:ext uri="{FF2B5EF4-FFF2-40B4-BE49-F238E27FC236}">
                  <a16:creationId xmlns:a16="http://schemas.microsoft.com/office/drawing/2014/main" id="{56858B5D-DA3A-4E75-9E78-ED63031CD1D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4942" y="3252"/>
              <a:ext cx="330" cy="88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978" name="Line 947">
              <a:extLst>
                <a:ext uri="{FF2B5EF4-FFF2-40B4-BE49-F238E27FC236}">
                  <a16:creationId xmlns:a16="http://schemas.microsoft.com/office/drawing/2014/main" id="{81756513-BC7E-44C8-B801-81E2AE159F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9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979" name="Line 948">
              <a:extLst>
                <a:ext uri="{FF2B5EF4-FFF2-40B4-BE49-F238E27FC236}">
                  <a16:creationId xmlns:a16="http://schemas.microsoft.com/office/drawing/2014/main" id="{CE550452-EDF2-4579-8016-2C33D85AE6E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5151" y="3225"/>
              <a:ext cx="0" cy="72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980" name="Line 949">
              <a:extLst>
                <a:ext uri="{FF2B5EF4-FFF2-40B4-BE49-F238E27FC236}">
                  <a16:creationId xmlns:a16="http://schemas.microsoft.com/office/drawing/2014/main" id="{9B4BCF64-2050-43D2-924A-F1104B4430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27" y="2977"/>
              <a:ext cx="160" cy="29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1" name="Line 950">
              <a:extLst>
                <a:ext uri="{FF2B5EF4-FFF2-40B4-BE49-F238E27FC236}">
                  <a16:creationId xmlns:a16="http://schemas.microsoft.com/office/drawing/2014/main" id="{7C038B3A-228E-4E3C-A6D7-BB756936F6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3" y="3009"/>
              <a:ext cx="124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2" name="Line 951">
              <a:extLst>
                <a:ext uri="{FF2B5EF4-FFF2-40B4-BE49-F238E27FC236}">
                  <a16:creationId xmlns:a16="http://schemas.microsoft.com/office/drawing/2014/main" id="{4A38EA60-69D3-4296-82C4-E63C2F8691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80" y="3221"/>
              <a:ext cx="17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3" name="Line 952">
              <a:extLst>
                <a:ext uri="{FF2B5EF4-FFF2-40B4-BE49-F238E27FC236}">
                  <a16:creationId xmlns:a16="http://schemas.microsoft.com/office/drawing/2014/main" id="{BCBC2508-DF0A-48EC-B296-79B700F297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14" y="3271"/>
              <a:ext cx="30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4" name="Line 953">
              <a:extLst>
                <a:ext uri="{FF2B5EF4-FFF2-40B4-BE49-F238E27FC236}">
                  <a16:creationId xmlns:a16="http://schemas.microsoft.com/office/drawing/2014/main" id="{6EC69400-82D3-4835-9979-F55CAA1037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65" y="3213"/>
              <a:ext cx="34" cy="5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5" name="Line 954">
              <a:extLst>
                <a:ext uri="{FF2B5EF4-FFF2-40B4-BE49-F238E27FC236}">
                  <a16:creationId xmlns:a16="http://schemas.microsoft.com/office/drawing/2014/main" id="{8D99BC61-24A7-484C-BC32-77A1BC9AED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47" y="3269"/>
              <a:ext cx="1" cy="5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6" name="Line 955">
              <a:extLst>
                <a:ext uri="{FF2B5EF4-FFF2-40B4-BE49-F238E27FC236}">
                  <a16:creationId xmlns:a16="http://schemas.microsoft.com/office/drawing/2014/main" id="{4AE783F2-39C1-4769-8242-05600AEB2D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97" y="3274"/>
              <a:ext cx="0" cy="4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7" name="Line 956">
              <a:extLst>
                <a:ext uri="{FF2B5EF4-FFF2-40B4-BE49-F238E27FC236}">
                  <a16:creationId xmlns:a16="http://schemas.microsoft.com/office/drawing/2014/main" id="{FBBEDB9C-655E-4B6C-AC80-47F0C78779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" y="3185"/>
              <a:ext cx="317" cy="17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8" name="Line 957">
              <a:extLst>
                <a:ext uri="{FF2B5EF4-FFF2-40B4-BE49-F238E27FC236}">
                  <a16:creationId xmlns:a16="http://schemas.microsoft.com/office/drawing/2014/main" id="{6C2B8BCB-595E-4485-ADE6-4011E3378A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1" y="3144"/>
              <a:ext cx="51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9" name="Line 958">
              <a:extLst>
                <a:ext uri="{FF2B5EF4-FFF2-40B4-BE49-F238E27FC236}">
                  <a16:creationId xmlns:a16="http://schemas.microsoft.com/office/drawing/2014/main" id="{A4DD75A9-8B09-4D5E-888D-106B7EF0AC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09" y="2257"/>
              <a:ext cx="148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0" name="Line 959">
              <a:extLst>
                <a:ext uri="{FF2B5EF4-FFF2-40B4-BE49-F238E27FC236}">
                  <a16:creationId xmlns:a16="http://schemas.microsoft.com/office/drawing/2014/main" id="{D4544E4E-CC97-499D-B19F-3EB9F70841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1" y="2354"/>
              <a:ext cx="106" cy="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5991" name="Group 960">
              <a:extLst>
                <a:ext uri="{FF2B5EF4-FFF2-40B4-BE49-F238E27FC236}">
                  <a16:creationId xmlns:a16="http://schemas.microsoft.com/office/drawing/2014/main" id="{D71E8320-9221-45C8-BE32-5F7C617CC1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5" y="2207"/>
              <a:ext cx="319" cy="222"/>
              <a:chOff x="2967" y="478"/>
              <a:chExt cx="788" cy="625"/>
            </a:xfrm>
          </p:grpSpPr>
          <p:pic>
            <p:nvPicPr>
              <p:cNvPr id="36351" name="Picture 961" descr="access_point_stylized_small">
                <a:extLst>
                  <a:ext uri="{FF2B5EF4-FFF2-40B4-BE49-F238E27FC236}">
                    <a16:creationId xmlns:a16="http://schemas.microsoft.com/office/drawing/2014/main" id="{7640ABE3-40AF-4FE0-A789-3EB2674FBC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352" name="Picture 962" descr="antenna_radiation_stylized">
                <a:extLst>
                  <a:ext uri="{FF2B5EF4-FFF2-40B4-BE49-F238E27FC236}">
                    <a16:creationId xmlns:a16="http://schemas.microsoft.com/office/drawing/2014/main" id="{6E60574D-6258-4D40-950E-080144B0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35992" name="Freeform 963">
              <a:extLst>
                <a:ext uri="{FF2B5EF4-FFF2-40B4-BE49-F238E27FC236}">
                  <a16:creationId xmlns:a16="http://schemas.microsoft.com/office/drawing/2014/main" id="{AA133DA3-F18C-42D3-9F10-2DDA78C34051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9" y="2224"/>
              <a:ext cx="828" cy="425"/>
            </a:xfrm>
            <a:custGeom>
              <a:avLst/>
              <a:gdLst>
                <a:gd name="T0" fmla="*/ 382 w 828"/>
                <a:gd name="T1" fmla="*/ 30 h 425"/>
                <a:gd name="T2" fmla="*/ 370 w 828"/>
                <a:gd name="T3" fmla="*/ 30 h 425"/>
                <a:gd name="T4" fmla="*/ 126 w 828"/>
                <a:gd name="T5" fmla="*/ 32 h 425"/>
                <a:gd name="T6" fmla="*/ 6 w 828"/>
                <a:gd name="T7" fmla="*/ 126 h 425"/>
                <a:gd name="T8" fmla="*/ 92 w 828"/>
                <a:gd name="T9" fmla="*/ 274 h 425"/>
                <a:gd name="T10" fmla="*/ 292 w 828"/>
                <a:gd name="T11" fmla="*/ 384 h 425"/>
                <a:gd name="T12" fmla="*/ 540 w 828"/>
                <a:gd name="T13" fmla="*/ 416 h 425"/>
                <a:gd name="T14" fmla="*/ 698 w 828"/>
                <a:gd name="T15" fmla="*/ 330 h 425"/>
                <a:gd name="T16" fmla="*/ 776 w 828"/>
                <a:gd name="T17" fmla="*/ 170 h 425"/>
                <a:gd name="T18" fmla="*/ 792 w 828"/>
                <a:gd name="T19" fmla="*/ 22 h 425"/>
                <a:gd name="T20" fmla="*/ 560 w 828"/>
                <a:gd name="T21" fmla="*/ 38 h 425"/>
                <a:gd name="T22" fmla="*/ 382 w 828"/>
                <a:gd name="T23" fmla="*/ 30 h 425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828"/>
                <a:gd name="T37" fmla="*/ 0 h 425"/>
                <a:gd name="T38" fmla="*/ 828 w 828"/>
                <a:gd name="T39" fmla="*/ 425 h 425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828" h="425">
                  <a:moveTo>
                    <a:pt x="382" y="30"/>
                  </a:moveTo>
                  <a:cubicBezTo>
                    <a:pt x="350" y="29"/>
                    <a:pt x="413" y="30"/>
                    <a:pt x="370" y="30"/>
                  </a:cubicBezTo>
                  <a:cubicBezTo>
                    <a:pt x="327" y="30"/>
                    <a:pt x="187" y="16"/>
                    <a:pt x="126" y="32"/>
                  </a:cubicBezTo>
                  <a:cubicBezTo>
                    <a:pt x="65" y="48"/>
                    <a:pt x="12" y="86"/>
                    <a:pt x="6" y="126"/>
                  </a:cubicBezTo>
                  <a:cubicBezTo>
                    <a:pt x="0" y="166"/>
                    <a:pt x="44" y="231"/>
                    <a:pt x="92" y="274"/>
                  </a:cubicBezTo>
                  <a:cubicBezTo>
                    <a:pt x="140" y="317"/>
                    <a:pt x="217" y="360"/>
                    <a:pt x="292" y="384"/>
                  </a:cubicBezTo>
                  <a:cubicBezTo>
                    <a:pt x="367" y="408"/>
                    <a:pt x="472" y="425"/>
                    <a:pt x="540" y="416"/>
                  </a:cubicBezTo>
                  <a:cubicBezTo>
                    <a:pt x="608" y="407"/>
                    <a:pt x="659" y="371"/>
                    <a:pt x="698" y="330"/>
                  </a:cubicBezTo>
                  <a:cubicBezTo>
                    <a:pt x="737" y="289"/>
                    <a:pt x="760" y="221"/>
                    <a:pt x="776" y="170"/>
                  </a:cubicBezTo>
                  <a:cubicBezTo>
                    <a:pt x="792" y="119"/>
                    <a:pt x="828" y="44"/>
                    <a:pt x="792" y="22"/>
                  </a:cubicBezTo>
                  <a:cubicBezTo>
                    <a:pt x="756" y="0"/>
                    <a:pt x="630" y="37"/>
                    <a:pt x="560" y="38"/>
                  </a:cubicBezTo>
                  <a:cubicBezTo>
                    <a:pt x="490" y="39"/>
                    <a:pt x="414" y="31"/>
                    <a:pt x="382" y="3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3" name="Freeform 964">
              <a:extLst>
                <a:ext uri="{FF2B5EF4-FFF2-40B4-BE49-F238E27FC236}">
                  <a16:creationId xmlns:a16="http://schemas.microsoft.com/office/drawing/2014/main" id="{90CFBC60-1310-46F4-9A99-E6ECB8275C9C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7" y="1263"/>
              <a:ext cx="1090" cy="709"/>
            </a:xfrm>
            <a:custGeom>
              <a:avLst/>
              <a:gdLst>
                <a:gd name="T0" fmla="*/ 599941990 w 765"/>
                <a:gd name="T1" fmla="*/ 352945333 h 459"/>
                <a:gd name="T2" fmla="*/ 406559188 w 765"/>
                <a:gd name="T3" fmla="*/ 2147483646 h 459"/>
                <a:gd name="T4" fmla="*/ 136007644 w 765"/>
                <a:gd name="T5" fmla="*/ 2147483646 h 459"/>
                <a:gd name="T6" fmla="*/ 19434385 w 765"/>
                <a:gd name="T7" fmla="*/ 2147483646 h 459"/>
                <a:gd name="T8" fmla="*/ 254382390 w 765"/>
                <a:gd name="T9" fmla="*/ 2147483646 h 459"/>
                <a:gd name="T10" fmla="*/ 489002591 w 765"/>
                <a:gd name="T11" fmla="*/ 2147483646 h 459"/>
                <a:gd name="T12" fmla="*/ 825379590 w 765"/>
                <a:gd name="T13" fmla="*/ 2147483646 h 459"/>
                <a:gd name="T14" fmla="*/ 987694542 w 765"/>
                <a:gd name="T15" fmla="*/ 2147483646 h 459"/>
                <a:gd name="T16" fmla="*/ 1063159525 w 765"/>
                <a:gd name="T17" fmla="*/ 2147483646 h 459"/>
                <a:gd name="T18" fmla="*/ 1061292822 w 765"/>
                <a:gd name="T19" fmla="*/ 2147483646 h 459"/>
                <a:gd name="T20" fmla="*/ 936641125 w 765"/>
                <a:gd name="T21" fmla="*/ 1232372677 h 459"/>
                <a:gd name="T22" fmla="*/ 599941990 w 765"/>
                <a:gd name="T23" fmla="*/ 352945333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4" name="Line 965">
              <a:extLst>
                <a:ext uri="{FF2B5EF4-FFF2-40B4-BE49-F238E27FC236}">
                  <a16:creationId xmlns:a16="http://schemas.microsoft.com/office/drawing/2014/main" id="{FA1226E7-564D-4D2B-A4B9-F7A3D235BE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" y="2404"/>
              <a:ext cx="103" cy="7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5" name="Line 966">
              <a:extLst>
                <a:ext uri="{FF2B5EF4-FFF2-40B4-BE49-F238E27FC236}">
                  <a16:creationId xmlns:a16="http://schemas.microsoft.com/office/drawing/2014/main" id="{D9ED3EDA-BEE3-4730-83B7-18A8192859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20" y="2354"/>
              <a:ext cx="176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6" name="Line 967">
              <a:extLst>
                <a:ext uri="{FF2B5EF4-FFF2-40B4-BE49-F238E27FC236}">
                  <a16:creationId xmlns:a16="http://schemas.microsoft.com/office/drawing/2014/main" id="{1C6E336B-CAFE-4CA6-82F0-333F6DB242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" y="2408"/>
              <a:ext cx="85" cy="6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7" name="Line 968">
              <a:extLst>
                <a:ext uri="{FF2B5EF4-FFF2-40B4-BE49-F238E27FC236}">
                  <a16:creationId xmlns:a16="http://schemas.microsoft.com/office/drawing/2014/main" id="{D56AF7E4-0B6A-4B20-96D5-CD7A6C4E3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" y="1632"/>
              <a:ext cx="321" cy="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8" name="Line 969">
              <a:extLst>
                <a:ext uri="{FF2B5EF4-FFF2-40B4-BE49-F238E27FC236}">
                  <a16:creationId xmlns:a16="http://schemas.microsoft.com/office/drawing/2014/main" id="{851BC65B-26F2-4FD9-A742-644F92F97D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5" y="2961"/>
              <a:ext cx="246" cy="11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9" name="Line 970">
              <a:extLst>
                <a:ext uri="{FF2B5EF4-FFF2-40B4-BE49-F238E27FC236}">
                  <a16:creationId xmlns:a16="http://schemas.microsoft.com/office/drawing/2014/main" id="{F12BC4D5-D0C0-4AF2-9510-6AFB5D5687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4" y="2953"/>
              <a:ext cx="203" cy="1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0" name="Line 971">
              <a:extLst>
                <a:ext uri="{FF2B5EF4-FFF2-40B4-BE49-F238E27FC236}">
                  <a16:creationId xmlns:a16="http://schemas.microsoft.com/office/drawing/2014/main" id="{5200D827-67FD-425E-BEC0-392E25FECD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1" y="3137"/>
              <a:ext cx="6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1" name="Line 972">
              <a:extLst>
                <a:ext uri="{FF2B5EF4-FFF2-40B4-BE49-F238E27FC236}">
                  <a16:creationId xmlns:a16="http://schemas.microsoft.com/office/drawing/2014/main" id="{B831FAA0-C88B-45D2-A238-99A5842C0BA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572"/>
              <a:ext cx="78" cy="5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2" name="Line 973">
              <a:extLst>
                <a:ext uri="{FF2B5EF4-FFF2-40B4-BE49-F238E27FC236}">
                  <a16:creationId xmlns:a16="http://schemas.microsoft.com/office/drawing/2014/main" id="{09EA3FAA-458E-4AC0-A591-9C86ECED0D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5" y="1681"/>
              <a:ext cx="0" cy="52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3" name="Line 974">
              <a:extLst>
                <a:ext uri="{FF2B5EF4-FFF2-40B4-BE49-F238E27FC236}">
                  <a16:creationId xmlns:a16="http://schemas.microsoft.com/office/drawing/2014/main" id="{AAEB4902-057F-4440-AF93-144EEE8631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73" y="1616"/>
              <a:ext cx="166" cy="182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4" name="Line 975">
              <a:extLst>
                <a:ext uri="{FF2B5EF4-FFF2-40B4-BE49-F238E27FC236}">
                  <a16:creationId xmlns:a16="http://schemas.microsoft.com/office/drawing/2014/main" id="{E7812180-2442-47F9-A684-63C60CE122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03" y="1615"/>
              <a:ext cx="0" cy="12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5" name="Line 976">
              <a:extLst>
                <a:ext uri="{FF2B5EF4-FFF2-40B4-BE49-F238E27FC236}">
                  <a16:creationId xmlns:a16="http://schemas.microsoft.com/office/drawing/2014/main" id="{3CEE1E88-C92A-4EE7-A86F-6E13599880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85" y="1808"/>
              <a:ext cx="119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6" name="Line 977">
              <a:extLst>
                <a:ext uri="{FF2B5EF4-FFF2-40B4-BE49-F238E27FC236}">
                  <a16:creationId xmlns:a16="http://schemas.microsoft.com/office/drawing/2014/main" id="{16288CE7-1BD1-4F64-B921-15DC5BC86D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4" y="1802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7" name="Line 978">
              <a:extLst>
                <a:ext uri="{FF2B5EF4-FFF2-40B4-BE49-F238E27FC236}">
                  <a16:creationId xmlns:a16="http://schemas.microsoft.com/office/drawing/2014/main" id="{D67E4FE4-4D1A-408E-8927-BCC0D068FC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96" y="1850"/>
              <a:ext cx="62" cy="444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8" name="Line 979">
              <a:extLst>
                <a:ext uri="{FF2B5EF4-FFF2-40B4-BE49-F238E27FC236}">
                  <a16:creationId xmlns:a16="http://schemas.microsoft.com/office/drawing/2014/main" id="{F6462CF4-964E-401E-AA44-4DF8B49A90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69" y="1850"/>
              <a:ext cx="70" cy="458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9" name="Line 980">
              <a:extLst>
                <a:ext uri="{FF2B5EF4-FFF2-40B4-BE49-F238E27FC236}">
                  <a16:creationId xmlns:a16="http://schemas.microsoft.com/office/drawing/2014/main" id="{BE579C26-B871-4FCD-B1B6-BEA01B5CBF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81" y="2569"/>
              <a:ext cx="143" cy="27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10" name="Line 981">
              <a:extLst>
                <a:ext uri="{FF2B5EF4-FFF2-40B4-BE49-F238E27FC236}">
                  <a16:creationId xmlns:a16="http://schemas.microsoft.com/office/drawing/2014/main" id="{17C12481-EB7E-49CD-8FF7-925AEC248C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" y="1801"/>
              <a:ext cx="112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6011" name="Group 982">
              <a:extLst>
                <a:ext uri="{FF2B5EF4-FFF2-40B4-BE49-F238E27FC236}">
                  <a16:creationId xmlns:a16="http://schemas.microsoft.com/office/drawing/2014/main" id="{EBF9737C-B050-42F5-8F58-A7EDBD2EAC5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3" y="1163"/>
              <a:ext cx="295" cy="391"/>
              <a:chOff x="1653" y="3023"/>
              <a:chExt cx="622" cy="911"/>
            </a:xfrm>
          </p:grpSpPr>
          <p:sp>
            <p:nvSpPr>
              <p:cNvPr id="36334" name="Line 270">
                <a:extLst>
                  <a:ext uri="{FF2B5EF4-FFF2-40B4-BE49-F238E27FC236}">
                    <a16:creationId xmlns:a16="http://schemas.microsoft.com/office/drawing/2014/main" id="{1640BFCB-F2E9-4D18-842B-42B159B304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66" y="3287"/>
                <a:ext cx="188" cy="586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35" name="Line 271">
                <a:extLst>
                  <a:ext uri="{FF2B5EF4-FFF2-40B4-BE49-F238E27FC236}">
                    <a16:creationId xmlns:a16="http://schemas.microsoft.com/office/drawing/2014/main" id="{B609F324-13DB-402F-8FCF-A9E0659EC9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287"/>
                <a:ext cx="188" cy="58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36" name="Line 272">
                <a:extLst>
                  <a:ext uri="{FF2B5EF4-FFF2-40B4-BE49-F238E27FC236}">
                    <a16:creationId xmlns:a16="http://schemas.microsoft.com/office/drawing/2014/main" id="{E4C18CFE-7124-40FA-8CB9-992FC1587C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66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37" name="Line 273">
                <a:extLst>
                  <a:ext uri="{FF2B5EF4-FFF2-40B4-BE49-F238E27FC236}">
                    <a16:creationId xmlns:a16="http://schemas.microsoft.com/office/drawing/2014/main" id="{FFABEEC0-94D1-4FC6-9BA3-BACCC4B5E0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54" y="3870"/>
                <a:ext cx="188" cy="6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38" name="Line 274">
                <a:extLst>
                  <a:ext uri="{FF2B5EF4-FFF2-40B4-BE49-F238E27FC236}">
                    <a16:creationId xmlns:a16="http://schemas.microsoft.com/office/drawing/2014/main" id="{5BAD77C9-467B-4CE6-895E-03BF3347F2E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54" y="3300"/>
                <a:ext cx="0" cy="63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39" name="Line 275">
                <a:extLst>
                  <a:ext uri="{FF2B5EF4-FFF2-40B4-BE49-F238E27FC236}">
                    <a16:creationId xmlns:a16="http://schemas.microsoft.com/office/drawing/2014/main" id="{2B610CA3-1C37-4C3B-B4A5-6E5FCC917C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66" y="3810"/>
                <a:ext cx="188" cy="63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0" name="Line 276">
                <a:extLst>
                  <a:ext uri="{FF2B5EF4-FFF2-40B4-BE49-F238E27FC236}">
                    <a16:creationId xmlns:a16="http://schemas.microsoft.com/office/drawing/2014/main" id="{118A76B8-4D74-4EFC-B6CC-B965C5ACC6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954" y="3810"/>
                <a:ext cx="188" cy="60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1" name="Line 277">
                <a:extLst>
                  <a:ext uri="{FF2B5EF4-FFF2-40B4-BE49-F238E27FC236}">
                    <a16:creationId xmlns:a16="http://schemas.microsoft.com/office/drawing/2014/main" id="{A42C7985-8A05-4A0A-9904-2BCC74CCD3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46" y="3618"/>
                <a:ext cx="108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2" name="Line 278">
                <a:extLst>
                  <a:ext uri="{FF2B5EF4-FFF2-40B4-BE49-F238E27FC236}">
                    <a16:creationId xmlns:a16="http://schemas.microsoft.com/office/drawing/2014/main" id="{29820D17-1B55-4E88-9CA9-D6D4CE958A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618"/>
                <a:ext cx="114" cy="4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3" name="Line 279">
                <a:extLst>
                  <a:ext uri="{FF2B5EF4-FFF2-40B4-BE49-F238E27FC236}">
                    <a16:creationId xmlns:a16="http://schemas.microsoft.com/office/drawing/2014/main" id="{74830914-8FD6-4ED1-82CD-CE77E4E22B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10" y="3704"/>
                <a:ext cx="139" cy="65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4" name="Line 280">
                <a:extLst>
                  <a:ext uri="{FF2B5EF4-FFF2-40B4-BE49-F238E27FC236}">
                    <a16:creationId xmlns:a16="http://schemas.microsoft.com/office/drawing/2014/main" id="{CB9C8B6C-45B7-43AE-A73E-16869169DC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717"/>
                <a:ext cx="140" cy="57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5" name="Line 281">
                <a:extLst>
                  <a:ext uri="{FF2B5EF4-FFF2-40B4-BE49-F238E27FC236}">
                    <a16:creationId xmlns:a16="http://schemas.microsoft.com/office/drawing/2014/main" id="{5AA6A86F-8208-4C1A-BD05-EF1F93B28A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530"/>
                <a:ext cx="72" cy="24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6" name="Line 282">
                <a:extLst>
                  <a:ext uri="{FF2B5EF4-FFF2-40B4-BE49-F238E27FC236}">
                    <a16:creationId xmlns:a16="http://schemas.microsoft.com/office/drawing/2014/main" id="{1F3641E7-522F-4AB3-BF4A-D4378E6829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954" y="3409"/>
                <a:ext cx="45" cy="18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7" name="Line 283">
                <a:extLst>
                  <a:ext uri="{FF2B5EF4-FFF2-40B4-BE49-F238E27FC236}">
                    <a16:creationId xmlns:a16="http://schemas.microsoft.com/office/drawing/2014/main" id="{7B10418C-A928-4956-875F-3A417C24EBD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73" y="3522"/>
                <a:ext cx="87" cy="32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8" name="Line 284">
                <a:extLst>
                  <a:ext uri="{FF2B5EF4-FFF2-40B4-BE49-F238E27FC236}">
                    <a16:creationId xmlns:a16="http://schemas.microsoft.com/office/drawing/2014/main" id="{DD16CE59-B20B-42FB-AF23-152BC2FBF9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12" y="3404"/>
                <a:ext cx="50" cy="31"/>
              </a:xfrm>
              <a:prstGeom prst="line">
                <a:avLst/>
              </a:prstGeom>
              <a:noFill/>
              <a:ln w="19050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36349" name="Oval 998">
                <a:extLst>
                  <a:ext uri="{FF2B5EF4-FFF2-40B4-BE49-F238E27FC236}">
                    <a16:creationId xmlns:a16="http://schemas.microsoft.com/office/drawing/2014/main" id="{F29EEB8D-0633-43F0-B441-6BFBE2E0AF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21" y="3233"/>
                <a:ext cx="63" cy="68"/>
              </a:xfrm>
              <a:prstGeom prst="ellipse">
                <a:avLst/>
              </a:prstGeom>
              <a:solidFill>
                <a:srgbClr val="808080"/>
              </a:solidFill>
              <a:ln w="9525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pic>
            <p:nvPicPr>
              <p:cNvPr id="36350" name="Picture 999" descr="cell_tower_radiation_gray">
                <a:extLst>
                  <a:ext uri="{FF2B5EF4-FFF2-40B4-BE49-F238E27FC236}">
                    <a16:creationId xmlns:a16="http://schemas.microsoft.com/office/drawing/2014/main" id="{A3E24BC2-1CF3-4BC9-850A-41366563A25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53" y="3023"/>
                <a:ext cx="622" cy="5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6012" name="Group 1000">
              <a:extLst>
                <a:ext uri="{FF2B5EF4-FFF2-40B4-BE49-F238E27FC236}">
                  <a16:creationId xmlns:a16="http://schemas.microsoft.com/office/drawing/2014/main" id="{BD959D07-0A9A-470B-BE34-FBE9A9796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2" y="1516"/>
              <a:ext cx="286" cy="160"/>
              <a:chOff x="3843" y="1516"/>
              <a:chExt cx="286" cy="160"/>
            </a:xfrm>
          </p:grpSpPr>
          <p:sp>
            <p:nvSpPr>
              <p:cNvPr id="36325" name="Line 1001">
                <a:extLst>
                  <a:ext uri="{FF2B5EF4-FFF2-40B4-BE49-F238E27FC236}">
                    <a16:creationId xmlns:a16="http://schemas.microsoft.com/office/drawing/2014/main" id="{3990A9D8-8CB7-4987-BA9F-1B89F48F44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43" y="1516"/>
                <a:ext cx="96" cy="60"/>
              </a:xfrm>
              <a:prstGeom prst="line">
                <a:avLst/>
              </a:prstGeom>
              <a:noFill/>
              <a:ln w="952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326" name="Oval 407">
                <a:extLst>
                  <a:ext uri="{FF2B5EF4-FFF2-40B4-BE49-F238E27FC236}">
                    <a16:creationId xmlns:a16="http://schemas.microsoft.com/office/drawing/2014/main" id="{7D53BE0F-D2C5-489A-B661-C783884E22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6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327" name="Rectangle 410">
                <a:extLst>
                  <a:ext uri="{FF2B5EF4-FFF2-40B4-BE49-F238E27FC236}">
                    <a16:creationId xmlns:a16="http://schemas.microsoft.com/office/drawing/2014/main" id="{332B5F54-8DE9-4F9A-9A24-51F1A10529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4" y="1610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328" name="Oval 411">
                <a:extLst>
                  <a:ext uri="{FF2B5EF4-FFF2-40B4-BE49-F238E27FC236}">
                    <a16:creationId xmlns:a16="http://schemas.microsoft.com/office/drawing/2014/main" id="{6AC06830-1615-41ED-A327-054B106EEC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83" y="1569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329" name="Group 1005">
                <a:extLst>
                  <a:ext uri="{FF2B5EF4-FFF2-40B4-BE49-F238E27FC236}">
                    <a16:creationId xmlns:a16="http://schemas.microsoft.com/office/drawing/2014/main" id="{B13CFC16-F2B1-426E-A2E7-AF11C526B6F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32" y="1587"/>
                <a:ext cx="138" cy="33"/>
                <a:chOff x="2468" y="1332"/>
                <a:chExt cx="310" cy="60"/>
              </a:xfrm>
            </p:grpSpPr>
            <p:sp>
              <p:nvSpPr>
                <p:cNvPr id="36332" name="Freeform 1006">
                  <a:extLst>
                    <a:ext uri="{FF2B5EF4-FFF2-40B4-BE49-F238E27FC236}">
                      <a16:creationId xmlns:a16="http://schemas.microsoft.com/office/drawing/2014/main" id="{69CF70E1-D8CE-4E03-8795-64791DD77A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333" name="Freeform 1007">
                  <a:extLst>
                    <a:ext uri="{FF2B5EF4-FFF2-40B4-BE49-F238E27FC236}">
                      <a16:creationId xmlns:a16="http://schemas.microsoft.com/office/drawing/2014/main" id="{518FE3F8-B063-48A3-8AF2-7FD2CA66DF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330" name="Line 1008">
                <a:extLst>
                  <a:ext uri="{FF2B5EF4-FFF2-40B4-BE49-F238E27FC236}">
                    <a16:creationId xmlns:a16="http://schemas.microsoft.com/office/drawing/2014/main" id="{85602AD8-72DF-4E43-AEDF-FFDCBF02FA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84" y="1602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331" name="Line 1009">
                <a:extLst>
                  <a:ext uri="{FF2B5EF4-FFF2-40B4-BE49-F238E27FC236}">
                    <a16:creationId xmlns:a16="http://schemas.microsoft.com/office/drawing/2014/main" id="{26E9F812-6CFC-435E-9A28-EC6F8175FE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27" y="1604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13" name="Group 1010">
              <a:extLst>
                <a:ext uri="{FF2B5EF4-FFF2-40B4-BE49-F238E27FC236}">
                  <a16:creationId xmlns:a16="http://schemas.microsoft.com/office/drawing/2014/main" id="{FA0B1C9F-6B96-436F-9665-BD4CE8BE66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7" y="1571"/>
              <a:ext cx="246" cy="110"/>
              <a:chOff x="4334" y="1470"/>
              <a:chExt cx="246" cy="107"/>
            </a:xfrm>
          </p:grpSpPr>
          <p:sp>
            <p:nvSpPr>
              <p:cNvPr id="36317" name="Oval 407">
                <a:extLst>
                  <a:ext uri="{FF2B5EF4-FFF2-40B4-BE49-F238E27FC236}">
                    <a16:creationId xmlns:a16="http://schemas.microsoft.com/office/drawing/2014/main" id="{D1DBD81F-AAAA-4CE3-BC92-23AD56C16D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318" name="Rectangle 410">
                <a:extLst>
                  <a:ext uri="{FF2B5EF4-FFF2-40B4-BE49-F238E27FC236}">
                    <a16:creationId xmlns:a16="http://schemas.microsoft.com/office/drawing/2014/main" id="{FC55AC0B-DD85-489A-8382-B6B198455F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319" name="Oval 411">
                <a:extLst>
                  <a:ext uri="{FF2B5EF4-FFF2-40B4-BE49-F238E27FC236}">
                    <a16:creationId xmlns:a16="http://schemas.microsoft.com/office/drawing/2014/main" id="{9CDCE2E6-6ED6-4F55-80C7-409F335320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320" name="Group 1014">
                <a:extLst>
                  <a:ext uri="{FF2B5EF4-FFF2-40B4-BE49-F238E27FC236}">
                    <a16:creationId xmlns:a16="http://schemas.microsoft.com/office/drawing/2014/main" id="{D8584E0A-0699-436E-8087-7170413FFB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323" name="Freeform 1015">
                  <a:extLst>
                    <a:ext uri="{FF2B5EF4-FFF2-40B4-BE49-F238E27FC236}">
                      <a16:creationId xmlns:a16="http://schemas.microsoft.com/office/drawing/2014/main" id="{85726B5C-5E1F-45E5-8D73-603E6F5DCDB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324" name="Freeform 1016">
                  <a:extLst>
                    <a:ext uri="{FF2B5EF4-FFF2-40B4-BE49-F238E27FC236}">
                      <a16:creationId xmlns:a16="http://schemas.microsoft.com/office/drawing/2014/main" id="{21025C23-8ED1-4ED0-B9C2-00BB3F1DA9F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321" name="Line 1017">
                <a:extLst>
                  <a:ext uri="{FF2B5EF4-FFF2-40B4-BE49-F238E27FC236}">
                    <a16:creationId xmlns:a16="http://schemas.microsoft.com/office/drawing/2014/main" id="{B01EAC6D-79E2-4F35-B152-8DD73019D9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322" name="Line 1018">
                <a:extLst>
                  <a:ext uri="{FF2B5EF4-FFF2-40B4-BE49-F238E27FC236}">
                    <a16:creationId xmlns:a16="http://schemas.microsoft.com/office/drawing/2014/main" id="{C60CD37E-4088-4148-BE9D-7073C4093B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14" name="Group 1019">
              <a:extLst>
                <a:ext uri="{FF2B5EF4-FFF2-40B4-BE49-F238E27FC236}">
                  <a16:creationId xmlns:a16="http://schemas.microsoft.com/office/drawing/2014/main" id="{C75ADD7E-E424-4F11-AFBB-9B7BF584A53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4" y="1737"/>
              <a:ext cx="246" cy="110"/>
              <a:chOff x="4334" y="1470"/>
              <a:chExt cx="246" cy="107"/>
            </a:xfrm>
          </p:grpSpPr>
          <p:sp>
            <p:nvSpPr>
              <p:cNvPr id="36309" name="Oval 407">
                <a:extLst>
                  <a:ext uri="{FF2B5EF4-FFF2-40B4-BE49-F238E27FC236}">
                    <a16:creationId xmlns:a16="http://schemas.microsoft.com/office/drawing/2014/main" id="{1D5BF84E-78AD-4CDC-AF1C-051B4DF793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310" name="Rectangle 410">
                <a:extLst>
                  <a:ext uri="{FF2B5EF4-FFF2-40B4-BE49-F238E27FC236}">
                    <a16:creationId xmlns:a16="http://schemas.microsoft.com/office/drawing/2014/main" id="{3EAA8314-4784-4F99-A609-496BAA46F6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311" name="Oval 411">
                <a:extLst>
                  <a:ext uri="{FF2B5EF4-FFF2-40B4-BE49-F238E27FC236}">
                    <a16:creationId xmlns:a16="http://schemas.microsoft.com/office/drawing/2014/main" id="{D8803148-B5A0-4DAA-AC37-C71EFCBCCA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312" name="Group 1023">
                <a:extLst>
                  <a:ext uri="{FF2B5EF4-FFF2-40B4-BE49-F238E27FC236}">
                    <a16:creationId xmlns:a16="http://schemas.microsoft.com/office/drawing/2014/main" id="{739E8170-6AF1-40E9-820A-408B868042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315" name="Freeform 1024">
                  <a:extLst>
                    <a:ext uri="{FF2B5EF4-FFF2-40B4-BE49-F238E27FC236}">
                      <a16:creationId xmlns:a16="http://schemas.microsoft.com/office/drawing/2014/main" id="{7667E791-D965-4DF1-8689-619475EED35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316" name="Freeform 1025">
                  <a:extLst>
                    <a:ext uri="{FF2B5EF4-FFF2-40B4-BE49-F238E27FC236}">
                      <a16:creationId xmlns:a16="http://schemas.microsoft.com/office/drawing/2014/main" id="{647223FE-1C21-41B8-BA31-8FFEF55029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313" name="Line 1026">
                <a:extLst>
                  <a:ext uri="{FF2B5EF4-FFF2-40B4-BE49-F238E27FC236}">
                    <a16:creationId xmlns:a16="http://schemas.microsoft.com/office/drawing/2014/main" id="{98C86D3E-C886-41F4-87E6-A9D669520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314" name="Line 1027">
                <a:extLst>
                  <a:ext uri="{FF2B5EF4-FFF2-40B4-BE49-F238E27FC236}">
                    <a16:creationId xmlns:a16="http://schemas.microsoft.com/office/drawing/2014/main" id="{FD8BC0A0-174B-428C-AD68-7DF80B08C0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15" name="Group 1028">
              <a:extLst>
                <a:ext uri="{FF2B5EF4-FFF2-40B4-BE49-F238E27FC236}">
                  <a16:creationId xmlns:a16="http://schemas.microsoft.com/office/drawing/2014/main" id="{B2938B94-3AB7-41B0-9BBC-18AF3F63C3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90" y="1738"/>
              <a:ext cx="246" cy="110"/>
              <a:chOff x="4334" y="1470"/>
              <a:chExt cx="246" cy="107"/>
            </a:xfrm>
          </p:grpSpPr>
          <p:sp>
            <p:nvSpPr>
              <p:cNvPr id="36301" name="Oval 407">
                <a:extLst>
                  <a:ext uri="{FF2B5EF4-FFF2-40B4-BE49-F238E27FC236}">
                    <a16:creationId xmlns:a16="http://schemas.microsoft.com/office/drawing/2014/main" id="{4BB0FC74-493A-48A2-B225-4549C381B4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302" name="Rectangle 410">
                <a:extLst>
                  <a:ext uri="{FF2B5EF4-FFF2-40B4-BE49-F238E27FC236}">
                    <a16:creationId xmlns:a16="http://schemas.microsoft.com/office/drawing/2014/main" id="{23418549-9B67-45CC-853B-C145C7A714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303" name="Oval 411">
                <a:extLst>
                  <a:ext uri="{FF2B5EF4-FFF2-40B4-BE49-F238E27FC236}">
                    <a16:creationId xmlns:a16="http://schemas.microsoft.com/office/drawing/2014/main" id="{E19D434C-7F96-451E-B2D0-0E72606900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304" name="Group 1032">
                <a:extLst>
                  <a:ext uri="{FF2B5EF4-FFF2-40B4-BE49-F238E27FC236}">
                    <a16:creationId xmlns:a16="http://schemas.microsoft.com/office/drawing/2014/main" id="{184128CD-F351-4599-9585-BB25235968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307" name="Freeform 1033">
                  <a:extLst>
                    <a:ext uri="{FF2B5EF4-FFF2-40B4-BE49-F238E27FC236}">
                      <a16:creationId xmlns:a16="http://schemas.microsoft.com/office/drawing/2014/main" id="{62C4C8EE-C959-4570-AE26-300DBE8808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308" name="Freeform 1034">
                  <a:extLst>
                    <a:ext uri="{FF2B5EF4-FFF2-40B4-BE49-F238E27FC236}">
                      <a16:creationId xmlns:a16="http://schemas.microsoft.com/office/drawing/2014/main" id="{531B0AF0-5A68-42FE-95EC-F1D8B862DA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305" name="Line 1035">
                <a:extLst>
                  <a:ext uri="{FF2B5EF4-FFF2-40B4-BE49-F238E27FC236}">
                    <a16:creationId xmlns:a16="http://schemas.microsoft.com/office/drawing/2014/main" id="{7D7C0B58-295D-4FBC-861A-5BDD3391DB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306" name="Line 1036">
                <a:extLst>
                  <a:ext uri="{FF2B5EF4-FFF2-40B4-BE49-F238E27FC236}">
                    <a16:creationId xmlns:a16="http://schemas.microsoft.com/office/drawing/2014/main" id="{98D5C879-B861-47BE-ADD0-C959F4B1DF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16" name="Group 1037">
              <a:extLst>
                <a:ext uri="{FF2B5EF4-FFF2-40B4-BE49-F238E27FC236}">
                  <a16:creationId xmlns:a16="http://schemas.microsoft.com/office/drawing/2014/main" id="{F56A4294-C356-4F01-822C-D9D4793AE9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44" y="1508"/>
              <a:ext cx="246" cy="110"/>
              <a:chOff x="4334" y="1470"/>
              <a:chExt cx="246" cy="107"/>
            </a:xfrm>
          </p:grpSpPr>
          <p:sp>
            <p:nvSpPr>
              <p:cNvPr id="36293" name="Oval 407">
                <a:extLst>
                  <a:ext uri="{FF2B5EF4-FFF2-40B4-BE49-F238E27FC236}">
                    <a16:creationId xmlns:a16="http://schemas.microsoft.com/office/drawing/2014/main" id="{0FE7B84B-2C43-4F7D-8A6A-FCE8E76078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94" name="Rectangle 410">
                <a:extLst>
                  <a:ext uri="{FF2B5EF4-FFF2-40B4-BE49-F238E27FC236}">
                    <a16:creationId xmlns:a16="http://schemas.microsoft.com/office/drawing/2014/main" id="{EE3652C9-2A1F-4270-8DF8-51C7A986B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95" name="Oval 411">
                <a:extLst>
                  <a:ext uri="{FF2B5EF4-FFF2-40B4-BE49-F238E27FC236}">
                    <a16:creationId xmlns:a16="http://schemas.microsoft.com/office/drawing/2014/main" id="{E6D0E8BB-77C9-4B32-90C5-B1824917A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296" name="Group 1041">
                <a:extLst>
                  <a:ext uri="{FF2B5EF4-FFF2-40B4-BE49-F238E27FC236}">
                    <a16:creationId xmlns:a16="http://schemas.microsoft.com/office/drawing/2014/main" id="{19194D87-0B92-4850-AC16-CEA99B76748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299" name="Freeform 1042">
                  <a:extLst>
                    <a:ext uri="{FF2B5EF4-FFF2-40B4-BE49-F238E27FC236}">
                      <a16:creationId xmlns:a16="http://schemas.microsoft.com/office/drawing/2014/main" id="{381F11C9-0786-47BA-88E3-23BD55ECFF7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300" name="Freeform 1043">
                  <a:extLst>
                    <a:ext uri="{FF2B5EF4-FFF2-40B4-BE49-F238E27FC236}">
                      <a16:creationId xmlns:a16="http://schemas.microsoft.com/office/drawing/2014/main" id="{E3EF7192-0FE9-4536-9CC3-5CDEE7AFB7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297" name="Line 1044">
                <a:extLst>
                  <a:ext uri="{FF2B5EF4-FFF2-40B4-BE49-F238E27FC236}">
                    <a16:creationId xmlns:a16="http://schemas.microsoft.com/office/drawing/2014/main" id="{5BF0C282-A3A5-4CCF-8503-14C607C3C5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98" name="Line 1045">
                <a:extLst>
                  <a:ext uri="{FF2B5EF4-FFF2-40B4-BE49-F238E27FC236}">
                    <a16:creationId xmlns:a16="http://schemas.microsoft.com/office/drawing/2014/main" id="{40233293-CBC2-4AC3-A924-8993AF3171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17" name="Group 1046">
              <a:extLst>
                <a:ext uri="{FF2B5EF4-FFF2-40B4-BE49-F238E27FC236}">
                  <a16:creationId xmlns:a16="http://schemas.microsoft.com/office/drawing/2014/main" id="{DEE2E4C6-AFBF-497F-A53E-5D45F4636F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74" y="2296"/>
              <a:ext cx="310" cy="130"/>
              <a:chOff x="4334" y="1470"/>
              <a:chExt cx="246" cy="107"/>
            </a:xfrm>
          </p:grpSpPr>
          <p:sp>
            <p:nvSpPr>
              <p:cNvPr id="36285" name="Oval 407">
                <a:extLst>
                  <a:ext uri="{FF2B5EF4-FFF2-40B4-BE49-F238E27FC236}">
                    <a16:creationId xmlns:a16="http://schemas.microsoft.com/office/drawing/2014/main" id="{7EC7D952-F357-47C1-83B0-589596D87A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86" name="Rectangle 410">
                <a:extLst>
                  <a:ext uri="{FF2B5EF4-FFF2-40B4-BE49-F238E27FC236}">
                    <a16:creationId xmlns:a16="http://schemas.microsoft.com/office/drawing/2014/main" id="{37953CFE-0117-4D98-8961-0E3871458F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87" name="Oval 411">
                <a:extLst>
                  <a:ext uri="{FF2B5EF4-FFF2-40B4-BE49-F238E27FC236}">
                    <a16:creationId xmlns:a16="http://schemas.microsoft.com/office/drawing/2014/main" id="{EF8E25D0-AC6E-4BCC-A31B-7510D319B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288" name="Group 1050">
                <a:extLst>
                  <a:ext uri="{FF2B5EF4-FFF2-40B4-BE49-F238E27FC236}">
                    <a16:creationId xmlns:a16="http://schemas.microsoft.com/office/drawing/2014/main" id="{FDA42018-5911-4E55-B42B-9CF68245D2F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291" name="Freeform 1051">
                  <a:extLst>
                    <a:ext uri="{FF2B5EF4-FFF2-40B4-BE49-F238E27FC236}">
                      <a16:creationId xmlns:a16="http://schemas.microsoft.com/office/drawing/2014/main" id="{6E3B2AAC-861B-48D0-9023-E2FE4191E1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92" name="Freeform 1052">
                  <a:extLst>
                    <a:ext uri="{FF2B5EF4-FFF2-40B4-BE49-F238E27FC236}">
                      <a16:creationId xmlns:a16="http://schemas.microsoft.com/office/drawing/2014/main" id="{69BED2B3-35B7-47D2-B468-CD262E5637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289" name="Line 1053">
                <a:extLst>
                  <a:ext uri="{FF2B5EF4-FFF2-40B4-BE49-F238E27FC236}">
                    <a16:creationId xmlns:a16="http://schemas.microsoft.com/office/drawing/2014/main" id="{0AA520B2-7EAF-4319-B4C6-212C5CB177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90" name="Line 1054">
                <a:extLst>
                  <a:ext uri="{FF2B5EF4-FFF2-40B4-BE49-F238E27FC236}">
                    <a16:creationId xmlns:a16="http://schemas.microsoft.com/office/drawing/2014/main" id="{5177197E-F6E4-4C28-BC31-B2BC4B1D4B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18" name="Line 1055">
              <a:extLst>
                <a:ext uri="{FF2B5EF4-FFF2-40B4-BE49-F238E27FC236}">
                  <a16:creationId xmlns:a16="http://schemas.microsoft.com/office/drawing/2014/main" id="{E8753838-4CF1-4C0A-85EE-8CB0F13229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49" y="2358"/>
              <a:ext cx="42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6019" name="Group 1056">
              <a:extLst>
                <a:ext uri="{FF2B5EF4-FFF2-40B4-BE49-F238E27FC236}">
                  <a16:creationId xmlns:a16="http://schemas.microsoft.com/office/drawing/2014/main" id="{0FE240D8-54D4-4D60-9CF1-12BF582A63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4" y="2288"/>
              <a:ext cx="310" cy="130"/>
              <a:chOff x="4334" y="1470"/>
              <a:chExt cx="246" cy="107"/>
            </a:xfrm>
          </p:grpSpPr>
          <p:sp>
            <p:nvSpPr>
              <p:cNvPr id="36277" name="Oval 407">
                <a:extLst>
                  <a:ext uri="{FF2B5EF4-FFF2-40B4-BE49-F238E27FC236}">
                    <a16:creationId xmlns:a16="http://schemas.microsoft.com/office/drawing/2014/main" id="{178CC330-0BD2-47E8-886E-16B43CD67F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78" name="Rectangle 410">
                <a:extLst>
                  <a:ext uri="{FF2B5EF4-FFF2-40B4-BE49-F238E27FC236}">
                    <a16:creationId xmlns:a16="http://schemas.microsoft.com/office/drawing/2014/main" id="{1CC30F63-AB0E-48ED-AA30-436C0DC28C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79" name="Oval 411">
                <a:extLst>
                  <a:ext uri="{FF2B5EF4-FFF2-40B4-BE49-F238E27FC236}">
                    <a16:creationId xmlns:a16="http://schemas.microsoft.com/office/drawing/2014/main" id="{7B420F71-C6CA-468D-8725-2F6814839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280" name="Group 1060">
                <a:extLst>
                  <a:ext uri="{FF2B5EF4-FFF2-40B4-BE49-F238E27FC236}">
                    <a16:creationId xmlns:a16="http://schemas.microsoft.com/office/drawing/2014/main" id="{159C6CB4-F452-44E3-A685-7E53C7B45BE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283" name="Freeform 1061">
                  <a:extLst>
                    <a:ext uri="{FF2B5EF4-FFF2-40B4-BE49-F238E27FC236}">
                      <a16:creationId xmlns:a16="http://schemas.microsoft.com/office/drawing/2014/main" id="{2B9392BC-78DB-4996-AD38-6D9740AFE8E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84" name="Freeform 1062">
                  <a:extLst>
                    <a:ext uri="{FF2B5EF4-FFF2-40B4-BE49-F238E27FC236}">
                      <a16:creationId xmlns:a16="http://schemas.microsoft.com/office/drawing/2014/main" id="{8763643F-37B8-4917-9D9E-44D59DB2DE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281" name="Line 1063">
                <a:extLst>
                  <a:ext uri="{FF2B5EF4-FFF2-40B4-BE49-F238E27FC236}">
                    <a16:creationId xmlns:a16="http://schemas.microsoft.com/office/drawing/2014/main" id="{2ADB594C-D4E8-4A8B-8A68-A297CD30B5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82" name="Line 1064">
                <a:extLst>
                  <a:ext uri="{FF2B5EF4-FFF2-40B4-BE49-F238E27FC236}">
                    <a16:creationId xmlns:a16="http://schemas.microsoft.com/office/drawing/2014/main" id="{5366F16B-BD5F-4749-9459-A4FBF0B1FC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20" name="Group 1065">
              <a:extLst>
                <a:ext uri="{FF2B5EF4-FFF2-40B4-BE49-F238E27FC236}">
                  <a16:creationId xmlns:a16="http://schemas.microsoft.com/office/drawing/2014/main" id="{71286393-445D-4622-9E39-0A3C0C0545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36269" name="Oval 407">
                <a:extLst>
                  <a:ext uri="{FF2B5EF4-FFF2-40B4-BE49-F238E27FC236}">
                    <a16:creationId xmlns:a16="http://schemas.microsoft.com/office/drawing/2014/main" id="{7B64C4F7-E9C6-4C1E-BAA4-EDCB6419BE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70" name="Rectangle 410">
                <a:extLst>
                  <a:ext uri="{FF2B5EF4-FFF2-40B4-BE49-F238E27FC236}">
                    <a16:creationId xmlns:a16="http://schemas.microsoft.com/office/drawing/2014/main" id="{6AE90283-957F-410D-9410-CB715C4C5E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71" name="Oval 411">
                <a:extLst>
                  <a:ext uri="{FF2B5EF4-FFF2-40B4-BE49-F238E27FC236}">
                    <a16:creationId xmlns:a16="http://schemas.microsoft.com/office/drawing/2014/main" id="{84FAF379-512F-462C-A82E-CE2208AB53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272" name="Group 1069">
                <a:extLst>
                  <a:ext uri="{FF2B5EF4-FFF2-40B4-BE49-F238E27FC236}">
                    <a16:creationId xmlns:a16="http://schemas.microsoft.com/office/drawing/2014/main" id="{2E41AD76-7239-4B03-BDA9-A120B64A45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275" name="Freeform 1070">
                  <a:extLst>
                    <a:ext uri="{FF2B5EF4-FFF2-40B4-BE49-F238E27FC236}">
                      <a16:creationId xmlns:a16="http://schemas.microsoft.com/office/drawing/2014/main" id="{F4F2CD1D-AA1A-4FCD-AED7-DCCCB8D636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76" name="Freeform 1071">
                  <a:extLst>
                    <a:ext uri="{FF2B5EF4-FFF2-40B4-BE49-F238E27FC236}">
                      <a16:creationId xmlns:a16="http://schemas.microsoft.com/office/drawing/2014/main" id="{16FBA054-7B2F-4C84-8D78-7D0653FE93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273" name="Line 1072">
                <a:extLst>
                  <a:ext uri="{FF2B5EF4-FFF2-40B4-BE49-F238E27FC236}">
                    <a16:creationId xmlns:a16="http://schemas.microsoft.com/office/drawing/2014/main" id="{FF78AB8C-CC6E-402B-9C3F-49EDCC36F84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74" name="Line 1073">
                <a:extLst>
                  <a:ext uri="{FF2B5EF4-FFF2-40B4-BE49-F238E27FC236}">
                    <a16:creationId xmlns:a16="http://schemas.microsoft.com/office/drawing/2014/main" id="{EC95B470-29BE-45D3-80FD-619D4546EE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21" name="Group 1074">
              <a:extLst>
                <a:ext uri="{FF2B5EF4-FFF2-40B4-BE49-F238E27FC236}">
                  <a16:creationId xmlns:a16="http://schemas.microsoft.com/office/drawing/2014/main" id="{14CA18E6-E50A-4418-8FCA-667A9E1796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82" y="3028"/>
              <a:ext cx="392" cy="154"/>
              <a:chOff x="4334" y="1470"/>
              <a:chExt cx="246" cy="107"/>
            </a:xfrm>
          </p:grpSpPr>
          <p:sp>
            <p:nvSpPr>
              <p:cNvPr id="36261" name="Oval 407">
                <a:extLst>
                  <a:ext uri="{FF2B5EF4-FFF2-40B4-BE49-F238E27FC236}">
                    <a16:creationId xmlns:a16="http://schemas.microsoft.com/office/drawing/2014/main" id="{2A90D5DF-CAE4-4E0F-9193-52FF187C65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62" name="Rectangle 410">
                <a:extLst>
                  <a:ext uri="{FF2B5EF4-FFF2-40B4-BE49-F238E27FC236}">
                    <a16:creationId xmlns:a16="http://schemas.microsoft.com/office/drawing/2014/main" id="{AA51CC52-B7C7-4086-BEC0-22682D184F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63" name="Oval 411">
                <a:extLst>
                  <a:ext uri="{FF2B5EF4-FFF2-40B4-BE49-F238E27FC236}">
                    <a16:creationId xmlns:a16="http://schemas.microsoft.com/office/drawing/2014/main" id="{3BCE877F-5E51-4D39-965C-90CB5502E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264" name="Group 1078">
                <a:extLst>
                  <a:ext uri="{FF2B5EF4-FFF2-40B4-BE49-F238E27FC236}">
                    <a16:creationId xmlns:a16="http://schemas.microsoft.com/office/drawing/2014/main" id="{DD3FEB58-E411-4542-8956-59EE760CE3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267" name="Freeform 1079">
                  <a:extLst>
                    <a:ext uri="{FF2B5EF4-FFF2-40B4-BE49-F238E27FC236}">
                      <a16:creationId xmlns:a16="http://schemas.microsoft.com/office/drawing/2014/main" id="{B6C68DFC-22DE-486B-B2F0-CC089700B6A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68" name="Freeform 1080">
                  <a:extLst>
                    <a:ext uri="{FF2B5EF4-FFF2-40B4-BE49-F238E27FC236}">
                      <a16:creationId xmlns:a16="http://schemas.microsoft.com/office/drawing/2014/main" id="{518CA5DF-88E0-4213-BF2B-E60C6FF49F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265" name="Line 1081">
                <a:extLst>
                  <a:ext uri="{FF2B5EF4-FFF2-40B4-BE49-F238E27FC236}">
                    <a16:creationId xmlns:a16="http://schemas.microsoft.com/office/drawing/2014/main" id="{F511BDC4-623A-4480-A357-E87F48C8D30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66" name="Line 1082">
                <a:extLst>
                  <a:ext uri="{FF2B5EF4-FFF2-40B4-BE49-F238E27FC236}">
                    <a16:creationId xmlns:a16="http://schemas.microsoft.com/office/drawing/2014/main" id="{95C7841E-62C9-4753-A958-6C6A7239F8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22" name="Group 1083">
              <a:extLst>
                <a:ext uri="{FF2B5EF4-FFF2-40B4-BE49-F238E27FC236}">
                  <a16:creationId xmlns:a16="http://schemas.microsoft.com/office/drawing/2014/main" id="{F81DC8B9-D75E-4C1F-B8C8-3157266122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8" y="2840"/>
              <a:ext cx="392" cy="154"/>
              <a:chOff x="4334" y="1470"/>
              <a:chExt cx="246" cy="107"/>
            </a:xfrm>
          </p:grpSpPr>
          <p:sp>
            <p:nvSpPr>
              <p:cNvPr id="36253" name="Oval 407">
                <a:extLst>
                  <a:ext uri="{FF2B5EF4-FFF2-40B4-BE49-F238E27FC236}">
                    <a16:creationId xmlns:a16="http://schemas.microsoft.com/office/drawing/2014/main" id="{4577D12E-21BB-4EBC-A1DB-AA8CB36D23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54" name="Rectangle 410">
                <a:extLst>
                  <a:ext uri="{FF2B5EF4-FFF2-40B4-BE49-F238E27FC236}">
                    <a16:creationId xmlns:a16="http://schemas.microsoft.com/office/drawing/2014/main" id="{BD10E6BA-4595-4082-BAB3-6F5E374FD7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55" name="Oval 411">
                <a:extLst>
                  <a:ext uri="{FF2B5EF4-FFF2-40B4-BE49-F238E27FC236}">
                    <a16:creationId xmlns:a16="http://schemas.microsoft.com/office/drawing/2014/main" id="{CA3B49C3-F1EB-4348-B229-64A5AADF6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256" name="Group 1087">
                <a:extLst>
                  <a:ext uri="{FF2B5EF4-FFF2-40B4-BE49-F238E27FC236}">
                    <a16:creationId xmlns:a16="http://schemas.microsoft.com/office/drawing/2014/main" id="{89DABFB5-6C71-4B92-9057-B631293C2C4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259" name="Freeform 1088">
                  <a:extLst>
                    <a:ext uri="{FF2B5EF4-FFF2-40B4-BE49-F238E27FC236}">
                      <a16:creationId xmlns:a16="http://schemas.microsoft.com/office/drawing/2014/main" id="{A23076CF-DA0E-4F83-8F0F-91A75CC391A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60" name="Freeform 1089">
                  <a:extLst>
                    <a:ext uri="{FF2B5EF4-FFF2-40B4-BE49-F238E27FC236}">
                      <a16:creationId xmlns:a16="http://schemas.microsoft.com/office/drawing/2014/main" id="{834CD368-20BF-4E62-A6E0-A6219B8F35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257" name="Line 1090">
                <a:extLst>
                  <a:ext uri="{FF2B5EF4-FFF2-40B4-BE49-F238E27FC236}">
                    <a16:creationId xmlns:a16="http://schemas.microsoft.com/office/drawing/2014/main" id="{E15FFC0C-1E06-4928-B8E1-618EA2AA17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58" name="Line 1091">
                <a:extLst>
                  <a:ext uri="{FF2B5EF4-FFF2-40B4-BE49-F238E27FC236}">
                    <a16:creationId xmlns:a16="http://schemas.microsoft.com/office/drawing/2014/main" id="{F46EF8F3-198D-4ED6-96B2-8FA34F08A0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23" name="Group 1092">
              <a:extLst>
                <a:ext uri="{FF2B5EF4-FFF2-40B4-BE49-F238E27FC236}">
                  <a16:creationId xmlns:a16="http://schemas.microsoft.com/office/drawing/2014/main" id="{52FB7863-78C2-4B74-8739-5C79C326D5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" y="3056"/>
              <a:ext cx="392" cy="154"/>
              <a:chOff x="4334" y="1470"/>
              <a:chExt cx="246" cy="107"/>
            </a:xfrm>
          </p:grpSpPr>
          <p:sp>
            <p:nvSpPr>
              <p:cNvPr id="36245" name="Oval 407">
                <a:extLst>
                  <a:ext uri="{FF2B5EF4-FFF2-40B4-BE49-F238E27FC236}">
                    <a16:creationId xmlns:a16="http://schemas.microsoft.com/office/drawing/2014/main" id="{C8975FB1-107F-44F8-9E49-64844C0E6A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46" name="Rectangle 410">
                <a:extLst>
                  <a:ext uri="{FF2B5EF4-FFF2-40B4-BE49-F238E27FC236}">
                    <a16:creationId xmlns:a16="http://schemas.microsoft.com/office/drawing/2014/main" id="{0E2B7F29-F1AF-4268-B2D9-5903A09E72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47" name="Oval 411">
                <a:extLst>
                  <a:ext uri="{FF2B5EF4-FFF2-40B4-BE49-F238E27FC236}">
                    <a16:creationId xmlns:a16="http://schemas.microsoft.com/office/drawing/2014/main" id="{C7161958-A0D3-424E-8C57-16C7DD13C6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248" name="Group 1096">
                <a:extLst>
                  <a:ext uri="{FF2B5EF4-FFF2-40B4-BE49-F238E27FC236}">
                    <a16:creationId xmlns:a16="http://schemas.microsoft.com/office/drawing/2014/main" id="{FDFC2EB5-9652-4925-8FE3-E396E23290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251" name="Freeform 1097">
                  <a:extLst>
                    <a:ext uri="{FF2B5EF4-FFF2-40B4-BE49-F238E27FC236}">
                      <a16:creationId xmlns:a16="http://schemas.microsoft.com/office/drawing/2014/main" id="{2D42CCF6-17DB-4AFB-8B1D-F342CDEBEA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52" name="Freeform 1098">
                  <a:extLst>
                    <a:ext uri="{FF2B5EF4-FFF2-40B4-BE49-F238E27FC236}">
                      <a16:creationId xmlns:a16="http://schemas.microsoft.com/office/drawing/2014/main" id="{9AA32B8D-21D3-492C-BD00-C794AE543AF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249" name="Line 1099">
                <a:extLst>
                  <a:ext uri="{FF2B5EF4-FFF2-40B4-BE49-F238E27FC236}">
                    <a16:creationId xmlns:a16="http://schemas.microsoft.com/office/drawing/2014/main" id="{72DAFB76-8F17-4064-A834-03879E7C2B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50" name="Line 1100">
                <a:extLst>
                  <a:ext uri="{FF2B5EF4-FFF2-40B4-BE49-F238E27FC236}">
                    <a16:creationId xmlns:a16="http://schemas.microsoft.com/office/drawing/2014/main" id="{6544DF77-4A2E-4683-840E-50CC80C230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24" name="Group 1101">
              <a:extLst>
                <a:ext uri="{FF2B5EF4-FFF2-40B4-BE49-F238E27FC236}">
                  <a16:creationId xmlns:a16="http://schemas.microsoft.com/office/drawing/2014/main" id="{7E4D8A1C-BE3E-4611-8378-D92DBB1C92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12" y="2296"/>
              <a:ext cx="246" cy="108"/>
              <a:chOff x="4334" y="1470"/>
              <a:chExt cx="246" cy="107"/>
            </a:xfrm>
          </p:grpSpPr>
          <p:sp>
            <p:nvSpPr>
              <p:cNvPr id="36237" name="Oval 407">
                <a:extLst>
                  <a:ext uri="{FF2B5EF4-FFF2-40B4-BE49-F238E27FC236}">
                    <a16:creationId xmlns:a16="http://schemas.microsoft.com/office/drawing/2014/main" id="{20195D9D-26AA-48E1-9FA3-9C367BF66F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38" name="Rectangle 410">
                <a:extLst>
                  <a:ext uri="{FF2B5EF4-FFF2-40B4-BE49-F238E27FC236}">
                    <a16:creationId xmlns:a16="http://schemas.microsoft.com/office/drawing/2014/main" id="{22CE58F3-AFAA-4217-B7C5-41ACB522AD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239" name="Oval 411">
                <a:extLst>
                  <a:ext uri="{FF2B5EF4-FFF2-40B4-BE49-F238E27FC236}">
                    <a16:creationId xmlns:a16="http://schemas.microsoft.com/office/drawing/2014/main" id="{F9AE9C86-20A1-47B7-A854-5123CEF9F7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6240" name="Group 1105">
                <a:extLst>
                  <a:ext uri="{FF2B5EF4-FFF2-40B4-BE49-F238E27FC236}">
                    <a16:creationId xmlns:a16="http://schemas.microsoft.com/office/drawing/2014/main" id="{50E5BD00-A23F-4FB2-AF60-1EFA831C167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36243" name="Freeform 1106">
                  <a:extLst>
                    <a:ext uri="{FF2B5EF4-FFF2-40B4-BE49-F238E27FC236}">
                      <a16:creationId xmlns:a16="http://schemas.microsoft.com/office/drawing/2014/main" id="{D2229440-0DA6-4CC4-9879-3F2FDD5D04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44" name="Freeform 1107">
                  <a:extLst>
                    <a:ext uri="{FF2B5EF4-FFF2-40B4-BE49-F238E27FC236}">
                      <a16:creationId xmlns:a16="http://schemas.microsoft.com/office/drawing/2014/main" id="{B6631962-060E-40D3-81AB-555A332E48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241" name="Line 1108">
                <a:extLst>
                  <a:ext uri="{FF2B5EF4-FFF2-40B4-BE49-F238E27FC236}">
                    <a16:creationId xmlns:a16="http://schemas.microsoft.com/office/drawing/2014/main" id="{97190117-2824-4D68-83CC-C9A3069AA1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51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42" name="Line 1109">
                <a:extLst>
                  <a:ext uri="{FF2B5EF4-FFF2-40B4-BE49-F238E27FC236}">
                    <a16:creationId xmlns:a16="http://schemas.microsoft.com/office/drawing/2014/main" id="{8998CB65-7CFE-4CF9-A4CD-3935A9503F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5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25" name="Group 1110">
              <a:extLst>
                <a:ext uri="{FF2B5EF4-FFF2-40B4-BE49-F238E27FC236}">
                  <a16:creationId xmlns:a16="http://schemas.microsoft.com/office/drawing/2014/main" id="{BAE33216-3079-433E-BF20-67257D26C74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11" y="3153"/>
              <a:ext cx="281" cy="266"/>
              <a:chOff x="5072" y="3611"/>
              <a:chExt cx="459" cy="380"/>
            </a:xfrm>
          </p:grpSpPr>
          <p:grpSp>
            <p:nvGrpSpPr>
              <p:cNvPr id="36223" name="Group 1111">
                <a:extLst>
                  <a:ext uri="{FF2B5EF4-FFF2-40B4-BE49-F238E27FC236}">
                    <a16:creationId xmlns:a16="http://schemas.microsoft.com/office/drawing/2014/main" id="{6B9AB172-6AB2-4D60-888C-6ED76D990A1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36225" name="Freeform 1112">
                  <a:extLst>
                    <a:ext uri="{FF2B5EF4-FFF2-40B4-BE49-F238E27FC236}">
                      <a16:creationId xmlns:a16="http://schemas.microsoft.com/office/drawing/2014/main" id="{3DF4C35C-CD3B-41C5-8E7E-AFFF55239A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26" name="Freeform 1113">
                  <a:extLst>
                    <a:ext uri="{FF2B5EF4-FFF2-40B4-BE49-F238E27FC236}">
                      <a16:creationId xmlns:a16="http://schemas.microsoft.com/office/drawing/2014/main" id="{E3D80BAB-AFE6-4580-A4F9-3815192D40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27" name="Freeform 1114">
                  <a:extLst>
                    <a:ext uri="{FF2B5EF4-FFF2-40B4-BE49-F238E27FC236}">
                      <a16:creationId xmlns:a16="http://schemas.microsoft.com/office/drawing/2014/main" id="{9E89BCFD-A286-4E58-8E22-007B0E7CEC8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28" name="Freeform 1115">
                  <a:extLst>
                    <a:ext uri="{FF2B5EF4-FFF2-40B4-BE49-F238E27FC236}">
                      <a16:creationId xmlns:a16="http://schemas.microsoft.com/office/drawing/2014/main" id="{3B50163D-D8F2-4F20-B550-47B67050C19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29" name="Freeform 1116">
                  <a:extLst>
                    <a:ext uri="{FF2B5EF4-FFF2-40B4-BE49-F238E27FC236}">
                      <a16:creationId xmlns:a16="http://schemas.microsoft.com/office/drawing/2014/main" id="{48D2E743-67A1-4D7F-8FA0-11AB97C8F3D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30" name="Freeform 1117">
                  <a:extLst>
                    <a:ext uri="{FF2B5EF4-FFF2-40B4-BE49-F238E27FC236}">
                      <a16:creationId xmlns:a16="http://schemas.microsoft.com/office/drawing/2014/main" id="{A03CD1A8-2982-40BC-95F9-2B4248ABD1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31" name="Freeform 1118">
                  <a:extLst>
                    <a:ext uri="{FF2B5EF4-FFF2-40B4-BE49-F238E27FC236}">
                      <a16:creationId xmlns:a16="http://schemas.microsoft.com/office/drawing/2014/main" id="{04159959-D4A3-479F-8376-1CB7B6C44E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32" name="Freeform 1119">
                  <a:extLst>
                    <a:ext uri="{FF2B5EF4-FFF2-40B4-BE49-F238E27FC236}">
                      <a16:creationId xmlns:a16="http://schemas.microsoft.com/office/drawing/2014/main" id="{F66BCB52-6CBA-46AE-8DF2-7F7AF810AF2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33" name="Freeform 1120">
                  <a:extLst>
                    <a:ext uri="{FF2B5EF4-FFF2-40B4-BE49-F238E27FC236}">
                      <a16:creationId xmlns:a16="http://schemas.microsoft.com/office/drawing/2014/main" id="{47E6ACB4-B863-4189-A0BB-ACCC05CDCEB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34" name="Freeform 1121">
                  <a:extLst>
                    <a:ext uri="{FF2B5EF4-FFF2-40B4-BE49-F238E27FC236}">
                      <a16:creationId xmlns:a16="http://schemas.microsoft.com/office/drawing/2014/main" id="{A9E65DEE-ABA9-460C-AEC2-5958241B9D6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35" name="Freeform 1122">
                  <a:extLst>
                    <a:ext uri="{FF2B5EF4-FFF2-40B4-BE49-F238E27FC236}">
                      <a16:creationId xmlns:a16="http://schemas.microsoft.com/office/drawing/2014/main" id="{DA93E891-8543-48FE-907A-34FF503B757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36" name="Freeform 1123">
                  <a:extLst>
                    <a:ext uri="{FF2B5EF4-FFF2-40B4-BE49-F238E27FC236}">
                      <a16:creationId xmlns:a16="http://schemas.microsoft.com/office/drawing/2014/main" id="{5B1CCABA-DD1A-4EF1-96F6-D0D3C670FA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36224" name="Picture 1124" descr="access_point_stylized_gray_small">
                <a:extLst>
                  <a:ext uri="{FF2B5EF4-FFF2-40B4-BE49-F238E27FC236}">
                    <a16:creationId xmlns:a16="http://schemas.microsoft.com/office/drawing/2014/main" id="{840C4B69-6F3F-4690-9F4E-A17984274E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6026" name="Group 1125">
              <a:extLst>
                <a:ext uri="{FF2B5EF4-FFF2-40B4-BE49-F238E27FC236}">
                  <a16:creationId xmlns:a16="http://schemas.microsoft.com/office/drawing/2014/main" id="{DEE50E78-3D83-4C5F-B72F-B6BCB2A6E7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52" y="2211"/>
              <a:ext cx="251" cy="226"/>
              <a:chOff x="5072" y="3611"/>
              <a:chExt cx="459" cy="380"/>
            </a:xfrm>
          </p:grpSpPr>
          <p:grpSp>
            <p:nvGrpSpPr>
              <p:cNvPr id="36209" name="Group 1126">
                <a:extLst>
                  <a:ext uri="{FF2B5EF4-FFF2-40B4-BE49-F238E27FC236}">
                    <a16:creationId xmlns:a16="http://schemas.microsoft.com/office/drawing/2014/main" id="{A6DF98D6-6C9A-4C3B-AF4B-1C8306568C0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" y="3611"/>
                <a:ext cx="387" cy="99"/>
                <a:chOff x="5030" y="2639"/>
                <a:chExt cx="387" cy="99"/>
              </a:xfrm>
            </p:grpSpPr>
            <p:sp>
              <p:nvSpPr>
                <p:cNvPr id="36211" name="Freeform 1127">
                  <a:extLst>
                    <a:ext uri="{FF2B5EF4-FFF2-40B4-BE49-F238E27FC236}">
                      <a16:creationId xmlns:a16="http://schemas.microsoft.com/office/drawing/2014/main" id="{79492C1C-6E04-4C3B-AC98-2354965456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34" y="2657"/>
                  <a:ext cx="69" cy="55"/>
                </a:xfrm>
                <a:custGeom>
                  <a:avLst/>
                  <a:gdLst>
                    <a:gd name="T0" fmla="*/ 0 w 199"/>
                    <a:gd name="T1" fmla="*/ 0 h 232"/>
                    <a:gd name="T2" fmla="*/ 0 w 199"/>
                    <a:gd name="T3" fmla="*/ 0 h 232"/>
                    <a:gd name="T4" fmla="*/ 0 w 199"/>
                    <a:gd name="T5" fmla="*/ 0 h 232"/>
                    <a:gd name="T6" fmla="*/ 0 w 199"/>
                    <a:gd name="T7" fmla="*/ 0 h 232"/>
                    <a:gd name="T8" fmla="*/ 0 w 199"/>
                    <a:gd name="T9" fmla="*/ 0 h 232"/>
                    <a:gd name="T10" fmla="*/ 0 w 199"/>
                    <a:gd name="T11" fmla="*/ 0 h 232"/>
                    <a:gd name="T12" fmla="*/ 0 w 199"/>
                    <a:gd name="T13" fmla="*/ 0 h 232"/>
                    <a:gd name="T14" fmla="*/ 0 w 199"/>
                    <a:gd name="T15" fmla="*/ 0 h 232"/>
                    <a:gd name="T16" fmla="*/ 0 w 199"/>
                    <a:gd name="T17" fmla="*/ 0 h 232"/>
                    <a:gd name="T18" fmla="*/ 0 w 199"/>
                    <a:gd name="T19" fmla="*/ 0 h 232"/>
                    <a:gd name="T20" fmla="*/ 0 w 199"/>
                    <a:gd name="T21" fmla="*/ 0 h 232"/>
                    <a:gd name="T22" fmla="*/ 0 w 199"/>
                    <a:gd name="T23" fmla="*/ 0 h 232"/>
                    <a:gd name="T24" fmla="*/ 0 w 199"/>
                    <a:gd name="T25" fmla="*/ 0 h 232"/>
                    <a:gd name="T26" fmla="*/ 0 w 199"/>
                    <a:gd name="T27" fmla="*/ 0 h 232"/>
                    <a:gd name="T28" fmla="*/ 0 w 199"/>
                    <a:gd name="T29" fmla="*/ 0 h 232"/>
                    <a:gd name="T30" fmla="*/ 0 w 199"/>
                    <a:gd name="T31" fmla="*/ 0 h 232"/>
                    <a:gd name="T32" fmla="*/ 0 w 199"/>
                    <a:gd name="T33" fmla="*/ 0 h 232"/>
                    <a:gd name="T34" fmla="*/ 0 w 199"/>
                    <a:gd name="T35" fmla="*/ 0 h 232"/>
                    <a:gd name="T36" fmla="*/ 0 w 199"/>
                    <a:gd name="T37" fmla="*/ 0 h 232"/>
                    <a:gd name="T38" fmla="*/ 0 w 199"/>
                    <a:gd name="T39" fmla="*/ 0 h 232"/>
                    <a:gd name="T40" fmla="*/ 0 w 199"/>
                    <a:gd name="T41" fmla="*/ 0 h 232"/>
                    <a:gd name="T42" fmla="*/ 0 w 199"/>
                    <a:gd name="T43" fmla="*/ 0 h 232"/>
                    <a:gd name="T44" fmla="*/ 0 w 199"/>
                    <a:gd name="T45" fmla="*/ 0 h 232"/>
                    <a:gd name="T46" fmla="*/ 0 w 199"/>
                    <a:gd name="T47" fmla="*/ 0 h 232"/>
                    <a:gd name="T48" fmla="*/ 0 w 199"/>
                    <a:gd name="T49" fmla="*/ 0 h 232"/>
                    <a:gd name="T50" fmla="*/ 0 w 199"/>
                    <a:gd name="T51" fmla="*/ 0 h 232"/>
                    <a:gd name="T52" fmla="*/ 0 w 199"/>
                    <a:gd name="T53" fmla="*/ 0 h 232"/>
                    <a:gd name="T54" fmla="*/ 0 w 199"/>
                    <a:gd name="T55" fmla="*/ 0 h 232"/>
                    <a:gd name="T56" fmla="*/ 0 w 199"/>
                    <a:gd name="T57" fmla="*/ 0 h 232"/>
                    <a:gd name="T58" fmla="*/ 0 w 199"/>
                    <a:gd name="T59" fmla="*/ 0 h 232"/>
                    <a:gd name="T60" fmla="*/ 0 w 199"/>
                    <a:gd name="T61" fmla="*/ 0 h 232"/>
                    <a:gd name="T62" fmla="*/ 0 w 199"/>
                    <a:gd name="T63" fmla="*/ 0 h 232"/>
                    <a:gd name="T64" fmla="*/ 0 w 199"/>
                    <a:gd name="T65" fmla="*/ 0 h 232"/>
                    <a:gd name="T66" fmla="*/ 0 w 199"/>
                    <a:gd name="T67" fmla="*/ 0 h 232"/>
                    <a:gd name="T68" fmla="*/ 0 w 199"/>
                    <a:gd name="T69" fmla="*/ 0 h 232"/>
                    <a:gd name="T70" fmla="*/ 0 w 199"/>
                    <a:gd name="T71" fmla="*/ 0 h 232"/>
                    <a:gd name="T72" fmla="*/ 0 w 199"/>
                    <a:gd name="T73" fmla="*/ 0 h 232"/>
                    <a:gd name="T74" fmla="*/ 0 w 199"/>
                    <a:gd name="T75" fmla="*/ 0 h 232"/>
                    <a:gd name="T76" fmla="*/ 0 w 199"/>
                    <a:gd name="T77" fmla="*/ 0 h 232"/>
                    <a:gd name="T78" fmla="*/ 0 w 199"/>
                    <a:gd name="T79" fmla="*/ 0 h 232"/>
                    <a:gd name="T80" fmla="*/ 0 w 199"/>
                    <a:gd name="T81" fmla="*/ 0 h 232"/>
                    <a:gd name="T82" fmla="*/ 0 w 199"/>
                    <a:gd name="T83" fmla="*/ 0 h 232"/>
                    <a:gd name="T84" fmla="*/ 0 w 199"/>
                    <a:gd name="T85" fmla="*/ 0 h 232"/>
                    <a:gd name="T86" fmla="*/ 0 w 199"/>
                    <a:gd name="T87" fmla="*/ 0 h 232"/>
                    <a:gd name="T88" fmla="*/ 0 w 199"/>
                    <a:gd name="T89" fmla="*/ 0 h 232"/>
                    <a:gd name="T90" fmla="*/ 0 w 199"/>
                    <a:gd name="T91" fmla="*/ 0 h 232"/>
                    <a:gd name="T92" fmla="*/ 0 w 199"/>
                    <a:gd name="T93" fmla="*/ 0 h 232"/>
                    <a:gd name="T94" fmla="*/ 0 w 199"/>
                    <a:gd name="T95" fmla="*/ 0 h 232"/>
                    <a:gd name="T96" fmla="*/ 0 w 199"/>
                    <a:gd name="T97" fmla="*/ 0 h 232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w 199"/>
                    <a:gd name="T148" fmla="*/ 0 h 232"/>
                    <a:gd name="T149" fmla="*/ 199 w 199"/>
                    <a:gd name="T150" fmla="*/ 232 h 232"/>
                  </a:gdLst>
                  <a:ahLst/>
                  <a:cxnLst>
                    <a:cxn ang="T98">
                      <a:pos x="T0" y="T1"/>
                    </a:cxn>
                    <a:cxn ang="T99">
                      <a:pos x="T2" y="T3"/>
                    </a:cxn>
                    <a:cxn ang="T100">
                      <a:pos x="T4" y="T5"/>
                    </a:cxn>
                    <a:cxn ang="T101">
                      <a:pos x="T6" y="T7"/>
                    </a:cxn>
                    <a:cxn ang="T102">
                      <a:pos x="T8" y="T9"/>
                    </a:cxn>
                    <a:cxn ang="T103">
                      <a:pos x="T10" y="T11"/>
                    </a:cxn>
                    <a:cxn ang="T104">
                      <a:pos x="T12" y="T13"/>
                    </a:cxn>
                    <a:cxn ang="T105">
                      <a:pos x="T14" y="T15"/>
                    </a:cxn>
                    <a:cxn ang="T106">
                      <a:pos x="T16" y="T17"/>
                    </a:cxn>
                    <a:cxn ang="T107">
                      <a:pos x="T18" y="T19"/>
                    </a:cxn>
                    <a:cxn ang="T108">
                      <a:pos x="T20" y="T21"/>
                    </a:cxn>
                    <a:cxn ang="T109">
                      <a:pos x="T22" y="T23"/>
                    </a:cxn>
                    <a:cxn ang="T110">
                      <a:pos x="T24" y="T25"/>
                    </a:cxn>
                    <a:cxn ang="T111">
                      <a:pos x="T26" y="T27"/>
                    </a:cxn>
                    <a:cxn ang="T112">
                      <a:pos x="T28" y="T29"/>
                    </a:cxn>
                    <a:cxn ang="T113">
                      <a:pos x="T30" y="T31"/>
                    </a:cxn>
                    <a:cxn ang="T114">
                      <a:pos x="T32" y="T33"/>
                    </a:cxn>
                    <a:cxn ang="T115">
                      <a:pos x="T34" y="T35"/>
                    </a:cxn>
                    <a:cxn ang="T116">
                      <a:pos x="T36" y="T37"/>
                    </a:cxn>
                    <a:cxn ang="T117">
                      <a:pos x="T38" y="T39"/>
                    </a:cxn>
                    <a:cxn ang="T118">
                      <a:pos x="T40" y="T41"/>
                    </a:cxn>
                    <a:cxn ang="T119">
                      <a:pos x="T42" y="T43"/>
                    </a:cxn>
                    <a:cxn ang="T120">
                      <a:pos x="T44" y="T45"/>
                    </a:cxn>
                    <a:cxn ang="T121">
                      <a:pos x="T46" y="T47"/>
                    </a:cxn>
                    <a:cxn ang="T122">
                      <a:pos x="T48" y="T49"/>
                    </a:cxn>
                    <a:cxn ang="T123">
                      <a:pos x="T50" y="T51"/>
                    </a:cxn>
                    <a:cxn ang="T124">
                      <a:pos x="T52" y="T53"/>
                    </a:cxn>
                    <a:cxn ang="T125">
                      <a:pos x="T54" y="T55"/>
                    </a:cxn>
                    <a:cxn ang="T126">
                      <a:pos x="T56" y="T57"/>
                    </a:cxn>
                    <a:cxn ang="T127">
                      <a:pos x="T58" y="T59"/>
                    </a:cxn>
                    <a:cxn ang="T128">
                      <a:pos x="T60" y="T61"/>
                    </a:cxn>
                    <a:cxn ang="T129">
                      <a:pos x="T62" y="T63"/>
                    </a:cxn>
                    <a:cxn ang="T130">
                      <a:pos x="T64" y="T65"/>
                    </a:cxn>
                    <a:cxn ang="T131">
                      <a:pos x="T66" y="T67"/>
                    </a:cxn>
                    <a:cxn ang="T132">
                      <a:pos x="T68" y="T69"/>
                    </a:cxn>
                    <a:cxn ang="T133">
                      <a:pos x="T70" y="T71"/>
                    </a:cxn>
                    <a:cxn ang="T134">
                      <a:pos x="T72" y="T73"/>
                    </a:cxn>
                    <a:cxn ang="T135">
                      <a:pos x="T74" y="T75"/>
                    </a:cxn>
                    <a:cxn ang="T136">
                      <a:pos x="T76" y="T77"/>
                    </a:cxn>
                    <a:cxn ang="T137">
                      <a:pos x="T78" y="T79"/>
                    </a:cxn>
                    <a:cxn ang="T138">
                      <a:pos x="T80" y="T81"/>
                    </a:cxn>
                    <a:cxn ang="T139">
                      <a:pos x="T82" y="T83"/>
                    </a:cxn>
                    <a:cxn ang="T140">
                      <a:pos x="T84" y="T85"/>
                    </a:cxn>
                    <a:cxn ang="T141">
                      <a:pos x="T86" y="T87"/>
                    </a:cxn>
                    <a:cxn ang="T142">
                      <a:pos x="T88" y="T89"/>
                    </a:cxn>
                    <a:cxn ang="T143">
                      <a:pos x="T90" y="T91"/>
                    </a:cxn>
                    <a:cxn ang="T144">
                      <a:pos x="T92" y="T93"/>
                    </a:cxn>
                    <a:cxn ang="T145">
                      <a:pos x="T94" y="T95"/>
                    </a:cxn>
                    <a:cxn ang="T146">
                      <a:pos x="T96" y="T97"/>
                    </a:cxn>
                  </a:cxnLst>
                  <a:rect l="T147" t="T148" r="T149" b="T150"/>
                  <a:pathLst>
                    <a:path w="199" h="232">
                      <a:moveTo>
                        <a:pt x="70" y="29"/>
                      </a:moveTo>
                      <a:lnTo>
                        <a:pt x="55" y="39"/>
                      </a:lnTo>
                      <a:lnTo>
                        <a:pt x="42" y="50"/>
                      </a:lnTo>
                      <a:lnTo>
                        <a:pt x="30" y="63"/>
                      </a:lnTo>
                      <a:lnTo>
                        <a:pt x="20" y="77"/>
                      </a:lnTo>
                      <a:lnTo>
                        <a:pt x="12" y="91"/>
                      </a:lnTo>
                      <a:lnTo>
                        <a:pt x="6" y="108"/>
                      </a:lnTo>
                      <a:lnTo>
                        <a:pt x="2" y="125"/>
                      </a:lnTo>
                      <a:lnTo>
                        <a:pt x="0" y="142"/>
                      </a:lnTo>
                      <a:lnTo>
                        <a:pt x="2" y="166"/>
                      </a:lnTo>
                      <a:lnTo>
                        <a:pt x="12" y="186"/>
                      </a:lnTo>
                      <a:lnTo>
                        <a:pt x="26" y="203"/>
                      </a:lnTo>
                      <a:lnTo>
                        <a:pt x="45" y="216"/>
                      </a:lnTo>
                      <a:lnTo>
                        <a:pt x="66" y="226"/>
                      </a:lnTo>
                      <a:lnTo>
                        <a:pt x="88" y="230"/>
                      </a:lnTo>
                      <a:lnTo>
                        <a:pt x="111" y="232"/>
                      </a:lnTo>
                      <a:lnTo>
                        <a:pt x="134" y="228"/>
                      </a:lnTo>
                      <a:lnTo>
                        <a:pt x="138" y="228"/>
                      </a:lnTo>
                      <a:lnTo>
                        <a:pt x="143" y="226"/>
                      </a:lnTo>
                      <a:lnTo>
                        <a:pt x="147" y="222"/>
                      </a:lnTo>
                      <a:lnTo>
                        <a:pt x="148" y="218"/>
                      </a:lnTo>
                      <a:lnTo>
                        <a:pt x="145" y="212"/>
                      </a:lnTo>
                      <a:lnTo>
                        <a:pt x="141" y="207"/>
                      </a:lnTo>
                      <a:lnTo>
                        <a:pt x="135" y="203"/>
                      </a:lnTo>
                      <a:lnTo>
                        <a:pt x="129" y="201"/>
                      </a:lnTo>
                      <a:lnTo>
                        <a:pt x="117" y="197"/>
                      </a:lnTo>
                      <a:lnTo>
                        <a:pt x="105" y="195"/>
                      </a:lnTo>
                      <a:lnTo>
                        <a:pt x="94" y="193"/>
                      </a:lnTo>
                      <a:lnTo>
                        <a:pt x="83" y="190"/>
                      </a:lnTo>
                      <a:lnTo>
                        <a:pt x="73" y="187"/>
                      </a:lnTo>
                      <a:lnTo>
                        <a:pt x="62" y="182"/>
                      </a:lnTo>
                      <a:lnTo>
                        <a:pt x="53" y="176"/>
                      </a:lnTo>
                      <a:lnTo>
                        <a:pt x="43" y="167"/>
                      </a:lnTo>
                      <a:lnTo>
                        <a:pt x="40" y="128"/>
                      </a:lnTo>
                      <a:lnTo>
                        <a:pt x="49" y="96"/>
                      </a:lnTo>
                      <a:lnTo>
                        <a:pt x="68" y="71"/>
                      </a:lnTo>
                      <a:lnTo>
                        <a:pt x="94" y="50"/>
                      </a:lnTo>
                      <a:lnTo>
                        <a:pt x="122" y="34"/>
                      </a:lnTo>
                      <a:lnTo>
                        <a:pt x="151" y="21"/>
                      </a:lnTo>
                      <a:lnTo>
                        <a:pt x="178" y="12"/>
                      </a:lnTo>
                      <a:lnTo>
                        <a:pt x="199" y="4"/>
                      </a:lnTo>
                      <a:lnTo>
                        <a:pt x="186" y="1"/>
                      </a:lnTo>
                      <a:lnTo>
                        <a:pt x="172" y="0"/>
                      </a:lnTo>
                      <a:lnTo>
                        <a:pt x="156" y="2"/>
                      </a:lnTo>
                      <a:lnTo>
                        <a:pt x="138" y="4"/>
                      </a:lnTo>
                      <a:lnTo>
                        <a:pt x="121" y="10"/>
                      </a:lnTo>
                      <a:lnTo>
                        <a:pt x="103" y="16"/>
                      </a:lnTo>
                      <a:lnTo>
                        <a:pt x="86" y="23"/>
                      </a:lnTo>
                      <a:lnTo>
                        <a:pt x="70" y="2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12" name="Freeform 1128">
                  <a:extLst>
                    <a:ext uri="{FF2B5EF4-FFF2-40B4-BE49-F238E27FC236}">
                      <a16:creationId xmlns:a16="http://schemas.microsoft.com/office/drawing/2014/main" id="{E9009065-869D-4604-8366-A0620F10C41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2" y="2656"/>
                  <a:ext cx="47" cy="42"/>
                </a:xfrm>
                <a:custGeom>
                  <a:avLst/>
                  <a:gdLst>
                    <a:gd name="T0" fmla="*/ 0 w 128"/>
                    <a:gd name="T1" fmla="*/ 0 h 180"/>
                    <a:gd name="T2" fmla="*/ 0 w 128"/>
                    <a:gd name="T3" fmla="*/ 0 h 180"/>
                    <a:gd name="T4" fmla="*/ 0 w 128"/>
                    <a:gd name="T5" fmla="*/ 0 h 180"/>
                    <a:gd name="T6" fmla="*/ 0 w 128"/>
                    <a:gd name="T7" fmla="*/ 0 h 180"/>
                    <a:gd name="T8" fmla="*/ 0 w 128"/>
                    <a:gd name="T9" fmla="*/ 0 h 180"/>
                    <a:gd name="T10" fmla="*/ 0 w 128"/>
                    <a:gd name="T11" fmla="*/ 0 h 180"/>
                    <a:gd name="T12" fmla="*/ 0 w 128"/>
                    <a:gd name="T13" fmla="*/ 0 h 180"/>
                    <a:gd name="T14" fmla="*/ 0 w 128"/>
                    <a:gd name="T15" fmla="*/ 0 h 180"/>
                    <a:gd name="T16" fmla="*/ 0 w 128"/>
                    <a:gd name="T17" fmla="*/ 0 h 180"/>
                    <a:gd name="T18" fmla="*/ 0 w 128"/>
                    <a:gd name="T19" fmla="*/ 0 h 180"/>
                    <a:gd name="T20" fmla="*/ 0 w 128"/>
                    <a:gd name="T21" fmla="*/ 0 h 180"/>
                    <a:gd name="T22" fmla="*/ 0 w 128"/>
                    <a:gd name="T23" fmla="*/ 0 h 180"/>
                    <a:gd name="T24" fmla="*/ 0 w 128"/>
                    <a:gd name="T25" fmla="*/ 0 h 180"/>
                    <a:gd name="T26" fmla="*/ 0 w 128"/>
                    <a:gd name="T27" fmla="*/ 0 h 180"/>
                    <a:gd name="T28" fmla="*/ 0 w 128"/>
                    <a:gd name="T29" fmla="*/ 0 h 180"/>
                    <a:gd name="T30" fmla="*/ 0 w 128"/>
                    <a:gd name="T31" fmla="*/ 0 h 180"/>
                    <a:gd name="T32" fmla="*/ 0 w 128"/>
                    <a:gd name="T33" fmla="*/ 0 h 180"/>
                    <a:gd name="T34" fmla="*/ 0 w 128"/>
                    <a:gd name="T35" fmla="*/ 0 h 180"/>
                    <a:gd name="T36" fmla="*/ 0 w 128"/>
                    <a:gd name="T37" fmla="*/ 0 h 180"/>
                    <a:gd name="T38" fmla="*/ 0 w 128"/>
                    <a:gd name="T39" fmla="*/ 0 h 180"/>
                    <a:gd name="T40" fmla="*/ 0 w 128"/>
                    <a:gd name="T41" fmla="*/ 0 h 180"/>
                    <a:gd name="T42" fmla="*/ 0 w 128"/>
                    <a:gd name="T43" fmla="*/ 0 h 180"/>
                    <a:gd name="T44" fmla="*/ 0 w 128"/>
                    <a:gd name="T45" fmla="*/ 0 h 180"/>
                    <a:gd name="T46" fmla="*/ 0 w 128"/>
                    <a:gd name="T47" fmla="*/ 0 h 180"/>
                    <a:gd name="T48" fmla="*/ 0 w 128"/>
                    <a:gd name="T49" fmla="*/ 0 h 180"/>
                    <a:gd name="T50" fmla="*/ 0 w 128"/>
                    <a:gd name="T51" fmla="*/ 0 h 180"/>
                    <a:gd name="T52" fmla="*/ 0 w 128"/>
                    <a:gd name="T53" fmla="*/ 0 h 180"/>
                    <a:gd name="T54" fmla="*/ 0 w 128"/>
                    <a:gd name="T55" fmla="*/ 0 h 180"/>
                    <a:gd name="T56" fmla="*/ 0 w 128"/>
                    <a:gd name="T57" fmla="*/ 0 h 180"/>
                    <a:gd name="T58" fmla="*/ 0 w 128"/>
                    <a:gd name="T59" fmla="*/ 0 h 180"/>
                    <a:gd name="T60" fmla="*/ 0 w 128"/>
                    <a:gd name="T61" fmla="*/ 0 h 180"/>
                    <a:gd name="T62" fmla="*/ 0 w 128"/>
                    <a:gd name="T63" fmla="*/ 0 h 180"/>
                    <a:gd name="T64" fmla="*/ 0 w 128"/>
                    <a:gd name="T65" fmla="*/ 0 h 180"/>
                    <a:gd name="T66" fmla="*/ 0 w 128"/>
                    <a:gd name="T67" fmla="*/ 0 h 180"/>
                    <a:gd name="T68" fmla="*/ 0 w 128"/>
                    <a:gd name="T69" fmla="*/ 0 h 180"/>
                    <a:gd name="T70" fmla="*/ 0 w 128"/>
                    <a:gd name="T71" fmla="*/ 0 h 180"/>
                    <a:gd name="T72" fmla="*/ 0 w 128"/>
                    <a:gd name="T73" fmla="*/ 0 h 180"/>
                    <a:gd name="T74" fmla="*/ 0 w 128"/>
                    <a:gd name="T75" fmla="*/ 0 h 180"/>
                    <a:gd name="T76" fmla="*/ 0 w 128"/>
                    <a:gd name="T77" fmla="*/ 0 h 180"/>
                    <a:gd name="T78" fmla="*/ 0 w 128"/>
                    <a:gd name="T79" fmla="*/ 0 h 180"/>
                    <a:gd name="T80" fmla="*/ 0 w 128"/>
                    <a:gd name="T81" fmla="*/ 0 h 180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0"/>
                    <a:gd name="T125" fmla="*/ 128 w 128"/>
                    <a:gd name="T126" fmla="*/ 180 h 180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0">
                      <a:moveTo>
                        <a:pt x="108" y="59"/>
                      </a:moveTo>
                      <a:lnTo>
                        <a:pt x="113" y="77"/>
                      </a:lnTo>
                      <a:lnTo>
                        <a:pt x="111" y="94"/>
                      </a:lnTo>
                      <a:lnTo>
                        <a:pt x="103" y="108"/>
                      </a:lnTo>
                      <a:lnTo>
                        <a:pt x="91" y="121"/>
                      </a:lnTo>
                      <a:lnTo>
                        <a:pt x="77" y="132"/>
                      </a:lnTo>
                      <a:lnTo>
                        <a:pt x="61" y="144"/>
                      </a:lnTo>
                      <a:lnTo>
                        <a:pt x="45" y="154"/>
                      </a:lnTo>
                      <a:lnTo>
                        <a:pt x="30" y="164"/>
                      </a:lnTo>
                      <a:lnTo>
                        <a:pt x="28" y="168"/>
                      </a:lnTo>
                      <a:lnTo>
                        <a:pt x="27" y="170"/>
                      </a:lnTo>
                      <a:lnTo>
                        <a:pt x="27" y="174"/>
                      </a:lnTo>
                      <a:lnTo>
                        <a:pt x="28" y="177"/>
                      </a:lnTo>
                      <a:lnTo>
                        <a:pt x="32" y="179"/>
                      </a:lnTo>
                      <a:lnTo>
                        <a:pt x="35" y="180"/>
                      </a:lnTo>
                      <a:lnTo>
                        <a:pt x="37" y="180"/>
                      </a:lnTo>
                      <a:lnTo>
                        <a:pt x="41" y="179"/>
                      </a:lnTo>
                      <a:lnTo>
                        <a:pt x="60" y="169"/>
                      </a:lnTo>
                      <a:lnTo>
                        <a:pt x="77" y="158"/>
                      </a:lnTo>
                      <a:lnTo>
                        <a:pt x="94" y="145"/>
                      </a:lnTo>
                      <a:lnTo>
                        <a:pt x="109" y="130"/>
                      </a:lnTo>
                      <a:lnTo>
                        <a:pt x="120" y="114"/>
                      </a:lnTo>
                      <a:lnTo>
                        <a:pt x="127" y="95"/>
                      </a:lnTo>
                      <a:lnTo>
                        <a:pt x="128" y="76"/>
                      </a:lnTo>
                      <a:lnTo>
                        <a:pt x="123" y="55"/>
                      </a:lnTo>
                      <a:lnTo>
                        <a:pt x="113" y="39"/>
                      </a:lnTo>
                      <a:lnTo>
                        <a:pt x="97" y="25"/>
                      </a:lnTo>
                      <a:lnTo>
                        <a:pt x="79" y="15"/>
                      </a:lnTo>
                      <a:lnTo>
                        <a:pt x="57" y="7"/>
                      </a:lnTo>
                      <a:lnTo>
                        <a:pt x="36" y="2"/>
                      </a:lnTo>
                      <a:lnTo>
                        <a:pt x="19" y="0"/>
                      </a:lnTo>
                      <a:lnTo>
                        <a:pt x="6" y="0"/>
                      </a:lnTo>
                      <a:lnTo>
                        <a:pt x="0" y="4"/>
                      </a:lnTo>
                      <a:lnTo>
                        <a:pt x="14" y="9"/>
                      </a:lnTo>
                      <a:lnTo>
                        <a:pt x="29" y="14"/>
                      </a:lnTo>
                      <a:lnTo>
                        <a:pt x="46" y="19"/>
                      </a:lnTo>
                      <a:lnTo>
                        <a:pt x="61" y="23"/>
                      </a:lnTo>
                      <a:lnTo>
                        <a:pt x="76" y="29"/>
                      </a:lnTo>
                      <a:lnTo>
                        <a:pt x="89" y="37"/>
                      </a:lnTo>
                      <a:lnTo>
                        <a:pt x="100" y="46"/>
                      </a:lnTo>
                      <a:lnTo>
                        <a:pt x="108" y="5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13" name="Freeform 1129">
                  <a:extLst>
                    <a:ext uri="{FF2B5EF4-FFF2-40B4-BE49-F238E27FC236}">
                      <a16:creationId xmlns:a16="http://schemas.microsoft.com/office/drawing/2014/main" id="{3F449F33-70CD-4E80-AA10-9E8D64A361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89" y="2646"/>
                  <a:ext cx="114" cy="88"/>
                </a:xfrm>
                <a:custGeom>
                  <a:avLst/>
                  <a:gdLst>
                    <a:gd name="T0" fmla="*/ 0 w 322"/>
                    <a:gd name="T1" fmla="*/ 0 h 378"/>
                    <a:gd name="T2" fmla="*/ 0 w 322"/>
                    <a:gd name="T3" fmla="*/ 0 h 378"/>
                    <a:gd name="T4" fmla="*/ 0 w 322"/>
                    <a:gd name="T5" fmla="*/ 0 h 378"/>
                    <a:gd name="T6" fmla="*/ 0 w 322"/>
                    <a:gd name="T7" fmla="*/ 0 h 378"/>
                    <a:gd name="T8" fmla="*/ 0 w 322"/>
                    <a:gd name="T9" fmla="*/ 0 h 378"/>
                    <a:gd name="T10" fmla="*/ 0 w 322"/>
                    <a:gd name="T11" fmla="*/ 0 h 378"/>
                    <a:gd name="T12" fmla="*/ 0 w 322"/>
                    <a:gd name="T13" fmla="*/ 0 h 378"/>
                    <a:gd name="T14" fmla="*/ 0 w 322"/>
                    <a:gd name="T15" fmla="*/ 0 h 378"/>
                    <a:gd name="T16" fmla="*/ 0 w 322"/>
                    <a:gd name="T17" fmla="*/ 0 h 378"/>
                    <a:gd name="T18" fmla="*/ 0 w 322"/>
                    <a:gd name="T19" fmla="*/ 0 h 378"/>
                    <a:gd name="T20" fmla="*/ 0 w 322"/>
                    <a:gd name="T21" fmla="*/ 0 h 378"/>
                    <a:gd name="T22" fmla="*/ 0 w 322"/>
                    <a:gd name="T23" fmla="*/ 0 h 378"/>
                    <a:gd name="T24" fmla="*/ 0 w 322"/>
                    <a:gd name="T25" fmla="*/ 0 h 378"/>
                    <a:gd name="T26" fmla="*/ 0 w 322"/>
                    <a:gd name="T27" fmla="*/ 0 h 378"/>
                    <a:gd name="T28" fmla="*/ 0 w 322"/>
                    <a:gd name="T29" fmla="*/ 0 h 378"/>
                    <a:gd name="T30" fmla="*/ 0 w 322"/>
                    <a:gd name="T31" fmla="*/ 0 h 378"/>
                    <a:gd name="T32" fmla="*/ 0 w 322"/>
                    <a:gd name="T33" fmla="*/ 0 h 378"/>
                    <a:gd name="T34" fmla="*/ 0 w 322"/>
                    <a:gd name="T35" fmla="*/ 0 h 378"/>
                    <a:gd name="T36" fmla="*/ 0 w 322"/>
                    <a:gd name="T37" fmla="*/ 0 h 378"/>
                    <a:gd name="T38" fmla="*/ 0 w 322"/>
                    <a:gd name="T39" fmla="*/ 0 h 378"/>
                    <a:gd name="T40" fmla="*/ 0 w 322"/>
                    <a:gd name="T41" fmla="*/ 0 h 378"/>
                    <a:gd name="T42" fmla="*/ 0 w 322"/>
                    <a:gd name="T43" fmla="*/ 0 h 378"/>
                    <a:gd name="T44" fmla="*/ 0 w 322"/>
                    <a:gd name="T45" fmla="*/ 0 h 378"/>
                    <a:gd name="T46" fmla="*/ 0 w 322"/>
                    <a:gd name="T47" fmla="*/ 0 h 378"/>
                    <a:gd name="T48" fmla="*/ 0 w 322"/>
                    <a:gd name="T49" fmla="*/ 0 h 378"/>
                    <a:gd name="T50" fmla="*/ 0 w 322"/>
                    <a:gd name="T51" fmla="*/ 0 h 378"/>
                    <a:gd name="T52" fmla="*/ 0 w 322"/>
                    <a:gd name="T53" fmla="*/ 0 h 378"/>
                    <a:gd name="T54" fmla="*/ 0 w 322"/>
                    <a:gd name="T55" fmla="*/ 0 h 378"/>
                    <a:gd name="T56" fmla="*/ 0 w 322"/>
                    <a:gd name="T57" fmla="*/ 0 h 378"/>
                    <a:gd name="T58" fmla="*/ 0 w 322"/>
                    <a:gd name="T59" fmla="*/ 0 h 378"/>
                    <a:gd name="T60" fmla="*/ 0 w 322"/>
                    <a:gd name="T61" fmla="*/ 0 h 378"/>
                    <a:gd name="T62" fmla="*/ 0 w 322"/>
                    <a:gd name="T63" fmla="*/ 0 h 378"/>
                    <a:gd name="T64" fmla="*/ 0 w 322"/>
                    <a:gd name="T65" fmla="*/ 0 h 378"/>
                    <a:gd name="T66" fmla="*/ 0 w 322"/>
                    <a:gd name="T67" fmla="*/ 0 h 378"/>
                    <a:gd name="T68" fmla="*/ 0 w 322"/>
                    <a:gd name="T69" fmla="*/ 0 h 378"/>
                    <a:gd name="T70" fmla="*/ 0 w 322"/>
                    <a:gd name="T71" fmla="*/ 0 h 378"/>
                    <a:gd name="T72" fmla="*/ 0 w 322"/>
                    <a:gd name="T73" fmla="*/ 0 h 378"/>
                    <a:gd name="T74" fmla="*/ 0 w 322"/>
                    <a:gd name="T75" fmla="*/ 0 h 378"/>
                    <a:gd name="T76" fmla="*/ 0 w 322"/>
                    <a:gd name="T77" fmla="*/ 0 h 378"/>
                    <a:gd name="T78" fmla="*/ 0 w 322"/>
                    <a:gd name="T79" fmla="*/ 0 h 378"/>
                    <a:gd name="T80" fmla="*/ 0 w 322"/>
                    <a:gd name="T81" fmla="*/ 0 h 378"/>
                    <a:gd name="T82" fmla="*/ 0 w 322"/>
                    <a:gd name="T83" fmla="*/ 0 h 378"/>
                    <a:gd name="T84" fmla="*/ 0 w 322"/>
                    <a:gd name="T85" fmla="*/ 0 h 378"/>
                    <a:gd name="T86" fmla="*/ 0 w 322"/>
                    <a:gd name="T87" fmla="*/ 0 h 378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2"/>
                    <a:gd name="T133" fmla="*/ 0 h 378"/>
                    <a:gd name="T134" fmla="*/ 322 w 322"/>
                    <a:gd name="T135" fmla="*/ 378 h 378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2" h="378">
                      <a:moveTo>
                        <a:pt x="125" y="49"/>
                      </a:moveTo>
                      <a:lnTo>
                        <a:pt x="100" y="70"/>
                      </a:lnTo>
                      <a:lnTo>
                        <a:pt x="76" y="90"/>
                      </a:lnTo>
                      <a:lnTo>
                        <a:pt x="53" y="115"/>
                      </a:lnTo>
                      <a:lnTo>
                        <a:pt x="34" y="140"/>
                      </a:lnTo>
                      <a:lnTo>
                        <a:pt x="17" y="166"/>
                      </a:lnTo>
                      <a:lnTo>
                        <a:pt x="5" y="195"/>
                      </a:lnTo>
                      <a:lnTo>
                        <a:pt x="0" y="226"/>
                      </a:lnTo>
                      <a:lnTo>
                        <a:pt x="1" y="258"/>
                      </a:lnTo>
                      <a:lnTo>
                        <a:pt x="3" y="266"/>
                      </a:lnTo>
                      <a:lnTo>
                        <a:pt x="5" y="275"/>
                      </a:lnTo>
                      <a:lnTo>
                        <a:pt x="9" y="282"/>
                      </a:lnTo>
                      <a:lnTo>
                        <a:pt x="14" y="290"/>
                      </a:lnTo>
                      <a:lnTo>
                        <a:pt x="19" y="297"/>
                      </a:lnTo>
                      <a:lnTo>
                        <a:pt x="26" y="304"/>
                      </a:lnTo>
                      <a:lnTo>
                        <a:pt x="32" y="310"/>
                      </a:lnTo>
                      <a:lnTo>
                        <a:pt x="41" y="314"/>
                      </a:lnTo>
                      <a:lnTo>
                        <a:pt x="56" y="324"/>
                      </a:lnTo>
                      <a:lnTo>
                        <a:pt x="71" y="332"/>
                      </a:lnTo>
                      <a:lnTo>
                        <a:pt x="86" y="338"/>
                      </a:lnTo>
                      <a:lnTo>
                        <a:pt x="103" y="344"/>
                      </a:lnTo>
                      <a:lnTo>
                        <a:pt x="119" y="350"/>
                      </a:lnTo>
                      <a:lnTo>
                        <a:pt x="136" y="355"/>
                      </a:lnTo>
                      <a:lnTo>
                        <a:pt x="152" y="359"/>
                      </a:lnTo>
                      <a:lnTo>
                        <a:pt x="168" y="363"/>
                      </a:lnTo>
                      <a:lnTo>
                        <a:pt x="186" y="366"/>
                      </a:lnTo>
                      <a:lnTo>
                        <a:pt x="202" y="368"/>
                      </a:lnTo>
                      <a:lnTo>
                        <a:pt x="220" y="371"/>
                      </a:lnTo>
                      <a:lnTo>
                        <a:pt x="238" y="373"/>
                      </a:lnTo>
                      <a:lnTo>
                        <a:pt x="254" y="374"/>
                      </a:lnTo>
                      <a:lnTo>
                        <a:pt x="272" y="375"/>
                      </a:lnTo>
                      <a:lnTo>
                        <a:pt x="289" y="376"/>
                      </a:lnTo>
                      <a:lnTo>
                        <a:pt x="306" y="378"/>
                      </a:lnTo>
                      <a:lnTo>
                        <a:pt x="311" y="378"/>
                      </a:lnTo>
                      <a:lnTo>
                        <a:pt x="316" y="375"/>
                      </a:lnTo>
                      <a:lnTo>
                        <a:pt x="320" y="371"/>
                      </a:lnTo>
                      <a:lnTo>
                        <a:pt x="322" y="366"/>
                      </a:lnTo>
                      <a:lnTo>
                        <a:pt x="322" y="360"/>
                      </a:lnTo>
                      <a:lnTo>
                        <a:pt x="320" y="356"/>
                      </a:lnTo>
                      <a:lnTo>
                        <a:pt x="315" y="352"/>
                      </a:lnTo>
                      <a:lnTo>
                        <a:pt x="309" y="350"/>
                      </a:lnTo>
                      <a:lnTo>
                        <a:pt x="294" y="347"/>
                      </a:lnTo>
                      <a:lnTo>
                        <a:pt x="279" y="344"/>
                      </a:lnTo>
                      <a:lnTo>
                        <a:pt x="263" y="341"/>
                      </a:lnTo>
                      <a:lnTo>
                        <a:pt x="247" y="338"/>
                      </a:lnTo>
                      <a:lnTo>
                        <a:pt x="232" y="336"/>
                      </a:lnTo>
                      <a:lnTo>
                        <a:pt x="216" y="334"/>
                      </a:lnTo>
                      <a:lnTo>
                        <a:pt x="200" y="332"/>
                      </a:lnTo>
                      <a:lnTo>
                        <a:pt x="185" y="328"/>
                      </a:lnTo>
                      <a:lnTo>
                        <a:pt x="170" y="326"/>
                      </a:lnTo>
                      <a:lnTo>
                        <a:pt x="154" y="322"/>
                      </a:lnTo>
                      <a:lnTo>
                        <a:pt x="139" y="318"/>
                      </a:lnTo>
                      <a:lnTo>
                        <a:pt x="124" y="314"/>
                      </a:lnTo>
                      <a:lnTo>
                        <a:pt x="110" y="309"/>
                      </a:lnTo>
                      <a:lnTo>
                        <a:pt x="94" y="303"/>
                      </a:lnTo>
                      <a:lnTo>
                        <a:pt x="80" y="297"/>
                      </a:lnTo>
                      <a:lnTo>
                        <a:pt x="66" y="289"/>
                      </a:lnTo>
                      <a:lnTo>
                        <a:pt x="55" y="281"/>
                      </a:lnTo>
                      <a:lnTo>
                        <a:pt x="45" y="271"/>
                      </a:lnTo>
                      <a:lnTo>
                        <a:pt x="38" y="259"/>
                      </a:lnTo>
                      <a:lnTo>
                        <a:pt x="35" y="245"/>
                      </a:lnTo>
                      <a:lnTo>
                        <a:pt x="34" y="232"/>
                      </a:lnTo>
                      <a:lnTo>
                        <a:pt x="35" y="216"/>
                      </a:lnTo>
                      <a:lnTo>
                        <a:pt x="38" y="200"/>
                      </a:lnTo>
                      <a:lnTo>
                        <a:pt x="43" y="187"/>
                      </a:lnTo>
                      <a:lnTo>
                        <a:pt x="51" y="170"/>
                      </a:lnTo>
                      <a:lnTo>
                        <a:pt x="60" y="152"/>
                      </a:lnTo>
                      <a:lnTo>
                        <a:pt x="71" y="137"/>
                      </a:lnTo>
                      <a:lnTo>
                        <a:pt x="83" y="124"/>
                      </a:lnTo>
                      <a:lnTo>
                        <a:pt x="94" y="110"/>
                      </a:lnTo>
                      <a:lnTo>
                        <a:pt x="107" y="96"/>
                      </a:lnTo>
                      <a:lnTo>
                        <a:pt x="123" y="82"/>
                      </a:lnTo>
                      <a:lnTo>
                        <a:pt x="138" y="69"/>
                      </a:lnTo>
                      <a:lnTo>
                        <a:pt x="153" y="57"/>
                      </a:lnTo>
                      <a:lnTo>
                        <a:pt x="173" y="47"/>
                      </a:lnTo>
                      <a:lnTo>
                        <a:pt x="195" y="38"/>
                      </a:lnTo>
                      <a:lnTo>
                        <a:pt x="218" y="28"/>
                      </a:lnTo>
                      <a:lnTo>
                        <a:pt x="238" y="20"/>
                      </a:lnTo>
                      <a:lnTo>
                        <a:pt x="254" y="13"/>
                      </a:lnTo>
                      <a:lnTo>
                        <a:pt x="264" y="7"/>
                      </a:lnTo>
                      <a:lnTo>
                        <a:pt x="268" y="2"/>
                      </a:lnTo>
                      <a:lnTo>
                        <a:pt x="256" y="0"/>
                      </a:lnTo>
                      <a:lnTo>
                        <a:pt x="240" y="1"/>
                      </a:lnTo>
                      <a:lnTo>
                        <a:pt x="221" y="4"/>
                      </a:lnTo>
                      <a:lnTo>
                        <a:pt x="201" y="10"/>
                      </a:lnTo>
                      <a:lnTo>
                        <a:pt x="180" y="18"/>
                      </a:lnTo>
                      <a:lnTo>
                        <a:pt x="160" y="27"/>
                      </a:lnTo>
                      <a:lnTo>
                        <a:pt x="141" y="38"/>
                      </a:lnTo>
                      <a:lnTo>
                        <a:pt x="125" y="49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14" name="Freeform 1130">
                  <a:extLst>
                    <a:ext uri="{FF2B5EF4-FFF2-40B4-BE49-F238E27FC236}">
                      <a16:creationId xmlns:a16="http://schemas.microsoft.com/office/drawing/2014/main" id="{C16FBBD8-051A-4973-AF79-1E982F210F8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50" y="2643"/>
                  <a:ext cx="99" cy="59"/>
                </a:xfrm>
                <a:custGeom>
                  <a:avLst/>
                  <a:gdLst>
                    <a:gd name="T0" fmla="*/ 0 w 283"/>
                    <a:gd name="T1" fmla="*/ 0 h 252"/>
                    <a:gd name="T2" fmla="*/ 0 w 283"/>
                    <a:gd name="T3" fmla="*/ 0 h 252"/>
                    <a:gd name="T4" fmla="*/ 0 w 283"/>
                    <a:gd name="T5" fmla="*/ 0 h 252"/>
                    <a:gd name="T6" fmla="*/ 0 w 283"/>
                    <a:gd name="T7" fmla="*/ 0 h 252"/>
                    <a:gd name="T8" fmla="*/ 0 w 283"/>
                    <a:gd name="T9" fmla="*/ 0 h 252"/>
                    <a:gd name="T10" fmla="*/ 0 w 283"/>
                    <a:gd name="T11" fmla="*/ 0 h 252"/>
                    <a:gd name="T12" fmla="*/ 0 w 283"/>
                    <a:gd name="T13" fmla="*/ 0 h 252"/>
                    <a:gd name="T14" fmla="*/ 0 w 283"/>
                    <a:gd name="T15" fmla="*/ 0 h 252"/>
                    <a:gd name="T16" fmla="*/ 0 w 283"/>
                    <a:gd name="T17" fmla="*/ 0 h 252"/>
                    <a:gd name="T18" fmla="*/ 0 w 283"/>
                    <a:gd name="T19" fmla="*/ 0 h 252"/>
                    <a:gd name="T20" fmla="*/ 0 w 283"/>
                    <a:gd name="T21" fmla="*/ 0 h 252"/>
                    <a:gd name="T22" fmla="*/ 0 w 283"/>
                    <a:gd name="T23" fmla="*/ 0 h 252"/>
                    <a:gd name="T24" fmla="*/ 0 w 283"/>
                    <a:gd name="T25" fmla="*/ 0 h 252"/>
                    <a:gd name="T26" fmla="*/ 0 w 283"/>
                    <a:gd name="T27" fmla="*/ 0 h 252"/>
                    <a:gd name="T28" fmla="*/ 0 w 283"/>
                    <a:gd name="T29" fmla="*/ 0 h 252"/>
                    <a:gd name="T30" fmla="*/ 0 w 283"/>
                    <a:gd name="T31" fmla="*/ 0 h 252"/>
                    <a:gd name="T32" fmla="*/ 0 w 283"/>
                    <a:gd name="T33" fmla="*/ 0 h 252"/>
                    <a:gd name="T34" fmla="*/ 0 w 283"/>
                    <a:gd name="T35" fmla="*/ 0 h 252"/>
                    <a:gd name="T36" fmla="*/ 0 w 283"/>
                    <a:gd name="T37" fmla="*/ 0 h 252"/>
                    <a:gd name="T38" fmla="*/ 0 w 283"/>
                    <a:gd name="T39" fmla="*/ 0 h 252"/>
                    <a:gd name="T40" fmla="*/ 0 w 283"/>
                    <a:gd name="T41" fmla="*/ 0 h 252"/>
                    <a:gd name="T42" fmla="*/ 0 w 283"/>
                    <a:gd name="T43" fmla="*/ 0 h 252"/>
                    <a:gd name="T44" fmla="*/ 0 w 283"/>
                    <a:gd name="T45" fmla="*/ 0 h 252"/>
                    <a:gd name="T46" fmla="*/ 0 w 283"/>
                    <a:gd name="T47" fmla="*/ 0 h 252"/>
                    <a:gd name="T48" fmla="*/ 0 w 283"/>
                    <a:gd name="T49" fmla="*/ 0 h 252"/>
                    <a:gd name="T50" fmla="*/ 0 w 283"/>
                    <a:gd name="T51" fmla="*/ 0 h 252"/>
                    <a:gd name="T52" fmla="*/ 0 w 283"/>
                    <a:gd name="T53" fmla="*/ 0 h 252"/>
                    <a:gd name="T54" fmla="*/ 0 w 283"/>
                    <a:gd name="T55" fmla="*/ 0 h 252"/>
                    <a:gd name="T56" fmla="*/ 0 w 283"/>
                    <a:gd name="T57" fmla="*/ 0 h 252"/>
                    <a:gd name="T58" fmla="*/ 0 w 283"/>
                    <a:gd name="T59" fmla="*/ 0 h 252"/>
                    <a:gd name="T60" fmla="*/ 0 w 283"/>
                    <a:gd name="T61" fmla="*/ 0 h 252"/>
                    <a:gd name="T62" fmla="*/ 0 w 283"/>
                    <a:gd name="T63" fmla="*/ 0 h 252"/>
                    <a:gd name="T64" fmla="*/ 0 w 283"/>
                    <a:gd name="T65" fmla="*/ 0 h 252"/>
                    <a:gd name="T66" fmla="*/ 0 w 283"/>
                    <a:gd name="T67" fmla="*/ 0 h 252"/>
                    <a:gd name="T68" fmla="*/ 0 w 283"/>
                    <a:gd name="T69" fmla="*/ 0 h 252"/>
                    <a:gd name="T70" fmla="*/ 0 w 283"/>
                    <a:gd name="T71" fmla="*/ 0 h 252"/>
                    <a:gd name="T72" fmla="*/ 0 w 283"/>
                    <a:gd name="T73" fmla="*/ 0 h 252"/>
                    <a:gd name="T74" fmla="*/ 0 w 283"/>
                    <a:gd name="T75" fmla="*/ 0 h 252"/>
                    <a:gd name="T76" fmla="*/ 0 w 283"/>
                    <a:gd name="T77" fmla="*/ 0 h 252"/>
                    <a:gd name="T78" fmla="*/ 0 w 283"/>
                    <a:gd name="T79" fmla="*/ 0 h 252"/>
                    <a:gd name="T80" fmla="*/ 0 w 283"/>
                    <a:gd name="T81" fmla="*/ 0 h 252"/>
                    <a:gd name="T82" fmla="*/ 0 w 283"/>
                    <a:gd name="T83" fmla="*/ 0 h 252"/>
                    <a:gd name="T84" fmla="*/ 0 w 283"/>
                    <a:gd name="T85" fmla="*/ 0 h 252"/>
                    <a:gd name="T86" fmla="*/ 0 w 283"/>
                    <a:gd name="T87" fmla="*/ 0 h 252"/>
                    <a:gd name="T88" fmla="*/ 0 w 283"/>
                    <a:gd name="T89" fmla="*/ 0 h 252"/>
                    <a:gd name="T90" fmla="*/ 0 w 283"/>
                    <a:gd name="T91" fmla="*/ 0 h 252"/>
                    <a:gd name="T92" fmla="*/ 0 w 283"/>
                    <a:gd name="T93" fmla="*/ 0 h 252"/>
                    <a:gd name="T94" fmla="*/ 0 w 283"/>
                    <a:gd name="T95" fmla="*/ 0 h 252"/>
                    <a:gd name="T96" fmla="*/ 0 w 283"/>
                    <a:gd name="T97" fmla="*/ 0 h 252"/>
                    <a:gd name="T98" fmla="*/ 0 w 283"/>
                    <a:gd name="T99" fmla="*/ 0 h 252"/>
                    <a:gd name="T100" fmla="*/ 0 w 283"/>
                    <a:gd name="T101" fmla="*/ 0 h 252"/>
                    <a:gd name="T102" fmla="*/ 0 w 283"/>
                    <a:gd name="T103" fmla="*/ 0 h 252"/>
                    <a:gd name="T104" fmla="*/ 0 w 283"/>
                    <a:gd name="T105" fmla="*/ 0 h 252"/>
                    <a:gd name="T106" fmla="*/ 0 w 283"/>
                    <a:gd name="T107" fmla="*/ 0 h 252"/>
                    <a:gd name="T108" fmla="*/ 0 w 283"/>
                    <a:gd name="T109" fmla="*/ 0 h 252"/>
                    <a:gd name="T110" fmla="*/ 0 w 283"/>
                    <a:gd name="T111" fmla="*/ 0 h 252"/>
                    <a:gd name="T112" fmla="*/ 0 w 283"/>
                    <a:gd name="T113" fmla="*/ 0 h 252"/>
                    <a:gd name="T114" fmla="*/ 0 w 283"/>
                    <a:gd name="T115" fmla="*/ 0 h 252"/>
                    <a:gd name="T116" fmla="*/ 0 w 283"/>
                    <a:gd name="T117" fmla="*/ 0 h 252"/>
                    <a:gd name="T118" fmla="*/ 0 w 283"/>
                    <a:gd name="T119" fmla="*/ 0 h 252"/>
                    <a:gd name="T120" fmla="*/ 0 w 283"/>
                    <a:gd name="T121" fmla="*/ 0 h 252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3"/>
                    <a:gd name="T184" fmla="*/ 0 h 252"/>
                    <a:gd name="T185" fmla="*/ 283 w 283"/>
                    <a:gd name="T186" fmla="*/ 252 h 252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3" h="252">
                      <a:moveTo>
                        <a:pt x="235" y="77"/>
                      </a:moveTo>
                      <a:lnTo>
                        <a:pt x="248" y="91"/>
                      </a:lnTo>
                      <a:lnTo>
                        <a:pt x="256" y="107"/>
                      </a:lnTo>
                      <a:lnTo>
                        <a:pt x="259" y="124"/>
                      </a:lnTo>
                      <a:lnTo>
                        <a:pt x="259" y="142"/>
                      </a:lnTo>
                      <a:lnTo>
                        <a:pt x="257" y="157"/>
                      </a:lnTo>
                      <a:lnTo>
                        <a:pt x="252" y="170"/>
                      </a:lnTo>
                      <a:lnTo>
                        <a:pt x="244" y="183"/>
                      </a:lnTo>
                      <a:lnTo>
                        <a:pt x="236" y="193"/>
                      </a:lnTo>
                      <a:lnTo>
                        <a:pt x="225" y="204"/>
                      </a:lnTo>
                      <a:lnTo>
                        <a:pt x="215" y="214"/>
                      </a:lnTo>
                      <a:lnTo>
                        <a:pt x="204" y="224"/>
                      </a:lnTo>
                      <a:lnTo>
                        <a:pt x="194" y="234"/>
                      </a:lnTo>
                      <a:lnTo>
                        <a:pt x="191" y="238"/>
                      </a:lnTo>
                      <a:lnTo>
                        <a:pt x="191" y="241"/>
                      </a:lnTo>
                      <a:lnTo>
                        <a:pt x="191" y="245"/>
                      </a:lnTo>
                      <a:lnTo>
                        <a:pt x="194" y="248"/>
                      </a:lnTo>
                      <a:lnTo>
                        <a:pt x="197" y="250"/>
                      </a:lnTo>
                      <a:lnTo>
                        <a:pt x="202" y="252"/>
                      </a:lnTo>
                      <a:lnTo>
                        <a:pt x="205" y="250"/>
                      </a:lnTo>
                      <a:lnTo>
                        <a:pt x="209" y="248"/>
                      </a:lnTo>
                      <a:lnTo>
                        <a:pt x="232" y="233"/>
                      </a:lnTo>
                      <a:lnTo>
                        <a:pt x="252" y="214"/>
                      </a:lnTo>
                      <a:lnTo>
                        <a:pt x="268" y="192"/>
                      </a:lnTo>
                      <a:lnTo>
                        <a:pt x="278" y="167"/>
                      </a:lnTo>
                      <a:lnTo>
                        <a:pt x="283" y="141"/>
                      </a:lnTo>
                      <a:lnTo>
                        <a:pt x="280" y="115"/>
                      </a:lnTo>
                      <a:lnTo>
                        <a:pt x="271" y="91"/>
                      </a:lnTo>
                      <a:lnTo>
                        <a:pt x="252" y="69"/>
                      </a:lnTo>
                      <a:lnTo>
                        <a:pt x="238" y="57"/>
                      </a:lnTo>
                      <a:lnTo>
                        <a:pt x="222" y="48"/>
                      </a:lnTo>
                      <a:lnTo>
                        <a:pt x="204" y="39"/>
                      </a:lnTo>
                      <a:lnTo>
                        <a:pt x="184" y="31"/>
                      </a:lnTo>
                      <a:lnTo>
                        <a:pt x="164" y="23"/>
                      </a:lnTo>
                      <a:lnTo>
                        <a:pt x="144" y="17"/>
                      </a:lnTo>
                      <a:lnTo>
                        <a:pt x="123" y="13"/>
                      </a:lnTo>
                      <a:lnTo>
                        <a:pt x="103" y="8"/>
                      </a:lnTo>
                      <a:lnTo>
                        <a:pt x="83" y="5"/>
                      </a:lnTo>
                      <a:lnTo>
                        <a:pt x="66" y="2"/>
                      </a:lnTo>
                      <a:lnTo>
                        <a:pt x="48" y="0"/>
                      </a:lnTo>
                      <a:lnTo>
                        <a:pt x="34" y="0"/>
                      </a:lnTo>
                      <a:lnTo>
                        <a:pt x="21" y="0"/>
                      </a:lnTo>
                      <a:lnTo>
                        <a:pt x="11" y="0"/>
                      </a:lnTo>
                      <a:lnTo>
                        <a:pt x="4" y="2"/>
                      </a:lnTo>
                      <a:lnTo>
                        <a:pt x="0" y="5"/>
                      </a:lnTo>
                      <a:lnTo>
                        <a:pt x="12" y="7"/>
                      </a:lnTo>
                      <a:lnTo>
                        <a:pt x="24" y="8"/>
                      </a:lnTo>
                      <a:lnTo>
                        <a:pt x="38" y="10"/>
                      </a:lnTo>
                      <a:lnTo>
                        <a:pt x="52" y="13"/>
                      </a:lnTo>
                      <a:lnTo>
                        <a:pt x="66" y="16"/>
                      </a:lnTo>
                      <a:lnTo>
                        <a:pt x="82" y="18"/>
                      </a:lnTo>
                      <a:lnTo>
                        <a:pt x="98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4"/>
                      </a:lnTo>
                      <a:lnTo>
                        <a:pt x="162" y="39"/>
                      </a:lnTo>
                      <a:lnTo>
                        <a:pt x="177" y="45"/>
                      </a:lnTo>
                      <a:lnTo>
                        <a:pt x="193" y="52"/>
                      </a:lnTo>
                      <a:lnTo>
                        <a:pt x="208" y="60"/>
                      </a:lnTo>
                      <a:lnTo>
                        <a:pt x="222" y="68"/>
                      </a:lnTo>
                      <a:lnTo>
                        <a:pt x="235" y="77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15" name="Freeform 1131">
                  <a:extLst>
                    <a:ext uri="{FF2B5EF4-FFF2-40B4-BE49-F238E27FC236}">
                      <a16:creationId xmlns:a16="http://schemas.microsoft.com/office/drawing/2014/main" id="{8E839023-E82E-4848-997F-26FECB7A414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47" y="2671"/>
                  <a:ext cx="40" cy="55"/>
                </a:xfrm>
                <a:custGeom>
                  <a:avLst/>
                  <a:gdLst>
                    <a:gd name="T0" fmla="*/ 0 w 114"/>
                    <a:gd name="T1" fmla="*/ 0 h 238"/>
                    <a:gd name="T2" fmla="*/ 0 w 114"/>
                    <a:gd name="T3" fmla="*/ 0 h 238"/>
                    <a:gd name="T4" fmla="*/ 0 w 114"/>
                    <a:gd name="T5" fmla="*/ 0 h 238"/>
                    <a:gd name="T6" fmla="*/ 0 w 114"/>
                    <a:gd name="T7" fmla="*/ 0 h 238"/>
                    <a:gd name="T8" fmla="*/ 0 w 114"/>
                    <a:gd name="T9" fmla="*/ 0 h 238"/>
                    <a:gd name="T10" fmla="*/ 0 w 114"/>
                    <a:gd name="T11" fmla="*/ 0 h 238"/>
                    <a:gd name="T12" fmla="*/ 0 w 114"/>
                    <a:gd name="T13" fmla="*/ 0 h 238"/>
                    <a:gd name="T14" fmla="*/ 0 w 114"/>
                    <a:gd name="T15" fmla="*/ 0 h 238"/>
                    <a:gd name="T16" fmla="*/ 0 w 114"/>
                    <a:gd name="T17" fmla="*/ 0 h 238"/>
                    <a:gd name="T18" fmla="*/ 0 w 114"/>
                    <a:gd name="T19" fmla="*/ 0 h 238"/>
                    <a:gd name="T20" fmla="*/ 0 w 114"/>
                    <a:gd name="T21" fmla="*/ 0 h 238"/>
                    <a:gd name="T22" fmla="*/ 0 w 114"/>
                    <a:gd name="T23" fmla="*/ 0 h 238"/>
                    <a:gd name="T24" fmla="*/ 0 w 114"/>
                    <a:gd name="T25" fmla="*/ 0 h 238"/>
                    <a:gd name="T26" fmla="*/ 0 w 114"/>
                    <a:gd name="T27" fmla="*/ 0 h 238"/>
                    <a:gd name="T28" fmla="*/ 0 w 114"/>
                    <a:gd name="T29" fmla="*/ 0 h 238"/>
                    <a:gd name="T30" fmla="*/ 0 w 114"/>
                    <a:gd name="T31" fmla="*/ 0 h 238"/>
                    <a:gd name="T32" fmla="*/ 0 w 114"/>
                    <a:gd name="T33" fmla="*/ 0 h 238"/>
                    <a:gd name="T34" fmla="*/ 0 w 114"/>
                    <a:gd name="T35" fmla="*/ 0 h 238"/>
                    <a:gd name="T36" fmla="*/ 0 w 114"/>
                    <a:gd name="T37" fmla="*/ 0 h 238"/>
                    <a:gd name="T38" fmla="*/ 0 w 114"/>
                    <a:gd name="T39" fmla="*/ 0 h 238"/>
                    <a:gd name="T40" fmla="*/ 0 w 114"/>
                    <a:gd name="T41" fmla="*/ 0 h 238"/>
                    <a:gd name="T42" fmla="*/ 0 w 114"/>
                    <a:gd name="T43" fmla="*/ 0 h 238"/>
                    <a:gd name="T44" fmla="*/ 0 w 114"/>
                    <a:gd name="T45" fmla="*/ 0 h 238"/>
                    <a:gd name="T46" fmla="*/ 0 w 114"/>
                    <a:gd name="T47" fmla="*/ 0 h 238"/>
                    <a:gd name="T48" fmla="*/ 0 w 114"/>
                    <a:gd name="T49" fmla="*/ 0 h 238"/>
                    <a:gd name="T50" fmla="*/ 0 w 114"/>
                    <a:gd name="T51" fmla="*/ 0 h 238"/>
                    <a:gd name="T52" fmla="*/ 0 w 114"/>
                    <a:gd name="T53" fmla="*/ 0 h 238"/>
                    <a:gd name="T54" fmla="*/ 0 w 114"/>
                    <a:gd name="T55" fmla="*/ 0 h 238"/>
                    <a:gd name="T56" fmla="*/ 0 w 114"/>
                    <a:gd name="T57" fmla="*/ 0 h 238"/>
                    <a:gd name="T58" fmla="*/ 0 w 114"/>
                    <a:gd name="T59" fmla="*/ 0 h 238"/>
                    <a:gd name="T60" fmla="*/ 0 w 114"/>
                    <a:gd name="T61" fmla="*/ 0 h 238"/>
                    <a:gd name="T62" fmla="*/ 0 w 114"/>
                    <a:gd name="T63" fmla="*/ 0 h 238"/>
                    <a:gd name="T64" fmla="*/ 0 w 114"/>
                    <a:gd name="T65" fmla="*/ 0 h 238"/>
                    <a:gd name="T66" fmla="*/ 0 w 114"/>
                    <a:gd name="T67" fmla="*/ 0 h 238"/>
                    <a:gd name="T68" fmla="*/ 0 w 114"/>
                    <a:gd name="T69" fmla="*/ 0 h 238"/>
                    <a:gd name="T70" fmla="*/ 0 w 114"/>
                    <a:gd name="T71" fmla="*/ 0 h 238"/>
                    <a:gd name="T72" fmla="*/ 0 w 114"/>
                    <a:gd name="T73" fmla="*/ 0 h 238"/>
                    <a:gd name="T74" fmla="*/ 0 w 114"/>
                    <a:gd name="T75" fmla="*/ 0 h 238"/>
                    <a:gd name="T76" fmla="*/ 0 w 114"/>
                    <a:gd name="T77" fmla="*/ 0 h 238"/>
                    <a:gd name="T78" fmla="*/ 0 w 114"/>
                    <a:gd name="T79" fmla="*/ 0 h 238"/>
                    <a:gd name="T80" fmla="*/ 0 w 114"/>
                    <a:gd name="T81" fmla="*/ 0 h 238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4"/>
                    <a:gd name="T124" fmla="*/ 0 h 238"/>
                    <a:gd name="T125" fmla="*/ 114 w 114"/>
                    <a:gd name="T126" fmla="*/ 238 h 238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4" h="238">
                      <a:moveTo>
                        <a:pt x="0" y="130"/>
                      </a:moveTo>
                      <a:lnTo>
                        <a:pt x="0" y="149"/>
                      </a:lnTo>
                      <a:lnTo>
                        <a:pt x="4" y="168"/>
                      </a:lnTo>
                      <a:lnTo>
                        <a:pt x="12" y="185"/>
                      </a:lnTo>
                      <a:lnTo>
                        <a:pt x="24" y="200"/>
                      </a:lnTo>
                      <a:lnTo>
                        <a:pt x="38" y="213"/>
                      </a:lnTo>
                      <a:lnTo>
                        <a:pt x="55" y="224"/>
                      </a:lnTo>
                      <a:lnTo>
                        <a:pt x="73" y="232"/>
                      </a:lnTo>
                      <a:lnTo>
                        <a:pt x="92" y="237"/>
                      </a:lnTo>
                      <a:lnTo>
                        <a:pt x="98" y="238"/>
                      </a:lnTo>
                      <a:lnTo>
                        <a:pt x="104" y="235"/>
                      </a:lnTo>
                      <a:lnTo>
                        <a:pt x="109" y="232"/>
                      </a:lnTo>
                      <a:lnTo>
                        <a:pt x="111" y="227"/>
                      </a:lnTo>
                      <a:lnTo>
                        <a:pt x="111" y="222"/>
                      </a:lnTo>
                      <a:lnTo>
                        <a:pt x="110" y="216"/>
                      </a:lnTo>
                      <a:lnTo>
                        <a:pt x="106" y="211"/>
                      </a:lnTo>
                      <a:lnTo>
                        <a:pt x="100" y="209"/>
                      </a:lnTo>
                      <a:lnTo>
                        <a:pt x="82" y="202"/>
                      </a:lnTo>
                      <a:lnTo>
                        <a:pt x="64" y="193"/>
                      </a:lnTo>
                      <a:lnTo>
                        <a:pt x="50" y="180"/>
                      </a:lnTo>
                      <a:lnTo>
                        <a:pt x="39" y="167"/>
                      </a:lnTo>
                      <a:lnTo>
                        <a:pt x="32" y="149"/>
                      </a:lnTo>
                      <a:lnTo>
                        <a:pt x="29" y="131"/>
                      </a:lnTo>
                      <a:lnTo>
                        <a:pt x="29" y="111"/>
                      </a:lnTo>
                      <a:lnTo>
                        <a:pt x="35" y="91"/>
                      </a:lnTo>
                      <a:lnTo>
                        <a:pt x="42" y="76"/>
                      </a:lnTo>
                      <a:lnTo>
                        <a:pt x="51" y="62"/>
                      </a:lnTo>
                      <a:lnTo>
                        <a:pt x="62" y="49"/>
                      </a:lnTo>
                      <a:lnTo>
                        <a:pt x="73" y="38"/>
                      </a:lnTo>
                      <a:lnTo>
                        <a:pt x="84" y="28"/>
                      </a:lnTo>
                      <a:lnTo>
                        <a:pt x="96" y="18"/>
                      </a:lnTo>
                      <a:lnTo>
                        <a:pt x="106" y="9"/>
                      </a:lnTo>
                      <a:lnTo>
                        <a:pt x="114" y="1"/>
                      </a:lnTo>
                      <a:lnTo>
                        <a:pt x="106" y="0"/>
                      </a:lnTo>
                      <a:lnTo>
                        <a:pt x="93" y="6"/>
                      </a:lnTo>
                      <a:lnTo>
                        <a:pt x="76" y="18"/>
                      </a:lnTo>
                      <a:lnTo>
                        <a:pt x="56" y="36"/>
                      </a:lnTo>
                      <a:lnTo>
                        <a:pt x="37" y="57"/>
                      </a:lnTo>
                      <a:lnTo>
                        <a:pt x="20" y="80"/>
                      </a:lnTo>
                      <a:lnTo>
                        <a:pt x="7" y="106"/>
                      </a:lnTo>
                      <a:lnTo>
                        <a:pt x="0" y="130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16" name="Freeform 1132">
                  <a:extLst>
                    <a:ext uri="{FF2B5EF4-FFF2-40B4-BE49-F238E27FC236}">
                      <a16:creationId xmlns:a16="http://schemas.microsoft.com/office/drawing/2014/main" id="{5B016010-CD77-48BF-87D4-2E503FC06BD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30" y="2639"/>
                  <a:ext cx="87" cy="73"/>
                </a:xfrm>
                <a:custGeom>
                  <a:avLst/>
                  <a:gdLst>
                    <a:gd name="T0" fmla="*/ 0 w 246"/>
                    <a:gd name="T1" fmla="*/ 0 h 310"/>
                    <a:gd name="T2" fmla="*/ 0 w 246"/>
                    <a:gd name="T3" fmla="*/ 0 h 310"/>
                    <a:gd name="T4" fmla="*/ 0 w 246"/>
                    <a:gd name="T5" fmla="*/ 0 h 310"/>
                    <a:gd name="T6" fmla="*/ 0 w 246"/>
                    <a:gd name="T7" fmla="*/ 0 h 310"/>
                    <a:gd name="T8" fmla="*/ 0 w 246"/>
                    <a:gd name="T9" fmla="*/ 0 h 310"/>
                    <a:gd name="T10" fmla="*/ 0 w 246"/>
                    <a:gd name="T11" fmla="*/ 0 h 310"/>
                    <a:gd name="T12" fmla="*/ 0 w 246"/>
                    <a:gd name="T13" fmla="*/ 0 h 310"/>
                    <a:gd name="T14" fmla="*/ 0 w 246"/>
                    <a:gd name="T15" fmla="*/ 0 h 310"/>
                    <a:gd name="T16" fmla="*/ 0 w 246"/>
                    <a:gd name="T17" fmla="*/ 0 h 310"/>
                    <a:gd name="T18" fmla="*/ 0 w 246"/>
                    <a:gd name="T19" fmla="*/ 0 h 310"/>
                    <a:gd name="T20" fmla="*/ 0 w 246"/>
                    <a:gd name="T21" fmla="*/ 0 h 310"/>
                    <a:gd name="T22" fmla="*/ 0 w 246"/>
                    <a:gd name="T23" fmla="*/ 0 h 310"/>
                    <a:gd name="T24" fmla="*/ 0 w 246"/>
                    <a:gd name="T25" fmla="*/ 0 h 310"/>
                    <a:gd name="T26" fmla="*/ 0 w 246"/>
                    <a:gd name="T27" fmla="*/ 0 h 310"/>
                    <a:gd name="T28" fmla="*/ 0 w 246"/>
                    <a:gd name="T29" fmla="*/ 0 h 310"/>
                    <a:gd name="T30" fmla="*/ 0 w 246"/>
                    <a:gd name="T31" fmla="*/ 0 h 310"/>
                    <a:gd name="T32" fmla="*/ 0 w 246"/>
                    <a:gd name="T33" fmla="*/ 0 h 310"/>
                    <a:gd name="T34" fmla="*/ 0 w 246"/>
                    <a:gd name="T35" fmla="*/ 0 h 310"/>
                    <a:gd name="T36" fmla="*/ 0 w 246"/>
                    <a:gd name="T37" fmla="*/ 0 h 310"/>
                    <a:gd name="T38" fmla="*/ 0 w 246"/>
                    <a:gd name="T39" fmla="*/ 0 h 310"/>
                    <a:gd name="T40" fmla="*/ 0 w 246"/>
                    <a:gd name="T41" fmla="*/ 0 h 310"/>
                    <a:gd name="T42" fmla="*/ 0 w 246"/>
                    <a:gd name="T43" fmla="*/ 0 h 310"/>
                    <a:gd name="T44" fmla="*/ 0 w 246"/>
                    <a:gd name="T45" fmla="*/ 0 h 310"/>
                    <a:gd name="T46" fmla="*/ 0 w 246"/>
                    <a:gd name="T47" fmla="*/ 0 h 310"/>
                    <a:gd name="T48" fmla="*/ 0 w 246"/>
                    <a:gd name="T49" fmla="*/ 0 h 310"/>
                    <a:gd name="T50" fmla="*/ 0 w 246"/>
                    <a:gd name="T51" fmla="*/ 0 h 310"/>
                    <a:gd name="T52" fmla="*/ 0 w 246"/>
                    <a:gd name="T53" fmla="*/ 0 h 310"/>
                    <a:gd name="T54" fmla="*/ 0 w 246"/>
                    <a:gd name="T55" fmla="*/ 0 h 310"/>
                    <a:gd name="T56" fmla="*/ 0 w 246"/>
                    <a:gd name="T57" fmla="*/ 0 h 310"/>
                    <a:gd name="T58" fmla="*/ 0 w 246"/>
                    <a:gd name="T59" fmla="*/ 0 h 310"/>
                    <a:gd name="T60" fmla="*/ 0 w 246"/>
                    <a:gd name="T61" fmla="*/ 0 h 310"/>
                    <a:gd name="T62" fmla="*/ 0 w 246"/>
                    <a:gd name="T63" fmla="*/ 0 h 310"/>
                    <a:gd name="T64" fmla="*/ 0 w 246"/>
                    <a:gd name="T65" fmla="*/ 0 h 310"/>
                    <a:gd name="T66" fmla="*/ 0 w 246"/>
                    <a:gd name="T67" fmla="*/ 0 h 310"/>
                    <a:gd name="T68" fmla="*/ 0 w 246"/>
                    <a:gd name="T69" fmla="*/ 0 h 310"/>
                    <a:gd name="T70" fmla="*/ 0 w 246"/>
                    <a:gd name="T71" fmla="*/ 0 h 310"/>
                    <a:gd name="T72" fmla="*/ 0 w 246"/>
                    <a:gd name="T73" fmla="*/ 0 h 310"/>
                    <a:gd name="T74" fmla="*/ 0 w 246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6"/>
                    <a:gd name="T115" fmla="*/ 0 h 310"/>
                    <a:gd name="T116" fmla="*/ 246 w 246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6" h="310">
                      <a:moveTo>
                        <a:pt x="199" y="116"/>
                      </a:moveTo>
                      <a:lnTo>
                        <a:pt x="207" y="124"/>
                      </a:lnTo>
                      <a:lnTo>
                        <a:pt x="214" y="133"/>
                      </a:lnTo>
                      <a:lnTo>
                        <a:pt x="219" y="143"/>
                      </a:lnTo>
                      <a:lnTo>
                        <a:pt x="223" y="154"/>
                      </a:lnTo>
                      <a:lnTo>
                        <a:pt x="225" y="164"/>
                      </a:lnTo>
                      <a:lnTo>
                        <a:pt x="225" y="176"/>
                      </a:lnTo>
                      <a:lnTo>
                        <a:pt x="221" y="187"/>
                      </a:lnTo>
                      <a:lnTo>
                        <a:pt x="216" y="197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8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3" y="264"/>
                      </a:lnTo>
                      <a:lnTo>
                        <a:pt x="132" y="274"/>
                      </a:lnTo>
                      <a:lnTo>
                        <a:pt x="129" y="278"/>
                      </a:lnTo>
                      <a:lnTo>
                        <a:pt x="126" y="282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1" y="305"/>
                      </a:lnTo>
                      <a:lnTo>
                        <a:pt x="125" y="309"/>
                      </a:lnTo>
                      <a:lnTo>
                        <a:pt x="130" y="310"/>
                      </a:lnTo>
                      <a:lnTo>
                        <a:pt x="134" y="310"/>
                      </a:lnTo>
                      <a:lnTo>
                        <a:pt x="139" y="309"/>
                      </a:lnTo>
                      <a:lnTo>
                        <a:pt x="143" y="305"/>
                      </a:lnTo>
                      <a:lnTo>
                        <a:pt x="154" y="293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19" y="233"/>
                      </a:lnTo>
                      <a:lnTo>
                        <a:pt x="231" y="219"/>
                      </a:lnTo>
                      <a:lnTo>
                        <a:pt x="239" y="204"/>
                      </a:lnTo>
                      <a:lnTo>
                        <a:pt x="245" y="187"/>
                      </a:lnTo>
                      <a:lnTo>
                        <a:pt x="246" y="170"/>
                      </a:lnTo>
                      <a:lnTo>
                        <a:pt x="242" y="153"/>
                      </a:lnTo>
                      <a:lnTo>
                        <a:pt x="236" y="136"/>
                      </a:lnTo>
                      <a:lnTo>
                        <a:pt x="227" y="120"/>
                      </a:lnTo>
                      <a:lnTo>
                        <a:pt x="215" y="107"/>
                      </a:lnTo>
                      <a:lnTo>
                        <a:pt x="201" y="94"/>
                      </a:lnTo>
                      <a:lnTo>
                        <a:pt x="187" y="82"/>
                      </a:lnTo>
                      <a:lnTo>
                        <a:pt x="177" y="74"/>
                      </a:lnTo>
                      <a:lnTo>
                        <a:pt x="165" y="68"/>
                      </a:lnTo>
                      <a:lnTo>
                        <a:pt x="152" y="60"/>
                      </a:lnTo>
                      <a:lnTo>
                        <a:pt x="139" y="51"/>
                      </a:lnTo>
                      <a:lnTo>
                        <a:pt x="126" y="43"/>
                      </a:lnTo>
                      <a:lnTo>
                        <a:pt x="112" y="35"/>
                      </a:lnTo>
                      <a:lnTo>
                        <a:pt x="98" y="28"/>
                      </a:lnTo>
                      <a:lnTo>
                        <a:pt x="85" y="22"/>
                      </a:lnTo>
                      <a:lnTo>
                        <a:pt x="72" y="16"/>
                      </a:lnTo>
                      <a:lnTo>
                        <a:pt x="59" y="10"/>
                      </a:lnTo>
                      <a:lnTo>
                        <a:pt x="46" y="7"/>
                      </a:lnTo>
                      <a:lnTo>
                        <a:pt x="35" y="3"/>
                      </a:lnTo>
                      <a:lnTo>
                        <a:pt x="24" y="1"/>
                      </a:lnTo>
                      <a:lnTo>
                        <a:pt x="15" y="0"/>
                      </a:lnTo>
                      <a:lnTo>
                        <a:pt x="7" y="1"/>
                      </a:lnTo>
                      <a:lnTo>
                        <a:pt x="0" y="3"/>
                      </a:lnTo>
                      <a:lnTo>
                        <a:pt x="8" y="6"/>
                      </a:lnTo>
                      <a:lnTo>
                        <a:pt x="17" y="9"/>
                      </a:lnTo>
                      <a:lnTo>
                        <a:pt x="28" y="14"/>
                      </a:lnTo>
                      <a:lnTo>
                        <a:pt x="38" y="18"/>
                      </a:lnTo>
                      <a:lnTo>
                        <a:pt x="51" y="24"/>
                      </a:lnTo>
                      <a:lnTo>
                        <a:pt x="64" y="30"/>
                      </a:lnTo>
                      <a:lnTo>
                        <a:pt x="78" y="37"/>
                      </a:lnTo>
                      <a:lnTo>
                        <a:pt x="92" y="43"/>
                      </a:lnTo>
                      <a:lnTo>
                        <a:pt x="106" y="51"/>
                      </a:lnTo>
                      <a:lnTo>
                        <a:pt x="120" y="60"/>
                      </a:lnTo>
                      <a:lnTo>
                        <a:pt x="134" y="69"/>
                      </a:lnTo>
                      <a:lnTo>
                        <a:pt x="148" y="78"/>
                      </a:lnTo>
                      <a:lnTo>
                        <a:pt x="163" y="87"/>
                      </a:lnTo>
                      <a:lnTo>
                        <a:pt x="175" y="96"/>
                      </a:lnTo>
                      <a:lnTo>
                        <a:pt x="187" y="105"/>
                      </a:lnTo>
                      <a:lnTo>
                        <a:pt x="199" y="116"/>
                      </a:lnTo>
                      <a:close/>
                    </a:path>
                  </a:pathLst>
                </a:custGeom>
                <a:solidFill>
                  <a:srgbClr val="C9E8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17" name="Freeform 1133">
                  <a:extLst>
                    <a:ext uri="{FF2B5EF4-FFF2-40B4-BE49-F238E27FC236}">
                      <a16:creationId xmlns:a16="http://schemas.microsoft.com/office/drawing/2014/main" id="{9AC32009-F61E-4D94-9281-C68E5EFC52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115" y="2660"/>
                  <a:ext cx="69" cy="55"/>
                </a:xfrm>
                <a:custGeom>
                  <a:avLst/>
                  <a:gdLst>
                    <a:gd name="T0" fmla="*/ 0 w 198"/>
                    <a:gd name="T1" fmla="*/ 0 h 236"/>
                    <a:gd name="T2" fmla="*/ 0 w 198"/>
                    <a:gd name="T3" fmla="*/ 0 h 236"/>
                    <a:gd name="T4" fmla="*/ 0 w 198"/>
                    <a:gd name="T5" fmla="*/ 0 h 236"/>
                    <a:gd name="T6" fmla="*/ 0 w 198"/>
                    <a:gd name="T7" fmla="*/ 0 h 236"/>
                    <a:gd name="T8" fmla="*/ 0 w 198"/>
                    <a:gd name="T9" fmla="*/ 0 h 236"/>
                    <a:gd name="T10" fmla="*/ 0 w 198"/>
                    <a:gd name="T11" fmla="*/ 0 h 236"/>
                    <a:gd name="T12" fmla="*/ 0 w 198"/>
                    <a:gd name="T13" fmla="*/ 0 h 236"/>
                    <a:gd name="T14" fmla="*/ 0 w 198"/>
                    <a:gd name="T15" fmla="*/ 0 h 236"/>
                    <a:gd name="T16" fmla="*/ 0 w 198"/>
                    <a:gd name="T17" fmla="*/ 0 h 236"/>
                    <a:gd name="T18" fmla="*/ 0 w 198"/>
                    <a:gd name="T19" fmla="*/ 0 h 236"/>
                    <a:gd name="T20" fmla="*/ 0 w 198"/>
                    <a:gd name="T21" fmla="*/ 0 h 236"/>
                    <a:gd name="T22" fmla="*/ 0 w 198"/>
                    <a:gd name="T23" fmla="*/ 0 h 236"/>
                    <a:gd name="T24" fmla="*/ 0 w 198"/>
                    <a:gd name="T25" fmla="*/ 0 h 236"/>
                    <a:gd name="T26" fmla="*/ 0 w 198"/>
                    <a:gd name="T27" fmla="*/ 0 h 236"/>
                    <a:gd name="T28" fmla="*/ 0 w 198"/>
                    <a:gd name="T29" fmla="*/ 0 h 236"/>
                    <a:gd name="T30" fmla="*/ 0 w 198"/>
                    <a:gd name="T31" fmla="*/ 0 h 236"/>
                    <a:gd name="T32" fmla="*/ 0 w 198"/>
                    <a:gd name="T33" fmla="*/ 0 h 236"/>
                    <a:gd name="T34" fmla="*/ 0 w 198"/>
                    <a:gd name="T35" fmla="*/ 0 h 236"/>
                    <a:gd name="T36" fmla="*/ 0 w 198"/>
                    <a:gd name="T37" fmla="*/ 0 h 236"/>
                    <a:gd name="T38" fmla="*/ 0 w 198"/>
                    <a:gd name="T39" fmla="*/ 0 h 236"/>
                    <a:gd name="T40" fmla="*/ 0 w 198"/>
                    <a:gd name="T41" fmla="*/ 0 h 236"/>
                    <a:gd name="T42" fmla="*/ 0 w 198"/>
                    <a:gd name="T43" fmla="*/ 0 h 236"/>
                    <a:gd name="T44" fmla="*/ 0 w 198"/>
                    <a:gd name="T45" fmla="*/ 0 h 236"/>
                    <a:gd name="T46" fmla="*/ 0 w 198"/>
                    <a:gd name="T47" fmla="*/ 0 h 236"/>
                    <a:gd name="T48" fmla="*/ 0 w 198"/>
                    <a:gd name="T49" fmla="*/ 0 h 236"/>
                    <a:gd name="T50" fmla="*/ 0 w 198"/>
                    <a:gd name="T51" fmla="*/ 0 h 236"/>
                    <a:gd name="T52" fmla="*/ 0 w 198"/>
                    <a:gd name="T53" fmla="*/ 0 h 236"/>
                    <a:gd name="T54" fmla="*/ 0 w 198"/>
                    <a:gd name="T55" fmla="*/ 0 h 236"/>
                    <a:gd name="T56" fmla="*/ 0 w 198"/>
                    <a:gd name="T57" fmla="*/ 0 h 236"/>
                    <a:gd name="T58" fmla="*/ 0 w 198"/>
                    <a:gd name="T59" fmla="*/ 0 h 236"/>
                    <a:gd name="T60" fmla="*/ 0 w 198"/>
                    <a:gd name="T61" fmla="*/ 0 h 236"/>
                    <a:gd name="T62" fmla="*/ 0 w 198"/>
                    <a:gd name="T63" fmla="*/ 0 h 236"/>
                    <a:gd name="T64" fmla="*/ 0 w 198"/>
                    <a:gd name="T65" fmla="*/ 0 h 236"/>
                    <a:gd name="T66" fmla="*/ 0 w 198"/>
                    <a:gd name="T67" fmla="*/ 0 h 236"/>
                    <a:gd name="T68" fmla="*/ 0 w 198"/>
                    <a:gd name="T69" fmla="*/ 0 h 236"/>
                    <a:gd name="T70" fmla="*/ 0 w 198"/>
                    <a:gd name="T71" fmla="*/ 0 h 236"/>
                    <a:gd name="T72" fmla="*/ 0 w 198"/>
                    <a:gd name="T73" fmla="*/ 0 h 236"/>
                    <a:gd name="T74" fmla="*/ 0 w 198"/>
                    <a:gd name="T75" fmla="*/ 0 h 236"/>
                    <a:gd name="T76" fmla="*/ 0 w 198"/>
                    <a:gd name="T77" fmla="*/ 0 h 236"/>
                    <a:gd name="T78" fmla="*/ 0 w 198"/>
                    <a:gd name="T79" fmla="*/ 0 h 236"/>
                    <a:gd name="T80" fmla="*/ 0 w 198"/>
                    <a:gd name="T81" fmla="*/ 0 h 236"/>
                    <a:gd name="T82" fmla="*/ 0 w 198"/>
                    <a:gd name="T83" fmla="*/ 0 h 236"/>
                    <a:gd name="T84" fmla="*/ 0 w 198"/>
                    <a:gd name="T85" fmla="*/ 0 h 236"/>
                    <a:gd name="T86" fmla="*/ 0 w 198"/>
                    <a:gd name="T87" fmla="*/ 0 h 236"/>
                    <a:gd name="T88" fmla="*/ 0 w 198"/>
                    <a:gd name="T89" fmla="*/ 0 h 236"/>
                    <a:gd name="T90" fmla="*/ 0 w 198"/>
                    <a:gd name="T91" fmla="*/ 0 h 236"/>
                    <a:gd name="T92" fmla="*/ 0 w 198"/>
                    <a:gd name="T93" fmla="*/ 0 h 236"/>
                    <a:gd name="T94" fmla="*/ 0 w 198"/>
                    <a:gd name="T95" fmla="*/ 0 h 236"/>
                    <a:gd name="T96" fmla="*/ 0 w 198"/>
                    <a:gd name="T97" fmla="*/ 0 h 236"/>
                    <a:gd name="T98" fmla="*/ 0 w 198"/>
                    <a:gd name="T99" fmla="*/ 0 h 236"/>
                    <a:gd name="T100" fmla="*/ 0 w 198"/>
                    <a:gd name="T101" fmla="*/ 0 h 236"/>
                    <a:gd name="T102" fmla="*/ 0 w 198"/>
                    <a:gd name="T103" fmla="*/ 0 h 236"/>
                    <a:gd name="T104" fmla="*/ 0 w 198"/>
                    <a:gd name="T105" fmla="*/ 0 h 236"/>
                    <a:gd name="T106" fmla="*/ 0 w 198"/>
                    <a:gd name="T107" fmla="*/ 0 h 236"/>
                    <a:gd name="T108" fmla="*/ 0 w 198"/>
                    <a:gd name="T109" fmla="*/ 0 h 236"/>
                    <a:gd name="T110" fmla="*/ 0 w 198"/>
                    <a:gd name="T111" fmla="*/ 0 h 236"/>
                    <a:gd name="T112" fmla="*/ 0 w 198"/>
                    <a:gd name="T113" fmla="*/ 0 h 236"/>
                    <a:gd name="T114" fmla="*/ 0 w 198"/>
                    <a:gd name="T115" fmla="*/ 0 h 236"/>
                    <a:gd name="T116" fmla="*/ 0 w 198"/>
                    <a:gd name="T117" fmla="*/ 0 h 236"/>
                    <a:gd name="T118" fmla="*/ 0 w 198"/>
                    <a:gd name="T119" fmla="*/ 0 h 236"/>
                    <a:gd name="T120" fmla="*/ 0 w 198"/>
                    <a:gd name="T121" fmla="*/ 0 h 2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198"/>
                    <a:gd name="T184" fmla="*/ 0 h 236"/>
                    <a:gd name="T185" fmla="*/ 198 w 198"/>
                    <a:gd name="T186" fmla="*/ 236 h 236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198" h="236">
                      <a:moveTo>
                        <a:pt x="73" y="36"/>
                      </a:moveTo>
                      <a:lnTo>
                        <a:pt x="58" y="46"/>
                      </a:lnTo>
                      <a:lnTo>
                        <a:pt x="46" y="58"/>
                      </a:lnTo>
                      <a:lnTo>
                        <a:pt x="33" y="72"/>
                      </a:lnTo>
                      <a:lnTo>
                        <a:pt x="22" y="85"/>
                      </a:lnTo>
                      <a:lnTo>
                        <a:pt x="14" y="100"/>
                      </a:lnTo>
                      <a:lnTo>
                        <a:pt x="7" y="115"/>
                      </a:lnTo>
                      <a:lnTo>
                        <a:pt x="2" y="130"/>
                      </a:lnTo>
                      <a:lnTo>
                        <a:pt x="0" y="146"/>
                      </a:lnTo>
                      <a:lnTo>
                        <a:pt x="2" y="170"/>
                      </a:lnTo>
                      <a:lnTo>
                        <a:pt x="12" y="190"/>
                      </a:lnTo>
                      <a:lnTo>
                        <a:pt x="26" y="207"/>
                      </a:lnTo>
                      <a:lnTo>
                        <a:pt x="43" y="220"/>
                      </a:lnTo>
                      <a:lnTo>
                        <a:pt x="64" y="229"/>
                      </a:lnTo>
                      <a:lnTo>
                        <a:pt x="88" y="235"/>
                      </a:lnTo>
                      <a:lnTo>
                        <a:pt x="110" y="236"/>
                      </a:lnTo>
                      <a:lnTo>
                        <a:pt x="132" y="232"/>
                      </a:lnTo>
                      <a:lnTo>
                        <a:pt x="137" y="232"/>
                      </a:lnTo>
                      <a:lnTo>
                        <a:pt x="142" y="230"/>
                      </a:lnTo>
                      <a:lnTo>
                        <a:pt x="145" y="226"/>
                      </a:lnTo>
                      <a:lnTo>
                        <a:pt x="146" y="221"/>
                      </a:lnTo>
                      <a:lnTo>
                        <a:pt x="145" y="219"/>
                      </a:lnTo>
                      <a:lnTo>
                        <a:pt x="142" y="219"/>
                      </a:lnTo>
                      <a:lnTo>
                        <a:pt x="137" y="217"/>
                      </a:lnTo>
                      <a:lnTo>
                        <a:pt x="131" y="217"/>
                      </a:lnTo>
                      <a:lnTo>
                        <a:pt x="124" y="217"/>
                      </a:lnTo>
                      <a:lnTo>
                        <a:pt x="118" y="217"/>
                      </a:lnTo>
                      <a:lnTo>
                        <a:pt x="112" y="217"/>
                      </a:lnTo>
                      <a:lnTo>
                        <a:pt x="109" y="217"/>
                      </a:lnTo>
                      <a:lnTo>
                        <a:pt x="97" y="216"/>
                      </a:lnTo>
                      <a:lnTo>
                        <a:pt x="87" y="215"/>
                      </a:lnTo>
                      <a:lnTo>
                        <a:pt x="75" y="214"/>
                      </a:lnTo>
                      <a:lnTo>
                        <a:pt x="63" y="211"/>
                      </a:lnTo>
                      <a:lnTo>
                        <a:pt x="51" y="207"/>
                      </a:lnTo>
                      <a:lnTo>
                        <a:pt x="40" y="199"/>
                      </a:lnTo>
                      <a:lnTo>
                        <a:pt x="29" y="189"/>
                      </a:lnTo>
                      <a:lnTo>
                        <a:pt x="17" y="174"/>
                      </a:lnTo>
                      <a:lnTo>
                        <a:pt x="15" y="157"/>
                      </a:lnTo>
                      <a:lnTo>
                        <a:pt x="16" y="141"/>
                      </a:lnTo>
                      <a:lnTo>
                        <a:pt x="21" y="124"/>
                      </a:lnTo>
                      <a:lnTo>
                        <a:pt x="28" y="109"/>
                      </a:lnTo>
                      <a:lnTo>
                        <a:pt x="39" y="96"/>
                      </a:lnTo>
                      <a:lnTo>
                        <a:pt x="50" y="82"/>
                      </a:lnTo>
                      <a:lnTo>
                        <a:pt x="63" y="70"/>
                      </a:lnTo>
                      <a:lnTo>
                        <a:pt x="78" y="59"/>
                      </a:lnTo>
                      <a:lnTo>
                        <a:pt x="94" y="49"/>
                      </a:lnTo>
                      <a:lnTo>
                        <a:pt x="110" y="39"/>
                      </a:lnTo>
                      <a:lnTo>
                        <a:pt x="126" y="31"/>
                      </a:lnTo>
                      <a:lnTo>
                        <a:pt x="142" y="24"/>
                      </a:lnTo>
                      <a:lnTo>
                        <a:pt x="158" y="19"/>
                      </a:lnTo>
                      <a:lnTo>
                        <a:pt x="172" y="13"/>
                      </a:lnTo>
                      <a:lnTo>
                        <a:pt x="186" y="10"/>
                      </a:lnTo>
                      <a:lnTo>
                        <a:pt x="198" y="7"/>
                      </a:lnTo>
                      <a:lnTo>
                        <a:pt x="190" y="3"/>
                      </a:lnTo>
                      <a:lnTo>
                        <a:pt x="177" y="0"/>
                      </a:lnTo>
                      <a:lnTo>
                        <a:pt x="162" y="3"/>
                      </a:lnTo>
                      <a:lnTo>
                        <a:pt x="144" y="6"/>
                      </a:lnTo>
                      <a:lnTo>
                        <a:pt x="124" y="12"/>
                      </a:lnTo>
                      <a:lnTo>
                        <a:pt x="105" y="19"/>
                      </a:lnTo>
                      <a:lnTo>
                        <a:pt x="88" y="28"/>
                      </a:lnTo>
                      <a:lnTo>
                        <a:pt x="73" y="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18" name="Freeform 1134">
                  <a:extLst>
                    <a:ext uri="{FF2B5EF4-FFF2-40B4-BE49-F238E27FC236}">
                      <a16:creationId xmlns:a16="http://schemas.microsoft.com/office/drawing/2014/main" id="{5BB075E6-3A93-4644-843B-BEBDF6C1CE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33" y="2660"/>
                  <a:ext cx="47" cy="42"/>
                </a:xfrm>
                <a:custGeom>
                  <a:avLst/>
                  <a:gdLst>
                    <a:gd name="T0" fmla="*/ 0 w 128"/>
                    <a:gd name="T1" fmla="*/ 0 h 183"/>
                    <a:gd name="T2" fmla="*/ 0 w 128"/>
                    <a:gd name="T3" fmla="*/ 0 h 183"/>
                    <a:gd name="T4" fmla="*/ 0 w 128"/>
                    <a:gd name="T5" fmla="*/ 0 h 183"/>
                    <a:gd name="T6" fmla="*/ 0 w 128"/>
                    <a:gd name="T7" fmla="*/ 0 h 183"/>
                    <a:gd name="T8" fmla="*/ 0 w 128"/>
                    <a:gd name="T9" fmla="*/ 0 h 183"/>
                    <a:gd name="T10" fmla="*/ 0 w 128"/>
                    <a:gd name="T11" fmla="*/ 0 h 183"/>
                    <a:gd name="T12" fmla="*/ 0 w 128"/>
                    <a:gd name="T13" fmla="*/ 0 h 183"/>
                    <a:gd name="T14" fmla="*/ 0 w 128"/>
                    <a:gd name="T15" fmla="*/ 0 h 183"/>
                    <a:gd name="T16" fmla="*/ 0 w 128"/>
                    <a:gd name="T17" fmla="*/ 0 h 183"/>
                    <a:gd name="T18" fmla="*/ 0 w 128"/>
                    <a:gd name="T19" fmla="*/ 0 h 183"/>
                    <a:gd name="T20" fmla="*/ 0 w 128"/>
                    <a:gd name="T21" fmla="*/ 0 h 183"/>
                    <a:gd name="T22" fmla="*/ 0 w 128"/>
                    <a:gd name="T23" fmla="*/ 0 h 183"/>
                    <a:gd name="T24" fmla="*/ 0 w 128"/>
                    <a:gd name="T25" fmla="*/ 0 h 183"/>
                    <a:gd name="T26" fmla="*/ 0 w 128"/>
                    <a:gd name="T27" fmla="*/ 0 h 183"/>
                    <a:gd name="T28" fmla="*/ 0 w 128"/>
                    <a:gd name="T29" fmla="*/ 0 h 183"/>
                    <a:gd name="T30" fmla="*/ 0 w 128"/>
                    <a:gd name="T31" fmla="*/ 0 h 183"/>
                    <a:gd name="T32" fmla="*/ 0 w 128"/>
                    <a:gd name="T33" fmla="*/ 0 h 183"/>
                    <a:gd name="T34" fmla="*/ 0 w 128"/>
                    <a:gd name="T35" fmla="*/ 0 h 183"/>
                    <a:gd name="T36" fmla="*/ 0 w 128"/>
                    <a:gd name="T37" fmla="*/ 0 h 183"/>
                    <a:gd name="T38" fmla="*/ 0 w 128"/>
                    <a:gd name="T39" fmla="*/ 0 h 183"/>
                    <a:gd name="T40" fmla="*/ 0 w 128"/>
                    <a:gd name="T41" fmla="*/ 0 h 183"/>
                    <a:gd name="T42" fmla="*/ 0 w 128"/>
                    <a:gd name="T43" fmla="*/ 0 h 183"/>
                    <a:gd name="T44" fmla="*/ 0 w 128"/>
                    <a:gd name="T45" fmla="*/ 0 h 183"/>
                    <a:gd name="T46" fmla="*/ 0 w 128"/>
                    <a:gd name="T47" fmla="*/ 0 h 183"/>
                    <a:gd name="T48" fmla="*/ 0 w 128"/>
                    <a:gd name="T49" fmla="*/ 0 h 183"/>
                    <a:gd name="T50" fmla="*/ 0 w 128"/>
                    <a:gd name="T51" fmla="*/ 0 h 183"/>
                    <a:gd name="T52" fmla="*/ 0 w 128"/>
                    <a:gd name="T53" fmla="*/ 0 h 183"/>
                    <a:gd name="T54" fmla="*/ 0 w 128"/>
                    <a:gd name="T55" fmla="*/ 0 h 183"/>
                    <a:gd name="T56" fmla="*/ 0 w 128"/>
                    <a:gd name="T57" fmla="*/ 0 h 183"/>
                    <a:gd name="T58" fmla="*/ 0 w 128"/>
                    <a:gd name="T59" fmla="*/ 0 h 183"/>
                    <a:gd name="T60" fmla="*/ 0 w 128"/>
                    <a:gd name="T61" fmla="*/ 0 h 183"/>
                    <a:gd name="T62" fmla="*/ 0 w 128"/>
                    <a:gd name="T63" fmla="*/ 0 h 183"/>
                    <a:gd name="T64" fmla="*/ 0 w 128"/>
                    <a:gd name="T65" fmla="*/ 0 h 183"/>
                    <a:gd name="T66" fmla="*/ 0 w 128"/>
                    <a:gd name="T67" fmla="*/ 0 h 183"/>
                    <a:gd name="T68" fmla="*/ 0 w 128"/>
                    <a:gd name="T69" fmla="*/ 0 h 183"/>
                    <a:gd name="T70" fmla="*/ 0 w 128"/>
                    <a:gd name="T71" fmla="*/ 0 h 183"/>
                    <a:gd name="T72" fmla="*/ 0 w 128"/>
                    <a:gd name="T73" fmla="*/ 0 h 183"/>
                    <a:gd name="T74" fmla="*/ 0 w 128"/>
                    <a:gd name="T75" fmla="*/ 0 h 183"/>
                    <a:gd name="T76" fmla="*/ 0 w 128"/>
                    <a:gd name="T77" fmla="*/ 0 h 183"/>
                    <a:gd name="T78" fmla="*/ 0 w 128"/>
                    <a:gd name="T79" fmla="*/ 0 h 183"/>
                    <a:gd name="T80" fmla="*/ 0 w 128"/>
                    <a:gd name="T81" fmla="*/ 0 h 183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28"/>
                    <a:gd name="T124" fmla="*/ 0 h 183"/>
                    <a:gd name="T125" fmla="*/ 128 w 128"/>
                    <a:gd name="T126" fmla="*/ 183 h 183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28" h="183">
                      <a:moveTo>
                        <a:pt x="108" y="61"/>
                      </a:moveTo>
                      <a:lnTo>
                        <a:pt x="111" y="80"/>
                      </a:lnTo>
                      <a:lnTo>
                        <a:pt x="109" y="97"/>
                      </a:lnTo>
                      <a:lnTo>
                        <a:pt x="101" y="110"/>
                      </a:lnTo>
                      <a:lnTo>
                        <a:pt x="89" y="123"/>
                      </a:lnTo>
                      <a:lnTo>
                        <a:pt x="75" y="134"/>
                      </a:lnTo>
                      <a:lnTo>
                        <a:pt x="60" y="145"/>
                      </a:lnTo>
                      <a:lnTo>
                        <a:pt x="43" y="156"/>
                      </a:lnTo>
                      <a:lnTo>
                        <a:pt x="29" y="167"/>
                      </a:lnTo>
                      <a:lnTo>
                        <a:pt x="27" y="170"/>
                      </a:lnTo>
                      <a:lnTo>
                        <a:pt x="26" y="172"/>
                      </a:lnTo>
                      <a:lnTo>
                        <a:pt x="26" y="176"/>
                      </a:lnTo>
                      <a:lnTo>
                        <a:pt x="28" y="179"/>
                      </a:lnTo>
                      <a:lnTo>
                        <a:pt x="30" y="182"/>
                      </a:lnTo>
                      <a:lnTo>
                        <a:pt x="34" y="183"/>
                      </a:lnTo>
                      <a:lnTo>
                        <a:pt x="37" y="183"/>
                      </a:lnTo>
                      <a:lnTo>
                        <a:pt x="41" y="182"/>
                      </a:lnTo>
                      <a:lnTo>
                        <a:pt x="58" y="171"/>
                      </a:lnTo>
                      <a:lnTo>
                        <a:pt x="76" y="160"/>
                      </a:lnTo>
                      <a:lnTo>
                        <a:pt x="92" y="147"/>
                      </a:lnTo>
                      <a:lnTo>
                        <a:pt x="108" y="132"/>
                      </a:lnTo>
                      <a:lnTo>
                        <a:pt x="118" y="116"/>
                      </a:lnTo>
                      <a:lnTo>
                        <a:pt x="125" y="98"/>
                      </a:lnTo>
                      <a:lnTo>
                        <a:pt x="128" y="78"/>
                      </a:lnTo>
                      <a:lnTo>
                        <a:pt x="123" y="58"/>
                      </a:lnTo>
                      <a:lnTo>
                        <a:pt x="112" y="41"/>
                      </a:lnTo>
                      <a:lnTo>
                        <a:pt x="98" y="28"/>
                      </a:lnTo>
                      <a:lnTo>
                        <a:pt x="80" y="16"/>
                      </a:lnTo>
                      <a:lnTo>
                        <a:pt x="61" y="8"/>
                      </a:lnTo>
                      <a:lnTo>
                        <a:pt x="41" y="2"/>
                      </a:lnTo>
                      <a:lnTo>
                        <a:pt x="23" y="0"/>
                      </a:lnTo>
                      <a:lnTo>
                        <a:pt x="9" y="1"/>
                      </a:lnTo>
                      <a:lnTo>
                        <a:pt x="0" y="6"/>
                      </a:lnTo>
                      <a:lnTo>
                        <a:pt x="16" y="10"/>
                      </a:lnTo>
                      <a:lnTo>
                        <a:pt x="33" y="14"/>
                      </a:lnTo>
                      <a:lnTo>
                        <a:pt x="48" y="17"/>
                      </a:lnTo>
                      <a:lnTo>
                        <a:pt x="63" y="22"/>
                      </a:lnTo>
                      <a:lnTo>
                        <a:pt x="77" y="28"/>
                      </a:lnTo>
                      <a:lnTo>
                        <a:pt x="90" y="36"/>
                      </a:lnTo>
                      <a:lnTo>
                        <a:pt x="101" y="46"/>
                      </a:lnTo>
                      <a:lnTo>
                        <a:pt x="108" y="6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19" name="Freeform 1135">
                  <a:extLst>
                    <a:ext uri="{FF2B5EF4-FFF2-40B4-BE49-F238E27FC236}">
                      <a16:creationId xmlns:a16="http://schemas.microsoft.com/office/drawing/2014/main" id="{5BE7ABD5-C869-4822-A4A7-6EA53D9893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70" y="2650"/>
                  <a:ext cx="112" cy="88"/>
                </a:xfrm>
                <a:custGeom>
                  <a:avLst/>
                  <a:gdLst>
                    <a:gd name="T0" fmla="*/ 0 w 323"/>
                    <a:gd name="T1" fmla="*/ 0 h 379"/>
                    <a:gd name="T2" fmla="*/ 0 w 323"/>
                    <a:gd name="T3" fmla="*/ 0 h 379"/>
                    <a:gd name="T4" fmla="*/ 0 w 323"/>
                    <a:gd name="T5" fmla="*/ 0 h 379"/>
                    <a:gd name="T6" fmla="*/ 0 w 323"/>
                    <a:gd name="T7" fmla="*/ 0 h 379"/>
                    <a:gd name="T8" fmla="*/ 0 w 323"/>
                    <a:gd name="T9" fmla="*/ 0 h 379"/>
                    <a:gd name="T10" fmla="*/ 0 w 323"/>
                    <a:gd name="T11" fmla="*/ 0 h 379"/>
                    <a:gd name="T12" fmla="*/ 0 w 323"/>
                    <a:gd name="T13" fmla="*/ 0 h 379"/>
                    <a:gd name="T14" fmla="*/ 0 w 323"/>
                    <a:gd name="T15" fmla="*/ 0 h 379"/>
                    <a:gd name="T16" fmla="*/ 0 w 323"/>
                    <a:gd name="T17" fmla="*/ 0 h 379"/>
                    <a:gd name="T18" fmla="*/ 0 w 323"/>
                    <a:gd name="T19" fmla="*/ 0 h 379"/>
                    <a:gd name="T20" fmla="*/ 0 w 323"/>
                    <a:gd name="T21" fmla="*/ 0 h 379"/>
                    <a:gd name="T22" fmla="*/ 0 w 323"/>
                    <a:gd name="T23" fmla="*/ 0 h 379"/>
                    <a:gd name="T24" fmla="*/ 0 w 323"/>
                    <a:gd name="T25" fmla="*/ 0 h 379"/>
                    <a:gd name="T26" fmla="*/ 0 w 323"/>
                    <a:gd name="T27" fmla="*/ 0 h 379"/>
                    <a:gd name="T28" fmla="*/ 0 w 323"/>
                    <a:gd name="T29" fmla="*/ 0 h 379"/>
                    <a:gd name="T30" fmla="*/ 0 w 323"/>
                    <a:gd name="T31" fmla="*/ 0 h 379"/>
                    <a:gd name="T32" fmla="*/ 0 w 323"/>
                    <a:gd name="T33" fmla="*/ 0 h 379"/>
                    <a:gd name="T34" fmla="*/ 0 w 323"/>
                    <a:gd name="T35" fmla="*/ 0 h 379"/>
                    <a:gd name="T36" fmla="*/ 0 w 323"/>
                    <a:gd name="T37" fmla="*/ 0 h 379"/>
                    <a:gd name="T38" fmla="*/ 0 w 323"/>
                    <a:gd name="T39" fmla="*/ 0 h 379"/>
                    <a:gd name="T40" fmla="*/ 0 w 323"/>
                    <a:gd name="T41" fmla="*/ 0 h 379"/>
                    <a:gd name="T42" fmla="*/ 0 w 323"/>
                    <a:gd name="T43" fmla="*/ 0 h 379"/>
                    <a:gd name="T44" fmla="*/ 0 w 323"/>
                    <a:gd name="T45" fmla="*/ 0 h 379"/>
                    <a:gd name="T46" fmla="*/ 0 w 323"/>
                    <a:gd name="T47" fmla="*/ 0 h 379"/>
                    <a:gd name="T48" fmla="*/ 0 w 323"/>
                    <a:gd name="T49" fmla="*/ 0 h 379"/>
                    <a:gd name="T50" fmla="*/ 0 w 323"/>
                    <a:gd name="T51" fmla="*/ 0 h 379"/>
                    <a:gd name="T52" fmla="*/ 0 w 323"/>
                    <a:gd name="T53" fmla="*/ 0 h 379"/>
                    <a:gd name="T54" fmla="*/ 0 w 323"/>
                    <a:gd name="T55" fmla="*/ 0 h 379"/>
                    <a:gd name="T56" fmla="*/ 0 w 323"/>
                    <a:gd name="T57" fmla="*/ 0 h 379"/>
                    <a:gd name="T58" fmla="*/ 0 w 323"/>
                    <a:gd name="T59" fmla="*/ 0 h 379"/>
                    <a:gd name="T60" fmla="*/ 0 w 323"/>
                    <a:gd name="T61" fmla="*/ 0 h 379"/>
                    <a:gd name="T62" fmla="*/ 0 w 323"/>
                    <a:gd name="T63" fmla="*/ 0 h 379"/>
                    <a:gd name="T64" fmla="*/ 0 w 323"/>
                    <a:gd name="T65" fmla="*/ 0 h 379"/>
                    <a:gd name="T66" fmla="*/ 0 w 323"/>
                    <a:gd name="T67" fmla="*/ 0 h 379"/>
                    <a:gd name="T68" fmla="*/ 0 w 323"/>
                    <a:gd name="T69" fmla="*/ 0 h 379"/>
                    <a:gd name="T70" fmla="*/ 0 w 323"/>
                    <a:gd name="T71" fmla="*/ 0 h 379"/>
                    <a:gd name="T72" fmla="*/ 0 w 323"/>
                    <a:gd name="T73" fmla="*/ 0 h 379"/>
                    <a:gd name="T74" fmla="*/ 0 w 323"/>
                    <a:gd name="T75" fmla="*/ 0 h 379"/>
                    <a:gd name="T76" fmla="*/ 0 w 323"/>
                    <a:gd name="T77" fmla="*/ 0 h 379"/>
                    <a:gd name="T78" fmla="*/ 0 w 323"/>
                    <a:gd name="T79" fmla="*/ 0 h 379"/>
                    <a:gd name="T80" fmla="*/ 0 w 323"/>
                    <a:gd name="T81" fmla="*/ 0 h 379"/>
                    <a:gd name="T82" fmla="*/ 0 w 323"/>
                    <a:gd name="T83" fmla="*/ 0 h 379"/>
                    <a:gd name="T84" fmla="*/ 0 w 323"/>
                    <a:gd name="T85" fmla="*/ 0 h 379"/>
                    <a:gd name="T86" fmla="*/ 0 w 323"/>
                    <a:gd name="T87" fmla="*/ 0 h 379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w 323"/>
                    <a:gd name="T133" fmla="*/ 0 h 379"/>
                    <a:gd name="T134" fmla="*/ 323 w 323"/>
                    <a:gd name="T135" fmla="*/ 379 h 379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T132" t="T133" r="T134" b="T135"/>
                  <a:pathLst>
                    <a:path w="323" h="379">
                      <a:moveTo>
                        <a:pt x="126" y="50"/>
                      </a:moveTo>
                      <a:lnTo>
                        <a:pt x="101" y="70"/>
                      </a:lnTo>
                      <a:lnTo>
                        <a:pt x="76" y="92"/>
                      </a:lnTo>
                      <a:lnTo>
                        <a:pt x="54" y="115"/>
                      </a:lnTo>
                      <a:lnTo>
                        <a:pt x="34" y="140"/>
                      </a:lnTo>
                      <a:lnTo>
                        <a:pt x="18" y="167"/>
                      </a:lnTo>
                      <a:lnTo>
                        <a:pt x="6" y="196"/>
                      </a:lnTo>
                      <a:lnTo>
                        <a:pt x="0" y="227"/>
                      </a:lnTo>
                      <a:lnTo>
                        <a:pt x="1" y="259"/>
                      </a:lnTo>
                      <a:lnTo>
                        <a:pt x="4" y="267"/>
                      </a:lnTo>
                      <a:lnTo>
                        <a:pt x="7" y="277"/>
                      </a:lnTo>
                      <a:lnTo>
                        <a:pt x="11" y="283"/>
                      </a:lnTo>
                      <a:lnTo>
                        <a:pt x="15" y="291"/>
                      </a:lnTo>
                      <a:lnTo>
                        <a:pt x="21" y="298"/>
                      </a:lnTo>
                      <a:lnTo>
                        <a:pt x="27" y="305"/>
                      </a:lnTo>
                      <a:lnTo>
                        <a:pt x="34" y="311"/>
                      </a:lnTo>
                      <a:lnTo>
                        <a:pt x="41" y="316"/>
                      </a:lnTo>
                      <a:lnTo>
                        <a:pt x="57" y="325"/>
                      </a:lnTo>
                      <a:lnTo>
                        <a:pt x="72" y="333"/>
                      </a:lnTo>
                      <a:lnTo>
                        <a:pt x="87" y="340"/>
                      </a:lnTo>
                      <a:lnTo>
                        <a:pt x="103" y="345"/>
                      </a:lnTo>
                      <a:lnTo>
                        <a:pt x="120" y="351"/>
                      </a:lnTo>
                      <a:lnTo>
                        <a:pt x="136" y="356"/>
                      </a:lnTo>
                      <a:lnTo>
                        <a:pt x="153" y="360"/>
                      </a:lnTo>
                      <a:lnTo>
                        <a:pt x="169" y="364"/>
                      </a:lnTo>
                      <a:lnTo>
                        <a:pt x="187" y="367"/>
                      </a:lnTo>
                      <a:lnTo>
                        <a:pt x="204" y="370"/>
                      </a:lnTo>
                      <a:lnTo>
                        <a:pt x="221" y="372"/>
                      </a:lnTo>
                      <a:lnTo>
                        <a:pt x="238" y="374"/>
                      </a:lnTo>
                      <a:lnTo>
                        <a:pt x="256" y="375"/>
                      </a:lnTo>
                      <a:lnTo>
                        <a:pt x="273" y="376"/>
                      </a:lnTo>
                      <a:lnTo>
                        <a:pt x="290" y="378"/>
                      </a:lnTo>
                      <a:lnTo>
                        <a:pt x="307" y="379"/>
                      </a:lnTo>
                      <a:lnTo>
                        <a:pt x="312" y="379"/>
                      </a:lnTo>
                      <a:lnTo>
                        <a:pt x="317" y="375"/>
                      </a:lnTo>
                      <a:lnTo>
                        <a:pt x="320" y="372"/>
                      </a:lnTo>
                      <a:lnTo>
                        <a:pt x="323" y="366"/>
                      </a:lnTo>
                      <a:lnTo>
                        <a:pt x="323" y="360"/>
                      </a:lnTo>
                      <a:lnTo>
                        <a:pt x="320" y="356"/>
                      </a:lnTo>
                      <a:lnTo>
                        <a:pt x="316" y="352"/>
                      </a:lnTo>
                      <a:lnTo>
                        <a:pt x="311" y="351"/>
                      </a:lnTo>
                      <a:lnTo>
                        <a:pt x="295" y="351"/>
                      </a:lnTo>
                      <a:lnTo>
                        <a:pt x="279" y="351"/>
                      </a:lnTo>
                      <a:lnTo>
                        <a:pt x="263" y="350"/>
                      </a:lnTo>
                      <a:lnTo>
                        <a:pt x="248" y="349"/>
                      </a:lnTo>
                      <a:lnTo>
                        <a:pt x="231" y="348"/>
                      </a:lnTo>
                      <a:lnTo>
                        <a:pt x="215" y="345"/>
                      </a:lnTo>
                      <a:lnTo>
                        <a:pt x="200" y="343"/>
                      </a:lnTo>
                      <a:lnTo>
                        <a:pt x="183" y="341"/>
                      </a:lnTo>
                      <a:lnTo>
                        <a:pt x="168" y="337"/>
                      </a:lnTo>
                      <a:lnTo>
                        <a:pt x="151" y="334"/>
                      </a:lnTo>
                      <a:lnTo>
                        <a:pt x="136" y="329"/>
                      </a:lnTo>
                      <a:lnTo>
                        <a:pt x="121" y="325"/>
                      </a:lnTo>
                      <a:lnTo>
                        <a:pt x="106" y="320"/>
                      </a:lnTo>
                      <a:lnTo>
                        <a:pt x="92" y="313"/>
                      </a:lnTo>
                      <a:lnTo>
                        <a:pt x="76" y="306"/>
                      </a:lnTo>
                      <a:lnTo>
                        <a:pt x="62" y="300"/>
                      </a:lnTo>
                      <a:lnTo>
                        <a:pt x="51" y="291"/>
                      </a:lnTo>
                      <a:lnTo>
                        <a:pt x="41" y="280"/>
                      </a:lnTo>
                      <a:lnTo>
                        <a:pt x="35" y="269"/>
                      </a:lnTo>
                      <a:lnTo>
                        <a:pt x="31" y="255"/>
                      </a:lnTo>
                      <a:lnTo>
                        <a:pt x="31" y="239"/>
                      </a:lnTo>
                      <a:lnTo>
                        <a:pt x="33" y="218"/>
                      </a:lnTo>
                      <a:lnTo>
                        <a:pt x="38" y="197"/>
                      </a:lnTo>
                      <a:lnTo>
                        <a:pt x="42" y="182"/>
                      </a:lnTo>
                      <a:lnTo>
                        <a:pt x="51" y="165"/>
                      </a:lnTo>
                      <a:lnTo>
                        <a:pt x="60" y="150"/>
                      </a:lnTo>
                      <a:lnTo>
                        <a:pt x="68" y="136"/>
                      </a:lnTo>
                      <a:lnTo>
                        <a:pt x="79" y="124"/>
                      </a:lnTo>
                      <a:lnTo>
                        <a:pt x="89" y="111"/>
                      </a:lnTo>
                      <a:lnTo>
                        <a:pt x="101" y="100"/>
                      </a:lnTo>
                      <a:lnTo>
                        <a:pt x="114" y="88"/>
                      </a:lnTo>
                      <a:lnTo>
                        <a:pt x="129" y="76"/>
                      </a:lnTo>
                      <a:lnTo>
                        <a:pt x="144" y="64"/>
                      </a:lnTo>
                      <a:lnTo>
                        <a:pt x="162" y="53"/>
                      </a:lnTo>
                      <a:lnTo>
                        <a:pt x="181" y="41"/>
                      </a:lnTo>
                      <a:lnTo>
                        <a:pt x="201" y="31"/>
                      </a:lnTo>
                      <a:lnTo>
                        <a:pt x="219" y="22"/>
                      </a:lnTo>
                      <a:lnTo>
                        <a:pt x="237" y="14"/>
                      </a:lnTo>
                      <a:lnTo>
                        <a:pt x="253" y="7"/>
                      </a:lnTo>
                      <a:lnTo>
                        <a:pt x="268" y="1"/>
                      </a:lnTo>
                      <a:lnTo>
                        <a:pt x="255" y="0"/>
                      </a:lnTo>
                      <a:lnTo>
                        <a:pt x="238" y="1"/>
                      </a:lnTo>
                      <a:lnTo>
                        <a:pt x="221" y="5"/>
                      </a:lnTo>
                      <a:lnTo>
                        <a:pt x="201" y="11"/>
                      </a:lnTo>
                      <a:lnTo>
                        <a:pt x="181" y="19"/>
                      </a:lnTo>
                      <a:lnTo>
                        <a:pt x="161" y="28"/>
                      </a:lnTo>
                      <a:lnTo>
                        <a:pt x="142" y="39"/>
                      </a:lnTo>
                      <a:lnTo>
                        <a:pt x="126" y="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20" name="Freeform 1136">
                  <a:extLst>
                    <a:ext uri="{FF2B5EF4-FFF2-40B4-BE49-F238E27FC236}">
                      <a16:creationId xmlns:a16="http://schemas.microsoft.com/office/drawing/2014/main" id="{8586E1F0-89C8-4E48-82A6-854380FEEF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29" y="2647"/>
                  <a:ext cx="99" cy="59"/>
                </a:xfrm>
                <a:custGeom>
                  <a:avLst/>
                  <a:gdLst>
                    <a:gd name="T0" fmla="*/ 0 w 282"/>
                    <a:gd name="T1" fmla="*/ 0 h 253"/>
                    <a:gd name="T2" fmla="*/ 0 w 282"/>
                    <a:gd name="T3" fmla="*/ 0 h 253"/>
                    <a:gd name="T4" fmla="*/ 0 w 282"/>
                    <a:gd name="T5" fmla="*/ 0 h 253"/>
                    <a:gd name="T6" fmla="*/ 0 w 282"/>
                    <a:gd name="T7" fmla="*/ 0 h 253"/>
                    <a:gd name="T8" fmla="*/ 0 w 282"/>
                    <a:gd name="T9" fmla="*/ 0 h 253"/>
                    <a:gd name="T10" fmla="*/ 0 w 282"/>
                    <a:gd name="T11" fmla="*/ 0 h 253"/>
                    <a:gd name="T12" fmla="*/ 0 w 282"/>
                    <a:gd name="T13" fmla="*/ 0 h 253"/>
                    <a:gd name="T14" fmla="*/ 0 w 282"/>
                    <a:gd name="T15" fmla="*/ 0 h 253"/>
                    <a:gd name="T16" fmla="*/ 0 w 282"/>
                    <a:gd name="T17" fmla="*/ 0 h 253"/>
                    <a:gd name="T18" fmla="*/ 0 w 282"/>
                    <a:gd name="T19" fmla="*/ 0 h 253"/>
                    <a:gd name="T20" fmla="*/ 0 w 282"/>
                    <a:gd name="T21" fmla="*/ 0 h 253"/>
                    <a:gd name="T22" fmla="*/ 0 w 282"/>
                    <a:gd name="T23" fmla="*/ 0 h 253"/>
                    <a:gd name="T24" fmla="*/ 0 w 282"/>
                    <a:gd name="T25" fmla="*/ 0 h 253"/>
                    <a:gd name="T26" fmla="*/ 0 w 282"/>
                    <a:gd name="T27" fmla="*/ 0 h 253"/>
                    <a:gd name="T28" fmla="*/ 0 w 282"/>
                    <a:gd name="T29" fmla="*/ 0 h 253"/>
                    <a:gd name="T30" fmla="*/ 0 w 282"/>
                    <a:gd name="T31" fmla="*/ 0 h 253"/>
                    <a:gd name="T32" fmla="*/ 0 w 282"/>
                    <a:gd name="T33" fmla="*/ 0 h 253"/>
                    <a:gd name="T34" fmla="*/ 0 w 282"/>
                    <a:gd name="T35" fmla="*/ 0 h 253"/>
                    <a:gd name="T36" fmla="*/ 0 w 282"/>
                    <a:gd name="T37" fmla="*/ 0 h 253"/>
                    <a:gd name="T38" fmla="*/ 0 w 282"/>
                    <a:gd name="T39" fmla="*/ 0 h 253"/>
                    <a:gd name="T40" fmla="*/ 0 w 282"/>
                    <a:gd name="T41" fmla="*/ 0 h 253"/>
                    <a:gd name="T42" fmla="*/ 0 w 282"/>
                    <a:gd name="T43" fmla="*/ 0 h 253"/>
                    <a:gd name="T44" fmla="*/ 0 w 282"/>
                    <a:gd name="T45" fmla="*/ 0 h 253"/>
                    <a:gd name="T46" fmla="*/ 0 w 282"/>
                    <a:gd name="T47" fmla="*/ 0 h 253"/>
                    <a:gd name="T48" fmla="*/ 0 w 282"/>
                    <a:gd name="T49" fmla="*/ 0 h 253"/>
                    <a:gd name="T50" fmla="*/ 0 w 282"/>
                    <a:gd name="T51" fmla="*/ 0 h 253"/>
                    <a:gd name="T52" fmla="*/ 0 w 282"/>
                    <a:gd name="T53" fmla="*/ 0 h 253"/>
                    <a:gd name="T54" fmla="*/ 0 w 282"/>
                    <a:gd name="T55" fmla="*/ 0 h 253"/>
                    <a:gd name="T56" fmla="*/ 0 w 282"/>
                    <a:gd name="T57" fmla="*/ 0 h 253"/>
                    <a:gd name="T58" fmla="*/ 0 w 282"/>
                    <a:gd name="T59" fmla="*/ 0 h 253"/>
                    <a:gd name="T60" fmla="*/ 0 w 282"/>
                    <a:gd name="T61" fmla="*/ 0 h 253"/>
                    <a:gd name="T62" fmla="*/ 0 w 282"/>
                    <a:gd name="T63" fmla="*/ 0 h 253"/>
                    <a:gd name="T64" fmla="*/ 0 w 282"/>
                    <a:gd name="T65" fmla="*/ 0 h 253"/>
                    <a:gd name="T66" fmla="*/ 0 w 282"/>
                    <a:gd name="T67" fmla="*/ 0 h 253"/>
                    <a:gd name="T68" fmla="*/ 0 w 282"/>
                    <a:gd name="T69" fmla="*/ 0 h 253"/>
                    <a:gd name="T70" fmla="*/ 0 w 282"/>
                    <a:gd name="T71" fmla="*/ 0 h 253"/>
                    <a:gd name="T72" fmla="*/ 0 w 282"/>
                    <a:gd name="T73" fmla="*/ 0 h 253"/>
                    <a:gd name="T74" fmla="*/ 0 w 282"/>
                    <a:gd name="T75" fmla="*/ 0 h 253"/>
                    <a:gd name="T76" fmla="*/ 0 w 282"/>
                    <a:gd name="T77" fmla="*/ 0 h 253"/>
                    <a:gd name="T78" fmla="*/ 0 w 282"/>
                    <a:gd name="T79" fmla="*/ 0 h 253"/>
                    <a:gd name="T80" fmla="*/ 0 w 282"/>
                    <a:gd name="T81" fmla="*/ 0 h 253"/>
                    <a:gd name="T82" fmla="*/ 0 w 282"/>
                    <a:gd name="T83" fmla="*/ 0 h 253"/>
                    <a:gd name="T84" fmla="*/ 0 w 282"/>
                    <a:gd name="T85" fmla="*/ 0 h 253"/>
                    <a:gd name="T86" fmla="*/ 0 w 282"/>
                    <a:gd name="T87" fmla="*/ 0 h 253"/>
                    <a:gd name="T88" fmla="*/ 0 w 282"/>
                    <a:gd name="T89" fmla="*/ 0 h 253"/>
                    <a:gd name="T90" fmla="*/ 0 w 282"/>
                    <a:gd name="T91" fmla="*/ 0 h 253"/>
                    <a:gd name="T92" fmla="*/ 0 w 282"/>
                    <a:gd name="T93" fmla="*/ 0 h 253"/>
                    <a:gd name="T94" fmla="*/ 0 w 282"/>
                    <a:gd name="T95" fmla="*/ 0 h 253"/>
                    <a:gd name="T96" fmla="*/ 0 w 282"/>
                    <a:gd name="T97" fmla="*/ 0 h 253"/>
                    <a:gd name="T98" fmla="*/ 0 w 282"/>
                    <a:gd name="T99" fmla="*/ 0 h 253"/>
                    <a:gd name="T100" fmla="*/ 0 w 282"/>
                    <a:gd name="T101" fmla="*/ 0 h 253"/>
                    <a:gd name="T102" fmla="*/ 0 w 282"/>
                    <a:gd name="T103" fmla="*/ 0 h 253"/>
                    <a:gd name="T104" fmla="*/ 0 w 282"/>
                    <a:gd name="T105" fmla="*/ 0 h 253"/>
                    <a:gd name="T106" fmla="*/ 0 w 282"/>
                    <a:gd name="T107" fmla="*/ 0 h 253"/>
                    <a:gd name="T108" fmla="*/ 0 w 282"/>
                    <a:gd name="T109" fmla="*/ 0 h 253"/>
                    <a:gd name="T110" fmla="*/ 0 w 282"/>
                    <a:gd name="T111" fmla="*/ 0 h 253"/>
                    <a:gd name="T112" fmla="*/ 0 w 282"/>
                    <a:gd name="T113" fmla="*/ 0 h 253"/>
                    <a:gd name="T114" fmla="*/ 0 w 282"/>
                    <a:gd name="T115" fmla="*/ 0 h 253"/>
                    <a:gd name="T116" fmla="*/ 0 w 282"/>
                    <a:gd name="T117" fmla="*/ 0 h 253"/>
                    <a:gd name="T118" fmla="*/ 0 w 282"/>
                    <a:gd name="T119" fmla="*/ 0 h 253"/>
                    <a:gd name="T120" fmla="*/ 0 w 282"/>
                    <a:gd name="T121" fmla="*/ 0 h 253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  <a:gd name="T180" fmla="*/ 0 60000 65536"/>
                    <a:gd name="T181" fmla="*/ 0 60000 65536"/>
                    <a:gd name="T182" fmla="*/ 0 60000 65536"/>
                    <a:gd name="T183" fmla="*/ 0 w 282"/>
                    <a:gd name="T184" fmla="*/ 0 h 253"/>
                    <a:gd name="T185" fmla="*/ 282 w 282"/>
                    <a:gd name="T186" fmla="*/ 253 h 253"/>
                  </a:gdLst>
                  <a:ahLst/>
                  <a:cxnLst>
                    <a:cxn ang="T122">
                      <a:pos x="T0" y="T1"/>
                    </a:cxn>
                    <a:cxn ang="T123">
                      <a:pos x="T2" y="T3"/>
                    </a:cxn>
                    <a:cxn ang="T124">
                      <a:pos x="T4" y="T5"/>
                    </a:cxn>
                    <a:cxn ang="T125">
                      <a:pos x="T6" y="T7"/>
                    </a:cxn>
                    <a:cxn ang="T126">
                      <a:pos x="T8" y="T9"/>
                    </a:cxn>
                    <a:cxn ang="T127">
                      <a:pos x="T10" y="T11"/>
                    </a:cxn>
                    <a:cxn ang="T128">
                      <a:pos x="T12" y="T13"/>
                    </a:cxn>
                    <a:cxn ang="T129">
                      <a:pos x="T14" y="T15"/>
                    </a:cxn>
                    <a:cxn ang="T130">
                      <a:pos x="T16" y="T17"/>
                    </a:cxn>
                    <a:cxn ang="T131">
                      <a:pos x="T18" y="T19"/>
                    </a:cxn>
                    <a:cxn ang="T132">
                      <a:pos x="T20" y="T21"/>
                    </a:cxn>
                    <a:cxn ang="T133">
                      <a:pos x="T22" y="T23"/>
                    </a:cxn>
                    <a:cxn ang="T134">
                      <a:pos x="T24" y="T25"/>
                    </a:cxn>
                    <a:cxn ang="T135">
                      <a:pos x="T26" y="T27"/>
                    </a:cxn>
                    <a:cxn ang="T136">
                      <a:pos x="T28" y="T29"/>
                    </a:cxn>
                    <a:cxn ang="T137">
                      <a:pos x="T30" y="T31"/>
                    </a:cxn>
                    <a:cxn ang="T138">
                      <a:pos x="T32" y="T33"/>
                    </a:cxn>
                    <a:cxn ang="T139">
                      <a:pos x="T34" y="T35"/>
                    </a:cxn>
                    <a:cxn ang="T140">
                      <a:pos x="T36" y="T37"/>
                    </a:cxn>
                    <a:cxn ang="T141">
                      <a:pos x="T38" y="T39"/>
                    </a:cxn>
                    <a:cxn ang="T142">
                      <a:pos x="T40" y="T41"/>
                    </a:cxn>
                    <a:cxn ang="T143">
                      <a:pos x="T42" y="T43"/>
                    </a:cxn>
                    <a:cxn ang="T144">
                      <a:pos x="T44" y="T45"/>
                    </a:cxn>
                    <a:cxn ang="T145">
                      <a:pos x="T46" y="T47"/>
                    </a:cxn>
                    <a:cxn ang="T146">
                      <a:pos x="T48" y="T49"/>
                    </a:cxn>
                    <a:cxn ang="T147">
                      <a:pos x="T50" y="T51"/>
                    </a:cxn>
                    <a:cxn ang="T148">
                      <a:pos x="T52" y="T53"/>
                    </a:cxn>
                    <a:cxn ang="T149">
                      <a:pos x="T54" y="T55"/>
                    </a:cxn>
                    <a:cxn ang="T150">
                      <a:pos x="T56" y="T57"/>
                    </a:cxn>
                    <a:cxn ang="T151">
                      <a:pos x="T58" y="T59"/>
                    </a:cxn>
                    <a:cxn ang="T152">
                      <a:pos x="T60" y="T61"/>
                    </a:cxn>
                    <a:cxn ang="T153">
                      <a:pos x="T62" y="T63"/>
                    </a:cxn>
                    <a:cxn ang="T154">
                      <a:pos x="T64" y="T65"/>
                    </a:cxn>
                    <a:cxn ang="T155">
                      <a:pos x="T66" y="T67"/>
                    </a:cxn>
                    <a:cxn ang="T156">
                      <a:pos x="T68" y="T69"/>
                    </a:cxn>
                    <a:cxn ang="T157">
                      <a:pos x="T70" y="T71"/>
                    </a:cxn>
                    <a:cxn ang="T158">
                      <a:pos x="T72" y="T73"/>
                    </a:cxn>
                    <a:cxn ang="T159">
                      <a:pos x="T74" y="T75"/>
                    </a:cxn>
                    <a:cxn ang="T160">
                      <a:pos x="T76" y="T77"/>
                    </a:cxn>
                    <a:cxn ang="T161">
                      <a:pos x="T78" y="T79"/>
                    </a:cxn>
                    <a:cxn ang="T162">
                      <a:pos x="T80" y="T81"/>
                    </a:cxn>
                    <a:cxn ang="T163">
                      <a:pos x="T82" y="T83"/>
                    </a:cxn>
                    <a:cxn ang="T164">
                      <a:pos x="T84" y="T85"/>
                    </a:cxn>
                    <a:cxn ang="T165">
                      <a:pos x="T86" y="T87"/>
                    </a:cxn>
                    <a:cxn ang="T166">
                      <a:pos x="T88" y="T89"/>
                    </a:cxn>
                    <a:cxn ang="T167">
                      <a:pos x="T90" y="T91"/>
                    </a:cxn>
                    <a:cxn ang="T168">
                      <a:pos x="T92" y="T93"/>
                    </a:cxn>
                    <a:cxn ang="T169">
                      <a:pos x="T94" y="T95"/>
                    </a:cxn>
                    <a:cxn ang="T170">
                      <a:pos x="T96" y="T97"/>
                    </a:cxn>
                    <a:cxn ang="T171">
                      <a:pos x="T98" y="T99"/>
                    </a:cxn>
                    <a:cxn ang="T172">
                      <a:pos x="T100" y="T101"/>
                    </a:cxn>
                    <a:cxn ang="T173">
                      <a:pos x="T102" y="T103"/>
                    </a:cxn>
                    <a:cxn ang="T174">
                      <a:pos x="T104" y="T105"/>
                    </a:cxn>
                    <a:cxn ang="T175">
                      <a:pos x="T106" y="T107"/>
                    </a:cxn>
                    <a:cxn ang="T176">
                      <a:pos x="T108" y="T109"/>
                    </a:cxn>
                    <a:cxn ang="T177">
                      <a:pos x="T110" y="T111"/>
                    </a:cxn>
                    <a:cxn ang="T178">
                      <a:pos x="T112" y="T113"/>
                    </a:cxn>
                    <a:cxn ang="T179">
                      <a:pos x="T114" y="T115"/>
                    </a:cxn>
                    <a:cxn ang="T180">
                      <a:pos x="T116" y="T117"/>
                    </a:cxn>
                    <a:cxn ang="T181">
                      <a:pos x="T118" y="T119"/>
                    </a:cxn>
                    <a:cxn ang="T182">
                      <a:pos x="T120" y="T121"/>
                    </a:cxn>
                  </a:cxnLst>
                  <a:rect l="T183" t="T184" r="T185" b="T186"/>
                  <a:pathLst>
                    <a:path w="282" h="253">
                      <a:moveTo>
                        <a:pt x="235" y="78"/>
                      </a:moveTo>
                      <a:lnTo>
                        <a:pt x="248" y="92"/>
                      </a:lnTo>
                      <a:lnTo>
                        <a:pt x="255" y="108"/>
                      </a:lnTo>
                      <a:lnTo>
                        <a:pt x="259" y="125"/>
                      </a:lnTo>
                      <a:lnTo>
                        <a:pt x="259" y="144"/>
                      </a:lnTo>
                      <a:lnTo>
                        <a:pt x="257" y="159"/>
                      </a:lnTo>
                      <a:lnTo>
                        <a:pt x="252" y="171"/>
                      </a:lnTo>
                      <a:lnTo>
                        <a:pt x="244" y="184"/>
                      </a:lnTo>
                      <a:lnTo>
                        <a:pt x="236" y="194"/>
                      </a:lnTo>
                      <a:lnTo>
                        <a:pt x="225" y="206"/>
                      </a:lnTo>
                      <a:lnTo>
                        <a:pt x="215" y="215"/>
                      </a:lnTo>
                      <a:lnTo>
                        <a:pt x="204" y="225"/>
                      </a:lnTo>
                      <a:lnTo>
                        <a:pt x="194" y="236"/>
                      </a:lnTo>
                      <a:lnTo>
                        <a:pt x="191" y="239"/>
                      </a:lnTo>
                      <a:lnTo>
                        <a:pt x="190" y="242"/>
                      </a:lnTo>
                      <a:lnTo>
                        <a:pt x="191" y="246"/>
                      </a:lnTo>
                      <a:lnTo>
                        <a:pt x="194" y="249"/>
                      </a:lnTo>
                      <a:lnTo>
                        <a:pt x="197" y="252"/>
                      </a:lnTo>
                      <a:lnTo>
                        <a:pt x="201" y="253"/>
                      </a:lnTo>
                      <a:lnTo>
                        <a:pt x="205" y="252"/>
                      </a:lnTo>
                      <a:lnTo>
                        <a:pt x="209" y="249"/>
                      </a:lnTo>
                      <a:lnTo>
                        <a:pt x="232" y="234"/>
                      </a:lnTo>
                      <a:lnTo>
                        <a:pt x="251" y="215"/>
                      </a:lnTo>
                      <a:lnTo>
                        <a:pt x="267" y="192"/>
                      </a:lnTo>
                      <a:lnTo>
                        <a:pt x="278" y="168"/>
                      </a:lnTo>
                      <a:lnTo>
                        <a:pt x="282" y="141"/>
                      </a:lnTo>
                      <a:lnTo>
                        <a:pt x="279" y="116"/>
                      </a:lnTo>
                      <a:lnTo>
                        <a:pt x="270" y="92"/>
                      </a:lnTo>
                      <a:lnTo>
                        <a:pt x="251" y="70"/>
                      </a:lnTo>
                      <a:lnTo>
                        <a:pt x="237" y="59"/>
                      </a:lnTo>
                      <a:lnTo>
                        <a:pt x="221" y="48"/>
                      </a:lnTo>
                      <a:lnTo>
                        <a:pt x="202" y="39"/>
                      </a:lnTo>
                      <a:lnTo>
                        <a:pt x="183" y="31"/>
                      </a:lnTo>
                      <a:lnTo>
                        <a:pt x="163" y="24"/>
                      </a:lnTo>
                      <a:lnTo>
                        <a:pt x="142" y="18"/>
                      </a:lnTo>
                      <a:lnTo>
                        <a:pt x="122" y="13"/>
                      </a:lnTo>
                      <a:lnTo>
                        <a:pt x="101" y="8"/>
                      </a:lnTo>
                      <a:lnTo>
                        <a:pt x="82" y="5"/>
                      </a:lnTo>
                      <a:lnTo>
                        <a:pt x="63" y="2"/>
                      </a:lnTo>
                      <a:lnTo>
                        <a:pt x="47" y="0"/>
                      </a:lnTo>
                      <a:lnTo>
                        <a:pt x="32" y="0"/>
                      </a:lnTo>
                      <a:lnTo>
                        <a:pt x="19" y="0"/>
                      </a:lnTo>
                      <a:lnTo>
                        <a:pt x="10" y="1"/>
                      </a:lnTo>
                      <a:lnTo>
                        <a:pt x="4" y="4"/>
                      </a:lnTo>
                      <a:lnTo>
                        <a:pt x="0" y="6"/>
                      </a:lnTo>
                      <a:lnTo>
                        <a:pt x="12" y="8"/>
                      </a:lnTo>
                      <a:lnTo>
                        <a:pt x="25" y="9"/>
                      </a:lnTo>
                      <a:lnTo>
                        <a:pt x="38" y="12"/>
                      </a:lnTo>
                      <a:lnTo>
                        <a:pt x="52" y="14"/>
                      </a:lnTo>
                      <a:lnTo>
                        <a:pt x="67" y="16"/>
                      </a:lnTo>
                      <a:lnTo>
                        <a:pt x="82" y="18"/>
                      </a:lnTo>
                      <a:lnTo>
                        <a:pt x="97" y="22"/>
                      </a:lnTo>
                      <a:lnTo>
                        <a:pt x="114" y="25"/>
                      </a:lnTo>
                      <a:lnTo>
                        <a:pt x="129" y="30"/>
                      </a:lnTo>
                      <a:lnTo>
                        <a:pt x="146" y="35"/>
                      </a:lnTo>
                      <a:lnTo>
                        <a:pt x="162" y="40"/>
                      </a:lnTo>
                      <a:lnTo>
                        <a:pt x="177" y="46"/>
                      </a:lnTo>
                      <a:lnTo>
                        <a:pt x="192" y="53"/>
                      </a:lnTo>
                      <a:lnTo>
                        <a:pt x="208" y="60"/>
                      </a:lnTo>
                      <a:lnTo>
                        <a:pt x="222" y="69"/>
                      </a:lnTo>
                      <a:lnTo>
                        <a:pt x="235" y="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21" name="Freeform 1137">
                  <a:extLst>
                    <a:ext uri="{FF2B5EF4-FFF2-40B4-BE49-F238E27FC236}">
                      <a16:creationId xmlns:a16="http://schemas.microsoft.com/office/drawing/2014/main" id="{317E6256-5BCA-47E9-A81D-6CA99095ECB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30" y="2680"/>
                  <a:ext cx="40" cy="54"/>
                </a:xfrm>
                <a:custGeom>
                  <a:avLst/>
                  <a:gdLst>
                    <a:gd name="T0" fmla="*/ 0 w 115"/>
                    <a:gd name="T1" fmla="*/ 0 h 236"/>
                    <a:gd name="T2" fmla="*/ 0 w 115"/>
                    <a:gd name="T3" fmla="*/ 0 h 236"/>
                    <a:gd name="T4" fmla="*/ 0 w 115"/>
                    <a:gd name="T5" fmla="*/ 0 h 236"/>
                    <a:gd name="T6" fmla="*/ 0 w 115"/>
                    <a:gd name="T7" fmla="*/ 0 h 236"/>
                    <a:gd name="T8" fmla="*/ 0 w 115"/>
                    <a:gd name="T9" fmla="*/ 0 h 236"/>
                    <a:gd name="T10" fmla="*/ 0 w 115"/>
                    <a:gd name="T11" fmla="*/ 0 h 236"/>
                    <a:gd name="T12" fmla="*/ 0 w 115"/>
                    <a:gd name="T13" fmla="*/ 0 h 236"/>
                    <a:gd name="T14" fmla="*/ 0 w 115"/>
                    <a:gd name="T15" fmla="*/ 0 h 236"/>
                    <a:gd name="T16" fmla="*/ 0 w 115"/>
                    <a:gd name="T17" fmla="*/ 0 h 236"/>
                    <a:gd name="T18" fmla="*/ 0 w 115"/>
                    <a:gd name="T19" fmla="*/ 0 h 236"/>
                    <a:gd name="T20" fmla="*/ 0 w 115"/>
                    <a:gd name="T21" fmla="*/ 0 h 236"/>
                    <a:gd name="T22" fmla="*/ 0 w 115"/>
                    <a:gd name="T23" fmla="*/ 0 h 236"/>
                    <a:gd name="T24" fmla="*/ 0 w 115"/>
                    <a:gd name="T25" fmla="*/ 0 h 236"/>
                    <a:gd name="T26" fmla="*/ 0 w 115"/>
                    <a:gd name="T27" fmla="*/ 0 h 236"/>
                    <a:gd name="T28" fmla="*/ 0 w 115"/>
                    <a:gd name="T29" fmla="*/ 0 h 236"/>
                    <a:gd name="T30" fmla="*/ 0 w 115"/>
                    <a:gd name="T31" fmla="*/ 0 h 236"/>
                    <a:gd name="T32" fmla="*/ 0 w 115"/>
                    <a:gd name="T33" fmla="*/ 0 h 236"/>
                    <a:gd name="T34" fmla="*/ 0 w 115"/>
                    <a:gd name="T35" fmla="*/ 0 h 236"/>
                    <a:gd name="T36" fmla="*/ 0 w 115"/>
                    <a:gd name="T37" fmla="*/ 0 h 236"/>
                    <a:gd name="T38" fmla="*/ 0 w 115"/>
                    <a:gd name="T39" fmla="*/ 0 h 236"/>
                    <a:gd name="T40" fmla="*/ 0 w 115"/>
                    <a:gd name="T41" fmla="*/ 0 h 236"/>
                    <a:gd name="T42" fmla="*/ 0 w 115"/>
                    <a:gd name="T43" fmla="*/ 0 h 236"/>
                    <a:gd name="T44" fmla="*/ 0 w 115"/>
                    <a:gd name="T45" fmla="*/ 0 h 236"/>
                    <a:gd name="T46" fmla="*/ 0 w 115"/>
                    <a:gd name="T47" fmla="*/ 0 h 236"/>
                    <a:gd name="T48" fmla="*/ 0 w 115"/>
                    <a:gd name="T49" fmla="*/ 0 h 236"/>
                    <a:gd name="T50" fmla="*/ 0 w 115"/>
                    <a:gd name="T51" fmla="*/ 0 h 236"/>
                    <a:gd name="T52" fmla="*/ 0 w 115"/>
                    <a:gd name="T53" fmla="*/ 0 h 236"/>
                    <a:gd name="T54" fmla="*/ 0 w 115"/>
                    <a:gd name="T55" fmla="*/ 0 h 236"/>
                    <a:gd name="T56" fmla="*/ 0 w 115"/>
                    <a:gd name="T57" fmla="*/ 0 h 236"/>
                    <a:gd name="T58" fmla="*/ 0 w 115"/>
                    <a:gd name="T59" fmla="*/ 0 h 236"/>
                    <a:gd name="T60" fmla="*/ 0 w 115"/>
                    <a:gd name="T61" fmla="*/ 0 h 236"/>
                    <a:gd name="T62" fmla="*/ 0 w 115"/>
                    <a:gd name="T63" fmla="*/ 0 h 236"/>
                    <a:gd name="T64" fmla="*/ 0 w 115"/>
                    <a:gd name="T65" fmla="*/ 0 h 236"/>
                    <a:gd name="T66" fmla="*/ 0 w 115"/>
                    <a:gd name="T67" fmla="*/ 0 h 236"/>
                    <a:gd name="T68" fmla="*/ 0 w 115"/>
                    <a:gd name="T69" fmla="*/ 0 h 236"/>
                    <a:gd name="T70" fmla="*/ 0 w 115"/>
                    <a:gd name="T71" fmla="*/ 0 h 236"/>
                    <a:gd name="T72" fmla="*/ 0 w 115"/>
                    <a:gd name="T73" fmla="*/ 0 h 236"/>
                    <a:gd name="T74" fmla="*/ 0 w 115"/>
                    <a:gd name="T75" fmla="*/ 0 h 236"/>
                    <a:gd name="T76" fmla="*/ 0 w 115"/>
                    <a:gd name="T77" fmla="*/ 0 h 236"/>
                    <a:gd name="T78" fmla="*/ 0 w 115"/>
                    <a:gd name="T79" fmla="*/ 0 h 236"/>
                    <a:gd name="T80" fmla="*/ 0 w 115"/>
                    <a:gd name="T81" fmla="*/ 0 h 2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w 115"/>
                    <a:gd name="T124" fmla="*/ 0 h 236"/>
                    <a:gd name="T125" fmla="*/ 115 w 115"/>
                    <a:gd name="T126" fmla="*/ 236 h 236"/>
                  </a:gdLst>
                  <a:ahLst/>
                  <a:cxnLst>
                    <a:cxn ang="T82">
                      <a:pos x="T0" y="T1"/>
                    </a:cxn>
                    <a:cxn ang="T83">
                      <a:pos x="T2" y="T3"/>
                    </a:cxn>
                    <a:cxn ang="T84">
                      <a:pos x="T4" y="T5"/>
                    </a:cxn>
                    <a:cxn ang="T85">
                      <a:pos x="T6" y="T7"/>
                    </a:cxn>
                    <a:cxn ang="T86">
                      <a:pos x="T8" y="T9"/>
                    </a:cxn>
                    <a:cxn ang="T87">
                      <a:pos x="T10" y="T11"/>
                    </a:cxn>
                    <a:cxn ang="T88">
                      <a:pos x="T12" y="T13"/>
                    </a:cxn>
                    <a:cxn ang="T89">
                      <a:pos x="T14" y="T15"/>
                    </a:cxn>
                    <a:cxn ang="T90">
                      <a:pos x="T16" y="T17"/>
                    </a:cxn>
                    <a:cxn ang="T91">
                      <a:pos x="T18" y="T19"/>
                    </a:cxn>
                    <a:cxn ang="T92">
                      <a:pos x="T20" y="T21"/>
                    </a:cxn>
                    <a:cxn ang="T93">
                      <a:pos x="T22" y="T23"/>
                    </a:cxn>
                    <a:cxn ang="T94">
                      <a:pos x="T24" y="T25"/>
                    </a:cxn>
                    <a:cxn ang="T95">
                      <a:pos x="T26" y="T27"/>
                    </a:cxn>
                    <a:cxn ang="T96">
                      <a:pos x="T28" y="T29"/>
                    </a:cxn>
                    <a:cxn ang="T97">
                      <a:pos x="T30" y="T31"/>
                    </a:cxn>
                    <a:cxn ang="T98">
                      <a:pos x="T32" y="T33"/>
                    </a:cxn>
                    <a:cxn ang="T99">
                      <a:pos x="T34" y="T35"/>
                    </a:cxn>
                    <a:cxn ang="T100">
                      <a:pos x="T36" y="T37"/>
                    </a:cxn>
                    <a:cxn ang="T101">
                      <a:pos x="T38" y="T39"/>
                    </a:cxn>
                    <a:cxn ang="T102">
                      <a:pos x="T40" y="T41"/>
                    </a:cxn>
                    <a:cxn ang="T103">
                      <a:pos x="T42" y="T43"/>
                    </a:cxn>
                    <a:cxn ang="T104">
                      <a:pos x="T44" y="T45"/>
                    </a:cxn>
                    <a:cxn ang="T105">
                      <a:pos x="T46" y="T47"/>
                    </a:cxn>
                    <a:cxn ang="T106">
                      <a:pos x="T48" y="T49"/>
                    </a:cxn>
                    <a:cxn ang="T107">
                      <a:pos x="T50" y="T51"/>
                    </a:cxn>
                    <a:cxn ang="T108">
                      <a:pos x="T52" y="T53"/>
                    </a:cxn>
                    <a:cxn ang="T109">
                      <a:pos x="T54" y="T55"/>
                    </a:cxn>
                    <a:cxn ang="T110">
                      <a:pos x="T56" y="T57"/>
                    </a:cxn>
                    <a:cxn ang="T111">
                      <a:pos x="T58" y="T59"/>
                    </a:cxn>
                    <a:cxn ang="T112">
                      <a:pos x="T60" y="T61"/>
                    </a:cxn>
                    <a:cxn ang="T113">
                      <a:pos x="T62" y="T63"/>
                    </a:cxn>
                    <a:cxn ang="T114">
                      <a:pos x="T64" y="T65"/>
                    </a:cxn>
                    <a:cxn ang="T115">
                      <a:pos x="T66" y="T67"/>
                    </a:cxn>
                    <a:cxn ang="T116">
                      <a:pos x="T68" y="T69"/>
                    </a:cxn>
                    <a:cxn ang="T117">
                      <a:pos x="T70" y="T71"/>
                    </a:cxn>
                    <a:cxn ang="T118">
                      <a:pos x="T72" y="T73"/>
                    </a:cxn>
                    <a:cxn ang="T119">
                      <a:pos x="T74" y="T75"/>
                    </a:cxn>
                    <a:cxn ang="T120">
                      <a:pos x="T76" y="T77"/>
                    </a:cxn>
                    <a:cxn ang="T121">
                      <a:pos x="T78" y="T79"/>
                    </a:cxn>
                    <a:cxn ang="T122">
                      <a:pos x="T80" y="T81"/>
                    </a:cxn>
                  </a:cxnLst>
                  <a:rect l="T123" t="T124" r="T125" b="T126"/>
                  <a:pathLst>
                    <a:path w="115" h="236">
                      <a:moveTo>
                        <a:pt x="0" y="128"/>
                      </a:moveTo>
                      <a:lnTo>
                        <a:pt x="0" y="148"/>
                      </a:lnTo>
                      <a:lnTo>
                        <a:pt x="5" y="166"/>
                      </a:lnTo>
                      <a:lnTo>
                        <a:pt x="13" y="184"/>
                      </a:lnTo>
                      <a:lnTo>
                        <a:pt x="24" y="198"/>
                      </a:lnTo>
                      <a:lnTo>
                        <a:pt x="39" y="211"/>
                      </a:lnTo>
                      <a:lnTo>
                        <a:pt x="55" y="223"/>
                      </a:lnTo>
                      <a:lnTo>
                        <a:pt x="74" y="231"/>
                      </a:lnTo>
                      <a:lnTo>
                        <a:pt x="92" y="235"/>
                      </a:lnTo>
                      <a:lnTo>
                        <a:pt x="98" y="236"/>
                      </a:lnTo>
                      <a:lnTo>
                        <a:pt x="104" y="234"/>
                      </a:lnTo>
                      <a:lnTo>
                        <a:pt x="109" y="231"/>
                      </a:lnTo>
                      <a:lnTo>
                        <a:pt x="111" y="226"/>
                      </a:lnTo>
                      <a:lnTo>
                        <a:pt x="111" y="220"/>
                      </a:lnTo>
                      <a:lnTo>
                        <a:pt x="110" y="215"/>
                      </a:lnTo>
                      <a:lnTo>
                        <a:pt x="107" y="210"/>
                      </a:lnTo>
                      <a:lnTo>
                        <a:pt x="101" y="208"/>
                      </a:lnTo>
                      <a:lnTo>
                        <a:pt x="82" y="201"/>
                      </a:lnTo>
                      <a:lnTo>
                        <a:pt x="64" y="192"/>
                      </a:lnTo>
                      <a:lnTo>
                        <a:pt x="50" y="179"/>
                      </a:lnTo>
                      <a:lnTo>
                        <a:pt x="40" y="165"/>
                      </a:lnTo>
                      <a:lnTo>
                        <a:pt x="33" y="148"/>
                      </a:lnTo>
                      <a:lnTo>
                        <a:pt x="29" y="130"/>
                      </a:lnTo>
                      <a:lnTo>
                        <a:pt x="29" y="110"/>
                      </a:lnTo>
                      <a:lnTo>
                        <a:pt x="35" y="89"/>
                      </a:lnTo>
                      <a:lnTo>
                        <a:pt x="43" y="74"/>
                      </a:lnTo>
                      <a:lnTo>
                        <a:pt x="56" y="60"/>
                      </a:lnTo>
                      <a:lnTo>
                        <a:pt x="70" y="46"/>
                      </a:lnTo>
                      <a:lnTo>
                        <a:pt x="85" y="33"/>
                      </a:lnTo>
                      <a:lnTo>
                        <a:pt x="98" y="23"/>
                      </a:lnTo>
                      <a:lnTo>
                        <a:pt x="109" y="12"/>
                      </a:lnTo>
                      <a:lnTo>
                        <a:pt x="115" y="6"/>
                      </a:lnTo>
                      <a:lnTo>
                        <a:pt x="115" y="0"/>
                      </a:lnTo>
                      <a:lnTo>
                        <a:pt x="102" y="4"/>
                      </a:lnTo>
                      <a:lnTo>
                        <a:pt x="85" y="12"/>
                      </a:lnTo>
                      <a:lnTo>
                        <a:pt x="68" y="26"/>
                      </a:lnTo>
                      <a:lnTo>
                        <a:pt x="49" y="42"/>
                      </a:lnTo>
                      <a:lnTo>
                        <a:pt x="32" y="61"/>
                      </a:lnTo>
                      <a:lnTo>
                        <a:pt x="17" y="82"/>
                      </a:lnTo>
                      <a:lnTo>
                        <a:pt x="6" y="105"/>
                      </a:lnTo>
                      <a:lnTo>
                        <a:pt x="0" y="1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222" name="Freeform 1138">
                  <a:extLst>
                    <a:ext uri="{FF2B5EF4-FFF2-40B4-BE49-F238E27FC236}">
                      <a16:creationId xmlns:a16="http://schemas.microsoft.com/office/drawing/2014/main" id="{CE5F916A-3BE7-48A2-868D-745A3E7EDD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1" y="2643"/>
                  <a:ext cx="87" cy="73"/>
                </a:xfrm>
                <a:custGeom>
                  <a:avLst/>
                  <a:gdLst>
                    <a:gd name="T0" fmla="*/ 0 w 245"/>
                    <a:gd name="T1" fmla="*/ 0 h 310"/>
                    <a:gd name="T2" fmla="*/ 0 w 245"/>
                    <a:gd name="T3" fmla="*/ 0 h 310"/>
                    <a:gd name="T4" fmla="*/ 0 w 245"/>
                    <a:gd name="T5" fmla="*/ 0 h 310"/>
                    <a:gd name="T6" fmla="*/ 0 w 245"/>
                    <a:gd name="T7" fmla="*/ 0 h 310"/>
                    <a:gd name="T8" fmla="*/ 0 w 245"/>
                    <a:gd name="T9" fmla="*/ 0 h 310"/>
                    <a:gd name="T10" fmla="*/ 0 w 245"/>
                    <a:gd name="T11" fmla="*/ 0 h 310"/>
                    <a:gd name="T12" fmla="*/ 0 w 245"/>
                    <a:gd name="T13" fmla="*/ 0 h 310"/>
                    <a:gd name="T14" fmla="*/ 0 w 245"/>
                    <a:gd name="T15" fmla="*/ 0 h 310"/>
                    <a:gd name="T16" fmla="*/ 0 w 245"/>
                    <a:gd name="T17" fmla="*/ 0 h 310"/>
                    <a:gd name="T18" fmla="*/ 0 w 245"/>
                    <a:gd name="T19" fmla="*/ 0 h 310"/>
                    <a:gd name="T20" fmla="*/ 0 w 245"/>
                    <a:gd name="T21" fmla="*/ 0 h 310"/>
                    <a:gd name="T22" fmla="*/ 0 w 245"/>
                    <a:gd name="T23" fmla="*/ 0 h 310"/>
                    <a:gd name="T24" fmla="*/ 0 w 245"/>
                    <a:gd name="T25" fmla="*/ 0 h 310"/>
                    <a:gd name="T26" fmla="*/ 0 w 245"/>
                    <a:gd name="T27" fmla="*/ 0 h 310"/>
                    <a:gd name="T28" fmla="*/ 0 w 245"/>
                    <a:gd name="T29" fmla="*/ 0 h 310"/>
                    <a:gd name="T30" fmla="*/ 0 w 245"/>
                    <a:gd name="T31" fmla="*/ 0 h 310"/>
                    <a:gd name="T32" fmla="*/ 0 w 245"/>
                    <a:gd name="T33" fmla="*/ 0 h 310"/>
                    <a:gd name="T34" fmla="*/ 0 w 245"/>
                    <a:gd name="T35" fmla="*/ 0 h 310"/>
                    <a:gd name="T36" fmla="*/ 0 w 245"/>
                    <a:gd name="T37" fmla="*/ 0 h 310"/>
                    <a:gd name="T38" fmla="*/ 0 w 245"/>
                    <a:gd name="T39" fmla="*/ 0 h 310"/>
                    <a:gd name="T40" fmla="*/ 0 w 245"/>
                    <a:gd name="T41" fmla="*/ 0 h 310"/>
                    <a:gd name="T42" fmla="*/ 0 w 245"/>
                    <a:gd name="T43" fmla="*/ 0 h 310"/>
                    <a:gd name="T44" fmla="*/ 0 w 245"/>
                    <a:gd name="T45" fmla="*/ 0 h 310"/>
                    <a:gd name="T46" fmla="*/ 0 w 245"/>
                    <a:gd name="T47" fmla="*/ 0 h 310"/>
                    <a:gd name="T48" fmla="*/ 0 w 245"/>
                    <a:gd name="T49" fmla="*/ 0 h 310"/>
                    <a:gd name="T50" fmla="*/ 0 w 245"/>
                    <a:gd name="T51" fmla="*/ 0 h 310"/>
                    <a:gd name="T52" fmla="*/ 0 w 245"/>
                    <a:gd name="T53" fmla="*/ 0 h 310"/>
                    <a:gd name="T54" fmla="*/ 0 w 245"/>
                    <a:gd name="T55" fmla="*/ 0 h 310"/>
                    <a:gd name="T56" fmla="*/ 0 w 245"/>
                    <a:gd name="T57" fmla="*/ 0 h 310"/>
                    <a:gd name="T58" fmla="*/ 0 w 245"/>
                    <a:gd name="T59" fmla="*/ 0 h 310"/>
                    <a:gd name="T60" fmla="*/ 0 w 245"/>
                    <a:gd name="T61" fmla="*/ 0 h 310"/>
                    <a:gd name="T62" fmla="*/ 0 w 245"/>
                    <a:gd name="T63" fmla="*/ 0 h 310"/>
                    <a:gd name="T64" fmla="*/ 0 w 245"/>
                    <a:gd name="T65" fmla="*/ 0 h 310"/>
                    <a:gd name="T66" fmla="*/ 0 w 245"/>
                    <a:gd name="T67" fmla="*/ 0 h 310"/>
                    <a:gd name="T68" fmla="*/ 0 w 245"/>
                    <a:gd name="T69" fmla="*/ 0 h 310"/>
                    <a:gd name="T70" fmla="*/ 0 w 245"/>
                    <a:gd name="T71" fmla="*/ 0 h 310"/>
                    <a:gd name="T72" fmla="*/ 0 w 245"/>
                    <a:gd name="T73" fmla="*/ 0 h 310"/>
                    <a:gd name="T74" fmla="*/ 0 w 245"/>
                    <a:gd name="T75" fmla="*/ 0 h 310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w 245"/>
                    <a:gd name="T115" fmla="*/ 0 h 310"/>
                    <a:gd name="T116" fmla="*/ 245 w 245"/>
                    <a:gd name="T117" fmla="*/ 310 h 310"/>
                  </a:gdLst>
                  <a:ahLst/>
                  <a:cxnLst>
                    <a:cxn ang="T76">
                      <a:pos x="T0" y="T1"/>
                    </a:cxn>
                    <a:cxn ang="T77">
                      <a:pos x="T2" y="T3"/>
                    </a:cxn>
                    <a:cxn ang="T78">
                      <a:pos x="T4" y="T5"/>
                    </a:cxn>
                    <a:cxn ang="T79">
                      <a:pos x="T6" y="T7"/>
                    </a:cxn>
                    <a:cxn ang="T80">
                      <a:pos x="T8" y="T9"/>
                    </a:cxn>
                    <a:cxn ang="T81">
                      <a:pos x="T10" y="T11"/>
                    </a:cxn>
                    <a:cxn ang="T82">
                      <a:pos x="T12" y="T13"/>
                    </a:cxn>
                    <a:cxn ang="T83">
                      <a:pos x="T14" y="T15"/>
                    </a:cxn>
                    <a:cxn ang="T84">
                      <a:pos x="T16" y="T17"/>
                    </a:cxn>
                    <a:cxn ang="T85">
                      <a:pos x="T18" y="T19"/>
                    </a:cxn>
                    <a:cxn ang="T86">
                      <a:pos x="T20" y="T21"/>
                    </a:cxn>
                    <a:cxn ang="T87">
                      <a:pos x="T22" y="T23"/>
                    </a:cxn>
                    <a:cxn ang="T88">
                      <a:pos x="T24" y="T25"/>
                    </a:cxn>
                    <a:cxn ang="T89">
                      <a:pos x="T26" y="T27"/>
                    </a:cxn>
                    <a:cxn ang="T90">
                      <a:pos x="T28" y="T29"/>
                    </a:cxn>
                    <a:cxn ang="T91">
                      <a:pos x="T30" y="T31"/>
                    </a:cxn>
                    <a:cxn ang="T92">
                      <a:pos x="T32" y="T33"/>
                    </a:cxn>
                    <a:cxn ang="T93">
                      <a:pos x="T34" y="T35"/>
                    </a:cxn>
                    <a:cxn ang="T94">
                      <a:pos x="T36" y="T37"/>
                    </a:cxn>
                    <a:cxn ang="T95">
                      <a:pos x="T38" y="T39"/>
                    </a:cxn>
                    <a:cxn ang="T96">
                      <a:pos x="T40" y="T41"/>
                    </a:cxn>
                    <a:cxn ang="T97">
                      <a:pos x="T42" y="T43"/>
                    </a:cxn>
                    <a:cxn ang="T98">
                      <a:pos x="T44" y="T45"/>
                    </a:cxn>
                    <a:cxn ang="T99">
                      <a:pos x="T46" y="T47"/>
                    </a:cxn>
                    <a:cxn ang="T100">
                      <a:pos x="T48" y="T49"/>
                    </a:cxn>
                    <a:cxn ang="T101">
                      <a:pos x="T50" y="T51"/>
                    </a:cxn>
                    <a:cxn ang="T102">
                      <a:pos x="T52" y="T53"/>
                    </a:cxn>
                    <a:cxn ang="T103">
                      <a:pos x="T54" y="T55"/>
                    </a:cxn>
                    <a:cxn ang="T104">
                      <a:pos x="T56" y="T57"/>
                    </a:cxn>
                    <a:cxn ang="T105">
                      <a:pos x="T58" y="T59"/>
                    </a:cxn>
                    <a:cxn ang="T106">
                      <a:pos x="T60" y="T61"/>
                    </a:cxn>
                    <a:cxn ang="T107">
                      <a:pos x="T62" y="T63"/>
                    </a:cxn>
                    <a:cxn ang="T108">
                      <a:pos x="T64" y="T65"/>
                    </a:cxn>
                    <a:cxn ang="T109">
                      <a:pos x="T66" y="T67"/>
                    </a:cxn>
                    <a:cxn ang="T110">
                      <a:pos x="T68" y="T69"/>
                    </a:cxn>
                    <a:cxn ang="T111">
                      <a:pos x="T70" y="T71"/>
                    </a:cxn>
                    <a:cxn ang="T112">
                      <a:pos x="T72" y="T73"/>
                    </a:cxn>
                    <a:cxn ang="T113">
                      <a:pos x="T74" y="T75"/>
                    </a:cxn>
                  </a:cxnLst>
                  <a:rect l="T114" t="T115" r="T116" b="T117"/>
                  <a:pathLst>
                    <a:path w="245" h="310">
                      <a:moveTo>
                        <a:pt x="200" y="116"/>
                      </a:moveTo>
                      <a:lnTo>
                        <a:pt x="208" y="124"/>
                      </a:lnTo>
                      <a:lnTo>
                        <a:pt x="214" y="133"/>
                      </a:lnTo>
                      <a:lnTo>
                        <a:pt x="220" y="144"/>
                      </a:lnTo>
                      <a:lnTo>
                        <a:pt x="223" y="154"/>
                      </a:lnTo>
                      <a:lnTo>
                        <a:pt x="226" y="164"/>
                      </a:lnTo>
                      <a:lnTo>
                        <a:pt x="224" y="176"/>
                      </a:lnTo>
                      <a:lnTo>
                        <a:pt x="222" y="187"/>
                      </a:lnTo>
                      <a:lnTo>
                        <a:pt x="216" y="198"/>
                      </a:lnTo>
                      <a:lnTo>
                        <a:pt x="208" y="209"/>
                      </a:lnTo>
                      <a:lnTo>
                        <a:pt x="199" y="219"/>
                      </a:lnTo>
                      <a:lnTo>
                        <a:pt x="188" y="229"/>
                      </a:lnTo>
                      <a:lnTo>
                        <a:pt x="177" y="238"/>
                      </a:lnTo>
                      <a:lnTo>
                        <a:pt x="166" y="246"/>
                      </a:lnTo>
                      <a:lnTo>
                        <a:pt x="154" y="255"/>
                      </a:lnTo>
                      <a:lnTo>
                        <a:pt x="142" y="264"/>
                      </a:lnTo>
                      <a:lnTo>
                        <a:pt x="132" y="275"/>
                      </a:lnTo>
                      <a:lnTo>
                        <a:pt x="128" y="278"/>
                      </a:lnTo>
                      <a:lnTo>
                        <a:pt x="126" y="283"/>
                      </a:lnTo>
                      <a:lnTo>
                        <a:pt x="124" y="287"/>
                      </a:lnTo>
                      <a:lnTo>
                        <a:pt x="121" y="292"/>
                      </a:lnTo>
                      <a:lnTo>
                        <a:pt x="120" y="296"/>
                      </a:lnTo>
                      <a:lnTo>
                        <a:pt x="120" y="301"/>
                      </a:lnTo>
                      <a:lnTo>
                        <a:pt x="122" y="306"/>
                      </a:lnTo>
                      <a:lnTo>
                        <a:pt x="126" y="309"/>
                      </a:lnTo>
                      <a:lnTo>
                        <a:pt x="131" y="310"/>
                      </a:lnTo>
                      <a:lnTo>
                        <a:pt x="135" y="310"/>
                      </a:lnTo>
                      <a:lnTo>
                        <a:pt x="139" y="309"/>
                      </a:lnTo>
                      <a:lnTo>
                        <a:pt x="142" y="306"/>
                      </a:lnTo>
                      <a:lnTo>
                        <a:pt x="154" y="292"/>
                      </a:lnTo>
                      <a:lnTo>
                        <a:pt x="167" y="280"/>
                      </a:lnTo>
                      <a:lnTo>
                        <a:pt x="180" y="269"/>
                      </a:lnTo>
                      <a:lnTo>
                        <a:pt x="194" y="257"/>
                      </a:lnTo>
                      <a:lnTo>
                        <a:pt x="207" y="246"/>
                      </a:lnTo>
                      <a:lnTo>
                        <a:pt x="220" y="233"/>
                      </a:lnTo>
                      <a:lnTo>
                        <a:pt x="230" y="219"/>
                      </a:lnTo>
                      <a:lnTo>
                        <a:pt x="238" y="204"/>
                      </a:lnTo>
                      <a:lnTo>
                        <a:pt x="244" y="186"/>
                      </a:lnTo>
                      <a:lnTo>
                        <a:pt x="245" y="169"/>
                      </a:lnTo>
                      <a:lnTo>
                        <a:pt x="243" y="152"/>
                      </a:lnTo>
                      <a:lnTo>
                        <a:pt x="237" y="134"/>
                      </a:lnTo>
                      <a:lnTo>
                        <a:pt x="228" y="119"/>
                      </a:lnTo>
                      <a:lnTo>
                        <a:pt x="217" y="105"/>
                      </a:lnTo>
                      <a:lnTo>
                        <a:pt x="203" y="93"/>
                      </a:lnTo>
                      <a:lnTo>
                        <a:pt x="188" y="83"/>
                      </a:lnTo>
                      <a:lnTo>
                        <a:pt x="176" y="76"/>
                      </a:lnTo>
                      <a:lnTo>
                        <a:pt x="163" y="69"/>
                      </a:lnTo>
                      <a:lnTo>
                        <a:pt x="151" y="61"/>
                      </a:lnTo>
                      <a:lnTo>
                        <a:pt x="136" y="54"/>
                      </a:lnTo>
                      <a:lnTo>
                        <a:pt x="122" y="46"/>
                      </a:lnTo>
                      <a:lnTo>
                        <a:pt x="107" y="39"/>
                      </a:lnTo>
                      <a:lnTo>
                        <a:pt x="93" y="31"/>
                      </a:lnTo>
                      <a:lnTo>
                        <a:pt x="79" y="24"/>
                      </a:lnTo>
                      <a:lnTo>
                        <a:pt x="66" y="18"/>
                      </a:lnTo>
                      <a:lnTo>
                        <a:pt x="53" y="13"/>
                      </a:lnTo>
                      <a:lnTo>
                        <a:pt x="40" y="8"/>
                      </a:lnTo>
                      <a:lnTo>
                        <a:pt x="30" y="5"/>
                      </a:lnTo>
                      <a:lnTo>
                        <a:pt x="20" y="1"/>
                      </a:lnTo>
                      <a:lnTo>
                        <a:pt x="1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lnTo>
                        <a:pt x="11" y="8"/>
                      </a:lnTo>
                      <a:lnTo>
                        <a:pt x="23" y="14"/>
                      </a:lnTo>
                      <a:lnTo>
                        <a:pt x="36" y="20"/>
                      </a:lnTo>
                      <a:lnTo>
                        <a:pt x="47" y="25"/>
                      </a:lnTo>
                      <a:lnTo>
                        <a:pt x="60" y="31"/>
                      </a:lnTo>
                      <a:lnTo>
                        <a:pt x="73" y="37"/>
                      </a:lnTo>
                      <a:lnTo>
                        <a:pt x="86" y="44"/>
                      </a:lnTo>
                      <a:lnTo>
                        <a:pt x="99" y="51"/>
                      </a:lnTo>
                      <a:lnTo>
                        <a:pt x="113" y="57"/>
                      </a:lnTo>
                      <a:lnTo>
                        <a:pt x="126" y="64"/>
                      </a:lnTo>
                      <a:lnTo>
                        <a:pt x="139" y="71"/>
                      </a:lnTo>
                      <a:lnTo>
                        <a:pt x="152" y="79"/>
                      </a:lnTo>
                      <a:lnTo>
                        <a:pt x="165" y="88"/>
                      </a:lnTo>
                      <a:lnTo>
                        <a:pt x="176" y="96"/>
                      </a:lnTo>
                      <a:lnTo>
                        <a:pt x="188" y="106"/>
                      </a:lnTo>
                      <a:lnTo>
                        <a:pt x="200" y="1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pic>
            <p:nvPicPr>
              <p:cNvPr id="36210" name="Picture 1139" descr="access_point_stylized_gray_small">
                <a:extLst>
                  <a:ext uri="{FF2B5EF4-FFF2-40B4-BE49-F238E27FC236}">
                    <a16:creationId xmlns:a16="http://schemas.microsoft.com/office/drawing/2014/main" id="{9BC74F50-81E5-41C7-B674-17DDE18A3B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72" y="3642"/>
                <a:ext cx="430" cy="3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36027" name="Line 1140">
              <a:extLst>
                <a:ext uri="{FF2B5EF4-FFF2-40B4-BE49-F238E27FC236}">
                  <a16:creationId xmlns:a16="http://schemas.microsoft.com/office/drawing/2014/main" id="{53ECAADD-114B-45A5-911B-F2E73E3F184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5034" y="3427"/>
              <a:ext cx="2" cy="54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36028" name="Group 1141">
              <a:extLst>
                <a:ext uri="{FF2B5EF4-FFF2-40B4-BE49-F238E27FC236}">
                  <a16:creationId xmlns:a16="http://schemas.microsoft.com/office/drawing/2014/main" id="{2E7F70D1-7F6D-413D-BF59-DDF3B99AE45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638" y="2856"/>
              <a:ext cx="261" cy="235"/>
              <a:chOff x="2839" y="3501"/>
              <a:chExt cx="755" cy="803"/>
            </a:xfrm>
          </p:grpSpPr>
          <p:pic>
            <p:nvPicPr>
              <p:cNvPr id="36207" name="Picture 1142" descr="desktop_computer_stylized_medium">
                <a:extLst>
                  <a:ext uri="{FF2B5EF4-FFF2-40B4-BE49-F238E27FC236}">
                    <a16:creationId xmlns:a16="http://schemas.microsoft.com/office/drawing/2014/main" id="{A5DC1E3C-5E49-439C-AD00-4AA5E86653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208" name="Freeform 1143">
                <a:extLst>
                  <a:ext uri="{FF2B5EF4-FFF2-40B4-BE49-F238E27FC236}">
                    <a16:creationId xmlns:a16="http://schemas.microsoft.com/office/drawing/2014/main" id="{846D009A-3F99-4300-8427-1110CB3BEE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36029" name="Group 1144">
              <a:extLst>
                <a:ext uri="{FF2B5EF4-FFF2-40B4-BE49-F238E27FC236}">
                  <a16:creationId xmlns:a16="http://schemas.microsoft.com/office/drawing/2014/main" id="{8FA0F0F0-5CE6-4D38-9AFC-43D37CD4A60B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438" y="3121"/>
              <a:ext cx="304" cy="256"/>
              <a:chOff x="2839" y="3501"/>
              <a:chExt cx="755" cy="803"/>
            </a:xfrm>
          </p:grpSpPr>
          <p:pic>
            <p:nvPicPr>
              <p:cNvPr id="36205" name="Picture 1145" descr="desktop_computer_stylized_medium">
                <a:extLst>
                  <a:ext uri="{FF2B5EF4-FFF2-40B4-BE49-F238E27FC236}">
                    <a16:creationId xmlns:a16="http://schemas.microsoft.com/office/drawing/2014/main" id="{E98479CD-6090-4D38-8267-0E53CCE6F8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206" name="Freeform 1146">
                <a:extLst>
                  <a:ext uri="{FF2B5EF4-FFF2-40B4-BE49-F238E27FC236}">
                    <a16:creationId xmlns:a16="http://schemas.microsoft.com/office/drawing/2014/main" id="{A7B977C7-5319-4ED7-9AD9-68F2240E93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36030" name="Group 1147">
              <a:extLst>
                <a:ext uri="{FF2B5EF4-FFF2-40B4-BE49-F238E27FC236}">
                  <a16:creationId xmlns:a16="http://schemas.microsoft.com/office/drawing/2014/main" id="{0038C775-5578-462A-918C-2EC5C718A94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39" y="3311"/>
              <a:ext cx="269" cy="220"/>
              <a:chOff x="2839" y="3501"/>
              <a:chExt cx="755" cy="803"/>
            </a:xfrm>
          </p:grpSpPr>
          <p:pic>
            <p:nvPicPr>
              <p:cNvPr id="36203" name="Picture 1148" descr="desktop_computer_stylized_medium">
                <a:extLst>
                  <a:ext uri="{FF2B5EF4-FFF2-40B4-BE49-F238E27FC236}">
                    <a16:creationId xmlns:a16="http://schemas.microsoft.com/office/drawing/2014/main" id="{789EC080-6738-4B72-9718-EB1CE8F785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204" name="Freeform 1149">
                <a:extLst>
                  <a:ext uri="{FF2B5EF4-FFF2-40B4-BE49-F238E27FC236}">
                    <a16:creationId xmlns:a16="http://schemas.microsoft.com/office/drawing/2014/main" id="{28A22CFE-5DD6-4C3C-AB92-9A6F81F4BB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36031" name="Group 1150">
              <a:extLst>
                <a:ext uri="{FF2B5EF4-FFF2-40B4-BE49-F238E27FC236}">
                  <a16:creationId xmlns:a16="http://schemas.microsoft.com/office/drawing/2014/main" id="{BAE1A227-D603-430F-8C95-D7F98C363E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26" y="3300"/>
              <a:ext cx="269" cy="221"/>
              <a:chOff x="2839" y="3501"/>
              <a:chExt cx="755" cy="803"/>
            </a:xfrm>
          </p:grpSpPr>
          <p:pic>
            <p:nvPicPr>
              <p:cNvPr id="36201" name="Picture 1151" descr="desktop_computer_stylized_medium">
                <a:extLst>
                  <a:ext uri="{FF2B5EF4-FFF2-40B4-BE49-F238E27FC236}">
                    <a16:creationId xmlns:a16="http://schemas.microsoft.com/office/drawing/2014/main" id="{D6FE1F97-8BE1-4713-BC54-2713B89842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202" name="Freeform 1152">
                <a:extLst>
                  <a:ext uri="{FF2B5EF4-FFF2-40B4-BE49-F238E27FC236}">
                    <a16:creationId xmlns:a16="http://schemas.microsoft.com/office/drawing/2014/main" id="{A193AC92-E079-4FF5-800C-4E477D068B7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36032" name="Picture 1153" descr="car_icon_small">
              <a:extLst>
                <a:ext uri="{FF2B5EF4-FFF2-40B4-BE49-F238E27FC236}">
                  <a16:creationId xmlns:a16="http://schemas.microsoft.com/office/drawing/2014/main" id="{C95F3480-9758-45C4-8977-00B7B8DB20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" y="1084"/>
              <a:ext cx="535" cy="1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36033" name="Group 1154">
              <a:extLst>
                <a:ext uri="{FF2B5EF4-FFF2-40B4-BE49-F238E27FC236}">
                  <a16:creationId xmlns:a16="http://schemas.microsoft.com/office/drawing/2014/main" id="{99A55389-B6CA-4FF2-AAC1-F9BF13149B7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6" y="974"/>
              <a:ext cx="262" cy="243"/>
              <a:chOff x="2751" y="1851"/>
              <a:chExt cx="462" cy="478"/>
            </a:xfrm>
          </p:grpSpPr>
          <p:pic>
            <p:nvPicPr>
              <p:cNvPr id="36199" name="Picture 1155" descr="iphone_stylized_small">
                <a:extLst>
                  <a:ext uri="{FF2B5EF4-FFF2-40B4-BE49-F238E27FC236}">
                    <a16:creationId xmlns:a16="http://schemas.microsoft.com/office/drawing/2014/main" id="{0AFFB433-EF48-487D-A987-4D1822BAF8C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200" name="Picture 1156" descr="antenna_radiation_stylized">
                <a:extLst>
                  <a:ext uri="{FF2B5EF4-FFF2-40B4-BE49-F238E27FC236}">
                    <a16:creationId xmlns:a16="http://schemas.microsoft.com/office/drawing/2014/main" id="{B67AF461-4242-4B78-86FC-D68BA5632F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6034" name="Group 1157">
              <a:extLst>
                <a:ext uri="{FF2B5EF4-FFF2-40B4-BE49-F238E27FC236}">
                  <a16:creationId xmlns:a16="http://schemas.microsoft.com/office/drawing/2014/main" id="{CD3290C5-1D71-4088-917E-47D0011763F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91" y="3151"/>
              <a:ext cx="143" cy="303"/>
              <a:chOff x="4140" y="429"/>
              <a:chExt cx="1425" cy="2396"/>
            </a:xfrm>
          </p:grpSpPr>
          <p:sp>
            <p:nvSpPr>
              <p:cNvPr id="36167" name="Freeform 1158">
                <a:extLst>
                  <a:ext uri="{FF2B5EF4-FFF2-40B4-BE49-F238E27FC236}">
                    <a16:creationId xmlns:a16="http://schemas.microsoft.com/office/drawing/2014/main" id="{A5A5264F-40EF-4538-8915-BEFF895A94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68" name="Rectangle 1159">
                <a:extLst>
                  <a:ext uri="{FF2B5EF4-FFF2-40B4-BE49-F238E27FC236}">
                    <a16:creationId xmlns:a16="http://schemas.microsoft.com/office/drawing/2014/main" id="{145C912F-E7CB-4551-80B8-BEAC82A368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69" name="Freeform 1160">
                <a:extLst>
                  <a:ext uri="{FF2B5EF4-FFF2-40B4-BE49-F238E27FC236}">
                    <a16:creationId xmlns:a16="http://schemas.microsoft.com/office/drawing/2014/main" id="{03B15872-AD95-4629-BE18-565E4BC9A6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70" name="Freeform 1161">
                <a:extLst>
                  <a:ext uri="{FF2B5EF4-FFF2-40B4-BE49-F238E27FC236}">
                    <a16:creationId xmlns:a16="http://schemas.microsoft.com/office/drawing/2014/main" id="{4C8362BA-CC94-4D9D-B123-66791C3DBE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71" name="Rectangle 1162">
                <a:extLst>
                  <a:ext uri="{FF2B5EF4-FFF2-40B4-BE49-F238E27FC236}">
                    <a16:creationId xmlns:a16="http://schemas.microsoft.com/office/drawing/2014/main" id="{2D941752-6AE1-433D-8CAF-BB289DA715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6172" name="Group 1163">
                <a:extLst>
                  <a:ext uri="{FF2B5EF4-FFF2-40B4-BE49-F238E27FC236}">
                    <a16:creationId xmlns:a16="http://schemas.microsoft.com/office/drawing/2014/main" id="{BEE29660-FA90-4D4C-A47C-3C17CB7370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6197" name="AutoShape 1164">
                  <a:extLst>
                    <a:ext uri="{FF2B5EF4-FFF2-40B4-BE49-F238E27FC236}">
                      <a16:creationId xmlns:a16="http://schemas.microsoft.com/office/drawing/2014/main" id="{0B5455B7-0F5B-4B4E-B659-B91E6879BD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98" name="AutoShape 1165">
                  <a:extLst>
                    <a:ext uri="{FF2B5EF4-FFF2-40B4-BE49-F238E27FC236}">
                      <a16:creationId xmlns:a16="http://schemas.microsoft.com/office/drawing/2014/main" id="{5A2BF5FD-D498-45A0-A436-089100B85C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173" name="Rectangle 1166">
                <a:extLst>
                  <a:ext uri="{FF2B5EF4-FFF2-40B4-BE49-F238E27FC236}">
                    <a16:creationId xmlns:a16="http://schemas.microsoft.com/office/drawing/2014/main" id="{28E70E89-B5BA-4994-815D-BBFBAECBD2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6174" name="Group 1167">
                <a:extLst>
                  <a:ext uri="{FF2B5EF4-FFF2-40B4-BE49-F238E27FC236}">
                    <a16:creationId xmlns:a16="http://schemas.microsoft.com/office/drawing/2014/main" id="{A396A429-A4FB-47D9-9C40-1358785CAF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6195" name="AutoShape 1168">
                  <a:extLst>
                    <a:ext uri="{FF2B5EF4-FFF2-40B4-BE49-F238E27FC236}">
                      <a16:creationId xmlns:a16="http://schemas.microsoft.com/office/drawing/2014/main" id="{E3241257-3150-46DC-AB63-C0754049B5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96" name="AutoShape 1169">
                  <a:extLst>
                    <a:ext uri="{FF2B5EF4-FFF2-40B4-BE49-F238E27FC236}">
                      <a16:creationId xmlns:a16="http://schemas.microsoft.com/office/drawing/2014/main" id="{A9EE95B7-8302-4C2A-BBE4-ED9DF7E949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175" name="Rectangle 1170">
                <a:extLst>
                  <a:ext uri="{FF2B5EF4-FFF2-40B4-BE49-F238E27FC236}">
                    <a16:creationId xmlns:a16="http://schemas.microsoft.com/office/drawing/2014/main" id="{86119537-1A8F-4F8B-B91F-70F49C869E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76" name="Rectangle 1171">
                <a:extLst>
                  <a:ext uri="{FF2B5EF4-FFF2-40B4-BE49-F238E27FC236}">
                    <a16:creationId xmlns:a16="http://schemas.microsoft.com/office/drawing/2014/main" id="{940B616F-D3AA-46DC-AD24-C12FF118C3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6177" name="Group 1172">
                <a:extLst>
                  <a:ext uri="{FF2B5EF4-FFF2-40B4-BE49-F238E27FC236}">
                    <a16:creationId xmlns:a16="http://schemas.microsoft.com/office/drawing/2014/main" id="{52990A5B-EA50-431C-99D5-0F9AAABA05A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6193" name="AutoShape 1173">
                  <a:extLst>
                    <a:ext uri="{FF2B5EF4-FFF2-40B4-BE49-F238E27FC236}">
                      <a16:creationId xmlns:a16="http://schemas.microsoft.com/office/drawing/2014/main" id="{2BB8D505-1A32-4BD4-A33E-38E3812D72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94" name="AutoShape 1174">
                  <a:extLst>
                    <a:ext uri="{FF2B5EF4-FFF2-40B4-BE49-F238E27FC236}">
                      <a16:creationId xmlns:a16="http://schemas.microsoft.com/office/drawing/2014/main" id="{0C6CE348-5F1C-4E9F-9CE2-8C68F8D545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178" name="Freeform 1175">
                <a:extLst>
                  <a:ext uri="{FF2B5EF4-FFF2-40B4-BE49-F238E27FC236}">
                    <a16:creationId xmlns:a16="http://schemas.microsoft.com/office/drawing/2014/main" id="{B44E29B5-FD37-4900-BB53-CC4E579D4F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6179" name="Group 1176">
                <a:extLst>
                  <a:ext uri="{FF2B5EF4-FFF2-40B4-BE49-F238E27FC236}">
                    <a16:creationId xmlns:a16="http://schemas.microsoft.com/office/drawing/2014/main" id="{59FACEB6-114F-4743-A4B1-E89D5EF339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6191" name="AutoShape 1177">
                  <a:extLst>
                    <a:ext uri="{FF2B5EF4-FFF2-40B4-BE49-F238E27FC236}">
                      <a16:creationId xmlns:a16="http://schemas.microsoft.com/office/drawing/2014/main" id="{FE6167C9-7D95-42BE-928E-71C122EA7AD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92" name="AutoShape 1178">
                  <a:extLst>
                    <a:ext uri="{FF2B5EF4-FFF2-40B4-BE49-F238E27FC236}">
                      <a16:creationId xmlns:a16="http://schemas.microsoft.com/office/drawing/2014/main" id="{E460FFC6-6D4F-4309-BF33-3318990C33F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180" name="Rectangle 1179">
                <a:extLst>
                  <a:ext uri="{FF2B5EF4-FFF2-40B4-BE49-F238E27FC236}">
                    <a16:creationId xmlns:a16="http://schemas.microsoft.com/office/drawing/2014/main" id="{1026E575-722F-4FDC-A873-0F18E7C57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81" name="Freeform 1180">
                <a:extLst>
                  <a:ext uri="{FF2B5EF4-FFF2-40B4-BE49-F238E27FC236}">
                    <a16:creationId xmlns:a16="http://schemas.microsoft.com/office/drawing/2014/main" id="{DF35244F-A416-4BA8-BE2C-59EB374C6B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82" name="Freeform 1181">
                <a:extLst>
                  <a:ext uri="{FF2B5EF4-FFF2-40B4-BE49-F238E27FC236}">
                    <a16:creationId xmlns:a16="http://schemas.microsoft.com/office/drawing/2014/main" id="{D861F6B6-B51D-4F52-8356-2D53D9B0C8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83" name="Oval 1182">
                <a:extLst>
                  <a:ext uri="{FF2B5EF4-FFF2-40B4-BE49-F238E27FC236}">
                    <a16:creationId xmlns:a16="http://schemas.microsoft.com/office/drawing/2014/main" id="{5581E8E2-C085-4CFD-AFFE-D73DA90030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84" name="Freeform 1183">
                <a:extLst>
                  <a:ext uri="{FF2B5EF4-FFF2-40B4-BE49-F238E27FC236}">
                    <a16:creationId xmlns:a16="http://schemas.microsoft.com/office/drawing/2014/main" id="{860DFFE1-3049-43B6-8BD3-2DD87C04C1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85" name="AutoShape 1184">
                <a:extLst>
                  <a:ext uri="{FF2B5EF4-FFF2-40B4-BE49-F238E27FC236}">
                    <a16:creationId xmlns:a16="http://schemas.microsoft.com/office/drawing/2014/main" id="{730A596C-14EA-4890-872B-CF491E154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86" name="AutoShape 1185">
                <a:extLst>
                  <a:ext uri="{FF2B5EF4-FFF2-40B4-BE49-F238E27FC236}">
                    <a16:creationId xmlns:a16="http://schemas.microsoft.com/office/drawing/2014/main" id="{09F0CAF7-F5AD-4053-A0AB-25C61D9353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87" name="Oval 1186">
                <a:extLst>
                  <a:ext uri="{FF2B5EF4-FFF2-40B4-BE49-F238E27FC236}">
                    <a16:creationId xmlns:a16="http://schemas.microsoft.com/office/drawing/2014/main" id="{087799B9-C173-42B0-AA14-6F89FCA369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88" name="Oval 1187">
                <a:extLst>
                  <a:ext uri="{FF2B5EF4-FFF2-40B4-BE49-F238E27FC236}">
                    <a16:creationId xmlns:a16="http://schemas.microsoft.com/office/drawing/2014/main" id="{BBAC4DC0-1B09-4647-895D-00B32E9762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189" name="Oval 1188">
                <a:extLst>
                  <a:ext uri="{FF2B5EF4-FFF2-40B4-BE49-F238E27FC236}">
                    <a16:creationId xmlns:a16="http://schemas.microsoft.com/office/drawing/2014/main" id="{7B00F4BF-B81B-4F01-B40E-A29C393F2F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90" name="Rectangle 1189">
                <a:extLst>
                  <a:ext uri="{FF2B5EF4-FFF2-40B4-BE49-F238E27FC236}">
                    <a16:creationId xmlns:a16="http://schemas.microsoft.com/office/drawing/2014/main" id="{6AFAD73F-31CE-4429-A82D-208610726A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6035" name="Group 1190">
              <a:extLst>
                <a:ext uri="{FF2B5EF4-FFF2-40B4-BE49-F238E27FC236}">
                  <a16:creationId xmlns:a16="http://schemas.microsoft.com/office/drawing/2014/main" id="{C4DE9170-7954-4014-8326-06B691762C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92" y="3341"/>
              <a:ext cx="143" cy="303"/>
              <a:chOff x="4140" y="429"/>
              <a:chExt cx="1425" cy="2396"/>
            </a:xfrm>
          </p:grpSpPr>
          <p:sp>
            <p:nvSpPr>
              <p:cNvPr id="36135" name="Freeform 1191">
                <a:extLst>
                  <a:ext uri="{FF2B5EF4-FFF2-40B4-BE49-F238E27FC236}">
                    <a16:creationId xmlns:a16="http://schemas.microsoft.com/office/drawing/2014/main" id="{AF96BD94-661E-444F-9849-7206D21DED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36" name="Rectangle 1192">
                <a:extLst>
                  <a:ext uri="{FF2B5EF4-FFF2-40B4-BE49-F238E27FC236}">
                    <a16:creationId xmlns:a16="http://schemas.microsoft.com/office/drawing/2014/main" id="{3D0A80B1-CDF5-4243-9365-1DDAE6A3B1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37" name="Freeform 1193">
                <a:extLst>
                  <a:ext uri="{FF2B5EF4-FFF2-40B4-BE49-F238E27FC236}">
                    <a16:creationId xmlns:a16="http://schemas.microsoft.com/office/drawing/2014/main" id="{CCD5B4BB-76A8-4B54-AC0B-12175439A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38" name="Freeform 1194">
                <a:extLst>
                  <a:ext uri="{FF2B5EF4-FFF2-40B4-BE49-F238E27FC236}">
                    <a16:creationId xmlns:a16="http://schemas.microsoft.com/office/drawing/2014/main" id="{2FA27000-EF5C-47F3-852D-070C335FE2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39" name="Rectangle 1195">
                <a:extLst>
                  <a:ext uri="{FF2B5EF4-FFF2-40B4-BE49-F238E27FC236}">
                    <a16:creationId xmlns:a16="http://schemas.microsoft.com/office/drawing/2014/main" id="{E5276732-CDA0-41CB-AA64-3A75E6F7E5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6140" name="Group 1196">
                <a:extLst>
                  <a:ext uri="{FF2B5EF4-FFF2-40B4-BE49-F238E27FC236}">
                    <a16:creationId xmlns:a16="http://schemas.microsoft.com/office/drawing/2014/main" id="{7605FB08-F059-4B31-B734-B681A12ED4C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6165" name="AutoShape 1197">
                  <a:extLst>
                    <a:ext uri="{FF2B5EF4-FFF2-40B4-BE49-F238E27FC236}">
                      <a16:creationId xmlns:a16="http://schemas.microsoft.com/office/drawing/2014/main" id="{521CC479-769A-47CF-A39A-5C557B5D32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66" name="AutoShape 1198">
                  <a:extLst>
                    <a:ext uri="{FF2B5EF4-FFF2-40B4-BE49-F238E27FC236}">
                      <a16:creationId xmlns:a16="http://schemas.microsoft.com/office/drawing/2014/main" id="{170F4579-AA25-4171-8AB0-BCB4DC55635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141" name="Rectangle 1199">
                <a:extLst>
                  <a:ext uri="{FF2B5EF4-FFF2-40B4-BE49-F238E27FC236}">
                    <a16:creationId xmlns:a16="http://schemas.microsoft.com/office/drawing/2014/main" id="{A96CD329-F90E-4B3E-B77F-8104E0EF2E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6142" name="Group 1200">
                <a:extLst>
                  <a:ext uri="{FF2B5EF4-FFF2-40B4-BE49-F238E27FC236}">
                    <a16:creationId xmlns:a16="http://schemas.microsoft.com/office/drawing/2014/main" id="{69EA1F7A-4127-4273-9C4E-743421A2F15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6163" name="AutoShape 1201">
                  <a:extLst>
                    <a:ext uri="{FF2B5EF4-FFF2-40B4-BE49-F238E27FC236}">
                      <a16:creationId xmlns:a16="http://schemas.microsoft.com/office/drawing/2014/main" id="{4D189C4F-18E6-4651-8FB8-FB4EB1C5CFC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64" name="AutoShape 1202">
                  <a:extLst>
                    <a:ext uri="{FF2B5EF4-FFF2-40B4-BE49-F238E27FC236}">
                      <a16:creationId xmlns:a16="http://schemas.microsoft.com/office/drawing/2014/main" id="{31FA83E2-562F-4C79-9536-CE2C15BB4D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143" name="Rectangle 1203">
                <a:extLst>
                  <a:ext uri="{FF2B5EF4-FFF2-40B4-BE49-F238E27FC236}">
                    <a16:creationId xmlns:a16="http://schemas.microsoft.com/office/drawing/2014/main" id="{CEFEB9C5-D8A3-4A84-AEF5-678CB2E3B8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44" name="Rectangle 1204">
                <a:extLst>
                  <a:ext uri="{FF2B5EF4-FFF2-40B4-BE49-F238E27FC236}">
                    <a16:creationId xmlns:a16="http://schemas.microsoft.com/office/drawing/2014/main" id="{DBA7A10D-4AE9-45E7-BA36-B22166907D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36145" name="Group 1205">
                <a:extLst>
                  <a:ext uri="{FF2B5EF4-FFF2-40B4-BE49-F238E27FC236}">
                    <a16:creationId xmlns:a16="http://schemas.microsoft.com/office/drawing/2014/main" id="{ED07BAAB-A7D2-473B-9A08-028779B209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6161" name="AutoShape 1206">
                  <a:extLst>
                    <a:ext uri="{FF2B5EF4-FFF2-40B4-BE49-F238E27FC236}">
                      <a16:creationId xmlns:a16="http://schemas.microsoft.com/office/drawing/2014/main" id="{4D6BEDBF-3E9E-4C30-BD6A-6D28ECFA06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62" name="AutoShape 1207">
                  <a:extLst>
                    <a:ext uri="{FF2B5EF4-FFF2-40B4-BE49-F238E27FC236}">
                      <a16:creationId xmlns:a16="http://schemas.microsoft.com/office/drawing/2014/main" id="{CE2EFA37-8977-45DB-9E00-5464DBCD0E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146" name="Freeform 1208">
                <a:extLst>
                  <a:ext uri="{FF2B5EF4-FFF2-40B4-BE49-F238E27FC236}">
                    <a16:creationId xmlns:a16="http://schemas.microsoft.com/office/drawing/2014/main" id="{22C7386E-EBD1-4907-BCFC-69EB2BD623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6147" name="Group 1209">
                <a:extLst>
                  <a:ext uri="{FF2B5EF4-FFF2-40B4-BE49-F238E27FC236}">
                    <a16:creationId xmlns:a16="http://schemas.microsoft.com/office/drawing/2014/main" id="{DE400B0C-B53F-4A51-BF0E-BBF9AF0650C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6159" name="AutoShape 1210">
                  <a:extLst>
                    <a:ext uri="{FF2B5EF4-FFF2-40B4-BE49-F238E27FC236}">
                      <a16:creationId xmlns:a16="http://schemas.microsoft.com/office/drawing/2014/main" id="{789A1F32-9544-49DB-BC9E-DA820B603F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60" name="AutoShape 1211">
                  <a:extLst>
                    <a:ext uri="{FF2B5EF4-FFF2-40B4-BE49-F238E27FC236}">
                      <a16:creationId xmlns:a16="http://schemas.microsoft.com/office/drawing/2014/main" id="{B4C3706B-41D5-46F5-A48F-29BF1FCD7C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6148" name="Rectangle 1212">
                <a:extLst>
                  <a:ext uri="{FF2B5EF4-FFF2-40B4-BE49-F238E27FC236}">
                    <a16:creationId xmlns:a16="http://schemas.microsoft.com/office/drawing/2014/main" id="{C7A52F8C-A498-46F4-8C66-A0CE1F4965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49" name="Freeform 1213">
                <a:extLst>
                  <a:ext uri="{FF2B5EF4-FFF2-40B4-BE49-F238E27FC236}">
                    <a16:creationId xmlns:a16="http://schemas.microsoft.com/office/drawing/2014/main" id="{FF45732D-0017-4580-B9E2-C5C43F2320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50" name="Freeform 1214">
                <a:extLst>
                  <a:ext uri="{FF2B5EF4-FFF2-40B4-BE49-F238E27FC236}">
                    <a16:creationId xmlns:a16="http://schemas.microsoft.com/office/drawing/2014/main" id="{078AA40F-B6C3-469F-9FFF-4235412DEE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51" name="Oval 1215">
                <a:extLst>
                  <a:ext uri="{FF2B5EF4-FFF2-40B4-BE49-F238E27FC236}">
                    <a16:creationId xmlns:a16="http://schemas.microsoft.com/office/drawing/2014/main" id="{952CEC25-1EF8-4A67-8B44-CB5614468F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52" name="Freeform 1216">
                <a:extLst>
                  <a:ext uri="{FF2B5EF4-FFF2-40B4-BE49-F238E27FC236}">
                    <a16:creationId xmlns:a16="http://schemas.microsoft.com/office/drawing/2014/main" id="{8643D363-93D8-4B72-96E9-4C4A68D460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53" name="AutoShape 1217">
                <a:extLst>
                  <a:ext uri="{FF2B5EF4-FFF2-40B4-BE49-F238E27FC236}">
                    <a16:creationId xmlns:a16="http://schemas.microsoft.com/office/drawing/2014/main" id="{859E8118-03FB-420F-89D1-07E1436622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54" name="AutoShape 1218">
                <a:extLst>
                  <a:ext uri="{FF2B5EF4-FFF2-40B4-BE49-F238E27FC236}">
                    <a16:creationId xmlns:a16="http://schemas.microsoft.com/office/drawing/2014/main" id="{5D0272CE-CF1D-4702-B3FB-F6312E9377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55" name="Oval 1219">
                <a:extLst>
                  <a:ext uri="{FF2B5EF4-FFF2-40B4-BE49-F238E27FC236}">
                    <a16:creationId xmlns:a16="http://schemas.microsoft.com/office/drawing/2014/main" id="{A71965C9-CC06-4DAE-A6C3-88CDA5E716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56" name="Oval 1220">
                <a:extLst>
                  <a:ext uri="{FF2B5EF4-FFF2-40B4-BE49-F238E27FC236}">
                    <a16:creationId xmlns:a16="http://schemas.microsoft.com/office/drawing/2014/main" id="{3B01CB76-0AED-49F2-AAEE-7317C21099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157" name="Oval 1221">
                <a:extLst>
                  <a:ext uri="{FF2B5EF4-FFF2-40B4-BE49-F238E27FC236}">
                    <a16:creationId xmlns:a16="http://schemas.microsoft.com/office/drawing/2014/main" id="{BEC59011-6B4F-4186-A30A-1A58869218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6158" name="Rectangle 1222">
                <a:extLst>
                  <a:ext uri="{FF2B5EF4-FFF2-40B4-BE49-F238E27FC236}">
                    <a16:creationId xmlns:a16="http://schemas.microsoft.com/office/drawing/2014/main" id="{C385CF46-F97E-4371-AC90-F1890CB8D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6036" name="Group 1223">
              <a:extLst>
                <a:ext uri="{FF2B5EF4-FFF2-40B4-BE49-F238E27FC236}">
                  <a16:creationId xmlns:a16="http://schemas.microsoft.com/office/drawing/2014/main" id="{B9743A1D-6242-4F06-81A9-E938979795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0" y="1287"/>
              <a:ext cx="337" cy="257"/>
              <a:chOff x="877" y="1008"/>
              <a:chExt cx="2747" cy="2591"/>
            </a:xfrm>
          </p:grpSpPr>
          <p:pic>
            <p:nvPicPr>
              <p:cNvPr id="36112" name="Picture 1224" descr="antenna_stylized">
                <a:extLst>
                  <a:ext uri="{FF2B5EF4-FFF2-40B4-BE49-F238E27FC236}">
                    <a16:creationId xmlns:a16="http://schemas.microsoft.com/office/drawing/2014/main" id="{731D040D-3248-45FF-B169-39D31AE61DD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113" name="Picture 1225" descr="laptop_keyboard">
                <a:extLst>
                  <a:ext uri="{FF2B5EF4-FFF2-40B4-BE49-F238E27FC236}">
                    <a16:creationId xmlns:a16="http://schemas.microsoft.com/office/drawing/2014/main" id="{F82B5C52-8CE5-48FD-B7AA-D73856CD602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114" name="Freeform 1226">
                <a:extLst>
                  <a:ext uri="{FF2B5EF4-FFF2-40B4-BE49-F238E27FC236}">
                    <a16:creationId xmlns:a16="http://schemas.microsoft.com/office/drawing/2014/main" id="{E08AF009-61A5-4347-ADD7-213C708CD4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36115" name="Picture 1227" descr="screen">
                <a:extLst>
                  <a:ext uri="{FF2B5EF4-FFF2-40B4-BE49-F238E27FC236}">
                    <a16:creationId xmlns:a16="http://schemas.microsoft.com/office/drawing/2014/main" id="{96CDD9B0-A2D1-4A52-8266-3B82928C83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116" name="Freeform 1228">
                <a:extLst>
                  <a:ext uri="{FF2B5EF4-FFF2-40B4-BE49-F238E27FC236}">
                    <a16:creationId xmlns:a16="http://schemas.microsoft.com/office/drawing/2014/main" id="{E15BD58A-4288-4AA0-A322-65FFDA1C6D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17" name="Freeform 1229">
                <a:extLst>
                  <a:ext uri="{FF2B5EF4-FFF2-40B4-BE49-F238E27FC236}">
                    <a16:creationId xmlns:a16="http://schemas.microsoft.com/office/drawing/2014/main" id="{5A2C5B29-9B80-480F-88AA-5AB3E8E671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18" name="Freeform 1230">
                <a:extLst>
                  <a:ext uri="{FF2B5EF4-FFF2-40B4-BE49-F238E27FC236}">
                    <a16:creationId xmlns:a16="http://schemas.microsoft.com/office/drawing/2014/main" id="{2B50812F-0518-4BF7-B7E7-B96A10CF5D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19" name="Freeform 1231">
                <a:extLst>
                  <a:ext uri="{FF2B5EF4-FFF2-40B4-BE49-F238E27FC236}">
                    <a16:creationId xmlns:a16="http://schemas.microsoft.com/office/drawing/2014/main" id="{02C76333-FD2D-4B7D-B5F1-486BFB09D3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0" name="Freeform 1232">
                <a:extLst>
                  <a:ext uri="{FF2B5EF4-FFF2-40B4-BE49-F238E27FC236}">
                    <a16:creationId xmlns:a16="http://schemas.microsoft.com/office/drawing/2014/main" id="{2F99B15B-DD75-4DB1-8948-B50CB31A1B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1" name="Freeform 1233">
                <a:extLst>
                  <a:ext uri="{FF2B5EF4-FFF2-40B4-BE49-F238E27FC236}">
                    <a16:creationId xmlns:a16="http://schemas.microsoft.com/office/drawing/2014/main" id="{5EFFB32B-B56A-4BAC-ACED-44D498EC78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6122" name="Group 1234">
                <a:extLst>
                  <a:ext uri="{FF2B5EF4-FFF2-40B4-BE49-F238E27FC236}">
                    <a16:creationId xmlns:a16="http://schemas.microsoft.com/office/drawing/2014/main" id="{D8DE5962-3EF5-4C5E-8941-4FC70D8010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36129" name="Freeform 1235">
                  <a:extLst>
                    <a:ext uri="{FF2B5EF4-FFF2-40B4-BE49-F238E27FC236}">
                      <a16:creationId xmlns:a16="http://schemas.microsoft.com/office/drawing/2014/main" id="{49F08C26-66E1-4A43-B67D-F6F6EF26BB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30" name="Freeform 1236">
                  <a:extLst>
                    <a:ext uri="{FF2B5EF4-FFF2-40B4-BE49-F238E27FC236}">
                      <a16:creationId xmlns:a16="http://schemas.microsoft.com/office/drawing/2014/main" id="{D7166C91-D405-4A9A-B5D1-8EDCDCB86B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31" name="Freeform 1237">
                  <a:extLst>
                    <a:ext uri="{FF2B5EF4-FFF2-40B4-BE49-F238E27FC236}">
                      <a16:creationId xmlns:a16="http://schemas.microsoft.com/office/drawing/2014/main" id="{E98392D0-CE60-41C7-A051-773C0D3120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32" name="Freeform 1238">
                  <a:extLst>
                    <a:ext uri="{FF2B5EF4-FFF2-40B4-BE49-F238E27FC236}">
                      <a16:creationId xmlns:a16="http://schemas.microsoft.com/office/drawing/2014/main" id="{92274E44-87FB-4F0D-AD83-20D4049D7B9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33" name="Freeform 1239">
                  <a:extLst>
                    <a:ext uri="{FF2B5EF4-FFF2-40B4-BE49-F238E27FC236}">
                      <a16:creationId xmlns:a16="http://schemas.microsoft.com/office/drawing/2014/main" id="{BECF6F66-31AB-4F75-AB2C-451F45863E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34" name="Freeform 1240">
                  <a:extLst>
                    <a:ext uri="{FF2B5EF4-FFF2-40B4-BE49-F238E27FC236}">
                      <a16:creationId xmlns:a16="http://schemas.microsoft.com/office/drawing/2014/main" id="{FF5D769E-6F14-4142-806A-654E599C2DA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123" name="Freeform 1241">
                <a:extLst>
                  <a:ext uri="{FF2B5EF4-FFF2-40B4-BE49-F238E27FC236}">
                    <a16:creationId xmlns:a16="http://schemas.microsoft.com/office/drawing/2014/main" id="{E7B5B1FF-B884-434B-8C5A-4FED4E3006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4" name="Freeform 1242">
                <a:extLst>
                  <a:ext uri="{FF2B5EF4-FFF2-40B4-BE49-F238E27FC236}">
                    <a16:creationId xmlns:a16="http://schemas.microsoft.com/office/drawing/2014/main" id="{24B5B173-D686-4366-8278-261FC0D622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5" name="Freeform 1243">
                <a:extLst>
                  <a:ext uri="{FF2B5EF4-FFF2-40B4-BE49-F238E27FC236}">
                    <a16:creationId xmlns:a16="http://schemas.microsoft.com/office/drawing/2014/main" id="{1F5F0FE5-FE98-4D61-89EE-ED5AC0CB50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6" name="Freeform 1244">
                <a:extLst>
                  <a:ext uri="{FF2B5EF4-FFF2-40B4-BE49-F238E27FC236}">
                    <a16:creationId xmlns:a16="http://schemas.microsoft.com/office/drawing/2014/main" id="{5A81F138-B8BE-4258-A954-8CCC452B29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7" name="Freeform 1245">
                <a:extLst>
                  <a:ext uri="{FF2B5EF4-FFF2-40B4-BE49-F238E27FC236}">
                    <a16:creationId xmlns:a16="http://schemas.microsoft.com/office/drawing/2014/main" id="{D2D3E9CB-167E-447B-A8C0-B006401C63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8" name="Freeform 1246">
                <a:extLst>
                  <a:ext uri="{FF2B5EF4-FFF2-40B4-BE49-F238E27FC236}">
                    <a16:creationId xmlns:a16="http://schemas.microsoft.com/office/drawing/2014/main" id="{03BA3B63-BEDD-4BA5-A7EF-2BDB60E38A08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37" name="Group 1247">
              <a:extLst>
                <a:ext uri="{FF2B5EF4-FFF2-40B4-BE49-F238E27FC236}">
                  <a16:creationId xmlns:a16="http://schemas.microsoft.com/office/drawing/2014/main" id="{28187D31-5F47-4038-9BA3-E78204F0B0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29" y="3456"/>
              <a:ext cx="299" cy="257"/>
              <a:chOff x="877" y="1008"/>
              <a:chExt cx="2747" cy="2591"/>
            </a:xfrm>
          </p:grpSpPr>
          <p:pic>
            <p:nvPicPr>
              <p:cNvPr id="36089" name="Picture 1248" descr="antenna_stylized">
                <a:extLst>
                  <a:ext uri="{FF2B5EF4-FFF2-40B4-BE49-F238E27FC236}">
                    <a16:creationId xmlns:a16="http://schemas.microsoft.com/office/drawing/2014/main" id="{79FDC5DD-DA19-4510-9109-F6F3844B1E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90" name="Picture 1249" descr="laptop_keyboard">
                <a:extLst>
                  <a:ext uri="{FF2B5EF4-FFF2-40B4-BE49-F238E27FC236}">
                    <a16:creationId xmlns:a16="http://schemas.microsoft.com/office/drawing/2014/main" id="{900BCCCF-72DA-4697-A8D7-349F7E197A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091" name="Freeform 1250">
                <a:extLst>
                  <a:ext uri="{FF2B5EF4-FFF2-40B4-BE49-F238E27FC236}">
                    <a16:creationId xmlns:a16="http://schemas.microsoft.com/office/drawing/2014/main" id="{B1234469-0216-4390-8CA7-970732BB68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36092" name="Picture 1251" descr="screen">
                <a:extLst>
                  <a:ext uri="{FF2B5EF4-FFF2-40B4-BE49-F238E27FC236}">
                    <a16:creationId xmlns:a16="http://schemas.microsoft.com/office/drawing/2014/main" id="{83A69D99-5541-4403-B639-0672DC3186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093" name="Freeform 1252">
                <a:extLst>
                  <a:ext uri="{FF2B5EF4-FFF2-40B4-BE49-F238E27FC236}">
                    <a16:creationId xmlns:a16="http://schemas.microsoft.com/office/drawing/2014/main" id="{1ED7F414-929D-446A-8FDC-5F7CE0F6F2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94" name="Freeform 1253">
                <a:extLst>
                  <a:ext uri="{FF2B5EF4-FFF2-40B4-BE49-F238E27FC236}">
                    <a16:creationId xmlns:a16="http://schemas.microsoft.com/office/drawing/2014/main" id="{9D6AD61F-4884-4861-9416-68B748835E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95" name="Freeform 1254">
                <a:extLst>
                  <a:ext uri="{FF2B5EF4-FFF2-40B4-BE49-F238E27FC236}">
                    <a16:creationId xmlns:a16="http://schemas.microsoft.com/office/drawing/2014/main" id="{A429CF29-DE2C-477E-B1D4-2ABC6CD339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96" name="Freeform 1255">
                <a:extLst>
                  <a:ext uri="{FF2B5EF4-FFF2-40B4-BE49-F238E27FC236}">
                    <a16:creationId xmlns:a16="http://schemas.microsoft.com/office/drawing/2014/main" id="{D34E21B0-F187-4B3F-9220-01DC59F71E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97" name="Freeform 1256">
                <a:extLst>
                  <a:ext uri="{FF2B5EF4-FFF2-40B4-BE49-F238E27FC236}">
                    <a16:creationId xmlns:a16="http://schemas.microsoft.com/office/drawing/2014/main" id="{72C25BFE-B0E3-4B6B-9C4A-1F65D501D4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98" name="Freeform 1257">
                <a:extLst>
                  <a:ext uri="{FF2B5EF4-FFF2-40B4-BE49-F238E27FC236}">
                    <a16:creationId xmlns:a16="http://schemas.microsoft.com/office/drawing/2014/main" id="{89D3F2F8-02EB-4F12-9D8B-91D9EDCA8B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6099" name="Group 1258">
                <a:extLst>
                  <a:ext uri="{FF2B5EF4-FFF2-40B4-BE49-F238E27FC236}">
                    <a16:creationId xmlns:a16="http://schemas.microsoft.com/office/drawing/2014/main" id="{4252AB42-4AC7-477E-8A50-9D04979F3D2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36106" name="Freeform 1259">
                  <a:extLst>
                    <a:ext uri="{FF2B5EF4-FFF2-40B4-BE49-F238E27FC236}">
                      <a16:creationId xmlns:a16="http://schemas.microsoft.com/office/drawing/2014/main" id="{6CC52624-DD16-41D3-80D5-4A2CDCE3849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07" name="Freeform 1260">
                  <a:extLst>
                    <a:ext uri="{FF2B5EF4-FFF2-40B4-BE49-F238E27FC236}">
                      <a16:creationId xmlns:a16="http://schemas.microsoft.com/office/drawing/2014/main" id="{F54C76D9-CD99-4459-9417-D1BF5C3570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08" name="Freeform 1261">
                  <a:extLst>
                    <a:ext uri="{FF2B5EF4-FFF2-40B4-BE49-F238E27FC236}">
                      <a16:creationId xmlns:a16="http://schemas.microsoft.com/office/drawing/2014/main" id="{75718E6F-FF7A-4530-BFAF-AE707B800E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09" name="Freeform 1262">
                  <a:extLst>
                    <a:ext uri="{FF2B5EF4-FFF2-40B4-BE49-F238E27FC236}">
                      <a16:creationId xmlns:a16="http://schemas.microsoft.com/office/drawing/2014/main" id="{3349416E-A6CA-47B5-8313-600628BFC0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10" name="Freeform 1263">
                  <a:extLst>
                    <a:ext uri="{FF2B5EF4-FFF2-40B4-BE49-F238E27FC236}">
                      <a16:creationId xmlns:a16="http://schemas.microsoft.com/office/drawing/2014/main" id="{A5C1FD43-50DF-4D23-BE09-EC24710F355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111" name="Freeform 1264">
                  <a:extLst>
                    <a:ext uri="{FF2B5EF4-FFF2-40B4-BE49-F238E27FC236}">
                      <a16:creationId xmlns:a16="http://schemas.microsoft.com/office/drawing/2014/main" id="{61CEF381-7AED-4331-8488-1CEBFAC3FF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100" name="Freeform 1265">
                <a:extLst>
                  <a:ext uri="{FF2B5EF4-FFF2-40B4-BE49-F238E27FC236}">
                    <a16:creationId xmlns:a16="http://schemas.microsoft.com/office/drawing/2014/main" id="{F58004B0-D45E-4332-9CA9-A3F54EE1BA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01" name="Freeform 1266">
                <a:extLst>
                  <a:ext uri="{FF2B5EF4-FFF2-40B4-BE49-F238E27FC236}">
                    <a16:creationId xmlns:a16="http://schemas.microsoft.com/office/drawing/2014/main" id="{53B3D46E-CA5B-4705-B785-ADBF768C57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02" name="Freeform 1267">
                <a:extLst>
                  <a:ext uri="{FF2B5EF4-FFF2-40B4-BE49-F238E27FC236}">
                    <a16:creationId xmlns:a16="http://schemas.microsoft.com/office/drawing/2014/main" id="{7BC07FF3-B090-4B28-86CD-D77E076139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03" name="Freeform 1268">
                <a:extLst>
                  <a:ext uri="{FF2B5EF4-FFF2-40B4-BE49-F238E27FC236}">
                    <a16:creationId xmlns:a16="http://schemas.microsoft.com/office/drawing/2014/main" id="{F801C522-8EEF-41D2-8EBE-A92AC67E23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04" name="Freeform 1269">
                <a:extLst>
                  <a:ext uri="{FF2B5EF4-FFF2-40B4-BE49-F238E27FC236}">
                    <a16:creationId xmlns:a16="http://schemas.microsoft.com/office/drawing/2014/main" id="{33BB592C-B60C-4EC8-937D-62CB745690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05" name="Freeform 1270">
                <a:extLst>
                  <a:ext uri="{FF2B5EF4-FFF2-40B4-BE49-F238E27FC236}">
                    <a16:creationId xmlns:a16="http://schemas.microsoft.com/office/drawing/2014/main" id="{3B06430C-4F66-4D45-9320-F9712139CA1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38" name="Group 1271">
              <a:extLst>
                <a:ext uri="{FF2B5EF4-FFF2-40B4-BE49-F238E27FC236}">
                  <a16:creationId xmlns:a16="http://schemas.microsoft.com/office/drawing/2014/main" id="{29053DD9-C7E2-4474-B65A-8FACFF51B5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3" y="1916"/>
              <a:ext cx="280" cy="257"/>
              <a:chOff x="877" y="1008"/>
              <a:chExt cx="2747" cy="2591"/>
            </a:xfrm>
          </p:grpSpPr>
          <p:pic>
            <p:nvPicPr>
              <p:cNvPr id="36066" name="Picture 1272" descr="antenna_stylized">
                <a:extLst>
                  <a:ext uri="{FF2B5EF4-FFF2-40B4-BE49-F238E27FC236}">
                    <a16:creationId xmlns:a16="http://schemas.microsoft.com/office/drawing/2014/main" id="{A643C058-5A56-4D1A-9CD6-C0854E0AE9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67" name="Picture 1273" descr="laptop_keyboard">
                <a:extLst>
                  <a:ext uri="{FF2B5EF4-FFF2-40B4-BE49-F238E27FC236}">
                    <a16:creationId xmlns:a16="http://schemas.microsoft.com/office/drawing/2014/main" id="{7E96CC17-A641-4B92-8CD2-B196C431D9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068" name="Freeform 1274">
                <a:extLst>
                  <a:ext uri="{FF2B5EF4-FFF2-40B4-BE49-F238E27FC236}">
                    <a16:creationId xmlns:a16="http://schemas.microsoft.com/office/drawing/2014/main" id="{DA5D9B19-9CA5-4219-B934-FB6AB375F4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36069" name="Picture 1275" descr="screen">
                <a:extLst>
                  <a:ext uri="{FF2B5EF4-FFF2-40B4-BE49-F238E27FC236}">
                    <a16:creationId xmlns:a16="http://schemas.microsoft.com/office/drawing/2014/main" id="{A164B16C-88AD-4A43-87F6-50CC78285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070" name="Freeform 1276">
                <a:extLst>
                  <a:ext uri="{FF2B5EF4-FFF2-40B4-BE49-F238E27FC236}">
                    <a16:creationId xmlns:a16="http://schemas.microsoft.com/office/drawing/2014/main" id="{37E225AC-39D6-4B36-920B-FB8E05E881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71" name="Freeform 1277">
                <a:extLst>
                  <a:ext uri="{FF2B5EF4-FFF2-40B4-BE49-F238E27FC236}">
                    <a16:creationId xmlns:a16="http://schemas.microsoft.com/office/drawing/2014/main" id="{5B3F82C1-D483-43EA-A053-6BF9EA0D23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72" name="Freeform 1278">
                <a:extLst>
                  <a:ext uri="{FF2B5EF4-FFF2-40B4-BE49-F238E27FC236}">
                    <a16:creationId xmlns:a16="http://schemas.microsoft.com/office/drawing/2014/main" id="{009DB555-7400-4B96-A88F-9CAB639C8A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73" name="Freeform 1279">
                <a:extLst>
                  <a:ext uri="{FF2B5EF4-FFF2-40B4-BE49-F238E27FC236}">
                    <a16:creationId xmlns:a16="http://schemas.microsoft.com/office/drawing/2014/main" id="{E9DD2A58-F33C-4D94-805E-4BD0D202F0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74" name="Freeform 1280">
                <a:extLst>
                  <a:ext uri="{FF2B5EF4-FFF2-40B4-BE49-F238E27FC236}">
                    <a16:creationId xmlns:a16="http://schemas.microsoft.com/office/drawing/2014/main" id="{D5B778B5-DC94-4922-806E-9C195076CC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75" name="Freeform 1281">
                <a:extLst>
                  <a:ext uri="{FF2B5EF4-FFF2-40B4-BE49-F238E27FC236}">
                    <a16:creationId xmlns:a16="http://schemas.microsoft.com/office/drawing/2014/main" id="{0085F08D-CC4E-4CAE-8CB7-69913297AA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6076" name="Group 1282">
                <a:extLst>
                  <a:ext uri="{FF2B5EF4-FFF2-40B4-BE49-F238E27FC236}">
                    <a16:creationId xmlns:a16="http://schemas.microsoft.com/office/drawing/2014/main" id="{0FB23AC2-3F15-4F39-9A9C-7D6356AFBC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36083" name="Freeform 1283">
                  <a:extLst>
                    <a:ext uri="{FF2B5EF4-FFF2-40B4-BE49-F238E27FC236}">
                      <a16:creationId xmlns:a16="http://schemas.microsoft.com/office/drawing/2014/main" id="{0BA66550-3E06-4A2C-9014-E7D43D9F2F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84" name="Freeform 1284">
                  <a:extLst>
                    <a:ext uri="{FF2B5EF4-FFF2-40B4-BE49-F238E27FC236}">
                      <a16:creationId xmlns:a16="http://schemas.microsoft.com/office/drawing/2014/main" id="{4A68B1D9-CB62-4076-92B8-97039F0CC7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85" name="Freeform 1285">
                  <a:extLst>
                    <a:ext uri="{FF2B5EF4-FFF2-40B4-BE49-F238E27FC236}">
                      <a16:creationId xmlns:a16="http://schemas.microsoft.com/office/drawing/2014/main" id="{1318253F-5A22-4DC7-B4BB-B5D273F23B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86" name="Freeform 1286">
                  <a:extLst>
                    <a:ext uri="{FF2B5EF4-FFF2-40B4-BE49-F238E27FC236}">
                      <a16:creationId xmlns:a16="http://schemas.microsoft.com/office/drawing/2014/main" id="{A4F483E6-D6C4-4C69-895A-F4F8100547F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87" name="Freeform 1287">
                  <a:extLst>
                    <a:ext uri="{FF2B5EF4-FFF2-40B4-BE49-F238E27FC236}">
                      <a16:creationId xmlns:a16="http://schemas.microsoft.com/office/drawing/2014/main" id="{3501458B-CCC6-4DED-BDDF-D0023CCA383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88" name="Freeform 1288">
                  <a:extLst>
                    <a:ext uri="{FF2B5EF4-FFF2-40B4-BE49-F238E27FC236}">
                      <a16:creationId xmlns:a16="http://schemas.microsoft.com/office/drawing/2014/main" id="{64B27808-B06C-40C0-BF4C-A6AE0892BBD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077" name="Freeform 1289">
                <a:extLst>
                  <a:ext uri="{FF2B5EF4-FFF2-40B4-BE49-F238E27FC236}">
                    <a16:creationId xmlns:a16="http://schemas.microsoft.com/office/drawing/2014/main" id="{0B23D299-5419-4DC5-9E9C-219A14297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78" name="Freeform 1290">
                <a:extLst>
                  <a:ext uri="{FF2B5EF4-FFF2-40B4-BE49-F238E27FC236}">
                    <a16:creationId xmlns:a16="http://schemas.microsoft.com/office/drawing/2014/main" id="{476E1499-B76E-43B6-9FD9-6FD6FFAA5A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79" name="Freeform 1291">
                <a:extLst>
                  <a:ext uri="{FF2B5EF4-FFF2-40B4-BE49-F238E27FC236}">
                    <a16:creationId xmlns:a16="http://schemas.microsoft.com/office/drawing/2014/main" id="{CEB6F9D1-CF48-416E-9628-78A8442BA9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80" name="Freeform 1292">
                <a:extLst>
                  <a:ext uri="{FF2B5EF4-FFF2-40B4-BE49-F238E27FC236}">
                    <a16:creationId xmlns:a16="http://schemas.microsoft.com/office/drawing/2014/main" id="{A91559D9-AC84-4850-A3AA-39B86C1FC5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81" name="Freeform 1293">
                <a:extLst>
                  <a:ext uri="{FF2B5EF4-FFF2-40B4-BE49-F238E27FC236}">
                    <a16:creationId xmlns:a16="http://schemas.microsoft.com/office/drawing/2014/main" id="{45F85C34-A82A-4334-A8A5-949D5BC5C4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82" name="Freeform 1294">
                <a:extLst>
                  <a:ext uri="{FF2B5EF4-FFF2-40B4-BE49-F238E27FC236}">
                    <a16:creationId xmlns:a16="http://schemas.microsoft.com/office/drawing/2014/main" id="{3D5F7F67-E57F-42F9-BC9E-7305E15A6FEC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6039" name="Group 1295">
              <a:extLst>
                <a:ext uri="{FF2B5EF4-FFF2-40B4-BE49-F238E27FC236}">
                  <a16:creationId xmlns:a16="http://schemas.microsoft.com/office/drawing/2014/main" id="{5494820C-C31F-4E06-9716-ECBD7EA2ABE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3742" y="2030"/>
              <a:ext cx="261" cy="235"/>
              <a:chOff x="2839" y="3501"/>
              <a:chExt cx="755" cy="803"/>
            </a:xfrm>
          </p:grpSpPr>
          <p:pic>
            <p:nvPicPr>
              <p:cNvPr id="36064" name="Picture 1296" descr="desktop_computer_stylized_medium">
                <a:extLst>
                  <a:ext uri="{FF2B5EF4-FFF2-40B4-BE49-F238E27FC236}">
                    <a16:creationId xmlns:a16="http://schemas.microsoft.com/office/drawing/2014/main" id="{8C41799B-0456-4CA8-9884-C0A16278D1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065" name="Freeform 1297">
                <a:extLst>
                  <a:ext uri="{FF2B5EF4-FFF2-40B4-BE49-F238E27FC236}">
                    <a16:creationId xmlns:a16="http://schemas.microsoft.com/office/drawing/2014/main" id="{680B0BAA-C03D-4A64-9C21-F244B5609E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36040" name="Group 1298">
              <a:extLst>
                <a:ext uri="{FF2B5EF4-FFF2-40B4-BE49-F238E27FC236}">
                  <a16:creationId xmlns:a16="http://schemas.microsoft.com/office/drawing/2014/main" id="{6694C071-B501-48E7-A325-FC1037F968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3" y="3416"/>
              <a:ext cx="299" cy="257"/>
              <a:chOff x="877" y="1008"/>
              <a:chExt cx="2747" cy="2591"/>
            </a:xfrm>
          </p:grpSpPr>
          <p:pic>
            <p:nvPicPr>
              <p:cNvPr id="36041" name="Picture 1299" descr="antenna_stylized">
                <a:extLst>
                  <a:ext uri="{FF2B5EF4-FFF2-40B4-BE49-F238E27FC236}">
                    <a16:creationId xmlns:a16="http://schemas.microsoft.com/office/drawing/2014/main" id="{9265E4B7-1B76-4CD2-9B63-BBFAE383B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42" name="Picture 1300" descr="laptop_keyboard">
                <a:extLst>
                  <a:ext uri="{FF2B5EF4-FFF2-40B4-BE49-F238E27FC236}">
                    <a16:creationId xmlns:a16="http://schemas.microsoft.com/office/drawing/2014/main" id="{A4EB04CE-3C32-474E-B30F-C45B3E86A51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043" name="Freeform 1301">
                <a:extLst>
                  <a:ext uri="{FF2B5EF4-FFF2-40B4-BE49-F238E27FC236}">
                    <a16:creationId xmlns:a16="http://schemas.microsoft.com/office/drawing/2014/main" id="{8C20BB0E-9AF7-4405-BDD9-667CC27EC0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36044" name="Picture 1302" descr="screen">
                <a:extLst>
                  <a:ext uri="{FF2B5EF4-FFF2-40B4-BE49-F238E27FC236}">
                    <a16:creationId xmlns:a16="http://schemas.microsoft.com/office/drawing/2014/main" id="{2BB6C4C0-5402-4C28-9B39-92C463DCB1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045" name="Freeform 1303">
                <a:extLst>
                  <a:ext uri="{FF2B5EF4-FFF2-40B4-BE49-F238E27FC236}">
                    <a16:creationId xmlns:a16="http://schemas.microsoft.com/office/drawing/2014/main" id="{F0EB27A5-CEC1-40EA-80B1-E7B89E4768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46" name="Freeform 1304">
                <a:extLst>
                  <a:ext uri="{FF2B5EF4-FFF2-40B4-BE49-F238E27FC236}">
                    <a16:creationId xmlns:a16="http://schemas.microsoft.com/office/drawing/2014/main" id="{C23840A8-3DF8-4B7A-B6FE-504CE99E19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47" name="Freeform 1305">
                <a:extLst>
                  <a:ext uri="{FF2B5EF4-FFF2-40B4-BE49-F238E27FC236}">
                    <a16:creationId xmlns:a16="http://schemas.microsoft.com/office/drawing/2014/main" id="{621F3F4D-3052-47D6-8BD9-49B7978E39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48" name="Freeform 1306">
                <a:extLst>
                  <a:ext uri="{FF2B5EF4-FFF2-40B4-BE49-F238E27FC236}">
                    <a16:creationId xmlns:a16="http://schemas.microsoft.com/office/drawing/2014/main" id="{59FE7C97-5F80-4DD8-A0BF-57E0873228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49" name="Freeform 1307">
                <a:extLst>
                  <a:ext uri="{FF2B5EF4-FFF2-40B4-BE49-F238E27FC236}">
                    <a16:creationId xmlns:a16="http://schemas.microsoft.com/office/drawing/2014/main" id="{D2A895B7-EED2-439F-BC61-3F4B9F0BE0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1 h 1659"/>
                  <a:gd name="T6" fmla="*/ 0 w 637"/>
                  <a:gd name="T7" fmla="*/ 1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50" name="Freeform 1308">
                <a:extLst>
                  <a:ext uri="{FF2B5EF4-FFF2-40B4-BE49-F238E27FC236}">
                    <a16:creationId xmlns:a16="http://schemas.microsoft.com/office/drawing/2014/main" id="{A976847B-97C1-4336-B941-200258133D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36051" name="Group 1309">
                <a:extLst>
                  <a:ext uri="{FF2B5EF4-FFF2-40B4-BE49-F238E27FC236}">
                    <a16:creationId xmlns:a16="http://schemas.microsoft.com/office/drawing/2014/main" id="{F02FC210-7329-4695-91B3-4C3662B1C62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36058" name="Freeform 1310">
                  <a:extLst>
                    <a:ext uri="{FF2B5EF4-FFF2-40B4-BE49-F238E27FC236}">
                      <a16:creationId xmlns:a16="http://schemas.microsoft.com/office/drawing/2014/main" id="{D1D53E86-2BA8-4E70-9885-D8EC0761973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59" name="Freeform 1311">
                  <a:extLst>
                    <a:ext uri="{FF2B5EF4-FFF2-40B4-BE49-F238E27FC236}">
                      <a16:creationId xmlns:a16="http://schemas.microsoft.com/office/drawing/2014/main" id="{0DB12F0E-0B8B-4E96-9AD9-C0138C5EF8A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60" name="Freeform 1312">
                  <a:extLst>
                    <a:ext uri="{FF2B5EF4-FFF2-40B4-BE49-F238E27FC236}">
                      <a16:creationId xmlns:a16="http://schemas.microsoft.com/office/drawing/2014/main" id="{B38FD01D-2F06-40C1-A64D-182D8735EE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61" name="Freeform 1313">
                  <a:extLst>
                    <a:ext uri="{FF2B5EF4-FFF2-40B4-BE49-F238E27FC236}">
                      <a16:creationId xmlns:a16="http://schemas.microsoft.com/office/drawing/2014/main" id="{AECE1F17-2E8C-411C-B26C-9541F09F4D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62" name="Freeform 1314">
                  <a:extLst>
                    <a:ext uri="{FF2B5EF4-FFF2-40B4-BE49-F238E27FC236}">
                      <a16:creationId xmlns:a16="http://schemas.microsoft.com/office/drawing/2014/main" id="{CBA61AA2-9305-4A36-B99B-A70CF47438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6063" name="Freeform 1315">
                  <a:extLst>
                    <a:ext uri="{FF2B5EF4-FFF2-40B4-BE49-F238E27FC236}">
                      <a16:creationId xmlns:a16="http://schemas.microsoft.com/office/drawing/2014/main" id="{24A1EEFC-2F2E-4B1E-8910-A5B0ED4523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6052" name="Freeform 1316">
                <a:extLst>
                  <a:ext uri="{FF2B5EF4-FFF2-40B4-BE49-F238E27FC236}">
                    <a16:creationId xmlns:a16="http://schemas.microsoft.com/office/drawing/2014/main" id="{800C9134-00A5-4FA8-A09D-CD4051CB14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53" name="Freeform 1317">
                <a:extLst>
                  <a:ext uri="{FF2B5EF4-FFF2-40B4-BE49-F238E27FC236}">
                    <a16:creationId xmlns:a16="http://schemas.microsoft.com/office/drawing/2014/main" id="{E7232EFF-FB28-4D62-B9C6-D432A41B1B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54" name="Freeform 1318">
                <a:extLst>
                  <a:ext uri="{FF2B5EF4-FFF2-40B4-BE49-F238E27FC236}">
                    <a16:creationId xmlns:a16="http://schemas.microsoft.com/office/drawing/2014/main" id="{5BF4B1CF-CC81-4238-8407-7E08D09377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55" name="Freeform 1319">
                <a:extLst>
                  <a:ext uri="{FF2B5EF4-FFF2-40B4-BE49-F238E27FC236}">
                    <a16:creationId xmlns:a16="http://schemas.microsoft.com/office/drawing/2014/main" id="{ED101D9A-C4A1-459E-B731-52BB1FF66F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56" name="Freeform 1320">
                <a:extLst>
                  <a:ext uri="{FF2B5EF4-FFF2-40B4-BE49-F238E27FC236}">
                    <a16:creationId xmlns:a16="http://schemas.microsoft.com/office/drawing/2014/main" id="{D5C09AF6-109F-4D27-93DA-27BD7BBA7F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57" name="Freeform 1321">
                <a:extLst>
                  <a:ext uri="{FF2B5EF4-FFF2-40B4-BE49-F238E27FC236}">
                    <a16:creationId xmlns:a16="http://schemas.microsoft.com/office/drawing/2014/main" id="{8BE4EA1D-9B9E-402B-A40D-F2963D7EF550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pic>
        <p:nvPicPr>
          <p:cNvPr id="35845" name="Picture 939" descr="underline_base">
            <a:extLst>
              <a:ext uri="{FF2B5EF4-FFF2-40B4-BE49-F238E27FC236}">
                <a16:creationId xmlns:a16="http://schemas.microsoft.com/office/drawing/2014/main" id="{FEA00DB0-4275-4DFB-903D-FA90F73AD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936625"/>
            <a:ext cx="8228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50" name="Rectangle 2">
            <a:extLst>
              <a:ext uri="{FF2B5EF4-FFF2-40B4-BE49-F238E27FC236}">
                <a16:creationId xmlns:a16="http://schemas.microsoft.com/office/drawing/2014/main" id="{12C03DBA-0F6A-4678-B227-4BB51D65EA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79400" y="122238"/>
            <a:ext cx="856615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Internet transport-layer protocols</a:t>
            </a:r>
          </a:p>
        </p:txBody>
      </p:sp>
      <p:sp>
        <p:nvSpPr>
          <p:cNvPr id="35847" name="Rectangle 3">
            <a:extLst>
              <a:ext uri="{FF2B5EF4-FFF2-40B4-BE49-F238E27FC236}">
                <a16:creationId xmlns:a16="http://schemas.microsoft.com/office/drawing/2014/main" id="{BD7782CA-5922-4FCD-963F-E848A168C34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38150" y="1400175"/>
            <a:ext cx="3971925" cy="5114925"/>
          </a:xfrm>
        </p:spPr>
        <p:txBody>
          <a:bodyPr/>
          <a:lstStyle/>
          <a:p>
            <a:r>
              <a:rPr lang="en-US" altLang="zh-TW" dirty="0">
                <a:solidFill>
                  <a:srgbClr val="0070C0"/>
                </a:solidFill>
              </a:rPr>
              <a:t>reliable, in-order delivery (TCP)</a:t>
            </a:r>
          </a:p>
          <a:p>
            <a:pPr lvl="1"/>
            <a:r>
              <a:rPr lang="en-US" altLang="zh-TW" dirty="0"/>
              <a:t>congestion control </a:t>
            </a:r>
          </a:p>
          <a:p>
            <a:pPr lvl="1"/>
            <a:r>
              <a:rPr lang="en-US" altLang="zh-TW" dirty="0"/>
              <a:t>flow control</a:t>
            </a:r>
          </a:p>
          <a:p>
            <a:pPr lvl="1"/>
            <a:r>
              <a:rPr lang="en-US" altLang="zh-TW" dirty="0"/>
              <a:t>connection setup</a:t>
            </a:r>
            <a:endParaRPr lang="en-US" altLang="zh-TW" sz="2800" dirty="0"/>
          </a:p>
          <a:p>
            <a:r>
              <a:rPr lang="en-US" altLang="zh-TW" dirty="0">
                <a:solidFill>
                  <a:srgbClr val="0070C0"/>
                </a:solidFill>
              </a:rPr>
              <a:t>unreliable, unordered delivery: UDP</a:t>
            </a:r>
          </a:p>
          <a:p>
            <a:pPr lvl="1"/>
            <a:r>
              <a:rPr lang="en-US" altLang="zh-TW" dirty="0"/>
              <a:t>no-frills extension of </a:t>
            </a:r>
            <a:r>
              <a:rPr lang="ja-JP" altLang="en-US" dirty="0"/>
              <a:t>“</a:t>
            </a:r>
            <a:r>
              <a:rPr lang="en-US" altLang="ja-JP" dirty="0"/>
              <a:t>best-effort</a:t>
            </a:r>
            <a:r>
              <a:rPr lang="ja-JP" altLang="en-US" dirty="0"/>
              <a:t>”</a:t>
            </a:r>
            <a:r>
              <a:rPr lang="en-US" altLang="ja-JP" dirty="0"/>
              <a:t> IP</a:t>
            </a:r>
          </a:p>
          <a:p>
            <a:r>
              <a:rPr lang="en-US" altLang="zh-TW" dirty="0"/>
              <a:t>services not available: </a:t>
            </a:r>
          </a:p>
          <a:p>
            <a:pPr lvl="1"/>
            <a:r>
              <a:rPr lang="en-US" altLang="zh-TW" dirty="0"/>
              <a:t>delay guarantees</a:t>
            </a:r>
          </a:p>
          <a:p>
            <a:pPr lvl="1"/>
            <a:r>
              <a:rPr lang="en-US" altLang="zh-TW" dirty="0"/>
              <a:t>bandwidth guarantees</a:t>
            </a:r>
          </a:p>
        </p:txBody>
      </p:sp>
      <p:sp>
        <p:nvSpPr>
          <p:cNvPr id="35848" name="Line 677">
            <a:extLst>
              <a:ext uri="{FF2B5EF4-FFF2-40B4-BE49-F238E27FC236}">
                <a16:creationId xmlns:a16="http://schemas.microsoft.com/office/drawing/2014/main" id="{938661C1-76B6-4EB9-B00D-0254A5DA03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6363" y="2490788"/>
            <a:ext cx="509587" cy="317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49" name="Line 683">
            <a:extLst>
              <a:ext uri="{FF2B5EF4-FFF2-40B4-BE49-F238E27FC236}">
                <a16:creationId xmlns:a16="http://schemas.microsoft.com/office/drawing/2014/main" id="{1A603C41-86B6-4BF8-9E68-880AB9923D89}"/>
              </a:ext>
            </a:extLst>
          </p:cNvPr>
          <p:cNvSpPr>
            <a:spLocks noChangeShapeType="1"/>
          </p:cNvSpPr>
          <p:nvPr/>
        </p:nvSpPr>
        <p:spPr bwMode="auto">
          <a:xfrm>
            <a:off x="7091363" y="4600575"/>
            <a:ext cx="390525" cy="18415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0" name="Line 684">
            <a:extLst>
              <a:ext uri="{FF2B5EF4-FFF2-40B4-BE49-F238E27FC236}">
                <a16:creationId xmlns:a16="http://schemas.microsoft.com/office/drawing/2014/main" id="{F08F2B39-2329-43A7-A6A5-C08227E602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0650" y="4587875"/>
            <a:ext cx="322263" cy="198438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1" name="Line 704">
            <a:extLst>
              <a:ext uri="{FF2B5EF4-FFF2-40B4-BE49-F238E27FC236}">
                <a16:creationId xmlns:a16="http://schemas.microsoft.com/office/drawing/2014/main" id="{EF433382-B774-428C-ABE6-06E7B2A68FA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29450" y="2836863"/>
            <a:ext cx="98425" cy="70485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852" name="Group 737">
            <a:extLst>
              <a:ext uri="{FF2B5EF4-FFF2-40B4-BE49-F238E27FC236}">
                <a16:creationId xmlns:a16="http://schemas.microsoft.com/office/drawing/2014/main" id="{C47810AC-3A57-4848-BED7-382DA21001DA}"/>
              </a:ext>
            </a:extLst>
          </p:cNvPr>
          <p:cNvGrpSpPr>
            <a:grpSpLocks/>
          </p:cNvGrpSpPr>
          <p:nvPr/>
        </p:nvGrpSpPr>
        <p:grpSpPr bwMode="auto">
          <a:xfrm>
            <a:off x="6943725" y="2416175"/>
            <a:ext cx="382588" cy="171450"/>
            <a:chOff x="3855" y="1486"/>
            <a:chExt cx="241" cy="108"/>
          </a:xfrm>
        </p:grpSpPr>
        <p:sp>
          <p:nvSpPr>
            <p:cNvPr id="35966" name="Oval 407">
              <a:extLst>
                <a:ext uri="{FF2B5EF4-FFF2-40B4-BE49-F238E27FC236}">
                  <a16:creationId xmlns:a16="http://schemas.microsoft.com/office/drawing/2014/main" id="{EEBA284A-89D1-46AC-935B-CD7D4E4BC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533"/>
              <a:ext cx="240" cy="6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67" name="Rectangle 410">
              <a:extLst>
                <a:ext uri="{FF2B5EF4-FFF2-40B4-BE49-F238E27FC236}">
                  <a16:creationId xmlns:a16="http://schemas.microsoft.com/office/drawing/2014/main" id="{11D52044-0138-4D6F-A571-FDE792EE02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5" y="1527"/>
              <a:ext cx="241" cy="37"/>
            </a:xfrm>
            <a:prstGeom prst="rect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68" name="Oval 411">
              <a:extLst>
                <a:ext uri="{FF2B5EF4-FFF2-40B4-BE49-F238E27FC236}">
                  <a16:creationId xmlns:a16="http://schemas.microsoft.com/office/drawing/2014/main" id="{7AC30685-B131-4D7F-BA3E-0A1B420B17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486"/>
              <a:ext cx="240" cy="7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69" name="Group 741">
              <a:extLst>
                <a:ext uri="{FF2B5EF4-FFF2-40B4-BE49-F238E27FC236}">
                  <a16:creationId xmlns:a16="http://schemas.microsoft.com/office/drawing/2014/main" id="{85DFE905-A6B7-43A5-866C-1044DE97F2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05" y="1504"/>
              <a:ext cx="134" cy="33"/>
              <a:chOff x="2468" y="1332"/>
              <a:chExt cx="310" cy="60"/>
            </a:xfrm>
          </p:grpSpPr>
          <p:sp>
            <p:nvSpPr>
              <p:cNvPr id="35972" name="Freeform 742">
                <a:extLst>
                  <a:ext uri="{FF2B5EF4-FFF2-40B4-BE49-F238E27FC236}">
                    <a16:creationId xmlns:a16="http://schemas.microsoft.com/office/drawing/2014/main" id="{98B7F031-9D5F-402C-8C4B-B04E6DDB1D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73" name="Freeform 743">
                <a:extLst>
                  <a:ext uri="{FF2B5EF4-FFF2-40B4-BE49-F238E27FC236}">
                    <a16:creationId xmlns:a16="http://schemas.microsoft.com/office/drawing/2014/main" id="{425C727E-E0DD-48B6-B1B2-21CE99770C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70" name="Line 744">
              <a:extLst>
                <a:ext uri="{FF2B5EF4-FFF2-40B4-BE49-F238E27FC236}">
                  <a16:creationId xmlns:a16="http://schemas.microsoft.com/office/drawing/2014/main" id="{394E5E29-932D-452F-B689-E46E84CE9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6" y="1520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71" name="Line 745">
              <a:extLst>
                <a:ext uri="{FF2B5EF4-FFF2-40B4-BE49-F238E27FC236}">
                  <a16:creationId xmlns:a16="http://schemas.microsoft.com/office/drawing/2014/main" id="{9F37F49D-857B-4A51-BC4E-4150ECF035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96" y="1521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53" name="Group 746">
            <a:extLst>
              <a:ext uri="{FF2B5EF4-FFF2-40B4-BE49-F238E27FC236}">
                <a16:creationId xmlns:a16="http://schemas.microsoft.com/office/drawing/2014/main" id="{F18D1187-705D-4306-B6D7-7DB19F091A6A}"/>
              </a:ext>
            </a:extLst>
          </p:cNvPr>
          <p:cNvGrpSpPr>
            <a:grpSpLocks/>
          </p:cNvGrpSpPr>
          <p:nvPr/>
        </p:nvGrpSpPr>
        <p:grpSpPr bwMode="auto">
          <a:xfrm>
            <a:off x="6969125" y="2660650"/>
            <a:ext cx="382588" cy="171450"/>
            <a:chOff x="3855" y="1486"/>
            <a:chExt cx="241" cy="108"/>
          </a:xfrm>
        </p:grpSpPr>
        <p:sp>
          <p:nvSpPr>
            <p:cNvPr id="35958" name="Oval 407">
              <a:extLst>
                <a:ext uri="{FF2B5EF4-FFF2-40B4-BE49-F238E27FC236}">
                  <a16:creationId xmlns:a16="http://schemas.microsoft.com/office/drawing/2014/main" id="{C6D8BFDF-941A-4FC5-ACF3-BEF7DDE10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533"/>
              <a:ext cx="240" cy="6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59" name="Rectangle 410">
              <a:extLst>
                <a:ext uri="{FF2B5EF4-FFF2-40B4-BE49-F238E27FC236}">
                  <a16:creationId xmlns:a16="http://schemas.microsoft.com/office/drawing/2014/main" id="{1CB6D43F-C855-4106-80E5-01A5115A95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5" y="1527"/>
              <a:ext cx="241" cy="37"/>
            </a:xfrm>
            <a:prstGeom prst="rect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60" name="Oval 411">
              <a:extLst>
                <a:ext uri="{FF2B5EF4-FFF2-40B4-BE49-F238E27FC236}">
                  <a16:creationId xmlns:a16="http://schemas.microsoft.com/office/drawing/2014/main" id="{1FE6E4CD-EB8C-4D4A-9156-84B3BE8797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486"/>
              <a:ext cx="240" cy="7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61" name="Group 750">
              <a:extLst>
                <a:ext uri="{FF2B5EF4-FFF2-40B4-BE49-F238E27FC236}">
                  <a16:creationId xmlns:a16="http://schemas.microsoft.com/office/drawing/2014/main" id="{195CD8C8-E851-44A3-84E6-DDF2519E0F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05" y="1504"/>
              <a:ext cx="134" cy="33"/>
              <a:chOff x="2468" y="1332"/>
              <a:chExt cx="310" cy="60"/>
            </a:xfrm>
          </p:grpSpPr>
          <p:sp>
            <p:nvSpPr>
              <p:cNvPr id="35964" name="Freeform 751">
                <a:extLst>
                  <a:ext uri="{FF2B5EF4-FFF2-40B4-BE49-F238E27FC236}">
                    <a16:creationId xmlns:a16="http://schemas.microsoft.com/office/drawing/2014/main" id="{182C1E4B-2879-487A-A9A4-844CEC0D46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65" name="Freeform 752">
                <a:extLst>
                  <a:ext uri="{FF2B5EF4-FFF2-40B4-BE49-F238E27FC236}">
                    <a16:creationId xmlns:a16="http://schemas.microsoft.com/office/drawing/2014/main" id="{2B781AB2-E959-46B9-988F-5CE3F6155D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62" name="Line 753">
              <a:extLst>
                <a:ext uri="{FF2B5EF4-FFF2-40B4-BE49-F238E27FC236}">
                  <a16:creationId xmlns:a16="http://schemas.microsoft.com/office/drawing/2014/main" id="{657995C1-0C75-4B89-B31E-746A13F352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6" y="1520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63" name="Line 754">
              <a:extLst>
                <a:ext uri="{FF2B5EF4-FFF2-40B4-BE49-F238E27FC236}">
                  <a16:creationId xmlns:a16="http://schemas.microsoft.com/office/drawing/2014/main" id="{DC0B77EA-C9DB-4827-830E-5D9198EA4B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96" y="1521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54" name="Group 782">
            <a:extLst>
              <a:ext uri="{FF2B5EF4-FFF2-40B4-BE49-F238E27FC236}">
                <a16:creationId xmlns:a16="http://schemas.microsoft.com/office/drawing/2014/main" id="{F22C4D2A-169F-4597-B4AF-83EA6669CF66}"/>
              </a:ext>
            </a:extLst>
          </p:cNvPr>
          <p:cNvGrpSpPr>
            <a:grpSpLocks/>
          </p:cNvGrpSpPr>
          <p:nvPr/>
        </p:nvGrpSpPr>
        <p:grpSpPr bwMode="auto">
          <a:xfrm>
            <a:off x="6824663" y="3557588"/>
            <a:ext cx="427037" cy="177800"/>
            <a:chOff x="3855" y="1486"/>
            <a:chExt cx="241" cy="108"/>
          </a:xfrm>
        </p:grpSpPr>
        <p:sp>
          <p:nvSpPr>
            <p:cNvPr id="35950" name="Oval 407">
              <a:extLst>
                <a:ext uri="{FF2B5EF4-FFF2-40B4-BE49-F238E27FC236}">
                  <a16:creationId xmlns:a16="http://schemas.microsoft.com/office/drawing/2014/main" id="{3A7A3AAD-354B-4969-BA14-625B74D24A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533"/>
              <a:ext cx="240" cy="6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51" name="Rectangle 410">
              <a:extLst>
                <a:ext uri="{FF2B5EF4-FFF2-40B4-BE49-F238E27FC236}">
                  <a16:creationId xmlns:a16="http://schemas.microsoft.com/office/drawing/2014/main" id="{457005D2-4C67-4A2A-9D6F-083197BCA1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5" y="1527"/>
              <a:ext cx="241" cy="37"/>
            </a:xfrm>
            <a:prstGeom prst="rect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52" name="Oval 411">
              <a:extLst>
                <a:ext uri="{FF2B5EF4-FFF2-40B4-BE49-F238E27FC236}">
                  <a16:creationId xmlns:a16="http://schemas.microsoft.com/office/drawing/2014/main" id="{E41BA09B-C575-4C8B-838C-6FF10CAD0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486"/>
              <a:ext cx="240" cy="7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53" name="Group 786">
              <a:extLst>
                <a:ext uri="{FF2B5EF4-FFF2-40B4-BE49-F238E27FC236}">
                  <a16:creationId xmlns:a16="http://schemas.microsoft.com/office/drawing/2014/main" id="{969F7C0C-606A-4860-BDF0-2B8F74F4EC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05" y="1504"/>
              <a:ext cx="134" cy="33"/>
              <a:chOff x="2468" y="1332"/>
              <a:chExt cx="310" cy="60"/>
            </a:xfrm>
          </p:grpSpPr>
          <p:sp>
            <p:nvSpPr>
              <p:cNvPr id="35956" name="Freeform 787">
                <a:extLst>
                  <a:ext uri="{FF2B5EF4-FFF2-40B4-BE49-F238E27FC236}">
                    <a16:creationId xmlns:a16="http://schemas.microsoft.com/office/drawing/2014/main" id="{6B645142-5757-48CE-869C-F44AD015A2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57" name="Freeform 788">
                <a:extLst>
                  <a:ext uri="{FF2B5EF4-FFF2-40B4-BE49-F238E27FC236}">
                    <a16:creationId xmlns:a16="http://schemas.microsoft.com/office/drawing/2014/main" id="{542673FE-72AB-4C6C-A60A-7B61BF9E86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54" name="Line 789">
              <a:extLst>
                <a:ext uri="{FF2B5EF4-FFF2-40B4-BE49-F238E27FC236}">
                  <a16:creationId xmlns:a16="http://schemas.microsoft.com/office/drawing/2014/main" id="{47F9C4D4-9BDC-4103-890F-07F7377763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6" y="1520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55" name="Line 790">
              <a:extLst>
                <a:ext uri="{FF2B5EF4-FFF2-40B4-BE49-F238E27FC236}">
                  <a16:creationId xmlns:a16="http://schemas.microsoft.com/office/drawing/2014/main" id="{4333FDE0-5D9B-4075-97AA-31654FAFB6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96" y="1521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55" name="Group 791">
            <a:extLst>
              <a:ext uri="{FF2B5EF4-FFF2-40B4-BE49-F238E27FC236}">
                <a16:creationId xmlns:a16="http://schemas.microsoft.com/office/drawing/2014/main" id="{0D8E0DB5-9C4D-4AF2-8439-0B1241B96CE6}"/>
              </a:ext>
            </a:extLst>
          </p:cNvPr>
          <p:cNvGrpSpPr>
            <a:grpSpLocks/>
          </p:cNvGrpSpPr>
          <p:nvPr/>
        </p:nvGrpSpPr>
        <p:grpSpPr bwMode="auto">
          <a:xfrm>
            <a:off x="7148513" y="3805238"/>
            <a:ext cx="484187" cy="196850"/>
            <a:chOff x="3855" y="1486"/>
            <a:chExt cx="241" cy="108"/>
          </a:xfrm>
        </p:grpSpPr>
        <p:sp>
          <p:nvSpPr>
            <p:cNvPr id="35942" name="Oval 407">
              <a:extLst>
                <a:ext uri="{FF2B5EF4-FFF2-40B4-BE49-F238E27FC236}">
                  <a16:creationId xmlns:a16="http://schemas.microsoft.com/office/drawing/2014/main" id="{0F82063D-72DB-4932-A517-EFA3423DAE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533"/>
              <a:ext cx="240" cy="6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43" name="Rectangle 410">
              <a:extLst>
                <a:ext uri="{FF2B5EF4-FFF2-40B4-BE49-F238E27FC236}">
                  <a16:creationId xmlns:a16="http://schemas.microsoft.com/office/drawing/2014/main" id="{D6070CA8-848F-4BDA-B96E-87F58C23BD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5" y="1527"/>
              <a:ext cx="241" cy="37"/>
            </a:xfrm>
            <a:prstGeom prst="rect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44" name="Oval 411">
              <a:extLst>
                <a:ext uri="{FF2B5EF4-FFF2-40B4-BE49-F238E27FC236}">
                  <a16:creationId xmlns:a16="http://schemas.microsoft.com/office/drawing/2014/main" id="{6E9530FE-4EB2-4E01-B4A2-0055933F51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486"/>
              <a:ext cx="240" cy="7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45" name="Group 795">
              <a:extLst>
                <a:ext uri="{FF2B5EF4-FFF2-40B4-BE49-F238E27FC236}">
                  <a16:creationId xmlns:a16="http://schemas.microsoft.com/office/drawing/2014/main" id="{75070CBD-147F-4413-85FB-3BBE1D4CF0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05" y="1504"/>
              <a:ext cx="134" cy="33"/>
              <a:chOff x="2468" y="1332"/>
              <a:chExt cx="310" cy="60"/>
            </a:xfrm>
          </p:grpSpPr>
          <p:sp>
            <p:nvSpPr>
              <p:cNvPr id="35948" name="Freeform 796">
                <a:extLst>
                  <a:ext uri="{FF2B5EF4-FFF2-40B4-BE49-F238E27FC236}">
                    <a16:creationId xmlns:a16="http://schemas.microsoft.com/office/drawing/2014/main" id="{885C023F-BDFC-48D0-87AA-EEBC5E2179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49" name="Freeform 797">
                <a:extLst>
                  <a:ext uri="{FF2B5EF4-FFF2-40B4-BE49-F238E27FC236}">
                    <a16:creationId xmlns:a16="http://schemas.microsoft.com/office/drawing/2014/main" id="{B9D4390D-9C60-4410-A11A-50892ABCDF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46" name="Line 798">
              <a:extLst>
                <a:ext uri="{FF2B5EF4-FFF2-40B4-BE49-F238E27FC236}">
                  <a16:creationId xmlns:a16="http://schemas.microsoft.com/office/drawing/2014/main" id="{4F99712D-5E48-4ABE-85C2-F3628FA9DA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6" y="1520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47" name="Line 799">
              <a:extLst>
                <a:ext uri="{FF2B5EF4-FFF2-40B4-BE49-F238E27FC236}">
                  <a16:creationId xmlns:a16="http://schemas.microsoft.com/office/drawing/2014/main" id="{9DF7615F-1D9B-4AC3-817B-91E6FA036D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96" y="1521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856" name="Line 813">
            <a:extLst>
              <a:ext uri="{FF2B5EF4-FFF2-40B4-BE49-F238E27FC236}">
                <a16:creationId xmlns:a16="http://schemas.microsoft.com/office/drawing/2014/main" id="{64687B36-0365-443D-AB5C-AEC03C0AE24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05638" y="3978275"/>
            <a:ext cx="227012" cy="436563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857" name="Group 814">
            <a:extLst>
              <a:ext uri="{FF2B5EF4-FFF2-40B4-BE49-F238E27FC236}">
                <a16:creationId xmlns:a16="http://schemas.microsoft.com/office/drawing/2014/main" id="{9215E272-CEE2-4BA3-AEC2-3BD615A83E3C}"/>
              </a:ext>
            </a:extLst>
          </p:cNvPr>
          <p:cNvGrpSpPr>
            <a:grpSpLocks/>
          </p:cNvGrpSpPr>
          <p:nvPr/>
        </p:nvGrpSpPr>
        <p:grpSpPr bwMode="auto">
          <a:xfrm>
            <a:off x="6653213" y="4414838"/>
            <a:ext cx="617537" cy="241300"/>
            <a:chOff x="3855" y="1486"/>
            <a:chExt cx="241" cy="108"/>
          </a:xfrm>
        </p:grpSpPr>
        <p:sp>
          <p:nvSpPr>
            <p:cNvPr id="35934" name="Oval 407">
              <a:extLst>
                <a:ext uri="{FF2B5EF4-FFF2-40B4-BE49-F238E27FC236}">
                  <a16:creationId xmlns:a16="http://schemas.microsoft.com/office/drawing/2014/main" id="{12ECB611-F496-486A-A481-1B58740C02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533"/>
              <a:ext cx="240" cy="6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35" name="Rectangle 410">
              <a:extLst>
                <a:ext uri="{FF2B5EF4-FFF2-40B4-BE49-F238E27FC236}">
                  <a16:creationId xmlns:a16="http://schemas.microsoft.com/office/drawing/2014/main" id="{E3F2977A-2BD2-413F-8266-6C32E11128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5" y="1527"/>
              <a:ext cx="241" cy="37"/>
            </a:xfrm>
            <a:prstGeom prst="rect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36" name="Oval 411">
              <a:extLst>
                <a:ext uri="{FF2B5EF4-FFF2-40B4-BE49-F238E27FC236}">
                  <a16:creationId xmlns:a16="http://schemas.microsoft.com/office/drawing/2014/main" id="{6E3CC9F6-0408-4F6C-A715-F1120AAEAA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486"/>
              <a:ext cx="240" cy="7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37" name="Group 818">
              <a:extLst>
                <a:ext uri="{FF2B5EF4-FFF2-40B4-BE49-F238E27FC236}">
                  <a16:creationId xmlns:a16="http://schemas.microsoft.com/office/drawing/2014/main" id="{FD52EF22-4AEE-4A1A-B644-50BBB9F271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05" y="1504"/>
              <a:ext cx="134" cy="33"/>
              <a:chOff x="2468" y="1332"/>
              <a:chExt cx="310" cy="60"/>
            </a:xfrm>
          </p:grpSpPr>
          <p:sp>
            <p:nvSpPr>
              <p:cNvPr id="35940" name="Freeform 819">
                <a:extLst>
                  <a:ext uri="{FF2B5EF4-FFF2-40B4-BE49-F238E27FC236}">
                    <a16:creationId xmlns:a16="http://schemas.microsoft.com/office/drawing/2014/main" id="{1A33B31E-F677-48E8-94CD-C3429DE664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41" name="Freeform 820">
                <a:extLst>
                  <a:ext uri="{FF2B5EF4-FFF2-40B4-BE49-F238E27FC236}">
                    <a16:creationId xmlns:a16="http://schemas.microsoft.com/office/drawing/2014/main" id="{CBBA25D4-1E9C-46E1-969C-5B1A7835AD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38" name="Line 821">
              <a:extLst>
                <a:ext uri="{FF2B5EF4-FFF2-40B4-BE49-F238E27FC236}">
                  <a16:creationId xmlns:a16="http://schemas.microsoft.com/office/drawing/2014/main" id="{F0315C60-41F1-4E6C-9585-D6AE65E527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6" y="1520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39" name="Line 822">
              <a:extLst>
                <a:ext uri="{FF2B5EF4-FFF2-40B4-BE49-F238E27FC236}">
                  <a16:creationId xmlns:a16="http://schemas.microsoft.com/office/drawing/2014/main" id="{BE5FF755-1D29-40C2-AEB9-83BC52D5B1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96" y="1521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58" name="Group 823">
            <a:extLst>
              <a:ext uri="{FF2B5EF4-FFF2-40B4-BE49-F238E27FC236}">
                <a16:creationId xmlns:a16="http://schemas.microsoft.com/office/drawing/2014/main" id="{9F09CFCD-349A-4F7F-943D-842E48F02193}"/>
              </a:ext>
            </a:extLst>
          </p:cNvPr>
          <p:cNvGrpSpPr>
            <a:grpSpLocks/>
          </p:cNvGrpSpPr>
          <p:nvPr/>
        </p:nvGrpSpPr>
        <p:grpSpPr bwMode="auto">
          <a:xfrm>
            <a:off x="7307263" y="4751388"/>
            <a:ext cx="617537" cy="241300"/>
            <a:chOff x="3855" y="1486"/>
            <a:chExt cx="241" cy="108"/>
          </a:xfrm>
        </p:grpSpPr>
        <p:sp>
          <p:nvSpPr>
            <p:cNvPr id="35926" name="Oval 407">
              <a:extLst>
                <a:ext uri="{FF2B5EF4-FFF2-40B4-BE49-F238E27FC236}">
                  <a16:creationId xmlns:a16="http://schemas.microsoft.com/office/drawing/2014/main" id="{2C748391-523E-4A99-9B7A-8536459A3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533"/>
              <a:ext cx="240" cy="6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27" name="Rectangle 410">
              <a:extLst>
                <a:ext uri="{FF2B5EF4-FFF2-40B4-BE49-F238E27FC236}">
                  <a16:creationId xmlns:a16="http://schemas.microsoft.com/office/drawing/2014/main" id="{AA274AF4-6128-4F90-BCE3-C5A9BF3A4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5" y="1527"/>
              <a:ext cx="241" cy="37"/>
            </a:xfrm>
            <a:prstGeom prst="rect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28" name="Oval 411">
              <a:extLst>
                <a:ext uri="{FF2B5EF4-FFF2-40B4-BE49-F238E27FC236}">
                  <a16:creationId xmlns:a16="http://schemas.microsoft.com/office/drawing/2014/main" id="{11DF6A71-B912-4EC8-8E20-F4DCE88653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56" y="1486"/>
              <a:ext cx="240" cy="71"/>
            </a:xfrm>
            <a:prstGeom prst="ellipse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29" name="Group 827">
              <a:extLst>
                <a:ext uri="{FF2B5EF4-FFF2-40B4-BE49-F238E27FC236}">
                  <a16:creationId xmlns:a16="http://schemas.microsoft.com/office/drawing/2014/main" id="{E9A60CC2-6A7D-48EE-A4F5-1B055415E8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05" y="1504"/>
              <a:ext cx="134" cy="33"/>
              <a:chOff x="2468" y="1332"/>
              <a:chExt cx="310" cy="60"/>
            </a:xfrm>
          </p:grpSpPr>
          <p:sp>
            <p:nvSpPr>
              <p:cNvPr id="35932" name="Freeform 828">
                <a:extLst>
                  <a:ext uri="{FF2B5EF4-FFF2-40B4-BE49-F238E27FC236}">
                    <a16:creationId xmlns:a16="http://schemas.microsoft.com/office/drawing/2014/main" id="{9C0B73A4-99FF-4B65-B330-37F2B177DC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33" name="Freeform 829">
                <a:extLst>
                  <a:ext uri="{FF2B5EF4-FFF2-40B4-BE49-F238E27FC236}">
                    <a16:creationId xmlns:a16="http://schemas.microsoft.com/office/drawing/2014/main" id="{8A329D57-9EBA-4365-B0BE-E2EA7ADA84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30" name="Line 830">
              <a:extLst>
                <a:ext uri="{FF2B5EF4-FFF2-40B4-BE49-F238E27FC236}">
                  <a16:creationId xmlns:a16="http://schemas.microsoft.com/office/drawing/2014/main" id="{65D4244B-0C54-4393-83CB-465A522114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6" y="1520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31" name="Line 831">
              <a:extLst>
                <a:ext uri="{FF2B5EF4-FFF2-40B4-BE49-F238E27FC236}">
                  <a16:creationId xmlns:a16="http://schemas.microsoft.com/office/drawing/2014/main" id="{D027B149-8679-46CE-ADB0-7EBD0D0461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96" y="1521"/>
              <a:ext cx="0" cy="4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59" name="Group 876">
            <a:extLst>
              <a:ext uri="{FF2B5EF4-FFF2-40B4-BE49-F238E27FC236}">
                <a16:creationId xmlns:a16="http://schemas.microsoft.com/office/drawing/2014/main" id="{628E7A49-ACB0-4BC0-889D-87074A9D73B4}"/>
              </a:ext>
            </a:extLst>
          </p:cNvPr>
          <p:cNvGrpSpPr>
            <a:grpSpLocks/>
          </p:cNvGrpSpPr>
          <p:nvPr/>
        </p:nvGrpSpPr>
        <p:grpSpPr bwMode="auto">
          <a:xfrm>
            <a:off x="5359400" y="1330325"/>
            <a:ext cx="1057275" cy="957263"/>
            <a:chOff x="-153" y="1680"/>
            <a:chExt cx="666" cy="603"/>
          </a:xfrm>
        </p:grpSpPr>
        <p:grpSp>
          <p:nvGrpSpPr>
            <p:cNvPr id="35917" name="Group 877">
              <a:extLst>
                <a:ext uri="{FF2B5EF4-FFF2-40B4-BE49-F238E27FC236}">
                  <a16:creationId xmlns:a16="http://schemas.microsoft.com/office/drawing/2014/main" id="{72D33BA2-8BB7-4983-8087-9E9C52858C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1680"/>
              <a:ext cx="513" cy="538"/>
              <a:chOff x="4180" y="744"/>
              <a:chExt cx="513" cy="538"/>
            </a:xfrm>
          </p:grpSpPr>
          <p:sp>
            <p:nvSpPr>
              <p:cNvPr id="35919" name="Rectangle 878">
                <a:extLst>
                  <a:ext uri="{FF2B5EF4-FFF2-40B4-BE49-F238E27FC236}">
                    <a16:creationId xmlns:a16="http://schemas.microsoft.com/office/drawing/2014/main" id="{B2C62643-C95E-4A76-8582-6953425DC3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42" y="747"/>
                <a:ext cx="426" cy="48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5920" name="Rectangle 879">
                <a:extLst>
                  <a:ext uri="{FF2B5EF4-FFF2-40B4-BE49-F238E27FC236}">
                    <a16:creationId xmlns:a16="http://schemas.microsoft.com/office/drawing/2014/main" id="{92B5F0AC-595F-44BF-AFC7-2E157D17FF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1" y="762"/>
                <a:ext cx="435" cy="50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5921" name="Rectangle 880">
                <a:extLst>
                  <a:ext uri="{FF2B5EF4-FFF2-40B4-BE49-F238E27FC236}">
                    <a16:creationId xmlns:a16="http://schemas.microsoft.com/office/drawing/2014/main" id="{A81852B0-C8CA-4488-B9BD-EE4EA78189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4" y="873"/>
                <a:ext cx="42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5922" name="Text Box 881">
                <a:extLst>
                  <a:ext uri="{FF2B5EF4-FFF2-40B4-BE49-F238E27FC236}">
                    <a16:creationId xmlns:a16="http://schemas.microsoft.com/office/drawing/2014/main" id="{E2159FAD-1E08-443C-98EA-7D2F12A13E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80" y="744"/>
                <a:ext cx="513" cy="5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application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Tahoma" panose="020B0604030504040204" pitchFamily="34" charset="0"/>
                  </a:rPr>
                  <a:t>transport</a:t>
                </a:r>
                <a:endParaRPr lang="en-US" altLang="zh-TW" sz="1000">
                  <a:latin typeface="Tahoma" panose="020B060403050404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physical</a:t>
                </a:r>
                <a:endParaRPr lang="en-US" altLang="zh-TW" sz="2400">
                  <a:latin typeface="Tahoma" panose="020B0604030504040204" pitchFamily="34" charset="0"/>
                </a:endParaRPr>
              </a:p>
            </p:txBody>
          </p:sp>
          <p:sp>
            <p:nvSpPr>
              <p:cNvPr id="35923" name="Line 882">
                <a:extLst>
                  <a:ext uri="{FF2B5EF4-FFF2-40B4-BE49-F238E27FC236}">
                    <a16:creationId xmlns:a16="http://schemas.microsoft.com/office/drawing/2014/main" id="{16421430-AE8D-4560-B4B7-CF50E997C7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1" y="978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35924" name="Line 883">
                <a:extLst>
                  <a:ext uri="{FF2B5EF4-FFF2-40B4-BE49-F238E27FC236}">
                    <a16:creationId xmlns:a16="http://schemas.microsoft.com/office/drawing/2014/main" id="{B0D12E07-D7BB-47CC-BBF5-5D9977A5D0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7" y="106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35925" name="Line 884">
                <a:extLst>
                  <a:ext uri="{FF2B5EF4-FFF2-40B4-BE49-F238E27FC236}">
                    <a16:creationId xmlns:a16="http://schemas.microsoft.com/office/drawing/2014/main" id="{D4FAAA6D-34CF-40ED-B531-A7402CBB38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7" y="1152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sp>
          <p:nvSpPr>
            <p:cNvPr id="35918" name="Freeform 885">
              <a:extLst>
                <a:ext uri="{FF2B5EF4-FFF2-40B4-BE49-F238E27FC236}">
                  <a16:creationId xmlns:a16="http://schemas.microsoft.com/office/drawing/2014/main" id="{4322536D-20EA-4E79-AE30-8691C77C24E3}"/>
                </a:ext>
              </a:extLst>
            </p:cNvPr>
            <p:cNvSpPr>
              <a:spLocks/>
            </p:cNvSpPr>
            <p:nvPr/>
          </p:nvSpPr>
          <p:spPr bwMode="auto">
            <a:xfrm>
              <a:off x="-153" y="1689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FF0000"/>
                </a:gs>
              </a:gsLst>
              <a:lin ang="0" scaled="1"/>
            </a:gradFill>
            <a:ln w="9525" cap="flat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60" name="Group 886">
            <a:extLst>
              <a:ext uri="{FF2B5EF4-FFF2-40B4-BE49-F238E27FC236}">
                <a16:creationId xmlns:a16="http://schemas.microsoft.com/office/drawing/2014/main" id="{D67FDDA7-F7D9-4CD4-AFD8-18F52070AA4A}"/>
              </a:ext>
            </a:extLst>
          </p:cNvPr>
          <p:cNvGrpSpPr>
            <a:grpSpLocks/>
          </p:cNvGrpSpPr>
          <p:nvPr/>
        </p:nvGrpSpPr>
        <p:grpSpPr bwMode="auto">
          <a:xfrm>
            <a:off x="7869238" y="4343400"/>
            <a:ext cx="1057275" cy="957263"/>
            <a:chOff x="-153" y="1680"/>
            <a:chExt cx="666" cy="603"/>
          </a:xfrm>
        </p:grpSpPr>
        <p:grpSp>
          <p:nvGrpSpPr>
            <p:cNvPr id="35908" name="Group 887">
              <a:extLst>
                <a:ext uri="{FF2B5EF4-FFF2-40B4-BE49-F238E27FC236}">
                  <a16:creationId xmlns:a16="http://schemas.microsoft.com/office/drawing/2014/main" id="{CFC2115A-8BF7-4857-8E87-1C3CEC3CE3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1680"/>
              <a:ext cx="513" cy="538"/>
              <a:chOff x="4180" y="744"/>
              <a:chExt cx="513" cy="538"/>
            </a:xfrm>
          </p:grpSpPr>
          <p:sp>
            <p:nvSpPr>
              <p:cNvPr id="35910" name="Rectangle 888">
                <a:extLst>
                  <a:ext uri="{FF2B5EF4-FFF2-40B4-BE49-F238E27FC236}">
                    <a16:creationId xmlns:a16="http://schemas.microsoft.com/office/drawing/2014/main" id="{45982121-7DFE-4827-9437-9C01D47AB5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42" y="747"/>
                <a:ext cx="426" cy="48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5911" name="Rectangle 889">
                <a:extLst>
                  <a:ext uri="{FF2B5EF4-FFF2-40B4-BE49-F238E27FC236}">
                    <a16:creationId xmlns:a16="http://schemas.microsoft.com/office/drawing/2014/main" id="{08FF27B7-37B7-43BC-B2C7-4C7DFD28B9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1" y="762"/>
                <a:ext cx="435" cy="50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5912" name="Rectangle 890">
                <a:extLst>
                  <a:ext uri="{FF2B5EF4-FFF2-40B4-BE49-F238E27FC236}">
                    <a16:creationId xmlns:a16="http://schemas.microsoft.com/office/drawing/2014/main" id="{604BE77A-E215-4B2E-8928-7522CA33D9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4" y="873"/>
                <a:ext cx="42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5913" name="Text Box 891">
                <a:extLst>
                  <a:ext uri="{FF2B5EF4-FFF2-40B4-BE49-F238E27FC236}">
                    <a16:creationId xmlns:a16="http://schemas.microsoft.com/office/drawing/2014/main" id="{78F47F7D-29AD-4C88-A8D0-92B7232F7E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80" y="744"/>
                <a:ext cx="513" cy="5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application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Tahoma" panose="020B0604030504040204" pitchFamily="34" charset="0"/>
                  </a:rPr>
                  <a:t>transport</a:t>
                </a:r>
                <a:endParaRPr lang="en-US" altLang="zh-TW" sz="1000">
                  <a:latin typeface="Tahoma" panose="020B060403050404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Tahoma" panose="020B0604030504040204" pitchFamily="34" charset="0"/>
                  </a:rPr>
                  <a:t>physical</a:t>
                </a:r>
                <a:endParaRPr lang="en-US" altLang="zh-TW" sz="2400">
                  <a:latin typeface="Tahoma" panose="020B0604030504040204" pitchFamily="34" charset="0"/>
                </a:endParaRPr>
              </a:p>
            </p:txBody>
          </p:sp>
          <p:sp>
            <p:nvSpPr>
              <p:cNvPr id="35914" name="Line 892">
                <a:extLst>
                  <a:ext uri="{FF2B5EF4-FFF2-40B4-BE49-F238E27FC236}">
                    <a16:creationId xmlns:a16="http://schemas.microsoft.com/office/drawing/2014/main" id="{113D98F9-0641-4934-9342-4B6C038637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1" y="978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35915" name="Line 893">
                <a:extLst>
                  <a:ext uri="{FF2B5EF4-FFF2-40B4-BE49-F238E27FC236}">
                    <a16:creationId xmlns:a16="http://schemas.microsoft.com/office/drawing/2014/main" id="{F187CE38-7345-46B5-8B7C-F2C96DFE5BC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7" y="106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35916" name="Line 894">
                <a:extLst>
                  <a:ext uri="{FF2B5EF4-FFF2-40B4-BE49-F238E27FC236}">
                    <a16:creationId xmlns:a16="http://schemas.microsoft.com/office/drawing/2014/main" id="{9588C985-DA85-4531-B615-9C72278609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7" y="1152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sp>
          <p:nvSpPr>
            <p:cNvPr id="35909" name="Freeform 895">
              <a:extLst>
                <a:ext uri="{FF2B5EF4-FFF2-40B4-BE49-F238E27FC236}">
                  <a16:creationId xmlns:a16="http://schemas.microsoft.com/office/drawing/2014/main" id="{7D3E5FB4-2B96-4C8A-91D1-A12AAD54514C}"/>
                </a:ext>
              </a:extLst>
            </p:cNvPr>
            <p:cNvSpPr>
              <a:spLocks/>
            </p:cNvSpPr>
            <p:nvPr/>
          </p:nvSpPr>
          <p:spPr bwMode="auto">
            <a:xfrm>
              <a:off x="-153" y="1689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FF0000"/>
                </a:gs>
              </a:gsLst>
              <a:lin ang="0" scaled="1"/>
            </a:gradFill>
            <a:ln w="9525" cap="flat" cmpd="sng">
              <a:solidFill>
                <a:srgbClr val="FF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61" name="Group 661">
            <a:extLst>
              <a:ext uri="{FF2B5EF4-FFF2-40B4-BE49-F238E27FC236}">
                <a16:creationId xmlns:a16="http://schemas.microsoft.com/office/drawing/2014/main" id="{DB71A392-C543-4566-B5C2-467004CB834E}"/>
              </a:ext>
            </a:extLst>
          </p:cNvPr>
          <p:cNvGrpSpPr>
            <a:grpSpLocks/>
          </p:cNvGrpSpPr>
          <p:nvPr/>
        </p:nvGrpSpPr>
        <p:grpSpPr bwMode="auto">
          <a:xfrm>
            <a:off x="5913438" y="2057400"/>
            <a:ext cx="814387" cy="701675"/>
            <a:chOff x="2923" y="3345"/>
            <a:chExt cx="513" cy="442"/>
          </a:xfrm>
        </p:grpSpPr>
        <p:sp>
          <p:nvSpPr>
            <p:cNvPr id="35903" name="Rectangle 662">
              <a:extLst>
                <a:ext uri="{FF2B5EF4-FFF2-40B4-BE49-F238E27FC236}">
                  <a16:creationId xmlns:a16="http://schemas.microsoft.com/office/drawing/2014/main" id="{ECEF9B92-2B72-430B-8F03-1248413D9D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8" y="3444"/>
              <a:ext cx="426" cy="30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904" name="Rectangle 663">
              <a:extLst>
                <a:ext uri="{FF2B5EF4-FFF2-40B4-BE49-F238E27FC236}">
                  <a16:creationId xmlns:a16="http://schemas.microsoft.com/office/drawing/2014/main" id="{7349455F-C94C-4AD3-8F1A-36A29BF4CF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1" y="3465"/>
              <a:ext cx="435" cy="31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905" name="Text Box 664">
              <a:extLst>
                <a:ext uri="{FF2B5EF4-FFF2-40B4-BE49-F238E27FC236}">
                  <a16:creationId xmlns:a16="http://schemas.microsoft.com/office/drawing/2014/main" id="{1A53E98D-3A10-4933-AF87-26A4192BF8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3" y="3345"/>
              <a:ext cx="513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000">
                <a:latin typeface="Comic Sans MS" panose="030F0702030302020204" pitchFamily="66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physical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5906" name="Line 665">
              <a:extLst>
                <a:ext uri="{FF2B5EF4-FFF2-40B4-BE49-F238E27FC236}">
                  <a16:creationId xmlns:a16="http://schemas.microsoft.com/office/drawing/2014/main" id="{C0EB4771-0624-4AC4-87EF-72045915C6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" y="3657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907" name="Line 666">
              <a:extLst>
                <a:ext uri="{FF2B5EF4-FFF2-40B4-BE49-F238E27FC236}">
                  <a16:creationId xmlns:a16="http://schemas.microsoft.com/office/drawing/2014/main" id="{02B509BE-924A-43ED-9836-BAC2CC1AED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4" y="356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35862" name="Group 901">
            <a:extLst>
              <a:ext uri="{FF2B5EF4-FFF2-40B4-BE49-F238E27FC236}">
                <a16:creationId xmlns:a16="http://schemas.microsoft.com/office/drawing/2014/main" id="{8BB5AA92-04D7-400D-B4F0-1EB8CCC3CEB3}"/>
              </a:ext>
            </a:extLst>
          </p:cNvPr>
          <p:cNvGrpSpPr>
            <a:grpSpLocks/>
          </p:cNvGrpSpPr>
          <p:nvPr/>
        </p:nvGrpSpPr>
        <p:grpSpPr bwMode="auto">
          <a:xfrm>
            <a:off x="6729413" y="2479675"/>
            <a:ext cx="814387" cy="701675"/>
            <a:chOff x="2923" y="3345"/>
            <a:chExt cx="513" cy="442"/>
          </a:xfrm>
        </p:grpSpPr>
        <p:sp>
          <p:nvSpPr>
            <p:cNvPr id="35898" name="Rectangle 902">
              <a:extLst>
                <a:ext uri="{FF2B5EF4-FFF2-40B4-BE49-F238E27FC236}">
                  <a16:creationId xmlns:a16="http://schemas.microsoft.com/office/drawing/2014/main" id="{BAF2AC5D-B17B-4907-805E-3D377B2A1A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8" y="3444"/>
              <a:ext cx="426" cy="30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99" name="Rectangle 903">
              <a:extLst>
                <a:ext uri="{FF2B5EF4-FFF2-40B4-BE49-F238E27FC236}">
                  <a16:creationId xmlns:a16="http://schemas.microsoft.com/office/drawing/2014/main" id="{AD1A1494-044D-4D62-A8A1-4416C149C7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1" y="3465"/>
              <a:ext cx="435" cy="31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900" name="Text Box 904">
              <a:extLst>
                <a:ext uri="{FF2B5EF4-FFF2-40B4-BE49-F238E27FC236}">
                  <a16:creationId xmlns:a16="http://schemas.microsoft.com/office/drawing/2014/main" id="{52B408B6-5A9A-44CD-A35A-9029F7123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3" y="3345"/>
              <a:ext cx="513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000">
                <a:latin typeface="Comic Sans MS" panose="030F0702030302020204" pitchFamily="66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physical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5901" name="Line 905">
              <a:extLst>
                <a:ext uri="{FF2B5EF4-FFF2-40B4-BE49-F238E27FC236}">
                  <a16:creationId xmlns:a16="http://schemas.microsoft.com/office/drawing/2014/main" id="{1DFC8B20-CE9D-4D4C-94B6-6E2E1B25A6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" y="3657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902" name="Line 906">
              <a:extLst>
                <a:ext uri="{FF2B5EF4-FFF2-40B4-BE49-F238E27FC236}">
                  <a16:creationId xmlns:a16="http://schemas.microsoft.com/office/drawing/2014/main" id="{501E9DF2-6FA2-48BD-90AD-57E739751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4" y="356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35863" name="Group 907">
            <a:extLst>
              <a:ext uri="{FF2B5EF4-FFF2-40B4-BE49-F238E27FC236}">
                <a16:creationId xmlns:a16="http://schemas.microsoft.com/office/drawing/2014/main" id="{876900B9-78C9-44AF-8DF2-3C1E438CF877}"/>
              </a:ext>
            </a:extLst>
          </p:cNvPr>
          <p:cNvGrpSpPr>
            <a:grpSpLocks/>
          </p:cNvGrpSpPr>
          <p:nvPr/>
        </p:nvGrpSpPr>
        <p:grpSpPr bwMode="auto">
          <a:xfrm>
            <a:off x="6738938" y="1901825"/>
            <a:ext cx="814387" cy="701675"/>
            <a:chOff x="2923" y="3345"/>
            <a:chExt cx="513" cy="442"/>
          </a:xfrm>
        </p:grpSpPr>
        <p:sp>
          <p:nvSpPr>
            <p:cNvPr id="35893" name="Rectangle 908">
              <a:extLst>
                <a:ext uri="{FF2B5EF4-FFF2-40B4-BE49-F238E27FC236}">
                  <a16:creationId xmlns:a16="http://schemas.microsoft.com/office/drawing/2014/main" id="{F0F32BF8-7060-40A2-9ABC-E3121D4971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8" y="3444"/>
              <a:ext cx="426" cy="30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94" name="Rectangle 909">
              <a:extLst>
                <a:ext uri="{FF2B5EF4-FFF2-40B4-BE49-F238E27FC236}">
                  <a16:creationId xmlns:a16="http://schemas.microsoft.com/office/drawing/2014/main" id="{62F86C71-A3E6-461D-90DB-DFBA3D1206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1" y="3465"/>
              <a:ext cx="435" cy="31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95" name="Text Box 910">
              <a:extLst>
                <a:ext uri="{FF2B5EF4-FFF2-40B4-BE49-F238E27FC236}">
                  <a16:creationId xmlns:a16="http://schemas.microsoft.com/office/drawing/2014/main" id="{A24A46C5-B76A-4C75-803E-BE1CBC76288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3" y="3345"/>
              <a:ext cx="513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000">
                <a:latin typeface="Comic Sans MS" panose="030F0702030302020204" pitchFamily="66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physical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5896" name="Line 911">
              <a:extLst>
                <a:ext uri="{FF2B5EF4-FFF2-40B4-BE49-F238E27FC236}">
                  <a16:creationId xmlns:a16="http://schemas.microsoft.com/office/drawing/2014/main" id="{FFD2987C-5419-44C0-BE62-E0ED525930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" y="3657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897" name="Line 912">
              <a:extLst>
                <a:ext uri="{FF2B5EF4-FFF2-40B4-BE49-F238E27FC236}">
                  <a16:creationId xmlns:a16="http://schemas.microsoft.com/office/drawing/2014/main" id="{9547675D-F506-41BA-AE36-5567198EC8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4" y="356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35864" name="Group 913">
            <a:extLst>
              <a:ext uri="{FF2B5EF4-FFF2-40B4-BE49-F238E27FC236}">
                <a16:creationId xmlns:a16="http://schemas.microsoft.com/office/drawing/2014/main" id="{CB33057F-ABE3-4B72-A1FF-83E85C70CF5B}"/>
              </a:ext>
            </a:extLst>
          </p:cNvPr>
          <p:cNvGrpSpPr>
            <a:grpSpLocks/>
          </p:cNvGrpSpPr>
          <p:nvPr/>
        </p:nvGrpSpPr>
        <p:grpSpPr bwMode="auto">
          <a:xfrm>
            <a:off x="6513513" y="3089275"/>
            <a:ext cx="814387" cy="701675"/>
            <a:chOff x="2923" y="3345"/>
            <a:chExt cx="513" cy="442"/>
          </a:xfrm>
        </p:grpSpPr>
        <p:sp>
          <p:nvSpPr>
            <p:cNvPr id="35888" name="Rectangle 914">
              <a:extLst>
                <a:ext uri="{FF2B5EF4-FFF2-40B4-BE49-F238E27FC236}">
                  <a16:creationId xmlns:a16="http://schemas.microsoft.com/office/drawing/2014/main" id="{7D0ED684-3136-4F32-BDD7-6EE804D716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8" y="3444"/>
              <a:ext cx="426" cy="30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89" name="Rectangle 915">
              <a:extLst>
                <a:ext uri="{FF2B5EF4-FFF2-40B4-BE49-F238E27FC236}">
                  <a16:creationId xmlns:a16="http://schemas.microsoft.com/office/drawing/2014/main" id="{7F533F4B-DE23-43EE-B371-4D48BA8568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1" y="3465"/>
              <a:ext cx="435" cy="31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90" name="Text Box 916">
              <a:extLst>
                <a:ext uri="{FF2B5EF4-FFF2-40B4-BE49-F238E27FC236}">
                  <a16:creationId xmlns:a16="http://schemas.microsoft.com/office/drawing/2014/main" id="{404A5342-F9A9-4A2A-8D1D-437C890AF4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3" y="3345"/>
              <a:ext cx="513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000">
                <a:latin typeface="Comic Sans MS" panose="030F0702030302020204" pitchFamily="66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physical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5891" name="Line 917">
              <a:extLst>
                <a:ext uri="{FF2B5EF4-FFF2-40B4-BE49-F238E27FC236}">
                  <a16:creationId xmlns:a16="http://schemas.microsoft.com/office/drawing/2014/main" id="{424D9D58-DD0D-4100-BB05-246A950A74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" y="3657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892" name="Line 918">
              <a:extLst>
                <a:ext uri="{FF2B5EF4-FFF2-40B4-BE49-F238E27FC236}">
                  <a16:creationId xmlns:a16="http://schemas.microsoft.com/office/drawing/2014/main" id="{FA25B3D2-0E1E-4FAB-980D-5E55C238A2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4" y="356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35865" name="Group 919">
            <a:extLst>
              <a:ext uri="{FF2B5EF4-FFF2-40B4-BE49-F238E27FC236}">
                <a16:creationId xmlns:a16="http://schemas.microsoft.com/office/drawing/2014/main" id="{41C4E4A2-5E54-473F-9B78-A2CF5DDD0E57}"/>
              </a:ext>
            </a:extLst>
          </p:cNvPr>
          <p:cNvGrpSpPr>
            <a:grpSpLocks/>
          </p:cNvGrpSpPr>
          <p:nvPr/>
        </p:nvGrpSpPr>
        <p:grpSpPr bwMode="auto">
          <a:xfrm>
            <a:off x="7100888" y="3594100"/>
            <a:ext cx="814387" cy="701675"/>
            <a:chOff x="2923" y="3345"/>
            <a:chExt cx="513" cy="442"/>
          </a:xfrm>
        </p:grpSpPr>
        <p:sp>
          <p:nvSpPr>
            <p:cNvPr id="35883" name="Rectangle 920">
              <a:extLst>
                <a:ext uri="{FF2B5EF4-FFF2-40B4-BE49-F238E27FC236}">
                  <a16:creationId xmlns:a16="http://schemas.microsoft.com/office/drawing/2014/main" id="{88AAC28C-AEC8-48CC-95E9-1DCF31317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8" y="3444"/>
              <a:ext cx="426" cy="30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84" name="Rectangle 921">
              <a:extLst>
                <a:ext uri="{FF2B5EF4-FFF2-40B4-BE49-F238E27FC236}">
                  <a16:creationId xmlns:a16="http://schemas.microsoft.com/office/drawing/2014/main" id="{F7F70D0F-BF1A-483A-8D7F-DFC456BD4A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1" y="3465"/>
              <a:ext cx="435" cy="31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85" name="Text Box 922">
              <a:extLst>
                <a:ext uri="{FF2B5EF4-FFF2-40B4-BE49-F238E27FC236}">
                  <a16:creationId xmlns:a16="http://schemas.microsoft.com/office/drawing/2014/main" id="{645E7D94-7035-47D7-BDC9-1D2308B4F6F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3" y="3345"/>
              <a:ext cx="513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000">
                <a:latin typeface="Comic Sans MS" panose="030F0702030302020204" pitchFamily="66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physical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5886" name="Line 923">
              <a:extLst>
                <a:ext uri="{FF2B5EF4-FFF2-40B4-BE49-F238E27FC236}">
                  <a16:creationId xmlns:a16="http://schemas.microsoft.com/office/drawing/2014/main" id="{39EDAA15-D1FE-4E8C-958E-165FEE4E06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" y="3657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887" name="Line 924">
              <a:extLst>
                <a:ext uri="{FF2B5EF4-FFF2-40B4-BE49-F238E27FC236}">
                  <a16:creationId xmlns:a16="http://schemas.microsoft.com/office/drawing/2014/main" id="{3CC76015-0202-4D61-BA67-DE4901B28F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4" y="356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35866" name="Group 925">
            <a:extLst>
              <a:ext uri="{FF2B5EF4-FFF2-40B4-BE49-F238E27FC236}">
                <a16:creationId xmlns:a16="http://schemas.microsoft.com/office/drawing/2014/main" id="{8B2D1A36-ABE3-41DB-A4A7-BDD7E668952D}"/>
              </a:ext>
            </a:extLst>
          </p:cNvPr>
          <p:cNvGrpSpPr>
            <a:grpSpLocks/>
          </p:cNvGrpSpPr>
          <p:nvPr/>
        </p:nvGrpSpPr>
        <p:grpSpPr bwMode="auto">
          <a:xfrm>
            <a:off x="6589713" y="4003675"/>
            <a:ext cx="814387" cy="701675"/>
            <a:chOff x="2923" y="3345"/>
            <a:chExt cx="513" cy="442"/>
          </a:xfrm>
        </p:grpSpPr>
        <p:sp>
          <p:nvSpPr>
            <p:cNvPr id="35878" name="Rectangle 926">
              <a:extLst>
                <a:ext uri="{FF2B5EF4-FFF2-40B4-BE49-F238E27FC236}">
                  <a16:creationId xmlns:a16="http://schemas.microsoft.com/office/drawing/2014/main" id="{F3B3BA7D-E0EF-47F4-9B20-645AB76CFB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8" y="3444"/>
              <a:ext cx="426" cy="30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79" name="Rectangle 927">
              <a:extLst>
                <a:ext uri="{FF2B5EF4-FFF2-40B4-BE49-F238E27FC236}">
                  <a16:creationId xmlns:a16="http://schemas.microsoft.com/office/drawing/2014/main" id="{D47B628F-4C37-430F-8493-390DC4399C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1" y="3465"/>
              <a:ext cx="435" cy="31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80" name="Text Box 928">
              <a:extLst>
                <a:ext uri="{FF2B5EF4-FFF2-40B4-BE49-F238E27FC236}">
                  <a16:creationId xmlns:a16="http://schemas.microsoft.com/office/drawing/2014/main" id="{BE260EC4-B1E3-4175-868B-7C5D38FC6D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3" y="3345"/>
              <a:ext cx="513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000">
                <a:latin typeface="Comic Sans MS" panose="030F0702030302020204" pitchFamily="66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physical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5881" name="Line 929">
              <a:extLst>
                <a:ext uri="{FF2B5EF4-FFF2-40B4-BE49-F238E27FC236}">
                  <a16:creationId xmlns:a16="http://schemas.microsoft.com/office/drawing/2014/main" id="{C63D8745-F9FD-4626-825C-CA7950C155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" y="3657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882" name="Line 930">
              <a:extLst>
                <a:ext uri="{FF2B5EF4-FFF2-40B4-BE49-F238E27FC236}">
                  <a16:creationId xmlns:a16="http://schemas.microsoft.com/office/drawing/2014/main" id="{B98AE9DD-D4BA-4401-AF85-39CC8ED10F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4" y="356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35867" name="Group 931">
            <a:extLst>
              <a:ext uri="{FF2B5EF4-FFF2-40B4-BE49-F238E27FC236}">
                <a16:creationId xmlns:a16="http://schemas.microsoft.com/office/drawing/2014/main" id="{D90A5349-8228-4590-B261-1C9E89533E3E}"/>
              </a:ext>
            </a:extLst>
          </p:cNvPr>
          <p:cNvGrpSpPr>
            <a:grpSpLocks/>
          </p:cNvGrpSpPr>
          <p:nvPr/>
        </p:nvGrpSpPr>
        <p:grpSpPr bwMode="auto">
          <a:xfrm>
            <a:off x="7237413" y="4400550"/>
            <a:ext cx="814387" cy="701675"/>
            <a:chOff x="2923" y="3345"/>
            <a:chExt cx="513" cy="442"/>
          </a:xfrm>
        </p:grpSpPr>
        <p:sp>
          <p:nvSpPr>
            <p:cNvPr id="35873" name="Rectangle 932">
              <a:extLst>
                <a:ext uri="{FF2B5EF4-FFF2-40B4-BE49-F238E27FC236}">
                  <a16:creationId xmlns:a16="http://schemas.microsoft.com/office/drawing/2014/main" id="{5C05251F-B771-4202-99BA-F3649DB39B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8" y="3444"/>
              <a:ext cx="426" cy="30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74" name="Rectangle 933">
              <a:extLst>
                <a:ext uri="{FF2B5EF4-FFF2-40B4-BE49-F238E27FC236}">
                  <a16:creationId xmlns:a16="http://schemas.microsoft.com/office/drawing/2014/main" id="{B325FCFC-E9BA-46D6-B7C8-DB0DA4D272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1" y="3465"/>
              <a:ext cx="435" cy="31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75" name="Text Box 934">
              <a:extLst>
                <a:ext uri="{FF2B5EF4-FFF2-40B4-BE49-F238E27FC236}">
                  <a16:creationId xmlns:a16="http://schemas.microsoft.com/office/drawing/2014/main" id="{085CD31A-D081-4378-9BAD-9B501B0A80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3" y="3345"/>
              <a:ext cx="513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000">
                <a:latin typeface="Comic Sans MS" panose="030F0702030302020204" pitchFamily="66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network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data link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Tahoma" panose="020B0604030504040204" pitchFamily="34" charset="0"/>
                </a:rPr>
                <a:t>physical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5876" name="Line 935">
              <a:extLst>
                <a:ext uri="{FF2B5EF4-FFF2-40B4-BE49-F238E27FC236}">
                  <a16:creationId xmlns:a16="http://schemas.microsoft.com/office/drawing/2014/main" id="{5E1640F8-629F-4914-BC07-9FA35D5B38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" y="3657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877" name="Line 936">
              <a:extLst>
                <a:ext uri="{FF2B5EF4-FFF2-40B4-BE49-F238E27FC236}">
                  <a16:creationId xmlns:a16="http://schemas.microsoft.com/office/drawing/2014/main" id="{2A4526B6-15E4-4F1A-8F87-FB7B42B8BF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4" y="3561"/>
              <a:ext cx="435" cy="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35868" name="Group 896">
            <a:extLst>
              <a:ext uri="{FF2B5EF4-FFF2-40B4-BE49-F238E27FC236}">
                <a16:creationId xmlns:a16="http://schemas.microsoft.com/office/drawing/2014/main" id="{33849D1F-7F4B-4001-AB18-8D8FA3DC3326}"/>
              </a:ext>
            </a:extLst>
          </p:cNvPr>
          <p:cNvGrpSpPr>
            <a:grpSpLocks/>
          </p:cNvGrpSpPr>
          <p:nvPr/>
        </p:nvGrpSpPr>
        <p:grpSpPr bwMode="auto">
          <a:xfrm rot="2937887">
            <a:off x="5389563" y="2911475"/>
            <a:ext cx="3781425" cy="434975"/>
            <a:chOff x="2937" y="3579"/>
            <a:chExt cx="2382" cy="274"/>
          </a:xfrm>
        </p:grpSpPr>
        <p:sp>
          <p:nvSpPr>
            <p:cNvPr id="35869" name="Rectangle 897">
              <a:extLst>
                <a:ext uri="{FF2B5EF4-FFF2-40B4-BE49-F238E27FC236}">
                  <a16:creationId xmlns:a16="http://schemas.microsoft.com/office/drawing/2014/main" id="{0D6FF01E-939B-4E4D-BE43-7D626ED116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65" y="3631"/>
              <a:ext cx="1920" cy="1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70" name="Text Box 898">
              <a:extLst>
                <a:ext uri="{FF2B5EF4-FFF2-40B4-BE49-F238E27FC236}">
                  <a16:creationId xmlns:a16="http://schemas.microsoft.com/office/drawing/2014/main" id="{2EBDC821-29D7-4D53-A3CA-95F9793286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84" y="3612"/>
              <a:ext cx="152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chemeClr val="bg1"/>
                  </a:solidFill>
                  <a:latin typeface="Tahoma" panose="020B0604030504040204" pitchFamily="34" charset="0"/>
                </a:rPr>
                <a:t>logical end-end transport</a:t>
              </a:r>
              <a:endParaRPr lang="en-US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5871" name="Freeform 899">
              <a:extLst>
                <a:ext uri="{FF2B5EF4-FFF2-40B4-BE49-F238E27FC236}">
                  <a16:creationId xmlns:a16="http://schemas.microsoft.com/office/drawing/2014/main" id="{353CE951-D267-46F2-8D2D-DFE3EFD16E2B}"/>
                </a:ext>
              </a:extLst>
            </p:cNvPr>
            <p:cNvSpPr>
              <a:spLocks/>
            </p:cNvSpPr>
            <p:nvPr/>
          </p:nvSpPr>
          <p:spPr bwMode="auto">
            <a:xfrm>
              <a:off x="2937" y="3579"/>
              <a:ext cx="282" cy="264"/>
            </a:xfrm>
            <a:custGeom>
              <a:avLst/>
              <a:gdLst>
                <a:gd name="T0" fmla="*/ 282 w 282"/>
                <a:gd name="T1" fmla="*/ 0 h 264"/>
                <a:gd name="T2" fmla="*/ 282 w 282"/>
                <a:gd name="T3" fmla="*/ 264 h 264"/>
                <a:gd name="T4" fmla="*/ 0 w 282"/>
                <a:gd name="T5" fmla="*/ 129 h 264"/>
                <a:gd name="T6" fmla="*/ 282 w 282"/>
                <a:gd name="T7" fmla="*/ 0 h 26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2"/>
                <a:gd name="T13" fmla="*/ 0 h 264"/>
                <a:gd name="T14" fmla="*/ 282 w 282"/>
                <a:gd name="T15" fmla="*/ 264 h 26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2" h="264">
                  <a:moveTo>
                    <a:pt x="282" y="0"/>
                  </a:moveTo>
                  <a:cubicBezTo>
                    <a:pt x="282" y="132"/>
                    <a:pt x="282" y="264"/>
                    <a:pt x="282" y="264"/>
                  </a:cubicBezTo>
                  <a:cubicBezTo>
                    <a:pt x="159" y="150"/>
                    <a:pt x="0" y="153"/>
                    <a:pt x="0" y="129"/>
                  </a:cubicBezTo>
                  <a:cubicBezTo>
                    <a:pt x="0" y="108"/>
                    <a:pt x="153" y="108"/>
                    <a:pt x="282" y="0"/>
                  </a:cubicBez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5872" name="Freeform 900">
              <a:extLst>
                <a:ext uri="{FF2B5EF4-FFF2-40B4-BE49-F238E27FC236}">
                  <a16:creationId xmlns:a16="http://schemas.microsoft.com/office/drawing/2014/main" id="{2F98E39B-B114-46FA-87D9-8784712BE28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037" y="3589"/>
              <a:ext cx="282" cy="264"/>
            </a:xfrm>
            <a:custGeom>
              <a:avLst/>
              <a:gdLst>
                <a:gd name="T0" fmla="*/ 282 w 282"/>
                <a:gd name="T1" fmla="*/ 0 h 264"/>
                <a:gd name="T2" fmla="*/ 282 w 282"/>
                <a:gd name="T3" fmla="*/ 264 h 264"/>
                <a:gd name="T4" fmla="*/ 0 w 282"/>
                <a:gd name="T5" fmla="*/ 129 h 264"/>
                <a:gd name="T6" fmla="*/ 282 w 282"/>
                <a:gd name="T7" fmla="*/ 0 h 26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2"/>
                <a:gd name="T13" fmla="*/ 0 h 264"/>
                <a:gd name="T14" fmla="*/ 282 w 282"/>
                <a:gd name="T15" fmla="*/ 264 h 26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2" h="264">
                  <a:moveTo>
                    <a:pt x="282" y="0"/>
                  </a:moveTo>
                  <a:cubicBezTo>
                    <a:pt x="282" y="132"/>
                    <a:pt x="282" y="264"/>
                    <a:pt x="282" y="264"/>
                  </a:cubicBezTo>
                  <a:cubicBezTo>
                    <a:pt x="159" y="150"/>
                    <a:pt x="0" y="153"/>
                    <a:pt x="0" y="129"/>
                  </a:cubicBezTo>
                  <a:cubicBezTo>
                    <a:pt x="0" y="108"/>
                    <a:pt x="153" y="108"/>
                    <a:pt x="282" y="0"/>
                  </a:cubicBez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Footer Placeholder 5">
            <a:extLst>
              <a:ext uri="{FF2B5EF4-FFF2-40B4-BE49-F238E27FC236}">
                <a16:creationId xmlns:a16="http://schemas.microsoft.com/office/drawing/2014/main" id="{BE6633B2-3DF9-4046-A685-5ABF39904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36867" name="Slide Number Placeholder 6">
            <a:extLst>
              <a:ext uri="{FF2B5EF4-FFF2-40B4-BE49-F238E27FC236}">
                <a16:creationId xmlns:a16="http://schemas.microsoft.com/office/drawing/2014/main" id="{E4AA0935-41C7-4F88-842A-9A0F65816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2F3859DD-4950-47B3-998C-A3F896DED9B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781C9309-D120-400E-A1A3-8341989564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7173" name="Rectangle 4">
            <a:extLst>
              <a:ext uri="{FF2B5EF4-FFF2-40B4-BE49-F238E27FC236}">
                <a16:creationId xmlns:a16="http://schemas.microsoft.com/office/drawing/2014/main" id="{428BAF39-80EC-4479-BFE9-740F0461EB0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7174" name="Rectangle 5">
            <a:extLst>
              <a:ext uri="{FF2B5EF4-FFF2-40B4-BE49-F238E27FC236}">
                <a16:creationId xmlns:a16="http://schemas.microsoft.com/office/drawing/2014/main" id="{4BEAEC43-3865-4BA8-83DB-076A95F0717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36871" name="Picture 6" descr="underline_base">
            <a:extLst>
              <a:ext uri="{FF2B5EF4-FFF2-40B4-BE49-F238E27FC236}">
                <a16:creationId xmlns:a16="http://schemas.microsoft.com/office/drawing/2014/main" id="{05A9744A-2375-48CE-AB9E-973ADA0ED5F6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17588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Footer Placeholder 5">
            <a:extLst>
              <a:ext uri="{FF2B5EF4-FFF2-40B4-BE49-F238E27FC236}">
                <a16:creationId xmlns:a16="http://schemas.microsoft.com/office/drawing/2014/main" id="{8AB0628A-AC9C-4F14-892B-A8DFDF048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37891" name="Slide Number Placeholder 6">
            <a:extLst>
              <a:ext uri="{FF2B5EF4-FFF2-40B4-BE49-F238E27FC236}">
                <a16:creationId xmlns:a16="http://schemas.microsoft.com/office/drawing/2014/main" id="{D39BED28-AA7E-411A-B9E6-312F0C5EC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F9945BCE-A4CB-45A9-A7D3-3959C9F096A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37892" name="Picture 175" descr="underline_base">
            <a:extLst>
              <a:ext uri="{FF2B5EF4-FFF2-40B4-BE49-F238E27FC236}">
                <a16:creationId xmlns:a16="http://schemas.microsoft.com/office/drawing/2014/main" id="{B77FC95A-A966-4E02-91E3-F07F2C2C280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613" y="936625"/>
            <a:ext cx="6399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7893" name="Freeform 157">
            <a:extLst>
              <a:ext uri="{FF2B5EF4-FFF2-40B4-BE49-F238E27FC236}">
                <a16:creationId xmlns:a16="http://schemas.microsoft.com/office/drawing/2014/main" id="{F7C963BA-8BDE-4372-B901-0BD5F38FEFC5}"/>
              </a:ext>
            </a:extLst>
          </p:cNvPr>
          <p:cNvSpPr>
            <a:spLocks/>
          </p:cNvSpPr>
          <p:nvPr/>
        </p:nvSpPr>
        <p:spPr bwMode="auto">
          <a:xfrm>
            <a:off x="2767013" y="3143250"/>
            <a:ext cx="552450" cy="2082800"/>
          </a:xfrm>
          <a:custGeom>
            <a:avLst/>
            <a:gdLst>
              <a:gd name="T0" fmla="*/ 0 w 348"/>
              <a:gd name="T1" fmla="*/ 2147483646 h 1312"/>
              <a:gd name="T2" fmla="*/ 2147483646 w 348"/>
              <a:gd name="T3" fmla="*/ 0 h 1312"/>
              <a:gd name="T4" fmla="*/ 2147483646 w 348"/>
              <a:gd name="T5" fmla="*/ 2147483646 h 1312"/>
              <a:gd name="T6" fmla="*/ 2147483646 w 348"/>
              <a:gd name="T7" fmla="*/ 2147483646 h 1312"/>
              <a:gd name="T8" fmla="*/ 0 w 348"/>
              <a:gd name="T9" fmla="*/ 2147483646 h 13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48"/>
              <a:gd name="T16" fmla="*/ 0 h 1312"/>
              <a:gd name="T17" fmla="*/ 348 w 348"/>
              <a:gd name="T18" fmla="*/ 1312 h 131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48" h="1312">
                <a:moveTo>
                  <a:pt x="0" y="1306"/>
                </a:moveTo>
                <a:lnTo>
                  <a:pt x="348" y="0"/>
                </a:lnTo>
                <a:lnTo>
                  <a:pt x="342" y="1258"/>
                </a:lnTo>
                <a:lnTo>
                  <a:pt x="180" y="1312"/>
                </a:lnTo>
                <a:lnTo>
                  <a:pt x="0" y="1306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8198" name="Rectangle 2">
            <a:extLst>
              <a:ext uri="{FF2B5EF4-FFF2-40B4-BE49-F238E27FC236}">
                <a16:creationId xmlns:a16="http://schemas.microsoft.com/office/drawing/2014/main" id="{C69A1EC4-26B6-40B5-9894-35083BEB13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3688" y="142875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Multiplexing/demultiplexing</a:t>
            </a:r>
          </a:p>
        </p:txBody>
      </p:sp>
      <p:sp>
        <p:nvSpPr>
          <p:cNvPr id="37895" name="Text Box 37">
            <a:extLst>
              <a:ext uri="{FF2B5EF4-FFF2-40B4-BE49-F238E27FC236}">
                <a16:creationId xmlns:a16="http://schemas.microsoft.com/office/drawing/2014/main" id="{CF5AB296-5247-4110-BCF8-17EB521A80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7350" y="4068763"/>
            <a:ext cx="8953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process</a:t>
            </a:r>
          </a:p>
        </p:txBody>
      </p:sp>
      <p:sp>
        <p:nvSpPr>
          <p:cNvPr id="37896" name="Text Box 38">
            <a:extLst>
              <a:ext uri="{FF2B5EF4-FFF2-40B4-BE49-F238E27FC236}">
                <a16:creationId xmlns:a16="http://schemas.microsoft.com/office/drawing/2014/main" id="{B2B8EBFB-A4B3-4060-86EA-1A60F8EDE4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1950" y="3667125"/>
            <a:ext cx="7556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socket</a:t>
            </a:r>
          </a:p>
        </p:txBody>
      </p:sp>
      <p:grpSp>
        <p:nvGrpSpPr>
          <p:cNvPr id="2" name="Group 177">
            <a:extLst>
              <a:ext uri="{FF2B5EF4-FFF2-40B4-BE49-F238E27FC236}">
                <a16:creationId xmlns:a16="http://schemas.microsoft.com/office/drawing/2014/main" id="{F12C097D-9533-4B6D-900A-F596127C8175}"/>
              </a:ext>
            </a:extLst>
          </p:cNvPr>
          <p:cNvGrpSpPr>
            <a:grpSpLocks/>
          </p:cNvGrpSpPr>
          <p:nvPr/>
        </p:nvGrpSpPr>
        <p:grpSpPr bwMode="auto">
          <a:xfrm>
            <a:off x="4908550" y="1571625"/>
            <a:ext cx="3808413" cy="1468438"/>
            <a:chOff x="3092" y="990"/>
            <a:chExt cx="2399" cy="925"/>
          </a:xfrm>
        </p:grpSpPr>
        <p:sp>
          <p:nvSpPr>
            <p:cNvPr id="38019" name="Rectangle 41">
              <a:extLst>
                <a:ext uri="{FF2B5EF4-FFF2-40B4-BE49-F238E27FC236}">
                  <a16:creationId xmlns:a16="http://schemas.microsoft.com/office/drawing/2014/main" id="{0A81E054-472F-438E-A69F-2EE4C47E31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2" y="1163"/>
              <a:ext cx="2399" cy="752"/>
            </a:xfrm>
            <a:prstGeom prst="rect">
              <a:avLst/>
            </a:prstGeom>
            <a:noFill/>
            <a:ln w="19050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dirty="0"/>
                <a:t>use </a:t>
              </a:r>
              <a:r>
                <a:rPr lang="en-US" altLang="zh-TW" sz="2400" dirty="0">
                  <a:solidFill>
                    <a:srgbClr val="00B050"/>
                  </a:solidFill>
                </a:rPr>
                <a:t>header</a:t>
              </a:r>
              <a:r>
                <a:rPr lang="en-US" altLang="zh-TW" sz="2400" dirty="0"/>
                <a:t> info to deliver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dirty="0"/>
                <a:t>received segments to correct 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dirty="0"/>
                <a:t>socket</a:t>
              </a:r>
            </a:p>
          </p:txBody>
        </p:sp>
        <p:grpSp>
          <p:nvGrpSpPr>
            <p:cNvPr id="38020" name="Group 42">
              <a:extLst>
                <a:ext uri="{FF2B5EF4-FFF2-40B4-BE49-F238E27FC236}">
                  <a16:creationId xmlns:a16="http://schemas.microsoft.com/office/drawing/2014/main" id="{DF37E5DE-A3D1-4B60-B692-18AC73BF4C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76" y="990"/>
              <a:ext cx="2016" cy="291"/>
              <a:chOff x="1127" y="3681"/>
              <a:chExt cx="1618" cy="291"/>
            </a:xfrm>
          </p:grpSpPr>
          <p:sp>
            <p:nvSpPr>
              <p:cNvPr id="38021" name="Rectangle 43">
                <a:extLst>
                  <a:ext uri="{FF2B5EF4-FFF2-40B4-BE49-F238E27FC236}">
                    <a16:creationId xmlns:a16="http://schemas.microsoft.com/office/drawing/2014/main" id="{1D54D831-5955-43F5-8C45-BB5FF70A11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22" y="3732"/>
                <a:ext cx="1002" cy="2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8022" name="Text Box 44">
                <a:extLst>
                  <a:ext uri="{FF2B5EF4-FFF2-40B4-BE49-F238E27FC236}">
                    <a16:creationId xmlns:a16="http://schemas.microsoft.com/office/drawing/2014/main" id="{76C3187E-98EB-4E9D-9A54-36A675FB824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27" y="3681"/>
                <a:ext cx="1618" cy="2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 i="1">
                    <a:solidFill>
                      <a:srgbClr val="CC0000"/>
                    </a:solidFill>
                  </a:rPr>
                  <a:t>demultiplexing </a:t>
                </a:r>
                <a:r>
                  <a:rPr lang="en-US" altLang="zh-TW" sz="2400" i="1">
                    <a:solidFill>
                      <a:srgbClr val="0070C0"/>
                    </a:solidFill>
                  </a:rPr>
                  <a:t>at receiver:</a:t>
                </a:r>
              </a:p>
            </p:txBody>
          </p:sp>
        </p:grpSp>
      </p:grpSp>
      <p:grpSp>
        <p:nvGrpSpPr>
          <p:cNvPr id="4" name="Group 176">
            <a:extLst>
              <a:ext uri="{FF2B5EF4-FFF2-40B4-BE49-F238E27FC236}">
                <a16:creationId xmlns:a16="http://schemas.microsoft.com/office/drawing/2014/main" id="{E5840405-90D6-418A-9086-21F2ED24E034}"/>
              </a:ext>
            </a:extLst>
          </p:cNvPr>
          <p:cNvGrpSpPr>
            <a:grpSpLocks/>
          </p:cNvGrpSpPr>
          <p:nvPr/>
        </p:nvGrpSpPr>
        <p:grpSpPr bwMode="auto">
          <a:xfrm>
            <a:off x="411163" y="1335088"/>
            <a:ext cx="4029075" cy="1466850"/>
            <a:chOff x="259" y="841"/>
            <a:chExt cx="2538" cy="924"/>
          </a:xfrm>
        </p:grpSpPr>
        <p:sp>
          <p:nvSpPr>
            <p:cNvPr id="38014" name="Text Box 45">
              <a:extLst>
                <a:ext uri="{FF2B5EF4-FFF2-40B4-BE49-F238E27FC236}">
                  <a16:creationId xmlns:a16="http://schemas.microsoft.com/office/drawing/2014/main" id="{EFCE204B-8C75-4625-80E1-0780AC855C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" y="1068"/>
              <a:ext cx="2533" cy="6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dirty="0"/>
                <a:t>handle data from multiple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dirty="0"/>
                <a:t>sockets, add </a:t>
              </a:r>
              <a:r>
                <a:rPr lang="en-US" altLang="zh-TW" sz="2400" dirty="0">
                  <a:solidFill>
                    <a:srgbClr val="00B050"/>
                  </a:solidFill>
                </a:rPr>
                <a:t>transport header</a:t>
              </a:r>
              <a:r>
                <a:rPr lang="en-US" altLang="zh-TW" sz="2400" dirty="0"/>
                <a:t>, pass segment to network layer</a:t>
              </a:r>
            </a:p>
          </p:txBody>
        </p:sp>
        <p:sp>
          <p:nvSpPr>
            <p:cNvPr id="38015" name="Rectangle 46">
              <a:extLst>
                <a:ext uri="{FF2B5EF4-FFF2-40B4-BE49-F238E27FC236}">
                  <a16:creationId xmlns:a16="http://schemas.microsoft.com/office/drawing/2014/main" id="{537C1E98-B74E-46EA-8718-7AA33A84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" y="1009"/>
              <a:ext cx="2479" cy="756"/>
            </a:xfrm>
            <a:prstGeom prst="rect">
              <a:avLst/>
            </a:prstGeom>
            <a:noFill/>
            <a:ln w="19050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38016" name="Group 47">
              <a:extLst>
                <a:ext uri="{FF2B5EF4-FFF2-40B4-BE49-F238E27FC236}">
                  <a16:creationId xmlns:a16="http://schemas.microsoft.com/office/drawing/2014/main" id="{8946210A-A62D-4016-87ED-B9D6C5F928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1" y="841"/>
              <a:ext cx="1764" cy="291"/>
              <a:chOff x="1090" y="3681"/>
              <a:chExt cx="1694" cy="291"/>
            </a:xfrm>
          </p:grpSpPr>
          <p:sp>
            <p:nvSpPr>
              <p:cNvPr id="38017" name="Rectangle 48">
                <a:extLst>
                  <a:ext uri="{FF2B5EF4-FFF2-40B4-BE49-F238E27FC236}">
                    <a16:creationId xmlns:a16="http://schemas.microsoft.com/office/drawing/2014/main" id="{8F519EF7-4744-4314-ADA0-C158A76C8F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22" y="3732"/>
                <a:ext cx="1006" cy="2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8018" name="Text Box 49">
                <a:extLst>
                  <a:ext uri="{FF2B5EF4-FFF2-40B4-BE49-F238E27FC236}">
                    <a16:creationId xmlns:a16="http://schemas.microsoft.com/office/drawing/2014/main" id="{FA5E2846-25A6-4BB3-82E8-068FC02FBD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90" y="3681"/>
                <a:ext cx="1694" cy="2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 i="1">
                    <a:solidFill>
                      <a:srgbClr val="CC0000"/>
                    </a:solidFill>
                  </a:rPr>
                  <a:t>multiplexing </a:t>
                </a:r>
                <a:r>
                  <a:rPr lang="en-US" altLang="zh-TW" sz="2400" i="1">
                    <a:solidFill>
                      <a:srgbClr val="0070C0"/>
                    </a:solidFill>
                  </a:rPr>
                  <a:t>at sender:</a:t>
                </a:r>
              </a:p>
            </p:txBody>
          </p:sp>
        </p:grpSp>
      </p:grpSp>
      <p:grpSp>
        <p:nvGrpSpPr>
          <p:cNvPr id="37899" name="Group 57">
            <a:extLst>
              <a:ext uri="{FF2B5EF4-FFF2-40B4-BE49-F238E27FC236}">
                <a16:creationId xmlns:a16="http://schemas.microsoft.com/office/drawing/2014/main" id="{CD757556-3A47-4585-A6B1-CC2B17A14E8B}"/>
              </a:ext>
            </a:extLst>
          </p:cNvPr>
          <p:cNvGrpSpPr>
            <a:grpSpLocks/>
          </p:cNvGrpSpPr>
          <p:nvPr/>
        </p:nvGrpSpPr>
        <p:grpSpPr bwMode="auto">
          <a:xfrm>
            <a:off x="7481888" y="3741738"/>
            <a:ext cx="533400" cy="206375"/>
            <a:chOff x="344" y="1846"/>
            <a:chExt cx="336" cy="130"/>
          </a:xfrm>
        </p:grpSpPr>
        <p:sp>
          <p:nvSpPr>
            <p:cNvPr id="38010" name="Rectangle 35">
              <a:extLst>
                <a:ext uri="{FF2B5EF4-FFF2-40B4-BE49-F238E27FC236}">
                  <a16:creationId xmlns:a16="http://schemas.microsoft.com/office/drawing/2014/main" id="{1DD8A5EB-E9F1-4453-8ED3-F046A4105F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" y="1846"/>
              <a:ext cx="336" cy="13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11" name="Rectangle 54">
              <a:extLst>
                <a:ext uri="{FF2B5EF4-FFF2-40B4-BE49-F238E27FC236}">
                  <a16:creationId xmlns:a16="http://schemas.microsoft.com/office/drawing/2014/main" id="{14534AE2-7495-4EE5-A292-5548A024EF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" y="1863"/>
              <a:ext cx="110" cy="9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12" name="Rectangle 55">
              <a:extLst>
                <a:ext uri="{FF2B5EF4-FFF2-40B4-BE49-F238E27FC236}">
                  <a16:creationId xmlns:a16="http://schemas.microsoft.com/office/drawing/2014/main" id="{E2D01E32-2A47-4257-B912-CF01043F60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8" y="1921"/>
              <a:ext cx="29" cy="3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13" name="Rectangle 56">
              <a:extLst>
                <a:ext uri="{FF2B5EF4-FFF2-40B4-BE49-F238E27FC236}">
                  <a16:creationId xmlns:a16="http://schemas.microsoft.com/office/drawing/2014/main" id="{829DC4F2-59B8-4A0C-9FC8-0FD2AA0E9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" y="1922"/>
              <a:ext cx="29" cy="3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37900" name="Rectangle 23">
            <a:extLst>
              <a:ext uri="{FF2B5EF4-FFF2-40B4-BE49-F238E27FC236}">
                <a16:creationId xmlns:a16="http://schemas.microsoft.com/office/drawing/2014/main" id="{B7F6B8E5-ED9D-452E-8E85-F269A887F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4700" y="3194050"/>
            <a:ext cx="1497013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7901" name="Rectangle 24">
            <a:extLst>
              <a:ext uri="{FF2B5EF4-FFF2-40B4-BE49-F238E27FC236}">
                <a16:creationId xmlns:a16="http://schemas.microsoft.com/office/drawing/2014/main" id="{01BE3719-11DE-4F1C-A81C-0FB3A60D56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9775" y="3248025"/>
            <a:ext cx="1473200" cy="197961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7902" name="Line 25">
            <a:extLst>
              <a:ext uri="{FF2B5EF4-FFF2-40B4-BE49-F238E27FC236}">
                <a16:creationId xmlns:a16="http://schemas.microsoft.com/office/drawing/2014/main" id="{78132188-C7AB-4269-98C5-300A219229F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6125" y="4017963"/>
            <a:ext cx="146050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03" name="Text Box 26">
            <a:extLst>
              <a:ext uri="{FF2B5EF4-FFF2-40B4-BE49-F238E27FC236}">
                <a16:creationId xmlns:a16="http://schemas.microsoft.com/office/drawing/2014/main" id="{A23F03C0-3AC2-4F90-9A83-17FFC5C5FA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7563" y="400050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37904" name="Line 27">
            <a:extLst>
              <a:ext uri="{FF2B5EF4-FFF2-40B4-BE49-F238E27FC236}">
                <a16:creationId xmlns:a16="http://schemas.microsoft.com/office/drawing/2014/main" id="{62739DAB-61DD-405C-89EA-FFCC649EB3D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7713" y="4335463"/>
            <a:ext cx="14573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05" name="Text Box 26">
            <a:extLst>
              <a:ext uri="{FF2B5EF4-FFF2-40B4-BE49-F238E27FC236}">
                <a16:creationId xmlns:a16="http://schemas.microsoft.com/office/drawing/2014/main" id="{E37B1E7F-2CFA-4B8A-A7C0-3E7D0B4FE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4388" y="32146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37906" name="Text Box 26">
            <a:extLst>
              <a:ext uri="{FF2B5EF4-FFF2-40B4-BE49-F238E27FC236}">
                <a16:creationId xmlns:a16="http://schemas.microsoft.com/office/drawing/2014/main" id="{9F33FA22-0C30-438F-B747-5C8516E029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1213" y="490537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37907" name="Text Box 26">
            <a:extLst>
              <a:ext uri="{FF2B5EF4-FFF2-40B4-BE49-F238E27FC236}">
                <a16:creationId xmlns:a16="http://schemas.microsoft.com/office/drawing/2014/main" id="{AC25C21A-C393-48B9-912F-9752E5255F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1213" y="461962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37908" name="Text Box 26">
            <a:extLst>
              <a:ext uri="{FF2B5EF4-FFF2-40B4-BE49-F238E27FC236}">
                <a16:creationId xmlns:a16="http://schemas.microsoft.com/office/drawing/2014/main" id="{D87E784F-50E8-472E-B3E9-2DCC0F7ACD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1213" y="432117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37909" name="Oval 120">
            <a:extLst>
              <a:ext uri="{FF2B5EF4-FFF2-40B4-BE49-F238E27FC236}">
                <a16:creationId xmlns:a16="http://schemas.microsoft.com/office/drawing/2014/main" id="{AAA54282-A585-45C7-8D66-2ACE3266FF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1300" y="3589338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Comic Sans MS" panose="030F0702030302020204" pitchFamily="66" charset="0"/>
              </a:rPr>
              <a:t>P2</a:t>
            </a:r>
          </a:p>
        </p:txBody>
      </p:sp>
      <p:sp>
        <p:nvSpPr>
          <p:cNvPr id="37910" name="Line 27">
            <a:extLst>
              <a:ext uri="{FF2B5EF4-FFF2-40B4-BE49-F238E27FC236}">
                <a16:creationId xmlns:a16="http://schemas.microsoft.com/office/drawing/2014/main" id="{6D709CD4-DEBE-45AF-A4CD-44E6A79B1F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4538" y="4646613"/>
            <a:ext cx="14573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11" name="Line 27">
            <a:extLst>
              <a:ext uri="{FF2B5EF4-FFF2-40B4-BE49-F238E27FC236}">
                <a16:creationId xmlns:a16="http://schemas.microsoft.com/office/drawing/2014/main" id="{8E159DE0-C7BE-45C8-A138-1C53E50AA86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1363" y="4945063"/>
            <a:ext cx="14573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12" name="Oval 128">
            <a:extLst>
              <a:ext uri="{FF2B5EF4-FFF2-40B4-BE49-F238E27FC236}">
                <a16:creationId xmlns:a16="http://schemas.microsoft.com/office/drawing/2014/main" id="{E96B634A-B7C0-42CC-A134-831D6C93E1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6450" y="3589338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Comic Sans MS" panose="030F0702030302020204" pitchFamily="66" charset="0"/>
              </a:rPr>
              <a:t>P1</a:t>
            </a:r>
          </a:p>
        </p:txBody>
      </p:sp>
      <p:grpSp>
        <p:nvGrpSpPr>
          <p:cNvPr id="37913" name="Group 134">
            <a:extLst>
              <a:ext uri="{FF2B5EF4-FFF2-40B4-BE49-F238E27FC236}">
                <a16:creationId xmlns:a16="http://schemas.microsoft.com/office/drawing/2014/main" id="{107D15B2-91E3-4833-8041-4BB40FFAB2F7}"/>
              </a:ext>
            </a:extLst>
          </p:cNvPr>
          <p:cNvGrpSpPr>
            <a:grpSpLocks/>
          </p:cNvGrpSpPr>
          <p:nvPr/>
        </p:nvGrpSpPr>
        <p:grpSpPr bwMode="auto">
          <a:xfrm>
            <a:off x="4127500" y="3948113"/>
            <a:ext cx="412750" cy="158750"/>
            <a:chOff x="1383" y="2620"/>
            <a:chExt cx="260" cy="100"/>
          </a:xfrm>
        </p:grpSpPr>
        <p:sp>
          <p:nvSpPr>
            <p:cNvPr id="38006" name="Rectangle 130">
              <a:extLst>
                <a:ext uri="{FF2B5EF4-FFF2-40B4-BE49-F238E27FC236}">
                  <a16:creationId xmlns:a16="http://schemas.microsoft.com/office/drawing/2014/main" id="{97BD1A48-F063-482D-8176-C09A2A5BA4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3" y="2620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07" name="Rectangle 131">
              <a:extLst>
                <a:ext uri="{FF2B5EF4-FFF2-40B4-BE49-F238E27FC236}">
                  <a16:creationId xmlns:a16="http://schemas.microsoft.com/office/drawing/2014/main" id="{5C5122D8-65D2-4E76-9B57-CE7563F69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4" y="2633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08" name="Rectangle 132">
              <a:extLst>
                <a:ext uri="{FF2B5EF4-FFF2-40B4-BE49-F238E27FC236}">
                  <a16:creationId xmlns:a16="http://schemas.microsoft.com/office/drawing/2014/main" id="{39466D48-9D92-41AA-A2D4-2269911800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99" y="2678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09" name="Rectangle 133">
              <a:extLst>
                <a:ext uri="{FF2B5EF4-FFF2-40B4-BE49-F238E27FC236}">
                  <a16:creationId xmlns:a16="http://schemas.microsoft.com/office/drawing/2014/main" id="{9ACBE4A8-1219-4F17-9A59-E81120D585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94" y="2679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37914" name="Group 135">
            <a:extLst>
              <a:ext uri="{FF2B5EF4-FFF2-40B4-BE49-F238E27FC236}">
                <a16:creationId xmlns:a16="http://schemas.microsoft.com/office/drawing/2014/main" id="{25BB6B2E-24A8-419A-A37B-C1C6D849AEE1}"/>
              </a:ext>
            </a:extLst>
          </p:cNvPr>
          <p:cNvGrpSpPr>
            <a:grpSpLocks/>
          </p:cNvGrpSpPr>
          <p:nvPr/>
        </p:nvGrpSpPr>
        <p:grpSpPr bwMode="auto">
          <a:xfrm>
            <a:off x="3425825" y="3940175"/>
            <a:ext cx="412750" cy="158750"/>
            <a:chOff x="1383" y="2620"/>
            <a:chExt cx="260" cy="100"/>
          </a:xfrm>
        </p:grpSpPr>
        <p:sp>
          <p:nvSpPr>
            <p:cNvPr id="38002" name="Rectangle 136">
              <a:extLst>
                <a:ext uri="{FF2B5EF4-FFF2-40B4-BE49-F238E27FC236}">
                  <a16:creationId xmlns:a16="http://schemas.microsoft.com/office/drawing/2014/main" id="{F55A7C9E-E29F-4E23-8CA7-C87E1BFE76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3" y="2620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03" name="Rectangle 137">
              <a:extLst>
                <a:ext uri="{FF2B5EF4-FFF2-40B4-BE49-F238E27FC236}">
                  <a16:creationId xmlns:a16="http://schemas.microsoft.com/office/drawing/2014/main" id="{DC527215-817A-45F7-975C-0E10100F41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4" y="2633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04" name="Rectangle 138">
              <a:extLst>
                <a:ext uri="{FF2B5EF4-FFF2-40B4-BE49-F238E27FC236}">
                  <a16:creationId xmlns:a16="http://schemas.microsoft.com/office/drawing/2014/main" id="{ED763B15-C6B0-4BDB-B910-58B55993DD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99" y="2678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05" name="Rectangle 139">
              <a:extLst>
                <a:ext uri="{FF2B5EF4-FFF2-40B4-BE49-F238E27FC236}">
                  <a16:creationId xmlns:a16="http://schemas.microsoft.com/office/drawing/2014/main" id="{90CA9048-B449-4CB0-BC82-C5AB415C78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94" y="2679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37915" name="Freeform 141">
            <a:extLst>
              <a:ext uri="{FF2B5EF4-FFF2-40B4-BE49-F238E27FC236}">
                <a16:creationId xmlns:a16="http://schemas.microsoft.com/office/drawing/2014/main" id="{C560572F-5EC3-438E-AB0A-C43371486430}"/>
              </a:ext>
            </a:extLst>
          </p:cNvPr>
          <p:cNvSpPr>
            <a:spLocks/>
          </p:cNvSpPr>
          <p:nvPr/>
        </p:nvSpPr>
        <p:spPr bwMode="auto">
          <a:xfrm>
            <a:off x="1793875" y="4003675"/>
            <a:ext cx="2160588" cy="1989138"/>
          </a:xfrm>
          <a:custGeom>
            <a:avLst/>
            <a:gdLst>
              <a:gd name="T0" fmla="*/ 0 w 1361"/>
              <a:gd name="T1" fmla="*/ 2147483646 h 1253"/>
              <a:gd name="T2" fmla="*/ 2147483646 w 1361"/>
              <a:gd name="T3" fmla="*/ 2147483646 h 1253"/>
              <a:gd name="T4" fmla="*/ 2147483646 w 1361"/>
              <a:gd name="T5" fmla="*/ 2147483646 h 1253"/>
              <a:gd name="T6" fmla="*/ 2147483646 w 1361"/>
              <a:gd name="T7" fmla="*/ 2147483646 h 1253"/>
              <a:gd name="T8" fmla="*/ 2147483646 w 1361"/>
              <a:gd name="T9" fmla="*/ 2147483646 h 1253"/>
              <a:gd name="T10" fmla="*/ 2147483646 w 1361"/>
              <a:gd name="T11" fmla="*/ 0 h 125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361"/>
              <a:gd name="T19" fmla="*/ 0 h 1253"/>
              <a:gd name="T20" fmla="*/ 1361 w 1361"/>
              <a:gd name="T21" fmla="*/ 1253 h 125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361" h="1253">
                <a:moveTo>
                  <a:pt x="0" y="216"/>
                </a:moveTo>
                <a:lnTo>
                  <a:pt x="7" y="1252"/>
                </a:lnTo>
                <a:lnTo>
                  <a:pt x="1320" y="1253"/>
                </a:lnTo>
                <a:lnTo>
                  <a:pt x="1361" y="1252"/>
                </a:lnTo>
                <a:lnTo>
                  <a:pt x="1353" y="114"/>
                </a:lnTo>
                <a:lnTo>
                  <a:pt x="1178" y="0"/>
                </a:lnTo>
              </a:path>
            </a:pathLst>
          </a:custGeom>
          <a:noFill/>
          <a:ln w="19050" cap="flat" cmpd="sng">
            <a:solidFill>
              <a:srgbClr val="000099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7916" name="Freeform 142">
            <a:extLst>
              <a:ext uri="{FF2B5EF4-FFF2-40B4-BE49-F238E27FC236}">
                <a16:creationId xmlns:a16="http://schemas.microsoft.com/office/drawing/2014/main" id="{54A791FB-F4DB-4AAC-B617-02047726FEFF}"/>
              </a:ext>
            </a:extLst>
          </p:cNvPr>
          <p:cNvSpPr>
            <a:spLocks/>
          </p:cNvSpPr>
          <p:nvPr/>
        </p:nvSpPr>
        <p:spPr bwMode="auto">
          <a:xfrm>
            <a:off x="1857375" y="4029075"/>
            <a:ext cx="1962150" cy="1897063"/>
          </a:xfrm>
          <a:custGeom>
            <a:avLst/>
            <a:gdLst>
              <a:gd name="T0" fmla="*/ 0 w 1236"/>
              <a:gd name="T1" fmla="*/ 2147483646 h 1195"/>
              <a:gd name="T2" fmla="*/ 2147483646 w 1236"/>
              <a:gd name="T3" fmla="*/ 2147483646 h 1195"/>
              <a:gd name="T4" fmla="*/ 2147483646 w 1236"/>
              <a:gd name="T5" fmla="*/ 2147483646 h 1195"/>
              <a:gd name="T6" fmla="*/ 2147483646 w 1236"/>
              <a:gd name="T7" fmla="*/ 2147483646 h 1195"/>
              <a:gd name="T8" fmla="*/ 2147483646 w 1236"/>
              <a:gd name="T9" fmla="*/ 0 h 119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236"/>
              <a:gd name="T16" fmla="*/ 0 h 1195"/>
              <a:gd name="T17" fmla="*/ 1236 w 1236"/>
              <a:gd name="T18" fmla="*/ 1195 h 119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236" h="1195">
                <a:moveTo>
                  <a:pt x="0" y="202"/>
                </a:moveTo>
                <a:lnTo>
                  <a:pt x="6" y="1194"/>
                </a:lnTo>
                <a:lnTo>
                  <a:pt x="1236" y="1195"/>
                </a:lnTo>
                <a:lnTo>
                  <a:pt x="1227" y="150"/>
                </a:lnTo>
                <a:lnTo>
                  <a:pt x="1069" y="0"/>
                </a:lnTo>
              </a:path>
            </a:pathLst>
          </a:custGeom>
          <a:noFill/>
          <a:ln w="19050" cap="flat" cmpd="sng">
            <a:solidFill>
              <a:srgbClr val="000099"/>
            </a:solidFill>
            <a:prstDash val="solid"/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7917" name="Rectangle 23">
            <a:extLst>
              <a:ext uri="{FF2B5EF4-FFF2-40B4-BE49-F238E27FC236}">
                <a16:creationId xmlns:a16="http://schemas.microsoft.com/office/drawing/2014/main" id="{348B89B4-BBC9-4A19-93DB-E34C4FD47E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888" y="3563938"/>
            <a:ext cx="1296987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7918" name="Rectangle 24">
            <a:extLst>
              <a:ext uri="{FF2B5EF4-FFF2-40B4-BE49-F238E27FC236}">
                <a16:creationId xmlns:a16="http://schemas.microsoft.com/office/drawing/2014/main" id="{A3C3059C-A126-4818-88A2-7B63E58F3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38788" y="3617913"/>
            <a:ext cx="1273175" cy="197961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7919" name="Line 25">
            <a:extLst>
              <a:ext uri="{FF2B5EF4-FFF2-40B4-BE49-F238E27FC236}">
                <a16:creationId xmlns:a16="http://schemas.microsoft.com/office/drawing/2014/main" id="{410566BC-4886-4595-8449-2A2B0979FB39}"/>
              </a:ext>
            </a:extLst>
          </p:cNvPr>
          <p:cNvSpPr>
            <a:spLocks noChangeShapeType="1"/>
          </p:cNvSpPr>
          <p:nvPr/>
        </p:nvSpPr>
        <p:spPr bwMode="auto">
          <a:xfrm>
            <a:off x="5548313" y="437832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20" name="Text Box 26">
            <a:extLst>
              <a:ext uri="{FF2B5EF4-FFF2-40B4-BE49-F238E27FC236}">
                <a16:creationId xmlns:a16="http://schemas.microsoft.com/office/drawing/2014/main" id="{419F7278-FB12-4CDA-B3CD-C27D508D66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5450" y="43608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37921" name="Line 27">
            <a:extLst>
              <a:ext uri="{FF2B5EF4-FFF2-40B4-BE49-F238E27FC236}">
                <a16:creationId xmlns:a16="http://schemas.microsoft.com/office/drawing/2014/main" id="{9D8B1D8A-6A5C-465C-A877-C5AADB4B4680}"/>
              </a:ext>
            </a:extLst>
          </p:cNvPr>
          <p:cNvSpPr>
            <a:spLocks noChangeShapeType="1"/>
          </p:cNvSpPr>
          <p:nvPr/>
        </p:nvSpPr>
        <p:spPr bwMode="auto">
          <a:xfrm>
            <a:off x="5556250" y="4699000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22" name="Line 28">
            <a:extLst>
              <a:ext uri="{FF2B5EF4-FFF2-40B4-BE49-F238E27FC236}">
                <a16:creationId xmlns:a16="http://schemas.microsoft.com/office/drawing/2014/main" id="{F89F908D-D64B-4CA2-A0A3-18F40498547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41963" y="500856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23" name="Line 29">
            <a:extLst>
              <a:ext uri="{FF2B5EF4-FFF2-40B4-BE49-F238E27FC236}">
                <a16:creationId xmlns:a16="http://schemas.microsoft.com/office/drawing/2014/main" id="{99304704-C25E-49A5-8852-2494930F107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41963" y="529431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24" name="Text Box 26">
            <a:extLst>
              <a:ext uri="{FF2B5EF4-FFF2-40B4-BE49-F238E27FC236}">
                <a16:creationId xmlns:a16="http://schemas.microsoft.com/office/drawing/2014/main" id="{328558EF-4E32-4198-86E1-098AFB2FFC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0375" y="36083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37925" name="Text Box 26">
            <a:extLst>
              <a:ext uri="{FF2B5EF4-FFF2-40B4-BE49-F238E27FC236}">
                <a16:creationId xmlns:a16="http://schemas.microsoft.com/office/drawing/2014/main" id="{623C9D59-AD30-4499-B022-CE2BC6FDAC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5925" y="52657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37926" name="Text Box 26">
            <a:extLst>
              <a:ext uri="{FF2B5EF4-FFF2-40B4-BE49-F238E27FC236}">
                <a16:creationId xmlns:a16="http://schemas.microsoft.com/office/drawing/2014/main" id="{EE912364-AAB6-4D92-9625-438F932CB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4975" y="49799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37927" name="Text Box 26">
            <a:extLst>
              <a:ext uri="{FF2B5EF4-FFF2-40B4-BE49-F238E27FC236}">
                <a16:creationId xmlns:a16="http://schemas.microsoft.com/office/drawing/2014/main" id="{D33FFA59-9823-4FE6-BD36-CC1300811B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5450" y="46847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37928" name="Oval 101">
            <a:extLst>
              <a:ext uri="{FF2B5EF4-FFF2-40B4-BE49-F238E27FC236}">
                <a16:creationId xmlns:a16="http://schemas.microsoft.com/office/drawing/2014/main" id="{E743EA1F-998D-48C9-8080-754B713A09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338" y="3949700"/>
            <a:ext cx="598487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Comic Sans MS" panose="030F0702030302020204" pitchFamily="66" charset="0"/>
              </a:rPr>
              <a:t>P4</a:t>
            </a:r>
          </a:p>
        </p:txBody>
      </p:sp>
      <p:sp>
        <p:nvSpPr>
          <p:cNvPr id="37929" name="Freeform 103">
            <a:extLst>
              <a:ext uri="{FF2B5EF4-FFF2-40B4-BE49-F238E27FC236}">
                <a16:creationId xmlns:a16="http://schemas.microsoft.com/office/drawing/2014/main" id="{791985BA-1BB7-42E5-BFAF-550BEDE33423}"/>
              </a:ext>
            </a:extLst>
          </p:cNvPr>
          <p:cNvSpPr>
            <a:spLocks/>
          </p:cNvSpPr>
          <p:nvPr/>
        </p:nvSpPr>
        <p:spPr bwMode="auto">
          <a:xfrm>
            <a:off x="6824663" y="3595688"/>
            <a:ext cx="581025" cy="20383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37930" name="Freeform 70">
            <a:extLst>
              <a:ext uri="{FF2B5EF4-FFF2-40B4-BE49-F238E27FC236}">
                <a16:creationId xmlns:a16="http://schemas.microsoft.com/office/drawing/2014/main" id="{9BF38481-1CD5-4EB7-903A-C78E49858EAB}"/>
              </a:ext>
            </a:extLst>
          </p:cNvPr>
          <p:cNvSpPr>
            <a:spLocks/>
          </p:cNvSpPr>
          <p:nvPr/>
        </p:nvSpPr>
        <p:spPr bwMode="auto">
          <a:xfrm>
            <a:off x="635000" y="3616325"/>
            <a:ext cx="552450" cy="2082800"/>
          </a:xfrm>
          <a:custGeom>
            <a:avLst/>
            <a:gdLst>
              <a:gd name="T0" fmla="*/ 0 w 348"/>
              <a:gd name="T1" fmla="*/ 2147483646 h 1312"/>
              <a:gd name="T2" fmla="*/ 2147483646 w 348"/>
              <a:gd name="T3" fmla="*/ 0 h 1312"/>
              <a:gd name="T4" fmla="*/ 2147483646 w 348"/>
              <a:gd name="T5" fmla="*/ 2147483646 h 1312"/>
              <a:gd name="T6" fmla="*/ 2147483646 w 348"/>
              <a:gd name="T7" fmla="*/ 2147483646 h 1312"/>
              <a:gd name="T8" fmla="*/ 0 w 348"/>
              <a:gd name="T9" fmla="*/ 2147483646 h 13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48"/>
              <a:gd name="T16" fmla="*/ 0 h 1312"/>
              <a:gd name="T17" fmla="*/ 348 w 348"/>
              <a:gd name="T18" fmla="*/ 1312 h 131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48" h="1312">
                <a:moveTo>
                  <a:pt x="0" y="1306"/>
                </a:moveTo>
                <a:lnTo>
                  <a:pt x="348" y="0"/>
                </a:lnTo>
                <a:lnTo>
                  <a:pt x="342" y="1258"/>
                </a:lnTo>
                <a:lnTo>
                  <a:pt x="180" y="1312"/>
                </a:lnTo>
                <a:lnTo>
                  <a:pt x="0" y="1306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37931" name="Rectangle 23">
            <a:extLst>
              <a:ext uri="{FF2B5EF4-FFF2-40B4-BE49-F238E27FC236}">
                <a16:creationId xmlns:a16="http://schemas.microsoft.com/office/drawing/2014/main" id="{9ABC5ED8-940F-450D-BE09-56D784845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1900" y="3571875"/>
            <a:ext cx="1296988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7932" name="Rectangle 24">
            <a:extLst>
              <a:ext uri="{FF2B5EF4-FFF2-40B4-BE49-F238E27FC236}">
                <a16:creationId xmlns:a16="http://schemas.microsoft.com/office/drawing/2014/main" id="{A32D0A54-1274-4121-BFAE-C0189EC37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3800" y="3625850"/>
            <a:ext cx="1273175" cy="197961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7933" name="Line 25">
            <a:extLst>
              <a:ext uri="{FF2B5EF4-FFF2-40B4-BE49-F238E27FC236}">
                <a16:creationId xmlns:a16="http://schemas.microsoft.com/office/drawing/2014/main" id="{2CAC8467-5B59-4342-9F42-1610E4C18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3325" y="438626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34" name="Text Box 26">
            <a:extLst>
              <a:ext uri="{FF2B5EF4-FFF2-40B4-BE49-F238E27FC236}">
                <a16:creationId xmlns:a16="http://schemas.microsoft.com/office/drawing/2014/main" id="{C1DDBE0D-B7EA-4DC2-B0AD-0D6C31E96B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0463" y="436880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37935" name="Line 27">
            <a:extLst>
              <a:ext uri="{FF2B5EF4-FFF2-40B4-BE49-F238E27FC236}">
                <a16:creationId xmlns:a16="http://schemas.microsoft.com/office/drawing/2014/main" id="{22C8CF66-139E-468B-881F-5E9DE89F7F16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1263" y="470693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36" name="Line 28">
            <a:extLst>
              <a:ext uri="{FF2B5EF4-FFF2-40B4-BE49-F238E27FC236}">
                <a16:creationId xmlns:a16="http://schemas.microsoft.com/office/drawing/2014/main" id="{7695097E-4786-47CD-A735-8AE71CE580A6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6975" y="5016500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37" name="Line 29">
            <a:extLst>
              <a:ext uri="{FF2B5EF4-FFF2-40B4-BE49-F238E27FC236}">
                <a16:creationId xmlns:a16="http://schemas.microsoft.com/office/drawing/2014/main" id="{B1AF9F5E-E230-43AC-8E8A-317C9A59FA7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6975" y="5302250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7938" name="Text Box 26">
            <a:extLst>
              <a:ext uri="{FF2B5EF4-FFF2-40B4-BE49-F238E27FC236}">
                <a16:creationId xmlns:a16="http://schemas.microsoft.com/office/drawing/2014/main" id="{7EA35711-871C-4DD8-87A2-60D5AE6F6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5388" y="361632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37939" name="Text Box 26">
            <a:extLst>
              <a:ext uri="{FF2B5EF4-FFF2-40B4-BE49-F238E27FC236}">
                <a16:creationId xmlns:a16="http://schemas.microsoft.com/office/drawing/2014/main" id="{4243FB6D-F537-4620-87FC-CEBF69C1A8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0938" y="527367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37940" name="Text Box 26">
            <a:extLst>
              <a:ext uri="{FF2B5EF4-FFF2-40B4-BE49-F238E27FC236}">
                <a16:creationId xmlns:a16="http://schemas.microsoft.com/office/drawing/2014/main" id="{9C90E2C3-677D-4DD6-9618-D5718B7840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9988" y="498792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37941" name="Text Box 26">
            <a:extLst>
              <a:ext uri="{FF2B5EF4-FFF2-40B4-BE49-F238E27FC236}">
                <a16:creationId xmlns:a16="http://schemas.microsoft.com/office/drawing/2014/main" id="{C1B8E5C2-CDEE-490D-A416-23122D8F5B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0463" y="469265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37942" name="Oval 23">
            <a:extLst>
              <a:ext uri="{FF2B5EF4-FFF2-40B4-BE49-F238E27FC236}">
                <a16:creationId xmlns:a16="http://schemas.microsoft.com/office/drawing/2014/main" id="{B5E7FACA-4E7F-4234-9EA9-14202F8B0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0350" y="3957638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Comic Sans MS" panose="030F0702030302020204" pitchFamily="66" charset="0"/>
              </a:rPr>
              <a:t>P3</a:t>
            </a:r>
          </a:p>
        </p:txBody>
      </p:sp>
      <p:grpSp>
        <p:nvGrpSpPr>
          <p:cNvPr id="37943" name="Group 149">
            <a:extLst>
              <a:ext uri="{FF2B5EF4-FFF2-40B4-BE49-F238E27FC236}">
                <a16:creationId xmlns:a16="http://schemas.microsoft.com/office/drawing/2014/main" id="{EEA75C54-F51D-4D6A-A434-7215E06A5C1E}"/>
              </a:ext>
            </a:extLst>
          </p:cNvPr>
          <p:cNvGrpSpPr>
            <a:grpSpLocks/>
          </p:cNvGrpSpPr>
          <p:nvPr/>
        </p:nvGrpSpPr>
        <p:grpSpPr bwMode="auto">
          <a:xfrm>
            <a:off x="1620838" y="4295775"/>
            <a:ext cx="412750" cy="158750"/>
            <a:chOff x="1287" y="2524"/>
            <a:chExt cx="260" cy="100"/>
          </a:xfrm>
        </p:grpSpPr>
        <p:sp>
          <p:nvSpPr>
            <p:cNvPr id="37998" name="Rectangle 73">
              <a:extLst>
                <a:ext uri="{FF2B5EF4-FFF2-40B4-BE49-F238E27FC236}">
                  <a16:creationId xmlns:a16="http://schemas.microsoft.com/office/drawing/2014/main" id="{54A8CC8F-37FD-46A0-9C42-C71C831F55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99" name="Rectangle 74">
              <a:extLst>
                <a:ext uri="{FF2B5EF4-FFF2-40B4-BE49-F238E27FC236}">
                  <a16:creationId xmlns:a16="http://schemas.microsoft.com/office/drawing/2014/main" id="{1C19DF24-3B80-47B1-9AAB-58DA75302A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00" name="Rectangle 75">
              <a:extLst>
                <a:ext uri="{FF2B5EF4-FFF2-40B4-BE49-F238E27FC236}">
                  <a16:creationId xmlns:a16="http://schemas.microsoft.com/office/drawing/2014/main" id="{16ACCAC0-B071-4870-AADF-A6E9450D6D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8001" name="Rectangle 129">
              <a:extLst>
                <a:ext uri="{FF2B5EF4-FFF2-40B4-BE49-F238E27FC236}">
                  <a16:creationId xmlns:a16="http://schemas.microsoft.com/office/drawing/2014/main" id="{2ECDC888-FBFB-4491-98C4-B248F0E690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37944" name="Group 150">
            <a:extLst>
              <a:ext uri="{FF2B5EF4-FFF2-40B4-BE49-F238E27FC236}">
                <a16:creationId xmlns:a16="http://schemas.microsoft.com/office/drawing/2014/main" id="{57D2B555-9B8B-4626-8022-F549BCB78314}"/>
              </a:ext>
            </a:extLst>
          </p:cNvPr>
          <p:cNvGrpSpPr>
            <a:grpSpLocks/>
          </p:cNvGrpSpPr>
          <p:nvPr/>
        </p:nvGrpSpPr>
        <p:grpSpPr bwMode="auto">
          <a:xfrm>
            <a:off x="5961063" y="4294188"/>
            <a:ext cx="412750" cy="158750"/>
            <a:chOff x="1287" y="2524"/>
            <a:chExt cx="260" cy="100"/>
          </a:xfrm>
        </p:grpSpPr>
        <p:sp>
          <p:nvSpPr>
            <p:cNvPr id="37994" name="Rectangle 151">
              <a:extLst>
                <a:ext uri="{FF2B5EF4-FFF2-40B4-BE49-F238E27FC236}">
                  <a16:creationId xmlns:a16="http://schemas.microsoft.com/office/drawing/2014/main" id="{5791ECFA-4711-4751-AF88-B48E3E5B36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95" name="Rectangle 152">
              <a:extLst>
                <a:ext uri="{FF2B5EF4-FFF2-40B4-BE49-F238E27FC236}">
                  <a16:creationId xmlns:a16="http://schemas.microsoft.com/office/drawing/2014/main" id="{C04BF5FB-67DE-428F-8FA9-E713BDCCC8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96" name="Rectangle 153">
              <a:extLst>
                <a:ext uri="{FF2B5EF4-FFF2-40B4-BE49-F238E27FC236}">
                  <a16:creationId xmlns:a16="http://schemas.microsoft.com/office/drawing/2014/main" id="{CF1156F3-91BF-4733-A1BF-FF3703C334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97" name="Rectangle 154">
              <a:extLst>
                <a:ext uri="{FF2B5EF4-FFF2-40B4-BE49-F238E27FC236}">
                  <a16:creationId xmlns:a16="http://schemas.microsoft.com/office/drawing/2014/main" id="{215AE83E-4A84-4C3F-A821-78B3BA4A43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37945" name="Freeform 146">
            <a:extLst>
              <a:ext uri="{FF2B5EF4-FFF2-40B4-BE49-F238E27FC236}">
                <a16:creationId xmlns:a16="http://schemas.microsoft.com/office/drawing/2014/main" id="{65C9263B-6175-43DC-A69B-15B75723234C}"/>
              </a:ext>
            </a:extLst>
          </p:cNvPr>
          <p:cNvSpPr>
            <a:spLocks/>
          </p:cNvSpPr>
          <p:nvPr/>
        </p:nvSpPr>
        <p:spPr bwMode="auto">
          <a:xfrm>
            <a:off x="4008438" y="3995738"/>
            <a:ext cx="2173287" cy="1989137"/>
          </a:xfrm>
          <a:custGeom>
            <a:avLst/>
            <a:gdLst>
              <a:gd name="T0" fmla="*/ 2147483646 w 1369"/>
              <a:gd name="T1" fmla="*/ 2147483646 h 1253"/>
              <a:gd name="T2" fmla="*/ 2147483646 w 1369"/>
              <a:gd name="T3" fmla="*/ 2147483646 h 1253"/>
              <a:gd name="T4" fmla="*/ 2147483646 w 1369"/>
              <a:gd name="T5" fmla="*/ 2147483646 h 1253"/>
              <a:gd name="T6" fmla="*/ 0 w 1369"/>
              <a:gd name="T7" fmla="*/ 2147483646 h 1253"/>
              <a:gd name="T8" fmla="*/ 2147483646 w 1369"/>
              <a:gd name="T9" fmla="*/ 0 h 125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369"/>
              <a:gd name="T16" fmla="*/ 0 h 1253"/>
              <a:gd name="T17" fmla="*/ 1369 w 1369"/>
              <a:gd name="T18" fmla="*/ 1253 h 125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369" h="1253">
                <a:moveTo>
                  <a:pt x="1369" y="216"/>
                </a:moveTo>
                <a:lnTo>
                  <a:pt x="1362" y="1252"/>
                </a:lnTo>
                <a:lnTo>
                  <a:pt x="16" y="1253"/>
                </a:lnTo>
                <a:lnTo>
                  <a:pt x="0" y="121"/>
                </a:lnTo>
                <a:lnTo>
                  <a:pt x="191" y="0"/>
                </a:lnTo>
              </a:path>
            </a:pathLst>
          </a:custGeom>
          <a:noFill/>
          <a:ln w="19050" cap="flat" cmpd="sng">
            <a:solidFill>
              <a:srgbClr val="000099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7946" name="Freeform 147">
            <a:extLst>
              <a:ext uri="{FF2B5EF4-FFF2-40B4-BE49-F238E27FC236}">
                <a16:creationId xmlns:a16="http://schemas.microsoft.com/office/drawing/2014/main" id="{02D582CE-B8D3-4D09-9C62-08EDC56AA606}"/>
              </a:ext>
            </a:extLst>
          </p:cNvPr>
          <p:cNvSpPr>
            <a:spLocks/>
          </p:cNvSpPr>
          <p:nvPr/>
        </p:nvSpPr>
        <p:spPr bwMode="auto">
          <a:xfrm>
            <a:off x="4127500" y="4027488"/>
            <a:ext cx="1984375" cy="1876425"/>
          </a:xfrm>
          <a:custGeom>
            <a:avLst/>
            <a:gdLst>
              <a:gd name="T0" fmla="*/ 2147483646 w 1250"/>
              <a:gd name="T1" fmla="*/ 2147483646 h 1182"/>
              <a:gd name="T2" fmla="*/ 2147483646 w 1250"/>
              <a:gd name="T3" fmla="*/ 2147483646 h 1182"/>
              <a:gd name="T4" fmla="*/ 2147483646 w 1250"/>
              <a:gd name="T5" fmla="*/ 2147483646 h 1182"/>
              <a:gd name="T6" fmla="*/ 0 w 1250"/>
              <a:gd name="T7" fmla="*/ 2147483646 h 1182"/>
              <a:gd name="T8" fmla="*/ 2147483646 w 1250"/>
              <a:gd name="T9" fmla="*/ 0 h 118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250"/>
              <a:gd name="T16" fmla="*/ 0 h 1182"/>
              <a:gd name="T17" fmla="*/ 1250 w 1250"/>
              <a:gd name="T18" fmla="*/ 1182 h 118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250" h="1182">
                <a:moveTo>
                  <a:pt x="1250" y="190"/>
                </a:moveTo>
                <a:lnTo>
                  <a:pt x="1244" y="1182"/>
                </a:lnTo>
                <a:lnTo>
                  <a:pt x="19" y="1181"/>
                </a:lnTo>
                <a:lnTo>
                  <a:pt x="0" y="155"/>
                </a:lnTo>
                <a:lnTo>
                  <a:pt x="171" y="0"/>
                </a:lnTo>
              </a:path>
            </a:pathLst>
          </a:custGeom>
          <a:noFill/>
          <a:ln w="19050" cap="flat" cmpd="sng">
            <a:solidFill>
              <a:srgbClr val="000099"/>
            </a:solidFill>
            <a:prstDash val="solid"/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7947" name="Oval 36">
            <a:extLst>
              <a:ext uri="{FF2B5EF4-FFF2-40B4-BE49-F238E27FC236}">
                <a16:creationId xmlns:a16="http://schemas.microsoft.com/office/drawing/2014/main" id="{A4C11742-795E-4158-A4D1-52F4E19D4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7600" y="4106863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Comic Sans MS" panose="030F0702030302020204" pitchFamily="66" charset="0"/>
            </a:endParaRPr>
          </a:p>
        </p:txBody>
      </p:sp>
      <p:grpSp>
        <p:nvGrpSpPr>
          <p:cNvPr id="11" name="Group 169">
            <a:extLst>
              <a:ext uri="{FF2B5EF4-FFF2-40B4-BE49-F238E27FC236}">
                <a16:creationId xmlns:a16="http://schemas.microsoft.com/office/drawing/2014/main" id="{A41B3489-B70F-469C-AE0E-7F5F545D07C5}"/>
              </a:ext>
            </a:extLst>
          </p:cNvPr>
          <p:cNvGrpSpPr>
            <a:grpSpLocks/>
          </p:cNvGrpSpPr>
          <p:nvPr/>
        </p:nvGrpSpPr>
        <p:grpSpPr bwMode="auto">
          <a:xfrm>
            <a:off x="2962275" y="2854325"/>
            <a:ext cx="1292225" cy="1454150"/>
            <a:chOff x="1868" y="1796"/>
            <a:chExt cx="814" cy="916"/>
          </a:xfrm>
        </p:grpSpPr>
        <p:sp>
          <p:nvSpPr>
            <p:cNvPr id="37991" name="Oval 166">
              <a:extLst>
                <a:ext uri="{FF2B5EF4-FFF2-40B4-BE49-F238E27FC236}">
                  <a16:creationId xmlns:a16="http://schemas.microsoft.com/office/drawing/2014/main" id="{213B78DC-5E5D-4204-840D-54C826F033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8" y="2668"/>
              <a:ext cx="124" cy="44"/>
            </a:xfrm>
            <a:prstGeom prst="ellips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92" name="Oval 167">
              <a:extLst>
                <a:ext uri="{FF2B5EF4-FFF2-40B4-BE49-F238E27FC236}">
                  <a16:creationId xmlns:a16="http://schemas.microsoft.com/office/drawing/2014/main" id="{837C89E4-86E9-44CB-97D1-4F7EF301F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8" y="2668"/>
              <a:ext cx="124" cy="44"/>
            </a:xfrm>
            <a:prstGeom prst="ellips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93" name="Freeform 168">
              <a:extLst>
                <a:ext uri="{FF2B5EF4-FFF2-40B4-BE49-F238E27FC236}">
                  <a16:creationId xmlns:a16="http://schemas.microsoft.com/office/drawing/2014/main" id="{1A7AC500-F773-4141-BAF4-FAAA2AA723C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8" y="1796"/>
              <a:ext cx="434" cy="904"/>
            </a:xfrm>
            <a:custGeom>
              <a:avLst/>
              <a:gdLst>
                <a:gd name="T0" fmla="*/ 434 w 434"/>
                <a:gd name="T1" fmla="*/ 904 h 904"/>
                <a:gd name="T2" fmla="*/ 2 w 434"/>
                <a:gd name="T3" fmla="*/ 902 h 904"/>
                <a:gd name="T4" fmla="*/ 0 w 434"/>
                <a:gd name="T5" fmla="*/ 0 h 904"/>
                <a:gd name="T6" fmla="*/ 0 60000 65536"/>
                <a:gd name="T7" fmla="*/ 0 60000 65536"/>
                <a:gd name="T8" fmla="*/ 0 60000 65536"/>
                <a:gd name="T9" fmla="*/ 0 w 434"/>
                <a:gd name="T10" fmla="*/ 0 h 904"/>
                <a:gd name="T11" fmla="*/ 434 w 434"/>
                <a:gd name="T12" fmla="*/ 904 h 90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4" h="904">
                  <a:moveTo>
                    <a:pt x="434" y="904"/>
                  </a:moveTo>
                  <a:lnTo>
                    <a:pt x="2" y="902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rgbClr val="CC0000"/>
              </a:solidFill>
              <a:prstDash val="solid"/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2" name="Group 172">
            <a:extLst>
              <a:ext uri="{FF2B5EF4-FFF2-40B4-BE49-F238E27FC236}">
                <a16:creationId xmlns:a16="http://schemas.microsoft.com/office/drawing/2014/main" id="{E8F5E95C-59A6-4742-8C0B-3421A10F0417}"/>
              </a:ext>
            </a:extLst>
          </p:cNvPr>
          <p:cNvGrpSpPr>
            <a:grpSpLocks/>
          </p:cNvGrpSpPr>
          <p:nvPr/>
        </p:nvGrpSpPr>
        <p:grpSpPr bwMode="auto">
          <a:xfrm>
            <a:off x="3870325" y="2809875"/>
            <a:ext cx="1047750" cy="1441450"/>
            <a:chOff x="2432" y="1758"/>
            <a:chExt cx="660" cy="908"/>
          </a:xfrm>
        </p:grpSpPr>
        <p:sp>
          <p:nvSpPr>
            <p:cNvPr id="37989" name="Oval 170">
              <a:extLst>
                <a:ext uri="{FF2B5EF4-FFF2-40B4-BE49-F238E27FC236}">
                  <a16:creationId xmlns:a16="http://schemas.microsoft.com/office/drawing/2014/main" id="{84970FE8-C451-449C-8F00-752645446C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2" y="2564"/>
              <a:ext cx="144" cy="102"/>
            </a:xfrm>
            <a:prstGeom prst="ellips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90" name="Freeform 171">
              <a:extLst>
                <a:ext uri="{FF2B5EF4-FFF2-40B4-BE49-F238E27FC236}">
                  <a16:creationId xmlns:a16="http://schemas.microsoft.com/office/drawing/2014/main" id="{4B3AB826-F2EA-45CC-88E3-8BE2E90AA0D4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6" y="1758"/>
              <a:ext cx="586" cy="810"/>
            </a:xfrm>
            <a:custGeom>
              <a:avLst/>
              <a:gdLst>
                <a:gd name="T0" fmla="*/ 0 w 586"/>
                <a:gd name="T1" fmla="*/ 810 h 810"/>
                <a:gd name="T2" fmla="*/ 2 w 586"/>
                <a:gd name="T3" fmla="*/ 808 h 810"/>
                <a:gd name="T4" fmla="*/ 2 w 586"/>
                <a:gd name="T5" fmla="*/ 170 h 810"/>
                <a:gd name="T6" fmla="*/ 586 w 586"/>
                <a:gd name="T7" fmla="*/ 0 h 8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6"/>
                <a:gd name="T13" fmla="*/ 0 h 810"/>
                <a:gd name="T14" fmla="*/ 586 w 586"/>
                <a:gd name="T15" fmla="*/ 810 h 8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6" h="810">
                  <a:moveTo>
                    <a:pt x="0" y="810"/>
                  </a:moveTo>
                  <a:lnTo>
                    <a:pt x="2" y="808"/>
                  </a:lnTo>
                  <a:lnTo>
                    <a:pt x="2" y="170"/>
                  </a:lnTo>
                  <a:lnTo>
                    <a:pt x="586" y="0"/>
                  </a:lnTo>
                </a:path>
              </a:pathLst>
            </a:custGeom>
            <a:noFill/>
            <a:ln w="12700" cap="flat" cmpd="sng">
              <a:solidFill>
                <a:srgbClr val="CC0000"/>
              </a:solidFill>
              <a:prstDash val="solid"/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7950" name="Group 179">
            <a:extLst>
              <a:ext uri="{FF2B5EF4-FFF2-40B4-BE49-F238E27FC236}">
                <a16:creationId xmlns:a16="http://schemas.microsoft.com/office/drawing/2014/main" id="{21418B17-A71D-48E9-987E-07B53E66F3C5}"/>
              </a:ext>
            </a:extLst>
          </p:cNvPr>
          <p:cNvGrpSpPr>
            <a:grpSpLocks/>
          </p:cNvGrpSpPr>
          <p:nvPr/>
        </p:nvGrpSpPr>
        <p:grpSpPr bwMode="auto">
          <a:xfrm>
            <a:off x="169863" y="5126038"/>
            <a:ext cx="800100" cy="828675"/>
            <a:chOff x="-44" y="1473"/>
            <a:chExt cx="981" cy="1105"/>
          </a:xfrm>
        </p:grpSpPr>
        <p:pic>
          <p:nvPicPr>
            <p:cNvPr id="37987" name="Picture 180" descr="desktop_computer_stylized_medium">
              <a:extLst>
                <a:ext uri="{FF2B5EF4-FFF2-40B4-BE49-F238E27FC236}">
                  <a16:creationId xmlns:a16="http://schemas.microsoft.com/office/drawing/2014/main" id="{3423F044-F2C6-423A-971E-6EA8AB95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988" name="Freeform 181">
              <a:extLst>
                <a:ext uri="{FF2B5EF4-FFF2-40B4-BE49-F238E27FC236}">
                  <a16:creationId xmlns:a16="http://schemas.microsoft.com/office/drawing/2014/main" id="{4DF144B0-8A0A-4D69-B964-1A887554246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7951" name="Group 182">
            <a:extLst>
              <a:ext uri="{FF2B5EF4-FFF2-40B4-BE49-F238E27FC236}">
                <a16:creationId xmlns:a16="http://schemas.microsoft.com/office/drawing/2014/main" id="{F7B6137F-8B71-4B29-82E3-2200CE10430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151688" y="5040313"/>
            <a:ext cx="788987" cy="782637"/>
            <a:chOff x="-44" y="1473"/>
            <a:chExt cx="981" cy="1105"/>
          </a:xfrm>
        </p:grpSpPr>
        <p:pic>
          <p:nvPicPr>
            <p:cNvPr id="37985" name="Picture 183" descr="desktop_computer_stylized_medium">
              <a:extLst>
                <a:ext uri="{FF2B5EF4-FFF2-40B4-BE49-F238E27FC236}">
                  <a16:creationId xmlns:a16="http://schemas.microsoft.com/office/drawing/2014/main" id="{52F0B34A-352A-42A9-AB1A-93B07BACE7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986" name="Freeform 184">
              <a:extLst>
                <a:ext uri="{FF2B5EF4-FFF2-40B4-BE49-F238E27FC236}">
                  <a16:creationId xmlns:a16="http://schemas.microsoft.com/office/drawing/2014/main" id="{FB43E7FD-9AC7-4CDA-A04B-4770A0D8F97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7952" name="Group 185">
            <a:extLst>
              <a:ext uri="{FF2B5EF4-FFF2-40B4-BE49-F238E27FC236}">
                <a16:creationId xmlns:a16="http://schemas.microsoft.com/office/drawing/2014/main" id="{B204F388-7B04-49F3-BE99-26D505680DF6}"/>
              </a:ext>
            </a:extLst>
          </p:cNvPr>
          <p:cNvGrpSpPr>
            <a:grpSpLocks/>
          </p:cNvGrpSpPr>
          <p:nvPr/>
        </p:nvGrpSpPr>
        <p:grpSpPr bwMode="auto">
          <a:xfrm>
            <a:off x="2741613" y="4625975"/>
            <a:ext cx="358775" cy="704850"/>
            <a:chOff x="4140" y="429"/>
            <a:chExt cx="1425" cy="2396"/>
          </a:xfrm>
        </p:grpSpPr>
        <p:sp>
          <p:nvSpPr>
            <p:cNvPr id="37953" name="Freeform 186">
              <a:extLst>
                <a:ext uri="{FF2B5EF4-FFF2-40B4-BE49-F238E27FC236}">
                  <a16:creationId xmlns:a16="http://schemas.microsoft.com/office/drawing/2014/main" id="{689DCE91-B901-4E2E-B4E9-DB7F068187B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7954" name="Rectangle 187">
              <a:extLst>
                <a:ext uri="{FF2B5EF4-FFF2-40B4-BE49-F238E27FC236}">
                  <a16:creationId xmlns:a16="http://schemas.microsoft.com/office/drawing/2014/main" id="{F4ABF885-6AAA-48C5-910E-2DEB8871A6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3" y="429"/>
              <a:ext cx="1053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55" name="Freeform 188">
              <a:extLst>
                <a:ext uri="{FF2B5EF4-FFF2-40B4-BE49-F238E27FC236}">
                  <a16:creationId xmlns:a16="http://schemas.microsoft.com/office/drawing/2014/main" id="{ADEA4F10-74DC-4238-9D20-A03AB060CC2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7956" name="Freeform 189">
              <a:extLst>
                <a:ext uri="{FF2B5EF4-FFF2-40B4-BE49-F238E27FC236}">
                  <a16:creationId xmlns:a16="http://schemas.microsoft.com/office/drawing/2014/main" id="{43272735-F345-49CA-9358-62A02703D8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7957" name="Rectangle 190">
              <a:extLst>
                <a:ext uri="{FF2B5EF4-FFF2-40B4-BE49-F238E27FC236}">
                  <a16:creationId xmlns:a16="http://schemas.microsoft.com/office/drawing/2014/main" id="{EA7197EC-9E5D-4C28-8BCF-26BB804F8A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3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37958" name="Group 191">
              <a:extLst>
                <a:ext uri="{FF2B5EF4-FFF2-40B4-BE49-F238E27FC236}">
                  <a16:creationId xmlns:a16="http://schemas.microsoft.com/office/drawing/2014/main" id="{E302862B-DD85-47A8-9FD8-551BA68D38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7983" name="AutoShape 192">
                <a:extLst>
                  <a:ext uri="{FF2B5EF4-FFF2-40B4-BE49-F238E27FC236}">
                    <a16:creationId xmlns:a16="http://schemas.microsoft.com/office/drawing/2014/main" id="{28D16930-0269-4705-8243-4F0B38DF2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4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7984" name="AutoShape 193">
                <a:extLst>
                  <a:ext uri="{FF2B5EF4-FFF2-40B4-BE49-F238E27FC236}">
                    <a16:creationId xmlns:a16="http://schemas.microsoft.com/office/drawing/2014/main" id="{97FA7B00-90B5-484D-9DCE-C71831588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2"/>
                <a:ext cx="692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7959" name="Rectangle 194">
              <a:extLst>
                <a:ext uri="{FF2B5EF4-FFF2-40B4-BE49-F238E27FC236}">
                  <a16:creationId xmlns:a16="http://schemas.microsoft.com/office/drawing/2014/main" id="{DAB260A4-05B4-4CBA-AAFE-A16EF0946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2" y="1017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37960" name="Group 195">
              <a:extLst>
                <a:ext uri="{FF2B5EF4-FFF2-40B4-BE49-F238E27FC236}">
                  <a16:creationId xmlns:a16="http://schemas.microsoft.com/office/drawing/2014/main" id="{1CBA3EE3-C7EF-4201-8F76-8E3EDB0E2A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7981" name="AutoShape 196">
                <a:extLst>
                  <a:ext uri="{FF2B5EF4-FFF2-40B4-BE49-F238E27FC236}">
                    <a16:creationId xmlns:a16="http://schemas.microsoft.com/office/drawing/2014/main" id="{E26B414D-10ED-486D-B77A-6C4A977F7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24" cy="15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7982" name="AutoShape 197">
                <a:extLst>
                  <a:ext uri="{FF2B5EF4-FFF2-40B4-BE49-F238E27FC236}">
                    <a16:creationId xmlns:a16="http://schemas.microsoft.com/office/drawing/2014/main" id="{F0E8EE9B-9FAD-42D4-B81B-B505472654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2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7961" name="Rectangle 198">
              <a:extLst>
                <a:ext uri="{FF2B5EF4-FFF2-40B4-BE49-F238E27FC236}">
                  <a16:creationId xmlns:a16="http://schemas.microsoft.com/office/drawing/2014/main" id="{A53E9552-F45B-440F-AFA3-2774CF8263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6" y="1357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62" name="Rectangle 199">
              <a:extLst>
                <a:ext uri="{FF2B5EF4-FFF2-40B4-BE49-F238E27FC236}">
                  <a16:creationId xmlns:a16="http://schemas.microsoft.com/office/drawing/2014/main" id="{E253E633-F554-4D3F-888A-D4B4C15F38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4"/>
              <a:ext cx="593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37963" name="Group 200">
              <a:extLst>
                <a:ext uri="{FF2B5EF4-FFF2-40B4-BE49-F238E27FC236}">
                  <a16:creationId xmlns:a16="http://schemas.microsoft.com/office/drawing/2014/main" id="{9072DA48-00EC-438D-9E4E-1B4B81784E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7979" name="AutoShape 201">
                <a:extLst>
                  <a:ext uri="{FF2B5EF4-FFF2-40B4-BE49-F238E27FC236}">
                    <a16:creationId xmlns:a16="http://schemas.microsoft.com/office/drawing/2014/main" id="{809D5FBA-A783-4077-8449-3E5DC8F989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7980" name="AutoShape 202">
                <a:extLst>
                  <a:ext uri="{FF2B5EF4-FFF2-40B4-BE49-F238E27FC236}">
                    <a16:creationId xmlns:a16="http://schemas.microsoft.com/office/drawing/2014/main" id="{FB953AC0-5337-422F-9DC3-4EC81E424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9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7964" name="Freeform 203">
              <a:extLst>
                <a:ext uri="{FF2B5EF4-FFF2-40B4-BE49-F238E27FC236}">
                  <a16:creationId xmlns:a16="http://schemas.microsoft.com/office/drawing/2014/main" id="{4B5C1398-BF56-4F88-AB1C-939964A1EBA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7965" name="Group 204">
              <a:extLst>
                <a:ext uri="{FF2B5EF4-FFF2-40B4-BE49-F238E27FC236}">
                  <a16:creationId xmlns:a16="http://schemas.microsoft.com/office/drawing/2014/main" id="{C337A99C-BB79-4093-9A70-8B5F4FE636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7977" name="AutoShape 205">
                <a:extLst>
                  <a:ext uri="{FF2B5EF4-FFF2-40B4-BE49-F238E27FC236}">
                    <a16:creationId xmlns:a16="http://schemas.microsoft.com/office/drawing/2014/main" id="{D1093788-7C09-4121-9350-2B0327E446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3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37978" name="AutoShape 206">
                <a:extLst>
                  <a:ext uri="{FF2B5EF4-FFF2-40B4-BE49-F238E27FC236}">
                    <a16:creationId xmlns:a16="http://schemas.microsoft.com/office/drawing/2014/main" id="{D0BA572B-9FFD-4C5F-BAD2-66C37E598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1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7966" name="Rectangle 207">
              <a:extLst>
                <a:ext uri="{FF2B5EF4-FFF2-40B4-BE49-F238E27FC236}">
                  <a16:creationId xmlns:a16="http://schemas.microsoft.com/office/drawing/2014/main" id="{8B8E1DC1-20C3-4861-A4DD-5011B7932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88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67" name="Freeform 208">
              <a:extLst>
                <a:ext uri="{FF2B5EF4-FFF2-40B4-BE49-F238E27FC236}">
                  <a16:creationId xmlns:a16="http://schemas.microsoft.com/office/drawing/2014/main" id="{6232E018-B791-41FA-AA4A-2609F17C3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7968" name="Freeform 209">
              <a:extLst>
                <a:ext uri="{FF2B5EF4-FFF2-40B4-BE49-F238E27FC236}">
                  <a16:creationId xmlns:a16="http://schemas.microsoft.com/office/drawing/2014/main" id="{0135587E-4D74-46C5-93AD-54E071EFC4D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7969" name="Oval 210">
              <a:extLst>
                <a:ext uri="{FF2B5EF4-FFF2-40B4-BE49-F238E27FC236}">
                  <a16:creationId xmlns:a16="http://schemas.microsoft.com/office/drawing/2014/main" id="{545C18C7-F3A3-47E4-936D-55299399D8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09"/>
              <a:ext cx="50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70" name="Freeform 211">
              <a:extLst>
                <a:ext uri="{FF2B5EF4-FFF2-40B4-BE49-F238E27FC236}">
                  <a16:creationId xmlns:a16="http://schemas.microsoft.com/office/drawing/2014/main" id="{CE77816B-BEB9-4E6A-B605-59152CE925C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7971" name="AutoShape 212">
              <a:extLst>
                <a:ext uri="{FF2B5EF4-FFF2-40B4-BE49-F238E27FC236}">
                  <a16:creationId xmlns:a16="http://schemas.microsoft.com/office/drawing/2014/main" id="{42EB139C-3F4D-433B-81C3-9FAB39A0B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198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72" name="AutoShape 213">
              <a:extLst>
                <a:ext uri="{FF2B5EF4-FFF2-40B4-BE49-F238E27FC236}">
                  <a16:creationId xmlns:a16="http://schemas.microsoft.com/office/drawing/2014/main" id="{99C9DD19-4735-44AF-B7FA-50F54692AE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3" y="2712"/>
              <a:ext cx="1072" cy="81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73" name="Oval 214">
              <a:extLst>
                <a:ext uri="{FF2B5EF4-FFF2-40B4-BE49-F238E27FC236}">
                  <a16:creationId xmlns:a16="http://schemas.microsoft.com/office/drawing/2014/main" id="{4D36423C-3A55-4110-B9EB-98FE1423BB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2"/>
              <a:ext cx="158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74" name="Oval 215">
              <a:extLst>
                <a:ext uri="{FF2B5EF4-FFF2-40B4-BE49-F238E27FC236}">
                  <a16:creationId xmlns:a16="http://schemas.microsoft.com/office/drawing/2014/main" id="{48FC0231-15D3-4D2F-878E-8095A3C306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58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975" name="Oval 216">
              <a:extLst>
                <a:ext uri="{FF2B5EF4-FFF2-40B4-BE49-F238E27FC236}">
                  <a16:creationId xmlns:a16="http://schemas.microsoft.com/office/drawing/2014/main" id="{AD84D441-0A7F-46FA-993E-F4BBFC59EA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82"/>
              <a:ext cx="158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7976" name="Rectangle 217">
              <a:extLst>
                <a:ext uri="{FF2B5EF4-FFF2-40B4-BE49-F238E27FC236}">
                  <a16:creationId xmlns:a16="http://schemas.microsoft.com/office/drawing/2014/main" id="{FDD28DDC-BB03-4B50-AA83-799F957369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7"/>
              <a:ext cx="88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Footer Placeholder 5">
            <a:extLst>
              <a:ext uri="{FF2B5EF4-FFF2-40B4-BE49-F238E27FC236}">
                <a16:creationId xmlns:a16="http://schemas.microsoft.com/office/drawing/2014/main" id="{7E0659E9-1850-4D67-83BD-CAA084CD5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39939" name="Slide Number Placeholder 6">
            <a:extLst>
              <a:ext uri="{FF2B5EF4-FFF2-40B4-BE49-F238E27FC236}">
                <a16:creationId xmlns:a16="http://schemas.microsoft.com/office/drawing/2014/main" id="{509E129B-FFB7-451F-8EE4-C875B1F6E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75E50A59-37A0-4E56-A6F5-A2BB34C4E72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39940" name="Picture 82" descr="underline_base">
            <a:extLst>
              <a:ext uri="{FF2B5EF4-FFF2-40B4-BE49-F238E27FC236}">
                <a16:creationId xmlns:a16="http://schemas.microsoft.com/office/drawing/2014/main" id="{A246F062-D6BE-4675-9A27-B0E7B310D4A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613" y="1022350"/>
            <a:ext cx="5942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943" name="Rectangle 22">
            <a:extLst>
              <a:ext uri="{FF2B5EF4-FFF2-40B4-BE49-F238E27FC236}">
                <a16:creationId xmlns:a16="http://schemas.microsoft.com/office/drawing/2014/main" id="{96BD5B39-97AD-4ABC-A21D-902007D52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dirty="0"/>
              <a:t>How demultiplexing works</a:t>
            </a:r>
            <a:endParaRPr lang="en-US" altLang="zh-TW" dirty="0"/>
          </a:p>
        </p:txBody>
      </p:sp>
      <p:sp>
        <p:nvSpPr>
          <p:cNvPr id="9224" name="Rectangle 23">
            <a:extLst>
              <a:ext uri="{FF2B5EF4-FFF2-40B4-BE49-F238E27FC236}">
                <a16:creationId xmlns:a16="http://schemas.microsoft.com/office/drawing/2014/main" id="{81937420-AB27-4F33-828A-6E8551A083C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85775" y="1595438"/>
            <a:ext cx="4438650" cy="279082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host receives IP datagrams</a:t>
            </a:r>
          </a:p>
          <a:p>
            <a:pPr lvl="1">
              <a:buFont typeface="Wingdings" charset="0"/>
              <a:buChar char="v"/>
              <a:defRPr/>
            </a:pPr>
            <a:r>
              <a:rPr lang="en-US" altLang="zh-HK" dirty="0">
                <a:ea typeface="ＭＳ Ｐゴシック" charset="0"/>
              </a:rPr>
              <a:t>each </a:t>
            </a:r>
            <a:r>
              <a:rPr lang="en-US" altLang="zh-HK" dirty="0">
                <a:solidFill>
                  <a:srgbClr val="7030A0"/>
                </a:solidFill>
                <a:ea typeface="ＭＳ Ｐゴシック" charset="0"/>
              </a:rPr>
              <a:t>datagram</a:t>
            </a:r>
            <a:r>
              <a:rPr lang="en-US" altLang="zh-HK" dirty="0">
                <a:ea typeface="ＭＳ Ｐゴシック" charset="0"/>
              </a:rPr>
              <a:t> has </a:t>
            </a:r>
            <a:r>
              <a:rPr lang="en-US" altLang="zh-HK" dirty="0">
                <a:solidFill>
                  <a:srgbClr val="7030A0"/>
                </a:solidFill>
                <a:ea typeface="ＭＳ Ｐゴシック" charset="0"/>
              </a:rPr>
              <a:t>source IP address, destination IP address</a:t>
            </a:r>
            <a:endParaRPr lang="en-US" altLang="zh-HK" dirty="0">
              <a:ea typeface="ＭＳ Ｐゴシック" charset="0"/>
            </a:endParaRPr>
          </a:p>
          <a:p>
            <a:pPr>
              <a:buFont typeface="Wingdings" charset="0"/>
              <a:buChar char="v"/>
              <a:defRPr/>
            </a:pPr>
            <a:r>
              <a:rPr lang="en-US" altLang="zh-HK" dirty="0">
                <a:ea typeface="ＭＳ Ｐゴシック" charset="0"/>
              </a:rPr>
              <a:t>each datagram carries one transport-layer segment</a:t>
            </a:r>
          </a:p>
          <a:p>
            <a:pPr lvl="1"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</a:rPr>
              <a:t>each </a:t>
            </a:r>
            <a:r>
              <a:rPr lang="en-US" dirty="0">
                <a:solidFill>
                  <a:srgbClr val="C00000"/>
                </a:solidFill>
                <a:ea typeface="ＭＳ Ｐゴシック" charset="0"/>
              </a:rPr>
              <a:t>segment</a:t>
            </a:r>
            <a:r>
              <a:rPr lang="en-US" dirty="0">
                <a:ea typeface="ＭＳ Ｐゴシック" charset="0"/>
              </a:rPr>
              <a:t> has </a:t>
            </a:r>
            <a:r>
              <a:rPr lang="en-US" dirty="0">
                <a:solidFill>
                  <a:srgbClr val="C00000"/>
                </a:solidFill>
                <a:ea typeface="ＭＳ Ｐゴシック" charset="0"/>
              </a:rPr>
              <a:t>source, destination port number 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host uses </a:t>
            </a:r>
            <a:r>
              <a:rPr lang="en-US" i="1" dirty="0">
                <a:solidFill>
                  <a:srgbClr val="7030A0"/>
                </a:solidFill>
                <a:ea typeface="ＭＳ Ｐゴシック" charset="0"/>
                <a:cs typeface="+mn-cs"/>
              </a:rPr>
              <a:t>IP addresses </a:t>
            </a:r>
            <a:r>
              <a:rPr lang="en-US" i="1" dirty="0">
                <a:ea typeface="ＭＳ Ｐゴシック" charset="0"/>
                <a:cs typeface="+mn-cs"/>
              </a:rPr>
              <a:t>&amp;</a:t>
            </a: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 port numbers</a:t>
            </a:r>
            <a:r>
              <a:rPr lang="en-US" dirty="0">
                <a:ea typeface="ＭＳ Ｐゴシック" charset="0"/>
                <a:cs typeface="+mn-cs"/>
              </a:rPr>
              <a:t> to direct segment to appropriate socket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B3F62567-E058-228B-91B3-B155F4EB046F}"/>
              </a:ext>
            </a:extLst>
          </p:cNvPr>
          <p:cNvGrpSpPr/>
          <p:nvPr/>
        </p:nvGrpSpPr>
        <p:grpSpPr>
          <a:xfrm>
            <a:off x="5253038" y="1655763"/>
            <a:ext cx="3446462" cy="4124325"/>
            <a:chOff x="5253038" y="1655763"/>
            <a:chExt cx="3446462" cy="4124325"/>
          </a:xfrm>
        </p:grpSpPr>
        <p:sp>
          <p:nvSpPr>
            <p:cNvPr id="39941" name="Rectangle 75">
              <a:extLst>
                <a:ext uri="{FF2B5EF4-FFF2-40B4-BE49-F238E27FC236}">
                  <a16:creationId xmlns:a16="http://schemas.microsoft.com/office/drawing/2014/main" id="{986A3CD3-7AC5-4814-B379-BA207267A6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3525" y="2000250"/>
              <a:ext cx="3324225" cy="3200400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9942" name="Rectangle 65">
              <a:extLst>
                <a:ext uri="{FF2B5EF4-FFF2-40B4-BE49-F238E27FC236}">
                  <a16:creationId xmlns:a16="http://schemas.microsoft.com/office/drawing/2014/main" id="{FE38ABD0-4BB5-4AE1-AA3C-604B11EF32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67325" y="2095500"/>
              <a:ext cx="3324225" cy="32004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39945" name="Text Box 63">
              <a:extLst>
                <a:ext uri="{FF2B5EF4-FFF2-40B4-BE49-F238E27FC236}">
                  <a16:creationId xmlns:a16="http://schemas.microsoft.com/office/drawing/2014/main" id="{88EA4CF6-E526-4ABE-AF9A-1D76CEA1FB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07013" y="2108200"/>
              <a:ext cx="1563687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CC0000"/>
                  </a:solidFill>
                  <a:latin typeface="Tahoma" panose="020B0604030504040204" pitchFamily="34" charset="0"/>
                </a:rPr>
                <a:t>source port #</a:t>
              </a:r>
              <a:endParaRPr lang="en-US" altLang="zh-TW" sz="2400">
                <a:solidFill>
                  <a:srgbClr val="CC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9946" name="Text Box 64">
              <a:extLst>
                <a:ext uri="{FF2B5EF4-FFF2-40B4-BE49-F238E27FC236}">
                  <a16:creationId xmlns:a16="http://schemas.microsoft.com/office/drawing/2014/main" id="{8768B803-FBB3-4C9F-B261-AE7414E085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92950" y="2108200"/>
              <a:ext cx="1328738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CC0000"/>
                  </a:solidFill>
                  <a:latin typeface="Tahoma" panose="020B0604030504040204" pitchFamily="34" charset="0"/>
                </a:rPr>
                <a:t>dest port #</a:t>
              </a:r>
              <a:endParaRPr lang="en-US" altLang="zh-TW" sz="2400">
                <a:solidFill>
                  <a:srgbClr val="CC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9947" name="Line 66">
              <a:extLst>
                <a:ext uri="{FF2B5EF4-FFF2-40B4-BE49-F238E27FC236}">
                  <a16:creationId xmlns:a16="http://schemas.microsoft.com/office/drawing/2014/main" id="{8E431EF8-608A-4261-8CA8-CDD3B88F73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57800" y="2495550"/>
              <a:ext cx="33289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9948" name="Line 68">
              <a:extLst>
                <a:ext uri="{FF2B5EF4-FFF2-40B4-BE49-F238E27FC236}">
                  <a16:creationId xmlns:a16="http://schemas.microsoft.com/office/drawing/2014/main" id="{CBAA5805-0BB2-41EE-93C7-0437776937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67325" y="3486150"/>
              <a:ext cx="332422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9949" name="Line 69">
              <a:extLst>
                <a:ext uri="{FF2B5EF4-FFF2-40B4-BE49-F238E27FC236}">
                  <a16:creationId xmlns:a16="http://schemas.microsoft.com/office/drawing/2014/main" id="{7A3D880F-B04F-4E5F-9C75-31F140D56F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05625" y="2095500"/>
              <a:ext cx="0" cy="3952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9950" name="Text Box 70">
              <a:extLst>
                <a:ext uri="{FF2B5EF4-FFF2-40B4-BE49-F238E27FC236}">
                  <a16:creationId xmlns:a16="http://schemas.microsoft.com/office/drawing/2014/main" id="{FBB8DCC6-C922-4EB9-94D8-664E6D046D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50013" y="1655763"/>
              <a:ext cx="863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Tahoma" panose="020B0604030504040204" pitchFamily="34" charset="0"/>
                </a:rPr>
                <a:t>32 bits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9951" name="Line 71">
              <a:extLst>
                <a:ext uri="{FF2B5EF4-FFF2-40B4-BE49-F238E27FC236}">
                  <a16:creationId xmlns:a16="http://schemas.microsoft.com/office/drawing/2014/main" id="{CBCC7D4F-8B45-4E08-87A7-CD1A872DA7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62825" y="1862138"/>
              <a:ext cx="1200150" cy="476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9952" name="Line 72">
              <a:extLst>
                <a:ext uri="{FF2B5EF4-FFF2-40B4-BE49-F238E27FC236}">
                  <a16:creationId xmlns:a16="http://schemas.microsoft.com/office/drawing/2014/main" id="{47CB33C1-FD32-407F-B0B6-C3AD55261BE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5253038" y="1871663"/>
              <a:ext cx="112871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39953" name="Text Box 73">
              <a:extLst>
                <a:ext uri="{FF2B5EF4-FFF2-40B4-BE49-F238E27FC236}">
                  <a16:creationId xmlns:a16="http://schemas.microsoft.com/office/drawing/2014/main" id="{A12CCBA2-EA46-4E70-B0E3-4CDAB4797C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61088" y="3816350"/>
              <a:ext cx="1389062" cy="1006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Tahoma" panose="020B0604030504040204" pitchFamily="34" charset="0"/>
                </a:rPr>
                <a:t>application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Tahoma" panose="020B0604030504040204" pitchFamily="34" charset="0"/>
                </a:rPr>
                <a:t>data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Tahoma" panose="020B0604030504040204" pitchFamily="34" charset="0"/>
                </a:rPr>
                <a:t>(payload)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9954" name="Text Box 74">
              <a:extLst>
                <a:ext uri="{FF2B5EF4-FFF2-40B4-BE49-F238E27FC236}">
                  <a16:creationId xmlns:a16="http://schemas.microsoft.com/office/drawing/2014/main" id="{7A5BD8E9-9671-4AD0-887C-62F6A1A005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6913" y="2849563"/>
              <a:ext cx="2290762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Tahoma" panose="020B0604030504040204" pitchFamily="34" charset="0"/>
                </a:rPr>
                <a:t>other header fields</a:t>
              </a:r>
              <a:endParaRPr lang="en-US" altLang="zh-TW" sz="2400">
                <a:latin typeface="Tahoma" panose="020B0604030504040204" pitchFamily="34" charset="0"/>
              </a:endParaRPr>
            </a:p>
          </p:txBody>
        </p:sp>
        <p:sp>
          <p:nvSpPr>
            <p:cNvPr id="39955" name="Text Box 76">
              <a:extLst>
                <a:ext uri="{FF2B5EF4-FFF2-40B4-BE49-F238E27FC236}">
                  <a16:creationId xmlns:a16="http://schemas.microsoft.com/office/drawing/2014/main" id="{6A9EC029-F251-4C8A-9D2E-18BD41C99E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1300" y="5380038"/>
              <a:ext cx="3378200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dirty="0">
                  <a:solidFill>
                    <a:srgbClr val="C00000"/>
                  </a:solidFill>
                  <a:latin typeface="Tahoma" panose="020B0604030504040204" pitchFamily="34" charset="0"/>
                </a:rPr>
                <a:t>TCP or UDP segment format</a:t>
              </a:r>
              <a:endParaRPr lang="en-US" altLang="zh-TW" sz="2400" dirty="0">
                <a:solidFill>
                  <a:srgbClr val="C00000"/>
                </a:solidFill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Footer Placeholder 5">
            <a:extLst>
              <a:ext uri="{FF2B5EF4-FFF2-40B4-BE49-F238E27FC236}">
                <a16:creationId xmlns:a16="http://schemas.microsoft.com/office/drawing/2014/main" id="{AD4A13D0-A9B5-4A27-82A2-F64C22F5D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41987" name="Slide Number Placeholder 6">
            <a:extLst>
              <a:ext uri="{FF2B5EF4-FFF2-40B4-BE49-F238E27FC236}">
                <a16:creationId xmlns:a16="http://schemas.microsoft.com/office/drawing/2014/main" id="{E58658E4-4CD3-4B15-8D21-66E6D9D42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EA33E21-E3CE-4711-A122-4A427142CC8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41988" name="Picture 110" descr="underline_base">
            <a:extLst>
              <a:ext uri="{FF2B5EF4-FFF2-40B4-BE49-F238E27FC236}">
                <a16:creationId xmlns:a16="http://schemas.microsoft.com/office/drawing/2014/main" id="{73C02A33-147E-4BFC-BB22-2FC924EA5F7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913" y="935038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5" name="Rectangle 2">
            <a:extLst>
              <a:ext uri="{FF2B5EF4-FFF2-40B4-BE49-F238E27FC236}">
                <a16:creationId xmlns:a16="http://schemas.microsoft.com/office/drawing/2014/main" id="{AE086412-3B80-4D6B-8EC5-16600317EF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6550" y="14605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UDP Connectionless demultiplexing</a:t>
            </a:r>
          </a:p>
        </p:txBody>
      </p:sp>
      <p:sp>
        <p:nvSpPr>
          <p:cNvPr id="41990" name="Rectangle 3">
            <a:extLst>
              <a:ext uri="{FF2B5EF4-FFF2-40B4-BE49-F238E27FC236}">
                <a16:creationId xmlns:a16="http://schemas.microsoft.com/office/drawing/2014/main" id="{D98AC1E5-D797-4B93-BF5D-C80E5B76570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27000" y="1495425"/>
            <a:ext cx="8662988" cy="4286250"/>
          </a:xfrm>
        </p:spPr>
        <p:txBody>
          <a:bodyPr/>
          <a:lstStyle/>
          <a:p>
            <a:pPr marL="347663" marR="0" lvl="0" indent="-290513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pitchFamily="34" charset="-128"/>
              </a:rPr>
              <a:t>created socket has host-local port #:</a:t>
            </a:r>
          </a:p>
          <a:p>
            <a:pPr marL="347663" marR="0" lvl="0" indent="-290513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itchFamily="34" charset="-128"/>
              </a:rPr>
              <a:t>  </a:t>
            </a:r>
            <a:r>
              <a:rPr kumimoji="0" lang="en-US" altLang="zh-TW" sz="20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itchFamily="34" charset="-128"/>
              </a:rPr>
              <a:t>DatagramSocket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itchFamily="34" charset="-128"/>
              </a:rPr>
              <a:t> mySocket1 = new </a:t>
            </a:r>
            <a:r>
              <a:rPr kumimoji="0" lang="en-US" altLang="zh-TW" sz="20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itchFamily="34" charset="-128"/>
              </a:rPr>
              <a:t>DatagramSocket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itchFamily="34" charset="-128"/>
              </a:rPr>
              <a:t>(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itchFamily="34" charset="-128"/>
              </a:rPr>
              <a:t>12534</a:t>
            </a: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itchFamily="34" charset="-128"/>
              </a:rPr>
              <a:t>);</a:t>
            </a:r>
            <a:endParaRPr lang="en-US" altLang="zh-TW" dirty="0"/>
          </a:p>
          <a:p>
            <a:pPr marL="347663" indent="-290513"/>
            <a:r>
              <a:rPr lang="en-US" altLang="zh-TW" dirty="0"/>
              <a:t>UDP socket is </a:t>
            </a:r>
            <a:r>
              <a:rPr lang="en-US" altLang="zh-TW" dirty="0">
                <a:solidFill>
                  <a:srgbClr val="0070C0"/>
                </a:solidFill>
              </a:rPr>
              <a:t>fully identified by</a:t>
            </a:r>
            <a:r>
              <a:rPr lang="en-US" altLang="zh-TW" dirty="0"/>
              <a:t> a two-tuple consisting of a </a:t>
            </a:r>
            <a:r>
              <a:rPr lang="en-US" altLang="zh-TW" dirty="0">
                <a:solidFill>
                  <a:srgbClr val="C00000"/>
                </a:solidFill>
              </a:rPr>
              <a:t>destination IP address and a destination port number</a:t>
            </a:r>
            <a:r>
              <a:rPr lang="en-US" altLang="zh-TW" dirty="0"/>
              <a:t>. </a:t>
            </a:r>
          </a:p>
          <a:p>
            <a:pPr marL="347663" indent="-290513"/>
            <a:r>
              <a:rPr lang="en-US" altLang="zh-TW" dirty="0"/>
              <a:t>If two UDP segments have:</a:t>
            </a:r>
          </a:p>
          <a:p>
            <a:pPr marL="693738" lvl="1" indent="-290513"/>
            <a:r>
              <a:rPr lang="en-US" altLang="zh-TW" i="1" dirty="0"/>
              <a:t>different</a:t>
            </a:r>
            <a:r>
              <a:rPr lang="en-US" altLang="zh-TW" dirty="0"/>
              <a:t> source IP addresses and/or source port numbers, </a:t>
            </a:r>
          </a:p>
          <a:p>
            <a:pPr marL="693738" lvl="1" indent="-290513"/>
            <a:r>
              <a:rPr lang="en-US" altLang="zh-TW" i="1" dirty="0">
                <a:solidFill>
                  <a:srgbClr val="C00000"/>
                </a:solidFill>
              </a:rPr>
              <a:t>same</a:t>
            </a:r>
            <a:r>
              <a:rPr lang="en-US" altLang="zh-TW" dirty="0">
                <a:solidFill>
                  <a:srgbClr val="C00000"/>
                </a:solidFill>
              </a:rPr>
              <a:t> destination IP address and destination port number</a:t>
            </a:r>
          </a:p>
          <a:p>
            <a:pPr marL="693738" lvl="1" indent="-290513"/>
            <a:r>
              <a:rPr lang="en-US" altLang="zh-TW" dirty="0"/>
              <a:t>=&gt; the two segments will be directed to the same destination process via the </a:t>
            </a:r>
            <a:r>
              <a:rPr lang="en-US" altLang="zh-TW" i="1" dirty="0">
                <a:solidFill>
                  <a:srgbClr val="C00000"/>
                </a:solidFill>
              </a:rPr>
              <a:t>same</a:t>
            </a:r>
            <a:r>
              <a:rPr lang="en-US" altLang="zh-TW" dirty="0">
                <a:solidFill>
                  <a:srgbClr val="C00000"/>
                </a:solidFill>
              </a:rPr>
              <a:t> destination socket</a:t>
            </a:r>
            <a:r>
              <a:rPr lang="en-US" altLang="zh-TW" dirty="0"/>
              <a:t>.</a:t>
            </a:r>
          </a:p>
          <a:p>
            <a:pPr marL="850900" lvl="1"/>
            <a:endParaRPr lang="en-US" altLang="zh-TW" dirty="0"/>
          </a:p>
          <a:p>
            <a:pPr marL="347663" indent="-290513">
              <a:buFont typeface="Wingdings" panose="05000000000000000000" pitchFamily="2" charset="2"/>
              <a:buNone/>
            </a:pPr>
            <a:endParaRPr lang="en-US" altLang="zh-TW" sz="2000" dirty="0"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Footer Placeholder 4">
            <a:extLst>
              <a:ext uri="{FF2B5EF4-FFF2-40B4-BE49-F238E27FC236}">
                <a16:creationId xmlns:a16="http://schemas.microsoft.com/office/drawing/2014/main" id="{23C631AE-64BB-44B9-9992-B33015FC2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44035" name="Slide Number Placeholder 5">
            <a:extLst>
              <a:ext uri="{FF2B5EF4-FFF2-40B4-BE49-F238E27FC236}">
                <a16:creationId xmlns:a16="http://schemas.microsoft.com/office/drawing/2014/main" id="{07A88B8B-B6EB-4335-AE5A-4E0A5B2ED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3F2806AC-F538-419C-9D9E-284CE663885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44036" name="Picture 213" descr="underline_base">
            <a:extLst>
              <a:ext uri="{FF2B5EF4-FFF2-40B4-BE49-F238E27FC236}">
                <a16:creationId xmlns:a16="http://schemas.microsoft.com/office/drawing/2014/main" id="{93CB8BFE-92C0-4959-8123-29B3B2926CF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88582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Rectangle 2">
            <a:extLst>
              <a:ext uri="{FF2B5EF4-FFF2-40B4-BE49-F238E27FC236}">
                <a16:creationId xmlns:a16="http://schemas.microsoft.com/office/drawing/2014/main" id="{29005ECA-F15A-452D-A904-CBA56E8A3B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4475" y="200025"/>
            <a:ext cx="7772400" cy="9350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Connectionless demux: example</a:t>
            </a:r>
          </a:p>
        </p:txBody>
      </p:sp>
      <p:sp>
        <p:nvSpPr>
          <p:cNvPr id="241708" name="Rectangle 44">
            <a:extLst>
              <a:ext uri="{FF2B5EF4-FFF2-40B4-BE49-F238E27FC236}">
                <a16:creationId xmlns:a16="http://schemas.microsoft.com/office/drawing/2014/main" id="{7EF7E857-8280-484D-87E3-1FDEAD8C61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870200" y="1320800"/>
            <a:ext cx="3211513" cy="725488"/>
          </a:xfrm>
        </p:spPr>
        <p:txBody>
          <a:bodyPr/>
          <a:lstStyle/>
          <a:p>
            <a:pPr marL="173038" indent="-173038">
              <a:buFont typeface="Wingdings" panose="05000000000000000000" pitchFamily="2" charset="2"/>
              <a:buNone/>
            </a:pPr>
            <a:r>
              <a:rPr lang="en-US" altLang="zh-TW" sz="2000" b="1">
                <a:latin typeface="Courier New" panose="02070309020205020404" pitchFamily="49" charset="0"/>
              </a:rPr>
              <a:t>DatagramSocket serverSocket = new DatagramSocket</a:t>
            </a:r>
          </a:p>
          <a:p>
            <a:pPr marL="173038" indent="-173038">
              <a:buFont typeface="Wingdings" panose="05000000000000000000" pitchFamily="2" charset="2"/>
              <a:buNone/>
            </a:pPr>
            <a:r>
              <a:rPr lang="en-US" altLang="zh-TW" sz="2000" b="1">
                <a:latin typeface="Courier New" panose="02070309020205020404" pitchFamily="49" charset="0"/>
              </a:rPr>
              <a:t> (</a:t>
            </a:r>
            <a:r>
              <a:rPr lang="en-US" altLang="zh-TW" sz="2000" b="1">
                <a:solidFill>
                  <a:srgbClr val="CC0000"/>
                </a:solidFill>
                <a:latin typeface="Courier New" panose="02070309020205020404" pitchFamily="49" charset="0"/>
              </a:rPr>
              <a:t>6428</a:t>
            </a:r>
            <a:r>
              <a:rPr lang="en-US" altLang="zh-TW" sz="2000" b="1">
                <a:latin typeface="Courier New" panose="02070309020205020404" pitchFamily="49" charset="0"/>
              </a:rPr>
              <a:t>);</a:t>
            </a:r>
          </a:p>
          <a:p>
            <a:pPr marL="173038" indent="-173038"/>
            <a:endParaRPr lang="en-US" altLang="zh-TW" sz="4000"/>
          </a:p>
        </p:txBody>
      </p:sp>
      <p:sp>
        <p:nvSpPr>
          <p:cNvPr id="44039" name="Freeform 89">
            <a:extLst>
              <a:ext uri="{FF2B5EF4-FFF2-40B4-BE49-F238E27FC236}">
                <a16:creationId xmlns:a16="http://schemas.microsoft.com/office/drawing/2014/main" id="{131F0B78-150D-4F94-A16F-AEE994E121DA}"/>
              </a:ext>
            </a:extLst>
          </p:cNvPr>
          <p:cNvSpPr>
            <a:spLocks/>
          </p:cNvSpPr>
          <p:nvPr/>
        </p:nvSpPr>
        <p:spPr bwMode="auto">
          <a:xfrm>
            <a:off x="3189288" y="2478088"/>
            <a:ext cx="552450" cy="2082800"/>
          </a:xfrm>
          <a:custGeom>
            <a:avLst/>
            <a:gdLst>
              <a:gd name="T0" fmla="*/ 0 w 348"/>
              <a:gd name="T1" fmla="*/ 2147483646 h 1312"/>
              <a:gd name="T2" fmla="*/ 2147483646 w 348"/>
              <a:gd name="T3" fmla="*/ 0 h 1312"/>
              <a:gd name="T4" fmla="*/ 2147483646 w 348"/>
              <a:gd name="T5" fmla="*/ 2147483646 h 1312"/>
              <a:gd name="T6" fmla="*/ 2147483646 w 348"/>
              <a:gd name="T7" fmla="*/ 2147483646 h 1312"/>
              <a:gd name="T8" fmla="*/ 0 w 348"/>
              <a:gd name="T9" fmla="*/ 2147483646 h 13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48"/>
              <a:gd name="T16" fmla="*/ 0 h 1312"/>
              <a:gd name="T17" fmla="*/ 348 w 348"/>
              <a:gd name="T18" fmla="*/ 1312 h 131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48" h="1312">
                <a:moveTo>
                  <a:pt x="0" y="1306"/>
                </a:moveTo>
                <a:lnTo>
                  <a:pt x="348" y="0"/>
                </a:lnTo>
                <a:lnTo>
                  <a:pt x="342" y="1258"/>
                </a:lnTo>
                <a:lnTo>
                  <a:pt x="180" y="1312"/>
                </a:lnTo>
                <a:lnTo>
                  <a:pt x="0" y="1306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44040" name="Freeform 97">
            <a:extLst>
              <a:ext uri="{FF2B5EF4-FFF2-40B4-BE49-F238E27FC236}">
                <a16:creationId xmlns:a16="http://schemas.microsoft.com/office/drawing/2014/main" id="{31C0E2D8-6D02-4E3A-85AD-82D79C4E3668}"/>
              </a:ext>
            </a:extLst>
          </p:cNvPr>
          <p:cNvSpPr>
            <a:spLocks/>
          </p:cNvSpPr>
          <p:nvPr/>
        </p:nvSpPr>
        <p:spPr bwMode="auto">
          <a:xfrm>
            <a:off x="404813" y="2782888"/>
            <a:ext cx="460375" cy="2193925"/>
          </a:xfrm>
          <a:custGeom>
            <a:avLst/>
            <a:gdLst>
              <a:gd name="T0" fmla="*/ 2147483646 w 290"/>
              <a:gd name="T1" fmla="*/ 2147483646 h 1382"/>
              <a:gd name="T2" fmla="*/ 0 w 290"/>
              <a:gd name="T3" fmla="*/ 2147483646 h 1382"/>
              <a:gd name="T4" fmla="*/ 2147483646 w 290"/>
              <a:gd name="T5" fmla="*/ 0 h 1382"/>
              <a:gd name="T6" fmla="*/ 2147483646 w 290"/>
              <a:gd name="T7" fmla="*/ 2147483646 h 1382"/>
              <a:gd name="T8" fmla="*/ 2147483646 w 290"/>
              <a:gd name="T9" fmla="*/ 2147483646 h 1382"/>
              <a:gd name="T10" fmla="*/ 2147483646 w 290"/>
              <a:gd name="T11" fmla="*/ 2147483646 h 138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90"/>
              <a:gd name="T19" fmla="*/ 0 h 1382"/>
              <a:gd name="T20" fmla="*/ 290 w 290"/>
              <a:gd name="T21" fmla="*/ 1382 h 1382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90" h="1382">
                <a:moveTo>
                  <a:pt x="15" y="1382"/>
                </a:moveTo>
                <a:lnTo>
                  <a:pt x="0" y="1360"/>
                </a:lnTo>
                <a:lnTo>
                  <a:pt x="290" y="0"/>
                </a:lnTo>
                <a:lnTo>
                  <a:pt x="284" y="1258"/>
                </a:lnTo>
                <a:lnTo>
                  <a:pt x="182" y="1382"/>
                </a:lnTo>
                <a:lnTo>
                  <a:pt x="15" y="138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44041" name="Rectangle 23">
            <a:extLst>
              <a:ext uri="{FF2B5EF4-FFF2-40B4-BE49-F238E27FC236}">
                <a16:creationId xmlns:a16="http://schemas.microsoft.com/office/drawing/2014/main" id="{935CDABE-A510-4AC3-B2DB-456350244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638" y="2749550"/>
            <a:ext cx="1296987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4042" name="Rectangle 24">
            <a:extLst>
              <a:ext uri="{FF2B5EF4-FFF2-40B4-BE49-F238E27FC236}">
                <a16:creationId xmlns:a16="http://schemas.microsoft.com/office/drawing/2014/main" id="{AEAC4474-F4B1-4114-8056-C910DBC161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1538" y="2803525"/>
            <a:ext cx="1273175" cy="197961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4043" name="Line 25">
            <a:extLst>
              <a:ext uri="{FF2B5EF4-FFF2-40B4-BE49-F238E27FC236}">
                <a16:creationId xmlns:a16="http://schemas.microsoft.com/office/drawing/2014/main" id="{CF5FF0B4-5F2E-4F81-8050-39C188ED49EA}"/>
              </a:ext>
            </a:extLst>
          </p:cNvPr>
          <p:cNvSpPr>
            <a:spLocks noChangeShapeType="1"/>
          </p:cNvSpPr>
          <p:nvPr/>
        </p:nvSpPr>
        <p:spPr bwMode="auto">
          <a:xfrm>
            <a:off x="881063" y="356393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44" name="Text Box 26">
            <a:extLst>
              <a:ext uri="{FF2B5EF4-FFF2-40B4-BE49-F238E27FC236}">
                <a16:creationId xmlns:a16="http://schemas.microsoft.com/office/drawing/2014/main" id="{30B84CDA-282E-4722-A7F5-FCCB71A140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354647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44045" name="Line 27">
            <a:extLst>
              <a:ext uri="{FF2B5EF4-FFF2-40B4-BE49-F238E27FC236}">
                <a16:creationId xmlns:a16="http://schemas.microsoft.com/office/drawing/2014/main" id="{06B3EDDA-56AF-42A8-BDB9-BAD1D35E12EB}"/>
              </a:ext>
            </a:extLst>
          </p:cNvPr>
          <p:cNvSpPr>
            <a:spLocks noChangeShapeType="1"/>
          </p:cNvSpPr>
          <p:nvPr/>
        </p:nvSpPr>
        <p:spPr bwMode="auto">
          <a:xfrm>
            <a:off x="889000" y="388461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46" name="Line 28">
            <a:extLst>
              <a:ext uri="{FF2B5EF4-FFF2-40B4-BE49-F238E27FC236}">
                <a16:creationId xmlns:a16="http://schemas.microsoft.com/office/drawing/2014/main" id="{413665DB-75D7-44FD-BB70-5F1472C9C0B1}"/>
              </a:ext>
            </a:extLst>
          </p:cNvPr>
          <p:cNvSpPr>
            <a:spLocks noChangeShapeType="1"/>
          </p:cNvSpPr>
          <p:nvPr/>
        </p:nvSpPr>
        <p:spPr bwMode="auto">
          <a:xfrm>
            <a:off x="874713" y="419417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47" name="Line 29">
            <a:extLst>
              <a:ext uri="{FF2B5EF4-FFF2-40B4-BE49-F238E27FC236}">
                <a16:creationId xmlns:a16="http://schemas.microsoft.com/office/drawing/2014/main" id="{D341DC27-9DFF-435D-AD2A-610F904C393D}"/>
              </a:ext>
            </a:extLst>
          </p:cNvPr>
          <p:cNvSpPr>
            <a:spLocks noChangeShapeType="1"/>
          </p:cNvSpPr>
          <p:nvPr/>
        </p:nvSpPr>
        <p:spPr bwMode="auto">
          <a:xfrm>
            <a:off x="874713" y="447992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48" name="Text Box 26">
            <a:extLst>
              <a:ext uri="{FF2B5EF4-FFF2-40B4-BE49-F238E27FC236}">
                <a16:creationId xmlns:a16="http://schemas.microsoft.com/office/drawing/2014/main" id="{0F071641-C237-4088-9C2F-7E161203C2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3125" y="279400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44049" name="Text Box 26">
            <a:extLst>
              <a:ext uri="{FF2B5EF4-FFF2-40B4-BE49-F238E27FC236}">
                <a16:creationId xmlns:a16="http://schemas.microsoft.com/office/drawing/2014/main" id="{2C7968BC-9AFF-45D5-88AC-171BF5F7C2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675" y="445135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44050" name="Text Box 26">
            <a:extLst>
              <a:ext uri="{FF2B5EF4-FFF2-40B4-BE49-F238E27FC236}">
                <a16:creationId xmlns:a16="http://schemas.microsoft.com/office/drawing/2014/main" id="{7108DCB4-E6D9-4780-8C86-BBD4438C43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725" y="416560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44051" name="Text Box 26">
            <a:extLst>
              <a:ext uri="{FF2B5EF4-FFF2-40B4-BE49-F238E27FC236}">
                <a16:creationId xmlns:a16="http://schemas.microsoft.com/office/drawing/2014/main" id="{EC70BF0F-4D14-41E0-8DA3-428DD7F843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387032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44052" name="Oval 110">
            <a:extLst>
              <a:ext uri="{FF2B5EF4-FFF2-40B4-BE49-F238E27FC236}">
                <a16:creationId xmlns:a16="http://schemas.microsoft.com/office/drawing/2014/main" id="{E860F4E3-4E22-4B17-B4CF-E175CB7E14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8088" y="3079750"/>
            <a:ext cx="598487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P3</a:t>
            </a:r>
          </a:p>
        </p:txBody>
      </p:sp>
      <p:grpSp>
        <p:nvGrpSpPr>
          <p:cNvPr id="2" name="Group 111">
            <a:extLst>
              <a:ext uri="{FF2B5EF4-FFF2-40B4-BE49-F238E27FC236}">
                <a16:creationId xmlns:a16="http://schemas.microsoft.com/office/drawing/2014/main" id="{BE67CD81-3D3A-402E-9B79-EBFCCFE1807E}"/>
              </a:ext>
            </a:extLst>
          </p:cNvPr>
          <p:cNvGrpSpPr>
            <a:grpSpLocks/>
          </p:cNvGrpSpPr>
          <p:nvPr/>
        </p:nvGrpSpPr>
        <p:grpSpPr bwMode="auto">
          <a:xfrm>
            <a:off x="1176338" y="3403600"/>
            <a:ext cx="620712" cy="228600"/>
            <a:chOff x="1287" y="2524"/>
            <a:chExt cx="260" cy="100"/>
          </a:xfrm>
        </p:grpSpPr>
        <p:sp>
          <p:nvSpPr>
            <p:cNvPr id="44158" name="Rectangle 112">
              <a:extLst>
                <a:ext uri="{FF2B5EF4-FFF2-40B4-BE49-F238E27FC236}">
                  <a16:creationId xmlns:a16="http://schemas.microsoft.com/office/drawing/2014/main" id="{90466327-7DF1-4A63-A215-259722AE5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59" name="Rectangle 113">
              <a:extLst>
                <a:ext uri="{FF2B5EF4-FFF2-40B4-BE49-F238E27FC236}">
                  <a16:creationId xmlns:a16="http://schemas.microsoft.com/office/drawing/2014/main" id="{9C697643-EF35-415B-B3DC-5BBED3BE7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60" name="Rectangle 114">
              <a:extLst>
                <a:ext uri="{FF2B5EF4-FFF2-40B4-BE49-F238E27FC236}">
                  <a16:creationId xmlns:a16="http://schemas.microsoft.com/office/drawing/2014/main" id="{8C305BC0-3257-44C6-A1AB-B00EB3A13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61" name="Rectangle 115">
              <a:extLst>
                <a:ext uri="{FF2B5EF4-FFF2-40B4-BE49-F238E27FC236}">
                  <a16:creationId xmlns:a16="http://schemas.microsoft.com/office/drawing/2014/main" id="{297175E9-672B-4166-A9E1-CE1336A50F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44054" name="Rectangle 23">
            <a:extLst>
              <a:ext uri="{FF2B5EF4-FFF2-40B4-BE49-F238E27FC236}">
                <a16:creationId xmlns:a16="http://schemas.microsoft.com/office/drawing/2014/main" id="{00C782EA-BBD0-4C8F-ABF0-1A53FE721F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975" y="2516188"/>
            <a:ext cx="1497013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4055" name="Rectangle 24">
            <a:extLst>
              <a:ext uri="{FF2B5EF4-FFF2-40B4-BE49-F238E27FC236}">
                <a16:creationId xmlns:a16="http://schemas.microsoft.com/office/drawing/2014/main" id="{2B1145B7-75AD-4B7D-A76B-45B4D419D0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2050" y="2570163"/>
            <a:ext cx="1473200" cy="197961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4056" name="Line 25">
            <a:extLst>
              <a:ext uri="{FF2B5EF4-FFF2-40B4-BE49-F238E27FC236}">
                <a16:creationId xmlns:a16="http://schemas.microsoft.com/office/drawing/2014/main" id="{5AB96FE2-0F26-41D9-BCB6-C5568AE6F125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8400" y="3340100"/>
            <a:ext cx="146050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57" name="Text Box 26">
            <a:extLst>
              <a:ext uri="{FF2B5EF4-FFF2-40B4-BE49-F238E27FC236}">
                <a16:creationId xmlns:a16="http://schemas.microsoft.com/office/drawing/2014/main" id="{30BEE89B-3DA7-43E4-924D-35C44F18F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9838" y="33226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44058" name="Line 27">
            <a:extLst>
              <a:ext uri="{FF2B5EF4-FFF2-40B4-BE49-F238E27FC236}">
                <a16:creationId xmlns:a16="http://schemas.microsoft.com/office/drawing/2014/main" id="{484F920F-684F-4F94-B5A4-57D9B039855D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9988" y="3657600"/>
            <a:ext cx="14573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59" name="Text Box 26">
            <a:extLst>
              <a:ext uri="{FF2B5EF4-FFF2-40B4-BE49-F238E27FC236}">
                <a16:creationId xmlns:a16="http://schemas.microsoft.com/office/drawing/2014/main" id="{BD317EAA-5D3F-4434-B7C0-BE299A4E1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6663" y="253682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44060" name="Text Box 26">
            <a:extLst>
              <a:ext uri="{FF2B5EF4-FFF2-40B4-BE49-F238E27FC236}">
                <a16:creationId xmlns:a16="http://schemas.microsoft.com/office/drawing/2014/main" id="{5EEBA2B0-1C3C-43EF-82BD-00A34AF21A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3488" y="42275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44061" name="Text Box 26">
            <a:extLst>
              <a:ext uri="{FF2B5EF4-FFF2-40B4-BE49-F238E27FC236}">
                <a16:creationId xmlns:a16="http://schemas.microsoft.com/office/drawing/2014/main" id="{969C662D-55AF-48B0-B6E5-DDFEC9957B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3488" y="39417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44062" name="Text Box 26">
            <a:extLst>
              <a:ext uri="{FF2B5EF4-FFF2-40B4-BE49-F238E27FC236}">
                <a16:creationId xmlns:a16="http://schemas.microsoft.com/office/drawing/2014/main" id="{A1D043DF-C4DD-4D66-85C7-B1D65C0E43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3488" y="36433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44063" name="Line 27">
            <a:extLst>
              <a:ext uri="{FF2B5EF4-FFF2-40B4-BE49-F238E27FC236}">
                <a16:creationId xmlns:a16="http://schemas.microsoft.com/office/drawing/2014/main" id="{0E3D1C17-FFA2-478C-9631-9C4333298B88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6813" y="3968750"/>
            <a:ext cx="14573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64" name="Line 27">
            <a:extLst>
              <a:ext uri="{FF2B5EF4-FFF2-40B4-BE49-F238E27FC236}">
                <a16:creationId xmlns:a16="http://schemas.microsoft.com/office/drawing/2014/main" id="{DF54018C-21C0-4B80-AA75-2BE9ECD1F871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3638" y="4267200"/>
            <a:ext cx="14573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65" name="Oval 128">
            <a:extLst>
              <a:ext uri="{FF2B5EF4-FFF2-40B4-BE49-F238E27FC236}">
                <a16:creationId xmlns:a16="http://schemas.microsoft.com/office/drawing/2014/main" id="{E4FE1473-B395-40BF-9049-262AC182F1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2876550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P1</a:t>
            </a:r>
          </a:p>
        </p:txBody>
      </p:sp>
      <p:grpSp>
        <p:nvGrpSpPr>
          <p:cNvPr id="3" name="Group 134">
            <a:extLst>
              <a:ext uri="{FF2B5EF4-FFF2-40B4-BE49-F238E27FC236}">
                <a16:creationId xmlns:a16="http://schemas.microsoft.com/office/drawing/2014/main" id="{095A4E75-EC06-4035-9BE3-AA37003322FA}"/>
              </a:ext>
            </a:extLst>
          </p:cNvPr>
          <p:cNvGrpSpPr>
            <a:grpSpLocks/>
          </p:cNvGrpSpPr>
          <p:nvPr/>
        </p:nvGrpSpPr>
        <p:grpSpPr bwMode="auto">
          <a:xfrm>
            <a:off x="3992563" y="3192463"/>
            <a:ext cx="887412" cy="228600"/>
            <a:chOff x="1383" y="2620"/>
            <a:chExt cx="260" cy="100"/>
          </a:xfrm>
        </p:grpSpPr>
        <p:sp>
          <p:nvSpPr>
            <p:cNvPr id="44154" name="Rectangle 135">
              <a:extLst>
                <a:ext uri="{FF2B5EF4-FFF2-40B4-BE49-F238E27FC236}">
                  <a16:creationId xmlns:a16="http://schemas.microsoft.com/office/drawing/2014/main" id="{C9EAC396-8E61-4307-8730-6F60B2B768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3" y="2620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55" name="Rectangle 136">
              <a:extLst>
                <a:ext uri="{FF2B5EF4-FFF2-40B4-BE49-F238E27FC236}">
                  <a16:creationId xmlns:a16="http://schemas.microsoft.com/office/drawing/2014/main" id="{267CBCF4-4BC9-4101-ADED-2EC2D409C3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4" y="2633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56" name="Rectangle 137">
              <a:extLst>
                <a:ext uri="{FF2B5EF4-FFF2-40B4-BE49-F238E27FC236}">
                  <a16:creationId xmlns:a16="http://schemas.microsoft.com/office/drawing/2014/main" id="{8B231A52-E345-4D46-B2C7-41B63327B6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99" y="2678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57" name="Rectangle 138">
              <a:extLst>
                <a:ext uri="{FF2B5EF4-FFF2-40B4-BE49-F238E27FC236}">
                  <a16:creationId xmlns:a16="http://schemas.microsoft.com/office/drawing/2014/main" id="{3A5ECDD1-34DC-4E0E-A2C9-0C6A4DBE64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94" y="2679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44067" name="Rectangle 23">
            <a:extLst>
              <a:ext uri="{FF2B5EF4-FFF2-40B4-BE49-F238E27FC236}">
                <a16:creationId xmlns:a16="http://schemas.microsoft.com/office/drawing/2014/main" id="{2B65F4FC-AE93-4C60-95BB-3E0B0B923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3700" y="2741613"/>
            <a:ext cx="1296988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4068" name="Rectangle 24">
            <a:extLst>
              <a:ext uri="{FF2B5EF4-FFF2-40B4-BE49-F238E27FC236}">
                <a16:creationId xmlns:a16="http://schemas.microsoft.com/office/drawing/2014/main" id="{BF943E6B-D1C8-457B-B994-FCCBA057D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2795588"/>
            <a:ext cx="1273175" cy="197961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4069" name="Line 25">
            <a:extLst>
              <a:ext uri="{FF2B5EF4-FFF2-40B4-BE49-F238E27FC236}">
                <a16:creationId xmlns:a16="http://schemas.microsoft.com/office/drawing/2014/main" id="{A26C6033-7483-49ED-A31D-260C17D7445F}"/>
              </a:ext>
            </a:extLst>
          </p:cNvPr>
          <p:cNvSpPr>
            <a:spLocks noChangeShapeType="1"/>
          </p:cNvSpPr>
          <p:nvPr/>
        </p:nvSpPr>
        <p:spPr bwMode="auto">
          <a:xfrm>
            <a:off x="6715125" y="3556000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70" name="Text Box 26">
            <a:extLst>
              <a:ext uri="{FF2B5EF4-FFF2-40B4-BE49-F238E27FC236}">
                <a16:creationId xmlns:a16="http://schemas.microsoft.com/office/drawing/2014/main" id="{8CD0051E-E968-41FE-B38B-9E0B011817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2263" y="35385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44071" name="Line 27">
            <a:extLst>
              <a:ext uri="{FF2B5EF4-FFF2-40B4-BE49-F238E27FC236}">
                <a16:creationId xmlns:a16="http://schemas.microsoft.com/office/drawing/2014/main" id="{E1063BC6-DC35-4DEE-8366-3005A3A29302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3063" y="387667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72" name="Line 28">
            <a:extLst>
              <a:ext uri="{FF2B5EF4-FFF2-40B4-BE49-F238E27FC236}">
                <a16:creationId xmlns:a16="http://schemas.microsoft.com/office/drawing/2014/main" id="{A9C31D6E-B92F-492D-9613-528DD782B1E1}"/>
              </a:ext>
            </a:extLst>
          </p:cNvPr>
          <p:cNvSpPr>
            <a:spLocks noChangeShapeType="1"/>
          </p:cNvSpPr>
          <p:nvPr/>
        </p:nvSpPr>
        <p:spPr bwMode="auto">
          <a:xfrm>
            <a:off x="6708775" y="418623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73" name="Line 29">
            <a:extLst>
              <a:ext uri="{FF2B5EF4-FFF2-40B4-BE49-F238E27FC236}">
                <a16:creationId xmlns:a16="http://schemas.microsoft.com/office/drawing/2014/main" id="{0F80A97D-C0FD-4F66-974A-BF80B782AE47}"/>
              </a:ext>
            </a:extLst>
          </p:cNvPr>
          <p:cNvSpPr>
            <a:spLocks noChangeShapeType="1"/>
          </p:cNvSpPr>
          <p:nvPr/>
        </p:nvSpPr>
        <p:spPr bwMode="auto">
          <a:xfrm>
            <a:off x="6708775" y="447198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4074" name="Text Box 26">
            <a:extLst>
              <a:ext uri="{FF2B5EF4-FFF2-40B4-BE49-F238E27FC236}">
                <a16:creationId xmlns:a16="http://schemas.microsoft.com/office/drawing/2014/main" id="{52743445-99A5-446B-A7CD-0868A0BE06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07188" y="27860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44075" name="Text Box 26">
            <a:extLst>
              <a:ext uri="{FF2B5EF4-FFF2-40B4-BE49-F238E27FC236}">
                <a16:creationId xmlns:a16="http://schemas.microsoft.com/office/drawing/2014/main" id="{B54589EC-215F-4E7C-94E6-1878BF11B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2738" y="44434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44076" name="Text Box 26">
            <a:extLst>
              <a:ext uri="{FF2B5EF4-FFF2-40B4-BE49-F238E27FC236}">
                <a16:creationId xmlns:a16="http://schemas.microsoft.com/office/drawing/2014/main" id="{C6581728-A4CF-44B6-A797-C634112A27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1788" y="41576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44077" name="Text Box 26">
            <a:extLst>
              <a:ext uri="{FF2B5EF4-FFF2-40B4-BE49-F238E27FC236}">
                <a16:creationId xmlns:a16="http://schemas.microsoft.com/office/drawing/2014/main" id="{2F01C41B-876E-4239-B524-974776D91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2263" y="38623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44078" name="Oval 153">
            <a:extLst>
              <a:ext uri="{FF2B5EF4-FFF2-40B4-BE49-F238E27FC236}">
                <a16:creationId xmlns:a16="http://schemas.microsoft.com/office/drawing/2014/main" id="{7E28600A-A58C-4D8C-8E60-4756EA34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2150" y="3094038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P4</a:t>
            </a:r>
          </a:p>
        </p:txBody>
      </p:sp>
      <p:sp>
        <p:nvSpPr>
          <p:cNvPr id="44079" name="Freeform 154">
            <a:extLst>
              <a:ext uri="{FF2B5EF4-FFF2-40B4-BE49-F238E27FC236}">
                <a16:creationId xmlns:a16="http://schemas.microsoft.com/office/drawing/2014/main" id="{5C34EF75-ADE2-4AD4-8E7E-5F94F91C081B}"/>
              </a:ext>
            </a:extLst>
          </p:cNvPr>
          <p:cNvSpPr>
            <a:spLocks/>
          </p:cNvSpPr>
          <p:nvPr/>
        </p:nvSpPr>
        <p:spPr bwMode="auto">
          <a:xfrm>
            <a:off x="8002588" y="2762250"/>
            <a:ext cx="504825" cy="2133600"/>
          </a:xfrm>
          <a:custGeom>
            <a:avLst/>
            <a:gdLst>
              <a:gd name="T0" fmla="*/ 2147483646 w 318"/>
              <a:gd name="T1" fmla="*/ 2147483646 h 1344"/>
              <a:gd name="T2" fmla="*/ 2147483646 w 318"/>
              <a:gd name="T3" fmla="*/ 0 h 1344"/>
              <a:gd name="T4" fmla="*/ 0 w 318"/>
              <a:gd name="T5" fmla="*/ 2147483646 h 1344"/>
              <a:gd name="T6" fmla="*/ 2147483646 w 318"/>
              <a:gd name="T7" fmla="*/ 2147483646 h 1344"/>
              <a:gd name="T8" fmla="*/ 2147483646 w 318"/>
              <a:gd name="T9" fmla="*/ 2147483646 h 134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8"/>
              <a:gd name="T16" fmla="*/ 0 h 1344"/>
              <a:gd name="T17" fmla="*/ 318 w 318"/>
              <a:gd name="T18" fmla="*/ 1344 h 134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8" h="1344">
                <a:moveTo>
                  <a:pt x="318" y="1344"/>
                </a:moveTo>
                <a:lnTo>
                  <a:pt x="12" y="0"/>
                </a:lnTo>
                <a:lnTo>
                  <a:pt x="0" y="1224"/>
                </a:lnTo>
                <a:lnTo>
                  <a:pt x="121" y="1344"/>
                </a:lnTo>
                <a:lnTo>
                  <a:pt x="318" y="1344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4" name="Group 156">
            <a:extLst>
              <a:ext uri="{FF2B5EF4-FFF2-40B4-BE49-F238E27FC236}">
                <a16:creationId xmlns:a16="http://schemas.microsoft.com/office/drawing/2014/main" id="{3B14BDCD-CEB8-41A5-9E3C-E3C4AB1B84A1}"/>
              </a:ext>
            </a:extLst>
          </p:cNvPr>
          <p:cNvGrpSpPr>
            <a:grpSpLocks/>
          </p:cNvGrpSpPr>
          <p:nvPr/>
        </p:nvGrpSpPr>
        <p:grpSpPr bwMode="auto">
          <a:xfrm>
            <a:off x="7035800" y="3425825"/>
            <a:ext cx="620713" cy="204788"/>
            <a:chOff x="1287" y="2524"/>
            <a:chExt cx="260" cy="100"/>
          </a:xfrm>
        </p:grpSpPr>
        <p:sp>
          <p:nvSpPr>
            <p:cNvPr id="44150" name="Rectangle 157">
              <a:extLst>
                <a:ext uri="{FF2B5EF4-FFF2-40B4-BE49-F238E27FC236}">
                  <a16:creationId xmlns:a16="http://schemas.microsoft.com/office/drawing/2014/main" id="{C6ADA412-5C05-4F0C-BA5F-D9AE082D76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51" name="Rectangle 158">
              <a:extLst>
                <a:ext uri="{FF2B5EF4-FFF2-40B4-BE49-F238E27FC236}">
                  <a16:creationId xmlns:a16="http://schemas.microsoft.com/office/drawing/2014/main" id="{720E431F-B9AE-4EE7-B76B-CAD90B987C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52" name="Rectangle 159">
              <a:extLst>
                <a:ext uri="{FF2B5EF4-FFF2-40B4-BE49-F238E27FC236}">
                  <a16:creationId xmlns:a16="http://schemas.microsoft.com/office/drawing/2014/main" id="{E1F6B73A-DFBF-42FB-BE5E-2D72D6ED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53" name="Rectangle 160">
              <a:extLst>
                <a:ext uri="{FF2B5EF4-FFF2-40B4-BE49-F238E27FC236}">
                  <a16:creationId xmlns:a16="http://schemas.microsoft.com/office/drawing/2014/main" id="{47800CFF-22DC-409C-9156-ACBC65ABE5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241837" name="Rectangle 173">
            <a:extLst>
              <a:ext uri="{FF2B5EF4-FFF2-40B4-BE49-F238E27FC236}">
                <a16:creationId xmlns:a16="http://schemas.microsoft.com/office/drawing/2014/main" id="{637D6293-F913-4911-B400-798EE2FFB4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2675" y="1752600"/>
            <a:ext cx="2659063" cy="655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115888" indent="-11588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1800" b="1">
                <a:latin typeface="Courier New" panose="02070309020205020404" pitchFamily="49" charset="0"/>
              </a:rPr>
              <a:t>DatagramSocket mySocket1 = new DatagramSocket (</a:t>
            </a:r>
            <a:r>
              <a:rPr lang="en-US" altLang="zh-TW" sz="1800" b="1">
                <a:solidFill>
                  <a:srgbClr val="CC0000"/>
                </a:solidFill>
                <a:latin typeface="Courier New" panose="02070309020205020404" pitchFamily="49" charset="0"/>
              </a:rPr>
              <a:t>5775</a:t>
            </a:r>
            <a:r>
              <a:rPr lang="en-US" altLang="zh-TW" sz="1800" b="1">
                <a:latin typeface="Courier New" panose="02070309020205020404" pitchFamily="49" charset="0"/>
              </a:rPr>
              <a:t>);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1800">
              <a:latin typeface="Courier New" panose="02070309020205020404" pitchFamily="49" charset="0"/>
            </a:endParaRPr>
          </a:p>
        </p:txBody>
      </p:sp>
      <p:sp>
        <p:nvSpPr>
          <p:cNvPr id="241838" name="Rectangle 174">
            <a:extLst>
              <a:ext uri="{FF2B5EF4-FFF2-40B4-BE49-F238E27FC236}">
                <a16:creationId xmlns:a16="http://schemas.microsoft.com/office/drawing/2014/main" id="{CCE22DB8-32E6-4A45-8821-2B5157D07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" y="1703388"/>
            <a:ext cx="2613025" cy="655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115888" indent="-11588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1800" b="1">
                <a:latin typeface="Courier New" panose="02070309020205020404" pitchFamily="49" charset="0"/>
              </a:rPr>
              <a:t>DatagramSocket mySocket2 = new DatagramSocket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1800" b="1">
                <a:latin typeface="Courier New" panose="02070309020205020404" pitchFamily="49" charset="0"/>
              </a:rPr>
              <a:t> (</a:t>
            </a:r>
            <a:r>
              <a:rPr lang="en-US" altLang="zh-TW" sz="1800" b="1">
                <a:solidFill>
                  <a:srgbClr val="CC0000"/>
                </a:solidFill>
                <a:latin typeface="Courier New" panose="02070309020205020404" pitchFamily="49" charset="0"/>
              </a:rPr>
              <a:t>9157</a:t>
            </a:r>
            <a:r>
              <a:rPr lang="en-US" altLang="zh-TW" sz="1800" b="1">
                <a:latin typeface="Courier New" panose="02070309020205020404" pitchFamily="49" charset="0"/>
              </a:rPr>
              <a:t>);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000">
              <a:latin typeface="Courier New" panose="02070309020205020404" pitchFamily="49" charset="0"/>
            </a:endParaRPr>
          </a:p>
        </p:txBody>
      </p:sp>
      <p:sp>
        <p:nvSpPr>
          <p:cNvPr id="241841" name="Line 177">
            <a:extLst>
              <a:ext uri="{FF2B5EF4-FFF2-40B4-BE49-F238E27FC236}">
                <a16:creationId xmlns:a16="http://schemas.microsoft.com/office/drawing/2014/main" id="{8055A391-0925-49E0-90DB-6C2B003F3F09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2875" y="3506788"/>
            <a:ext cx="0" cy="2176462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42" name="Line 178">
            <a:extLst>
              <a:ext uri="{FF2B5EF4-FFF2-40B4-BE49-F238E27FC236}">
                <a16:creationId xmlns:a16="http://schemas.microsoft.com/office/drawing/2014/main" id="{17CA05B6-DE62-4CA6-B0E9-E3B0F7ABBBD7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3400" y="3265488"/>
            <a:ext cx="12700" cy="2408237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44" name="Line 180">
            <a:extLst>
              <a:ext uri="{FF2B5EF4-FFF2-40B4-BE49-F238E27FC236}">
                <a16:creationId xmlns:a16="http://schemas.microsoft.com/office/drawing/2014/main" id="{37D39A2C-2D05-492E-BC31-036FD7B9ACE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2875" y="5665788"/>
            <a:ext cx="2936875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45" name="Line 181">
            <a:extLst>
              <a:ext uri="{FF2B5EF4-FFF2-40B4-BE49-F238E27FC236}">
                <a16:creationId xmlns:a16="http://schemas.microsoft.com/office/drawing/2014/main" id="{6E26CBBA-40DE-41AA-912B-BC5AF41A5E7B}"/>
              </a:ext>
            </a:extLst>
          </p:cNvPr>
          <p:cNvSpPr>
            <a:spLocks noChangeShapeType="1"/>
          </p:cNvSpPr>
          <p:nvPr/>
        </p:nvSpPr>
        <p:spPr bwMode="auto">
          <a:xfrm>
            <a:off x="4219575" y="3278188"/>
            <a:ext cx="0" cy="2246312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46" name="Line 182">
            <a:extLst>
              <a:ext uri="{FF2B5EF4-FFF2-40B4-BE49-F238E27FC236}">
                <a16:creationId xmlns:a16="http://schemas.microsoft.com/office/drawing/2014/main" id="{01F610A7-309E-4936-BCE3-8901AD56B1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520825" y="5507038"/>
            <a:ext cx="2740025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47" name="Line 183">
            <a:extLst>
              <a:ext uri="{FF2B5EF4-FFF2-40B4-BE49-F238E27FC236}">
                <a16:creationId xmlns:a16="http://schemas.microsoft.com/office/drawing/2014/main" id="{2703F0A1-4F55-4A19-981D-72E826D170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514475" y="3494088"/>
            <a:ext cx="12700" cy="2017712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48" name="Line 184">
            <a:extLst>
              <a:ext uri="{FF2B5EF4-FFF2-40B4-BE49-F238E27FC236}">
                <a16:creationId xmlns:a16="http://schemas.microsoft.com/office/drawing/2014/main" id="{7B0C9983-9253-471A-ADFD-53AD533D7407}"/>
              </a:ext>
            </a:extLst>
          </p:cNvPr>
          <p:cNvSpPr>
            <a:spLocks noChangeShapeType="1"/>
          </p:cNvSpPr>
          <p:nvPr/>
        </p:nvSpPr>
        <p:spPr bwMode="auto">
          <a:xfrm>
            <a:off x="7423150" y="3544888"/>
            <a:ext cx="0" cy="2176462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49" name="Line 185">
            <a:extLst>
              <a:ext uri="{FF2B5EF4-FFF2-40B4-BE49-F238E27FC236}">
                <a16:creationId xmlns:a16="http://schemas.microsoft.com/office/drawing/2014/main" id="{C0215038-A188-4683-960A-C98FCBA2C0C6}"/>
              </a:ext>
            </a:extLst>
          </p:cNvPr>
          <p:cNvSpPr>
            <a:spLocks noChangeShapeType="1"/>
          </p:cNvSpPr>
          <p:nvPr/>
        </p:nvSpPr>
        <p:spPr bwMode="auto">
          <a:xfrm>
            <a:off x="7305675" y="3513138"/>
            <a:ext cx="12700" cy="2017712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50" name="Line 186">
            <a:extLst>
              <a:ext uri="{FF2B5EF4-FFF2-40B4-BE49-F238E27FC236}">
                <a16:creationId xmlns:a16="http://schemas.microsoft.com/office/drawing/2014/main" id="{DA4ADC89-CDD1-49E2-B2A0-574891676A09}"/>
              </a:ext>
            </a:extLst>
          </p:cNvPr>
          <p:cNvSpPr>
            <a:spLocks noChangeShapeType="1"/>
          </p:cNvSpPr>
          <p:nvPr/>
        </p:nvSpPr>
        <p:spPr bwMode="auto">
          <a:xfrm>
            <a:off x="4486275" y="3284538"/>
            <a:ext cx="12700" cy="2408237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51" name="Line 187">
            <a:extLst>
              <a:ext uri="{FF2B5EF4-FFF2-40B4-BE49-F238E27FC236}">
                <a16:creationId xmlns:a16="http://schemas.microsoft.com/office/drawing/2014/main" id="{CD4356CB-EE6B-43F2-B264-A2086FBEC80A}"/>
              </a:ext>
            </a:extLst>
          </p:cNvPr>
          <p:cNvSpPr>
            <a:spLocks noChangeShapeType="1"/>
          </p:cNvSpPr>
          <p:nvPr/>
        </p:nvSpPr>
        <p:spPr bwMode="auto">
          <a:xfrm>
            <a:off x="4619625" y="3297238"/>
            <a:ext cx="0" cy="2246312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52" name="Line 188">
            <a:extLst>
              <a:ext uri="{FF2B5EF4-FFF2-40B4-BE49-F238E27FC236}">
                <a16:creationId xmlns:a16="http://schemas.microsoft.com/office/drawing/2014/main" id="{A9D9AF29-365C-4B85-859A-1E018F8A193F}"/>
              </a:ext>
            </a:extLst>
          </p:cNvPr>
          <p:cNvSpPr>
            <a:spLocks noChangeShapeType="1"/>
          </p:cNvSpPr>
          <p:nvPr/>
        </p:nvSpPr>
        <p:spPr bwMode="auto">
          <a:xfrm>
            <a:off x="4508500" y="5684838"/>
            <a:ext cx="2936875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41853" name="Line 189">
            <a:extLst>
              <a:ext uri="{FF2B5EF4-FFF2-40B4-BE49-F238E27FC236}">
                <a16:creationId xmlns:a16="http://schemas.microsoft.com/office/drawing/2014/main" id="{75A8EEAD-1921-47AD-84F5-EB26FCF9400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94225" y="5516563"/>
            <a:ext cx="2740025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5" name="Group 196">
            <a:extLst>
              <a:ext uri="{FF2B5EF4-FFF2-40B4-BE49-F238E27FC236}">
                <a16:creationId xmlns:a16="http://schemas.microsoft.com/office/drawing/2014/main" id="{39E826C1-AAEB-45AC-B1BE-DBB1971DD29F}"/>
              </a:ext>
            </a:extLst>
          </p:cNvPr>
          <p:cNvGrpSpPr>
            <a:grpSpLocks/>
          </p:cNvGrpSpPr>
          <p:nvPr/>
        </p:nvGrpSpPr>
        <p:grpSpPr bwMode="auto">
          <a:xfrm>
            <a:off x="1130300" y="5765800"/>
            <a:ext cx="1644650" cy="652463"/>
            <a:chOff x="1318" y="3697"/>
            <a:chExt cx="1036" cy="411"/>
          </a:xfrm>
        </p:grpSpPr>
        <p:sp>
          <p:nvSpPr>
            <p:cNvPr id="44147" name="Rectangle 193">
              <a:extLst>
                <a:ext uri="{FF2B5EF4-FFF2-40B4-BE49-F238E27FC236}">
                  <a16:creationId xmlns:a16="http://schemas.microsoft.com/office/drawing/2014/main" id="{D022E5A4-DC3D-4AE0-BD06-6CEFE8D073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3" y="3697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48" name="Line 194">
              <a:extLst>
                <a:ext uri="{FF2B5EF4-FFF2-40B4-BE49-F238E27FC236}">
                  <a16:creationId xmlns:a16="http://schemas.microsoft.com/office/drawing/2014/main" id="{7EC8B320-3F75-4BA4-82A1-3B342DF43C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" y="3770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4149" name="Text Box 195">
              <a:extLst>
                <a:ext uri="{FF2B5EF4-FFF2-40B4-BE49-F238E27FC236}">
                  <a16:creationId xmlns:a16="http://schemas.microsoft.com/office/drawing/2014/main" id="{91AA729E-BCB8-49EC-8F24-669552A667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8" y="3822"/>
              <a:ext cx="994" cy="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source port: 9157</a:t>
              </a:r>
            </a:p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dest port: 6428</a:t>
              </a:r>
            </a:p>
          </p:txBody>
        </p:sp>
      </p:grpSp>
      <p:grpSp>
        <p:nvGrpSpPr>
          <p:cNvPr id="6" name="Group 201">
            <a:extLst>
              <a:ext uri="{FF2B5EF4-FFF2-40B4-BE49-F238E27FC236}">
                <a16:creationId xmlns:a16="http://schemas.microsoft.com/office/drawing/2014/main" id="{68CA831F-7746-4B21-A3C8-5639E1DF8A86}"/>
              </a:ext>
            </a:extLst>
          </p:cNvPr>
          <p:cNvGrpSpPr>
            <a:grpSpLocks/>
          </p:cNvGrpSpPr>
          <p:nvPr/>
        </p:nvGrpSpPr>
        <p:grpSpPr bwMode="auto">
          <a:xfrm>
            <a:off x="2428875" y="4889500"/>
            <a:ext cx="1692275" cy="652463"/>
            <a:chOff x="2741" y="3750"/>
            <a:chExt cx="1066" cy="411"/>
          </a:xfrm>
        </p:grpSpPr>
        <p:sp>
          <p:nvSpPr>
            <p:cNvPr id="44144" name="Rectangle 198">
              <a:extLst>
                <a:ext uri="{FF2B5EF4-FFF2-40B4-BE49-F238E27FC236}">
                  <a16:creationId xmlns:a16="http://schemas.microsoft.com/office/drawing/2014/main" id="{2362684F-F6FA-4E5C-96F6-E270B6F39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45" name="Line 199">
              <a:extLst>
                <a:ext uri="{FF2B5EF4-FFF2-40B4-BE49-F238E27FC236}">
                  <a16:creationId xmlns:a16="http://schemas.microsoft.com/office/drawing/2014/main" id="{C5B9431F-DC83-4729-BBA2-805A527C9CB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37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4146" name="Text Box 200">
              <a:extLst>
                <a:ext uri="{FF2B5EF4-FFF2-40B4-BE49-F238E27FC236}">
                  <a16:creationId xmlns:a16="http://schemas.microsoft.com/office/drawing/2014/main" id="{862F1297-38E7-42C0-A3FE-D03F2642E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994" cy="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source port: 6428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dest port: 9157</a:t>
              </a:r>
            </a:p>
          </p:txBody>
        </p:sp>
      </p:grpSp>
      <p:grpSp>
        <p:nvGrpSpPr>
          <p:cNvPr id="7" name="Group 202">
            <a:extLst>
              <a:ext uri="{FF2B5EF4-FFF2-40B4-BE49-F238E27FC236}">
                <a16:creationId xmlns:a16="http://schemas.microsoft.com/office/drawing/2014/main" id="{CD96C755-5490-48F5-BD38-D7FFED991B84}"/>
              </a:ext>
            </a:extLst>
          </p:cNvPr>
          <p:cNvGrpSpPr>
            <a:grpSpLocks/>
          </p:cNvGrpSpPr>
          <p:nvPr/>
        </p:nvGrpSpPr>
        <p:grpSpPr bwMode="auto">
          <a:xfrm>
            <a:off x="5137150" y="4889500"/>
            <a:ext cx="1657350" cy="657225"/>
            <a:chOff x="1310" y="3697"/>
            <a:chExt cx="1044" cy="414"/>
          </a:xfrm>
        </p:grpSpPr>
        <p:sp>
          <p:nvSpPr>
            <p:cNvPr id="44141" name="Rectangle 203">
              <a:extLst>
                <a:ext uri="{FF2B5EF4-FFF2-40B4-BE49-F238E27FC236}">
                  <a16:creationId xmlns:a16="http://schemas.microsoft.com/office/drawing/2014/main" id="{A906A195-D4CF-4B5B-ACF3-C1A50F69FB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3" y="3697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42" name="Line 204">
              <a:extLst>
                <a:ext uri="{FF2B5EF4-FFF2-40B4-BE49-F238E27FC236}">
                  <a16:creationId xmlns:a16="http://schemas.microsoft.com/office/drawing/2014/main" id="{E052A52C-0235-4CEA-9697-B167807BFF2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" y="3770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4143" name="Text Box 205">
              <a:extLst>
                <a:ext uri="{FF2B5EF4-FFF2-40B4-BE49-F238E27FC236}">
                  <a16:creationId xmlns:a16="http://schemas.microsoft.com/office/drawing/2014/main" id="{177FAB82-1E88-4758-A4E9-FAEE684C2D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0" y="3822"/>
              <a:ext cx="1002" cy="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source port: 6428</a:t>
              </a:r>
            </a:p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dest port: 5775</a:t>
              </a:r>
            </a:p>
          </p:txBody>
        </p:sp>
      </p:grpSp>
      <p:grpSp>
        <p:nvGrpSpPr>
          <p:cNvPr id="8" name="Group 206">
            <a:extLst>
              <a:ext uri="{FF2B5EF4-FFF2-40B4-BE49-F238E27FC236}">
                <a16:creationId xmlns:a16="http://schemas.microsoft.com/office/drawing/2014/main" id="{C4EA77CF-EF57-4713-8646-24296FFB7918}"/>
              </a:ext>
            </a:extLst>
          </p:cNvPr>
          <p:cNvGrpSpPr>
            <a:grpSpLocks/>
          </p:cNvGrpSpPr>
          <p:nvPr/>
        </p:nvGrpSpPr>
        <p:grpSpPr bwMode="auto">
          <a:xfrm>
            <a:off x="4694238" y="5743575"/>
            <a:ext cx="1704975" cy="657225"/>
            <a:chOff x="2741" y="3750"/>
            <a:chExt cx="1074" cy="414"/>
          </a:xfrm>
        </p:grpSpPr>
        <p:sp>
          <p:nvSpPr>
            <p:cNvPr id="44138" name="Rectangle 207">
              <a:extLst>
                <a:ext uri="{FF2B5EF4-FFF2-40B4-BE49-F238E27FC236}">
                  <a16:creationId xmlns:a16="http://schemas.microsoft.com/office/drawing/2014/main" id="{E24D7023-7310-4939-8076-7F2A271B7E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39" name="Line 208">
              <a:extLst>
                <a:ext uri="{FF2B5EF4-FFF2-40B4-BE49-F238E27FC236}">
                  <a16:creationId xmlns:a16="http://schemas.microsoft.com/office/drawing/2014/main" id="{F45BD634-D152-4C94-A257-7D296DDE9D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37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4140" name="Text Box 209">
              <a:extLst>
                <a:ext uri="{FF2B5EF4-FFF2-40B4-BE49-F238E27FC236}">
                  <a16:creationId xmlns:a16="http://schemas.microsoft.com/office/drawing/2014/main" id="{53246C48-86F8-4D62-B17A-8035723326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1002" cy="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source port: 5775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dest port: 6428</a:t>
              </a:r>
            </a:p>
          </p:txBody>
        </p:sp>
      </p:grpSp>
      <p:grpSp>
        <p:nvGrpSpPr>
          <p:cNvPr id="44099" name="Group 214">
            <a:extLst>
              <a:ext uri="{FF2B5EF4-FFF2-40B4-BE49-F238E27FC236}">
                <a16:creationId xmlns:a16="http://schemas.microsoft.com/office/drawing/2014/main" id="{2CA819D6-902E-449C-9A2F-FCDA845CC9FA}"/>
              </a:ext>
            </a:extLst>
          </p:cNvPr>
          <p:cNvGrpSpPr>
            <a:grpSpLocks/>
          </p:cNvGrpSpPr>
          <p:nvPr/>
        </p:nvGrpSpPr>
        <p:grpSpPr bwMode="auto">
          <a:xfrm>
            <a:off x="0" y="4381500"/>
            <a:ext cx="711200" cy="669925"/>
            <a:chOff x="-44" y="1473"/>
            <a:chExt cx="981" cy="1105"/>
          </a:xfrm>
        </p:grpSpPr>
        <p:pic>
          <p:nvPicPr>
            <p:cNvPr id="44136" name="Picture 215" descr="desktop_computer_stylized_medium">
              <a:extLst>
                <a:ext uri="{FF2B5EF4-FFF2-40B4-BE49-F238E27FC236}">
                  <a16:creationId xmlns:a16="http://schemas.microsoft.com/office/drawing/2014/main" id="{4142D113-3664-4E23-942D-508D0D7AC1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137" name="Freeform 216">
              <a:extLst>
                <a:ext uri="{FF2B5EF4-FFF2-40B4-BE49-F238E27FC236}">
                  <a16:creationId xmlns:a16="http://schemas.microsoft.com/office/drawing/2014/main" id="{A2BC9A46-F354-4121-BACF-F6880FA5DFA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4100" name="Group 217">
            <a:extLst>
              <a:ext uri="{FF2B5EF4-FFF2-40B4-BE49-F238E27FC236}">
                <a16:creationId xmlns:a16="http://schemas.microsoft.com/office/drawing/2014/main" id="{2CDF1D45-C712-4AE7-9E79-96EA6B5449F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269288" y="4505325"/>
            <a:ext cx="711200" cy="669925"/>
            <a:chOff x="-44" y="1473"/>
            <a:chExt cx="981" cy="1105"/>
          </a:xfrm>
        </p:grpSpPr>
        <p:pic>
          <p:nvPicPr>
            <p:cNvPr id="44134" name="Picture 218" descr="desktop_computer_stylized_medium">
              <a:extLst>
                <a:ext uri="{FF2B5EF4-FFF2-40B4-BE49-F238E27FC236}">
                  <a16:creationId xmlns:a16="http://schemas.microsoft.com/office/drawing/2014/main" id="{E0FB2327-6620-4223-AA6A-CE61010ACD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135" name="Freeform 219">
              <a:extLst>
                <a:ext uri="{FF2B5EF4-FFF2-40B4-BE49-F238E27FC236}">
                  <a16:creationId xmlns:a16="http://schemas.microsoft.com/office/drawing/2014/main" id="{D2CD284A-0A1B-48EB-AFA9-97015864512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4101" name="Group 220">
            <a:extLst>
              <a:ext uri="{FF2B5EF4-FFF2-40B4-BE49-F238E27FC236}">
                <a16:creationId xmlns:a16="http://schemas.microsoft.com/office/drawing/2014/main" id="{F1B06582-2732-48A5-A559-62866AD93EF7}"/>
              </a:ext>
            </a:extLst>
          </p:cNvPr>
          <p:cNvGrpSpPr>
            <a:grpSpLocks/>
          </p:cNvGrpSpPr>
          <p:nvPr/>
        </p:nvGrpSpPr>
        <p:grpSpPr bwMode="auto">
          <a:xfrm>
            <a:off x="3092450" y="3903663"/>
            <a:ext cx="358775" cy="704850"/>
            <a:chOff x="4140" y="429"/>
            <a:chExt cx="1425" cy="2396"/>
          </a:xfrm>
        </p:grpSpPr>
        <p:sp>
          <p:nvSpPr>
            <p:cNvPr id="44102" name="Freeform 221">
              <a:extLst>
                <a:ext uri="{FF2B5EF4-FFF2-40B4-BE49-F238E27FC236}">
                  <a16:creationId xmlns:a16="http://schemas.microsoft.com/office/drawing/2014/main" id="{D3B185F5-046E-49A9-A724-8A4FE47418A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103" name="Rectangle 222">
              <a:extLst>
                <a:ext uri="{FF2B5EF4-FFF2-40B4-BE49-F238E27FC236}">
                  <a16:creationId xmlns:a16="http://schemas.microsoft.com/office/drawing/2014/main" id="{95CF05C3-DA82-4D98-8356-AE012D8B4C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3" y="429"/>
              <a:ext cx="1053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04" name="Freeform 223">
              <a:extLst>
                <a:ext uri="{FF2B5EF4-FFF2-40B4-BE49-F238E27FC236}">
                  <a16:creationId xmlns:a16="http://schemas.microsoft.com/office/drawing/2014/main" id="{C298CDAC-31AC-4F06-856C-E8CA9D7C848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105" name="Freeform 224">
              <a:extLst>
                <a:ext uri="{FF2B5EF4-FFF2-40B4-BE49-F238E27FC236}">
                  <a16:creationId xmlns:a16="http://schemas.microsoft.com/office/drawing/2014/main" id="{7F056C87-E351-425A-85A3-FE0C9A2D5C9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106" name="Rectangle 225">
              <a:extLst>
                <a:ext uri="{FF2B5EF4-FFF2-40B4-BE49-F238E27FC236}">
                  <a16:creationId xmlns:a16="http://schemas.microsoft.com/office/drawing/2014/main" id="{FACDA5D7-2078-4809-87AF-5283A2FDB6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3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44107" name="Group 226">
              <a:extLst>
                <a:ext uri="{FF2B5EF4-FFF2-40B4-BE49-F238E27FC236}">
                  <a16:creationId xmlns:a16="http://schemas.microsoft.com/office/drawing/2014/main" id="{533DA026-C2A3-4013-89B2-0A9B485DFF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4132" name="AutoShape 227">
                <a:extLst>
                  <a:ext uri="{FF2B5EF4-FFF2-40B4-BE49-F238E27FC236}">
                    <a16:creationId xmlns:a16="http://schemas.microsoft.com/office/drawing/2014/main" id="{D300DC9C-26B5-4735-891E-ED43011D10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4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4133" name="AutoShape 228">
                <a:extLst>
                  <a:ext uri="{FF2B5EF4-FFF2-40B4-BE49-F238E27FC236}">
                    <a16:creationId xmlns:a16="http://schemas.microsoft.com/office/drawing/2014/main" id="{7FEB90D9-0311-451B-930D-4D3F531736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2"/>
                <a:ext cx="692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4108" name="Rectangle 229">
              <a:extLst>
                <a:ext uri="{FF2B5EF4-FFF2-40B4-BE49-F238E27FC236}">
                  <a16:creationId xmlns:a16="http://schemas.microsoft.com/office/drawing/2014/main" id="{91445F35-ED4A-47B3-B842-25D8920910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2" y="1017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44109" name="Group 230">
              <a:extLst>
                <a:ext uri="{FF2B5EF4-FFF2-40B4-BE49-F238E27FC236}">
                  <a16:creationId xmlns:a16="http://schemas.microsoft.com/office/drawing/2014/main" id="{09AB815D-6DF6-4102-B9ED-DA3375C2EB4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4130" name="AutoShape 231">
                <a:extLst>
                  <a:ext uri="{FF2B5EF4-FFF2-40B4-BE49-F238E27FC236}">
                    <a16:creationId xmlns:a16="http://schemas.microsoft.com/office/drawing/2014/main" id="{1888D2B7-580D-46C6-A74F-62EB0D8D4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24" cy="15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4131" name="AutoShape 232">
                <a:extLst>
                  <a:ext uri="{FF2B5EF4-FFF2-40B4-BE49-F238E27FC236}">
                    <a16:creationId xmlns:a16="http://schemas.microsoft.com/office/drawing/2014/main" id="{EF805BC4-5FC0-49E9-957E-2DE201134F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2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4110" name="Rectangle 233">
              <a:extLst>
                <a:ext uri="{FF2B5EF4-FFF2-40B4-BE49-F238E27FC236}">
                  <a16:creationId xmlns:a16="http://schemas.microsoft.com/office/drawing/2014/main" id="{4885D52E-FCB1-472E-ADCC-A1D709160A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6" y="1357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11" name="Rectangle 234">
              <a:extLst>
                <a:ext uri="{FF2B5EF4-FFF2-40B4-BE49-F238E27FC236}">
                  <a16:creationId xmlns:a16="http://schemas.microsoft.com/office/drawing/2014/main" id="{6F299631-477A-4067-B978-1AAB2BD99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4"/>
              <a:ext cx="593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44112" name="Group 235">
              <a:extLst>
                <a:ext uri="{FF2B5EF4-FFF2-40B4-BE49-F238E27FC236}">
                  <a16:creationId xmlns:a16="http://schemas.microsoft.com/office/drawing/2014/main" id="{B9CFC478-4BFF-4CB1-8238-01E64178AF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4128" name="AutoShape 236">
                <a:extLst>
                  <a:ext uri="{FF2B5EF4-FFF2-40B4-BE49-F238E27FC236}">
                    <a16:creationId xmlns:a16="http://schemas.microsoft.com/office/drawing/2014/main" id="{68C2F321-C5D7-439E-A063-942A80BDB7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4129" name="AutoShape 237">
                <a:extLst>
                  <a:ext uri="{FF2B5EF4-FFF2-40B4-BE49-F238E27FC236}">
                    <a16:creationId xmlns:a16="http://schemas.microsoft.com/office/drawing/2014/main" id="{26C964A7-9E47-483F-B5A1-745A69D763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9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4113" name="Freeform 238">
              <a:extLst>
                <a:ext uri="{FF2B5EF4-FFF2-40B4-BE49-F238E27FC236}">
                  <a16:creationId xmlns:a16="http://schemas.microsoft.com/office/drawing/2014/main" id="{53F46E31-0308-432C-813C-AC0E0DB70EE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4114" name="Group 239">
              <a:extLst>
                <a:ext uri="{FF2B5EF4-FFF2-40B4-BE49-F238E27FC236}">
                  <a16:creationId xmlns:a16="http://schemas.microsoft.com/office/drawing/2014/main" id="{4FD363BB-5A51-4ADA-83A4-A0522CE284D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4126" name="AutoShape 240">
                <a:extLst>
                  <a:ext uri="{FF2B5EF4-FFF2-40B4-BE49-F238E27FC236}">
                    <a16:creationId xmlns:a16="http://schemas.microsoft.com/office/drawing/2014/main" id="{A9263117-977A-4B2A-9FC2-221DF064B4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3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4127" name="AutoShape 241">
                <a:extLst>
                  <a:ext uri="{FF2B5EF4-FFF2-40B4-BE49-F238E27FC236}">
                    <a16:creationId xmlns:a16="http://schemas.microsoft.com/office/drawing/2014/main" id="{DDD25DE3-83AB-413B-AF8A-17B3D485D7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1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4115" name="Rectangle 242">
              <a:extLst>
                <a:ext uri="{FF2B5EF4-FFF2-40B4-BE49-F238E27FC236}">
                  <a16:creationId xmlns:a16="http://schemas.microsoft.com/office/drawing/2014/main" id="{B0833734-FF48-41D6-9A4A-9BD293975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88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16" name="Freeform 243">
              <a:extLst>
                <a:ext uri="{FF2B5EF4-FFF2-40B4-BE49-F238E27FC236}">
                  <a16:creationId xmlns:a16="http://schemas.microsoft.com/office/drawing/2014/main" id="{AD37BAB8-E155-485B-9237-6A4CE33971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117" name="Freeform 244">
              <a:extLst>
                <a:ext uri="{FF2B5EF4-FFF2-40B4-BE49-F238E27FC236}">
                  <a16:creationId xmlns:a16="http://schemas.microsoft.com/office/drawing/2014/main" id="{56913E23-5C8F-4158-95FB-4F98FC3817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118" name="Oval 245">
              <a:extLst>
                <a:ext uri="{FF2B5EF4-FFF2-40B4-BE49-F238E27FC236}">
                  <a16:creationId xmlns:a16="http://schemas.microsoft.com/office/drawing/2014/main" id="{7AD20891-2E0B-48B2-B29B-A5610428B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09"/>
              <a:ext cx="50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19" name="Freeform 246">
              <a:extLst>
                <a:ext uri="{FF2B5EF4-FFF2-40B4-BE49-F238E27FC236}">
                  <a16:creationId xmlns:a16="http://schemas.microsoft.com/office/drawing/2014/main" id="{2A8ADDE8-1F86-4756-A0B4-DF66E114E47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120" name="AutoShape 247">
              <a:extLst>
                <a:ext uri="{FF2B5EF4-FFF2-40B4-BE49-F238E27FC236}">
                  <a16:creationId xmlns:a16="http://schemas.microsoft.com/office/drawing/2014/main" id="{E850BBDC-58CE-4830-9D22-454CC6676B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198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21" name="AutoShape 248">
              <a:extLst>
                <a:ext uri="{FF2B5EF4-FFF2-40B4-BE49-F238E27FC236}">
                  <a16:creationId xmlns:a16="http://schemas.microsoft.com/office/drawing/2014/main" id="{8406B088-CB02-439D-A3C9-835BDA3E29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3" y="2712"/>
              <a:ext cx="1072" cy="81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22" name="Oval 249">
              <a:extLst>
                <a:ext uri="{FF2B5EF4-FFF2-40B4-BE49-F238E27FC236}">
                  <a16:creationId xmlns:a16="http://schemas.microsoft.com/office/drawing/2014/main" id="{66C32548-47F1-4162-AEC9-8B1A36DC4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2"/>
              <a:ext cx="158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23" name="Oval 250">
              <a:extLst>
                <a:ext uri="{FF2B5EF4-FFF2-40B4-BE49-F238E27FC236}">
                  <a16:creationId xmlns:a16="http://schemas.microsoft.com/office/drawing/2014/main" id="{E8D4949B-DD5A-4145-B6E0-4B4802492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58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124" name="Oval 251">
              <a:extLst>
                <a:ext uri="{FF2B5EF4-FFF2-40B4-BE49-F238E27FC236}">
                  <a16:creationId xmlns:a16="http://schemas.microsoft.com/office/drawing/2014/main" id="{EFC1E012-355E-4910-97CD-6A635B7A78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82"/>
              <a:ext cx="158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4125" name="Rectangle 252">
              <a:extLst>
                <a:ext uri="{FF2B5EF4-FFF2-40B4-BE49-F238E27FC236}">
                  <a16:creationId xmlns:a16="http://schemas.microsoft.com/office/drawing/2014/main" id="{559AD385-82FF-4E92-B9FB-A2E7D5C8B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7"/>
              <a:ext cx="88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7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7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418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41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418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418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418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241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2418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418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6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2418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7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2418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7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2418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8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2418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1708" grpId="0" build="p"/>
      <p:bldP spid="2418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Footer Placeholder 5">
            <a:extLst>
              <a:ext uri="{FF2B5EF4-FFF2-40B4-BE49-F238E27FC236}">
                <a16:creationId xmlns:a16="http://schemas.microsoft.com/office/drawing/2014/main" id="{6B0087FA-86BB-40DD-A75C-01D94AB1A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45059" name="Slide Number Placeholder 6">
            <a:extLst>
              <a:ext uri="{FF2B5EF4-FFF2-40B4-BE49-F238E27FC236}">
                <a16:creationId xmlns:a16="http://schemas.microsoft.com/office/drawing/2014/main" id="{D8C49F2F-D7FF-4BB2-BA19-4F6800A4C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1078FEAE-F60C-4A05-AB52-4FD5C6EC97D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2292" name="Rectangle 2">
            <a:extLst>
              <a:ext uri="{FF2B5EF4-FFF2-40B4-BE49-F238E27FC236}">
                <a16:creationId xmlns:a16="http://schemas.microsoft.com/office/drawing/2014/main" id="{2C73F51F-8AD2-44B7-8387-ED56868E90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TCP Connection-oriented demux</a:t>
            </a:r>
          </a:p>
        </p:txBody>
      </p:sp>
      <p:sp>
        <p:nvSpPr>
          <p:cNvPr id="12293" name="Rectangle 3">
            <a:extLst>
              <a:ext uri="{FF2B5EF4-FFF2-40B4-BE49-F238E27FC236}">
                <a16:creationId xmlns:a16="http://schemas.microsoft.com/office/drawing/2014/main" id="{22AD8AD5-AC32-4B52-85E6-6427C66B49A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81000" y="1600200"/>
            <a:ext cx="3962400" cy="46482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TCP socket identified by 4-tuple: 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</a:rPr>
              <a:t>source IP address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</a:rPr>
              <a:t>source port number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</a:rPr>
              <a:t>dest IP address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</a:rPr>
              <a:t>dest port number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demux: receiver uses all four values to direct segment to appropriate socket</a:t>
            </a:r>
          </a:p>
        </p:txBody>
      </p:sp>
      <p:sp>
        <p:nvSpPr>
          <p:cNvPr id="12294" name="Rectangle 4">
            <a:extLst>
              <a:ext uri="{FF2B5EF4-FFF2-40B4-BE49-F238E27FC236}">
                <a16:creationId xmlns:a16="http://schemas.microsoft.com/office/drawing/2014/main" id="{4C98294E-A31F-4F8C-BCDC-5AA5F7F8E668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508500" y="1587500"/>
            <a:ext cx="4114800" cy="46482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server host may support many </a:t>
            </a: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simultaneous</a:t>
            </a:r>
            <a:r>
              <a:rPr lang="en-US" dirty="0">
                <a:ea typeface="ＭＳ Ｐゴシック" charset="0"/>
                <a:cs typeface="+mn-cs"/>
              </a:rPr>
              <a:t> </a:t>
            </a: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TCP sockets</a:t>
            </a:r>
            <a:r>
              <a:rPr lang="en-US" dirty="0">
                <a:ea typeface="ＭＳ Ｐゴシック" charset="0"/>
                <a:cs typeface="+mn-cs"/>
              </a:rPr>
              <a:t>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each socket identified by its own 4-tuple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  <a:cs typeface="+mn-cs"/>
              </a:rPr>
              <a:t>web servers have different sockets for each connecting client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non-persistent HTTP </a:t>
            </a:r>
            <a:r>
              <a:rPr lang="en-US" dirty="0">
                <a:ea typeface="ＭＳ Ｐゴシック" charset="0"/>
              </a:rPr>
              <a:t>will have different socket for each request</a:t>
            </a:r>
          </a:p>
        </p:txBody>
      </p:sp>
      <p:pic>
        <p:nvPicPr>
          <p:cNvPr id="45063" name="Picture 7" descr="underline_base">
            <a:extLst>
              <a:ext uri="{FF2B5EF4-FFF2-40B4-BE49-F238E27FC236}">
                <a16:creationId xmlns:a16="http://schemas.microsoft.com/office/drawing/2014/main" id="{8805E654-55F8-45FD-A464-D3A57FE6AD2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425" y="1057275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4">
            <a:extLst>
              <a:ext uri="{FF2B5EF4-FFF2-40B4-BE49-F238E27FC236}">
                <a16:creationId xmlns:a16="http://schemas.microsoft.com/office/drawing/2014/main" id="{7A140AD2-AC55-4597-A93B-6C8F5A2BC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sz="1200"/>
              <a:t>Transport</a:t>
            </a:r>
            <a:r>
              <a:rPr lang="en-US" altLang="zh-TW" sz="1400"/>
              <a:t> </a:t>
            </a:r>
            <a:r>
              <a:rPr lang="en-US" altLang="zh-TW" sz="1200"/>
              <a:t>Layer</a:t>
            </a:r>
          </a:p>
        </p:txBody>
      </p:sp>
      <p:sp>
        <p:nvSpPr>
          <p:cNvPr id="43011" name="Slide Number Placeholder 5">
            <a:extLst>
              <a:ext uri="{FF2B5EF4-FFF2-40B4-BE49-F238E27FC236}">
                <a16:creationId xmlns:a16="http://schemas.microsoft.com/office/drawing/2014/main" id="{890C30F4-4414-4FCC-984C-8E2CF7C1B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sz="1200"/>
              <a:t>3-</a:t>
            </a:r>
            <a:fld id="{60A3965E-79D1-4123-BCC6-6570A53FEFEF}" type="slidenum">
              <a:rPr lang="en-US" altLang="zh-TW" sz="1200"/>
              <a:pPr/>
              <a:t>14</a:t>
            </a:fld>
            <a:endParaRPr lang="en-US" altLang="zh-TW" sz="1200"/>
          </a:p>
        </p:txBody>
      </p:sp>
      <p:pic>
        <p:nvPicPr>
          <p:cNvPr id="43012" name="Picture 159" descr="underline_base">
            <a:extLst>
              <a:ext uri="{FF2B5EF4-FFF2-40B4-BE49-F238E27FC236}">
                <a16:creationId xmlns:a16="http://schemas.microsoft.com/office/drawing/2014/main" id="{8994F597-483E-4781-81A2-E1FD4B524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881063"/>
            <a:ext cx="8228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17" name="Rectangle 3">
            <a:extLst>
              <a:ext uri="{FF2B5EF4-FFF2-40B4-BE49-F238E27FC236}">
                <a16:creationId xmlns:a16="http://schemas.microsoft.com/office/drawing/2014/main" id="{1B52A9A5-F004-4C68-B530-B1C33C6CC6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4475" y="200025"/>
            <a:ext cx="8085138" cy="935038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Connection-oriented demux: example</a:t>
            </a:r>
          </a:p>
        </p:txBody>
      </p:sp>
      <p:sp>
        <p:nvSpPr>
          <p:cNvPr id="43014" name="Freeform 5">
            <a:extLst>
              <a:ext uri="{FF2B5EF4-FFF2-40B4-BE49-F238E27FC236}">
                <a16:creationId xmlns:a16="http://schemas.microsoft.com/office/drawing/2014/main" id="{ABE5D06D-B605-4CE4-B632-CB53201AC3E6}"/>
              </a:ext>
            </a:extLst>
          </p:cNvPr>
          <p:cNvSpPr>
            <a:spLocks/>
          </p:cNvSpPr>
          <p:nvPr/>
        </p:nvSpPr>
        <p:spPr bwMode="auto">
          <a:xfrm>
            <a:off x="2819400" y="1765300"/>
            <a:ext cx="552450" cy="2082800"/>
          </a:xfrm>
          <a:custGeom>
            <a:avLst/>
            <a:gdLst>
              <a:gd name="T0" fmla="*/ 0 w 348"/>
              <a:gd name="T1" fmla="*/ 2147483647 h 1312"/>
              <a:gd name="T2" fmla="*/ 2147483647 w 348"/>
              <a:gd name="T3" fmla="*/ 0 h 1312"/>
              <a:gd name="T4" fmla="*/ 2147483647 w 348"/>
              <a:gd name="T5" fmla="*/ 2147483647 h 1312"/>
              <a:gd name="T6" fmla="*/ 2147483647 w 348"/>
              <a:gd name="T7" fmla="*/ 2147483647 h 1312"/>
              <a:gd name="T8" fmla="*/ 0 w 348"/>
              <a:gd name="T9" fmla="*/ 2147483647 h 13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48"/>
              <a:gd name="T16" fmla="*/ 0 h 1312"/>
              <a:gd name="T17" fmla="*/ 348 w 348"/>
              <a:gd name="T18" fmla="*/ 1312 h 131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48" h="1312">
                <a:moveTo>
                  <a:pt x="0" y="1306"/>
                </a:moveTo>
                <a:lnTo>
                  <a:pt x="348" y="0"/>
                </a:lnTo>
                <a:lnTo>
                  <a:pt x="342" y="1258"/>
                </a:lnTo>
                <a:lnTo>
                  <a:pt x="180" y="1312"/>
                </a:lnTo>
                <a:lnTo>
                  <a:pt x="0" y="1306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43015" name="Freeform 6">
            <a:extLst>
              <a:ext uri="{FF2B5EF4-FFF2-40B4-BE49-F238E27FC236}">
                <a16:creationId xmlns:a16="http://schemas.microsoft.com/office/drawing/2014/main" id="{AE5DD49F-2258-470F-81E5-0566CFA3B1EE}"/>
              </a:ext>
            </a:extLst>
          </p:cNvPr>
          <p:cNvSpPr>
            <a:spLocks/>
          </p:cNvSpPr>
          <p:nvPr/>
        </p:nvSpPr>
        <p:spPr bwMode="auto">
          <a:xfrm>
            <a:off x="417513" y="1944688"/>
            <a:ext cx="460375" cy="2193925"/>
          </a:xfrm>
          <a:custGeom>
            <a:avLst/>
            <a:gdLst>
              <a:gd name="T0" fmla="*/ 2147483647 w 290"/>
              <a:gd name="T1" fmla="*/ 2147483647 h 1382"/>
              <a:gd name="T2" fmla="*/ 0 w 290"/>
              <a:gd name="T3" fmla="*/ 2147483647 h 1382"/>
              <a:gd name="T4" fmla="*/ 2147483647 w 290"/>
              <a:gd name="T5" fmla="*/ 0 h 1382"/>
              <a:gd name="T6" fmla="*/ 2147483647 w 290"/>
              <a:gd name="T7" fmla="*/ 2147483647 h 1382"/>
              <a:gd name="T8" fmla="*/ 2147483647 w 290"/>
              <a:gd name="T9" fmla="*/ 2147483647 h 1382"/>
              <a:gd name="T10" fmla="*/ 2147483647 w 290"/>
              <a:gd name="T11" fmla="*/ 2147483647 h 138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90"/>
              <a:gd name="T19" fmla="*/ 0 h 1382"/>
              <a:gd name="T20" fmla="*/ 290 w 290"/>
              <a:gd name="T21" fmla="*/ 1382 h 1382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90" h="1382">
                <a:moveTo>
                  <a:pt x="15" y="1382"/>
                </a:moveTo>
                <a:lnTo>
                  <a:pt x="0" y="1360"/>
                </a:lnTo>
                <a:lnTo>
                  <a:pt x="290" y="0"/>
                </a:lnTo>
                <a:lnTo>
                  <a:pt x="284" y="1258"/>
                </a:lnTo>
                <a:lnTo>
                  <a:pt x="182" y="1382"/>
                </a:lnTo>
                <a:lnTo>
                  <a:pt x="15" y="138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43016" name="Rectangle 23">
            <a:extLst>
              <a:ext uri="{FF2B5EF4-FFF2-40B4-BE49-F238E27FC236}">
                <a16:creationId xmlns:a16="http://schemas.microsoft.com/office/drawing/2014/main" id="{212E6D5F-C7D7-418C-B603-B5228FB70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3450" y="1911350"/>
            <a:ext cx="1296988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l"/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3017" name="Rectangle 24">
            <a:extLst>
              <a:ext uri="{FF2B5EF4-FFF2-40B4-BE49-F238E27FC236}">
                <a16:creationId xmlns:a16="http://schemas.microsoft.com/office/drawing/2014/main" id="{0C047184-CF5F-44C8-9F8D-3CD5F90DC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350" y="1965325"/>
            <a:ext cx="1273175" cy="197961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l"/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3018" name="Line 25">
            <a:extLst>
              <a:ext uri="{FF2B5EF4-FFF2-40B4-BE49-F238E27FC236}">
                <a16:creationId xmlns:a16="http://schemas.microsoft.com/office/drawing/2014/main" id="{26CCC9E3-347E-4325-A079-29A73A096F8A}"/>
              </a:ext>
            </a:extLst>
          </p:cNvPr>
          <p:cNvSpPr>
            <a:spLocks noChangeShapeType="1"/>
          </p:cNvSpPr>
          <p:nvPr/>
        </p:nvSpPr>
        <p:spPr bwMode="auto">
          <a:xfrm>
            <a:off x="904875" y="272573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3019" name="Text Box 26">
            <a:extLst>
              <a:ext uri="{FF2B5EF4-FFF2-40B4-BE49-F238E27FC236}">
                <a16:creationId xmlns:a16="http://schemas.microsoft.com/office/drawing/2014/main" id="{520F6EEF-7BBD-4C6C-A5B9-D5840B2CC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13" y="270827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transport</a:t>
            </a:r>
          </a:p>
        </p:txBody>
      </p:sp>
      <p:sp>
        <p:nvSpPr>
          <p:cNvPr id="43020" name="Line 27">
            <a:extLst>
              <a:ext uri="{FF2B5EF4-FFF2-40B4-BE49-F238E27FC236}">
                <a16:creationId xmlns:a16="http://schemas.microsoft.com/office/drawing/2014/main" id="{B75079CD-C522-41C5-82C6-F47F48BD6490}"/>
              </a:ext>
            </a:extLst>
          </p:cNvPr>
          <p:cNvSpPr>
            <a:spLocks noChangeShapeType="1"/>
          </p:cNvSpPr>
          <p:nvPr/>
        </p:nvSpPr>
        <p:spPr bwMode="auto">
          <a:xfrm>
            <a:off x="912813" y="304641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3021" name="Line 28">
            <a:extLst>
              <a:ext uri="{FF2B5EF4-FFF2-40B4-BE49-F238E27FC236}">
                <a16:creationId xmlns:a16="http://schemas.microsoft.com/office/drawing/2014/main" id="{2B1C4F0A-8D64-4F20-B4A8-3DD107DE9F01}"/>
              </a:ext>
            </a:extLst>
          </p:cNvPr>
          <p:cNvSpPr>
            <a:spLocks noChangeShapeType="1"/>
          </p:cNvSpPr>
          <p:nvPr/>
        </p:nvSpPr>
        <p:spPr bwMode="auto">
          <a:xfrm>
            <a:off x="898525" y="335597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3022" name="Line 29">
            <a:extLst>
              <a:ext uri="{FF2B5EF4-FFF2-40B4-BE49-F238E27FC236}">
                <a16:creationId xmlns:a16="http://schemas.microsoft.com/office/drawing/2014/main" id="{B2DB9C5F-0808-4440-8239-BD6D917461E1}"/>
              </a:ext>
            </a:extLst>
          </p:cNvPr>
          <p:cNvSpPr>
            <a:spLocks noChangeShapeType="1"/>
          </p:cNvSpPr>
          <p:nvPr/>
        </p:nvSpPr>
        <p:spPr bwMode="auto">
          <a:xfrm>
            <a:off x="898525" y="364172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3023" name="Text Box 26">
            <a:extLst>
              <a:ext uri="{FF2B5EF4-FFF2-40B4-BE49-F238E27FC236}">
                <a16:creationId xmlns:a16="http://schemas.microsoft.com/office/drawing/2014/main" id="{FDAC193D-7994-4019-9E95-669C35363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938" y="195580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application</a:t>
            </a:r>
          </a:p>
        </p:txBody>
      </p:sp>
      <p:sp>
        <p:nvSpPr>
          <p:cNvPr id="43024" name="Text Box 26">
            <a:extLst>
              <a:ext uri="{FF2B5EF4-FFF2-40B4-BE49-F238E27FC236}">
                <a16:creationId xmlns:a16="http://schemas.microsoft.com/office/drawing/2014/main" id="{9797A5E3-FD65-465F-825F-BA2B5A408B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488" y="361315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physical</a:t>
            </a:r>
          </a:p>
        </p:txBody>
      </p:sp>
      <p:sp>
        <p:nvSpPr>
          <p:cNvPr id="43025" name="Text Box 26">
            <a:extLst>
              <a:ext uri="{FF2B5EF4-FFF2-40B4-BE49-F238E27FC236}">
                <a16:creationId xmlns:a16="http://schemas.microsoft.com/office/drawing/2014/main" id="{08F9B452-F0F6-47B6-AE1D-BD78975660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1538" y="332740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link</a:t>
            </a:r>
          </a:p>
        </p:txBody>
      </p:sp>
      <p:sp>
        <p:nvSpPr>
          <p:cNvPr id="43026" name="Text Box 26">
            <a:extLst>
              <a:ext uri="{FF2B5EF4-FFF2-40B4-BE49-F238E27FC236}">
                <a16:creationId xmlns:a16="http://schemas.microsoft.com/office/drawing/2014/main" id="{B465CDB0-D57D-4E73-A390-2EF79326E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13" y="303212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network</a:t>
            </a:r>
          </a:p>
        </p:txBody>
      </p:sp>
      <p:sp>
        <p:nvSpPr>
          <p:cNvPr id="43027" name="Oval 19">
            <a:extLst>
              <a:ext uri="{FF2B5EF4-FFF2-40B4-BE49-F238E27FC236}">
                <a16:creationId xmlns:a16="http://schemas.microsoft.com/office/drawing/2014/main" id="{B178FBC7-5FC6-4A2C-B1A6-AE9D02C0EA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1900" y="2241550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>
                <a:latin typeface="Arial" panose="020B0604020202020204" pitchFamily="34" charset="0"/>
              </a:rPr>
              <a:t>P3</a:t>
            </a:r>
          </a:p>
        </p:txBody>
      </p:sp>
      <p:grpSp>
        <p:nvGrpSpPr>
          <p:cNvPr id="43028" name="Group 20">
            <a:extLst>
              <a:ext uri="{FF2B5EF4-FFF2-40B4-BE49-F238E27FC236}">
                <a16:creationId xmlns:a16="http://schemas.microsoft.com/office/drawing/2014/main" id="{66BC1E66-8B19-4246-AF58-82A136880720}"/>
              </a:ext>
            </a:extLst>
          </p:cNvPr>
          <p:cNvGrpSpPr>
            <a:grpSpLocks/>
          </p:cNvGrpSpPr>
          <p:nvPr/>
        </p:nvGrpSpPr>
        <p:grpSpPr bwMode="auto">
          <a:xfrm>
            <a:off x="1200150" y="2565400"/>
            <a:ext cx="620713" cy="228600"/>
            <a:chOff x="1287" y="2524"/>
            <a:chExt cx="260" cy="100"/>
          </a:xfrm>
        </p:grpSpPr>
        <p:sp>
          <p:nvSpPr>
            <p:cNvPr id="43147" name="Rectangle 21">
              <a:extLst>
                <a:ext uri="{FF2B5EF4-FFF2-40B4-BE49-F238E27FC236}">
                  <a16:creationId xmlns:a16="http://schemas.microsoft.com/office/drawing/2014/main" id="{AB0B788B-4EC5-4314-BC17-3FAAD95AE3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48" name="Rectangle 22">
              <a:extLst>
                <a:ext uri="{FF2B5EF4-FFF2-40B4-BE49-F238E27FC236}">
                  <a16:creationId xmlns:a16="http://schemas.microsoft.com/office/drawing/2014/main" id="{940853B8-0E2A-4272-9AE6-18DA26619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49" name="Rectangle 23">
              <a:extLst>
                <a:ext uri="{FF2B5EF4-FFF2-40B4-BE49-F238E27FC236}">
                  <a16:creationId xmlns:a16="http://schemas.microsoft.com/office/drawing/2014/main" id="{41B576C7-2CC4-450F-8CDA-9EB52E514B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50" name="Rectangle 24">
              <a:extLst>
                <a:ext uri="{FF2B5EF4-FFF2-40B4-BE49-F238E27FC236}">
                  <a16:creationId xmlns:a16="http://schemas.microsoft.com/office/drawing/2014/main" id="{1F90A047-439C-4E0B-9D83-300230782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</p:grpSp>
      <p:sp>
        <p:nvSpPr>
          <p:cNvPr id="43029" name="Rectangle 23">
            <a:extLst>
              <a:ext uri="{FF2B5EF4-FFF2-40B4-BE49-F238E27FC236}">
                <a16:creationId xmlns:a16="http://schemas.microsoft.com/office/drawing/2014/main" id="{BA119666-B1F7-410D-9988-BFA64029D9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2175" y="1677988"/>
            <a:ext cx="2254250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l"/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3030" name="Rectangle 24">
            <a:extLst>
              <a:ext uri="{FF2B5EF4-FFF2-40B4-BE49-F238E27FC236}">
                <a16:creationId xmlns:a16="http://schemas.microsoft.com/office/drawing/2014/main" id="{755F22AD-FA06-4C5A-A5A4-C89C3FF9DE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8200" y="1755775"/>
            <a:ext cx="2225675" cy="197961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l"/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3031" name="Text Box 26">
            <a:extLst>
              <a:ext uri="{FF2B5EF4-FFF2-40B4-BE49-F238E27FC236}">
                <a16:creationId xmlns:a16="http://schemas.microsoft.com/office/drawing/2014/main" id="{408A2FEA-6254-454E-AA7C-9EAA00D1E5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650" y="24844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transport</a:t>
            </a:r>
          </a:p>
        </p:txBody>
      </p:sp>
      <p:sp>
        <p:nvSpPr>
          <p:cNvPr id="43032" name="Text Box 26">
            <a:extLst>
              <a:ext uri="{FF2B5EF4-FFF2-40B4-BE49-F238E27FC236}">
                <a16:creationId xmlns:a16="http://schemas.microsoft.com/office/drawing/2014/main" id="{C77DC400-DE53-4A4E-9F1B-4599B31AC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7625" y="170815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application</a:t>
            </a:r>
          </a:p>
        </p:txBody>
      </p:sp>
      <p:sp>
        <p:nvSpPr>
          <p:cNvPr id="43033" name="Text Box 26">
            <a:extLst>
              <a:ext uri="{FF2B5EF4-FFF2-40B4-BE49-F238E27FC236}">
                <a16:creationId xmlns:a16="http://schemas.microsoft.com/office/drawing/2014/main" id="{4B6C6B08-873F-4DE9-A9E2-B724849032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97300" y="33893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physical</a:t>
            </a:r>
          </a:p>
        </p:txBody>
      </p:sp>
      <p:sp>
        <p:nvSpPr>
          <p:cNvPr id="43034" name="Text Box 26">
            <a:extLst>
              <a:ext uri="{FF2B5EF4-FFF2-40B4-BE49-F238E27FC236}">
                <a16:creationId xmlns:a16="http://schemas.microsoft.com/office/drawing/2014/main" id="{10CDE74F-10DD-49F6-B1B5-B0334C82F1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97300" y="31035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link</a:t>
            </a:r>
          </a:p>
        </p:txBody>
      </p:sp>
      <p:sp>
        <p:nvSpPr>
          <p:cNvPr id="43035" name="Oval 36">
            <a:extLst>
              <a:ext uri="{FF2B5EF4-FFF2-40B4-BE49-F238E27FC236}">
                <a16:creationId xmlns:a16="http://schemas.microsoft.com/office/drawing/2014/main" id="{7ADE4A7D-BB98-477B-B27E-48211D68A4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263" y="2014538"/>
            <a:ext cx="598487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>
                <a:latin typeface="Arial" panose="020B0604020202020204" pitchFamily="34" charset="0"/>
              </a:rPr>
              <a:t>P4</a:t>
            </a:r>
          </a:p>
        </p:txBody>
      </p:sp>
      <p:sp>
        <p:nvSpPr>
          <p:cNvPr id="43036" name="Rectangle 23">
            <a:extLst>
              <a:ext uri="{FF2B5EF4-FFF2-40B4-BE49-F238E27FC236}">
                <a16:creationId xmlns:a16="http://schemas.microsoft.com/office/drawing/2014/main" id="{15DE0816-5D3B-4206-9043-E91EC36DF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67488" y="1903413"/>
            <a:ext cx="1296987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l"/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3037" name="Rectangle 24">
            <a:extLst>
              <a:ext uri="{FF2B5EF4-FFF2-40B4-BE49-F238E27FC236}">
                <a16:creationId xmlns:a16="http://schemas.microsoft.com/office/drawing/2014/main" id="{66FEB3CF-859D-46D7-9BC7-82AB484F3C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0638" y="1944688"/>
            <a:ext cx="1631950" cy="197961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l"/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3038" name="Text Box 26">
            <a:extLst>
              <a:ext uri="{FF2B5EF4-FFF2-40B4-BE49-F238E27FC236}">
                <a16:creationId xmlns:a16="http://schemas.microsoft.com/office/drawing/2014/main" id="{C1DF2FDD-6608-49A7-91BA-27076614F1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6050" y="27003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transport</a:t>
            </a:r>
          </a:p>
        </p:txBody>
      </p:sp>
      <p:sp>
        <p:nvSpPr>
          <p:cNvPr id="43039" name="Text Box 26">
            <a:extLst>
              <a:ext uri="{FF2B5EF4-FFF2-40B4-BE49-F238E27FC236}">
                <a16:creationId xmlns:a16="http://schemas.microsoft.com/office/drawing/2014/main" id="{F3FFD461-5CB2-4A8A-B309-07582A6FB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0975" y="19478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application</a:t>
            </a:r>
          </a:p>
        </p:txBody>
      </p:sp>
      <p:sp>
        <p:nvSpPr>
          <p:cNvPr id="43040" name="Text Box 26">
            <a:extLst>
              <a:ext uri="{FF2B5EF4-FFF2-40B4-BE49-F238E27FC236}">
                <a16:creationId xmlns:a16="http://schemas.microsoft.com/office/drawing/2014/main" id="{D677F098-7509-4550-9DD8-1FBA09A1F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8913" y="36052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physical</a:t>
            </a:r>
          </a:p>
        </p:txBody>
      </p:sp>
      <p:sp>
        <p:nvSpPr>
          <p:cNvPr id="43041" name="Text Box 26">
            <a:extLst>
              <a:ext uri="{FF2B5EF4-FFF2-40B4-BE49-F238E27FC236}">
                <a16:creationId xmlns:a16="http://schemas.microsoft.com/office/drawing/2014/main" id="{4A4644F9-D793-458E-ABB2-4C475AA1AB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5575" y="33194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link</a:t>
            </a:r>
          </a:p>
        </p:txBody>
      </p:sp>
      <p:sp>
        <p:nvSpPr>
          <p:cNvPr id="43042" name="Text Box 26">
            <a:extLst>
              <a:ext uri="{FF2B5EF4-FFF2-40B4-BE49-F238E27FC236}">
                <a16:creationId xmlns:a16="http://schemas.microsoft.com/office/drawing/2014/main" id="{099CBEFC-EEF7-4DF4-80DE-C9D642710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6050" y="30241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network</a:t>
            </a:r>
          </a:p>
        </p:txBody>
      </p:sp>
      <p:sp>
        <p:nvSpPr>
          <p:cNvPr id="43043" name="Oval 53">
            <a:extLst>
              <a:ext uri="{FF2B5EF4-FFF2-40B4-BE49-F238E27FC236}">
                <a16:creationId xmlns:a16="http://schemas.microsoft.com/office/drawing/2014/main" id="{A8C51342-D857-4900-9F89-17AE1B4995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1600" y="2241550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>
                <a:latin typeface="Arial" panose="020B0604020202020204" pitchFamily="34" charset="0"/>
              </a:rPr>
              <a:t>P2</a:t>
            </a:r>
          </a:p>
        </p:txBody>
      </p:sp>
      <p:sp>
        <p:nvSpPr>
          <p:cNvPr id="43044" name="Freeform 54">
            <a:extLst>
              <a:ext uri="{FF2B5EF4-FFF2-40B4-BE49-F238E27FC236}">
                <a16:creationId xmlns:a16="http://schemas.microsoft.com/office/drawing/2014/main" id="{F6D68F61-17CC-4B13-80E3-12D488CD72CE}"/>
              </a:ext>
            </a:extLst>
          </p:cNvPr>
          <p:cNvSpPr>
            <a:spLocks/>
          </p:cNvSpPr>
          <p:nvPr/>
        </p:nvSpPr>
        <p:spPr bwMode="auto">
          <a:xfrm>
            <a:off x="8026400" y="1924050"/>
            <a:ext cx="504825" cy="2133600"/>
          </a:xfrm>
          <a:custGeom>
            <a:avLst/>
            <a:gdLst>
              <a:gd name="T0" fmla="*/ 2147483647 w 318"/>
              <a:gd name="T1" fmla="*/ 2147483647 h 1344"/>
              <a:gd name="T2" fmla="*/ 2147483647 w 318"/>
              <a:gd name="T3" fmla="*/ 0 h 1344"/>
              <a:gd name="T4" fmla="*/ 0 w 318"/>
              <a:gd name="T5" fmla="*/ 2147483647 h 1344"/>
              <a:gd name="T6" fmla="*/ 2147483647 w 318"/>
              <a:gd name="T7" fmla="*/ 2147483647 h 1344"/>
              <a:gd name="T8" fmla="*/ 2147483647 w 318"/>
              <a:gd name="T9" fmla="*/ 2147483647 h 134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8"/>
              <a:gd name="T16" fmla="*/ 0 h 1344"/>
              <a:gd name="T17" fmla="*/ 318 w 318"/>
              <a:gd name="T18" fmla="*/ 1344 h 134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8" h="1344">
                <a:moveTo>
                  <a:pt x="318" y="1344"/>
                </a:moveTo>
                <a:lnTo>
                  <a:pt x="12" y="0"/>
                </a:lnTo>
                <a:lnTo>
                  <a:pt x="0" y="1224"/>
                </a:lnTo>
                <a:lnTo>
                  <a:pt x="121" y="1344"/>
                </a:lnTo>
                <a:lnTo>
                  <a:pt x="318" y="1344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43045" name="Group 76">
            <a:extLst>
              <a:ext uri="{FF2B5EF4-FFF2-40B4-BE49-F238E27FC236}">
                <a16:creationId xmlns:a16="http://schemas.microsoft.com/office/drawing/2014/main" id="{B05E3547-664F-4361-AEDC-12EF298AD0BB}"/>
              </a:ext>
            </a:extLst>
          </p:cNvPr>
          <p:cNvGrpSpPr>
            <a:grpSpLocks/>
          </p:cNvGrpSpPr>
          <p:nvPr/>
        </p:nvGrpSpPr>
        <p:grpSpPr bwMode="auto">
          <a:xfrm>
            <a:off x="1824037" y="5170484"/>
            <a:ext cx="2016125" cy="657224"/>
            <a:chOff x="1084" y="3697"/>
            <a:chExt cx="1270" cy="414"/>
          </a:xfrm>
        </p:grpSpPr>
        <p:sp>
          <p:nvSpPr>
            <p:cNvPr id="43144" name="Rectangle 77">
              <a:extLst>
                <a:ext uri="{FF2B5EF4-FFF2-40B4-BE49-F238E27FC236}">
                  <a16:creationId xmlns:a16="http://schemas.microsoft.com/office/drawing/2014/main" id="{EA230CCF-705C-435F-9A08-384845BE4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3" y="3697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45" name="Line 78">
              <a:extLst>
                <a:ext uri="{FF2B5EF4-FFF2-40B4-BE49-F238E27FC236}">
                  <a16:creationId xmlns:a16="http://schemas.microsoft.com/office/drawing/2014/main" id="{3DDA30CB-2BF1-4EDE-81B5-917AAD135F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" y="3770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3146" name="Text Box 79">
              <a:extLst>
                <a:ext uri="{FF2B5EF4-FFF2-40B4-BE49-F238E27FC236}">
                  <a16:creationId xmlns:a16="http://schemas.microsoft.com/office/drawing/2014/main" id="{9B3ECFB0-E6BD-41F9-A775-6B08CEAC83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4" y="3822"/>
              <a:ext cx="1228" cy="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85000"/>
                </a:lnSpc>
              </a:pPr>
              <a:r>
                <a:rPr lang="en-US" altLang="zh-TW" sz="1400" dirty="0">
                  <a:solidFill>
                    <a:srgbClr val="7030A0"/>
                  </a:solidFill>
                </a:rPr>
                <a:t>source </a:t>
              </a:r>
              <a:r>
                <a:rPr lang="en-US" altLang="zh-TW" sz="1400" dirty="0" err="1">
                  <a:solidFill>
                    <a:srgbClr val="7030A0"/>
                  </a:solidFill>
                </a:rPr>
                <a:t>IP,port</a:t>
              </a:r>
              <a:r>
                <a:rPr lang="en-US" altLang="zh-TW" sz="1400" dirty="0">
                  <a:solidFill>
                    <a:srgbClr val="7030A0"/>
                  </a:solidFill>
                </a:rPr>
                <a:t>: A,9157</a:t>
              </a:r>
            </a:p>
            <a:p>
              <a:pPr algn="r">
                <a:lnSpc>
                  <a:spcPct val="85000"/>
                </a:lnSpc>
              </a:pPr>
              <a:r>
                <a:rPr lang="en-US" altLang="zh-TW" sz="1400" dirty="0" err="1">
                  <a:solidFill>
                    <a:srgbClr val="0070C0"/>
                  </a:solidFill>
                </a:rPr>
                <a:t>dest</a:t>
              </a:r>
              <a:r>
                <a:rPr lang="en-US" altLang="zh-TW" sz="1400" dirty="0">
                  <a:solidFill>
                    <a:srgbClr val="0070C0"/>
                  </a:solidFill>
                </a:rPr>
                <a:t> IP, port: B,80</a:t>
              </a:r>
            </a:p>
          </p:txBody>
        </p:sp>
      </p:grpSp>
      <p:grpSp>
        <p:nvGrpSpPr>
          <p:cNvPr id="43046" name="Group 80">
            <a:extLst>
              <a:ext uri="{FF2B5EF4-FFF2-40B4-BE49-F238E27FC236}">
                <a16:creationId xmlns:a16="http://schemas.microsoft.com/office/drawing/2014/main" id="{EB139241-7A59-408A-A68E-C7351D2D3A52}"/>
              </a:ext>
            </a:extLst>
          </p:cNvPr>
          <p:cNvGrpSpPr>
            <a:grpSpLocks/>
          </p:cNvGrpSpPr>
          <p:nvPr/>
        </p:nvGrpSpPr>
        <p:grpSpPr bwMode="auto">
          <a:xfrm>
            <a:off x="1666875" y="4479925"/>
            <a:ext cx="1887538" cy="652463"/>
            <a:chOff x="2741" y="3750"/>
            <a:chExt cx="1189" cy="411"/>
          </a:xfrm>
        </p:grpSpPr>
        <p:sp>
          <p:nvSpPr>
            <p:cNvPr id="43141" name="Rectangle 81">
              <a:extLst>
                <a:ext uri="{FF2B5EF4-FFF2-40B4-BE49-F238E27FC236}">
                  <a16:creationId xmlns:a16="http://schemas.microsoft.com/office/drawing/2014/main" id="{7AD1DB26-B1A7-4CDC-9463-1958CD7981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42" name="Line 82">
              <a:extLst>
                <a:ext uri="{FF2B5EF4-FFF2-40B4-BE49-F238E27FC236}">
                  <a16:creationId xmlns:a16="http://schemas.microsoft.com/office/drawing/2014/main" id="{BB86838D-CFE7-46E0-8A0C-ED82A2444AD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37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3143" name="Text Box 83">
              <a:extLst>
                <a:ext uri="{FF2B5EF4-FFF2-40B4-BE49-F238E27FC236}">
                  <a16:creationId xmlns:a16="http://schemas.microsoft.com/office/drawing/2014/main" id="{2F7E425E-5E2D-4959-85BD-DB934070C6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1117" cy="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l">
                <a:lnSpc>
                  <a:spcPct val="85000"/>
                </a:lnSpc>
              </a:pPr>
              <a:r>
                <a:rPr lang="en-US" altLang="zh-TW" sz="1400"/>
                <a:t>source IP,port: B,80</a:t>
              </a:r>
            </a:p>
            <a:p>
              <a:pPr algn="l">
                <a:lnSpc>
                  <a:spcPct val="85000"/>
                </a:lnSpc>
              </a:pPr>
              <a:r>
                <a:rPr lang="en-US" altLang="zh-TW" sz="1400"/>
                <a:t>dest IP,port: A,9157</a:t>
              </a:r>
            </a:p>
          </p:txBody>
        </p:sp>
      </p:grpSp>
      <p:sp>
        <p:nvSpPr>
          <p:cNvPr id="43047" name="Text Box 93">
            <a:extLst>
              <a:ext uri="{FF2B5EF4-FFF2-40B4-BE49-F238E27FC236}">
                <a16:creationId xmlns:a16="http://schemas.microsoft.com/office/drawing/2014/main" id="{5984A4B7-E88F-41FD-9ED2-2A3CA15BF58B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88900" y="4705350"/>
            <a:ext cx="1147763" cy="53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</a:pPr>
            <a:r>
              <a:rPr lang="en-US" altLang="zh-TW" sz="1800">
                <a:latin typeface="Gill Sans MT" panose="020B0502020104020203" pitchFamily="34" charset="0"/>
              </a:rPr>
              <a:t>host: IP address A</a:t>
            </a:r>
          </a:p>
        </p:txBody>
      </p:sp>
      <p:sp>
        <p:nvSpPr>
          <p:cNvPr id="43048" name="Text Box 94">
            <a:extLst>
              <a:ext uri="{FF2B5EF4-FFF2-40B4-BE49-F238E27FC236}">
                <a16:creationId xmlns:a16="http://schemas.microsoft.com/office/drawing/2014/main" id="{0D89EA0E-6E96-4F8D-8031-7E802B3139E6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7845425" y="4602163"/>
            <a:ext cx="1147763" cy="53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</a:pPr>
            <a:r>
              <a:rPr lang="en-US" altLang="zh-TW" sz="1800">
                <a:latin typeface="Gill Sans MT" panose="020B0502020104020203" pitchFamily="34" charset="0"/>
              </a:rPr>
              <a:t>host: IP address C</a:t>
            </a:r>
          </a:p>
        </p:txBody>
      </p:sp>
      <p:sp>
        <p:nvSpPr>
          <p:cNvPr id="43049" name="Line 96">
            <a:extLst>
              <a:ext uri="{FF2B5EF4-FFF2-40B4-BE49-F238E27FC236}">
                <a16:creationId xmlns:a16="http://schemas.microsoft.com/office/drawing/2014/main" id="{D326183C-CDF9-4B61-92AA-7DDF69F29E95}"/>
              </a:ext>
            </a:extLst>
          </p:cNvPr>
          <p:cNvSpPr>
            <a:spLocks noChangeShapeType="1"/>
          </p:cNvSpPr>
          <p:nvPr/>
        </p:nvSpPr>
        <p:spPr bwMode="auto">
          <a:xfrm>
            <a:off x="3354388" y="3432175"/>
            <a:ext cx="22336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3050" name="Line 97">
            <a:extLst>
              <a:ext uri="{FF2B5EF4-FFF2-40B4-BE49-F238E27FC236}">
                <a16:creationId xmlns:a16="http://schemas.microsoft.com/office/drawing/2014/main" id="{4505F44F-8149-40AB-B88C-625008397F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0263" y="3130550"/>
            <a:ext cx="22336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3051" name="Text Box 26">
            <a:extLst>
              <a:ext uri="{FF2B5EF4-FFF2-40B4-BE49-F238E27FC236}">
                <a16:creationId xmlns:a16="http://schemas.microsoft.com/office/drawing/2014/main" id="{92676A51-846B-41A8-AE67-4A6357F787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7613" y="27955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zh-TW" sz="1400"/>
              <a:t>network</a:t>
            </a:r>
          </a:p>
        </p:txBody>
      </p:sp>
      <p:sp>
        <p:nvSpPr>
          <p:cNvPr id="43052" name="Line 99">
            <a:extLst>
              <a:ext uri="{FF2B5EF4-FFF2-40B4-BE49-F238E27FC236}">
                <a16:creationId xmlns:a16="http://schemas.microsoft.com/office/drawing/2014/main" id="{D73A18EB-6643-477E-B4AC-732983B8677C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3438" y="2808288"/>
            <a:ext cx="22336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3053" name="Line 100">
            <a:extLst>
              <a:ext uri="{FF2B5EF4-FFF2-40B4-BE49-F238E27FC236}">
                <a16:creationId xmlns:a16="http://schemas.microsoft.com/office/drawing/2014/main" id="{F617341D-2517-4DBF-BCD4-56643ED22B5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6613" y="2486025"/>
            <a:ext cx="22336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43054" name="Group 101">
            <a:extLst>
              <a:ext uri="{FF2B5EF4-FFF2-40B4-BE49-F238E27FC236}">
                <a16:creationId xmlns:a16="http://schemas.microsoft.com/office/drawing/2014/main" id="{E2E78955-A860-40AD-95B6-92F228A294AE}"/>
              </a:ext>
            </a:extLst>
          </p:cNvPr>
          <p:cNvGrpSpPr>
            <a:grpSpLocks/>
          </p:cNvGrpSpPr>
          <p:nvPr/>
        </p:nvGrpSpPr>
        <p:grpSpPr bwMode="auto">
          <a:xfrm>
            <a:off x="3552825" y="2347913"/>
            <a:ext cx="473075" cy="228600"/>
            <a:chOff x="1287" y="2524"/>
            <a:chExt cx="260" cy="100"/>
          </a:xfrm>
        </p:grpSpPr>
        <p:sp>
          <p:nvSpPr>
            <p:cNvPr id="43137" name="Rectangle 102">
              <a:extLst>
                <a:ext uri="{FF2B5EF4-FFF2-40B4-BE49-F238E27FC236}">
                  <a16:creationId xmlns:a16="http://schemas.microsoft.com/office/drawing/2014/main" id="{ECA38523-B100-46EF-8FCF-AAB5061C81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38" name="Rectangle 103">
              <a:extLst>
                <a:ext uri="{FF2B5EF4-FFF2-40B4-BE49-F238E27FC236}">
                  <a16:creationId xmlns:a16="http://schemas.microsoft.com/office/drawing/2014/main" id="{A1CD0767-F25F-4987-8557-7D0BD44A73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39" name="Rectangle 104">
              <a:extLst>
                <a:ext uri="{FF2B5EF4-FFF2-40B4-BE49-F238E27FC236}">
                  <a16:creationId xmlns:a16="http://schemas.microsoft.com/office/drawing/2014/main" id="{15FA7942-EED7-4366-9BAF-9F8675254E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40" name="Rectangle 105">
              <a:extLst>
                <a:ext uri="{FF2B5EF4-FFF2-40B4-BE49-F238E27FC236}">
                  <a16:creationId xmlns:a16="http://schemas.microsoft.com/office/drawing/2014/main" id="{92C32974-8C72-42F7-ADEB-4AA24BC3C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</p:grpSp>
      <p:sp>
        <p:nvSpPr>
          <p:cNvPr id="43055" name="Oval 106">
            <a:extLst>
              <a:ext uri="{FF2B5EF4-FFF2-40B4-BE49-F238E27FC236}">
                <a16:creationId xmlns:a16="http://schemas.microsoft.com/office/drawing/2014/main" id="{6EF7C5BD-A1B1-4F20-BDA1-EB10F1F691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4100" y="2019300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>
                <a:latin typeface="Arial" panose="020B0604020202020204" pitchFamily="34" charset="0"/>
              </a:rPr>
              <a:t>P6</a:t>
            </a:r>
          </a:p>
        </p:txBody>
      </p:sp>
      <p:sp>
        <p:nvSpPr>
          <p:cNvPr id="43056" name="Oval 112">
            <a:extLst>
              <a:ext uri="{FF2B5EF4-FFF2-40B4-BE49-F238E27FC236}">
                <a16:creationId xmlns:a16="http://schemas.microsoft.com/office/drawing/2014/main" id="{4CFA442B-C1D9-444D-96FC-68AB48EE19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2588" y="2017713"/>
            <a:ext cx="598487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>
                <a:latin typeface="Arial" panose="020B0604020202020204" pitchFamily="34" charset="0"/>
              </a:rPr>
              <a:t>P5</a:t>
            </a:r>
          </a:p>
        </p:txBody>
      </p:sp>
      <p:grpSp>
        <p:nvGrpSpPr>
          <p:cNvPr id="43057" name="Group 118">
            <a:extLst>
              <a:ext uri="{FF2B5EF4-FFF2-40B4-BE49-F238E27FC236}">
                <a16:creationId xmlns:a16="http://schemas.microsoft.com/office/drawing/2014/main" id="{566669CF-A89B-4EB1-8734-284C589AC0CF}"/>
              </a:ext>
            </a:extLst>
          </p:cNvPr>
          <p:cNvGrpSpPr>
            <a:grpSpLocks/>
          </p:cNvGrpSpPr>
          <p:nvPr/>
        </p:nvGrpSpPr>
        <p:grpSpPr bwMode="auto">
          <a:xfrm>
            <a:off x="4257675" y="2352675"/>
            <a:ext cx="473075" cy="228600"/>
            <a:chOff x="1287" y="2524"/>
            <a:chExt cx="260" cy="100"/>
          </a:xfrm>
        </p:grpSpPr>
        <p:sp>
          <p:nvSpPr>
            <p:cNvPr id="43133" name="Rectangle 119">
              <a:extLst>
                <a:ext uri="{FF2B5EF4-FFF2-40B4-BE49-F238E27FC236}">
                  <a16:creationId xmlns:a16="http://schemas.microsoft.com/office/drawing/2014/main" id="{13297A99-2105-4535-B4C5-3514CC6718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34" name="Rectangle 120">
              <a:extLst>
                <a:ext uri="{FF2B5EF4-FFF2-40B4-BE49-F238E27FC236}">
                  <a16:creationId xmlns:a16="http://schemas.microsoft.com/office/drawing/2014/main" id="{336E512E-06FF-42FF-A924-AE802FE71D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35" name="Rectangle 121">
              <a:extLst>
                <a:ext uri="{FF2B5EF4-FFF2-40B4-BE49-F238E27FC236}">
                  <a16:creationId xmlns:a16="http://schemas.microsoft.com/office/drawing/2014/main" id="{5B39AE91-181B-4891-B542-431312A483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36" name="Rectangle 122">
              <a:extLst>
                <a:ext uri="{FF2B5EF4-FFF2-40B4-BE49-F238E27FC236}">
                  <a16:creationId xmlns:a16="http://schemas.microsoft.com/office/drawing/2014/main" id="{C065F6EA-E054-4B62-91F0-45CA9C92D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</p:grpSp>
      <p:grpSp>
        <p:nvGrpSpPr>
          <p:cNvPr id="43058" name="Group 123">
            <a:extLst>
              <a:ext uri="{FF2B5EF4-FFF2-40B4-BE49-F238E27FC236}">
                <a16:creationId xmlns:a16="http://schemas.microsoft.com/office/drawing/2014/main" id="{7ACE7327-73DB-474D-97AB-5BC54961420C}"/>
              </a:ext>
            </a:extLst>
          </p:cNvPr>
          <p:cNvGrpSpPr>
            <a:grpSpLocks/>
          </p:cNvGrpSpPr>
          <p:nvPr/>
        </p:nvGrpSpPr>
        <p:grpSpPr bwMode="auto">
          <a:xfrm>
            <a:off x="4929188" y="2357438"/>
            <a:ext cx="473075" cy="228600"/>
            <a:chOff x="1287" y="2524"/>
            <a:chExt cx="260" cy="100"/>
          </a:xfrm>
        </p:grpSpPr>
        <p:sp>
          <p:nvSpPr>
            <p:cNvPr id="43129" name="Rectangle 124">
              <a:extLst>
                <a:ext uri="{FF2B5EF4-FFF2-40B4-BE49-F238E27FC236}">
                  <a16:creationId xmlns:a16="http://schemas.microsoft.com/office/drawing/2014/main" id="{84D2D29B-1966-4B29-AAE2-51272BB1A1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30" name="Rectangle 125">
              <a:extLst>
                <a:ext uri="{FF2B5EF4-FFF2-40B4-BE49-F238E27FC236}">
                  <a16:creationId xmlns:a16="http://schemas.microsoft.com/office/drawing/2014/main" id="{D0A42CFA-D1F4-4C28-AB1B-37103338F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31" name="Rectangle 126">
              <a:extLst>
                <a:ext uri="{FF2B5EF4-FFF2-40B4-BE49-F238E27FC236}">
                  <a16:creationId xmlns:a16="http://schemas.microsoft.com/office/drawing/2014/main" id="{10CD277B-BE8F-4A44-8861-D882C93647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32" name="Rectangle 127">
              <a:extLst>
                <a:ext uri="{FF2B5EF4-FFF2-40B4-BE49-F238E27FC236}">
                  <a16:creationId xmlns:a16="http://schemas.microsoft.com/office/drawing/2014/main" id="{BD44EBF2-A057-4A29-A599-BB80D4C068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</p:grpSp>
      <p:sp>
        <p:nvSpPr>
          <p:cNvPr id="43059" name="Line 133">
            <a:extLst>
              <a:ext uri="{FF2B5EF4-FFF2-40B4-BE49-F238E27FC236}">
                <a16:creationId xmlns:a16="http://schemas.microsoft.com/office/drawing/2014/main" id="{9A9E5C08-BC9E-49C5-B537-68C6A90DEFB5}"/>
              </a:ext>
            </a:extLst>
          </p:cNvPr>
          <p:cNvSpPr>
            <a:spLocks noChangeShapeType="1"/>
          </p:cNvSpPr>
          <p:nvPr/>
        </p:nvSpPr>
        <p:spPr bwMode="auto">
          <a:xfrm>
            <a:off x="6362700" y="3648075"/>
            <a:ext cx="16383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3060" name="Line 134">
            <a:extLst>
              <a:ext uri="{FF2B5EF4-FFF2-40B4-BE49-F238E27FC236}">
                <a16:creationId xmlns:a16="http://schemas.microsoft.com/office/drawing/2014/main" id="{F9A7B2C9-570A-4748-B554-E89BD53B606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3175" y="3352800"/>
            <a:ext cx="16383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3061" name="Line 135">
            <a:extLst>
              <a:ext uri="{FF2B5EF4-FFF2-40B4-BE49-F238E27FC236}">
                <a16:creationId xmlns:a16="http://schemas.microsoft.com/office/drawing/2014/main" id="{65D6E504-C314-4FB0-9EF1-AEA6DE93660B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3175" y="3057525"/>
            <a:ext cx="16383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3062" name="Line 136">
            <a:extLst>
              <a:ext uri="{FF2B5EF4-FFF2-40B4-BE49-F238E27FC236}">
                <a16:creationId xmlns:a16="http://schemas.microsoft.com/office/drawing/2014/main" id="{B3327F5A-858C-42B2-9A16-00E121742E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3175" y="2752725"/>
            <a:ext cx="16383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43063" name="Group 128">
            <a:extLst>
              <a:ext uri="{FF2B5EF4-FFF2-40B4-BE49-F238E27FC236}">
                <a16:creationId xmlns:a16="http://schemas.microsoft.com/office/drawing/2014/main" id="{07D98020-B139-41FD-B19A-8427B24601E3}"/>
              </a:ext>
            </a:extLst>
          </p:cNvPr>
          <p:cNvGrpSpPr>
            <a:grpSpLocks/>
          </p:cNvGrpSpPr>
          <p:nvPr/>
        </p:nvGrpSpPr>
        <p:grpSpPr bwMode="auto">
          <a:xfrm>
            <a:off x="6505575" y="2579688"/>
            <a:ext cx="473075" cy="228600"/>
            <a:chOff x="1287" y="2524"/>
            <a:chExt cx="260" cy="100"/>
          </a:xfrm>
        </p:grpSpPr>
        <p:sp>
          <p:nvSpPr>
            <p:cNvPr id="43125" name="Rectangle 129">
              <a:extLst>
                <a:ext uri="{FF2B5EF4-FFF2-40B4-BE49-F238E27FC236}">
                  <a16:creationId xmlns:a16="http://schemas.microsoft.com/office/drawing/2014/main" id="{BFAB2F70-FC86-4E2E-8B41-DFBB34408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26" name="Rectangle 130">
              <a:extLst>
                <a:ext uri="{FF2B5EF4-FFF2-40B4-BE49-F238E27FC236}">
                  <a16:creationId xmlns:a16="http://schemas.microsoft.com/office/drawing/2014/main" id="{43939C36-4B20-4DF6-AA55-387745838D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27" name="Rectangle 131">
              <a:extLst>
                <a:ext uri="{FF2B5EF4-FFF2-40B4-BE49-F238E27FC236}">
                  <a16:creationId xmlns:a16="http://schemas.microsoft.com/office/drawing/2014/main" id="{860B96CB-44DE-4906-8920-4E4FAF007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28" name="Rectangle 132">
              <a:extLst>
                <a:ext uri="{FF2B5EF4-FFF2-40B4-BE49-F238E27FC236}">
                  <a16:creationId xmlns:a16="http://schemas.microsoft.com/office/drawing/2014/main" id="{98957005-9014-4C2D-A7D8-FA7D9D107A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</p:grpSp>
      <p:grpSp>
        <p:nvGrpSpPr>
          <p:cNvPr id="43064" name="Group 137">
            <a:extLst>
              <a:ext uri="{FF2B5EF4-FFF2-40B4-BE49-F238E27FC236}">
                <a16:creationId xmlns:a16="http://schemas.microsoft.com/office/drawing/2014/main" id="{D64B6689-74F4-41B4-96DD-5B27A4DB0C77}"/>
              </a:ext>
            </a:extLst>
          </p:cNvPr>
          <p:cNvGrpSpPr>
            <a:grpSpLocks/>
          </p:cNvGrpSpPr>
          <p:nvPr/>
        </p:nvGrpSpPr>
        <p:grpSpPr bwMode="auto">
          <a:xfrm>
            <a:off x="7300913" y="2570163"/>
            <a:ext cx="473075" cy="228600"/>
            <a:chOff x="1287" y="2524"/>
            <a:chExt cx="260" cy="100"/>
          </a:xfrm>
        </p:grpSpPr>
        <p:sp>
          <p:nvSpPr>
            <p:cNvPr id="43121" name="Rectangle 138">
              <a:extLst>
                <a:ext uri="{FF2B5EF4-FFF2-40B4-BE49-F238E27FC236}">
                  <a16:creationId xmlns:a16="http://schemas.microsoft.com/office/drawing/2014/main" id="{56206FA9-4822-48D4-BC00-31A77EAD9D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22" name="Rectangle 139">
              <a:extLst>
                <a:ext uri="{FF2B5EF4-FFF2-40B4-BE49-F238E27FC236}">
                  <a16:creationId xmlns:a16="http://schemas.microsoft.com/office/drawing/2014/main" id="{8D5F3080-6271-4944-ADD0-02BA70E263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23" name="Rectangle 140">
              <a:extLst>
                <a:ext uri="{FF2B5EF4-FFF2-40B4-BE49-F238E27FC236}">
                  <a16:creationId xmlns:a16="http://schemas.microsoft.com/office/drawing/2014/main" id="{9044C571-2D1B-4FBC-974F-A426424A3B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24" name="Rectangle 141">
              <a:extLst>
                <a:ext uri="{FF2B5EF4-FFF2-40B4-BE49-F238E27FC236}">
                  <a16:creationId xmlns:a16="http://schemas.microsoft.com/office/drawing/2014/main" id="{12B9A7F6-70FA-4572-A04E-29D4357A08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</p:grpSp>
      <p:sp>
        <p:nvSpPr>
          <p:cNvPr id="43065" name="Oval 143">
            <a:extLst>
              <a:ext uri="{FF2B5EF4-FFF2-40B4-BE49-F238E27FC236}">
                <a16:creationId xmlns:a16="http://schemas.microsoft.com/office/drawing/2014/main" id="{F7FD81AB-AD9C-427F-8838-B67EDD2F72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2175" y="2236788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>
                <a:latin typeface="Arial" panose="020B0604020202020204" pitchFamily="34" charset="0"/>
              </a:rPr>
              <a:t>P3</a:t>
            </a:r>
          </a:p>
        </p:txBody>
      </p:sp>
      <p:sp>
        <p:nvSpPr>
          <p:cNvPr id="43066" name="Freeform 144">
            <a:extLst>
              <a:ext uri="{FF2B5EF4-FFF2-40B4-BE49-F238E27FC236}">
                <a16:creationId xmlns:a16="http://schemas.microsoft.com/office/drawing/2014/main" id="{03C83206-7A21-4CC1-96F4-35810F4A0424}"/>
              </a:ext>
            </a:extLst>
          </p:cNvPr>
          <p:cNvSpPr>
            <a:spLocks/>
          </p:cNvSpPr>
          <p:nvPr/>
        </p:nvSpPr>
        <p:spPr bwMode="auto">
          <a:xfrm>
            <a:off x="1493838" y="2439988"/>
            <a:ext cx="2695575" cy="2695575"/>
          </a:xfrm>
          <a:custGeom>
            <a:avLst/>
            <a:gdLst>
              <a:gd name="T0" fmla="*/ 0 w 1698"/>
              <a:gd name="T1" fmla="*/ 2147483647 h 1698"/>
              <a:gd name="T2" fmla="*/ 0 w 1698"/>
              <a:gd name="T3" fmla="*/ 2147483647 h 1698"/>
              <a:gd name="T4" fmla="*/ 2147483647 w 1698"/>
              <a:gd name="T5" fmla="*/ 2147483647 h 1698"/>
              <a:gd name="T6" fmla="*/ 2147483647 w 1698"/>
              <a:gd name="T7" fmla="*/ 2147483647 h 1698"/>
              <a:gd name="T8" fmla="*/ 2147483647 w 1698"/>
              <a:gd name="T9" fmla="*/ 0 h 169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98"/>
              <a:gd name="T16" fmla="*/ 0 h 1698"/>
              <a:gd name="T17" fmla="*/ 1698 w 1698"/>
              <a:gd name="T18" fmla="*/ 1698 h 169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98" h="1698">
                <a:moveTo>
                  <a:pt x="0" y="131"/>
                </a:moveTo>
                <a:lnTo>
                  <a:pt x="0" y="1698"/>
                </a:lnTo>
                <a:lnTo>
                  <a:pt x="1698" y="1690"/>
                </a:lnTo>
                <a:lnTo>
                  <a:pt x="1691" y="148"/>
                </a:lnTo>
                <a:lnTo>
                  <a:pt x="1443" y="0"/>
                </a:ln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3067" name="Freeform 145">
            <a:extLst>
              <a:ext uri="{FF2B5EF4-FFF2-40B4-BE49-F238E27FC236}">
                <a16:creationId xmlns:a16="http://schemas.microsoft.com/office/drawing/2014/main" id="{10BE549E-B413-4C0D-9108-358CFB5802A6}"/>
              </a:ext>
            </a:extLst>
          </p:cNvPr>
          <p:cNvSpPr>
            <a:spLocks/>
          </p:cNvSpPr>
          <p:nvPr/>
        </p:nvSpPr>
        <p:spPr bwMode="auto">
          <a:xfrm>
            <a:off x="4479925" y="2471738"/>
            <a:ext cx="3089275" cy="3252787"/>
          </a:xfrm>
          <a:custGeom>
            <a:avLst/>
            <a:gdLst>
              <a:gd name="T0" fmla="*/ 0 w 1946"/>
              <a:gd name="T1" fmla="*/ 0 h 1801"/>
              <a:gd name="T2" fmla="*/ 0 w 1946"/>
              <a:gd name="T3" fmla="*/ 2147483647 h 1801"/>
              <a:gd name="T4" fmla="*/ 2147483647 w 1946"/>
              <a:gd name="T5" fmla="*/ 2147483647 h 1801"/>
              <a:gd name="T6" fmla="*/ 2147483647 w 1946"/>
              <a:gd name="T7" fmla="*/ 2147483647 h 1801"/>
              <a:gd name="T8" fmla="*/ 0 60000 65536"/>
              <a:gd name="T9" fmla="*/ 0 60000 65536"/>
              <a:gd name="T10" fmla="*/ 0 60000 65536"/>
              <a:gd name="T11" fmla="*/ 0 60000 65536"/>
              <a:gd name="T12" fmla="*/ 0 w 1946"/>
              <a:gd name="T13" fmla="*/ 0 h 1801"/>
              <a:gd name="T14" fmla="*/ 1946 w 1946"/>
              <a:gd name="T15" fmla="*/ 1801 h 180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946" h="1801">
                <a:moveTo>
                  <a:pt x="0" y="0"/>
                </a:moveTo>
                <a:lnTo>
                  <a:pt x="0" y="1801"/>
                </a:lnTo>
                <a:lnTo>
                  <a:pt x="1946" y="1794"/>
                </a:lnTo>
                <a:lnTo>
                  <a:pt x="1925" y="132"/>
                </a:ln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3068" name="Freeform 146">
            <a:extLst>
              <a:ext uri="{FF2B5EF4-FFF2-40B4-BE49-F238E27FC236}">
                <a16:creationId xmlns:a16="http://schemas.microsoft.com/office/drawing/2014/main" id="{71498DBD-766A-48D3-BD6E-14AEA0C1021C}"/>
              </a:ext>
            </a:extLst>
          </p:cNvPr>
          <p:cNvSpPr>
            <a:spLocks/>
          </p:cNvSpPr>
          <p:nvPr/>
        </p:nvSpPr>
        <p:spPr bwMode="auto">
          <a:xfrm>
            <a:off x="5138738" y="2460625"/>
            <a:ext cx="1609725" cy="2465388"/>
          </a:xfrm>
          <a:custGeom>
            <a:avLst/>
            <a:gdLst>
              <a:gd name="T0" fmla="*/ 0 w 1014"/>
              <a:gd name="T1" fmla="*/ 0 h 1480"/>
              <a:gd name="T2" fmla="*/ 0 w 1014"/>
              <a:gd name="T3" fmla="*/ 2147483647 h 1480"/>
              <a:gd name="T4" fmla="*/ 2147483647 w 1014"/>
              <a:gd name="T5" fmla="*/ 2147483647 h 1480"/>
              <a:gd name="T6" fmla="*/ 2147483647 w 1014"/>
              <a:gd name="T7" fmla="*/ 2147483647 h 1480"/>
              <a:gd name="T8" fmla="*/ 0 60000 65536"/>
              <a:gd name="T9" fmla="*/ 0 60000 65536"/>
              <a:gd name="T10" fmla="*/ 0 60000 65536"/>
              <a:gd name="T11" fmla="*/ 0 60000 65536"/>
              <a:gd name="T12" fmla="*/ 0 w 1014"/>
              <a:gd name="T13" fmla="*/ 0 h 1480"/>
              <a:gd name="T14" fmla="*/ 1014 w 1014"/>
              <a:gd name="T15" fmla="*/ 1480 h 148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014" h="1480">
                <a:moveTo>
                  <a:pt x="0" y="0"/>
                </a:moveTo>
                <a:lnTo>
                  <a:pt x="0" y="1480"/>
                </a:lnTo>
                <a:lnTo>
                  <a:pt x="1014" y="1480"/>
                </a:lnTo>
                <a:lnTo>
                  <a:pt x="1014" y="146"/>
                </a:ln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43069" name="Group 147">
            <a:extLst>
              <a:ext uri="{FF2B5EF4-FFF2-40B4-BE49-F238E27FC236}">
                <a16:creationId xmlns:a16="http://schemas.microsoft.com/office/drawing/2014/main" id="{6C7787C2-C4FA-49C6-8887-58BAF2B490C9}"/>
              </a:ext>
            </a:extLst>
          </p:cNvPr>
          <p:cNvGrpSpPr>
            <a:grpSpLocks/>
          </p:cNvGrpSpPr>
          <p:nvPr/>
        </p:nvGrpSpPr>
        <p:grpSpPr bwMode="auto">
          <a:xfrm>
            <a:off x="5237164" y="4684709"/>
            <a:ext cx="2063750" cy="657224"/>
            <a:chOff x="2741" y="3750"/>
            <a:chExt cx="1300" cy="414"/>
          </a:xfrm>
        </p:grpSpPr>
        <p:sp>
          <p:nvSpPr>
            <p:cNvPr id="43118" name="Rectangle 148">
              <a:extLst>
                <a:ext uri="{FF2B5EF4-FFF2-40B4-BE49-F238E27FC236}">
                  <a16:creationId xmlns:a16="http://schemas.microsoft.com/office/drawing/2014/main" id="{FB559859-AF2E-4E3E-B444-947E9349B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19" name="Line 149">
              <a:extLst>
                <a:ext uri="{FF2B5EF4-FFF2-40B4-BE49-F238E27FC236}">
                  <a16:creationId xmlns:a16="http://schemas.microsoft.com/office/drawing/2014/main" id="{F3AE3001-A1F0-4FF0-9998-167584F92EC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37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3120" name="Text Box 150">
              <a:extLst>
                <a:ext uri="{FF2B5EF4-FFF2-40B4-BE49-F238E27FC236}">
                  <a16:creationId xmlns:a16="http://schemas.microsoft.com/office/drawing/2014/main" id="{7BF3685D-F72F-4BCB-BB64-DE4BBBD0DA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1228" cy="2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l">
                <a:lnSpc>
                  <a:spcPct val="85000"/>
                </a:lnSpc>
              </a:pPr>
              <a:r>
                <a:rPr lang="en-US" altLang="zh-TW" sz="1400" dirty="0">
                  <a:solidFill>
                    <a:srgbClr val="7030A0"/>
                  </a:solidFill>
                </a:rPr>
                <a:t>source </a:t>
              </a:r>
              <a:r>
                <a:rPr lang="en-US" altLang="zh-TW" sz="1400" dirty="0" err="1">
                  <a:solidFill>
                    <a:srgbClr val="7030A0"/>
                  </a:solidFill>
                </a:rPr>
                <a:t>IP,port</a:t>
              </a:r>
              <a:r>
                <a:rPr lang="en-US" altLang="zh-TW" sz="1400" dirty="0">
                  <a:solidFill>
                    <a:srgbClr val="7030A0"/>
                  </a:solidFill>
                </a:rPr>
                <a:t>: C,5775</a:t>
              </a:r>
            </a:p>
            <a:p>
              <a:pPr algn="l">
                <a:lnSpc>
                  <a:spcPct val="85000"/>
                </a:lnSpc>
              </a:pPr>
              <a:r>
                <a:rPr lang="en-US" altLang="zh-TW" sz="1400" dirty="0" err="1">
                  <a:solidFill>
                    <a:srgbClr val="0070C0"/>
                  </a:solidFill>
                </a:rPr>
                <a:t>dest</a:t>
              </a:r>
              <a:r>
                <a:rPr lang="en-US" altLang="zh-TW" sz="1400" dirty="0">
                  <a:solidFill>
                    <a:srgbClr val="0070C0"/>
                  </a:solidFill>
                </a:rPr>
                <a:t> </a:t>
              </a:r>
              <a:r>
                <a:rPr lang="en-US" altLang="zh-TW" sz="1400" dirty="0" err="1">
                  <a:solidFill>
                    <a:srgbClr val="0070C0"/>
                  </a:solidFill>
                </a:rPr>
                <a:t>IP,port</a:t>
              </a:r>
              <a:r>
                <a:rPr lang="en-US" altLang="zh-TW" sz="1400" dirty="0">
                  <a:solidFill>
                    <a:srgbClr val="0070C0"/>
                  </a:solidFill>
                </a:rPr>
                <a:t>: B,80</a:t>
              </a:r>
            </a:p>
          </p:txBody>
        </p:sp>
      </p:grpSp>
      <p:grpSp>
        <p:nvGrpSpPr>
          <p:cNvPr id="43070" name="Group 151">
            <a:extLst>
              <a:ext uri="{FF2B5EF4-FFF2-40B4-BE49-F238E27FC236}">
                <a16:creationId xmlns:a16="http://schemas.microsoft.com/office/drawing/2014/main" id="{F7BD488F-38FA-4958-B35E-B466A6D51492}"/>
              </a:ext>
            </a:extLst>
          </p:cNvPr>
          <p:cNvGrpSpPr>
            <a:grpSpLocks/>
          </p:cNvGrpSpPr>
          <p:nvPr/>
        </p:nvGrpSpPr>
        <p:grpSpPr bwMode="auto">
          <a:xfrm>
            <a:off x="5307013" y="5473700"/>
            <a:ext cx="2063750" cy="661988"/>
            <a:chOff x="2741" y="3750"/>
            <a:chExt cx="1300" cy="417"/>
          </a:xfrm>
        </p:grpSpPr>
        <p:sp>
          <p:nvSpPr>
            <p:cNvPr id="43115" name="Rectangle 152">
              <a:extLst>
                <a:ext uri="{FF2B5EF4-FFF2-40B4-BE49-F238E27FC236}">
                  <a16:creationId xmlns:a16="http://schemas.microsoft.com/office/drawing/2014/main" id="{A98CA4C9-F59A-414D-A8C9-5803FB3059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16" name="Line 153">
              <a:extLst>
                <a:ext uri="{FF2B5EF4-FFF2-40B4-BE49-F238E27FC236}">
                  <a16:creationId xmlns:a16="http://schemas.microsoft.com/office/drawing/2014/main" id="{41FB7CCB-3EE9-4C66-90D5-957DE313A5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37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3117" name="Text Box 154">
              <a:extLst>
                <a:ext uri="{FF2B5EF4-FFF2-40B4-BE49-F238E27FC236}">
                  <a16:creationId xmlns:a16="http://schemas.microsoft.com/office/drawing/2014/main" id="{1811FE38-1EA6-45B6-B12C-26BC74DA88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1228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l">
                <a:lnSpc>
                  <a:spcPct val="85000"/>
                </a:lnSpc>
              </a:pPr>
              <a:r>
                <a:rPr lang="en-US" altLang="zh-TW" sz="1400" dirty="0">
                  <a:solidFill>
                    <a:srgbClr val="7030A0"/>
                  </a:solidFill>
                </a:rPr>
                <a:t>source </a:t>
              </a:r>
              <a:r>
                <a:rPr lang="en-US" altLang="zh-TW" sz="1400" dirty="0" err="1">
                  <a:solidFill>
                    <a:srgbClr val="7030A0"/>
                  </a:solidFill>
                </a:rPr>
                <a:t>IP,port</a:t>
              </a:r>
              <a:r>
                <a:rPr lang="en-US" altLang="zh-TW" sz="1400" dirty="0">
                  <a:solidFill>
                    <a:srgbClr val="7030A0"/>
                  </a:solidFill>
                </a:rPr>
                <a:t>: C,9157</a:t>
              </a:r>
            </a:p>
            <a:p>
              <a:pPr algn="l">
                <a:lnSpc>
                  <a:spcPct val="85000"/>
                </a:lnSpc>
              </a:pPr>
              <a:r>
                <a:rPr lang="en-US" altLang="zh-TW" sz="1400" dirty="0" err="1">
                  <a:solidFill>
                    <a:srgbClr val="0070C0"/>
                  </a:solidFill>
                </a:rPr>
                <a:t>dest</a:t>
              </a:r>
              <a:r>
                <a:rPr lang="en-US" altLang="zh-TW" sz="1400" dirty="0">
                  <a:solidFill>
                    <a:srgbClr val="0070C0"/>
                  </a:solidFill>
                </a:rPr>
                <a:t> </a:t>
              </a:r>
              <a:r>
                <a:rPr lang="en-US" altLang="zh-TW" sz="1400" dirty="0" err="1">
                  <a:solidFill>
                    <a:srgbClr val="0070C0"/>
                  </a:solidFill>
                </a:rPr>
                <a:t>IP,port</a:t>
              </a:r>
              <a:r>
                <a:rPr lang="en-US" altLang="zh-TW" sz="1400" dirty="0">
                  <a:solidFill>
                    <a:srgbClr val="0070C0"/>
                  </a:solidFill>
                </a:rPr>
                <a:t>: B,80</a:t>
              </a:r>
            </a:p>
          </p:txBody>
        </p:sp>
      </p:grpSp>
      <p:sp>
        <p:nvSpPr>
          <p:cNvPr id="364699" name="Text Box 155">
            <a:extLst>
              <a:ext uri="{FF2B5EF4-FFF2-40B4-BE49-F238E27FC236}">
                <a16:creationId xmlns:a16="http://schemas.microsoft.com/office/drawing/2014/main" id="{83017026-5532-4B8C-B7A0-5BF5457ECE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8000" y="6081713"/>
            <a:ext cx="4859338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dirty="0">
                <a:solidFill>
                  <a:srgbClr val="0070C0"/>
                </a:solidFill>
              </a:rPr>
              <a:t>three segments, all destined to IP address: B,</a:t>
            </a:r>
          </a:p>
          <a:p>
            <a:r>
              <a:rPr lang="en-US" altLang="zh-TW" dirty="0">
                <a:solidFill>
                  <a:srgbClr val="0070C0"/>
                </a:solidFill>
              </a:rPr>
              <a:t> </a:t>
            </a:r>
            <a:r>
              <a:rPr lang="en-US" altLang="zh-TW" dirty="0" err="1">
                <a:solidFill>
                  <a:srgbClr val="0070C0"/>
                </a:solidFill>
              </a:rPr>
              <a:t>dest</a:t>
            </a:r>
            <a:r>
              <a:rPr lang="en-US" altLang="zh-TW" dirty="0">
                <a:solidFill>
                  <a:srgbClr val="0070C0"/>
                </a:solidFill>
              </a:rPr>
              <a:t> port: 80 </a:t>
            </a:r>
            <a:r>
              <a:rPr lang="en-US" altLang="zh-TW" dirty="0">
                <a:solidFill>
                  <a:srgbClr val="7030A0"/>
                </a:solidFill>
              </a:rPr>
              <a:t>are demultiplexed to </a:t>
            </a:r>
            <a:r>
              <a:rPr lang="en-US" altLang="zh-TW" i="1" dirty="0">
                <a:solidFill>
                  <a:srgbClr val="7030A0"/>
                </a:solidFill>
              </a:rPr>
              <a:t>different </a:t>
            </a:r>
            <a:r>
              <a:rPr lang="en-US" altLang="zh-TW" dirty="0">
                <a:solidFill>
                  <a:srgbClr val="7030A0"/>
                </a:solidFill>
              </a:rPr>
              <a:t>sockets</a:t>
            </a:r>
          </a:p>
        </p:txBody>
      </p:sp>
      <p:sp>
        <p:nvSpPr>
          <p:cNvPr id="43075" name="Text Box 160">
            <a:extLst>
              <a:ext uri="{FF2B5EF4-FFF2-40B4-BE49-F238E27FC236}">
                <a16:creationId xmlns:a16="http://schemas.microsoft.com/office/drawing/2014/main" id="{079139D3-0093-44AE-9082-EFB0D1DB7387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2192295" y="2515371"/>
            <a:ext cx="1147762" cy="53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</a:pPr>
            <a:r>
              <a:rPr lang="en-US" altLang="zh-TW" sz="1800">
                <a:latin typeface="Gill Sans MT" panose="020B0502020104020203" pitchFamily="34" charset="0"/>
              </a:rPr>
              <a:t>server: IP address B</a:t>
            </a:r>
          </a:p>
        </p:txBody>
      </p:sp>
      <p:grpSp>
        <p:nvGrpSpPr>
          <p:cNvPr id="43076" name="Group 161">
            <a:extLst>
              <a:ext uri="{FF2B5EF4-FFF2-40B4-BE49-F238E27FC236}">
                <a16:creationId xmlns:a16="http://schemas.microsoft.com/office/drawing/2014/main" id="{80B57742-6B37-4A12-A26A-8D45FEBB636D}"/>
              </a:ext>
            </a:extLst>
          </p:cNvPr>
          <p:cNvGrpSpPr>
            <a:grpSpLocks/>
          </p:cNvGrpSpPr>
          <p:nvPr/>
        </p:nvGrpSpPr>
        <p:grpSpPr bwMode="auto">
          <a:xfrm>
            <a:off x="2820988" y="3192463"/>
            <a:ext cx="358775" cy="704850"/>
            <a:chOff x="4140" y="429"/>
            <a:chExt cx="1425" cy="2396"/>
          </a:xfrm>
        </p:grpSpPr>
        <p:sp>
          <p:nvSpPr>
            <p:cNvPr id="43083" name="Freeform 162">
              <a:extLst>
                <a:ext uri="{FF2B5EF4-FFF2-40B4-BE49-F238E27FC236}">
                  <a16:creationId xmlns:a16="http://schemas.microsoft.com/office/drawing/2014/main" id="{6462E2CF-2BB6-49A7-A479-EA1E1810841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9 h 2742"/>
                <a:gd name="T6" fmla="*/ 0 w 354"/>
                <a:gd name="T7" fmla="*/ 10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084" name="Rectangle 163">
              <a:extLst>
                <a:ext uri="{FF2B5EF4-FFF2-40B4-BE49-F238E27FC236}">
                  <a16:creationId xmlns:a16="http://schemas.microsoft.com/office/drawing/2014/main" id="{41FBCA9B-8884-4BC7-AF10-A121CFD056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3" y="429"/>
              <a:ext cx="1053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085" name="Freeform 164">
              <a:extLst>
                <a:ext uri="{FF2B5EF4-FFF2-40B4-BE49-F238E27FC236}">
                  <a16:creationId xmlns:a16="http://schemas.microsoft.com/office/drawing/2014/main" id="{ABFDBEFB-4B67-419E-A31D-D57FE451E5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9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086" name="Freeform 165">
              <a:extLst>
                <a:ext uri="{FF2B5EF4-FFF2-40B4-BE49-F238E27FC236}">
                  <a16:creationId xmlns:a16="http://schemas.microsoft.com/office/drawing/2014/main" id="{37074070-A42A-4383-8BD9-6703482129E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087" name="Rectangle 166">
              <a:extLst>
                <a:ext uri="{FF2B5EF4-FFF2-40B4-BE49-F238E27FC236}">
                  <a16:creationId xmlns:a16="http://schemas.microsoft.com/office/drawing/2014/main" id="{A96FFCC5-272A-486E-9FCD-CA0AF8F40D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3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grpSp>
          <p:nvGrpSpPr>
            <p:cNvPr id="43088" name="Group 167">
              <a:extLst>
                <a:ext uri="{FF2B5EF4-FFF2-40B4-BE49-F238E27FC236}">
                  <a16:creationId xmlns:a16="http://schemas.microsoft.com/office/drawing/2014/main" id="{CE693872-2F28-4DEC-9BB5-EA265B4A20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3113" name="AutoShape 168">
                <a:extLst>
                  <a:ext uri="{FF2B5EF4-FFF2-40B4-BE49-F238E27FC236}">
                    <a16:creationId xmlns:a16="http://schemas.microsoft.com/office/drawing/2014/main" id="{77DDB75D-A42B-4589-BEE9-24BC3048F9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4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TW" altLang="zh-TW"/>
              </a:p>
            </p:txBody>
          </p:sp>
          <p:sp>
            <p:nvSpPr>
              <p:cNvPr id="43114" name="AutoShape 169">
                <a:extLst>
                  <a:ext uri="{FF2B5EF4-FFF2-40B4-BE49-F238E27FC236}">
                    <a16:creationId xmlns:a16="http://schemas.microsoft.com/office/drawing/2014/main" id="{4759E56D-A4FB-428C-A736-04699B7B85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2"/>
                <a:ext cx="692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TW" altLang="zh-TW"/>
              </a:p>
            </p:txBody>
          </p:sp>
        </p:grpSp>
        <p:sp>
          <p:nvSpPr>
            <p:cNvPr id="43089" name="Rectangle 170">
              <a:extLst>
                <a:ext uri="{FF2B5EF4-FFF2-40B4-BE49-F238E27FC236}">
                  <a16:creationId xmlns:a16="http://schemas.microsoft.com/office/drawing/2014/main" id="{E0A1FB40-1B29-4FE1-9BCC-BC86044B6F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2" y="1017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grpSp>
          <p:nvGrpSpPr>
            <p:cNvPr id="43090" name="Group 171">
              <a:extLst>
                <a:ext uri="{FF2B5EF4-FFF2-40B4-BE49-F238E27FC236}">
                  <a16:creationId xmlns:a16="http://schemas.microsoft.com/office/drawing/2014/main" id="{0078DB02-F9FC-423B-9EBD-66CF601466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3111" name="AutoShape 172">
                <a:extLst>
                  <a:ext uri="{FF2B5EF4-FFF2-40B4-BE49-F238E27FC236}">
                    <a16:creationId xmlns:a16="http://schemas.microsoft.com/office/drawing/2014/main" id="{18A26539-A3D8-4B7D-8249-71B3372CE6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24" cy="15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TW" altLang="zh-TW"/>
              </a:p>
            </p:txBody>
          </p:sp>
          <p:sp>
            <p:nvSpPr>
              <p:cNvPr id="43112" name="AutoShape 173">
                <a:extLst>
                  <a:ext uri="{FF2B5EF4-FFF2-40B4-BE49-F238E27FC236}">
                    <a16:creationId xmlns:a16="http://schemas.microsoft.com/office/drawing/2014/main" id="{02D88512-B7F9-49BD-91C8-337A341841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2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TW" altLang="zh-TW"/>
              </a:p>
            </p:txBody>
          </p:sp>
        </p:grpSp>
        <p:sp>
          <p:nvSpPr>
            <p:cNvPr id="43091" name="Rectangle 174">
              <a:extLst>
                <a:ext uri="{FF2B5EF4-FFF2-40B4-BE49-F238E27FC236}">
                  <a16:creationId xmlns:a16="http://schemas.microsoft.com/office/drawing/2014/main" id="{42C44874-48D5-486D-880E-F3FD6A0420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6" y="1357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092" name="Rectangle 175">
              <a:extLst>
                <a:ext uri="{FF2B5EF4-FFF2-40B4-BE49-F238E27FC236}">
                  <a16:creationId xmlns:a16="http://schemas.microsoft.com/office/drawing/2014/main" id="{B01AD8A6-1BE7-4605-A2A4-746280EBB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4"/>
              <a:ext cx="593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grpSp>
          <p:nvGrpSpPr>
            <p:cNvPr id="43093" name="Group 176">
              <a:extLst>
                <a:ext uri="{FF2B5EF4-FFF2-40B4-BE49-F238E27FC236}">
                  <a16:creationId xmlns:a16="http://schemas.microsoft.com/office/drawing/2014/main" id="{24252EC6-6A2C-48CD-AD3A-766B5F5BC4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3109" name="AutoShape 177">
                <a:extLst>
                  <a:ext uri="{FF2B5EF4-FFF2-40B4-BE49-F238E27FC236}">
                    <a16:creationId xmlns:a16="http://schemas.microsoft.com/office/drawing/2014/main" id="{681BDB40-BB7A-4CCE-9BA2-D0D4074C0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TW" altLang="zh-TW"/>
              </a:p>
            </p:txBody>
          </p:sp>
          <p:sp>
            <p:nvSpPr>
              <p:cNvPr id="43110" name="AutoShape 178">
                <a:extLst>
                  <a:ext uri="{FF2B5EF4-FFF2-40B4-BE49-F238E27FC236}">
                    <a16:creationId xmlns:a16="http://schemas.microsoft.com/office/drawing/2014/main" id="{ACF219F7-6CC8-4F0A-B66E-8EA913A5ED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9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TW" altLang="zh-TW"/>
              </a:p>
            </p:txBody>
          </p:sp>
        </p:grpSp>
        <p:sp>
          <p:nvSpPr>
            <p:cNvPr id="43094" name="Freeform 179">
              <a:extLst>
                <a:ext uri="{FF2B5EF4-FFF2-40B4-BE49-F238E27FC236}">
                  <a16:creationId xmlns:a16="http://schemas.microsoft.com/office/drawing/2014/main" id="{8A11D2DC-180A-4FC6-BE6E-E59C839ADD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3095" name="Group 180">
              <a:extLst>
                <a:ext uri="{FF2B5EF4-FFF2-40B4-BE49-F238E27FC236}">
                  <a16:creationId xmlns:a16="http://schemas.microsoft.com/office/drawing/2014/main" id="{93FFF61E-8915-4487-8159-9CF9D70FE4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3107" name="AutoShape 181">
                <a:extLst>
                  <a:ext uri="{FF2B5EF4-FFF2-40B4-BE49-F238E27FC236}">
                    <a16:creationId xmlns:a16="http://schemas.microsoft.com/office/drawing/2014/main" id="{B03B26D7-861E-4B47-82F8-FFE85D63E3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3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TW" altLang="zh-TW"/>
              </a:p>
            </p:txBody>
          </p:sp>
          <p:sp>
            <p:nvSpPr>
              <p:cNvPr id="43108" name="AutoShape 182">
                <a:extLst>
                  <a:ext uri="{FF2B5EF4-FFF2-40B4-BE49-F238E27FC236}">
                    <a16:creationId xmlns:a16="http://schemas.microsoft.com/office/drawing/2014/main" id="{DE1162AA-3705-42B1-9CA7-6E10BEEC4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1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>
                    <a:solidFill>
                      <a:schemeClr val="tx1"/>
                    </a:solidFill>
                    <a:latin typeface="Tahoma" panose="020B060403050404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TW" altLang="zh-TW"/>
              </a:p>
            </p:txBody>
          </p:sp>
        </p:grpSp>
        <p:sp>
          <p:nvSpPr>
            <p:cNvPr id="43096" name="Rectangle 183">
              <a:extLst>
                <a:ext uri="{FF2B5EF4-FFF2-40B4-BE49-F238E27FC236}">
                  <a16:creationId xmlns:a16="http://schemas.microsoft.com/office/drawing/2014/main" id="{2272B212-11F8-4437-ACDF-9368AD25F3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88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097" name="Freeform 184">
              <a:extLst>
                <a:ext uri="{FF2B5EF4-FFF2-40B4-BE49-F238E27FC236}">
                  <a16:creationId xmlns:a16="http://schemas.microsoft.com/office/drawing/2014/main" id="{BAA93F68-550E-4963-A4DA-C516237A4D6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098" name="Freeform 185">
              <a:extLst>
                <a:ext uri="{FF2B5EF4-FFF2-40B4-BE49-F238E27FC236}">
                  <a16:creationId xmlns:a16="http://schemas.microsoft.com/office/drawing/2014/main" id="{62CCD04A-2B0D-4F45-8C06-7322A3D49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099" name="Oval 186">
              <a:extLst>
                <a:ext uri="{FF2B5EF4-FFF2-40B4-BE49-F238E27FC236}">
                  <a16:creationId xmlns:a16="http://schemas.microsoft.com/office/drawing/2014/main" id="{07E10F4E-D720-44B8-93E4-52278F689F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09"/>
              <a:ext cx="50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00" name="Freeform 187">
              <a:extLst>
                <a:ext uri="{FF2B5EF4-FFF2-40B4-BE49-F238E27FC236}">
                  <a16:creationId xmlns:a16="http://schemas.microsoft.com/office/drawing/2014/main" id="{0ECAC79A-3ECA-4960-9774-DBC39278AAF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01" name="AutoShape 188">
              <a:extLst>
                <a:ext uri="{FF2B5EF4-FFF2-40B4-BE49-F238E27FC236}">
                  <a16:creationId xmlns:a16="http://schemas.microsoft.com/office/drawing/2014/main" id="{1ED4F6F2-64B1-4F8B-95B4-CC98A6E376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198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02" name="AutoShape 189">
              <a:extLst>
                <a:ext uri="{FF2B5EF4-FFF2-40B4-BE49-F238E27FC236}">
                  <a16:creationId xmlns:a16="http://schemas.microsoft.com/office/drawing/2014/main" id="{C9A5E9FB-2395-41BE-AF14-4C88ECD324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3" y="2712"/>
              <a:ext cx="1072" cy="81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03" name="Oval 190">
              <a:extLst>
                <a:ext uri="{FF2B5EF4-FFF2-40B4-BE49-F238E27FC236}">
                  <a16:creationId xmlns:a16="http://schemas.microsoft.com/office/drawing/2014/main" id="{5E274B4B-4F58-498A-B19F-A8DA75CC23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2"/>
              <a:ext cx="158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04" name="Oval 191">
              <a:extLst>
                <a:ext uri="{FF2B5EF4-FFF2-40B4-BE49-F238E27FC236}">
                  <a16:creationId xmlns:a16="http://schemas.microsoft.com/office/drawing/2014/main" id="{99067FC1-1916-4322-B4AA-EEDD1A93E6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58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/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105" name="Oval 192">
              <a:extLst>
                <a:ext uri="{FF2B5EF4-FFF2-40B4-BE49-F238E27FC236}">
                  <a16:creationId xmlns:a16="http://schemas.microsoft.com/office/drawing/2014/main" id="{1F194B0E-ECBC-438C-9D79-FEFF328AE4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82"/>
              <a:ext cx="158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  <p:sp>
          <p:nvSpPr>
            <p:cNvPr id="43106" name="Rectangle 193">
              <a:extLst>
                <a:ext uri="{FF2B5EF4-FFF2-40B4-BE49-F238E27FC236}">
                  <a16:creationId xmlns:a16="http://schemas.microsoft.com/office/drawing/2014/main" id="{783E1009-6458-4FEB-8CB5-A282BCEA20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7"/>
              <a:ext cx="88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1600">
                  <a:solidFill>
                    <a:schemeClr val="tx1"/>
                  </a:solidFill>
                  <a:latin typeface="Tahoma" panose="020B060403050404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TW" altLang="zh-TW"/>
            </a:p>
          </p:txBody>
        </p:sp>
      </p:grpSp>
      <p:grpSp>
        <p:nvGrpSpPr>
          <p:cNvPr id="43077" name="Group 194">
            <a:extLst>
              <a:ext uri="{FF2B5EF4-FFF2-40B4-BE49-F238E27FC236}">
                <a16:creationId xmlns:a16="http://schemas.microsoft.com/office/drawing/2014/main" id="{FC1C34DD-077D-4A4E-8C3A-A2E9F2A2BB5C}"/>
              </a:ext>
            </a:extLst>
          </p:cNvPr>
          <p:cNvGrpSpPr>
            <a:grpSpLocks/>
          </p:cNvGrpSpPr>
          <p:nvPr/>
        </p:nvGrpSpPr>
        <p:grpSpPr bwMode="auto">
          <a:xfrm>
            <a:off x="-44450" y="3613150"/>
            <a:ext cx="711200" cy="669925"/>
            <a:chOff x="-44" y="1473"/>
            <a:chExt cx="981" cy="1105"/>
          </a:xfrm>
        </p:grpSpPr>
        <p:pic>
          <p:nvPicPr>
            <p:cNvPr id="43081" name="Picture 195" descr="desktop_computer_stylized_medium">
              <a:extLst>
                <a:ext uri="{FF2B5EF4-FFF2-40B4-BE49-F238E27FC236}">
                  <a16:creationId xmlns:a16="http://schemas.microsoft.com/office/drawing/2014/main" id="{12115F53-5412-4F7D-A511-5281F90508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3082" name="Freeform 196">
              <a:extLst>
                <a:ext uri="{FF2B5EF4-FFF2-40B4-BE49-F238E27FC236}">
                  <a16:creationId xmlns:a16="http://schemas.microsoft.com/office/drawing/2014/main" id="{B187B7C6-59F0-44B1-8C4C-934A720E7BE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607767 w 356"/>
                <a:gd name="T3" fmla="*/ 273839 h 368"/>
                <a:gd name="T4" fmla="*/ 3093554 w 356"/>
                <a:gd name="T5" fmla="*/ 5706967 h 368"/>
                <a:gd name="T6" fmla="*/ 681775 w 356"/>
                <a:gd name="T7" fmla="*/ 713718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3078" name="Group 197">
            <a:extLst>
              <a:ext uri="{FF2B5EF4-FFF2-40B4-BE49-F238E27FC236}">
                <a16:creationId xmlns:a16="http://schemas.microsoft.com/office/drawing/2014/main" id="{5473AAC3-0582-4CE7-82FA-98CFBFCA672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258175" y="3529013"/>
            <a:ext cx="711200" cy="669925"/>
            <a:chOff x="-44" y="1473"/>
            <a:chExt cx="981" cy="1105"/>
          </a:xfrm>
        </p:grpSpPr>
        <p:pic>
          <p:nvPicPr>
            <p:cNvPr id="43079" name="Picture 198" descr="desktop_computer_stylized_medium">
              <a:extLst>
                <a:ext uri="{FF2B5EF4-FFF2-40B4-BE49-F238E27FC236}">
                  <a16:creationId xmlns:a16="http://schemas.microsoft.com/office/drawing/2014/main" id="{999FB55E-1948-4AC3-87DF-45A8A79892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3080" name="Freeform 199">
              <a:extLst>
                <a:ext uri="{FF2B5EF4-FFF2-40B4-BE49-F238E27FC236}">
                  <a16:creationId xmlns:a16="http://schemas.microsoft.com/office/drawing/2014/main" id="{E8F48DB3-2DE2-4352-87FE-09E1958B058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607767 w 356"/>
                <a:gd name="T3" fmla="*/ 273839 h 368"/>
                <a:gd name="T4" fmla="*/ 3093554 w 356"/>
                <a:gd name="T5" fmla="*/ 5706967 h 368"/>
                <a:gd name="T6" fmla="*/ 681775 w 356"/>
                <a:gd name="T7" fmla="*/ 713718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646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469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Footer Placeholder 4">
            <a:extLst>
              <a:ext uri="{FF2B5EF4-FFF2-40B4-BE49-F238E27FC236}">
                <a16:creationId xmlns:a16="http://schemas.microsoft.com/office/drawing/2014/main" id="{E85D0580-FFA4-4E2C-AEC9-28DCF413B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48131" name="Slide Number Placeholder 5">
            <a:extLst>
              <a:ext uri="{FF2B5EF4-FFF2-40B4-BE49-F238E27FC236}">
                <a16:creationId xmlns:a16="http://schemas.microsoft.com/office/drawing/2014/main" id="{6AF5CDEA-E7C0-47D0-B971-2E0884413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EB3018E-5CA7-4756-912C-58B39886435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10676D6D-B12D-4F39-B9FE-F9A84B4B28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4475" y="200025"/>
            <a:ext cx="8085138" cy="935038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Connection-oriented demux: example</a:t>
            </a:r>
          </a:p>
        </p:txBody>
      </p:sp>
      <p:sp>
        <p:nvSpPr>
          <p:cNvPr id="48133" name="Freeform 4">
            <a:extLst>
              <a:ext uri="{FF2B5EF4-FFF2-40B4-BE49-F238E27FC236}">
                <a16:creationId xmlns:a16="http://schemas.microsoft.com/office/drawing/2014/main" id="{91B61C40-705F-47C6-8325-C5F6EAE502CA}"/>
              </a:ext>
            </a:extLst>
          </p:cNvPr>
          <p:cNvSpPr>
            <a:spLocks/>
          </p:cNvSpPr>
          <p:nvPr/>
        </p:nvSpPr>
        <p:spPr bwMode="auto">
          <a:xfrm>
            <a:off x="2830513" y="1754188"/>
            <a:ext cx="552450" cy="2082800"/>
          </a:xfrm>
          <a:custGeom>
            <a:avLst/>
            <a:gdLst>
              <a:gd name="T0" fmla="*/ 0 w 348"/>
              <a:gd name="T1" fmla="*/ 2147483646 h 1312"/>
              <a:gd name="T2" fmla="*/ 2147483646 w 348"/>
              <a:gd name="T3" fmla="*/ 0 h 1312"/>
              <a:gd name="T4" fmla="*/ 2147483646 w 348"/>
              <a:gd name="T5" fmla="*/ 2147483646 h 1312"/>
              <a:gd name="T6" fmla="*/ 2147483646 w 348"/>
              <a:gd name="T7" fmla="*/ 2147483646 h 1312"/>
              <a:gd name="T8" fmla="*/ 0 w 348"/>
              <a:gd name="T9" fmla="*/ 2147483646 h 13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48"/>
              <a:gd name="T16" fmla="*/ 0 h 1312"/>
              <a:gd name="T17" fmla="*/ 348 w 348"/>
              <a:gd name="T18" fmla="*/ 1312 h 131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48" h="1312">
                <a:moveTo>
                  <a:pt x="0" y="1306"/>
                </a:moveTo>
                <a:lnTo>
                  <a:pt x="348" y="0"/>
                </a:lnTo>
                <a:lnTo>
                  <a:pt x="342" y="1258"/>
                </a:lnTo>
                <a:lnTo>
                  <a:pt x="180" y="1312"/>
                </a:lnTo>
                <a:lnTo>
                  <a:pt x="0" y="1306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48134" name="Freeform 5">
            <a:extLst>
              <a:ext uri="{FF2B5EF4-FFF2-40B4-BE49-F238E27FC236}">
                <a16:creationId xmlns:a16="http://schemas.microsoft.com/office/drawing/2014/main" id="{F1CC73B7-61FD-4D95-BB93-7E06777497EB}"/>
              </a:ext>
            </a:extLst>
          </p:cNvPr>
          <p:cNvSpPr>
            <a:spLocks/>
          </p:cNvSpPr>
          <p:nvPr/>
        </p:nvSpPr>
        <p:spPr bwMode="auto">
          <a:xfrm>
            <a:off x="438150" y="1933575"/>
            <a:ext cx="460375" cy="2193925"/>
          </a:xfrm>
          <a:custGeom>
            <a:avLst/>
            <a:gdLst>
              <a:gd name="T0" fmla="*/ 2147483646 w 290"/>
              <a:gd name="T1" fmla="*/ 2147483646 h 1382"/>
              <a:gd name="T2" fmla="*/ 0 w 290"/>
              <a:gd name="T3" fmla="*/ 2147483646 h 1382"/>
              <a:gd name="T4" fmla="*/ 2147483646 w 290"/>
              <a:gd name="T5" fmla="*/ 0 h 1382"/>
              <a:gd name="T6" fmla="*/ 2147483646 w 290"/>
              <a:gd name="T7" fmla="*/ 2147483646 h 1382"/>
              <a:gd name="T8" fmla="*/ 2147483646 w 290"/>
              <a:gd name="T9" fmla="*/ 2147483646 h 1382"/>
              <a:gd name="T10" fmla="*/ 2147483646 w 290"/>
              <a:gd name="T11" fmla="*/ 2147483646 h 138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90"/>
              <a:gd name="T19" fmla="*/ 0 h 1382"/>
              <a:gd name="T20" fmla="*/ 290 w 290"/>
              <a:gd name="T21" fmla="*/ 1382 h 1382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90" h="1382">
                <a:moveTo>
                  <a:pt x="15" y="1382"/>
                </a:moveTo>
                <a:lnTo>
                  <a:pt x="0" y="1360"/>
                </a:lnTo>
                <a:lnTo>
                  <a:pt x="290" y="0"/>
                </a:lnTo>
                <a:lnTo>
                  <a:pt x="284" y="1258"/>
                </a:lnTo>
                <a:lnTo>
                  <a:pt x="182" y="1382"/>
                </a:lnTo>
                <a:lnTo>
                  <a:pt x="15" y="138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folHlink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48135" name="Rectangle 23">
            <a:extLst>
              <a:ext uri="{FF2B5EF4-FFF2-40B4-BE49-F238E27FC236}">
                <a16:creationId xmlns:a16="http://schemas.microsoft.com/office/drawing/2014/main" id="{87F01921-6B97-4388-B032-516A502D47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3450" y="1911350"/>
            <a:ext cx="1296988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8136" name="Rectangle 24">
            <a:extLst>
              <a:ext uri="{FF2B5EF4-FFF2-40B4-BE49-F238E27FC236}">
                <a16:creationId xmlns:a16="http://schemas.microsoft.com/office/drawing/2014/main" id="{76238A99-2A2B-4F5E-ACB1-9FA9CCFEB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350" y="1965325"/>
            <a:ext cx="1273175" cy="197961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8137" name="Line 25">
            <a:extLst>
              <a:ext uri="{FF2B5EF4-FFF2-40B4-BE49-F238E27FC236}">
                <a16:creationId xmlns:a16="http://schemas.microsoft.com/office/drawing/2014/main" id="{B12A46D0-F54B-43F3-BA53-6E2F0102F22C}"/>
              </a:ext>
            </a:extLst>
          </p:cNvPr>
          <p:cNvSpPr>
            <a:spLocks noChangeShapeType="1"/>
          </p:cNvSpPr>
          <p:nvPr/>
        </p:nvSpPr>
        <p:spPr bwMode="auto">
          <a:xfrm>
            <a:off x="904875" y="272573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8138" name="Text Box 26">
            <a:extLst>
              <a:ext uri="{FF2B5EF4-FFF2-40B4-BE49-F238E27FC236}">
                <a16:creationId xmlns:a16="http://schemas.microsoft.com/office/drawing/2014/main" id="{D0FB63AD-E4F8-446D-BBFB-ED703C3D3A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13" y="270827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48139" name="Line 27">
            <a:extLst>
              <a:ext uri="{FF2B5EF4-FFF2-40B4-BE49-F238E27FC236}">
                <a16:creationId xmlns:a16="http://schemas.microsoft.com/office/drawing/2014/main" id="{C820336A-E96D-4A6D-8859-5B8FDD34F735}"/>
              </a:ext>
            </a:extLst>
          </p:cNvPr>
          <p:cNvSpPr>
            <a:spLocks noChangeShapeType="1"/>
          </p:cNvSpPr>
          <p:nvPr/>
        </p:nvSpPr>
        <p:spPr bwMode="auto">
          <a:xfrm>
            <a:off x="912813" y="304641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8140" name="Line 28">
            <a:extLst>
              <a:ext uri="{FF2B5EF4-FFF2-40B4-BE49-F238E27FC236}">
                <a16:creationId xmlns:a16="http://schemas.microsoft.com/office/drawing/2014/main" id="{2A96628D-3610-49CD-A032-AA0584659D2C}"/>
              </a:ext>
            </a:extLst>
          </p:cNvPr>
          <p:cNvSpPr>
            <a:spLocks noChangeShapeType="1"/>
          </p:cNvSpPr>
          <p:nvPr/>
        </p:nvSpPr>
        <p:spPr bwMode="auto">
          <a:xfrm>
            <a:off x="898525" y="335597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8141" name="Line 29">
            <a:extLst>
              <a:ext uri="{FF2B5EF4-FFF2-40B4-BE49-F238E27FC236}">
                <a16:creationId xmlns:a16="http://schemas.microsoft.com/office/drawing/2014/main" id="{63A05B1E-0CE0-4063-ADEC-762E1C59A5D9}"/>
              </a:ext>
            </a:extLst>
          </p:cNvPr>
          <p:cNvSpPr>
            <a:spLocks noChangeShapeType="1"/>
          </p:cNvSpPr>
          <p:nvPr/>
        </p:nvSpPr>
        <p:spPr bwMode="auto">
          <a:xfrm>
            <a:off x="898525" y="364172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48142" name="Text Box 26">
            <a:extLst>
              <a:ext uri="{FF2B5EF4-FFF2-40B4-BE49-F238E27FC236}">
                <a16:creationId xmlns:a16="http://schemas.microsoft.com/office/drawing/2014/main" id="{4D99CBD1-005C-4411-A08D-022082AE0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938" y="195580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48143" name="Text Box 26">
            <a:extLst>
              <a:ext uri="{FF2B5EF4-FFF2-40B4-BE49-F238E27FC236}">
                <a16:creationId xmlns:a16="http://schemas.microsoft.com/office/drawing/2014/main" id="{CA6D3DED-E1EC-4DEC-A788-85D25E67D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488" y="361315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48144" name="Text Box 26">
            <a:extLst>
              <a:ext uri="{FF2B5EF4-FFF2-40B4-BE49-F238E27FC236}">
                <a16:creationId xmlns:a16="http://schemas.microsoft.com/office/drawing/2014/main" id="{49FC40C2-F90C-4F86-A824-9069A18DCE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1538" y="332740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48145" name="Text Box 26">
            <a:extLst>
              <a:ext uri="{FF2B5EF4-FFF2-40B4-BE49-F238E27FC236}">
                <a16:creationId xmlns:a16="http://schemas.microsoft.com/office/drawing/2014/main" id="{BD0C9E25-6E8B-441C-910F-6E8534A97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13" y="3032125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48146" name="Oval 18">
            <a:extLst>
              <a:ext uri="{FF2B5EF4-FFF2-40B4-BE49-F238E27FC236}">
                <a16:creationId xmlns:a16="http://schemas.microsoft.com/office/drawing/2014/main" id="{FC6DB42E-4497-46B3-946D-8082185018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1900" y="2241550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P3</a:t>
            </a:r>
          </a:p>
        </p:txBody>
      </p:sp>
      <p:grpSp>
        <p:nvGrpSpPr>
          <p:cNvPr id="48147" name="Group 19">
            <a:extLst>
              <a:ext uri="{FF2B5EF4-FFF2-40B4-BE49-F238E27FC236}">
                <a16:creationId xmlns:a16="http://schemas.microsoft.com/office/drawing/2014/main" id="{6CC155AD-6423-4C75-AA31-6C52EF207E58}"/>
              </a:ext>
            </a:extLst>
          </p:cNvPr>
          <p:cNvGrpSpPr>
            <a:grpSpLocks/>
          </p:cNvGrpSpPr>
          <p:nvPr/>
        </p:nvGrpSpPr>
        <p:grpSpPr bwMode="auto">
          <a:xfrm>
            <a:off x="1200150" y="2565400"/>
            <a:ext cx="620713" cy="228600"/>
            <a:chOff x="1287" y="2524"/>
            <a:chExt cx="260" cy="100"/>
          </a:xfrm>
        </p:grpSpPr>
        <p:sp>
          <p:nvSpPr>
            <p:cNvPr id="48263" name="Rectangle 20">
              <a:extLst>
                <a:ext uri="{FF2B5EF4-FFF2-40B4-BE49-F238E27FC236}">
                  <a16:creationId xmlns:a16="http://schemas.microsoft.com/office/drawing/2014/main" id="{33F550D6-9F8E-4DA7-8987-13DE034954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64" name="Rectangle 21">
              <a:extLst>
                <a:ext uri="{FF2B5EF4-FFF2-40B4-BE49-F238E27FC236}">
                  <a16:creationId xmlns:a16="http://schemas.microsoft.com/office/drawing/2014/main" id="{2689E571-EB31-4E1D-8AB1-2CCB8A7855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65" name="Rectangle 22">
              <a:extLst>
                <a:ext uri="{FF2B5EF4-FFF2-40B4-BE49-F238E27FC236}">
                  <a16:creationId xmlns:a16="http://schemas.microsoft.com/office/drawing/2014/main" id="{241B9499-6BF2-4E56-A552-CBA7D61705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66" name="Rectangle 23">
              <a:extLst>
                <a:ext uri="{FF2B5EF4-FFF2-40B4-BE49-F238E27FC236}">
                  <a16:creationId xmlns:a16="http://schemas.microsoft.com/office/drawing/2014/main" id="{EA6484C5-9E70-429D-8809-C78CEF38EB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48148" name="Rectangle 23">
            <a:extLst>
              <a:ext uri="{FF2B5EF4-FFF2-40B4-BE49-F238E27FC236}">
                <a16:creationId xmlns:a16="http://schemas.microsoft.com/office/drawing/2014/main" id="{F3E959D8-6362-4DE9-BCE6-5FA2CA23E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2175" y="1677988"/>
            <a:ext cx="2254250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8149" name="Rectangle 24">
            <a:extLst>
              <a:ext uri="{FF2B5EF4-FFF2-40B4-BE49-F238E27FC236}">
                <a16:creationId xmlns:a16="http://schemas.microsoft.com/office/drawing/2014/main" id="{59E18AB6-CB68-4600-B632-CF735C0DB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8200" y="1755775"/>
            <a:ext cx="2225675" cy="197961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8150" name="Text Box 26">
            <a:extLst>
              <a:ext uri="{FF2B5EF4-FFF2-40B4-BE49-F238E27FC236}">
                <a16:creationId xmlns:a16="http://schemas.microsoft.com/office/drawing/2014/main" id="{5EB1F749-47DF-409A-9C62-734ED6558F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650" y="24844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48151" name="Text Box 26">
            <a:extLst>
              <a:ext uri="{FF2B5EF4-FFF2-40B4-BE49-F238E27FC236}">
                <a16:creationId xmlns:a16="http://schemas.microsoft.com/office/drawing/2014/main" id="{30245761-17BC-42F0-90CC-9F0B6C36A2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7625" y="1708150"/>
            <a:ext cx="131762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48152" name="Text Box 26">
            <a:extLst>
              <a:ext uri="{FF2B5EF4-FFF2-40B4-BE49-F238E27FC236}">
                <a16:creationId xmlns:a16="http://schemas.microsoft.com/office/drawing/2014/main" id="{2FB82AE8-CE3A-45D1-8B14-2D9FC2738E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97300" y="33893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48153" name="Text Box 26">
            <a:extLst>
              <a:ext uri="{FF2B5EF4-FFF2-40B4-BE49-F238E27FC236}">
                <a16:creationId xmlns:a16="http://schemas.microsoft.com/office/drawing/2014/main" id="{07E7FFD9-A00D-4EAB-BBEA-3A235E681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97300" y="31035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48154" name="Rectangle 23">
            <a:extLst>
              <a:ext uri="{FF2B5EF4-FFF2-40B4-BE49-F238E27FC236}">
                <a16:creationId xmlns:a16="http://schemas.microsoft.com/office/drawing/2014/main" id="{A47182E9-7EAC-4DF9-B0C0-181DC6DF4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67488" y="1903413"/>
            <a:ext cx="1296987" cy="19812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8155" name="Rectangle 24">
            <a:extLst>
              <a:ext uri="{FF2B5EF4-FFF2-40B4-BE49-F238E27FC236}">
                <a16:creationId xmlns:a16="http://schemas.microsoft.com/office/drawing/2014/main" id="{E9020046-2B11-497A-9D52-94CAD378DE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0638" y="1944688"/>
            <a:ext cx="1631950" cy="197961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48156" name="Text Box 26">
            <a:extLst>
              <a:ext uri="{FF2B5EF4-FFF2-40B4-BE49-F238E27FC236}">
                <a16:creationId xmlns:a16="http://schemas.microsoft.com/office/drawing/2014/main" id="{9F42E7BC-6AC4-49A1-BCA2-633B0CA6AA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6050" y="270033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transport</a:t>
            </a:r>
          </a:p>
        </p:txBody>
      </p:sp>
      <p:sp>
        <p:nvSpPr>
          <p:cNvPr id="48157" name="Text Box 26">
            <a:extLst>
              <a:ext uri="{FF2B5EF4-FFF2-40B4-BE49-F238E27FC236}">
                <a16:creationId xmlns:a16="http://schemas.microsoft.com/office/drawing/2014/main" id="{E2AD689C-9AEA-4F2C-80F9-76B793CE99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0975" y="19478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48158" name="Text Box 26">
            <a:extLst>
              <a:ext uri="{FF2B5EF4-FFF2-40B4-BE49-F238E27FC236}">
                <a16:creationId xmlns:a16="http://schemas.microsoft.com/office/drawing/2014/main" id="{527C69D8-DEEB-47CF-960B-3977B05EBA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8913" y="360521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physical</a:t>
            </a:r>
          </a:p>
        </p:txBody>
      </p:sp>
      <p:sp>
        <p:nvSpPr>
          <p:cNvPr id="48159" name="Text Box 26">
            <a:extLst>
              <a:ext uri="{FF2B5EF4-FFF2-40B4-BE49-F238E27FC236}">
                <a16:creationId xmlns:a16="http://schemas.microsoft.com/office/drawing/2014/main" id="{C98A35BB-1FDE-4557-835A-CD7C17B5E4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5575" y="3319463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link</a:t>
            </a:r>
          </a:p>
        </p:txBody>
      </p:sp>
      <p:sp>
        <p:nvSpPr>
          <p:cNvPr id="48160" name="Text Box 26">
            <a:extLst>
              <a:ext uri="{FF2B5EF4-FFF2-40B4-BE49-F238E27FC236}">
                <a16:creationId xmlns:a16="http://schemas.microsoft.com/office/drawing/2014/main" id="{5C5C3549-09DF-4073-BB43-8517B1E006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6050" y="30241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48161" name="Oval 38">
            <a:extLst>
              <a:ext uri="{FF2B5EF4-FFF2-40B4-BE49-F238E27FC236}">
                <a16:creationId xmlns:a16="http://schemas.microsoft.com/office/drawing/2014/main" id="{4062BB36-288F-459B-9914-965AADF96C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1600" y="2241550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P2</a:t>
            </a:r>
          </a:p>
        </p:txBody>
      </p:sp>
      <p:sp>
        <p:nvSpPr>
          <p:cNvPr id="48162" name="Freeform 39">
            <a:extLst>
              <a:ext uri="{FF2B5EF4-FFF2-40B4-BE49-F238E27FC236}">
                <a16:creationId xmlns:a16="http://schemas.microsoft.com/office/drawing/2014/main" id="{B483923E-666F-402A-A41D-346126CAEB4E}"/>
              </a:ext>
            </a:extLst>
          </p:cNvPr>
          <p:cNvSpPr>
            <a:spLocks/>
          </p:cNvSpPr>
          <p:nvPr/>
        </p:nvSpPr>
        <p:spPr bwMode="auto">
          <a:xfrm>
            <a:off x="8004175" y="1924050"/>
            <a:ext cx="504825" cy="2133600"/>
          </a:xfrm>
          <a:custGeom>
            <a:avLst/>
            <a:gdLst>
              <a:gd name="T0" fmla="*/ 2147483646 w 318"/>
              <a:gd name="T1" fmla="*/ 2147483646 h 1344"/>
              <a:gd name="T2" fmla="*/ 2147483646 w 318"/>
              <a:gd name="T3" fmla="*/ 0 h 1344"/>
              <a:gd name="T4" fmla="*/ 0 w 318"/>
              <a:gd name="T5" fmla="*/ 2147483646 h 1344"/>
              <a:gd name="T6" fmla="*/ 2147483646 w 318"/>
              <a:gd name="T7" fmla="*/ 2147483646 h 1344"/>
              <a:gd name="T8" fmla="*/ 2147483646 w 318"/>
              <a:gd name="T9" fmla="*/ 2147483646 h 134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8"/>
              <a:gd name="T16" fmla="*/ 0 h 1344"/>
              <a:gd name="T17" fmla="*/ 318 w 318"/>
              <a:gd name="T18" fmla="*/ 1344 h 134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8" h="1344">
                <a:moveTo>
                  <a:pt x="318" y="1344"/>
                </a:moveTo>
                <a:lnTo>
                  <a:pt x="12" y="0"/>
                </a:lnTo>
                <a:lnTo>
                  <a:pt x="0" y="1224"/>
                </a:lnTo>
                <a:lnTo>
                  <a:pt x="121" y="1344"/>
                </a:lnTo>
                <a:lnTo>
                  <a:pt x="318" y="1344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48163" name="Group 42">
            <a:extLst>
              <a:ext uri="{FF2B5EF4-FFF2-40B4-BE49-F238E27FC236}">
                <a16:creationId xmlns:a16="http://schemas.microsoft.com/office/drawing/2014/main" id="{E8CC579C-8E69-4AB6-AA48-7D19D51CF1F8}"/>
              </a:ext>
            </a:extLst>
          </p:cNvPr>
          <p:cNvGrpSpPr>
            <a:grpSpLocks/>
          </p:cNvGrpSpPr>
          <p:nvPr/>
        </p:nvGrpSpPr>
        <p:grpSpPr bwMode="auto">
          <a:xfrm>
            <a:off x="1816100" y="5170488"/>
            <a:ext cx="2024063" cy="652462"/>
            <a:chOff x="1079" y="3697"/>
            <a:chExt cx="1275" cy="411"/>
          </a:xfrm>
        </p:grpSpPr>
        <p:sp>
          <p:nvSpPr>
            <p:cNvPr id="48260" name="Rectangle 43">
              <a:extLst>
                <a:ext uri="{FF2B5EF4-FFF2-40B4-BE49-F238E27FC236}">
                  <a16:creationId xmlns:a16="http://schemas.microsoft.com/office/drawing/2014/main" id="{10C20C80-EF20-429D-AEBA-5354947394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3" y="3697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61" name="Line 44">
              <a:extLst>
                <a:ext uri="{FF2B5EF4-FFF2-40B4-BE49-F238E27FC236}">
                  <a16:creationId xmlns:a16="http://schemas.microsoft.com/office/drawing/2014/main" id="{2C5975B1-0845-483A-A6E9-6D4B70E4B5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" y="3770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8262" name="Text Box 45">
              <a:extLst>
                <a:ext uri="{FF2B5EF4-FFF2-40B4-BE49-F238E27FC236}">
                  <a16:creationId xmlns:a16="http://schemas.microsoft.com/office/drawing/2014/main" id="{7F7D2986-B48C-4CAE-96EC-85C5FF0A31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9" y="3822"/>
              <a:ext cx="1233" cy="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source IP,port: A,9157</a:t>
              </a:r>
            </a:p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dest IP, port: B,80</a:t>
              </a:r>
            </a:p>
          </p:txBody>
        </p:sp>
      </p:grpSp>
      <p:grpSp>
        <p:nvGrpSpPr>
          <p:cNvPr id="48164" name="Group 46">
            <a:extLst>
              <a:ext uri="{FF2B5EF4-FFF2-40B4-BE49-F238E27FC236}">
                <a16:creationId xmlns:a16="http://schemas.microsoft.com/office/drawing/2014/main" id="{EAF4800B-5A48-40D9-A7C0-2358F42392FE}"/>
              </a:ext>
            </a:extLst>
          </p:cNvPr>
          <p:cNvGrpSpPr>
            <a:grpSpLocks/>
          </p:cNvGrpSpPr>
          <p:nvPr/>
        </p:nvGrpSpPr>
        <p:grpSpPr bwMode="auto">
          <a:xfrm>
            <a:off x="1666875" y="4479925"/>
            <a:ext cx="1887538" cy="652463"/>
            <a:chOff x="2741" y="3750"/>
            <a:chExt cx="1189" cy="411"/>
          </a:xfrm>
        </p:grpSpPr>
        <p:sp>
          <p:nvSpPr>
            <p:cNvPr id="48257" name="Rectangle 47">
              <a:extLst>
                <a:ext uri="{FF2B5EF4-FFF2-40B4-BE49-F238E27FC236}">
                  <a16:creationId xmlns:a16="http://schemas.microsoft.com/office/drawing/2014/main" id="{1CFDF4BA-C5E2-457B-AA0C-94129B5FFC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58" name="Line 48">
              <a:extLst>
                <a:ext uri="{FF2B5EF4-FFF2-40B4-BE49-F238E27FC236}">
                  <a16:creationId xmlns:a16="http://schemas.microsoft.com/office/drawing/2014/main" id="{6652EF7B-203C-4C29-940A-AAE4C483E0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37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8259" name="Text Box 49">
              <a:extLst>
                <a:ext uri="{FF2B5EF4-FFF2-40B4-BE49-F238E27FC236}">
                  <a16:creationId xmlns:a16="http://schemas.microsoft.com/office/drawing/2014/main" id="{55F053CD-BFDF-4C2B-8379-14FFF4A49E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1117" cy="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source IP,port: B,80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dest IP,port: A,9157</a:t>
              </a:r>
            </a:p>
          </p:txBody>
        </p:sp>
      </p:grpSp>
      <p:sp>
        <p:nvSpPr>
          <p:cNvPr id="48165" name="Text Box 50">
            <a:extLst>
              <a:ext uri="{FF2B5EF4-FFF2-40B4-BE49-F238E27FC236}">
                <a16:creationId xmlns:a16="http://schemas.microsoft.com/office/drawing/2014/main" id="{F36EF576-809C-4C7C-A4B6-B33F48AEB897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88900" y="4705350"/>
            <a:ext cx="1147763" cy="53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/>
              <a:t>host: IP address A</a:t>
            </a:r>
          </a:p>
        </p:txBody>
      </p:sp>
      <p:sp>
        <p:nvSpPr>
          <p:cNvPr id="48166" name="Text Box 51">
            <a:extLst>
              <a:ext uri="{FF2B5EF4-FFF2-40B4-BE49-F238E27FC236}">
                <a16:creationId xmlns:a16="http://schemas.microsoft.com/office/drawing/2014/main" id="{A61AA0DE-5848-4150-A364-1AA1A4897F27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7845425" y="4602163"/>
            <a:ext cx="1147763" cy="53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/>
              <a:t>host: IP address C</a:t>
            </a:r>
          </a:p>
        </p:txBody>
      </p:sp>
      <p:sp>
        <p:nvSpPr>
          <p:cNvPr id="48167" name="Text Box 52">
            <a:extLst>
              <a:ext uri="{FF2B5EF4-FFF2-40B4-BE49-F238E27FC236}">
                <a16:creationId xmlns:a16="http://schemas.microsoft.com/office/drawing/2014/main" id="{ADE76618-1C17-4B12-87CD-713C6F1BF0CB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5046663" y="3702050"/>
            <a:ext cx="1147762" cy="53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/>
              <a:t>server: IP address B</a:t>
            </a:r>
          </a:p>
        </p:txBody>
      </p:sp>
      <p:sp>
        <p:nvSpPr>
          <p:cNvPr id="48168" name="Line 53">
            <a:extLst>
              <a:ext uri="{FF2B5EF4-FFF2-40B4-BE49-F238E27FC236}">
                <a16:creationId xmlns:a16="http://schemas.microsoft.com/office/drawing/2014/main" id="{37D9A505-4441-4A46-ABFF-0922EEF4EB5F}"/>
              </a:ext>
            </a:extLst>
          </p:cNvPr>
          <p:cNvSpPr>
            <a:spLocks noChangeShapeType="1"/>
          </p:cNvSpPr>
          <p:nvPr/>
        </p:nvSpPr>
        <p:spPr bwMode="auto">
          <a:xfrm>
            <a:off x="3354388" y="3432175"/>
            <a:ext cx="22336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8169" name="Line 54">
            <a:extLst>
              <a:ext uri="{FF2B5EF4-FFF2-40B4-BE49-F238E27FC236}">
                <a16:creationId xmlns:a16="http://schemas.microsoft.com/office/drawing/2014/main" id="{C0186298-4927-44E7-B87D-00DC6B6B66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0263" y="3130550"/>
            <a:ext cx="22336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8170" name="Text Box 26">
            <a:extLst>
              <a:ext uri="{FF2B5EF4-FFF2-40B4-BE49-F238E27FC236}">
                <a16:creationId xmlns:a16="http://schemas.microsoft.com/office/drawing/2014/main" id="{465D7752-41F9-4070-AA3D-3C72B36C35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7613" y="2795588"/>
            <a:ext cx="1317625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48171" name="Line 56">
            <a:extLst>
              <a:ext uri="{FF2B5EF4-FFF2-40B4-BE49-F238E27FC236}">
                <a16:creationId xmlns:a16="http://schemas.microsoft.com/office/drawing/2014/main" id="{6BE35EA9-D8DB-4855-8878-1C9C3289AE8E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3438" y="2808288"/>
            <a:ext cx="22336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8172" name="Line 57">
            <a:extLst>
              <a:ext uri="{FF2B5EF4-FFF2-40B4-BE49-F238E27FC236}">
                <a16:creationId xmlns:a16="http://schemas.microsoft.com/office/drawing/2014/main" id="{A151DD27-611B-456A-8B95-A240AAA3BF97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6613" y="2486025"/>
            <a:ext cx="22336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48173" name="Group 58">
            <a:extLst>
              <a:ext uri="{FF2B5EF4-FFF2-40B4-BE49-F238E27FC236}">
                <a16:creationId xmlns:a16="http://schemas.microsoft.com/office/drawing/2014/main" id="{A2805418-CA06-4266-854F-4530CADA3519}"/>
              </a:ext>
            </a:extLst>
          </p:cNvPr>
          <p:cNvGrpSpPr>
            <a:grpSpLocks/>
          </p:cNvGrpSpPr>
          <p:nvPr/>
        </p:nvGrpSpPr>
        <p:grpSpPr bwMode="auto">
          <a:xfrm>
            <a:off x="3552825" y="2347913"/>
            <a:ext cx="473075" cy="228600"/>
            <a:chOff x="1287" y="2524"/>
            <a:chExt cx="260" cy="100"/>
          </a:xfrm>
        </p:grpSpPr>
        <p:sp>
          <p:nvSpPr>
            <p:cNvPr id="48253" name="Rectangle 59">
              <a:extLst>
                <a:ext uri="{FF2B5EF4-FFF2-40B4-BE49-F238E27FC236}">
                  <a16:creationId xmlns:a16="http://schemas.microsoft.com/office/drawing/2014/main" id="{3DC8A77B-1C0E-4066-807B-3B9148E6E2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54" name="Rectangle 60">
              <a:extLst>
                <a:ext uri="{FF2B5EF4-FFF2-40B4-BE49-F238E27FC236}">
                  <a16:creationId xmlns:a16="http://schemas.microsoft.com/office/drawing/2014/main" id="{63D42BA8-9B2F-470F-BE56-4E9F3E075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55" name="Rectangle 61">
              <a:extLst>
                <a:ext uri="{FF2B5EF4-FFF2-40B4-BE49-F238E27FC236}">
                  <a16:creationId xmlns:a16="http://schemas.microsoft.com/office/drawing/2014/main" id="{6DEED422-707E-44AB-B07B-547ECC1CA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56" name="Rectangle 62">
              <a:extLst>
                <a:ext uri="{FF2B5EF4-FFF2-40B4-BE49-F238E27FC236}">
                  <a16:creationId xmlns:a16="http://schemas.microsoft.com/office/drawing/2014/main" id="{22B95A83-37E2-4F09-B86B-40D9B44D6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8174" name="Group 65">
            <a:extLst>
              <a:ext uri="{FF2B5EF4-FFF2-40B4-BE49-F238E27FC236}">
                <a16:creationId xmlns:a16="http://schemas.microsoft.com/office/drawing/2014/main" id="{7E56D45C-4DF8-4C97-B712-CE2AB046E3EB}"/>
              </a:ext>
            </a:extLst>
          </p:cNvPr>
          <p:cNvGrpSpPr>
            <a:grpSpLocks/>
          </p:cNvGrpSpPr>
          <p:nvPr/>
        </p:nvGrpSpPr>
        <p:grpSpPr bwMode="auto">
          <a:xfrm>
            <a:off x="4257675" y="2352675"/>
            <a:ext cx="473075" cy="228600"/>
            <a:chOff x="1287" y="2524"/>
            <a:chExt cx="260" cy="100"/>
          </a:xfrm>
        </p:grpSpPr>
        <p:sp>
          <p:nvSpPr>
            <p:cNvPr id="48249" name="Rectangle 66">
              <a:extLst>
                <a:ext uri="{FF2B5EF4-FFF2-40B4-BE49-F238E27FC236}">
                  <a16:creationId xmlns:a16="http://schemas.microsoft.com/office/drawing/2014/main" id="{A5DBD985-1322-4975-8FB7-8E6E8726E2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50" name="Rectangle 67">
              <a:extLst>
                <a:ext uri="{FF2B5EF4-FFF2-40B4-BE49-F238E27FC236}">
                  <a16:creationId xmlns:a16="http://schemas.microsoft.com/office/drawing/2014/main" id="{8256EBEF-A07A-40BF-98D9-A3CA23F3F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51" name="Rectangle 68">
              <a:extLst>
                <a:ext uri="{FF2B5EF4-FFF2-40B4-BE49-F238E27FC236}">
                  <a16:creationId xmlns:a16="http://schemas.microsoft.com/office/drawing/2014/main" id="{06C6A31F-F769-4962-8DED-5B490388C5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52" name="Rectangle 69">
              <a:extLst>
                <a:ext uri="{FF2B5EF4-FFF2-40B4-BE49-F238E27FC236}">
                  <a16:creationId xmlns:a16="http://schemas.microsoft.com/office/drawing/2014/main" id="{D86EB84C-B5A4-426B-904D-1588C12E40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8175" name="Group 70">
            <a:extLst>
              <a:ext uri="{FF2B5EF4-FFF2-40B4-BE49-F238E27FC236}">
                <a16:creationId xmlns:a16="http://schemas.microsoft.com/office/drawing/2014/main" id="{C088B54E-816B-4D20-9A94-F147A199D761}"/>
              </a:ext>
            </a:extLst>
          </p:cNvPr>
          <p:cNvGrpSpPr>
            <a:grpSpLocks/>
          </p:cNvGrpSpPr>
          <p:nvPr/>
        </p:nvGrpSpPr>
        <p:grpSpPr bwMode="auto">
          <a:xfrm>
            <a:off x="4929188" y="2357438"/>
            <a:ext cx="473075" cy="228600"/>
            <a:chOff x="1287" y="2524"/>
            <a:chExt cx="260" cy="100"/>
          </a:xfrm>
        </p:grpSpPr>
        <p:sp>
          <p:nvSpPr>
            <p:cNvPr id="48245" name="Rectangle 71">
              <a:extLst>
                <a:ext uri="{FF2B5EF4-FFF2-40B4-BE49-F238E27FC236}">
                  <a16:creationId xmlns:a16="http://schemas.microsoft.com/office/drawing/2014/main" id="{948246E1-CBD3-46B8-A4FD-C9A351196B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46" name="Rectangle 72">
              <a:extLst>
                <a:ext uri="{FF2B5EF4-FFF2-40B4-BE49-F238E27FC236}">
                  <a16:creationId xmlns:a16="http://schemas.microsoft.com/office/drawing/2014/main" id="{7B0A7843-A785-46BB-A34B-C6DE14E3E4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47" name="Rectangle 73">
              <a:extLst>
                <a:ext uri="{FF2B5EF4-FFF2-40B4-BE49-F238E27FC236}">
                  <a16:creationId xmlns:a16="http://schemas.microsoft.com/office/drawing/2014/main" id="{D15DCCB7-26C6-4397-83BD-6C335A80E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48" name="Rectangle 74">
              <a:extLst>
                <a:ext uri="{FF2B5EF4-FFF2-40B4-BE49-F238E27FC236}">
                  <a16:creationId xmlns:a16="http://schemas.microsoft.com/office/drawing/2014/main" id="{0A4F36A5-EEDD-4C27-961B-0F1B6BA159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48176" name="Line 75">
            <a:extLst>
              <a:ext uri="{FF2B5EF4-FFF2-40B4-BE49-F238E27FC236}">
                <a16:creationId xmlns:a16="http://schemas.microsoft.com/office/drawing/2014/main" id="{7333024B-554C-4662-BD0F-1569BA376A2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62700" y="3648075"/>
            <a:ext cx="16383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8177" name="Line 76">
            <a:extLst>
              <a:ext uri="{FF2B5EF4-FFF2-40B4-BE49-F238E27FC236}">
                <a16:creationId xmlns:a16="http://schemas.microsoft.com/office/drawing/2014/main" id="{4A10E84D-755A-48D8-BBC7-0F3868AA4ED0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3175" y="3352800"/>
            <a:ext cx="16383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8178" name="Line 77">
            <a:extLst>
              <a:ext uri="{FF2B5EF4-FFF2-40B4-BE49-F238E27FC236}">
                <a16:creationId xmlns:a16="http://schemas.microsoft.com/office/drawing/2014/main" id="{24B06676-DDEC-45D4-9974-3651EE92FEC6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3175" y="3057525"/>
            <a:ext cx="16383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8179" name="Line 78">
            <a:extLst>
              <a:ext uri="{FF2B5EF4-FFF2-40B4-BE49-F238E27FC236}">
                <a16:creationId xmlns:a16="http://schemas.microsoft.com/office/drawing/2014/main" id="{4E17A565-3347-4BFC-9AD8-411B474FC91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3175" y="2752725"/>
            <a:ext cx="16383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48180" name="Group 79">
            <a:extLst>
              <a:ext uri="{FF2B5EF4-FFF2-40B4-BE49-F238E27FC236}">
                <a16:creationId xmlns:a16="http://schemas.microsoft.com/office/drawing/2014/main" id="{9FDD8E1C-6E98-4000-B4C5-09A84C938F6E}"/>
              </a:ext>
            </a:extLst>
          </p:cNvPr>
          <p:cNvGrpSpPr>
            <a:grpSpLocks/>
          </p:cNvGrpSpPr>
          <p:nvPr/>
        </p:nvGrpSpPr>
        <p:grpSpPr bwMode="auto">
          <a:xfrm>
            <a:off x="6505575" y="2579688"/>
            <a:ext cx="473075" cy="228600"/>
            <a:chOff x="1287" y="2524"/>
            <a:chExt cx="260" cy="100"/>
          </a:xfrm>
        </p:grpSpPr>
        <p:sp>
          <p:nvSpPr>
            <p:cNvPr id="48241" name="Rectangle 80">
              <a:extLst>
                <a:ext uri="{FF2B5EF4-FFF2-40B4-BE49-F238E27FC236}">
                  <a16:creationId xmlns:a16="http://schemas.microsoft.com/office/drawing/2014/main" id="{8C7013EF-524B-4827-928B-83C139A9F3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42" name="Rectangle 81">
              <a:extLst>
                <a:ext uri="{FF2B5EF4-FFF2-40B4-BE49-F238E27FC236}">
                  <a16:creationId xmlns:a16="http://schemas.microsoft.com/office/drawing/2014/main" id="{BCE162BC-F6AF-4566-B7DC-AA8F083F2B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43" name="Rectangle 82">
              <a:extLst>
                <a:ext uri="{FF2B5EF4-FFF2-40B4-BE49-F238E27FC236}">
                  <a16:creationId xmlns:a16="http://schemas.microsoft.com/office/drawing/2014/main" id="{ED0219C4-24A9-4A19-8A94-029EDD834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44" name="Rectangle 83">
              <a:extLst>
                <a:ext uri="{FF2B5EF4-FFF2-40B4-BE49-F238E27FC236}">
                  <a16:creationId xmlns:a16="http://schemas.microsoft.com/office/drawing/2014/main" id="{5F57CE5B-673B-4469-B2DC-92BF50221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48181" name="Group 84">
            <a:extLst>
              <a:ext uri="{FF2B5EF4-FFF2-40B4-BE49-F238E27FC236}">
                <a16:creationId xmlns:a16="http://schemas.microsoft.com/office/drawing/2014/main" id="{262447FE-DFB3-4F3D-AA58-56BFF4FCA622}"/>
              </a:ext>
            </a:extLst>
          </p:cNvPr>
          <p:cNvGrpSpPr>
            <a:grpSpLocks/>
          </p:cNvGrpSpPr>
          <p:nvPr/>
        </p:nvGrpSpPr>
        <p:grpSpPr bwMode="auto">
          <a:xfrm>
            <a:off x="7300913" y="2570163"/>
            <a:ext cx="473075" cy="228600"/>
            <a:chOff x="1287" y="2524"/>
            <a:chExt cx="260" cy="100"/>
          </a:xfrm>
        </p:grpSpPr>
        <p:sp>
          <p:nvSpPr>
            <p:cNvPr id="48237" name="Rectangle 85">
              <a:extLst>
                <a:ext uri="{FF2B5EF4-FFF2-40B4-BE49-F238E27FC236}">
                  <a16:creationId xmlns:a16="http://schemas.microsoft.com/office/drawing/2014/main" id="{AE692C62-9A9B-4C30-8747-F6FA06FF07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38" name="Rectangle 86">
              <a:extLst>
                <a:ext uri="{FF2B5EF4-FFF2-40B4-BE49-F238E27FC236}">
                  <a16:creationId xmlns:a16="http://schemas.microsoft.com/office/drawing/2014/main" id="{956A38F9-D1BE-4615-890C-7BD0993383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8" y="2537"/>
              <a:ext cx="155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39" name="Rectangle 87">
              <a:extLst>
                <a:ext uri="{FF2B5EF4-FFF2-40B4-BE49-F238E27FC236}">
                  <a16:creationId xmlns:a16="http://schemas.microsoft.com/office/drawing/2014/main" id="{0CECF9AC-E7D2-476B-8EEE-127B496DAB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3" y="2582"/>
              <a:ext cx="27" cy="26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40" name="Rectangle 88">
              <a:extLst>
                <a:ext uri="{FF2B5EF4-FFF2-40B4-BE49-F238E27FC236}">
                  <a16:creationId xmlns:a16="http://schemas.microsoft.com/office/drawing/2014/main" id="{1C425C05-72C0-442F-B85A-9C00AAE8FE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8" y="2583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48182" name="Oval 89">
            <a:extLst>
              <a:ext uri="{FF2B5EF4-FFF2-40B4-BE49-F238E27FC236}">
                <a16:creationId xmlns:a16="http://schemas.microsoft.com/office/drawing/2014/main" id="{F6994B47-30A4-4F52-9159-C61EDE0B6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2175" y="2236788"/>
            <a:ext cx="598488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P3</a:t>
            </a:r>
          </a:p>
        </p:txBody>
      </p:sp>
      <p:sp>
        <p:nvSpPr>
          <p:cNvPr id="48183" name="Freeform 90">
            <a:extLst>
              <a:ext uri="{FF2B5EF4-FFF2-40B4-BE49-F238E27FC236}">
                <a16:creationId xmlns:a16="http://schemas.microsoft.com/office/drawing/2014/main" id="{FC39BA76-E171-4305-B410-D94DB49F7692}"/>
              </a:ext>
            </a:extLst>
          </p:cNvPr>
          <p:cNvSpPr>
            <a:spLocks/>
          </p:cNvSpPr>
          <p:nvPr/>
        </p:nvSpPr>
        <p:spPr bwMode="auto">
          <a:xfrm>
            <a:off x="1493838" y="2439988"/>
            <a:ext cx="2695575" cy="2695575"/>
          </a:xfrm>
          <a:custGeom>
            <a:avLst/>
            <a:gdLst>
              <a:gd name="T0" fmla="*/ 0 w 1698"/>
              <a:gd name="T1" fmla="*/ 2147483646 h 1698"/>
              <a:gd name="T2" fmla="*/ 0 w 1698"/>
              <a:gd name="T3" fmla="*/ 2147483646 h 1698"/>
              <a:gd name="T4" fmla="*/ 2147483646 w 1698"/>
              <a:gd name="T5" fmla="*/ 2147483646 h 1698"/>
              <a:gd name="T6" fmla="*/ 2147483646 w 1698"/>
              <a:gd name="T7" fmla="*/ 2147483646 h 1698"/>
              <a:gd name="T8" fmla="*/ 2147483646 w 1698"/>
              <a:gd name="T9" fmla="*/ 0 h 169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98"/>
              <a:gd name="T16" fmla="*/ 0 h 1698"/>
              <a:gd name="T17" fmla="*/ 1698 w 1698"/>
              <a:gd name="T18" fmla="*/ 1698 h 169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98" h="1698">
                <a:moveTo>
                  <a:pt x="0" y="131"/>
                </a:moveTo>
                <a:lnTo>
                  <a:pt x="0" y="1698"/>
                </a:lnTo>
                <a:lnTo>
                  <a:pt x="1698" y="1690"/>
                </a:lnTo>
                <a:lnTo>
                  <a:pt x="1691" y="148"/>
                </a:lnTo>
                <a:lnTo>
                  <a:pt x="1443" y="0"/>
                </a:ln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8184" name="Freeform 91">
            <a:extLst>
              <a:ext uri="{FF2B5EF4-FFF2-40B4-BE49-F238E27FC236}">
                <a16:creationId xmlns:a16="http://schemas.microsoft.com/office/drawing/2014/main" id="{7C5C36F5-92C3-4BE0-95FA-B180855E4DF0}"/>
              </a:ext>
            </a:extLst>
          </p:cNvPr>
          <p:cNvSpPr>
            <a:spLocks/>
          </p:cNvSpPr>
          <p:nvPr/>
        </p:nvSpPr>
        <p:spPr bwMode="auto">
          <a:xfrm>
            <a:off x="4479925" y="2471738"/>
            <a:ext cx="3089275" cy="3252787"/>
          </a:xfrm>
          <a:custGeom>
            <a:avLst/>
            <a:gdLst>
              <a:gd name="T0" fmla="*/ 0 w 1946"/>
              <a:gd name="T1" fmla="*/ 0 h 1801"/>
              <a:gd name="T2" fmla="*/ 0 w 1946"/>
              <a:gd name="T3" fmla="*/ 2147483646 h 1801"/>
              <a:gd name="T4" fmla="*/ 2147483646 w 1946"/>
              <a:gd name="T5" fmla="*/ 2147483646 h 1801"/>
              <a:gd name="T6" fmla="*/ 2147483646 w 1946"/>
              <a:gd name="T7" fmla="*/ 2147483646 h 1801"/>
              <a:gd name="T8" fmla="*/ 0 60000 65536"/>
              <a:gd name="T9" fmla="*/ 0 60000 65536"/>
              <a:gd name="T10" fmla="*/ 0 60000 65536"/>
              <a:gd name="T11" fmla="*/ 0 60000 65536"/>
              <a:gd name="T12" fmla="*/ 0 w 1946"/>
              <a:gd name="T13" fmla="*/ 0 h 1801"/>
              <a:gd name="T14" fmla="*/ 1946 w 1946"/>
              <a:gd name="T15" fmla="*/ 1801 h 180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946" h="1801">
                <a:moveTo>
                  <a:pt x="0" y="0"/>
                </a:moveTo>
                <a:lnTo>
                  <a:pt x="0" y="1801"/>
                </a:lnTo>
                <a:lnTo>
                  <a:pt x="1946" y="1794"/>
                </a:lnTo>
                <a:lnTo>
                  <a:pt x="1925" y="132"/>
                </a:ln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8185" name="Freeform 92">
            <a:extLst>
              <a:ext uri="{FF2B5EF4-FFF2-40B4-BE49-F238E27FC236}">
                <a16:creationId xmlns:a16="http://schemas.microsoft.com/office/drawing/2014/main" id="{F68018CC-5CD7-4DF4-8305-FB1E603E0723}"/>
              </a:ext>
            </a:extLst>
          </p:cNvPr>
          <p:cNvSpPr>
            <a:spLocks/>
          </p:cNvSpPr>
          <p:nvPr/>
        </p:nvSpPr>
        <p:spPr bwMode="auto">
          <a:xfrm>
            <a:off x="5138738" y="2460625"/>
            <a:ext cx="1609725" cy="2465388"/>
          </a:xfrm>
          <a:custGeom>
            <a:avLst/>
            <a:gdLst>
              <a:gd name="T0" fmla="*/ 0 w 1014"/>
              <a:gd name="T1" fmla="*/ 0 h 1480"/>
              <a:gd name="T2" fmla="*/ 0 w 1014"/>
              <a:gd name="T3" fmla="*/ 2147483646 h 1480"/>
              <a:gd name="T4" fmla="*/ 2147483646 w 1014"/>
              <a:gd name="T5" fmla="*/ 2147483646 h 1480"/>
              <a:gd name="T6" fmla="*/ 2147483646 w 1014"/>
              <a:gd name="T7" fmla="*/ 2147483646 h 1480"/>
              <a:gd name="T8" fmla="*/ 0 60000 65536"/>
              <a:gd name="T9" fmla="*/ 0 60000 65536"/>
              <a:gd name="T10" fmla="*/ 0 60000 65536"/>
              <a:gd name="T11" fmla="*/ 0 60000 65536"/>
              <a:gd name="T12" fmla="*/ 0 w 1014"/>
              <a:gd name="T13" fmla="*/ 0 h 1480"/>
              <a:gd name="T14" fmla="*/ 1014 w 1014"/>
              <a:gd name="T15" fmla="*/ 1480 h 148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014" h="1480">
                <a:moveTo>
                  <a:pt x="0" y="0"/>
                </a:moveTo>
                <a:lnTo>
                  <a:pt x="0" y="1480"/>
                </a:lnTo>
                <a:lnTo>
                  <a:pt x="1014" y="1480"/>
                </a:lnTo>
                <a:lnTo>
                  <a:pt x="1014" y="146"/>
                </a:ln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48186" name="Group 93">
            <a:extLst>
              <a:ext uri="{FF2B5EF4-FFF2-40B4-BE49-F238E27FC236}">
                <a16:creationId xmlns:a16="http://schemas.microsoft.com/office/drawing/2014/main" id="{729D182A-5C49-4396-9FAA-9A6ABCF683F8}"/>
              </a:ext>
            </a:extLst>
          </p:cNvPr>
          <p:cNvGrpSpPr>
            <a:grpSpLocks/>
          </p:cNvGrpSpPr>
          <p:nvPr/>
        </p:nvGrpSpPr>
        <p:grpSpPr bwMode="auto">
          <a:xfrm>
            <a:off x="5237163" y="4684713"/>
            <a:ext cx="2071687" cy="652462"/>
            <a:chOff x="2741" y="3750"/>
            <a:chExt cx="1305" cy="411"/>
          </a:xfrm>
        </p:grpSpPr>
        <p:sp>
          <p:nvSpPr>
            <p:cNvPr id="48234" name="Rectangle 94">
              <a:extLst>
                <a:ext uri="{FF2B5EF4-FFF2-40B4-BE49-F238E27FC236}">
                  <a16:creationId xmlns:a16="http://schemas.microsoft.com/office/drawing/2014/main" id="{01CBB847-42B0-458F-895B-219BBE6DC5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35" name="Line 95">
              <a:extLst>
                <a:ext uri="{FF2B5EF4-FFF2-40B4-BE49-F238E27FC236}">
                  <a16:creationId xmlns:a16="http://schemas.microsoft.com/office/drawing/2014/main" id="{C600A83D-16A6-43E8-8840-6D9912020E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37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8236" name="Text Box 96">
              <a:extLst>
                <a:ext uri="{FF2B5EF4-FFF2-40B4-BE49-F238E27FC236}">
                  <a16:creationId xmlns:a16="http://schemas.microsoft.com/office/drawing/2014/main" id="{A68008BF-181B-42C5-AA33-376488789D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1233" cy="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source IP,port: C,5775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dest IP,port: B,80</a:t>
              </a:r>
            </a:p>
          </p:txBody>
        </p:sp>
      </p:grpSp>
      <p:grpSp>
        <p:nvGrpSpPr>
          <p:cNvPr id="48187" name="Group 97">
            <a:extLst>
              <a:ext uri="{FF2B5EF4-FFF2-40B4-BE49-F238E27FC236}">
                <a16:creationId xmlns:a16="http://schemas.microsoft.com/office/drawing/2014/main" id="{78E074B2-441F-4FAD-8885-69FEC21860A0}"/>
              </a:ext>
            </a:extLst>
          </p:cNvPr>
          <p:cNvGrpSpPr>
            <a:grpSpLocks/>
          </p:cNvGrpSpPr>
          <p:nvPr/>
        </p:nvGrpSpPr>
        <p:grpSpPr bwMode="auto">
          <a:xfrm>
            <a:off x="5307013" y="5473700"/>
            <a:ext cx="2063750" cy="661988"/>
            <a:chOff x="2741" y="3750"/>
            <a:chExt cx="1300" cy="417"/>
          </a:xfrm>
        </p:grpSpPr>
        <p:sp>
          <p:nvSpPr>
            <p:cNvPr id="48231" name="Rectangle 98">
              <a:extLst>
                <a:ext uri="{FF2B5EF4-FFF2-40B4-BE49-F238E27FC236}">
                  <a16:creationId xmlns:a16="http://schemas.microsoft.com/office/drawing/2014/main" id="{DF80E048-B49D-4D8D-BEA0-E87F020E46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32" name="Line 99">
              <a:extLst>
                <a:ext uri="{FF2B5EF4-FFF2-40B4-BE49-F238E27FC236}">
                  <a16:creationId xmlns:a16="http://schemas.microsoft.com/office/drawing/2014/main" id="{143B7E1D-D700-4169-A4FC-67964D0E215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37"/>
              <a:ext cx="175" cy="0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8233" name="Text Box 100">
              <a:extLst>
                <a:ext uri="{FF2B5EF4-FFF2-40B4-BE49-F238E27FC236}">
                  <a16:creationId xmlns:a16="http://schemas.microsoft.com/office/drawing/2014/main" id="{5E357A67-83A6-42CD-8742-63C64FB9A6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1228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source IP,port: C,9157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dest IP,port: B,80</a:t>
              </a:r>
            </a:p>
          </p:txBody>
        </p:sp>
      </p:grpSp>
      <p:sp>
        <p:nvSpPr>
          <p:cNvPr id="48188" name="Oval 30">
            <a:extLst>
              <a:ext uri="{FF2B5EF4-FFF2-40B4-BE49-F238E27FC236}">
                <a16:creationId xmlns:a16="http://schemas.microsoft.com/office/drawing/2014/main" id="{07524AA0-6CA9-4A91-9CAC-C333D2C8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263" y="2103438"/>
            <a:ext cx="2033587" cy="3048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P4</a:t>
            </a:r>
          </a:p>
        </p:txBody>
      </p:sp>
      <p:sp>
        <p:nvSpPr>
          <p:cNvPr id="48189" name="Text Box 101">
            <a:extLst>
              <a:ext uri="{FF2B5EF4-FFF2-40B4-BE49-F238E27FC236}">
                <a16:creationId xmlns:a16="http://schemas.microsoft.com/office/drawing/2014/main" id="{F12CF9DF-1C47-4355-A73A-A831FD5F68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2900" y="1171575"/>
            <a:ext cx="72517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CC0000"/>
                </a:solidFill>
                <a:latin typeface="Tahoma" panose="020B0604030504040204" pitchFamily="34" charset="0"/>
              </a:rPr>
              <a:t>threaded server: </a:t>
            </a:r>
            <a:r>
              <a:rPr lang="en-US" altLang="zh-TW" sz="2000" dirty="0">
                <a:latin typeface="Tahoma" panose="020B0604030504040204" pitchFamily="34" charset="0"/>
              </a:rPr>
              <a:t>To handle multiple requests at the same time</a:t>
            </a:r>
          </a:p>
        </p:txBody>
      </p:sp>
      <p:sp>
        <p:nvSpPr>
          <p:cNvPr id="48190" name="Line 102">
            <a:extLst>
              <a:ext uri="{FF2B5EF4-FFF2-40B4-BE49-F238E27FC236}">
                <a16:creationId xmlns:a16="http://schemas.microsoft.com/office/drawing/2014/main" id="{527C174C-CE1D-42A5-B9E9-AD125CA3414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79963" y="1516063"/>
            <a:ext cx="579437" cy="75247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pic>
        <p:nvPicPr>
          <p:cNvPr id="48191" name="Picture 103" descr="underline_base">
            <a:extLst>
              <a:ext uri="{FF2B5EF4-FFF2-40B4-BE49-F238E27FC236}">
                <a16:creationId xmlns:a16="http://schemas.microsoft.com/office/drawing/2014/main" id="{61CF35C2-ABCF-4830-88DF-E8BFDB3ED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881063"/>
            <a:ext cx="8228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8192" name="Group 104">
            <a:extLst>
              <a:ext uri="{FF2B5EF4-FFF2-40B4-BE49-F238E27FC236}">
                <a16:creationId xmlns:a16="http://schemas.microsoft.com/office/drawing/2014/main" id="{53FEF0FF-1DA5-4FBB-BF17-E43E6C9E184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258175" y="3529013"/>
            <a:ext cx="711200" cy="669925"/>
            <a:chOff x="-44" y="1473"/>
            <a:chExt cx="981" cy="1105"/>
          </a:xfrm>
        </p:grpSpPr>
        <p:pic>
          <p:nvPicPr>
            <p:cNvPr id="48229" name="Picture 105" descr="desktop_computer_stylized_medium">
              <a:extLst>
                <a:ext uri="{FF2B5EF4-FFF2-40B4-BE49-F238E27FC236}">
                  <a16:creationId xmlns:a16="http://schemas.microsoft.com/office/drawing/2014/main" id="{00542344-92E8-4C76-B8D5-92E348868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230" name="Freeform 106">
              <a:extLst>
                <a:ext uri="{FF2B5EF4-FFF2-40B4-BE49-F238E27FC236}">
                  <a16:creationId xmlns:a16="http://schemas.microsoft.com/office/drawing/2014/main" id="{7FB9271E-FFAC-41FB-85CB-2608D63ECC9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8193" name="Group 107">
            <a:extLst>
              <a:ext uri="{FF2B5EF4-FFF2-40B4-BE49-F238E27FC236}">
                <a16:creationId xmlns:a16="http://schemas.microsoft.com/office/drawing/2014/main" id="{685E809C-633A-4F79-92F1-DBE3ABF95C97}"/>
              </a:ext>
            </a:extLst>
          </p:cNvPr>
          <p:cNvGrpSpPr>
            <a:grpSpLocks/>
          </p:cNvGrpSpPr>
          <p:nvPr/>
        </p:nvGrpSpPr>
        <p:grpSpPr bwMode="auto">
          <a:xfrm>
            <a:off x="-44450" y="3613150"/>
            <a:ext cx="711200" cy="669925"/>
            <a:chOff x="-44" y="1473"/>
            <a:chExt cx="981" cy="1105"/>
          </a:xfrm>
        </p:grpSpPr>
        <p:pic>
          <p:nvPicPr>
            <p:cNvPr id="48227" name="Picture 108" descr="desktop_computer_stylized_medium">
              <a:extLst>
                <a:ext uri="{FF2B5EF4-FFF2-40B4-BE49-F238E27FC236}">
                  <a16:creationId xmlns:a16="http://schemas.microsoft.com/office/drawing/2014/main" id="{E9D27C1B-AA87-4060-B0CF-0D30A1E46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228" name="Freeform 109">
              <a:extLst>
                <a:ext uri="{FF2B5EF4-FFF2-40B4-BE49-F238E27FC236}">
                  <a16:creationId xmlns:a16="http://schemas.microsoft.com/office/drawing/2014/main" id="{BA1F93EE-26EF-47B4-91E9-3D4DDA16ACF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8194" name="Group 110">
            <a:extLst>
              <a:ext uri="{FF2B5EF4-FFF2-40B4-BE49-F238E27FC236}">
                <a16:creationId xmlns:a16="http://schemas.microsoft.com/office/drawing/2014/main" id="{16372B96-64E5-4FA9-958C-6476BC75B7C7}"/>
              </a:ext>
            </a:extLst>
          </p:cNvPr>
          <p:cNvGrpSpPr>
            <a:grpSpLocks/>
          </p:cNvGrpSpPr>
          <p:nvPr/>
        </p:nvGrpSpPr>
        <p:grpSpPr bwMode="auto">
          <a:xfrm>
            <a:off x="2820988" y="3192463"/>
            <a:ext cx="358775" cy="704850"/>
            <a:chOff x="4140" y="429"/>
            <a:chExt cx="1425" cy="2396"/>
          </a:xfrm>
        </p:grpSpPr>
        <p:sp>
          <p:nvSpPr>
            <p:cNvPr id="48195" name="Freeform 111">
              <a:extLst>
                <a:ext uri="{FF2B5EF4-FFF2-40B4-BE49-F238E27FC236}">
                  <a16:creationId xmlns:a16="http://schemas.microsoft.com/office/drawing/2014/main" id="{AADD7F6C-9699-498A-9A8F-F95E90A73A9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8196" name="Rectangle 112">
              <a:extLst>
                <a:ext uri="{FF2B5EF4-FFF2-40B4-BE49-F238E27FC236}">
                  <a16:creationId xmlns:a16="http://schemas.microsoft.com/office/drawing/2014/main" id="{B1912814-8F32-4D0D-851C-037E0E9615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3" y="429"/>
              <a:ext cx="1053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197" name="Freeform 113">
              <a:extLst>
                <a:ext uri="{FF2B5EF4-FFF2-40B4-BE49-F238E27FC236}">
                  <a16:creationId xmlns:a16="http://schemas.microsoft.com/office/drawing/2014/main" id="{4E4DE97B-B780-40E2-97B1-41960B9AA0F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8198" name="Freeform 114">
              <a:extLst>
                <a:ext uri="{FF2B5EF4-FFF2-40B4-BE49-F238E27FC236}">
                  <a16:creationId xmlns:a16="http://schemas.microsoft.com/office/drawing/2014/main" id="{2068C8E9-B505-4E1B-BE78-2410B1F7E2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8199" name="Rectangle 115">
              <a:extLst>
                <a:ext uri="{FF2B5EF4-FFF2-40B4-BE49-F238E27FC236}">
                  <a16:creationId xmlns:a16="http://schemas.microsoft.com/office/drawing/2014/main" id="{96694603-1264-4C9D-9A33-529875AA6C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3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48200" name="Group 116">
              <a:extLst>
                <a:ext uri="{FF2B5EF4-FFF2-40B4-BE49-F238E27FC236}">
                  <a16:creationId xmlns:a16="http://schemas.microsoft.com/office/drawing/2014/main" id="{9F1BB75F-6D00-4495-8D13-14C91C19F4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8225" name="AutoShape 117">
                <a:extLst>
                  <a:ext uri="{FF2B5EF4-FFF2-40B4-BE49-F238E27FC236}">
                    <a16:creationId xmlns:a16="http://schemas.microsoft.com/office/drawing/2014/main" id="{5B8CFF91-C816-4EC0-89F4-01C329C540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4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8226" name="AutoShape 118">
                <a:extLst>
                  <a:ext uri="{FF2B5EF4-FFF2-40B4-BE49-F238E27FC236}">
                    <a16:creationId xmlns:a16="http://schemas.microsoft.com/office/drawing/2014/main" id="{7A29E587-70F9-4229-82D5-85DE1B35E9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2"/>
                <a:ext cx="692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8201" name="Rectangle 119">
              <a:extLst>
                <a:ext uri="{FF2B5EF4-FFF2-40B4-BE49-F238E27FC236}">
                  <a16:creationId xmlns:a16="http://schemas.microsoft.com/office/drawing/2014/main" id="{5A9133CF-61D5-4508-BA5D-2F9091EB79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2" y="1017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48202" name="Group 120">
              <a:extLst>
                <a:ext uri="{FF2B5EF4-FFF2-40B4-BE49-F238E27FC236}">
                  <a16:creationId xmlns:a16="http://schemas.microsoft.com/office/drawing/2014/main" id="{2E96B269-A166-45BA-8308-4752107994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8223" name="AutoShape 121">
                <a:extLst>
                  <a:ext uri="{FF2B5EF4-FFF2-40B4-BE49-F238E27FC236}">
                    <a16:creationId xmlns:a16="http://schemas.microsoft.com/office/drawing/2014/main" id="{659FAC06-D156-493F-B1D8-233C67FF36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24" cy="15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8224" name="AutoShape 122">
                <a:extLst>
                  <a:ext uri="{FF2B5EF4-FFF2-40B4-BE49-F238E27FC236}">
                    <a16:creationId xmlns:a16="http://schemas.microsoft.com/office/drawing/2014/main" id="{1A1CF87E-9D63-445D-9909-A73F6E82E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6"/>
                <a:ext cx="692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8203" name="Rectangle 123">
              <a:extLst>
                <a:ext uri="{FF2B5EF4-FFF2-40B4-BE49-F238E27FC236}">
                  <a16:creationId xmlns:a16="http://schemas.microsoft.com/office/drawing/2014/main" id="{82BFC858-10B8-4579-A1C7-D8B4607669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6" y="1357"/>
              <a:ext cx="599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04" name="Rectangle 124">
              <a:extLst>
                <a:ext uri="{FF2B5EF4-FFF2-40B4-BE49-F238E27FC236}">
                  <a16:creationId xmlns:a16="http://schemas.microsoft.com/office/drawing/2014/main" id="{6FE11F5A-4C05-4542-B6FC-76C4CFB6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4"/>
              <a:ext cx="593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48205" name="Group 125">
              <a:extLst>
                <a:ext uri="{FF2B5EF4-FFF2-40B4-BE49-F238E27FC236}">
                  <a16:creationId xmlns:a16="http://schemas.microsoft.com/office/drawing/2014/main" id="{22BD2B9D-EC89-4BB3-AAF9-AF7F884353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8221" name="AutoShape 126">
                <a:extLst>
                  <a:ext uri="{FF2B5EF4-FFF2-40B4-BE49-F238E27FC236}">
                    <a16:creationId xmlns:a16="http://schemas.microsoft.com/office/drawing/2014/main" id="{A4B26B79-4C88-4C5F-85B0-DCF6A1B145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8222" name="AutoShape 127">
                <a:extLst>
                  <a:ext uri="{FF2B5EF4-FFF2-40B4-BE49-F238E27FC236}">
                    <a16:creationId xmlns:a16="http://schemas.microsoft.com/office/drawing/2014/main" id="{A7E19ADC-2ADC-4BEB-8C2A-61278774F0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3"/>
                <a:ext cx="699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8206" name="Freeform 128">
              <a:extLst>
                <a:ext uri="{FF2B5EF4-FFF2-40B4-BE49-F238E27FC236}">
                  <a16:creationId xmlns:a16="http://schemas.microsoft.com/office/drawing/2014/main" id="{82BDA494-37D6-4B24-9DF4-D3504797980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8207" name="Group 129">
              <a:extLst>
                <a:ext uri="{FF2B5EF4-FFF2-40B4-BE49-F238E27FC236}">
                  <a16:creationId xmlns:a16="http://schemas.microsoft.com/office/drawing/2014/main" id="{5F4F6B94-3BB9-4652-A5AC-57E9BB3130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8219" name="AutoShape 130">
                <a:extLst>
                  <a:ext uri="{FF2B5EF4-FFF2-40B4-BE49-F238E27FC236}">
                    <a16:creationId xmlns:a16="http://schemas.microsoft.com/office/drawing/2014/main" id="{E278A92C-9F1F-49F7-8B4C-455ED7C3A1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3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48220" name="AutoShape 131">
                <a:extLst>
                  <a:ext uri="{FF2B5EF4-FFF2-40B4-BE49-F238E27FC236}">
                    <a16:creationId xmlns:a16="http://schemas.microsoft.com/office/drawing/2014/main" id="{3BF43FB4-877F-4820-BEA6-9FF7A2D09A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1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8208" name="Rectangle 132">
              <a:extLst>
                <a:ext uri="{FF2B5EF4-FFF2-40B4-BE49-F238E27FC236}">
                  <a16:creationId xmlns:a16="http://schemas.microsoft.com/office/drawing/2014/main" id="{7BB9B0A6-BAE6-48FA-A403-7191CBE2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88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09" name="Freeform 133">
              <a:extLst>
                <a:ext uri="{FF2B5EF4-FFF2-40B4-BE49-F238E27FC236}">
                  <a16:creationId xmlns:a16="http://schemas.microsoft.com/office/drawing/2014/main" id="{7F989993-D6C7-49C4-AD39-C64407EE0D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8210" name="Freeform 134">
              <a:extLst>
                <a:ext uri="{FF2B5EF4-FFF2-40B4-BE49-F238E27FC236}">
                  <a16:creationId xmlns:a16="http://schemas.microsoft.com/office/drawing/2014/main" id="{D725AC0C-DECA-42AB-96DA-A65F1C8E1AB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8211" name="Oval 135">
              <a:extLst>
                <a:ext uri="{FF2B5EF4-FFF2-40B4-BE49-F238E27FC236}">
                  <a16:creationId xmlns:a16="http://schemas.microsoft.com/office/drawing/2014/main" id="{0B5ECD61-578B-4606-B4DA-52147EAF64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09"/>
              <a:ext cx="50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12" name="Freeform 136">
              <a:extLst>
                <a:ext uri="{FF2B5EF4-FFF2-40B4-BE49-F238E27FC236}">
                  <a16:creationId xmlns:a16="http://schemas.microsoft.com/office/drawing/2014/main" id="{B66FF180-26DF-4324-8153-08CAF602C2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8213" name="AutoShape 137">
              <a:extLst>
                <a:ext uri="{FF2B5EF4-FFF2-40B4-BE49-F238E27FC236}">
                  <a16:creationId xmlns:a16="http://schemas.microsoft.com/office/drawing/2014/main" id="{9A4AAB17-44C2-409B-99AF-5261EF1F32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198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14" name="AutoShape 138">
              <a:extLst>
                <a:ext uri="{FF2B5EF4-FFF2-40B4-BE49-F238E27FC236}">
                  <a16:creationId xmlns:a16="http://schemas.microsoft.com/office/drawing/2014/main" id="{5E0484C8-C4F0-4445-90C7-B1C7F65173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3" y="2712"/>
              <a:ext cx="1072" cy="81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15" name="Oval 139">
              <a:extLst>
                <a:ext uri="{FF2B5EF4-FFF2-40B4-BE49-F238E27FC236}">
                  <a16:creationId xmlns:a16="http://schemas.microsoft.com/office/drawing/2014/main" id="{88FAB4BE-A267-4252-BE7B-96B0E9483E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0" y="2382"/>
              <a:ext cx="158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16" name="Oval 140">
              <a:extLst>
                <a:ext uri="{FF2B5EF4-FFF2-40B4-BE49-F238E27FC236}">
                  <a16:creationId xmlns:a16="http://schemas.microsoft.com/office/drawing/2014/main" id="{DE583E95-1C08-4D2F-9F0C-F59DF52A8F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58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217" name="Oval 141">
              <a:extLst>
                <a:ext uri="{FF2B5EF4-FFF2-40B4-BE49-F238E27FC236}">
                  <a16:creationId xmlns:a16="http://schemas.microsoft.com/office/drawing/2014/main" id="{35B07D34-A021-4930-AB10-6D45F2FF3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82"/>
              <a:ext cx="158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48218" name="Rectangle 142">
              <a:extLst>
                <a:ext uri="{FF2B5EF4-FFF2-40B4-BE49-F238E27FC236}">
                  <a16:creationId xmlns:a16="http://schemas.microsoft.com/office/drawing/2014/main" id="{DD98AA84-DF8B-4CEB-9E02-4D6BFF2E9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7"/>
              <a:ext cx="88" cy="761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Footer Placeholder 5">
            <a:extLst>
              <a:ext uri="{FF2B5EF4-FFF2-40B4-BE49-F238E27FC236}">
                <a16:creationId xmlns:a16="http://schemas.microsoft.com/office/drawing/2014/main" id="{84EE5BB4-1435-467F-AB42-8843BB494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49155" name="Slide Number Placeholder 6">
            <a:extLst>
              <a:ext uri="{FF2B5EF4-FFF2-40B4-BE49-F238E27FC236}">
                <a16:creationId xmlns:a16="http://schemas.microsoft.com/office/drawing/2014/main" id="{BEB4CBB2-F040-4AD5-829B-9014FFB6C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43517246-57C9-420F-9D1D-2A53A353ADE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26088308-AD3B-4AEF-9C1E-6A1504B891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15365" name="Rectangle 4">
            <a:extLst>
              <a:ext uri="{FF2B5EF4-FFF2-40B4-BE49-F238E27FC236}">
                <a16:creationId xmlns:a16="http://schemas.microsoft.com/office/drawing/2014/main" id="{602E2E67-8FA0-4053-AD04-45894B36AB0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15366" name="Rectangle 5">
            <a:extLst>
              <a:ext uri="{FF2B5EF4-FFF2-40B4-BE49-F238E27FC236}">
                <a16:creationId xmlns:a16="http://schemas.microsoft.com/office/drawing/2014/main" id="{6EB4D054-B9F0-4A9F-99B8-3D2197885034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49159" name="Picture 6" descr="underline_base">
            <a:extLst>
              <a:ext uri="{FF2B5EF4-FFF2-40B4-BE49-F238E27FC236}">
                <a16:creationId xmlns:a16="http://schemas.microsoft.com/office/drawing/2014/main" id="{43CFA0BD-ED3E-4C51-A731-6F0121A89C27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17588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Footer Placeholder 5">
            <a:extLst>
              <a:ext uri="{FF2B5EF4-FFF2-40B4-BE49-F238E27FC236}">
                <a16:creationId xmlns:a16="http://schemas.microsoft.com/office/drawing/2014/main" id="{C5E0CA26-F47B-429A-9B71-19E653522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50179" name="Slide Number Placeholder 6">
            <a:extLst>
              <a:ext uri="{FF2B5EF4-FFF2-40B4-BE49-F238E27FC236}">
                <a16:creationId xmlns:a16="http://schemas.microsoft.com/office/drawing/2014/main" id="{E3F9EBB4-A6D7-4B5D-B4AD-9F0798A56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21A6D24C-0FF9-4216-8DA0-8CEA57B4613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50180" name="Picture 10" descr="underline_base">
            <a:extLst>
              <a:ext uri="{FF2B5EF4-FFF2-40B4-BE49-F238E27FC236}">
                <a16:creationId xmlns:a16="http://schemas.microsoft.com/office/drawing/2014/main" id="{3E858C04-069B-4AA1-98A8-CD7D5499B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" y="847725"/>
            <a:ext cx="8228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81" name="Rectangle 2">
            <a:extLst>
              <a:ext uri="{FF2B5EF4-FFF2-40B4-BE49-F238E27FC236}">
                <a16:creationId xmlns:a16="http://schemas.microsoft.com/office/drawing/2014/main" id="{A4C7D375-919D-4E07-B297-EA335B6A60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6863" y="182563"/>
            <a:ext cx="8529637" cy="922337"/>
          </a:xfrm>
        </p:spPr>
        <p:txBody>
          <a:bodyPr/>
          <a:lstStyle/>
          <a:p>
            <a:r>
              <a:rPr lang="en-US" altLang="zh-TW" sz="4000"/>
              <a:t>UDP: User Datagram Protocol </a:t>
            </a:r>
            <a:r>
              <a:rPr lang="en-US" altLang="zh-TW" sz="3200"/>
              <a:t>[RFC 768]</a:t>
            </a:r>
            <a:endParaRPr lang="en-US" altLang="zh-TW"/>
          </a:p>
        </p:txBody>
      </p:sp>
      <p:sp>
        <p:nvSpPr>
          <p:cNvPr id="50182" name="Rectangle 3">
            <a:extLst>
              <a:ext uri="{FF2B5EF4-FFF2-40B4-BE49-F238E27FC236}">
                <a16:creationId xmlns:a16="http://schemas.microsoft.com/office/drawing/2014/main" id="{50E12E7C-3E7B-4CFC-BF7D-466D8625F92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28625" y="1325563"/>
            <a:ext cx="3810000" cy="4648200"/>
          </a:xfrm>
        </p:spPr>
        <p:txBody>
          <a:bodyPr/>
          <a:lstStyle/>
          <a:p>
            <a:r>
              <a:rPr lang="ja-JP" altLang="en-US" sz="2400" dirty="0"/>
              <a:t>“</a:t>
            </a:r>
            <a:r>
              <a:rPr lang="en-US" altLang="ja-JP" sz="2400" dirty="0"/>
              <a:t>no frills,</a:t>
            </a:r>
            <a:r>
              <a:rPr lang="ja-JP" altLang="en-US" sz="2400" dirty="0"/>
              <a:t>”</a:t>
            </a:r>
            <a:r>
              <a:rPr lang="en-US" altLang="ja-JP" sz="2400" dirty="0"/>
              <a:t> </a:t>
            </a:r>
            <a:r>
              <a:rPr lang="ja-JP" altLang="en-US" sz="2400" dirty="0"/>
              <a:t>“</a:t>
            </a:r>
            <a:r>
              <a:rPr lang="en-US" altLang="ja-JP" sz="2400" dirty="0"/>
              <a:t>bare bones</a:t>
            </a:r>
            <a:r>
              <a:rPr lang="ja-JP" altLang="en-US" sz="2400" dirty="0"/>
              <a:t>”</a:t>
            </a:r>
            <a:r>
              <a:rPr lang="en-US" altLang="ja-JP" sz="2400" dirty="0"/>
              <a:t> Internet transport protocol</a:t>
            </a:r>
          </a:p>
          <a:p>
            <a:r>
              <a:rPr lang="ja-JP" altLang="en-US" sz="2400" dirty="0">
                <a:solidFill>
                  <a:srgbClr val="C00000"/>
                </a:solidFill>
              </a:rPr>
              <a:t>“</a:t>
            </a:r>
            <a:r>
              <a:rPr lang="en-US" altLang="ja-JP" sz="2400" dirty="0">
                <a:solidFill>
                  <a:srgbClr val="C00000"/>
                </a:solidFill>
              </a:rPr>
              <a:t>best effort</a:t>
            </a:r>
            <a:r>
              <a:rPr lang="ja-JP" altLang="en-US" sz="2400" dirty="0">
                <a:solidFill>
                  <a:srgbClr val="C00000"/>
                </a:solidFill>
              </a:rPr>
              <a:t>”</a:t>
            </a:r>
            <a:r>
              <a:rPr lang="en-US" altLang="ja-JP" sz="2400" dirty="0">
                <a:solidFill>
                  <a:srgbClr val="C00000"/>
                </a:solidFill>
              </a:rPr>
              <a:t> service</a:t>
            </a:r>
            <a:r>
              <a:rPr lang="en-US" altLang="ja-JP" sz="2400" dirty="0"/>
              <a:t>, UDP segments may be:</a:t>
            </a:r>
          </a:p>
          <a:p>
            <a:pPr lvl="1"/>
            <a:r>
              <a:rPr lang="en-US" altLang="zh-TW" dirty="0"/>
              <a:t>lost</a:t>
            </a:r>
          </a:p>
          <a:p>
            <a:pPr lvl="1"/>
            <a:r>
              <a:rPr lang="en-US" altLang="zh-TW" dirty="0"/>
              <a:t>delivered out-of-order to app</a:t>
            </a:r>
          </a:p>
          <a:p>
            <a:r>
              <a:rPr lang="en-US" altLang="zh-TW" sz="2400" i="1" dirty="0">
                <a:solidFill>
                  <a:srgbClr val="CC0000"/>
                </a:solidFill>
              </a:rPr>
              <a:t>connectionless:</a:t>
            </a:r>
            <a:endParaRPr lang="en-US" altLang="zh-TW" dirty="0">
              <a:solidFill>
                <a:srgbClr val="CC0000"/>
              </a:solidFill>
            </a:endParaRPr>
          </a:p>
          <a:p>
            <a:pPr lvl="1"/>
            <a:r>
              <a:rPr lang="en-US" altLang="zh-TW" dirty="0"/>
              <a:t>no handshaking between UDP sender, receiver</a:t>
            </a:r>
          </a:p>
          <a:p>
            <a:pPr lvl="1"/>
            <a:r>
              <a:rPr lang="en-US" altLang="zh-TW" dirty="0"/>
              <a:t>each UDP segment handled independently of others</a:t>
            </a:r>
          </a:p>
        </p:txBody>
      </p:sp>
      <p:sp>
        <p:nvSpPr>
          <p:cNvPr id="50183" name="Rectangle 9">
            <a:extLst>
              <a:ext uri="{FF2B5EF4-FFF2-40B4-BE49-F238E27FC236}">
                <a16:creationId xmlns:a16="http://schemas.microsoft.com/office/drawing/2014/main" id="{5917290A-880F-492C-9318-18337A4A53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5038" y="1271588"/>
            <a:ext cx="4052887" cy="51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6889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sz="2800" dirty="0">
                <a:solidFill>
                  <a:srgbClr val="0070C0"/>
                </a:solidFill>
              </a:rPr>
              <a:t>Applications</a:t>
            </a:r>
            <a:r>
              <a:rPr lang="en-US" altLang="zh-TW" sz="2800" dirty="0"/>
              <a:t>:</a:t>
            </a:r>
          </a:p>
          <a:p>
            <a:pPr lvl="1"/>
            <a:r>
              <a:rPr lang="en-US" altLang="zh-TW" sz="2400" dirty="0"/>
              <a:t>streaming multimedia apps (loss tolerant, rate sensitive)</a:t>
            </a:r>
          </a:p>
          <a:p>
            <a:pPr lvl="1"/>
            <a:r>
              <a:rPr lang="en-US" altLang="zh-TW" sz="2400" dirty="0"/>
              <a:t>DNS</a:t>
            </a:r>
          </a:p>
          <a:p>
            <a:pPr lvl="1"/>
            <a:r>
              <a:rPr lang="en-US" altLang="zh-TW" sz="2400" dirty="0"/>
              <a:t>Simple network management protocol (SNMP)</a:t>
            </a:r>
          </a:p>
          <a:p>
            <a:r>
              <a:rPr lang="en-US" altLang="zh-TW" sz="2800" dirty="0"/>
              <a:t>reliable transfer over UDP: </a:t>
            </a:r>
          </a:p>
          <a:p>
            <a:pPr lvl="1"/>
            <a:r>
              <a:rPr lang="en-US" altLang="zh-TW" sz="2400" dirty="0"/>
              <a:t>add reliability at application layer</a:t>
            </a:r>
          </a:p>
          <a:p>
            <a:pPr lvl="1"/>
            <a:r>
              <a:rPr lang="en-US" altLang="zh-TW" sz="2400" dirty="0"/>
              <a:t>application-specific error recovery!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Footer Placeholder 5">
            <a:extLst>
              <a:ext uri="{FF2B5EF4-FFF2-40B4-BE49-F238E27FC236}">
                <a16:creationId xmlns:a16="http://schemas.microsoft.com/office/drawing/2014/main" id="{2376C8D9-EFB1-44FE-901E-42108CB87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51203" name="Slide Number Placeholder 6">
            <a:extLst>
              <a:ext uri="{FF2B5EF4-FFF2-40B4-BE49-F238E27FC236}">
                <a16:creationId xmlns:a16="http://schemas.microsoft.com/office/drawing/2014/main" id="{AA185521-8F79-4352-B1A5-8FB65527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E4C4C47E-F797-4494-A30B-EC9F183F94D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51204" name="Picture 31" descr="underline_base">
            <a:extLst>
              <a:ext uri="{FF2B5EF4-FFF2-40B4-BE49-F238E27FC236}">
                <a16:creationId xmlns:a16="http://schemas.microsoft.com/office/drawing/2014/main" id="{7FE6141F-24BA-4700-BFFE-D21E2CE3942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00" y="950913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05" name="Rectangle 2">
            <a:extLst>
              <a:ext uri="{FF2B5EF4-FFF2-40B4-BE49-F238E27FC236}">
                <a16:creationId xmlns:a16="http://schemas.microsoft.com/office/drawing/2014/main" id="{8B5536DA-75A6-4A6B-A76D-96B6638180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82588" y="249238"/>
            <a:ext cx="8343900" cy="993775"/>
          </a:xfrm>
        </p:spPr>
        <p:txBody>
          <a:bodyPr/>
          <a:lstStyle/>
          <a:p>
            <a:r>
              <a:rPr lang="en-US" altLang="zh-TW" sz="4000"/>
              <a:t>UDP: segment header</a:t>
            </a:r>
            <a:endParaRPr lang="en-US" altLang="zh-TW"/>
          </a:p>
        </p:txBody>
      </p:sp>
      <p:sp>
        <p:nvSpPr>
          <p:cNvPr id="51206" name="Rectangle 7">
            <a:extLst>
              <a:ext uri="{FF2B5EF4-FFF2-40B4-BE49-F238E27FC236}">
                <a16:creationId xmlns:a16="http://schemas.microsoft.com/office/drawing/2014/main" id="{BF634B8E-6A9C-4981-ADCA-2C70315B32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1852613"/>
            <a:ext cx="3324225" cy="32004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51207" name="Rectangle 8">
            <a:extLst>
              <a:ext uri="{FF2B5EF4-FFF2-40B4-BE49-F238E27FC236}">
                <a16:creationId xmlns:a16="http://schemas.microsoft.com/office/drawing/2014/main" id="{41AA1C39-7201-4375-A37F-54BF82772C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175" y="1947863"/>
            <a:ext cx="3324225" cy="32004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51208" name="Text Box 9">
            <a:extLst>
              <a:ext uri="{FF2B5EF4-FFF2-40B4-BE49-F238E27FC236}">
                <a16:creationId xmlns:a16="http://schemas.microsoft.com/office/drawing/2014/main" id="{44A734E4-807B-408B-A5A0-07BBEE33A7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863" y="1960563"/>
            <a:ext cx="15636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source port #</a:t>
            </a:r>
            <a:endParaRPr lang="en-US" altLang="zh-TW" sz="2400">
              <a:latin typeface="Tahoma" panose="020B0604030504040204" pitchFamily="34" charset="0"/>
            </a:endParaRPr>
          </a:p>
        </p:txBody>
      </p:sp>
      <p:sp>
        <p:nvSpPr>
          <p:cNvPr id="51209" name="Text Box 10">
            <a:extLst>
              <a:ext uri="{FF2B5EF4-FFF2-40B4-BE49-F238E27FC236}">
                <a16:creationId xmlns:a16="http://schemas.microsoft.com/office/drawing/2014/main" id="{D5051F53-4E93-488B-886B-5020E9B7B4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3800" y="1960563"/>
            <a:ext cx="1328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dest port #</a:t>
            </a:r>
          </a:p>
        </p:txBody>
      </p:sp>
      <p:sp>
        <p:nvSpPr>
          <p:cNvPr id="51210" name="Line 11">
            <a:extLst>
              <a:ext uri="{FF2B5EF4-FFF2-40B4-BE49-F238E27FC236}">
                <a16:creationId xmlns:a16="http://schemas.microsoft.com/office/drawing/2014/main" id="{D154E9C9-A7F5-4819-96A0-CE6B58489ED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8650" y="2347913"/>
            <a:ext cx="33289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1211" name="Line 12">
            <a:extLst>
              <a:ext uri="{FF2B5EF4-FFF2-40B4-BE49-F238E27FC236}">
                <a16:creationId xmlns:a16="http://schemas.microsoft.com/office/drawing/2014/main" id="{A35BC9C2-134A-49EA-8975-68B048A99C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9125" y="2747963"/>
            <a:ext cx="33242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1212" name="Line 13">
            <a:extLst>
              <a:ext uri="{FF2B5EF4-FFF2-40B4-BE49-F238E27FC236}">
                <a16:creationId xmlns:a16="http://schemas.microsoft.com/office/drawing/2014/main" id="{6BC4BE9D-0FC0-4B63-92F9-C89701A67BF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76475" y="1947863"/>
            <a:ext cx="0" cy="3952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1213" name="Text Box 14">
            <a:extLst>
              <a:ext uri="{FF2B5EF4-FFF2-40B4-BE49-F238E27FC236}">
                <a16:creationId xmlns:a16="http://schemas.microsoft.com/office/drawing/2014/main" id="{7598C2A4-C6E4-4798-8F9B-03AF4811AF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4350" y="1482725"/>
            <a:ext cx="9366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32 bits</a:t>
            </a:r>
          </a:p>
        </p:txBody>
      </p:sp>
      <p:sp>
        <p:nvSpPr>
          <p:cNvPr id="51214" name="Line 15">
            <a:extLst>
              <a:ext uri="{FF2B5EF4-FFF2-40B4-BE49-F238E27FC236}">
                <a16:creationId xmlns:a16="http://schemas.microsoft.com/office/drawing/2014/main" id="{575DD74E-0DBD-4DE5-850D-6551833FA838}"/>
              </a:ext>
            </a:extLst>
          </p:cNvPr>
          <p:cNvSpPr>
            <a:spLocks noChangeShapeType="1"/>
          </p:cNvSpPr>
          <p:nvPr/>
        </p:nvSpPr>
        <p:spPr bwMode="auto">
          <a:xfrm>
            <a:off x="2733675" y="1714500"/>
            <a:ext cx="1200150" cy="47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1215" name="Line 16">
            <a:extLst>
              <a:ext uri="{FF2B5EF4-FFF2-40B4-BE49-F238E27FC236}">
                <a16:creationId xmlns:a16="http://schemas.microsoft.com/office/drawing/2014/main" id="{09B10A36-D8AD-456F-BF81-E3B9C54F2D6E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623888" y="1724025"/>
            <a:ext cx="11287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1216" name="Text Box 17">
            <a:extLst>
              <a:ext uri="{FF2B5EF4-FFF2-40B4-BE49-F238E27FC236}">
                <a16:creationId xmlns:a16="http://schemas.microsoft.com/office/drawing/2014/main" id="{6755BD89-0C7A-45DA-97BE-8EED5929ED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1138" y="3306763"/>
            <a:ext cx="1389062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application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data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(payload)</a:t>
            </a:r>
            <a:endParaRPr lang="en-US" altLang="zh-TW" sz="2400">
              <a:latin typeface="Tahoma" panose="020B0604030504040204" pitchFamily="34" charset="0"/>
            </a:endParaRPr>
          </a:p>
        </p:txBody>
      </p:sp>
      <p:sp>
        <p:nvSpPr>
          <p:cNvPr id="51217" name="Text Box 19">
            <a:extLst>
              <a:ext uri="{FF2B5EF4-FFF2-40B4-BE49-F238E27FC236}">
                <a16:creationId xmlns:a16="http://schemas.microsoft.com/office/drawing/2014/main" id="{74B8FEF0-CCCC-4A98-9F7C-D0D8E2F5DE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4738" y="5222875"/>
            <a:ext cx="25241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UDP segment format</a:t>
            </a:r>
            <a:endParaRPr lang="en-US" altLang="zh-TW" sz="2400">
              <a:latin typeface="Tahoma" panose="020B0604030504040204" pitchFamily="34" charset="0"/>
            </a:endParaRPr>
          </a:p>
        </p:txBody>
      </p:sp>
      <p:sp>
        <p:nvSpPr>
          <p:cNvPr id="51218" name="Line 20">
            <a:extLst>
              <a:ext uri="{FF2B5EF4-FFF2-40B4-BE49-F238E27FC236}">
                <a16:creationId xmlns:a16="http://schemas.microsoft.com/office/drawing/2014/main" id="{1689784E-6322-4F71-B305-4F04B5AC8EF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76475" y="2357438"/>
            <a:ext cx="0" cy="3952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1219" name="Text Box 22">
            <a:extLst>
              <a:ext uri="{FF2B5EF4-FFF2-40B4-BE49-F238E27FC236}">
                <a16:creationId xmlns:a16="http://schemas.microsoft.com/office/drawing/2014/main" id="{FAD4CB01-E507-4177-8621-F64D05093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0763" y="2351088"/>
            <a:ext cx="8143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length</a:t>
            </a:r>
            <a:endParaRPr lang="en-US" altLang="zh-TW" sz="2400">
              <a:latin typeface="Tahoma" panose="020B0604030504040204" pitchFamily="34" charset="0"/>
            </a:endParaRPr>
          </a:p>
        </p:txBody>
      </p:sp>
      <p:sp>
        <p:nvSpPr>
          <p:cNvPr id="51220" name="Text Box 23">
            <a:extLst>
              <a:ext uri="{FF2B5EF4-FFF2-40B4-BE49-F238E27FC236}">
                <a16:creationId xmlns:a16="http://schemas.microsoft.com/office/drawing/2014/main" id="{C64F3DB9-C30A-4E2D-9B83-2C17BAB16F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6988" y="2341563"/>
            <a:ext cx="11763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checksum</a:t>
            </a:r>
            <a:endParaRPr lang="en-US" altLang="zh-TW" sz="2400">
              <a:latin typeface="Tahoma" panose="020B0604030504040204" pitchFamily="34" charset="0"/>
            </a:endParaRPr>
          </a:p>
        </p:txBody>
      </p:sp>
      <p:sp>
        <p:nvSpPr>
          <p:cNvPr id="51221" name="Text Box 24">
            <a:extLst>
              <a:ext uri="{FF2B5EF4-FFF2-40B4-BE49-F238E27FC236}">
                <a16:creationId xmlns:a16="http://schemas.microsoft.com/office/drawing/2014/main" id="{CFCFAB92-BD56-40B0-BFE4-6E0F2C31B2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0850" y="1316038"/>
            <a:ext cx="2406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length, in bytes of UDP segment, including header</a:t>
            </a:r>
            <a:endParaRPr lang="en-US" altLang="zh-TW" sz="2400">
              <a:latin typeface="Tahoma" panose="020B0604030504040204" pitchFamily="34" charset="0"/>
            </a:endParaRPr>
          </a:p>
        </p:txBody>
      </p:sp>
      <p:sp>
        <p:nvSpPr>
          <p:cNvPr id="51222" name="Line 25">
            <a:extLst>
              <a:ext uri="{FF2B5EF4-FFF2-40B4-BE49-F238E27FC236}">
                <a16:creationId xmlns:a16="http://schemas.microsoft.com/office/drawing/2014/main" id="{E24FDBF6-61B1-48ED-B308-750A107E169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78013" y="1631950"/>
            <a:ext cx="2873375" cy="895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431" name="Rectangle 26">
            <a:extLst>
              <a:ext uri="{FF2B5EF4-FFF2-40B4-BE49-F238E27FC236}">
                <a16:creationId xmlns:a16="http://schemas.microsoft.com/office/drawing/2014/main" id="{AB47289B-08D9-41AB-BA39-4C1C4DB3460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865688" y="3044825"/>
            <a:ext cx="3810000" cy="304482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no connection establishment (which can add delay)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simple: no connection state at sender, receiver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small header size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no congestion control: UDP can blast away as fast as desired</a:t>
            </a:r>
          </a:p>
        </p:txBody>
      </p:sp>
      <p:sp>
        <p:nvSpPr>
          <p:cNvPr id="51224" name="Rectangle 27">
            <a:extLst>
              <a:ext uri="{FF2B5EF4-FFF2-40B4-BE49-F238E27FC236}">
                <a16:creationId xmlns:a16="http://schemas.microsoft.com/office/drawing/2014/main" id="{26A6B094-A232-4E3F-A57A-6AD9ACF7F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3763" y="2924175"/>
            <a:ext cx="4048125" cy="3259138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51225" name="Text Box 28">
            <a:extLst>
              <a:ext uri="{FF2B5EF4-FFF2-40B4-BE49-F238E27FC236}">
                <a16:creationId xmlns:a16="http://schemas.microsoft.com/office/drawing/2014/main" id="{1D339F1E-ED08-4158-8A78-E5B04F62F9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5538" y="2643188"/>
            <a:ext cx="3130550" cy="4333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TW" sz="2800" dirty="0">
                <a:solidFill>
                  <a:srgbClr val="CC0000"/>
                </a:solidFill>
              </a:rPr>
              <a:t>why is there a UDP?</a:t>
            </a:r>
            <a:endParaRPr lang="en-US" altLang="zh-TW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Footer Placeholder 5">
            <a:extLst>
              <a:ext uri="{FF2B5EF4-FFF2-40B4-BE49-F238E27FC236}">
                <a16:creationId xmlns:a16="http://schemas.microsoft.com/office/drawing/2014/main" id="{967886A4-0B65-4D81-992B-0F54B0E83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52227" name="Slide Number Placeholder 6">
            <a:extLst>
              <a:ext uri="{FF2B5EF4-FFF2-40B4-BE49-F238E27FC236}">
                <a16:creationId xmlns:a16="http://schemas.microsoft.com/office/drawing/2014/main" id="{031AB22E-E090-4C04-9502-43A1AEFF1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29A6E93-8136-4579-BD4E-A2F239F71FC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8436" name="Rectangle 2">
            <a:extLst>
              <a:ext uri="{FF2B5EF4-FFF2-40B4-BE49-F238E27FC236}">
                <a16:creationId xmlns:a16="http://schemas.microsoft.com/office/drawing/2014/main" id="{22E60482-F51C-492C-B3D9-6DF9AF416A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UDP checksum</a:t>
            </a:r>
          </a:p>
        </p:txBody>
      </p:sp>
      <p:sp>
        <p:nvSpPr>
          <p:cNvPr id="23557" name="Rectangle 3">
            <a:extLst>
              <a:ext uri="{FF2B5EF4-FFF2-40B4-BE49-F238E27FC236}">
                <a16:creationId xmlns:a16="http://schemas.microsoft.com/office/drawing/2014/main" id="{8CE1B6F7-90EC-4DBF-ACCB-C59713D46B4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85800" y="2557463"/>
            <a:ext cx="3657600" cy="3495675"/>
          </a:xfrm>
        </p:spPr>
        <p:txBody>
          <a:bodyPr/>
          <a:lstStyle/>
          <a:p>
            <a:pPr>
              <a:lnSpc>
                <a:spcPct val="70000"/>
              </a:lnSpc>
              <a:buFont typeface="Wingdings" panose="05000000000000000000" pitchFamily="2" charset="2"/>
              <a:buNone/>
              <a:defRPr/>
            </a:pPr>
            <a:r>
              <a:rPr lang="en-US" altLang="zh-TW" sz="3200" dirty="0">
                <a:solidFill>
                  <a:srgbClr val="CC0000"/>
                </a:solidFill>
              </a:rPr>
              <a:t>sender:</a:t>
            </a:r>
          </a:p>
          <a:p>
            <a:pPr marL="457200" indent="-457200">
              <a:lnSpc>
                <a:spcPct val="80000"/>
              </a:lnSpc>
              <a:buFont typeface="+mj-lt"/>
              <a:buAutoNum type="arabicPeriod"/>
              <a:defRPr/>
            </a:pPr>
            <a:r>
              <a:rPr lang="en-US" altLang="zh-TW" sz="2400" dirty="0"/>
              <a:t>treat segment contents, including header fields,  as </a:t>
            </a:r>
            <a:r>
              <a:rPr lang="en-US" altLang="zh-TW" sz="2400" dirty="0">
                <a:solidFill>
                  <a:srgbClr val="0070C0"/>
                </a:solidFill>
              </a:rPr>
              <a:t>sequence of 16-bit integers</a:t>
            </a:r>
          </a:p>
          <a:p>
            <a:pPr marL="457200" indent="-457200">
              <a:lnSpc>
                <a:spcPct val="80000"/>
              </a:lnSpc>
              <a:buFont typeface="+mj-lt"/>
              <a:buAutoNum type="arabicPeriod"/>
              <a:defRPr/>
            </a:pPr>
            <a:r>
              <a:rPr lang="en-US" altLang="zh-TW" sz="2400" dirty="0"/>
              <a:t>checksum: </a:t>
            </a:r>
            <a:r>
              <a:rPr lang="en-US" altLang="zh-TW" sz="2400" dirty="0">
                <a:solidFill>
                  <a:srgbClr val="0070C0"/>
                </a:solidFill>
              </a:rPr>
              <a:t>addition</a:t>
            </a:r>
            <a:r>
              <a:rPr lang="en-US" altLang="zh-TW" sz="2400" dirty="0"/>
              <a:t> </a:t>
            </a:r>
            <a:r>
              <a:rPr lang="en-US" altLang="ja-JP" sz="2400" dirty="0"/>
              <a:t>of segment contents </a:t>
            </a:r>
            <a:r>
              <a:rPr lang="en-US" altLang="ja-JP" sz="2400" dirty="0">
                <a:latin typeface="Arial"/>
                <a:cs typeface="Arial"/>
              </a:rPr>
              <a:t>→ </a:t>
            </a:r>
            <a:r>
              <a:rPr lang="en-US" altLang="zh-TW" sz="2400" dirty="0">
                <a:solidFill>
                  <a:srgbClr val="0070C0"/>
                </a:solidFill>
              </a:rPr>
              <a:t>one</a:t>
            </a:r>
            <a:r>
              <a:rPr lang="ja-JP" altLang="en-US" sz="2400" dirty="0">
                <a:solidFill>
                  <a:srgbClr val="0070C0"/>
                </a:solidFill>
              </a:rPr>
              <a:t>’</a:t>
            </a:r>
            <a:r>
              <a:rPr lang="en-US" altLang="ja-JP" sz="2400" dirty="0">
                <a:solidFill>
                  <a:srgbClr val="0070C0"/>
                </a:solidFill>
              </a:rPr>
              <a:t>s complement </a:t>
            </a:r>
          </a:p>
          <a:p>
            <a:pPr marL="457200" indent="-457200">
              <a:lnSpc>
                <a:spcPct val="80000"/>
              </a:lnSpc>
              <a:buFont typeface="+mj-lt"/>
              <a:buAutoNum type="arabicPeriod"/>
              <a:defRPr/>
            </a:pPr>
            <a:r>
              <a:rPr lang="en-US" altLang="zh-TW" sz="2400" dirty="0"/>
              <a:t>sender puts checksum value into UDP checksum field</a:t>
            </a:r>
          </a:p>
          <a:p>
            <a:pPr>
              <a:lnSpc>
                <a:spcPct val="70000"/>
              </a:lnSpc>
              <a:buFont typeface="Wingdings" panose="05000000000000000000" pitchFamily="2" charset="2"/>
              <a:buNone/>
              <a:defRPr/>
            </a:pPr>
            <a:endParaRPr lang="en-US" altLang="zh-TW" sz="2400" dirty="0"/>
          </a:p>
          <a:p>
            <a:pPr>
              <a:lnSpc>
                <a:spcPct val="70000"/>
              </a:lnSpc>
              <a:defRPr/>
            </a:pPr>
            <a:endParaRPr lang="en-US" altLang="zh-TW" sz="3200" dirty="0"/>
          </a:p>
        </p:txBody>
      </p:sp>
      <p:sp>
        <p:nvSpPr>
          <p:cNvPr id="52230" name="Rectangle 4">
            <a:extLst>
              <a:ext uri="{FF2B5EF4-FFF2-40B4-BE49-F238E27FC236}">
                <a16:creationId xmlns:a16="http://schemas.microsoft.com/office/drawing/2014/main" id="{40CBEA39-E13A-443E-947C-2BBE65D5D084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2552700"/>
            <a:ext cx="4057650" cy="32575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receiver:</a:t>
            </a:r>
          </a:p>
          <a:p>
            <a:r>
              <a:rPr lang="en-US" altLang="zh-TW" sz="2400" dirty="0"/>
              <a:t>compute checksum of received segment</a:t>
            </a:r>
          </a:p>
          <a:p>
            <a:r>
              <a:rPr lang="en-US" altLang="zh-TW" sz="2400" dirty="0"/>
              <a:t>check if </a:t>
            </a:r>
            <a:r>
              <a:rPr lang="en-US" altLang="zh-TW" sz="2400" dirty="0">
                <a:solidFill>
                  <a:srgbClr val="0070C0"/>
                </a:solidFill>
              </a:rPr>
              <a:t>computed checksum </a:t>
            </a:r>
            <a:r>
              <a:rPr lang="en-US" altLang="zh-TW" sz="2400" dirty="0"/>
              <a:t>equals </a:t>
            </a:r>
            <a:r>
              <a:rPr lang="en-US" altLang="zh-TW" sz="2400" dirty="0">
                <a:solidFill>
                  <a:srgbClr val="0070C0"/>
                </a:solidFill>
              </a:rPr>
              <a:t>checksum field </a:t>
            </a:r>
            <a:r>
              <a:rPr lang="en-US" altLang="zh-TW" sz="2400" dirty="0"/>
              <a:t>value:</a:t>
            </a:r>
          </a:p>
          <a:p>
            <a:pPr lvl="1"/>
            <a:r>
              <a:rPr lang="en-US" altLang="zh-TW" dirty="0"/>
              <a:t>NO - error detected</a:t>
            </a:r>
          </a:p>
          <a:p>
            <a:pPr lvl="1"/>
            <a:r>
              <a:rPr lang="en-US" altLang="zh-TW" dirty="0"/>
              <a:t>YES - no error detected. </a:t>
            </a:r>
            <a:r>
              <a:rPr lang="en-US" altLang="zh-TW" i="1" dirty="0"/>
              <a:t>But maybe errors nonetheless?</a:t>
            </a:r>
            <a:r>
              <a:rPr lang="en-US" altLang="zh-TW" dirty="0"/>
              <a:t> More later ….</a:t>
            </a:r>
          </a:p>
          <a:p>
            <a:endParaRPr lang="en-US" altLang="zh-TW" dirty="0"/>
          </a:p>
        </p:txBody>
      </p:sp>
      <p:sp>
        <p:nvSpPr>
          <p:cNvPr id="52231" name="Rectangle 5">
            <a:extLst>
              <a:ext uri="{FF2B5EF4-FFF2-40B4-BE49-F238E27FC236}">
                <a16:creationId xmlns:a16="http://schemas.microsoft.com/office/drawing/2014/main" id="{7D227E76-58C9-4B12-B120-C4020E98A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325" y="1512888"/>
            <a:ext cx="7924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2800" i="1">
                <a:solidFill>
                  <a:srgbClr val="CC0000"/>
                </a:solidFill>
              </a:rPr>
              <a:t>Goal:</a:t>
            </a:r>
            <a:r>
              <a:rPr lang="en-US" altLang="zh-TW" sz="2800"/>
              <a:t> detect </a:t>
            </a:r>
            <a:r>
              <a:rPr lang="ja-JP" altLang="en-US" sz="2800"/>
              <a:t>“</a:t>
            </a:r>
            <a:r>
              <a:rPr lang="en-US" altLang="ja-JP" sz="2800"/>
              <a:t>errors</a:t>
            </a:r>
            <a:r>
              <a:rPr lang="ja-JP" altLang="en-US" sz="2800"/>
              <a:t>”</a:t>
            </a:r>
            <a:r>
              <a:rPr lang="en-US" altLang="ja-JP" sz="2800"/>
              <a:t> (e.g., flipped bits) in transmitted segment</a:t>
            </a:r>
          </a:p>
          <a:p>
            <a:endParaRPr lang="en-US" altLang="zh-TW" sz="2800"/>
          </a:p>
        </p:txBody>
      </p:sp>
      <p:pic>
        <p:nvPicPr>
          <p:cNvPr id="52232" name="Picture 9" descr="underline_base">
            <a:extLst>
              <a:ext uri="{FF2B5EF4-FFF2-40B4-BE49-F238E27FC236}">
                <a16:creationId xmlns:a16="http://schemas.microsoft.com/office/drawing/2014/main" id="{34765B0E-4644-439E-AACC-1A5D3330D2F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88" y="1027113"/>
            <a:ext cx="383857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Footer Placeholder 4">
            <a:extLst>
              <a:ext uri="{FF2B5EF4-FFF2-40B4-BE49-F238E27FC236}">
                <a16:creationId xmlns:a16="http://schemas.microsoft.com/office/drawing/2014/main" id="{D7503952-0AF6-4920-83F3-63324499B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53251" name="Slide Number Placeholder 5">
            <a:extLst>
              <a:ext uri="{FF2B5EF4-FFF2-40B4-BE49-F238E27FC236}">
                <a16:creationId xmlns:a16="http://schemas.microsoft.com/office/drawing/2014/main" id="{5533E512-8401-4ADE-9BED-AC65E5E3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FFB3E921-7A4A-4D4A-8E75-B0F64B7587FF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53252" name="Picture 13" descr="underline_base">
            <a:extLst>
              <a:ext uri="{FF2B5EF4-FFF2-40B4-BE49-F238E27FC236}">
                <a16:creationId xmlns:a16="http://schemas.microsoft.com/office/drawing/2014/main" id="{7EACB10D-819A-4D3D-B439-C012655E8F9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463" y="84931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1" name="Rectangle 2">
            <a:extLst>
              <a:ext uri="{FF2B5EF4-FFF2-40B4-BE49-F238E27FC236}">
                <a16:creationId xmlns:a16="http://schemas.microsoft.com/office/drawing/2014/main" id="{22F46E70-BCE1-436A-B80A-5CD41DB18E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5600" y="273050"/>
            <a:ext cx="7772400" cy="6858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Internet checksum: example</a:t>
            </a:r>
          </a:p>
        </p:txBody>
      </p:sp>
      <p:sp>
        <p:nvSpPr>
          <p:cNvPr id="19462" name="Rectangle 3">
            <a:extLst>
              <a:ext uri="{FF2B5EF4-FFF2-40B4-BE49-F238E27FC236}">
                <a16:creationId xmlns:a16="http://schemas.microsoft.com/office/drawing/2014/main" id="{513BBA2B-9E34-4782-8A3E-5411524EB5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400175"/>
            <a:ext cx="7772400" cy="2743200"/>
          </a:xfrm>
        </p:spPr>
        <p:txBody>
          <a:bodyPr/>
          <a:lstStyle/>
          <a:p>
            <a:pPr>
              <a:lnSpc>
                <a:spcPct val="130000"/>
              </a:lnSpc>
              <a:buFont typeface="Wingdings" charset="0"/>
              <a:buNone/>
              <a:defRPr/>
            </a:pPr>
            <a:r>
              <a:rPr lang="en-US" sz="2800" dirty="0">
                <a:ea typeface="ＭＳ Ｐゴシック" charset="0"/>
                <a:cs typeface="+mn-cs"/>
              </a:rPr>
              <a:t>example: add two 16-bit integers</a:t>
            </a:r>
          </a:p>
        </p:txBody>
      </p:sp>
      <p:sp>
        <p:nvSpPr>
          <p:cNvPr id="53255" name="Text Box 4">
            <a:extLst>
              <a:ext uri="{FF2B5EF4-FFF2-40B4-BE49-F238E27FC236}">
                <a16:creationId xmlns:a16="http://schemas.microsoft.com/office/drawing/2014/main" id="{114924E1-8BCD-472D-9AC7-0C7ADA3CD6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550" y="2190750"/>
            <a:ext cx="6400800" cy="234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>
                <a:solidFill>
                  <a:schemeClr val="bg1"/>
                </a:solidFill>
                <a:latin typeface="Comic Sans MS" panose="030F0702030302020204" pitchFamily="66" charset="0"/>
              </a:rPr>
              <a:t>1</a:t>
            </a:r>
            <a:r>
              <a:rPr lang="en-US" altLang="zh-TW" sz="2000" b="1" dirty="0">
                <a:latin typeface="Comic Sans MS" panose="030F0702030302020204" pitchFamily="66" charset="0"/>
              </a:rPr>
              <a:t>  1  1  1  0  0  1  1  0  0  1  1  0  0  1  1  0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>
                <a:solidFill>
                  <a:schemeClr val="bg1"/>
                </a:solidFill>
                <a:latin typeface="Comic Sans MS" panose="030F0702030302020204" pitchFamily="66" charset="0"/>
              </a:rPr>
              <a:t>1</a:t>
            </a:r>
            <a:r>
              <a:rPr lang="en-US" altLang="zh-TW" sz="2000" b="1" dirty="0">
                <a:latin typeface="Comic Sans MS" panose="030F0702030302020204" pitchFamily="66" charset="0"/>
              </a:rPr>
              <a:t>  1  1  0  1  0  1  0  1  0  1  0  1  0  1  0  1</a:t>
            </a:r>
          </a:p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 b="1" dirty="0">
              <a:latin typeface="Comic Sans MS" panose="030F0702030302020204" pitchFamily="66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>
                <a:latin typeface="Comic Sans MS" panose="030F0702030302020204" pitchFamily="66" charset="0"/>
              </a:rPr>
              <a:t>1  1  0  1  1  1  0  1  1  1  0  1  1  1  0  1  1</a:t>
            </a:r>
          </a:p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 b="1" dirty="0">
              <a:latin typeface="Comic Sans MS" panose="030F0702030302020204" pitchFamily="66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>
                <a:solidFill>
                  <a:schemeClr val="bg1"/>
                </a:solidFill>
                <a:latin typeface="Comic Sans MS" panose="030F0702030302020204" pitchFamily="66" charset="0"/>
              </a:rPr>
              <a:t>1</a:t>
            </a:r>
            <a:r>
              <a:rPr lang="en-US" altLang="zh-TW" sz="2000" b="1" dirty="0">
                <a:latin typeface="Comic Sans MS" panose="030F0702030302020204" pitchFamily="66" charset="0"/>
              </a:rPr>
              <a:t>  1  0  1  1  1  0  1  1  1  0  1  1  1  1  0  0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>
                <a:solidFill>
                  <a:schemeClr val="bg1"/>
                </a:solidFill>
                <a:latin typeface="Comic Sans MS" panose="030F0702030302020204" pitchFamily="66" charset="0"/>
              </a:rPr>
              <a:t>1</a:t>
            </a:r>
            <a:r>
              <a:rPr lang="en-US" altLang="zh-TW" sz="2000" b="1" dirty="0">
                <a:latin typeface="Comic Sans MS" panose="030F0702030302020204" pitchFamily="66" charset="0"/>
              </a:rPr>
              <a:t>  0  1  0  0  0  1  0  0  0  1  0  0  0  0  1  1</a:t>
            </a:r>
            <a:endParaRPr lang="en-US" altLang="zh-TW" sz="2400" b="1" dirty="0">
              <a:latin typeface="Comic Sans MS" panose="030F0702030302020204" pitchFamily="66" charset="0"/>
            </a:endParaRPr>
          </a:p>
        </p:txBody>
      </p:sp>
      <p:sp>
        <p:nvSpPr>
          <p:cNvPr id="53256" name="Line 5">
            <a:extLst>
              <a:ext uri="{FF2B5EF4-FFF2-40B4-BE49-F238E27FC236}">
                <a16:creationId xmlns:a16="http://schemas.microsoft.com/office/drawing/2014/main" id="{AD2A2F7E-3BFF-4396-9FDF-0ACA82835D7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84350" y="3017838"/>
            <a:ext cx="64770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3257" name="Oval 6">
            <a:extLst>
              <a:ext uri="{FF2B5EF4-FFF2-40B4-BE49-F238E27FC236}">
                <a16:creationId xmlns:a16="http://schemas.microsoft.com/office/drawing/2014/main" id="{93076A92-F2C5-4089-873C-5D2ED76394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60550" y="3194050"/>
            <a:ext cx="304800" cy="3048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 type="none" w="sm" len="med"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53258" name="Text Box 7">
            <a:extLst>
              <a:ext uri="{FF2B5EF4-FFF2-40B4-BE49-F238E27FC236}">
                <a16:creationId xmlns:a16="http://schemas.microsoft.com/office/drawing/2014/main" id="{4F29FADF-F9DB-4324-930E-70A421FF1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3149600"/>
            <a:ext cx="1546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Comic Sans MS" panose="030F0702030302020204" pitchFamily="66" charset="0"/>
              </a:rPr>
              <a:t>wraparound</a:t>
            </a:r>
          </a:p>
        </p:txBody>
      </p:sp>
      <p:sp>
        <p:nvSpPr>
          <p:cNvPr id="53259" name="Text Box 8">
            <a:extLst>
              <a:ext uri="{FF2B5EF4-FFF2-40B4-BE49-F238E27FC236}">
                <a16:creationId xmlns:a16="http://schemas.microsoft.com/office/drawing/2014/main" id="{AD9F11EC-12E8-42DB-9634-BB7C6CD87D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9988" y="3757613"/>
            <a:ext cx="63658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Comic Sans MS" panose="030F0702030302020204" pitchFamily="66" charset="0"/>
              </a:rPr>
              <a:t>sum</a:t>
            </a:r>
          </a:p>
        </p:txBody>
      </p:sp>
      <p:sp>
        <p:nvSpPr>
          <p:cNvPr id="53260" name="Text Box 9">
            <a:extLst>
              <a:ext uri="{FF2B5EF4-FFF2-40B4-BE49-F238E27FC236}">
                <a16:creationId xmlns:a16="http://schemas.microsoft.com/office/drawing/2014/main" id="{0E77C3BF-4543-4D83-8113-38AC9B5CF4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363" y="4110038"/>
            <a:ext cx="131921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70C0"/>
                </a:solidFill>
                <a:latin typeface="Comic Sans MS" panose="030F0702030302020204" pitchFamily="66" charset="0"/>
              </a:rPr>
              <a:t>checksum</a:t>
            </a:r>
          </a:p>
        </p:txBody>
      </p:sp>
      <p:sp>
        <p:nvSpPr>
          <p:cNvPr id="53261" name="Line 10">
            <a:extLst>
              <a:ext uri="{FF2B5EF4-FFF2-40B4-BE49-F238E27FC236}">
                <a16:creationId xmlns:a16="http://schemas.microsoft.com/office/drawing/2014/main" id="{FBD1C97E-A7E2-47B0-859D-0E4A1518CB1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84350" y="3736975"/>
            <a:ext cx="64770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3262" name="Freeform 11">
            <a:extLst>
              <a:ext uri="{FF2B5EF4-FFF2-40B4-BE49-F238E27FC236}">
                <a16:creationId xmlns:a16="http://schemas.microsoft.com/office/drawing/2014/main" id="{D60EEC4A-1CC4-47A4-88B0-6947850CCBFD}"/>
              </a:ext>
            </a:extLst>
          </p:cNvPr>
          <p:cNvSpPr>
            <a:spLocks/>
          </p:cNvSpPr>
          <p:nvPr/>
        </p:nvSpPr>
        <p:spPr bwMode="auto">
          <a:xfrm>
            <a:off x="2022475" y="3500438"/>
            <a:ext cx="6013450" cy="92075"/>
          </a:xfrm>
          <a:custGeom>
            <a:avLst/>
            <a:gdLst>
              <a:gd name="T0" fmla="*/ 0 w 3788"/>
              <a:gd name="T1" fmla="*/ 0 h 58"/>
              <a:gd name="T2" fmla="*/ 0 w 3788"/>
              <a:gd name="T3" fmla="*/ 2147483646 h 58"/>
              <a:gd name="T4" fmla="*/ 2147483646 w 3788"/>
              <a:gd name="T5" fmla="*/ 2147483646 h 58"/>
              <a:gd name="T6" fmla="*/ 0 60000 65536"/>
              <a:gd name="T7" fmla="*/ 0 60000 65536"/>
              <a:gd name="T8" fmla="*/ 0 60000 65536"/>
              <a:gd name="T9" fmla="*/ 0 w 3788"/>
              <a:gd name="T10" fmla="*/ 0 h 58"/>
              <a:gd name="T11" fmla="*/ 3788 w 3788"/>
              <a:gd name="T12" fmla="*/ 58 h 5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788" h="58">
                <a:moveTo>
                  <a:pt x="0" y="0"/>
                </a:moveTo>
                <a:lnTo>
                  <a:pt x="0" y="58"/>
                </a:lnTo>
                <a:lnTo>
                  <a:pt x="3788" y="58"/>
                </a:lnTo>
              </a:path>
            </a:pathLst>
          </a:custGeom>
          <a:noFill/>
          <a:ln w="9525" cap="flat" cmpd="sng">
            <a:solidFill>
              <a:srgbClr val="FF0000"/>
            </a:solidFill>
            <a:prstDash val="solid"/>
            <a:round/>
            <a:headEnd type="none" w="sm" len="med"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3263" name="Text Box 15">
            <a:extLst>
              <a:ext uri="{FF2B5EF4-FFF2-40B4-BE49-F238E27FC236}">
                <a16:creationId xmlns:a16="http://schemas.microsoft.com/office/drawing/2014/main" id="{918951BA-8ACE-4195-9AFE-ED64D0A67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9313" y="5043488"/>
            <a:ext cx="7688262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FF0000"/>
                </a:solidFill>
              </a:rPr>
              <a:t>Note:</a:t>
            </a:r>
            <a:r>
              <a:rPr lang="en-US" altLang="zh-TW" sz="2400">
                <a:solidFill>
                  <a:srgbClr val="FF0000"/>
                </a:solidFill>
              </a:rPr>
              <a:t> when adding numbers, a carryout from the most significant bit needs to be added to the result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Footer Placeholder 5">
            <a:extLst>
              <a:ext uri="{FF2B5EF4-FFF2-40B4-BE49-F238E27FC236}">
                <a16:creationId xmlns:a16="http://schemas.microsoft.com/office/drawing/2014/main" id="{D54A8463-B32A-4A90-A9E8-ADCD49569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55299" name="Slide Number Placeholder 6">
            <a:extLst>
              <a:ext uri="{FF2B5EF4-FFF2-40B4-BE49-F238E27FC236}">
                <a16:creationId xmlns:a16="http://schemas.microsoft.com/office/drawing/2014/main" id="{D6FA4D4C-9089-4C60-9065-BF1601BC7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5F76CCCF-DBD0-473D-9740-D38EB35E9F2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27DABDF2-8FF6-409B-A735-130FE64337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20485" name="Rectangle 4">
            <a:extLst>
              <a:ext uri="{FF2B5EF4-FFF2-40B4-BE49-F238E27FC236}">
                <a16:creationId xmlns:a16="http://schemas.microsoft.com/office/drawing/2014/main" id="{4D6CE5BE-FB39-45DB-BC8C-E9353E14368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20486" name="Rectangle 5">
            <a:extLst>
              <a:ext uri="{FF2B5EF4-FFF2-40B4-BE49-F238E27FC236}">
                <a16:creationId xmlns:a16="http://schemas.microsoft.com/office/drawing/2014/main" id="{CE4D4DA6-17D9-4196-AD5E-28F66C6FE0B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55303" name="Picture 6" descr="underline_base">
            <a:extLst>
              <a:ext uri="{FF2B5EF4-FFF2-40B4-BE49-F238E27FC236}">
                <a16:creationId xmlns:a16="http://schemas.microsoft.com/office/drawing/2014/main" id="{88A2D264-DC88-44F3-BEE7-52CADE1AB5C5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17588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Footer Placeholder 5">
            <a:extLst>
              <a:ext uri="{FF2B5EF4-FFF2-40B4-BE49-F238E27FC236}">
                <a16:creationId xmlns:a16="http://schemas.microsoft.com/office/drawing/2014/main" id="{E76AFBC7-3386-4C48-9928-83EEEDB8A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56323" name="Slide Number Placeholder 6">
            <a:extLst>
              <a:ext uri="{FF2B5EF4-FFF2-40B4-BE49-F238E27FC236}">
                <a16:creationId xmlns:a16="http://schemas.microsoft.com/office/drawing/2014/main" id="{F09B2064-C313-48E5-9391-C633AB8B8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33235647-5F22-4AB4-BFFC-5027150525EF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56324" name="Picture 8" descr="underline_base">
            <a:extLst>
              <a:ext uri="{FF2B5EF4-FFF2-40B4-BE49-F238E27FC236}">
                <a16:creationId xmlns:a16="http://schemas.microsoft.com/office/drawing/2014/main" id="{7406CB05-236C-4195-8E1E-AC53566AA84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13" y="88582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6325" name="Rectangle 2">
            <a:extLst>
              <a:ext uri="{FF2B5EF4-FFF2-40B4-BE49-F238E27FC236}">
                <a16:creationId xmlns:a16="http://schemas.microsoft.com/office/drawing/2014/main" id="{3CDA4CDC-A1C0-43A9-9EA3-F8787A372C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2275" y="95250"/>
            <a:ext cx="7772400" cy="1143000"/>
          </a:xfrm>
        </p:spPr>
        <p:txBody>
          <a:bodyPr/>
          <a:lstStyle/>
          <a:p>
            <a:r>
              <a:rPr lang="en-US" altLang="zh-TW"/>
              <a:t>Principles of reliable data transfer</a:t>
            </a:r>
            <a:endParaRPr lang="en-US" altLang="zh-TW" sz="4800"/>
          </a:p>
        </p:txBody>
      </p:sp>
      <p:sp>
        <p:nvSpPr>
          <p:cNvPr id="56326" name="Rectangle 3">
            <a:extLst>
              <a:ext uri="{FF2B5EF4-FFF2-40B4-BE49-F238E27FC236}">
                <a16:creationId xmlns:a16="http://schemas.microsoft.com/office/drawing/2014/main" id="{89E1A498-6C9B-47E1-A58A-FF70980DA00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177925"/>
            <a:ext cx="7658100" cy="838200"/>
          </a:xfrm>
        </p:spPr>
        <p:txBody>
          <a:bodyPr/>
          <a:lstStyle/>
          <a:p>
            <a:r>
              <a:rPr lang="en-US" altLang="zh-TW"/>
              <a:t>important in application, transport, link layers</a:t>
            </a:r>
          </a:p>
          <a:p>
            <a:pPr lvl="1"/>
            <a:r>
              <a:rPr lang="en-US" altLang="zh-TW"/>
              <a:t>top-10 list of important networking topics!</a:t>
            </a:r>
          </a:p>
          <a:p>
            <a:endParaRPr lang="en-US" altLang="zh-TW" sz="3200"/>
          </a:p>
        </p:txBody>
      </p:sp>
      <p:sp>
        <p:nvSpPr>
          <p:cNvPr id="56327" name="Rectangle 4">
            <a:extLst>
              <a:ext uri="{FF2B5EF4-FFF2-40B4-BE49-F238E27FC236}">
                <a16:creationId xmlns:a16="http://schemas.microsoft.com/office/drawing/2014/main" id="{AEC83956-9407-4556-AE32-E968DDAA3B1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04825" y="5619750"/>
            <a:ext cx="7781925" cy="466725"/>
          </a:xfrm>
        </p:spPr>
        <p:txBody>
          <a:bodyPr/>
          <a:lstStyle/>
          <a:p>
            <a:r>
              <a:rPr lang="en-US" altLang="zh-TW" sz="2400" dirty="0"/>
              <a:t>characteristics of unreliable channel will determine complexity of reliable data transfer protocol (</a:t>
            </a:r>
            <a:r>
              <a:rPr lang="en-US" altLang="zh-TW" sz="2400" dirty="0" err="1"/>
              <a:t>rdt</a:t>
            </a:r>
            <a:r>
              <a:rPr lang="en-US" altLang="zh-TW" sz="2400" dirty="0"/>
              <a:t>)</a:t>
            </a:r>
            <a:endParaRPr lang="en-US" altLang="zh-TW" dirty="0"/>
          </a:p>
        </p:txBody>
      </p:sp>
      <p:pic>
        <p:nvPicPr>
          <p:cNvPr id="56328" name="Picture 5" descr="rdt_service">
            <a:extLst>
              <a:ext uri="{FF2B5EF4-FFF2-40B4-BE49-F238E27FC236}">
                <a16:creationId xmlns:a16="http://schemas.microsoft.com/office/drawing/2014/main" id="{61D9FF6D-0B58-4F2D-86DC-ABCF04CCE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50" y="2114550"/>
            <a:ext cx="7623175" cy="336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6329" name="Rectangle 7">
            <a:extLst>
              <a:ext uri="{FF2B5EF4-FFF2-40B4-BE49-F238E27FC236}">
                <a16:creationId xmlns:a16="http://schemas.microsoft.com/office/drawing/2014/main" id="{3B7FF7AD-916D-4375-A203-E9A824FB7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2400" y="3276600"/>
            <a:ext cx="4800600" cy="22098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Footer Placeholder 5">
            <a:extLst>
              <a:ext uri="{FF2B5EF4-FFF2-40B4-BE49-F238E27FC236}">
                <a16:creationId xmlns:a16="http://schemas.microsoft.com/office/drawing/2014/main" id="{CA13A54A-AA09-4543-BA18-F7E322A2B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58371" name="Slide Number Placeholder 6">
            <a:extLst>
              <a:ext uri="{FF2B5EF4-FFF2-40B4-BE49-F238E27FC236}">
                <a16:creationId xmlns:a16="http://schemas.microsoft.com/office/drawing/2014/main" id="{E13F9D59-637B-4638-9E0A-D7EA66C95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C5A2BA4-471C-4470-A357-741712845DD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58372" name="Rectangle 4">
            <a:extLst>
              <a:ext uri="{FF2B5EF4-FFF2-40B4-BE49-F238E27FC236}">
                <a16:creationId xmlns:a16="http://schemas.microsoft.com/office/drawing/2014/main" id="{CF1ED637-86B9-4BE9-8676-D20641269EE2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04825" y="5619750"/>
            <a:ext cx="7781925" cy="466725"/>
          </a:xfrm>
        </p:spPr>
        <p:txBody>
          <a:bodyPr/>
          <a:lstStyle/>
          <a:p>
            <a:r>
              <a:rPr lang="en-US" altLang="zh-TW" sz="2400"/>
              <a:t>characteristics of unreliable channel will determine complexity of reliable data transfer protocol (rdt)</a:t>
            </a:r>
            <a:endParaRPr lang="en-US" altLang="zh-TW"/>
          </a:p>
        </p:txBody>
      </p:sp>
      <p:pic>
        <p:nvPicPr>
          <p:cNvPr id="58373" name="Picture 5" descr="rdt_service">
            <a:extLst>
              <a:ext uri="{FF2B5EF4-FFF2-40B4-BE49-F238E27FC236}">
                <a16:creationId xmlns:a16="http://schemas.microsoft.com/office/drawing/2014/main" id="{1C45E6E7-8E3D-4EDA-BDB4-2CA357864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50" y="2114550"/>
            <a:ext cx="7623175" cy="336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374" name="Rectangle 6">
            <a:extLst>
              <a:ext uri="{FF2B5EF4-FFF2-40B4-BE49-F238E27FC236}">
                <a16:creationId xmlns:a16="http://schemas.microsoft.com/office/drawing/2014/main" id="{32705128-01AE-4073-8683-2FCF3A49F6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2400" y="3352800"/>
            <a:ext cx="4648200" cy="12954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pic>
        <p:nvPicPr>
          <p:cNvPr id="58375" name="Picture 9" descr="underline_base">
            <a:extLst>
              <a:ext uri="{FF2B5EF4-FFF2-40B4-BE49-F238E27FC236}">
                <a16:creationId xmlns:a16="http://schemas.microsoft.com/office/drawing/2014/main" id="{7B576C30-7C4F-467E-88AE-F128B7A935F7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13" y="88582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36" name="Rectangle 10">
            <a:extLst>
              <a:ext uri="{FF2B5EF4-FFF2-40B4-BE49-F238E27FC236}">
                <a16:creationId xmlns:a16="http://schemas.microsoft.com/office/drawing/2014/main" id="{8DD8610B-280E-4022-ACEE-F947629615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2275" y="9525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Principles of reliable data transfer</a:t>
            </a:r>
          </a:p>
        </p:txBody>
      </p:sp>
      <p:sp>
        <p:nvSpPr>
          <p:cNvPr id="58377" name="Rectangle 11">
            <a:extLst>
              <a:ext uri="{FF2B5EF4-FFF2-40B4-BE49-F238E27FC236}">
                <a16:creationId xmlns:a16="http://schemas.microsoft.com/office/drawing/2014/main" id="{354042C2-634A-40EE-B0A9-718E7CCB733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177925"/>
            <a:ext cx="7658100" cy="838200"/>
          </a:xfrm>
        </p:spPr>
        <p:txBody>
          <a:bodyPr/>
          <a:lstStyle/>
          <a:p>
            <a:r>
              <a:rPr lang="en-US" altLang="zh-TW"/>
              <a:t>important in application, transport, link layers</a:t>
            </a:r>
          </a:p>
          <a:p>
            <a:pPr lvl="1"/>
            <a:r>
              <a:rPr lang="en-US" altLang="zh-TW"/>
              <a:t>top-10 list of important networking topics!</a:t>
            </a:r>
          </a:p>
          <a:p>
            <a:endParaRPr lang="en-US" altLang="zh-TW" sz="32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Footer Placeholder 5">
            <a:extLst>
              <a:ext uri="{FF2B5EF4-FFF2-40B4-BE49-F238E27FC236}">
                <a16:creationId xmlns:a16="http://schemas.microsoft.com/office/drawing/2014/main" id="{070F280D-B211-498B-B86F-054504B54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60419" name="Slide Number Placeholder 6">
            <a:extLst>
              <a:ext uri="{FF2B5EF4-FFF2-40B4-BE49-F238E27FC236}">
                <a16:creationId xmlns:a16="http://schemas.microsoft.com/office/drawing/2014/main" id="{49EDAB2D-C1D0-48B5-8D73-1CBA084BA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E6C112EE-B137-4D02-9A2B-42CFF3C6B80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60420" name="Rectangle 4">
            <a:extLst>
              <a:ext uri="{FF2B5EF4-FFF2-40B4-BE49-F238E27FC236}">
                <a16:creationId xmlns:a16="http://schemas.microsoft.com/office/drawing/2014/main" id="{A59176F8-113B-449C-8F04-94786C20FD07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04825" y="5619750"/>
            <a:ext cx="7781925" cy="466725"/>
          </a:xfrm>
        </p:spPr>
        <p:txBody>
          <a:bodyPr/>
          <a:lstStyle/>
          <a:p>
            <a:r>
              <a:rPr lang="en-US" altLang="zh-TW" sz="2400"/>
              <a:t>characteristics of unreliable channel will determine complexity of reliable data transfer protocol (rdt)</a:t>
            </a:r>
            <a:endParaRPr lang="en-US" altLang="zh-TW"/>
          </a:p>
        </p:txBody>
      </p:sp>
      <p:pic>
        <p:nvPicPr>
          <p:cNvPr id="60421" name="Picture 5" descr="rdt_service">
            <a:extLst>
              <a:ext uri="{FF2B5EF4-FFF2-40B4-BE49-F238E27FC236}">
                <a16:creationId xmlns:a16="http://schemas.microsoft.com/office/drawing/2014/main" id="{F87816EB-2FD4-4E4D-A327-BF92B7753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50" y="2114550"/>
            <a:ext cx="7623175" cy="336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2" name="Rectangle 10">
            <a:extLst>
              <a:ext uri="{FF2B5EF4-FFF2-40B4-BE49-F238E27FC236}">
                <a16:creationId xmlns:a16="http://schemas.microsoft.com/office/drawing/2014/main" id="{1552A369-781A-4F9A-90BD-C2C4CB07D53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177925"/>
            <a:ext cx="7658100" cy="838200"/>
          </a:xfrm>
        </p:spPr>
        <p:txBody>
          <a:bodyPr/>
          <a:lstStyle/>
          <a:p>
            <a:r>
              <a:rPr lang="en-US" altLang="zh-TW"/>
              <a:t>important in application, transport, link layers</a:t>
            </a:r>
          </a:p>
          <a:p>
            <a:pPr lvl="1"/>
            <a:r>
              <a:rPr lang="en-US" altLang="zh-TW"/>
              <a:t>top-10 list of important networking topics!</a:t>
            </a:r>
          </a:p>
          <a:p>
            <a:endParaRPr lang="en-US" altLang="zh-TW" sz="3200"/>
          </a:p>
        </p:txBody>
      </p:sp>
      <p:pic>
        <p:nvPicPr>
          <p:cNvPr id="60423" name="Picture 14" descr="underline_base">
            <a:extLst>
              <a:ext uri="{FF2B5EF4-FFF2-40B4-BE49-F238E27FC236}">
                <a16:creationId xmlns:a16="http://schemas.microsoft.com/office/drawing/2014/main" id="{CF71E0EC-44FA-4949-8F1F-3CBD998A7D57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13" y="88582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60" name="Rectangle 15">
            <a:extLst>
              <a:ext uri="{FF2B5EF4-FFF2-40B4-BE49-F238E27FC236}">
                <a16:creationId xmlns:a16="http://schemas.microsoft.com/office/drawing/2014/main" id="{46A9F5D6-C5E3-415F-BAFE-B358B7C1FB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2275" y="9525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Principles of reliable data transfer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Footer Placeholder 5">
            <a:extLst>
              <a:ext uri="{FF2B5EF4-FFF2-40B4-BE49-F238E27FC236}">
                <a16:creationId xmlns:a16="http://schemas.microsoft.com/office/drawing/2014/main" id="{6D70BE85-96F9-452F-B246-19864B660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 dirty="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62467" name="Slide Number Placeholder 6">
            <a:extLst>
              <a:ext uri="{FF2B5EF4-FFF2-40B4-BE49-F238E27FC236}">
                <a16:creationId xmlns:a16="http://schemas.microsoft.com/office/drawing/2014/main" id="{28977F29-38CD-4FD6-8152-BBD1AE2B2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F2D68723-3933-4552-BA16-1038BBF32758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25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62468" name="Picture 26" descr="underline_base">
            <a:extLst>
              <a:ext uri="{FF2B5EF4-FFF2-40B4-BE49-F238E27FC236}">
                <a16:creationId xmlns:a16="http://schemas.microsoft.com/office/drawing/2014/main" id="{F0F9A822-75CE-4BB0-B993-396AFFF7AFC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50" y="831850"/>
            <a:ext cx="7313613" cy="134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2469" name="Rectangle 2">
            <a:extLst>
              <a:ext uri="{FF2B5EF4-FFF2-40B4-BE49-F238E27FC236}">
                <a16:creationId xmlns:a16="http://schemas.microsoft.com/office/drawing/2014/main" id="{3F7611B3-4BB3-45F0-BBF5-C35FDA4CA5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193675"/>
            <a:ext cx="7772400" cy="889000"/>
          </a:xfrm>
        </p:spPr>
        <p:txBody>
          <a:bodyPr/>
          <a:lstStyle/>
          <a:p>
            <a:r>
              <a:rPr lang="en-US" altLang="zh-TW" sz="3600"/>
              <a:t>Reliable data transfer: getting started</a:t>
            </a:r>
            <a:endParaRPr lang="en-US" altLang="zh-TW"/>
          </a:p>
        </p:txBody>
      </p:sp>
      <p:pic>
        <p:nvPicPr>
          <p:cNvPr id="62470" name="Picture 3" descr="rdt_part2">
            <a:extLst>
              <a:ext uri="{FF2B5EF4-FFF2-40B4-BE49-F238E27FC236}">
                <a16:creationId xmlns:a16="http://schemas.microsoft.com/office/drawing/2014/main" id="{7F10C9EA-A1AA-4281-A5E6-C6E34F079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2100" y="2652713"/>
            <a:ext cx="5969000" cy="2386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2471" name="Text Box 4">
            <a:extLst>
              <a:ext uri="{FF2B5EF4-FFF2-40B4-BE49-F238E27FC236}">
                <a16:creationId xmlns:a16="http://schemas.microsoft.com/office/drawing/2014/main" id="{BC8AF6F7-BE26-4375-B2CC-D4E4873747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7588" y="3106738"/>
            <a:ext cx="846137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send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side</a:t>
            </a:r>
          </a:p>
        </p:txBody>
      </p:sp>
      <p:sp>
        <p:nvSpPr>
          <p:cNvPr id="62472" name="Text Box 5">
            <a:extLst>
              <a:ext uri="{FF2B5EF4-FFF2-40B4-BE49-F238E27FC236}">
                <a16:creationId xmlns:a16="http://schemas.microsoft.com/office/drawing/2014/main" id="{32BF8FAB-B089-4CAD-A72B-EA3E6CB4EA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2963" y="3116263"/>
            <a:ext cx="1168400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receive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side</a:t>
            </a:r>
          </a:p>
        </p:txBody>
      </p:sp>
      <p:grpSp>
        <p:nvGrpSpPr>
          <p:cNvPr id="2" name="Group 6">
            <a:extLst>
              <a:ext uri="{FF2B5EF4-FFF2-40B4-BE49-F238E27FC236}">
                <a16:creationId xmlns:a16="http://schemas.microsoft.com/office/drawing/2014/main" id="{8BB60F9C-E301-489F-B5F5-031690A55627}"/>
              </a:ext>
            </a:extLst>
          </p:cNvPr>
          <p:cNvGrpSpPr>
            <a:grpSpLocks/>
          </p:cNvGrpSpPr>
          <p:nvPr/>
        </p:nvGrpSpPr>
        <p:grpSpPr bwMode="auto">
          <a:xfrm>
            <a:off x="227013" y="1460500"/>
            <a:ext cx="3965575" cy="1416050"/>
            <a:chOff x="143" y="920"/>
            <a:chExt cx="2498" cy="892"/>
          </a:xfrm>
        </p:grpSpPr>
        <p:sp>
          <p:nvSpPr>
            <p:cNvPr id="62489" name="Text Box 7">
              <a:extLst>
                <a:ext uri="{FF2B5EF4-FFF2-40B4-BE49-F238E27FC236}">
                  <a16:creationId xmlns:a16="http://schemas.microsoft.com/office/drawing/2014/main" id="{1D5618CA-4A31-4315-A242-C76D6579B0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3" y="920"/>
              <a:ext cx="249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>
                  <a:solidFill>
                    <a:srgbClr val="FF0000"/>
                  </a:solidFill>
                  <a:latin typeface="Courier New" panose="02070309020205020404" pitchFamily="49" charset="0"/>
                </a:rPr>
                <a:t>rdt_send():</a:t>
              </a:r>
              <a:r>
                <a:rPr lang="en-US" altLang="zh-TW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r>
                <a:rPr lang="en-US" altLang="zh-TW" sz="1800">
                  <a:solidFill>
                    <a:srgbClr val="000000"/>
                  </a:solidFill>
                  <a:latin typeface="Tahoma" panose="020B0604030504040204" pitchFamily="34" charset="0"/>
                </a:rPr>
                <a:t>called from above, (e.g., by app.). Passed data to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00"/>
                  </a:solidFill>
                  <a:latin typeface="Tahoma" panose="020B0604030504040204" pitchFamily="34" charset="0"/>
                </a:rPr>
                <a:t>deliver to receiver upper layer</a:t>
              </a:r>
              <a:endParaRPr lang="en-US" altLang="zh-TW" sz="24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62490" name="Group 8">
              <a:extLst>
                <a:ext uri="{FF2B5EF4-FFF2-40B4-BE49-F238E27FC236}">
                  <a16:creationId xmlns:a16="http://schemas.microsoft.com/office/drawing/2014/main" id="{3DFC15BE-6F46-479D-A295-4B2908EAF1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" y="930"/>
              <a:ext cx="2370" cy="882"/>
              <a:chOff x="240" y="942"/>
              <a:chExt cx="2370" cy="882"/>
            </a:xfrm>
          </p:grpSpPr>
          <p:sp>
            <p:nvSpPr>
              <p:cNvPr id="62491" name="Line 9">
                <a:extLst>
                  <a:ext uri="{FF2B5EF4-FFF2-40B4-BE49-F238E27FC236}">
                    <a16:creationId xmlns:a16="http://schemas.microsoft.com/office/drawing/2014/main" id="{42FD2E06-C962-4955-80FC-C788D7DC27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42" y="1500"/>
                <a:ext cx="174" cy="324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2492" name="Rectangle 10">
                <a:extLst>
                  <a:ext uri="{FF2B5EF4-FFF2-40B4-BE49-F238E27FC236}">
                    <a16:creationId xmlns:a16="http://schemas.microsoft.com/office/drawing/2014/main" id="{7DE4A955-3ED1-4241-AA15-25130580A2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942"/>
                <a:ext cx="2370" cy="558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4" name="Group 11">
            <a:extLst>
              <a:ext uri="{FF2B5EF4-FFF2-40B4-BE49-F238E27FC236}">
                <a16:creationId xmlns:a16="http://schemas.microsoft.com/office/drawing/2014/main" id="{8807513F-767B-4B8C-91CF-901BAADCAB7A}"/>
              </a:ext>
            </a:extLst>
          </p:cNvPr>
          <p:cNvGrpSpPr>
            <a:grpSpLocks/>
          </p:cNvGrpSpPr>
          <p:nvPr/>
        </p:nvGrpSpPr>
        <p:grpSpPr bwMode="auto">
          <a:xfrm>
            <a:off x="276225" y="4381500"/>
            <a:ext cx="3762375" cy="1862138"/>
            <a:chOff x="174" y="2760"/>
            <a:chExt cx="2370" cy="1173"/>
          </a:xfrm>
        </p:grpSpPr>
        <p:sp>
          <p:nvSpPr>
            <p:cNvPr id="62485" name="Text Box 12">
              <a:extLst>
                <a:ext uri="{FF2B5EF4-FFF2-40B4-BE49-F238E27FC236}">
                  <a16:creationId xmlns:a16="http://schemas.microsoft.com/office/drawing/2014/main" id="{0561A0E5-C4C5-4ACC-81E2-4C9A002F07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" y="3356"/>
              <a:ext cx="2144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dirty="0" err="1">
                  <a:solidFill>
                    <a:srgbClr val="FF0000"/>
                  </a:solidFill>
                  <a:latin typeface="Courier New" panose="02070309020205020404" pitchFamily="49" charset="0"/>
                </a:rPr>
                <a:t>udt_send</a:t>
              </a:r>
              <a:r>
                <a:rPr lang="en-US" altLang="zh-TW" sz="1800" b="1" dirty="0">
                  <a:solidFill>
                    <a:srgbClr val="FF0000"/>
                  </a:solidFill>
                  <a:latin typeface="Courier New" panose="02070309020205020404" pitchFamily="49" charset="0"/>
                </a:rPr>
                <a:t>():</a:t>
              </a:r>
              <a:r>
                <a:rPr lang="en-US" altLang="zh-TW" sz="18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r>
                <a:rPr lang="en-US" altLang="zh-TW" sz="1800" dirty="0">
                  <a:solidFill>
                    <a:srgbClr val="000000"/>
                  </a:solidFill>
                  <a:latin typeface="Tahoma" panose="020B0604030504040204" pitchFamily="34" charset="0"/>
                </a:rPr>
                <a:t>called by </a:t>
              </a:r>
              <a:r>
                <a:rPr lang="en-US" altLang="zh-TW" sz="1800" dirty="0" err="1">
                  <a:solidFill>
                    <a:srgbClr val="000000"/>
                  </a:solidFill>
                  <a:latin typeface="Tahoma" panose="020B0604030504040204" pitchFamily="34" charset="0"/>
                </a:rPr>
                <a:t>rdt</a:t>
              </a:r>
              <a:r>
                <a:rPr lang="en-US" altLang="zh-TW" sz="1800" dirty="0">
                  <a:solidFill>
                    <a:srgbClr val="000000"/>
                  </a:solidFill>
                  <a:latin typeface="Tahoma" panose="020B0604030504040204" pitchFamily="34" charset="0"/>
                </a:rPr>
                <a:t>,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00"/>
                  </a:solidFill>
                  <a:latin typeface="Tahoma" panose="020B0604030504040204" pitchFamily="34" charset="0"/>
                </a:rPr>
                <a:t>to transfer packet over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00"/>
                  </a:solidFill>
                  <a:latin typeface="Tahoma" panose="020B0604030504040204" pitchFamily="34" charset="0"/>
                </a:rPr>
                <a:t>unreliable channel to receiver</a:t>
              </a:r>
              <a:endParaRPr lang="en-US" altLang="zh-TW" sz="2400" dirty="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62486" name="Group 13">
              <a:extLst>
                <a:ext uri="{FF2B5EF4-FFF2-40B4-BE49-F238E27FC236}">
                  <a16:creationId xmlns:a16="http://schemas.microsoft.com/office/drawing/2014/main" id="{4E20EA0F-631E-4968-BEA3-17838223C7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4" y="2760"/>
              <a:ext cx="2370" cy="1170"/>
              <a:chOff x="174" y="2760"/>
              <a:chExt cx="2370" cy="1170"/>
            </a:xfrm>
          </p:grpSpPr>
          <p:sp>
            <p:nvSpPr>
              <p:cNvPr id="62487" name="Line 14">
                <a:extLst>
                  <a:ext uri="{FF2B5EF4-FFF2-40B4-BE49-F238E27FC236}">
                    <a16:creationId xmlns:a16="http://schemas.microsoft.com/office/drawing/2014/main" id="{C0503954-A3B5-4FB5-9A18-4E2CEF3A5A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2" y="2760"/>
                <a:ext cx="228" cy="606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2488" name="Rectangle 15">
                <a:extLst>
                  <a:ext uri="{FF2B5EF4-FFF2-40B4-BE49-F238E27FC236}">
                    <a16:creationId xmlns:a16="http://schemas.microsoft.com/office/drawing/2014/main" id="{F18E716A-FD23-45CD-A836-C6BDD86A21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" y="3372"/>
                <a:ext cx="2370" cy="558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6" name="Group 16">
            <a:extLst>
              <a:ext uri="{FF2B5EF4-FFF2-40B4-BE49-F238E27FC236}">
                <a16:creationId xmlns:a16="http://schemas.microsoft.com/office/drawing/2014/main" id="{B887D0FF-531A-4076-8093-8CA7848E2AD5}"/>
              </a:ext>
            </a:extLst>
          </p:cNvPr>
          <p:cNvGrpSpPr>
            <a:grpSpLocks/>
          </p:cNvGrpSpPr>
          <p:nvPr/>
        </p:nvGrpSpPr>
        <p:grpSpPr bwMode="auto">
          <a:xfrm>
            <a:off x="4922838" y="4362450"/>
            <a:ext cx="3965575" cy="1647825"/>
            <a:chOff x="3101" y="2748"/>
            <a:chExt cx="2498" cy="1038"/>
          </a:xfrm>
        </p:grpSpPr>
        <p:sp>
          <p:nvSpPr>
            <p:cNvPr id="62481" name="Text Box 17">
              <a:extLst>
                <a:ext uri="{FF2B5EF4-FFF2-40B4-BE49-F238E27FC236}">
                  <a16:creationId xmlns:a16="http://schemas.microsoft.com/office/drawing/2014/main" id="{61E3BDF7-5356-475A-B0EB-D98E210BFA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01" y="3368"/>
              <a:ext cx="249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>
                  <a:solidFill>
                    <a:srgbClr val="FF0000"/>
                  </a:solidFill>
                  <a:latin typeface="Courier New" panose="02070309020205020404" pitchFamily="49" charset="0"/>
                </a:rPr>
                <a:t>rdt_rcv():</a:t>
              </a:r>
              <a:r>
                <a:rPr lang="en-US" altLang="zh-TW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r>
                <a:rPr lang="en-US" altLang="zh-TW" sz="1800">
                  <a:solidFill>
                    <a:srgbClr val="000000"/>
                  </a:solidFill>
                  <a:latin typeface="Tahoma" panose="020B0604030504040204" pitchFamily="34" charset="0"/>
                </a:rPr>
                <a:t>called when packet arrives on rcv-side of channel</a:t>
              </a:r>
              <a:endParaRPr lang="en-US" altLang="zh-TW" sz="24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62482" name="Group 18">
              <a:extLst>
                <a:ext uri="{FF2B5EF4-FFF2-40B4-BE49-F238E27FC236}">
                  <a16:creationId xmlns:a16="http://schemas.microsoft.com/office/drawing/2014/main" id="{109C0587-4A60-4714-A378-6925632D19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62" y="2748"/>
              <a:ext cx="2370" cy="1038"/>
              <a:chOff x="3162" y="2748"/>
              <a:chExt cx="2370" cy="1038"/>
            </a:xfrm>
          </p:grpSpPr>
          <p:sp>
            <p:nvSpPr>
              <p:cNvPr id="62483" name="Line 19">
                <a:extLst>
                  <a:ext uri="{FF2B5EF4-FFF2-40B4-BE49-F238E27FC236}">
                    <a16:creationId xmlns:a16="http://schemas.microsoft.com/office/drawing/2014/main" id="{43F878E9-2604-44CE-8C05-CD2FD5864A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596" y="2748"/>
                <a:ext cx="300" cy="630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2484" name="Rectangle 20">
                <a:extLst>
                  <a:ext uri="{FF2B5EF4-FFF2-40B4-BE49-F238E27FC236}">
                    <a16:creationId xmlns:a16="http://schemas.microsoft.com/office/drawing/2014/main" id="{3BEEB9A9-3C18-470B-B610-7879B0530A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62" y="3390"/>
                <a:ext cx="2370" cy="396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" name="Group 21">
            <a:extLst>
              <a:ext uri="{FF2B5EF4-FFF2-40B4-BE49-F238E27FC236}">
                <a16:creationId xmlns:a16="http://schemas.microsoft.com/office/drawing/2014/main" id="{ADCBC5F8-89E3-4C38-B49B-EC257C29A736}"/>
              </a:ext>
            </a:extLst>
          </p:cNvPr>
          <p:cNvGrpSpPr>
            <a:grpSpLocks/>
          </p:cNvGrpSpPr>
          <p:nvPr/>
        </p:nvGrpSpPr>
        <p:grpSpPr bwMode="auto">
          <a:xfrm>
            <a:off x="4981575" y="1470025"/>
            <a:ext cx="3762375" cy="1349375"/>
            <a:chOff x="3138" y="926"/>
            <a:chExt cx="2370" cy="850"/>
          </a:xfrm>
        </p:grpSpPr>
        <p:sp>
          <p:nvSpPr>
            <p:cNvPr id="62477" name="Text Box 22">
              <a:extLst>
                <a:ext uri="{FF2B5EF4-FFF2-40B4-BE49-F238E27FC236}">
                  <a16:creationId xmlns:a16="http://schemas.microsoft.com/office/drawing/2014/main" id="{CD65CB29-EE6F-46F5-A323-93DF58865B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15" y="926"/>
              <a:ext cx="207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>
                  <a:solidFill>
                    <a:srgbClr val="FF0000"/>
                  </a:solidFill>
                  <a:latin typeface="Courier New" panose="02070309020205020404" pitchFamily="49" charset="0"/>
                </a:rPr>
                <a:t>deliver_data():</a:t>
              </a:r>
              <a:r>
                <a:rPr lang="en-US" altLang="zh-TW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r>
                <a:rPr lang="en-US" altLang="zh-TW" sz="1800">
                  <a:solidFill>
                    <a:srgbClr val="000000"/>
                  </a:solidFill>
                  <a:latin typeface="Tahoma" panose="020B0604030504040204" pitchFamily="34" charset="0"/>
                </a:rPr>
                <a:t>called by </a:t>
              </a:r>
              <a:r>
                <a:rPr lang="en-US" altLang="zh-TW" sz="1800" b="1">
                  <a:solidFill>
                    <a:srgbClr val="000000"/>
                  </a:solidFill>
                  <a:latin typeface="Tahoma" panose="020B0604030504040204" pitchFamily="34" charset="0"/>
                </a:rPr>
                <a:t>rdt</a:t>
              </a:r>
              <a:r>
                <a:rPr lang="en-US" altLang="zh-TW" sz="1800">
                  <a:solidFill>
                    <a:srgbClr val="000000"/>
                  </a:solidFill>
                  <a:latin typeface="Tahoma" panose="020B0604030504040204" pitchFamily="34" charset="0"/>
                </a:rPr>
                <a:t> to deliver data to upper</a:t>
              </a:r>
              <a:endParaRPr lang="en-US" altLang="zh-TW" sz="24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62478" name="Group 23">
              <a:extLst>
                <a:ext uri="{FF2B5EF4-FFF2-40B4-BE49-F238E27FC236}">
                  <a16:creationId xmlns:a16="http://schemas.microsoft.com/office/drawing/2014/main" id="{FD834553-192D-4CA5-8A01-4449273A0D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38" y="942"/>
              <a:ext cx="2370" cy="834"/>
              <a:chOff x="3138" y="942"/>
              <a:chExt cx="2370" cy="834"/>
            </a:xfrm>
          </p:grpSpPr>
          <p:sp>
            <p:nvSpPr>
              <p:cNvPr id="62479" name="Line 24">
                <a:extLst>
                  <a:ext uri="{FF2B5EF4-FFF2-40B4-BE49-F238E27FC236}">
                    <a16:creationId xmlns:a16="http://schemas.microsoft.com/office/drawing/2014/main" id="{051F54BC-83CE-4FB4-B00B-CC79605A8A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560" y="1344"/>
                <a:ext cx="150" cy="432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2480" name="Rectangle 25">
                <a:extLst>
                  <a:ext uri="{FF2B5EF4-FFF2-40B4-BE49-F238E27FC236}">
                    <a16:creationId xmlns:a16="http://schemas.microsoft.com/office/drawing/2014/main" id="{8495865A-B16F-4F51-8694-7359B9E5F3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38" y="942"/>
                <a:ext cx="2370" cy="396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Footer Placeholder 5">
            <a:extLst>
              <a:ext uri="{FF2B5EF4-FFF2-40B4-BE49-F238E27FC236}">
                <a16:creationId xmlns:a16="http://schemas.microsoft.com/office/drawing/2014/main" id="{D2F2E5C5-202E-4982-9BF3-7D517AB5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63491" name="Slide Number Placeholder 6">
            <a:extLst>
              <a:ext uri="{FF2B5EF4-FFF2-40B4-BE49-F238E27FC236}">
                <a16:creationId xmlns:a16="http://schemas.microsoft.com/office/drawing/2014/main" id="{410DAF90-2BD7-4C7F-BE2C-8D0E8B867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88413FF-9B72-49C7-BE55-27C84486F81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63492" name="Rectangle 3">
            <a:extLst>
              <a:ext uri="{FF2B5EF4-FFF2-40B4-BE49-F238E27FC236}">
                <a16:creationId xmlns:a16="http://schemas.microsoft.com/office/drawing/2014/main" id="{FEAD4F88-460D-4337-B6BD-0345902F37C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14350" y="1193800"/>
            <a:ext cx="7947025" cy="33528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CC0000"/>
                </a:solidFill>
              </a:rPr>
              <a:t>we</a:t>
            </a:r>
            <a:r>
              <a:rPr lang="ja-JP" altLang="en-US">
                <a:solidFill>
                  <a:srgbClr val="CC0000"/>
                </a:solidFill>
              </a:rPr>
              <a:t>’</a:t>
            </a:r>
            <a:r>
              <a:rPr lang="en-US" altLang="ja-JP">
                <a:solidFill>
                  <a:srgbClr val="CC0000"/>
                </a:solidFill>
              </a:rPr>
              <a:t>ll:</a:t>
            </a:r>
          </a:p>
          <a:p>
            <a:r>
              <a:rPr lang="en-US" altLang="zh-TW"/>
              <a:t>incrementally develop sender, receiver sides of </a:t>
            </a:r>
            <a:r>
              <a:rPr lang="en-US" altLang="zh-TW" u="sng">
                <a:solidFill>
                  <a:srgbClr val="CC0000"/>
                </a:solidFill>
              </a:rPr>
              <a:t>r</a:t>
            </a:r>
            <a:r>
              <a:rPr lang="en-US" altLang="zh-TW"/>
              <a:t>eliable </a:t>
            </a:r>
            <a:r>
              <a:rPr lang="en-US" altLang="zh-TW" u="sng">
                <a:solidFill>
                  <a:srgbClr val="CC0000"/>
                </a:solidFill>
              </a:rPr>
              <a:t>d</a:t>
            </a:r>
            <a:r>
              <a:rPr lang="en-US" altLang="zh-TW"/>
              <a:t>ata </a:t>
            </a:r>
            <a:r>
              <a:rPr lang="en-US" altLang="zh-TW" u="sng">
                <a:solidFill>
                  <a:srgbClr val="CC0000"/>
                </a:solidFill>
              </a:rPr>
              <a:t>t</a:t>
            </a:r>
            <a:r>
              <a:rPr lang="en-US" altLang="zh-TW"/>
              <a:t>ransfer protocol (rdt)</a:t>
            </a:r>
          </a:p>
          <a:p>
            <a:r>
              <a:rPr lang="en-US" altLang="zh-TW"/>
              <a:t>consider only unidirectional data transfer</a:t>
            </a:r>
          </a:p>
          <a:p>
            <a:pPr lvl="1"/>
            <a:r>
              <a:rPr lang="en-US" altLang="zh-TW"/>
              <a:t>but control info will flow on both directions!</a:t>
            </a:r>
          </a:p>
          <a:p>
            <a:r>
              <a:rPr lang="en-US" altLang="zh-TW"/>
              <a:t>use </a:t>
            </a:r>
            <a:r>
              <a:rPr lang="en-US" altLang="zh-TW">
                <a:solidFill>
                  <a:srgbClr val="0070C0"/>
                </a:solidFill>
              </a:rPr>
              <a:t>finite state machines (FSM)</a:t>
            </a:r>
            <a:r>
              <a:rPr lang="en-US" altLang="zh-TW"/>
              <a:t>  to specify sender, receiver</a:t>
            </a:r>
          </a:p>
        </p:txBody>
      </p:sp>
      <p:sp>
        <p:nvSpPr>
          <p:cNvPr id="63493" name="Oval 5">
            <a:extLst>
              <a:ext uri="{FF2B5EF4-FFF2-40B4-BE49-F238E27FC236}">
                <a16:creationId xmlns:a16="http://schemas.microsoft.com/office/drawing/2014/main" id="{31FB70DE-4B77-4F8F-B05C-3B34FC904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0713" y="4652963"/>
            <a:ext cx="809625" cy="876300"/>
          </a:xfrm>
          <a:prstGeom prst="ellipse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63494" name="Oval 6">
            <a:extLst>
              <a:ext uri="{FF2B5EF4-FFF2-40B4-BE49-F238E27FC236}">
                <a16:creationId xmlns:a16="http://schemas.microsoft.com/office/drawing/2014/main" id="{5D3E9086-E660-436D-857D-D9EE22D5B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5625" y="4686300"/>
            <a:ext cx="809625" cy="8763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63495" name="Text Box 7">
            <a:extLst>
              <a:ext uri="{FF2B5EF4-FFF2-40B4-BE49-F238E27FC236}">
                <a16:creationId xmlns:a16="http://schemas.microsoft.com/office/drawing/2014/main" id="{A0CA3800-2A8E-4D7B-9EE5-03FE78CB81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03563" y="4816475"/>
            <a:ext cx="73501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state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1</a:t>
            </a:r>
          </a:p>
        </p:txBody>
      </p:sp>
      <p:sp>
        <p:nvSpPr>
          <p:cNvPr id="63496" name="Freeform 8">
            <a:extLst>
              <a:ext uri="{FF2B5EF4-FFF2-40B4-BE49-F238E27FC236}">
                <a16:creationId xmlns:a16="http://schemas.microsoft.com/office/drawing/2014/main" id="{EAFD5247-4907-488E-99B7-F474A5A56A69}"/>
              </a:ext>
            </a:extLst>
          </p:cNvPr>
          <p:cNvSpPr>
            <a:spLocks/>
          </p:cNvSpPr>
          <p:nvPr/>
        </p:nvSpPr>
        <p:spPr bwMode="auto">
          <a:xfrm>
            <a:off x="3981450" y="4638675"/>
            <a:ext cx="3952875" cy="285750"/>
          </a:xfrm>
          <a:custGeom>
            <a:avLst/>
            <a:gdLst>
              <a:gd name="T0" fmla="*/ 0 w 1446"/>
              <a:gd name="T1" fmla="*/ 2147483646 h 180"/>
              <a:gd name="T2" fmla="*/ 2147483646 w 1446"/>
              <a:gd name="T3" fmla="*/ 2147483646 h 180"/>
              <a:gd name="T4" fmla="*/ 0 60000 65536"/>
              <a:gd name="T5" fmla="*/ 0 60000 65536"/>
              <a:gd name="T6" fmla="*/ 0 w 1446"/>
              <a:gd name="T7" fmla="*/ 0 h 180"/>
              <a:gd name="T8" fmla="*/ 1446 w 1446"/>
              <a:gd name="T9" fmla="*/ 180 h 1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446" h="180">
                <a:moveTo>
                  <a:pt x="0" y="180"/>
                </a:moveTo>
                <a:cubicBezTo>
                  <a:pt x="540" y="30"/>
                  <a:pt x="972" y="0"/>
                  <a:pt x="1446" y="168"/>
                </a:cubicBez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3497" name="Oval 10">
            <a:extLst>
              <a:ext uri="{FF2B5EF4-FFF2-40B4-BE49-F238E27FC236}">
                <a16:creationId xmlns:a16="http://schemas.microsoft.com/office/drawing/2014/main" id="{5966A578-6938-4632-AA48-FAC38B45A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3688" y="4746625"/>
            <a:ext cx="809625" cy="876300"/>
          </a:xfrm>
          <a:prstGeom prst="ellipse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63498" name="Oval 11">
            <a:extLst>
              <a:ext uri="{FF2B5EF4-FFF2-40B4-BE49-F238E27FC236}">
                <a16:creationId xmlns:a16="http://schemas.microsoft.com/office/drawing/2014/main" id="{845B12FA-D7B8-407D-8F61-4DC423DFF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4791075"/>
            <a:ext cx="809625" cy="8763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63499" name="Text Box 12">
            <a:extLst>
              <a:ext uri="{FF2B5EF4-FFF2-40B4-BE49-F238E27FC236}">
                <a16:creationId xmlns:a16="http://schemas.microsoft.com/office/drawing/2014/main" id="{F43669A7-3A0B-4D35-845E-D8FCE10C18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6538" y="4921250"/>
            <a:ext cx="73501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state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2</a:t>
            </a:r>
          </a:p>
        </p:txBody>
      </p:sp>
      <p:sp>
        <p:nvSpPr>
          <p:cNvPr id="63500" name="Text Box 13">
            <a:extLst>
              <a:ext uri="{FF2B5EF4-FFF2-40B4-BE49-F238E27FC236}">
                <a16:creationId xmlns:a16="http://schemas.microsoft.com/office/drawing/2014/main" id="{9D065D35-9208-4E9E-81FF-A06550C90C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1638" y="4003675"/>
            <a:ext cx="31527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Tahoma" panose="020B0604030504040204" pitchFamily="34" charset="0"/>
              </a:rPr>
              <a:t>event causing state transition</a:t>
            </a:r>
            <a:endParaRPr lang="en-US" altLang="zh-TW" sz="2400">
              <a:solidFill>
                <a:srgbClr val="CC0000"/>
              </a:solidFill>
              <a:latin typeface="Tahoma" panose="020B0604030504040204" pitchFamily="34" charset="0"/>
            </a:endParaRPr>
          </a:p>
        </p:txBody>
      </p:sp>
      <p:sp>
        <p:nvSpPr>
          <p:cNvPr id="63501" name="Text Box 14">
            <a:extLst>
              <a:ext uri="{FF2B5EF4-FFF2-40B4-BE49-F238E27FC236}">
                <a16:creationId xmlns:a16="http://schemas.microsoft.com/office/drawing/2014/main" id="{AD943365-FD5A-4AE3-A37F-166CA03912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38613" y="4298950"/>
            <a:ext cx="34210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Tahoma" panose="020B0604030504040204" pitchFamily="34" charset="0"/>
              </a:rPr>
              <a:t>actions taken on state transition</a:t>
            </a:r>
            <a:endParaRPr lang="en-US" altLang="zh-TW" sz="2400">
              <a:solidFill>
                <a:srgbClr val="CC0000"/>
              </a:solidFill>
              <a:latin typeface="Tahoma" panose="020B0604030504040204" pitchFamily="34" charset="0"/>
            </a:endParaRPr>
          </a:p>
        </p:txBody>
      </p:sp>
      <p:sp>
        <p:nvSpPr>
          <p:cNvPr id="63502" name="Line 15">
            <a:extLst>
              <a:ext uri="{FF2B5EF4-FFF2-40B4-BE49-F238E27FC236}">
                <a16:creationId xmlns:a16="http://schemas.microsoft.com/office/drawing/2014/main" id="{7E820EC7-CFEC-4524-A180-6F59758D3CBD}"/>
              </a:ext>
            </a:extLst>
          </p:cNvPr>
          <p:cNvSpPr>
            <a:spLocks noChangeShapeType="1"/>
          </p:cNvSpPr>
          <p:nvPr/>
        </p:nvSpPr>
        <p:spPr bwMode="auto">
          <a:xfrm>
            <a:off x="4105275" y="4352925"/>
            <a:ext cx="3381375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3503" name="Rectangle 16">
            <a:extLst>
              <a:ext uri="{FF2B5EF4-FFF2-40B4-BE49-F238E27FC236}">
                <a16:creationId xmlns:a16="http://schemas.microsoft.com/office/drawing/2014/main" id="{8067B1DC-F687-4B5A-93B4-657612516D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" y="4686300"/>
            <a:ext cx="2771775" cy="1238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buFont typeface="Wingdings" panose="05000000000000000000" pitchFamily="2" charset="2"/>
              <a:buNone/>
            </a:pPr>
            <a:r>
              <a:rPr lang="en-US" altLang="zh-TW" sz="1800">
                <a:solidFill>
                  <a:srgbClr val="CC0000"/>
                </a:solidFill>
                <a:latin typeface="Tahoma" panose="020B0604030504040204" pitchFamily="34" charset="0"/>
              </a:rPr>
              <a:t>state:</a:t>
            </a:r>
            <a:r>
              <a:rPr lang="en-US" altLang="zh-TW" sz="1800">
                <a:latin typeface="Tahoma" panose="020B0604030504040204" pitchFamily="34" charset="0"/>
              </a:rPr>
              <a:t> when in this </a:t>
            </a:r>
            <a:r>
              <a:rPr lang="ja-JP" altLang="en-US" sz="1800">
                <a:latin typeface="Tahoma" panose="020B0604030504040204" pitchFamily="34" charset="0"/>
              </a:rPr>
              <a:t>“</a:t>
            </a:r>
            <a:r>
              <a:rPr lang="en-US" altLang="ja-JP" sz="1800">
                <a:latin typeface="Tahoma" panose="020B0604030504040204" pitchFamily="34" charset="0"/>
              </a:rPr>
              <a:t>state</a:t>
            </a:r>
            <a:r>
              <a:rPr lang="ja-JP" altLang="en-US" sz="1800">
                <a:latin typeface="Tahoma" panose="020B0604030504040204" pitchFamily="34" charset="0"/>
              </a:rPr>
              <a:t>”</a:t>
            </a:r>
            <a:r>
              <a:rPr lang="en-US" altLang="ja-JP" sz="1800">
                <a:latin typeface="Tahoma" panose="020B0604030504040204" pitchFamily="34" charset="0"/>
              </a:rPr>
              <a:t> next state uniquely determined by next event</a:t>
            </a:r>
            <a:endParaRPr lang="en-US" altLang="zh-TW" sz="1800">
              <a:latin typeface="Tahoma" panose="020B0604030504040204" pitchFamily="34" charset="0"/>
            </a:endParaRPr>
          </a:p>
        </p:txBody>
      </p:sp>
      <p:sp>
        <p:nvSpPr>
          <p:cNvPr id="63504" name="Freeform 17">
            <a:extLst>
              <a:ext uri="{FF2B5EF4-FFF2-40B4-BE49-F238E27FC236}">
                <a16:creationId xmlns:a16="http://schemas.microsoft.com/office/drawing/2014/main" id="{E0FFBB23-B7D6-4F57-AAFD-9CE353FD7FB6}"/>
              </a:ext>
            </a:extLst>
          </p:cNvPr>
          <p:cNvSpPr>
            <a:spLocks/>
          </p:cNvSpPr>
          <p:nvPr/>
        </p:nvSpPr>
        <p:spPr bwMode="auto">
          <a:xfrm>
            <a:off x="3381375" y="5562600"/>
            <a:ext cx="95250" cy="581025"/>
          </a:xfrm>
          <a:custGeom>
            <a:avLst/>
            <a:gdLst>
              <a:gd name="T0" fmla="*/ 2147483646 w 60"/>
              <a:gd name="T1" fmla="*/ 2147483646 h 366"/>
              <a:gd name="T2" fmla="*/ 2147483646 w 60"/>
              <a:gd name="T3" fmla="*/ 0 h 366"/>
              <a:gd name="T4" fmla="*/ 0 60000 65536"/>
              <a:gd name="T5" fmla="*/ 0 60000 65536"/>
              <a:gd name="T6" fmla="*/ 0 w 60"/>
              <a:gd name="T7" fmla="*/ 0 h 366"/>
              <a:gd name="T8" fmla="*/ 60 w 60"/>
              <a:gd name="T9" fmla="*/ 366 h 36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0" h="366">
                <a:moveTo>
                  <a:pt x="48" y="366"/>
                </a:moveTo>
                <a:cubicBezTo>
                  <a:pt x="0" y="204"/>
                  <a:pt x="60" y="55"/>
                  <a:pt x="60" y="0"/>
                </a:cubicBez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3505" name="Freeform 18">
            <a:extLst>
              <a:ext uri="{FF2B5EF4-FFF2-40B4-BE49-F238E27FC236}">
                <a16:creationId xmlns:a16="http://schemas.microsoft.com/office/drawing/2014/main" id="{25A4F40E-82FC-4BDD-A99F-3ED8E9431343}"/>
              </a:ext>
            </a:extLst>
          </p:cNvPr>
          <p:cNvSpPr>
            <a:spLocks/>
          </p:cNvSpPr>
          <p:nvPr/>
        </p:nvSpPr>
        <p:spPr bwMode="auto">
          <a:xfrm flipH="1" flipV="1">
            <a:off x="8524875" y="5600700"/>
            <a:ext cx="95250" cy="581025"/>
          </a:xfrm>
          <a:custGeom>
            <a:avLst/>
            <a:gdLst>
              <a:gd name="T0" fmla="*/ 2147483646 w 60"/>
              <a:gd name="T1" fmla="*/ 2147483646 h 366"/>
              <a:gd name="T2" fmla="*/ 2147483646 w 60"/>
              <a:gd name="T3" fmla="*/ 0 h 366"/>
              <a:gd name="T4" fmla="*/ 0 60000 65536"/>
              <a:gd name="T5" fmla="*/ 0 60000 65536"/>
              <a:gd name="T6" fmla="*/ 0 w 60"/>
              <a:gd name="T7" fmla="*/ 0 h 366"/>
              <a:gd name="T8" fmla="*/ 60 w 60"/>
              <a:gd name="T9" fmla="*/ 366 h 36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0" h="366">
                <a:moveTo>
                  <a:pt x="48" y="366"/>
                </a:moveTo>
                <a:cubicBezTo>
                  <a:pt x="0" y="204"/>
                  <a:pt x="60" y="55"/>
                  <a:pt x="60" y="0"/>
                </a:cubicBez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3506" name="Line 19">
            <a:extLst>
              <a:ext uri="{FF2B5EF4-FFF2-40B4-BE49-F238E27FC236}">
                <a16:creationId xmlns:a16="http://schemas.microsoft.com/office/drawing/2014/main" id="{E2CB63AE-36A0-4353-A38E-B8D24F307148}"/>
              </a:ext>
            </a:extLst>
          </p:cNvPr>
          <p:cNvSpPr>
            <a:spLocks noChangeShapeType="1"/>
          </p:cNvSpPr>
          <p:nvPr/>
        </p:nvSpPr>
        <p:spPr bwMode="auto">
          <a:xfrm>
            <a:off x="3905250" y="5305425"/>
            <a:ext cx="1571625" cy="75247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3507" name="Text Box 21">
            <a:extLst>
              <a:ext uri="{FF2B5EF4-FFF2-40B4-BE49-F238E27FC236}">
                <a16:creationId xmlns:a16="http://schemas.microsoft.com/office/drawing/2014/main" id="{1F9C8F52-E76E-491B-AACF-A806F92F7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2013" y="50990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Tahoma" panose="020B0604030504040204" pitchFamily="34" charset="0"/>
              </a:rPr>
              <a:t>event</a:t>
            </a:r>
            <a:endParaRPr lang="en-US" altLang="zh-TW" sz="2400">
              <a:solidFill>
                <a:srgbClr val="CC0000"/>
              </a:solidFill>
              <a:latin typeface="Tahoma" panose="020B0604030504040204" pitchFamily="34" charset="0"/>
            </a:endParaRPr>
          </a:p>
        </p:txBody>
      </p:sp>
      <p:sp>
        <p:nvSpPr>
          <p:cNvPr id="63508" name="Text Box 22">
            <a:extLst>
              <a:ext uri="{FF2B5EF4-FFF2-40B4-BE49-F238E27FC236}">
                <a16:creationId xmlns:a16="http://schemas.microsoft.com/office/drawing/2014/main" id="{08AE8539-0C3E-4989-B1C7-0905F0F30A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2325" y="5403850"/>
            <a:ext cx="89058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Tahoma" panose="020B0604030504040204" pitchFamily="34" charset="0"/>
              </a:rPr>
              <a:t>actions</a:t>
            </a:r>
            <a:endParaRPr lang="en-US" altLang="zh-TW" sz="2400">
              <a:solidFill>
                <a:srgbClr val="CC0000"/>
              </a:solidFill>
              <a:latin typeface="Tahoma" panose="020B0604030504040204" pitchFamily="34" charset="0"/>
            </a:endParaRPr>
          </a:p>
        </p:txBody>
      </p:sp>
      <p:sp>
        <p:nvSpPr>
          <p:cNvPr id="63509" name="Line 23">
            <a:extLst>
              <a:ext uri="{FF2B5EF4-FFF2-40B4-BE49-F238E27FC236}">
                <a16:creationId xmlns:a16="http://schemas.microsoft.com/office/drawing/2014/main" id="{F0F23574-06F4-45D9-8B68-77856CC223A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81525" y="5457825"/>
            <a:ext cx="942975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63510" name="Picture 27" descr="underline_base">
            <a:extLst>
              <a:ext uri="{FF2B5EF4-FFF2-40B4-BE49-F238E27FC236}">
                <a16:creationId xmlns:a16="http://schemas.microsoft.com/office/drawing/2014/main" id="{1E7F1526-150B-45DB-B967-3D5F7E5B0B4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50" y="831850"/>
            <a:ext cx="7313613" cy="134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623" name="Rectangle 28">
            <a:extLst>
              <a:ext uri="{FF2B5EF4-FFF2-40B4-BE49-F238E27FC236}">
                <a16:creationId xmlns:a16="http://schemas.microsoft.com/office/drawing/2014/main" id="{A1143474-6868-4C8E-A989-845F6988E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193675"/>
            <a:ext cx="7772400" cy="889000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Reliable data transfer: getting started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Footer Placeholder 5">
            <a:extLst>
              <a:ext uri="{FF2B5EF4-FFF2-40B4-BE49-F238E27FC236}">
                <a16:creationId xmlns:a16="http://schemas.microsoft.com/office/drawing/2014/main" id="{D2F2E5C5-202E-4982-9BF3-7D517AB5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63491" name="Slide Number Placeholder 6">
            <a:extLst>
              <a:ext uri="{FF2B5EF4-FFF2-40B4-BE49-F238E27FC236}">
                <a16:creationId xmlns:a16="http://schemas.microsoft.com/office/drawing/2014/main" id="{410DAF90-2BD7-4C7F-BE2C-8D0E8B867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88413FF-9B72-49C7-BE55-27C84486F81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63510" name="Picture 27" descr="underline_base">
            <a:extLst>
              <a:ext uri="{FF2B5EF4-FFF2-40B4-BE49-F238E27FC236}">
                <a16:creationId xmlns:a16="http://schemas.microsoft.com/office/drawing/2014/main" id="{1E7F1526-150B-45DB-B967-3D5F7E5B0B4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50" y="831850"/>
            <a:ext cx="7313613" cy="134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623" name="Rectangle 28">
            <a:extLst>
              <a:ext uri="{FF2B5EF4-FFF2-40B4-BE49-F238E27FC236}">
                <a16:creationId xmlns:a16="http://schemas.microsoft.com/office/drawing/2014/main" id="{A1143474-6868-4C8E-A989-845F6988E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193675"/>
            <a:ext cx="7772400" cy="889000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Reliable data transfer: getting started</a:t>
            </a:r>
          </a:p>
        </p:txBody>
      </p:sp>
    </p:spTree>
    <p:extLst>
      <p:ext uri="{BB962C8B-B14F-4D97-AF65-F5344CB8AC3E}">
        <p14:creationId xmlns:p14="http://schemas.microsoft.com/office/powerpoint/2010/main" val="2563722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Footer Placeholder 5">
            <a:extLst>
              <a:ext uri="{FF2B5EF4-FFF2-40B4-BE49-F238E27FC236}">
                <a16:creationId xmlns:a16="http://schemas.microsoft.com/office/drawing/2014/main" id="{ED9AC82B-0F26-474B-9B2E-6C1C23C97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65539" name="Slide Number Placeholder 6">
            <a:extLst>
              <a:ext uri="{FF2B5EF4-FFF2-40B4-BE49-F238E27FC236}">
                <a16:creationId xmlns:a16="http://schemas.microsoft.com/office/drawing/2014/main" id="{35D52380-7750-4686-9187-F0F6570DB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B41E33DE-2EDB-4462-8A59-411137CB4B93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28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6628" name="Rectangle 2">
            <a:extLst>
              <a:ext uri="{FF2B5EF4-FFF2-40B4-BE49-F238E27FC236}">
                <a16:creationId xmlns:a16="http://schemas.microsoft.com/office/drawing/2014/main" id="{8546FC3E-8FEA-482D-8A3B-08D161AE3D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188913"/>
            <a:ext cx="8001000" cy="1004887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rdt1.0: </a:t>
            </a:r>
            <a:r>
              <a:rPr lang="en-US" sz="3200" dirty="0">
                <a:ea typeface="ＭＳ Ｐゴシック" charset="0"/>
                <a:cs typeface="+mj-cs"/>
              </a:rPr>
              <a:t>reliable transfer over a </a:t>
            </a:r>
            <a:r>
              <a:rPr lang="en-US" sz="3200" dirty="0">
                <a:solidFill>
                  <a:srgbClr val="FF0000"/>
                </a:solidFill>
                <a:ea typeface="ＭＳ Ｐゴシック" charset="0"/>
                <a:cs typeface="+mj-cs"/>
              </a:rPr>
              <a:t>reliable channel</a:t>
            </a:r>
          </a:p>
        </p:txBody>
      </p:sp>
      <p:sp>
        <p:nvSpPr>
          <p:cNvPr id="26629" name="Rectangle 3">
            <a:extLst>
              <a:ext uri="{FF2B5EF4-FFF2-40B4-BE49-F238E27FC236}">
                <a16:creationId xmlns:a16="http://schemas.microsoft.com/office/drawing/2014/main" id="{205D96FA-E840-4821-A3C7-CB76AFC8A4E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31800" y="1331913"/>
            <a:ext cx="7896225" cy="301942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underlying channel perfectly reliable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FF0000"/>
                </a:solidFill>
                <a:ea typeface="ＭＳ Ｐゴシック" charset="0"/>
              </a:rPr>
              <a:t>no bit errors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FF0000"/>
                </a:solidFill>
                <a:ea typeface="ＭＳ Ｐゴシック" charset="0"/>
              </a:rPr>
              <a:t>no loss of packets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separate FSMs for sender, receiver: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sender </a:t>
            </a: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sends data</a:t>
            </a:r>
            <a:r>
              <a:rPr lang="en-US" dirty="0">
                <a:ea typeface="ＭＳ Ｐゴシック" charset="0"/>
              </a:rPr>
              <a:t> into underlying channel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receiver </a:t>
            </a: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reads data </a:t>
            </a:r>
            <a:r>
              <a:rPr lang="en-US" dirty="0">
                <a:ea typeface="ＭＳ Ｐゴシック" charset="0"/>
              </a:rPr>
              <a:t>from underlying channel</a:t>
            </a:r>
          </a:p>
        </p:txBody>
      </p:sp>
      <p:sp>
        <p:nvSpPr>
          <p:cNvPr id="65542" name="Oval 4">
            <a:extLst>
              <a:ext uri="{FF2B5EF4-FFF2-40B4-BE49-F238E27FC236}">
                <a16:creationId xmlns:a16="http://schemas.microsoft.com/office/drawing/2014/main" id="{4041883E-A87F-4A27-9536-9B69C6F7B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038" y="4246563"/>
            <a:ext cx="955675" cy="1011237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65543" name="Text Box 5">
            <a:extLst>
              <a:ext uri="{FF2B5EF4-FFF2-40B4-BE49-F238E27FC236}">
                <a16:creationId xmlns:a16="http://schemas.microsoft.com/office/drawing/2014/main" id="{B8810C92-0E93-44B9-9616-7F7278DFA9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4538" y="4332288"/>
            <a:ext cx="1098550" cy="912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000000"/>
                </a:solidFill>
                <a:latin typeface="Arial" panose="020B0604020202020204" pitchFamily="34" charset="0"/>
              </a:rPr>
              <a:t>Wait for call from above</a:t>
            </a:r>
            <a:endParaRPr lang="en-US" altLang="zh-TW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544" name="Freeform 6">
            <a:extLst>
              <a:ext uri="{FF2B5EF4-FFF2-40B4-BE49-F238E27FC236}">
                <a16:creationId xmlns:a16="http://schemas.microsoft.com/office/drawing/2014/main" id="{C62E3B8D-DD2E-4150-AF09-4D3178C07383}"/>
              </a:ext>
            </a:extLst>
          </p:cNvPr>
          <p:cNvSpPr>
            <a:spLocks/>
          </p:cNvSpPr>
          <p:nvPr/>
        </p:nvSpPr>
        <p:spPr bwMode="auto">
          <a:xfrm>
            <a:off x="1617663" y="4230688"/>
            <a:ext cx="611187" cy="1027112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5545" name="Text Box 7">
            <a:extLst>
              <a:ext uri="{FF2B5EF4-FFF2-40B4-BE49-F238E27FC236}">
                <a16:creationId xmlns:a16="http://schemas.microsoft.com/office/drawing/2014/main" id="{39A5A5B3-2E6C-4E08-A318-B6D569365B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0100" y="4754563"/>
            <a:ext cx="2682875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packet = make_pkt(data)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udt_send(packet)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546" name="Text Box 8">
            <a:extLst>
              <a:ext uri="{FF2B5EF4-FFF2-40B4-BE49-F238E27FC236}">
                <a16:creationId xmlns:a16="http://schemas.microsoft.com/office/drawing/2014/main" id="{54ED381A-84CA-4134-8738-54F5BB7C2F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8825" y="4287838"/>
            <a:ext cx="2255838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rdt_send(data)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547" name="Line 9">
            <a:extLst>
              <a:ext uri="{FF2B5EF4-FFF2-40B4-BE49-F238E27FC236}">
                <a16:creationId xmlns:a16="http://schemas.microsoft.com/office/drawing/2014/main" id="{15E2BF83-B5B7-4C5E-B90C-1A2D86A04BD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28838" y="4630738"/>
            <a:ext cx="1296987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5548" name="Line 10">
            <a:extLst>
              <a:ext uri="{FF2B5EF4-FFF2-40B4-BE49-F238E27FC236}">
                <a16:creationId xmlns:a16="http://schemas.microsoft.com/office/drawing/2014/main" id="{FD503F9D-EFAC-47F9-A42C-6092AC26071E}"/>
              </a:ext>
            </a:extLst>
          </p:cNvPr>
          <p:cNvSpPr>
            <a:spLocks noChangeShapeType="1"/>
          </p:cNvSpPr>
          <p:nvPr/>
        </p:nvSpPr>
        <p:spPr bwMode="auto">
          <a:xfrm>
            <a:off x="484188" y="4230688"/>
            <a:ext cx="385762" cy="242887"/>
          </a:xfrm>
          <a:prstGeom prst="line">
            <a:avLst/>
          </a:prstGeom>
          <a:noFill/>
          <a:ln w="952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5549" name="Text Box 11">
            <a:extLst>
              <a:ext uri="{FF2B5EF4-FFF2-40B4-BE49-F238E27FC236}">
                <a16:creationId xmlns:a16="http://schemas.microsoft.com/office/drawing/2014/main" id="{5EAF79AA-80EB-41A6-82B1-A7DD9F219C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5713" y="4613275"/>
            <a:ext cx="2487612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extract (packet,data)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deliver_data(data)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550" name="Oval 12">
            <a:extLst>
              <a:ext uri="{FF2B5EF4-FFF2-40B4-BE49-F238E27FC236}">
                <a16:creationId xmlns:a16="http://schemas.microsoft.com/office/drawing/2014/main" id="{3D8D6005-63C9-4B27-AC6B-64BBA7D71B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6513" y="4232275"/>
            <a:ext cx="955675" cy="101123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65551" name="Text Box 13">
            <a:extLst>
              <a:ext uri="{FF2B5EF4-FFF2-40B4-BE49-F238E27FC236}">
                <a16:creationId xmlns:a16="http://schemas.microsoft.com/office/drawing/2014/main" id="{B80FB0EB-3C69-4A91-AAE1-67752650AB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3013" y="4318000"/>
            <a:ext cx="1098550" cy="9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Wait for call from below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552" name="Freeform 14">
            <a:extLst>
              <a:ext uri="{FF2B5EF4-FFF2-40B4-BE49-F238E27FC236}">
                <a16:creationId xmlns:a16="http://schemas.microsoft.com/office/drawing/2014/main" id="{FB6FEF19-2E88-4C7D-A887-55FD85C43C63}"/>
              </a:ext>
            </a:extLst>
          </p:cNvPr>
          <p:cNvSpPr>
            <a:spLocks/>
          </p:cNvSpPr>
          <p:nvPr/>
        </p:nvSpPr>
        <p:spPr bwMode="auto">
          <a:xfrm>
            <a:off x="5926138" y="4216400"/>
            <a:ext cx="611187" cy="1027113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5553" name="Text Box 15">
            <a:extLst>
              <a:ext uri="{FF2B5EF4-FFF2-40B4-BE49-F238E27FC236}">
                <a16:creationId xmlns:a16="http://schemas.microsoft.com/office/drawing/2014/main" id="{AA9864B4-270B-4A09-AEAC-48ED0789B9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7300" y="4273550"/>
            <a:ext cx="2255838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554" name="Line 16">
            <a:extLst>
              <a:ext uri="{FF2B5EF4-FFF2-40B4-BE49-F238E27FC236}">
                <a16:creationId xmlns:a16="http://schemas.microsoft.com/office/drawing/2014/main" id="{7B60BD94-7B7C-4359-8C29-01B293D4231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37313" y="4616450"/>
            <a:ext cx="1296987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5555" name="Line 17">
            <a:extLst>
              <a:ext uri="{FF2B5EF4-FFF2-40B4-BE49-F238E27FC236}">
                <a16:creationId xmlns:a16="http://schemas.microsoft.com/office/drawing/2014/main" id="{A708BB5B-B37F-4C88-8892-7F9FC215F8E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2663" y="4216400"/>
            <a:ext cx="385762" cy="242888"/>
          </a:xfrm>
          <a:prstGeom prst="line">
            <a:avLst/>
          </a:prstGeom>
          <a:noFill/>
          <a:ln w="952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5556" name="Rectangle 18">
            <a:extLst>
              <a:ext uri="{FF2B5EF4-FFF2-40B4-BE49-F238E27FC236}">
                <a16:creationId xmlns:a16="http://schemas.microsoft.com/office/drawing/2014/main" id="{67FC7E81-0C8F-45DE-BF05-288C612BB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1588" y="4292600"/>
            <a:ext cx="15414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rdt_rcv(packet)</a:t>
            </a:r>
          </a:p>
        </p:txBody>
      </p:sp>
      <p:sp>
        <p:nvSpPr>
          <p:cNvPr id="65557" name="Text Box 19">
            <a:extLst>
              <a:ext uri="{FF2B5EF4-FFF2-40B4-BE49-F238E27FC236}">
                <a16:creationId xmlns:a16="http://schemas.microsoft.com/office/drawing/2014/main" id="{208826DF-F1EB-435A-B3F8-143EB44F97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8" y="5540375"/>
            <a:ext cx="10890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CC0000"/>
                </a:solidFill>
                <a:latin typeface="Tahoma" panose="020B0604030504040204" pitchFamily="34" charset="0"/>
              </a:rPr>
              <a:t>sender</a:t>
            </a:r>
          </a:p>
        </p:txBody>
      </p:sp>
      <p:sp>
        <p:nvSpPr>
          <p:cNvPr id="65558" name="Text Box 20">
            <a:extLst>
              <a:ext uri="{FF2B5EF4-FFF2-40B4-BE49-F238E27FC236}">
                <a16:creationId xmlns:a16="http://schemas.microsoft.com/office/drawing/2014/main" id="{0868FFB3-8BCF-4EC2-930A-50F55FBA65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1063" y="5537200"/>
            <a:ext cx="12477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CC0000"/>
                </a:solidFill>
                <a:latin typeface="Tahoma" panose="020B0604030504040204" pitchFamily="34" charset="0"/>
              </a:rPr>
              <a:t>receiver</a:t>
            </a:r>
          </a:p>
        </p:txBody>
      </p:sp>
      <p:pic>
        <p:nvPicPr>
          <p:cNvPr id="65559" name="Picture 21" descr="underline_base">
            <a:extLst>
              <a:ext uri="{FF2B5EF4-FFF2-40B4-BE49-F238E27FC236}">
                <a16:creationId xmlns:a16="http://schemas.microsoft.com/office/drawing/2014/main" id="{2E7F8A1C-9A89-4BCD-9936-EC370CD2627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950" y="90487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42500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4" grpId="0" animBg="1"/>
      <p:bldP spid="65545" grpId="0"/>
      <p:bldP spid="65546" grpId="0"/>
      <p:bldP spid="65547" grpId="0" animBg="1"/>
      <p:bldP spid="65548" grpId="0" animBg="1"/>
      <p:bldP spid="65549" grpId="0"/>
      <p:bldP spid="65550" grpId="0" animBg="1"/>
      <p:bldP spid="65551" grpId="0"/>
      <p:bldP spid="65552" grpId="0" animBg="1"/>
      <p:bldP spid="65553" grpId="0"/>
      <p:bldP spid="65554" grpId="0" animBg="1"/>
      <p:bldP spid="65555" grpId="0" animBg="1"/>
      <p:bldP spid="65556" grpId="0"/>
      <p:bldP spid="65557" grpId="0"/>
      <p:bldP spid="6555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Footer Placeholder 5">
            <a:extLst>
              <a:ext uri="{FF2B5EF4-FFF2-40B4-BE49-F238E27FC236}">
                <a16:creationId xmlns:a16="http://schemas.microsoft.com/office/drawing/2014/main" id="{73D229A0-60AB-4CCB-902C-F5E426EE5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67587" name="Slide Number Placeholder 6">
            <a:extLst>
              <a:ext uri="{FF2B5EF4-FFF2-40B4-BE49-F238E27FC236}">
                <a16:creationId xmlns:a16="http://schemas.microsoft.com/office/drawing/2014/main" id="{8B82A1B0-EAAD-46AA-BB8B-C2CF3E1F8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445613D2-8B71-47EA-8F6C-9A58F2B2E902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29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A9878253-40B1-4D56-A809-E7BBD5090C9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09600" y="1366838"/>
            <a:ext cx="7896225" cy="4448175"/>
          </a:xfrm>
        </p:spPr>
        <p:txBody>
          <a:bodyPr/>
          <a:lstStyle/>
          <a:p>
            <a:pPr>
              <a:lnSpc>
                <a:spcPct val="75000"/>
              </a:lnSpc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underlying channel may flip bits in packet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dirty="0">
                <a:solidFill>
                  <a:srgbClr val="FF0000"/>
                </a:solidFill>
                <a:ea typeface="ＭＳ Ｐゴシック" charset="0"/>
              </a:rPr>
              <a:t>checksum</a:t>
            </a:r>
            <a:r>
              <a:rPr lang="en-US" dirty="0">
                <a:ea typeface="ＭＳ Ｐゴシック" charset="0"/>
              </a:rPr>
              <a:t> to </a:t>
            </a:r>
            <a:r>
              <a:rPr lang="en-US" u="sng" dirty="0">
                <a:ea typeface="ＭＳ Ｐゴシック" charset="0"/>
              </a:rPr>
              <a:t>detect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bit errors</a:t>
            </a:r>
          </a:p>
          <a:p>
            <a:pPr>
              <a:lnSpc>
                <a:spcPct val="75000"/>
              </a:lnSpc>
              <a:buFont typeface="Wingdings" charset="0"/>
              <a:buChar char="v"/>
              <a:defRPr/>
            </a:pPr>
            <a:r>
              <a:rPr lang="en-US" i="1" dirty="0">
                <a:ea typeface="ＭＳ Ｐゴシック" charset="0"/>
                <a:cs typeface="+mn-cs"/>
              </a:rPr>
              <a:t>Q</a:t>
            </a:r>
            <a:r>
              <a:rPr lang="en-US" dirty="0">
                <a:ea typeface="ＭＳ Ｐゴシック" charset="0"/>
                <a:cs typeface="+mn-cs"/>
              </a:rPr>
              <a:t>: how to </a:t>
            </a:r>
            <a:r>
              <a:rPr lang="en-US" u="sng" dirty="0">
                <a:ea typeface="ＭＳ Ｐゴシック" charset="0"/>
                <a:cs typeface="+mn-cs"/>
              </a:rPr>
              <a:t>recover</a:t>
            </a:r>
            <a:r>
              <a:rPr lang="en-US" dirty="0">
                <a:ea typeface="ＭＳ Ｐゴシック" charset="0"/>
                <a:cs typeface="+mn-cs"/>
              </a:rPr>
              <a:t> from errors: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</a:rPr>
              <a:t>acknowledgements (ACKs):</a:t>
            </a:r>
            <a:r>
              <a:rPr lang="en-US" dirty="0">
                <a:ea typeface="ＭＳ Ｐゴシック" charset="0"/>
              </a:rPr>
              <a:t> receiver explicitly tells sender that pkt received OK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</a:rPr>
              <a:t>negative acknowledgements (NAKs):</a:t>
            </a:r>
            <a:r>
              <a:rPr lang="en-US" dirty="0">
                <a:ea typeface="ＭＳ Ｐゴシック" charset="0"/>
              </a:rPr>
              <a:t> receiver explicitly tells sender that pkt had errors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sender retransmits pkt on receipt of NAK</a:t>
            </a:r>
          </a:p>
          <a:p>
            <a:pPr>
              <a:lnSpc>
                <a:spcPct val="75000"/>
              </a:lnSpc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new mechanisms in </a:t>
            </a:r>
            <a:r>
              <a:rPr lang="en-US" sz="2400" b="1" dirty="0">
                <a:latin typeface="Courier New" charset="0"/>
                <a:ea typeface="ＭＳ Ｐゴシック" charset="0"/>
                <a:cs typeface="+mn-cs"/>
              </a:rPr>
              <a:t>rdt2.0</a:t>
            </a:r>
            <a:r>
              <a:rPr lang="en-US" dirty="0">
                <a:ea typeface="ＭＳ Ｐゴシック" charset="0"/>
                <a:cs typeface="+mn-cs"/>
              </a:rPr>
              <a:t> (beyond </a:t>
            </a:r>
            <a:r>
              <a:rPr lang="en-US" sz="2400" b="1" dirty="0">
                <a:latin typeface="Courier New" charset="0"/>
                <a:ea typeface="ＭＳ Ｐゴシック" charset="0"/>
                <a:cs typeface="+mn-cs"/>
              </a:rPr>
              <a:t>rdt1.0</a:t>
            </a:r>
            <a:r>
              <a:rPr lang="en-US" dirty="0">
                <a:ea typeface="ＭＳ Ｐゴシック" charset="0"/>
                <a:cs typeface="+mn-cs"/>
              </a:rPr>
              <a:t>):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error detection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receiver feedback: control msgs (ACK,NAK) rcvr-&gt;sender</a:t>
            </a:r>
          </a:p>
        </p:txBody>
      </p:sp>
      <p:sp>
        <p:nvSpPr>
          <p:cNvPr id="27653" name="Rectangle 7">
            <a:extLst>
              <a:ext uri="{FF2B5EF4-FFF2-40B4-BE49-F238E27FC236}">
                <a16:creationId xmlns:a16="http://schemas.microsoft.com/office/drawing/2014/main" id="{05BA0A0A-62C6-4994-9A4C-0A08119E45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63513"/>
            <a:ext cx="8001000" cy="99695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rdt2.0: channel with bit errors</a:t>
            </a:r>
          </a:p>
        </p:txBody>
      </p:sp>
      <p:pic>
        <p:nvPicPr>
          <p:cNvPr id="67590" name="Picture 8" descr="underline_base">
            <a:extLst>
              <a:ext uri="{FF2B5EF4-FFF2-40B4-BE49-F238E27FC236}">
                <a16:creationId xmlns:a16="http://schemas.microsoft.com/office/drawing/2014/main" id="{D1A25FEF-0577-4547-A72F-DF928A440E9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513" y="871538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7591" name="Rectangle 9">
            <a:extLst>
              <a:ext uri="{FF2B5EF4-FFF2-40B4-BE49-F238E27FC236}">
                <a16:creationId xmlns:a16="http://schemas.microsoft.com/office/drawing/2014/main" id="{8D40CFFF-9A00-46F4-94E3-1C512BB69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03488"/>
            <a:ext cx="9144000" cy="37861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57352" name="Text Box 10">
            <a:extLst>
              <a:ext uri="{FF2B5EF4-FFF2-40B4-BE49-F238E27FC236}">
                <a16:creationId xmlns:a16="http://schemas.microsoft.com/office/drawing/2014/main" id="{83EFF4B4-9600-46F5-AD73-F6A415310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138" y="3678238"/>
            <a:ext cx="6084887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How do humans recover from </a:t>
            </a:r>
            <a:r>
              <a:rPr lang="ja-JP" altLang="en-US" i="1" dirty="0">
                <a:solidFill>
                  <a:srgbClr val="CC0000"/>
                </a:solidFill>
              </a:rPr>
              <a:t>“</a:t>
            </a:r>
            <a:r>
              <a:rPr lang="en-US" altLang="ja-JP" i="1" dirty="0">
                <a:solidFill>
                  <a:srgbClr val="CC0000"/>
                </a:solidFill>
              </a:rPr>
              <a:t>errors</a:t>
            </a:r>
            <a:r>
              <a:rPr lang="ja-JP" altLang="en-US" i="1" dirty="0">
                <a:solidFill>
                  <a:srgbClr val="CC0000"/>
                </a:solidFill>
              </a:rPr>
              <a:t>”</a:t>
            </a:r>
            <a:endParaRPr lang="en-US" altLang="ja-JP" i="1" dirty="0">
              <a:solidFill>
                <a:srgbClr val="CC0000"/>
              </a:solidFill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during conversation?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Footer Placeholder 5">
            <a:extLst>
              <a:ext uri="{FF2B5EF4-FFF2-40B4-BE49-F238E27FC236}">
                <a16:creationId xmlns:a16="http://schemas.microsoft.com/office/drawing/2014/main" id="{7A3AD5BD-AE6A-46C9-BABE-14564F867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69635" name="Slide Number Placeholder 6">
            <a:extLst>
              <a:ext uri="{FF2B5EF4-FFF2-40B4-BE49-F238E27FC236}">
                <a16:creationId xmlns:a16="http://schemas.microsoft.com/office/drawing/2014/main" id="{0BC8AC77-B854-409A-A72F-B769A396D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90EA0C16-2C1A-46D9-85ED-B66C6D379BF5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30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8676" name="Rectangle 2">
            <a:extLst>
              <a:ext uri="{FF2B5EF4-FFF2-40B4-BE49-F238E27FC236}">
                <a16:creationId xmlns:a16="http://schemas.microsoft.com/office/drawing/2014/main" id="{09783C1A-565D-4A1F-A8E3-7891C0E97D8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09600" y="1366838"/>
            <a:ext cx="7896225" cy="4448175"/>
          </a:xfrm>
        </p:spPr>
        <p:txBody>
          <a:bodyPr/>
          <a:lstStyle/>
          <a:p>
            <a:pPr>
              <a:lnSpc>
                <a:spcPct val="75000"/>
              </a:lnSpc>
              <a:buFont typeface="Wingdings" charset="0"/>
              <a:buChar char="v"/>
              <a:defRPr/>
            </a:pPr>
            <a:r>
              <a:rPr lang="en-US" altLang="zh-HK" dirty="0">
                <a:ea typeface="ＭＳ Ｐゴシック" charset="0"/>
              </a:rPr>
              <a:t>underlying channel may flip bits in packet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altLang="zh-HK" dirty="0">
                <a:solidFill>
                  <a:srgbClr val="FF0000"/>
                </a:solidFill>
                <a:ea typeface="ＭＳ Ｐゴシック" charset="0"/>
              </a:rPr>
              <a:t>checksum</a:t>
            </a:r>
            <a:r>
              <a:rPr lang="en-US" altLang="zh-HK" dirty="0">
                <a:ea typeface="ＭＳ Ｐゴシック" charset="0"/>
              </a:rPr>
              <a:t> to </a:t>
            </a:r>
            <a:r>
              <a:rPr lang="en-US" altLang="zh-HK" u="sng" dirty="0">
                <a:ea typeface="ＭＳ Ｐゴシック" charset="0"/>
              </a:rPr>
              <a:t>detect</a:t>
            </a:r>
            <a:r>
              <a:rPr lang="en-US" altLang="zh-HK" dirty="0">
                <a:ea typeface="ＭＳ Ｐゴシック" charset="0"/>
              </a:rPr>
              <a:t> </a:t>
            </a:r>
            <a:r>
              <a:rPr lang="en-US" altLang="zh-HK" dirty="0">
                <a:solidFill>
                  <a:srgbClr val="0070C0"/>
                </a:solidFill>
                <a:ea typeface="ＭＳ Ｐゴシック" charset="0"/>
              </a:rPr>
              <a:t>bit errors</a:t>
            </a:r>
          </a:p>
          <a:p>
            <a:pPr>
              <a:lnSpc>
                <a:spcPct val="75000"/>
              </a:lnSpc>
              <a:buFont typeface="Wingdings" charset="0"/>
              <a:buChar char="v"/>
              <a:defRPr/>
            </a:pPr>
            <a:r>
              <a:rPr lang="en-US" altLang="zh-HK" i="1" dirty="0">
                <a:ea typeface="ＭＳ Ｐゴシック" charset="0"/>
              </a:rPr>
              <a:t>Q</a:t>
            </a:r>
            <a:r>
              <a:rPr lang="en-US" altLang="zh-HK" dirty="0">
                <a:ea typeface="ＭＳ Ｐゴシック" charset="0"/>
              </a:rPr>
              <a:t>: how to </a:t>
            </a:r>
            <a:r>
              <a:rPr lang="en-US" altLang="zh-HK" u="sng" dirty="0">
                <a:ea typeface="ＭＳ Ｐゴシック" charset="0"/>
              </a:rPr>
              <a:t>recover</a:t>
            </a:r>
            <a:r>
              <a:rPr lang="en-US" altLang="zh-HK" dirty="0">
                <a:ea typeface="ＭＳ Ｐゴシック" charset="0"/>
              </a:rPr>
              <a:t> from errors:</a:t>
            </a:r>
          </a:p>
          <a:p>
            <a:pPr lvl="1">
              <a:spcBef>
                <a:spcPct val="45000"/>
              </a:spcBef>
              <a:buFont typeface="Wingdings" charset="0"/>
              <a:buChar char="§"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</a:rPr>
              <a:t>acknowledgements (ACKs):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>
                <a:solidFill>
                  <a:srgbClr val="FF0000"/>
                </a:solidFill>
                <a:ea typeface="ＭＳ Ｐゴシック" charset="0"/>
              </a:rPr>
              <a:t>receiver explicitly tells sender that pkt received OK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</a:rPr>
              <a:t>negative acknowledgements (NAKs):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>
                <a:solidFill>
                  <a:srgbClr val="FF0000"/>
                </a:solidFill>
                <a:ea typeface="ＭＳ Ｐゴシック" charset="0"/>
              </a:rPr>
              <a:t>receiver explicitly tells sender that pkt had errors</a:t>
            </a:r>
          </a:p>
          <a:p>
            <a:pPr lvl="2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sender </a:t>
            </a:r>
            <a:r>
              <a:rPr lang="en-US" dirty="0">
                <a:solidFill>
                  <a:srgbClr val="7030A0"/>
                </a:solidFill>
                <a:ea typeface="ＭＳ Ｐゴシック" charset="0"/>
              </a:rPr>
              <a:t>retransmits</a:t>
            </a:r>
            <a:r>
              <a:rPr lang="en-US" dirty="0">
                <a:ea typeface="ＭＳ Ｐゴシック" charset="0"/>
              </a:rPr>
              <a:t> pkt on receipt of NAK</a:t>
            </a:r>
          </a:p>
          <a:p>
            <a:pPr>
              <a:lnSpc>
                <a:spcPct val="75000"/>
              </a:lnSpc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new mechanisms in </a:t>
            </a:r>
            <a:r>
              <a:rPr lang="en-US" sz="2400" b="1" dirty="0">
                <a:latin typeface="Courier New" charset="0"/>
                <a:ea typeface="ＭＳ Ｐゴシック" charset="0"/>
                <a:cs typeface="+mn-cs"/>
              </a:rPr>
              <a:t>rdt2.0</a:t>
            </a:r>
            <a:r>
              <a:rPr lang="en-US" dirty="0">
                <a:ea typeface="ＭＳ Ｐゴシック" charset="0"/>
                <a:cs typeface="+mn-cs"/>
              </a:rPr>
              <a:t> (beyond </a:t>
            </a:r>
            <a:r>
              <a:rPr lang="en-US" sz="2400" b="1" dirty="0">
                <a:latin typeface="Courier New" charset="0"/>
                <a:ea typeface="ＭＳ Ｐゴシック" charset="0"/>
                <a:cs typeface="+mn-cs"/>
              </a:rPr>
              <a:t>rdt1.0</a:t>
            </a:r>
            <a:r>
              <a:rPr lang="en-US" dirty="0">
                <a:ea typeface="ＭＳ Ｐゴシック" charset="0"/>
                <a:cs typeface="+mn-cs"/>
              </a:rPr>
              <a:t>):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error detection</a:t>
            </a:r>
          </a:p>
          <a:p>
            <a:pPr lvl="1">
              <a:lnSpc>
                <a:spcPct val="75000"/>
              </a:lnSpc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feedback: control msgs (</a:t>
            </a: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ACK,NAK</a:t>
            </a:r>
            <a:r>
              <a:rPr lang="en-US" dirty="0">
                <a:ea typeface="ＭＳ Ｐゴシック" charset="0"/>
              </a:rPr>
              <a:t>) from receiver to sender</a:t>
            </a:r>
          </a:p>
        </p:txBody>
      </p:sp>
      <p:sp>
        <p:nvSpPr>
          <p:cNvPr id="28677" name="Rectangle 3">
            <a:extLst>
              <a:ext uri="{FF2B5EF4-FFF2-40B4-BE49-F238E27FC236}">
                <a16:creationId xmlns:a16="http://schemas.microsoft.com/office/drawing/2014/main" id="{0E17B64B-25DF-4E80-B5B7-E7E1BBC329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63513"/>
            <a:ext cx="8001000" cy="99695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rdt2.0: channel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+mj-cs"/>
              </a:rPr>
              <a:t>with bit errors</a:t>
            </a:r>
          </a:p>
        </p:txBody>
      </p:sp>
      <p:pic>
        <p:nvPicPr>
          <p:cNvPr id="69638" name="Picture 4" descr="underline_base">
            <a:extLst>
              <a:ext uri="{FF2B5EF4-FFF2-40B4-BE49-F238E27FC236}">
                <a16:creationId xmlns:a16="http://schemas.microsoft.com/office/drawing/2014/main" id="{03FA80A7-396A-4ACC-9394-CAF1A23AAE2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513" y="871538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Footer Placeholder 3">
            <a:extLst>
              <a:ext uri="{FF2B5EF4-FFF2-40B4-BE49-F238E27FC236}">
                <a16:creationId xmlns:a16="http://schemas.microsoft.com/office/drawing/2014/main" id="{FB2C36C2-4992-4232-9FB2-64D87229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71683" name="Slide Number Placeholder 4">
            <a:extLst>
              <a:ext uri="{FF2B5EF4-FFF2-40B4-BE49-F238E27FC236}">
                <a16:creationId xmlns:a16="http://schemas.microsoft.com/office/drawing/2014/main" id="{B9DDD497-3AAE-4066-BFE4-D90FB2E66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CA0DD8E6-7B57-4107-87DE-1DFE974B6D1E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31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71684" name="Picture 36" descr="underline_base">
            <a:extLst>
              <a:ext uri="{FF2B5EF4-FFF2-40B4-BE49-F238E27FC236}">
                <a16:creationId xmlns:a16="http://schemas.microsoft.com/office/drawing/2014/main" id="{73E902E1-6AE8-42CC-916B-D627D1818EA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563" y="855663"/>
            <a:ext cx="5484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1685" name="Rectangle 2">
            <a:extLst>
              <a:ext uri="{FF2B5EF4-FFF2-40B4-BE49-F238E27FC236}">
                <a16:creationId xmlns:a16="http://schemas.microsoft.com/office/drawing/2014/main" id="{6C79957F-B704-45A6-A308-24CDF4611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41288"/>
            <a:ext cx="7772400" cy="1030287"/>
          </a:xfrm>
        </p:spPr>
        <p:txBody>
          <a:bodyPr/>
          <a:lstStyle/>
          <a:p>
            <a:r>
              <a:rPr lang="en-US" altLang="zh-TW" sz="4000"/>
              <a:t>rdt2.0: FSM specification</a:t>
            </a:r>
            <a:endParaRPr lang="en-US" altLang="zh-TW"/>
          </a:p>
        </p:txBody>
      </p:sp>
      <p:sp>
        <p:nvSpPr>
          <p:cNvPr id="71686" name="Oval 3">
            <a:extLst>
              <a:ext uri="{FF2B5EF4-FFF2-40B4-BE49-F238E27FC236}">
                <a16:creationId xmlns:a16="http://schemas.microsoft.com/office/drawing/2014/main" id="{660180E2-F89A-4F8E-BDCE-AD15A1CA2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913" y="2209800"/>
            <a:ext cx="985837" cy="9620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71687" name="Text Box 4">
            <a:extLst>
              <a:ext uri="{FF2B5EF4-FFF2-40B4-BE49-F238E27FC236}">
                <a16:creationId xmlns:a16="http://schemas.microsoft.com/office/drawing/2014/main" id="{0F3F590C-D048-4D2A-8D8D-631B6ED89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313" y="2293938"/>
            <a:ext cx="120015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000000"/>
                </a:solidFill>
                <a:latin typeface="Arial" panose="020B0604020202020204" pitchFamily="34" charset="0"/>
              </a:rPr>
              <a:t>Wait for call from above</a:t>
            </a:r>
            <a:endParaRPr lang="en-US" altLang="zh-TW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688" name="Text Box 5">
            <a:extLst>
              <a:ext uri="{FF2B5EF4-FFF2-40B4-BE49-F238E27FC236}">
                <a16:creationId xmlns:a16="http://schemas.microsoft.com/office/drawing/2014/main" id="{8179705E-30DE-48D0-B0FA-FF8A08B47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888" y="1490663"/>
            <a:ext cx="36433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sndpkt = make_pkt(data, </a:t>
            </a: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checksum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689" name="Line 6">
            <a:extLst>
              <a:ext uri="{FF2B5EF4-FFF2-40B4-BE49-F238E27FC236}">
                <a16:creationId xmlns:a16="http://schemas.microsoft.com/office/drawing/2014/main" id="{92D0AB98-68D8-4B5C-9A82-853BDB1BEAF4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9663" y="1535113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690" name="Text Box 7">
            <a:extLst>
              <a:ext uri="{FF2B5EF4-FFF2-40B4-BE49-F238E27FC236}">
                <a16:creationId xmlns:a16="http://schemas.microsoft.com/office/drawing/2014/main" id="{CC608A24-FFDC-47D1-8A3D-11D0A5D4C4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9838" y="5314950"/>
            <a:ext cx="2143125" cy="687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extract(rcvpkt,data)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deliver_data(data)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</a:t>
            </a: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ACK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691" name="Text Box 8">
            <a:extLst>
              <a:ext uri="{FF2B5EF4-FFF2-40B4-BE49-F238E27FC236}">
                <a16:creationId xmlns:a16="http://schemas.microsoft.com/office/drawing/2014/main" id="{F99B7693-18C2-43EA-BE43-978B82D242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7613" y="4781550"/>
            <a:ext cx="215741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   </a:t>
            </a: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notcorrupt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692" name="Line 9">
            <a:extLst>
              <a:ext uri="{FF2B5EF4-FFF2-40B4-BE49-F238E27FC236}">
                <a16:creationId xmlns:a16="http://schemas.microsoft.com/office/drawing/2014/main" id="{22A13A00-028B-41AA-8DBC-A5FE98CE600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19850" y="5370513"/>
            <a:ext cx="148907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693" name="Freeform 10">
            <a:extLst>
              <a:ext uri="{FF2B5EF4-FFF2-40B4-BE49-F238E27FC236}">
                <a16:creationId xmlns:a16="http://schemas.microsoft.com/office/drawing/2014/main" id="{3691D28C-C932-4B98-A41E-10A7AB481F9F}"/>
              </a:ext>
            </a:extLst>
          </p:cNvPr>
          <p:cNvSpPr>
            <a:spLocks/>
          </p:cNvSpPr>
          <p:nvPr/>
        </p:nvSpPr>
        <p:spPr bwMode="auto">
          <a:xfrm flipV="1">
            <a:off x="1057275" y="1979613"/>
            <a:ext cx="1800225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694" name="Freeform 11">
            <a:extLst>
              <a:ext uri="{FF2B5EF4-FFF2-40B4-BE49-F238E27FC236}">
                <a16:creationId xmlns:a16="http://schemas.microsoft.com/office/drawing/2014/main" id="{033A1422-8847-4FDB-9117-D50D3989ED9C}"/>
              </a:ext>
            </a:extLst>
          </p:cNvPr>
          <p:cNvSpPr>
            <a:spLocks/>
          </p:cNvSpPr>
          <p:nvPr/>
        </p:nvSpPr>
        <p:spPr bwMode="auto">
          <a:xfrm>
            <a:off x="1104900" y="3140075"/>
            <a:ext cx="1800225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695" name="Text Box 12">
            <a:extLst>
              <a:ext uri="{FF2B5EF4-FFF2-40B4-BE49-F238E27FC236}">
                <a16:creationId xmlns:a16="http://schemas.microsoft.com/office/drawing/2014/main" id="{5E6924F8-8B73-4C19-93DB-5E89718A08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563" y="3492500"/>
            <a:ext cx="3548062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</a:t>
            </a: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isACK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696" name="Line 13">
            <a:extLst>
              <a:ext uri="{FF2B5EF4-FFF2-40B4-BE49-F238E27FC236}">
                <a16:creationId xmlns:a16="http://schemas.microsoft.com/office/drawing/2014/main" id="{F126D64D-74D6-4C52-BE67-0437BC93334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3163" y="3816350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697" name="Freeform 14">
            <a:extLst>
              <a:ext uri="{FF2B5EF4-FFF2-40B4-BE49-F238E27FC236}">
                <a16:creationId xmlns:a16="http://schemas.microsoft.com/office/drawing/2014/main" id="{1220AF5B-8856-42A8-9A8E-6A957EC4A4AA}"/>
              </a:ext>
            </a:extLst>
          </p:cNvPr>
          <p:cNvSpPr>
            <a:spLocks/>
          </p:cNvSpPr>
          <p:nvPr/>
        </p:nvSpPr>
        <p:spPr bwMode="auto">
          <a:xfrm>
            <a:off x="3252788" y="2286000"/>
            <a:ext cx="466725" cy="893763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698" name="Text Box 15">
            <a:extLst>
              <a:ext uri="{FF2B5EF4-FFF2-40B4-BE49-F238E27FC236}">
                <a16:creationId xmlns:a16="http://schemas.microsoft.com/office/drawing/2014/main" id="{F0F19800-28F4-4B7B-8E95-401029C47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62350" y="2600325"/>
            <a:ext cx="17637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70C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699" name="Text Box 16">
            <a:extLst>
              <a:ext uri="{FF2B5EF4-FFF2-40B4-BE49-F238E27FC236}">
                <a16:creationId xmlns:a16="http://schemas.microsoft.com/office/drawing/2014/main" id="{8939FAA0-164C-469D-AADC-66EB81C12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6950" y="1925638"/>
            <a:ext cx="2085975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   </a:t>
            </a: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isNAK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700" name="Line 17">
            <a:extLst>
              <a:ext uri="{FF2B5EF4-FFF2-40B4-BE49-F238E27FC236}">
                <a16:creationId xmlns:a16="http://schemas.microsoft.com/office/drawing/2014/main" id="{F3A4A211-594E-4E3F-8F15-D95B982875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6013" y="2600325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1701" name="Group 18">
            <a:extLst>
              <a:ext uri="{FF2B5EF4-FFF2-40B4-BE49-F238E27FC236}">
                <a16:creationId xmlns:a16="http://schemas.microsoft.com/office/drawing/2014/main" id="{473665B7-D0F7-43CA-8EC5-CDF52F4203AD}"/>
              </a:ext>
            </a:extLst>
          </p:cNvPr>
          <p:cNvGrpSpPr>
            <a:grpSpLocks/>
          </p:cNvGrpSpPr>
          <p:nvPr/>
        </p:nvGrpSpPr>
        <p:grpSpPr bwMode="auto">
          <a:xfrm>
            <a:off x="6573838" y="2352675"/>
            <a:ext cx="1924050" cy="858838"/>
            <a:chOff x="2222" y="2660"/>
            <a:chExt cx="1212" cy="541"/>
          </a:xfrm>
        </p:grpSpPr>
        <p:sp>
          <p:nvSpPr>
            <p:cNvPr id="71716" name="Text Box 19">
              <a:extLst>
                <a:ext uri="{FF2B5EF4-FFF2-40B4-BE49-F238E27FC236}">
                  <a16:creationId xmlns:a16="http://schemas.microsoft.com/office/drawing/2014/main" id="{F53A7D68-4C7A-4243-8267-7EF1CE7387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2" y="3039"/>
              <a:ext cx="1152" cy="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udt_send(</a:t>
              </a:r>
              <a:r>
                <a:rPr lang="en-US" altLang="zh-TW" sz="1600">
                  <a:solidFill>
                    <a:srgbClr val="0070C0"/>
                  </a:solidFill>
                  <a:latin typeface="Arial" panose="020B0604020202020204" pitchFamily="34" charset="0"/>
                </a:rPr>
                <a:t>NAK</a:t>
              </a: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1717" name="Text Box 20">
              <a:extLst>
                <a:ext uri="{FF2B5EF4-FFF2-40B4-BE49-F238E27FC236}">
                  <a16:creationId xmlns:a16="http://schemas.microsoft.com/office/drawing/2014/main" id="{97FCA5F5-AE46-481F-B6CF-A9B09EDECE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5" y="2660"/>
              <a:ext cx="1209" cy="1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rdt_rcv(rcvpkt) &amp;&amp;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  </a:t>
              </a:r>
              <a:r>
                <a:rPr lang="en-US" altLang="zh-TW" sz="1600">
                  <a:solidFill>
                    <a:srgbClr val="0070C0"/>
                  </a:solidFill>
                  <a:latin typeface="Arial" panose="020B0604020202020204" pitchFamily="34" charset="0"/>
                </a:rPr>
                <a:t>corrupt</a:t>
              </a: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(rcvpkt)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1718" name="Line 21">
              <a:extLst>
                <a:ext uri="{FF2B5EF4-FFF2-40B4-BE49-F238E27FC236}">
                  <a16:creationId xmlns:a16="http://schemas.microsoft.com/office/drawing/2014/main" id="{0DD0F8BA-7BC2-4622-B847-05E5134370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85" y="3040"/>
              <a:ext cx="62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1702" name="Group 22">
            <a:extLst>
              <a:ext uri="{FF2B5EF4-FFF2-40B4-BE49-F238E27FC236}">
                <a16:creationId xmlns:a16="http://schemas.microsoft.com/office/drawing/2014/main" id="{BB5D0344-C2E2-429B-AAEE-3C58F4816F64}"/>
              </a:ext>
            </a:extLst>
          </p:cNvPr>
          <p:cNvGrpSpPr>
            <a:grpSpLocks/>
          </p:cNvGrpSpPr>
          <p:nvPr/>
        </p:nvGrpSpPr>
        <p:grpSpPr bwMode="auto">
          <a:xfrm>
            <a:off x="2292350" y="2222500"/>
            <a:ext cx="1074738" cy="962025"/>
            <a:chOff x="1540" y="2116"/>
            <a:chExt cx="677" cy="606"/>
          </a:xfrm>
        </p:grpSpPr>
        <p:sp>
          <p:nvSpPr>
            <p:cNvPr id="71714" name="Oval 23">
              <a:extLst>
                <a:ext uri="{FF2B5EF4-FFF2-40B4-BE49-F238E27FC236}">
                  <a16:creationId xmlns:a16="http://schemas.microsoft.com/office/drawing/2014/main" id="{6AB30FFA-1392-472A-9EB1-2023F48EC1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5" y="2116"/>
              <a:ext cx="621" cy="60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71715" name="Text Box 24">
              <a:extLst>
                <a:ext uri="{FF2B5EF4-FFF2-40B4-BE49-F238E27FC236}">
                  <a16:creationId xmlns:a16="http://schemas.microsoft.com/office/drawing/2014/main" id="{3A39C518-BB3B-428A-8925-1738740A83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0" y="2163"/>
              <a:ext cx="677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Wait for ACK or NAK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71703" name="Line 25">
            <a:extLst>
              <a:ext uri="{FF2B5EF4-FFF2-40B4-BE49-F238E27FC236}">
                <a16:creationId xmlns:a16="http://schemas.microsoft.com/office/drawing/2014/main" id="{09CD5BEB-27D6-4B20-A371-31E8A4D7A16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34125" y="3497263"/>
            <a:ext cx="433388" cy="244475"/>
          </a:xfrm>
          <a:prstGeom prst="line">
            <a:avLst/>
          </a:prstGeom>
          <a:noFill/>
          <a:ln w="2857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704" name="Freeform 26">
            <a:extLst>
              <a:ext uri="{FF2B5EF4-FFF2-40B4-BE49-F238E27FC236}">
                <a16:creationId xmlns:a16="http://schemas.microsoft.com/office/drawing/2014/main" id="{C6CF1804-C4C3-45F4-B0C5-6B346A4A486A}"/>
              </a:ext>
            </a:extLst>
          </p:cNvPr>
          <p:cNvSpPr>
            <a:spLocks/>
          </p:cNvSpPr>
          <p:nvPr/>
        </p:nvSpPr>
        <p:spPr bwMode="auto">
          <a:xfrm>
            <a:off x="6672263" y="3148013"/>
            <a:ext cx="12573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1705" name="Group 27">
            <a:extLst>
              <a:ext uri="{FF2B5EF4-FFF2-40B4-BE49-F238E27FC236}">
                <a16:creationId xmlns:a16="http://schemas.microsoft.com/office/drawing/2014/main" id="{BE224E45-4DD0-42D0-BD87-B4A45093AE70}"/>
              </a:ext>
            </a:extLst>
          </p:cNvPr>
          <p:cNvGrpSpPr>
            <a:grpSpLocks/>
          </p:cNvGrpSpPr>
          <p:nvPr/>
        </p:nvGrpSpPr>
        <p:grpSpPr bwMode="auto">
          <a:xfrm>
            <a:off x="6677025" y="3568700"/>
            <a:ext cx="1200150" cy="962025"/>
            <a:chOff x="1335" y="3347"/>
            <a:chExt cx="756" cy="606"/>
          </a:xfrm>
        </p:grpSpPr>
        <p:sp>
          <p:nvSpPr>
            <p:cNvPr id="71712" name="Oval 28">
              <a:extLst>
                <a:ext uri="{FF2B5EF4-FFF2-40B4-BE49-F238E27FC236}">
                  <a16:creationId xmlns:a16="http://schemas.microsoft.com/office/drawing/2014/main" id="{BA5EE17F-A16C-41C9-9CDB-0CE819CBA3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90" y="3347"/>
              <a:ext cx="621" cy="60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71713" name="Text Box 29">
              <a:extLst>
                <a:ext uri="{FF2B5EF4-FFF2-40B4-BE49-F238E27FC236}">
                  <a16:creationId xmlns:a16="http://schemas.microsoft.com/office/drawing/2014/main" id="{DD811D62-F36E-49C2-89AE-9468CC091C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35" y="3400"/>
              <a:ext cx="756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Wait for call from below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71706" name="Freeform 30">
            <a:extLst>
              <a:ext uri="{FF2B5EF4-FFF2-40B4-BE49-F238E27FC236}">
                <a16:creationId xmlns:a16="http://schemas.microsoft.com/office/drawing/2014/main" id="{38A40B9F-8375-4736-AD3C-A4FC8F710F55}"/>
              </a:ext>
            </a:extLst>
          </p:cNvPr>
          <p:cNvSpPr>
            <a:spLocks/>
          </p:cNvSpPr>
          <p:nvPr/>
        </p:nvSpPr>
        <p:spPr bwMode="auto">
          <a:xfrm flipV="1">
            <a:off x="6684963" y="4464050"/>
            <a:ext cx="12573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707" name="Text Box 31">
            <a:extLst>
              <a:ext uri="{FF2B5EF4-FFF2-40B4-BE49-F238E27FC236}">
                <a16:creationId xmlns:a16="http://schemas.microsoft.com/office/drawing/2014/main" id="{F9FD964B-20CB-45EA-B531-62F6ABC5A9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938" y="4154488"/>
            <a:ext cx="10890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Tahoma" panose="020B0604030504040204" pitchFamily="34" charset="0"/>
              </a:rPr>
              <a:t>sender</a:t>
            </a:r>
          </a:p>
        </p:txBody>
      </p:sp>
      <p:sp>
        <p:nvSpPr>
          <p:cNvPr id="71708" name="Text Box 32">
            <a:extLst>
              <a:ext uri="{FF2B5EF4-FFF2-40B4-BE49-F238E27FC236}">
                <a16:creationId xmlns:a16="http://schemas.microsoft.com/office/drawing/2014/main" id="{A1C28D86-4222-4D91-BC85-CF7C887BCA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2300" y="1466850"/>
            <a:ext cx="12477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Tahoma" panose="020B0604030504040204" pitchFamily="34" charset="0"/>
              </a:rPr>
              <a:t>receiver</a:t>
            </a:r>
          </a:p>
        </p:txBody>
      </p:sp>
      <p:sp>
        <p:nvSpPr>
          <p:cNvPr id="71709" name="Line 33">
            <a:extLst>
              <a:ext uri="{FF2B5EF4-FFF2-40B4-BE49-F238E27FC236}">
                <a16:creationId xmlns:a16="http://schemas.microsoft.com/office/drawing/2014/main" id="{C1C663F5-173C-4A65-A7D7-1FF4427C9224}"/>
              </a:ext>
            </a:extLst>
          </p:cNvPr>
          <p:cNvSpPr>
            <a:spLocks noChangeShapeType="1"/>
          </p:cNvSpPr>
          <p:nvPr/>
        </p:nvSpPr>
        <p:spPr bwMode="auto">
          <a:xfrm>
            <a:off x="349250" y="2166938"/>
            <a:ext cx="433388" cy="244475"/>
          </a:xfrm>
          <a:prstGeom prst="line">
            <a:avLst/>
          </a:prstGeom>
          <a:noFill/>
          <a:ln w="2857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1710" name="Text Box 34">
            <a:extLst>
              <a:ext uri="{FF2B5EF4-FFF2-40B4-BE49-F238E27FC236}">
                <a16:creationId xmlns:a16="http://schemas.microsoft.com/office/drawing/2014/main" id="{05DEB5BC-B14F-4184-9089-7CA80313EB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875" y="1212850"/>
            <a:ext cx="2255838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rdt_send(data)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711" name="Text Box 35">
            <a:extLst>
              <a:ext uri="{FF2B5EF4-FFF2-40B4-BE49-F238E27FC236}">
                <a16:creationId xmlns:a16="http://schemas.microsoft.com/office/drawing/2014/main" id="{6C9C458E-A770-4127-A3BC-C3F0D6E499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2088" y="3786188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Footer Placeholder 3">
            <a:extLst>
              <a:ext uri="{FF2B5EF4-FFF2-40B4-BE49-F238E27FC236}">
                <a16:creationId xmlns:a16="http://schemas.microsoft.com/office/drawing/2014/main" id="{5620B777-0C87-41FA-9EF4-85259249F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73731" name="Slide Number Placeholder 4">
            <a:extLst>
              <a:ext uri="{FF2B5EF4-FFF2-40B4-BE49-F238E27FC236}">
                <a16:creationId xmlns:a16="http://schemas.microsoft.com/office/drawing/2014/main" id="{7DA39774-255B-4453-81B5-D2AB6465E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4EC2BB52-7D33-4CBA-8406-E4E177178031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32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73732" name="Picture 49" descr="underline_base">
            <a:extLst>
              <a:ext uri="{FF2B5EF4-FFF2-40B4-BE49-F238E27FC236}">
                <a16:creationId xmlns:a16="http://schemas.microsoft.com/office/drawing/2014/main" id="{8D3065B8-224C-46D5-AC0F-F36E02AC4BA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238" y="79851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3" name="Rectangle 2">
            <a:extLst>
              <a:ext uri="{FF2B5EF4-FFF2-40B4-BE49-F238E27FC236}">
                <a16:creationId xmlns:a16="http://schemas.microsoft.com/office/drawing/2014/main" id="{E3B03FBB-38E4-42E9-97DF-FBD22CE521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185738"/>
            <a:ext cx="7772400" cy="828675"/>
          </a:xfrm>
        </p:spPr>
        <p:txBody>
          <a:bodyPr/>
          <a:lstStyle/>
          <a:p>
            <a:r>
              <a:rPr lang="en-US" altLang="zh-TW" sz="4000" dirty="0"/>
              <a:t>rdt2.0: operation with no errors</a:t>
            </a:r>
            <a:endParaRPr lang="en-US" altLang="zh-TW" dirty="0"/>
          </a:p>
        </p:txBody>
      </p:sp>
      <p:sp>
        <p:nvSpPr>
          <p:cNvPr id="73734" name="Oval 3">
            <a:extLst>
              <a:ext uri="{FF2B5EF4-FFF2-40B4-BE49-F238E27FC236}">
                <a16:creationId xmlns:a16="http://schemas.microsoft.com/office/drawing/2014/main" id="{1DCB3793-BA0D-4349-B807-5E69FF105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913" y="2209800"/>
            <a:ext cx="985837" cy="9620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73735" name="Text Box 4">
            <a:extLst>
              <a:ext uri="{FF2B5EF4-FFF2-40B4-BE49-F238E27FC236}">
                <a16:creationId xmlns:a16="http://schemas.microsoft.com/office/drawing/2014/main" id="{DFB3ADF5-6AF1-4EBB-B937-F0F8469C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313" y="2293938"/>
            <a:ext cx="120015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Wait for call from above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736" name="Text Box 5">
            <a:extLst>
              <a:ext uri="{FF2B5EF4-FFF2-40B4-BE49-F238E27FC236}">
                <a16:creationId xmlns:a16="http://schemas.microsoft.com/office/drawing/2014/main" id="{9625E4FB-0835-4CAC-81B7-FE85E1D654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888" y="1490663"/>
            <a:ext cx="36433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snkpkt = make_pkt(data, checksum)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737" name="Line 6">
            <a:extLst>
              <a:ext uri="{FF2B5EF4-FFF2-40B4-BE49-F238E27FC236}">
                <a16:creationId xmlns:a16="http://schemas.microsoft.com/office/drawing/2014/main" id="{5E65809F-723C-4308-A410-2A4F31742FE6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9663" y="1535113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3738" name="Text Box 7">
            <a:extLst>
              <a:ext uri="{FF2B5EF4-FFF2-40B4-BE49-F238E27FC236}">
                <a16:creationId xmlns:a16="http://schemas.microsoft.com/office/drawing/2014/main" id="{5998E3A4-07C3-40FE-BF27-6C1A36C631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9838" y="5314950"/>
            <a:ext cx="2143125" cy="61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extract(rcvpkt,data)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deliver_data(data)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</a:t>
            </a: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ACK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739" name="Text Box 8">
            <a:extLst>
              <a:ext uri="{FF2B5EF4-FFF2-40B4-BE49-F238E27FC236}">
                <a16:creationId xmlns:a16="http://schemas.microsoft.com/office/drawing/2014/main" id="{D8F7987E-151D-4F8F-9691-AE45D08A8F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7613" y="4781550"/>
            <a:ext cx="215741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   notcorrupt(rcvpkt)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740" name="Line 9">
            <a:extLst>
              <a:ext uri="{FF2B5EF4-FFF2-40B4-BE49-F238E27FC236}">
                <a16:creationId xmlns:a16="http://schemas.microsoft.com/office/drawing/2014/main" id="{70216C2F-4D6D-49A9-AE79-E2DC400ED897}"/>
              </a:ext>
            </a:extLst>
          </p:cNvPr>
          <p:cNvSpPr>
            <a:spLocks noChangeShapeType="1"/>
          </p:cNvSpPr>
          <p:nvPr/>
        </p:nvSpPr>
        <p:spPr bwMode="auto">
          <a:xfrm>
            <a:off x="6419850" y="5370513"/>
            <a:ext cx="148907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3741" name="Freeform 10">
            <a:extLst>
              <a:ext uri="{FF2B5EF4-FFF2-40B4-BE49-F238E27FC236}">
                <a16:creationId xmlns:a16="http://schemas.microsoft.com/office/drawing/2014/main" id="{731519A4-8DE7-423F-ABE3-741EF3A13995}"/>
              </a:ext>
            </a:extLst>
          </p:cNvPr>
          <p:cNvSpPr>
            <a:spLocks/>
          </p:cNvSpPr>
          <p:nvPr/>
        </p:nvSpPr>
        <p:spPr bwMode="auto">
          <a:xfrm flipV="1">
            <a:off x="1057275" y="1979613"/>
            <a:ext cx="1800225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3742" name="Freeform 11">
            <a:extLst>
              <a:ext uri="{FF2B5EF4-FFF2-40B4-BE49-F238E27FC236}">
                <a16:creationId xmlns:a16="http://schemas.microsoft.com/office/drawing/2014/main" id="{C586DBE6-2D0F-48FE-B10B-54803C97D111}"/>
              </a:ext>
            </a:extLst>
          </p:cNvPr>
          <p:cNvSpPr>
            <a:spLocks/>
          </p:cNvSpPr>
          <p:nvPr/>
        </p:nvSpPr>
        <p:spPr bwMode="auto">
          <a:xfrm>
            <a:off x="1104900" y="3140075"/>
            <a:ext cx="1800225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3743" name="Text Box 12">
            <a:extLst>
              <a:ext uri="{FF2B5EF4-FFF2-40B4-BE49-F238E27FC236}">
                <a16:creationId xmlns:a16="http://schemas.microsoft.com/office/drawing/2014/main" id="{2D12E974-1535-484A-8BC1-50CC6665EC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563" y="3492500"/>
            <a:ext cx="3548062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isACK(rcvpkt)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744" name="Line 13">
            <a:extLst>
              <a:ext uri="{FF2B5EF4-FFF2-40B4-BE49-F238E27FC236}">
                <a16:creationId xmlns:a16="http://schemas.microsoft.com/office/drawing/2014/main" id="{55679F8A-2F01-4017-BE5E-3E2FC608B23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3163" y="3816350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3745" name="Freeform 14">
            <a:extLst>
              <a:ext uri="{FF2B5EF4-FFF2-40B4-BE49-F238E27FC236}">
                <a16:creationId xmlns:a16="http://schemas.microsoft.com/office/drawing/2014/main" id="{1013B95D-7F94-44AC-B399-A3E6A881F7BB}"/>
              </a:ext>
            </a:extLst>
          </p:cNvPr>
          <p:cNvSpPr>
            <a:spLocks/>
          </p:cNvSpPr>
          <p:nvPr/>
        </p:nvSpPr>
        <p:spPr bwMode="auto">
          <a:xfrm>
            <a:off x="3252788" y="2286000"/>
            <a:ext cx="466725" cy="893763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3746" name="Text Box 15">
            <a:extLst>
              <a:ext uri="{FF2B5EF4-FFF2-40B4-BE49-F238E27FC236}">
                <a16:creationId xmlns:a16="http://schemas.microsoft.com/office/drawing/2014/main" id="{38D1875A-5F51-41E4-BFBF-069DBF370C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62350" y="2600325"/>
            <a:ext cx="17637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747" name="Text Box 16">
            <a:extLst>
              <a:ext uri="{FF2B5EF4-FFF2-40B4-BE49-F238E27FC236}">
                <a16:creationId xmlns:a16="http://schemas.microsoft.com/office/drawing/2014/main" id="{D3CEC5D8-C904-42C8-A5C3-E5F0C46A5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6950" y="1925638"/>
            <a:ext cx="2085975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   isNAK(rcvpkt)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748" name="Line 17">
            <a:extLst>
              <a:ext uri="{FF2B5EF4-FFF2-40B4-BE49-F238E27FC236}">
                <a16:creationId xmlns:a16="http://schemas.microsoft.com/office/drawing/2014/main" id="{07F78DB7-067C-46F9-A805-C37C5B9360DA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6013" y="2600325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3749" name="Group 18">
            <a:extLst>
              <a:ext uri="{FF2B5EF4-FFF2-40B4-BE49-F238E27FC236}">
                <a16:creationId xmlns:a16="http://schemas.microsoft.com/office/drawing/2014/main" id="{63A12ACB-92A7-4553-9783-5E41F1FC897E}"/>
              </a:ext>
            </a:extLst>
          </p:cNvPr>
          <p:cNvGrpSpPr>
            <a:grpSpLocks/>
          </p:cNvGrpSpPr>
          <p:nvPr/>
        </p:nvGrpSpPr>
        <p:grpSpPr bwMode="auto">
          <a:xfrm>
            <a:off x="6573838" y="2352675"/>
            <a:ext cx="1924050" cy="858838"/>
            <a:chOff x="2222" y="2660"/>
            <a:chExt cx="1212" cy="541"/>
          </a:xfrm>
        </p:grpSpPr>
        <p:sp>
          <p:nvSpPr>
            <p:cNvPr id="73777" name="Text Box 19">
              <a:extLst>
                <a:ext uri="{FF2B5EF4-FFF2-40B4-BE49-F238E27FC236}">
                  <a16:creationId xmlns:a16="http://schemas.microsoft.com/office/drawing/2014/main" id="{D170F95E-FD5D-448D-88DC-3CDC8A850B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2" y="3039"/>
              <a:ext cx="1152" cy="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udt_send(NAK)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3778" name="Text Box 20">
              <a:extLst>
                <a:ext uri="{FF2B5EF4-FFF2-40B4-BE49-F238E27FC236}">
                  <a16:creationId xmlns:a16="http://schemas.microsoft.com/office/drawing/2014/main" id="{B61B3E25-4E97-40B3-A856-BA3399028D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5" y="2660"/>
              <a:ext cx="1209" cy="1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rdt_rcv(rcvpkt) &amp;&amp;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  corrupt(rcvpkt)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3779" name="Line 21">
              <a:extLst>
                <a:ext uri="{FF2B5EF4-FFF2-40B4-BE49-F238E27FC236}">
                  <a16:creationId xmlns:a16="http://schemas.microsoft.com/office/drawing/2014/main" id="{EB0F232E-CB37-499D-9CA5-1622DAE56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85" y="3040"/>
              <a:ext cx="62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3750" name="Group 22">
            <a:extLst>
              <a:ext uri="{FF2B5EF4-FFF2-40B4-BE49-F238E27FC236}">
                <a16:creationId xmlns:a16="http://schemas.microsoft.com/office/drawing/2014/main" id="{0D643C14-2E10-4696-83E1-4083AE10BD4D}"/>
              </a:ext>
            </a:extLst>
          </p:cNvPr>
          <p:cNvGrpSpPr>
            <a:grpSpLocks/>
          </p:cNvGrpSpPr>
          <p:nvPr/>
        </p:nvGrpSpPr>
        <p:grpSpPr bwMode="auto">
          <a:xfrm>
            <a:off x="2292350" y="2222500"/>
            <a:ext cx="1074738" cy="962025"/>
            <a:chOff x="1540" y="2116"/>
            <a:chExt cx="677" cy="606"/>
          </a:xfrm>
        </p:grpSpPr>
        <p:sp>
          <p:nvSpPr>
            <p:cNvPr id="73775" name="Oval 23">
              <a:extLst>
                <a:ext uri="{FF2B5EF4-FFF2-40B4-BE49-F238E27FC236}">
                  <a16:creationId xmlns:a16="http://schemas.microsoft.com/office/drawing/2014/main" id="{589D078B-C9D0-4BE0-A0AD-D9C435CC4F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5" y="2116"/>
              <a:ext cx="621" cy="60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73776" name="Text Box 24">
              <a:extLst>
                <a:ext uri="{FF2B5EF4-FFF2-40B4-BE49-F238E27FC236}">
                  <a16:creationId xmlns:a16="http://schemas.microsoft.com/office/drawing/2014/main" id="{1505F675-206A-4F34-BCFA-666C620FBC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0" y="2163"/>
              <a:ext cx="677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Wait for ACK or NAK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73751" name="Freeform 25">
            <a:extLst>
              <a:ext uri="{FF2B5EF4-FFF2-40B4-BE49-F238E27FC236}">
                <a16:creationId xmlns:a16="http://schemas.microsoft.com/office/drawing/2014/main" id="{8E976EF3-4EA4-4C31-A655-4F41EE87A20A}"/>
              </a:ext>
            </a:extLst>
          </p:cNvPr>
          <p:cNvSpPr>
            <a:spLocks/>
          </p:cNvSpPr>
          <p:nvPr/>
        </p:nvSpPr>
        <p:spPr bwMode="auto">
          <a:xfrm>
            <a:off x="6672263" y="3148013"/>
            <a:ext cx="12573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3752" name="Oval 26">
            <a:extLst>
              <a:ext uri="{FF2B5EF4-FFF2-40B4-BE49-F238E27FC236}">
                <a16:creationId xmlns:a16="http://schemas.microsoft.com/office/drawing/2014/main" id="{A14960EB-3EFC-4DA9-953F-139A0868D0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4338" y="3568700"/>
            <a:ext cx="985837" cy="9620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73753" name="Text Box 27">
            <a:extLst>
              <a:ext uri="{FF2B5EF4-FFF2-40B4-BE49-F238E27FC236}">
                <a16:creationId xmlns:a16="http://schemas.microsoft.com/office/drawing/2014/main" id="{9CAAF341-9E44-4B07-98D6-F38C2C03B0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7025" y="3652838"/>
            <a:ext cx="120015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Wait for call from below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754" name="Freeform 28">
            <a:extLst>
              <a:ext uri="{FF2B5EF4-FFF2-40B4-BE49-F238E27FC236}">
                <a16:creationId xmlns:a16="http://schemas.microsoft.com/office/drawing/2014/main" id="{D9C5CDFC-F303-42FA-8C30-443F33706A12}"/>
              </a:ext>
            </a:extLst>
          </p:cNvPr>
          <p:cNvSpPr>
            <a:spLocks/>
          </p:cNvSpPr>
          <p:nvPr/>
        </p:nvSpPr>
        <p:spPr bwMode="auto">
          <a:xfrm flipV="1">
            <a:off x="6684963" y="4464050"/>
            <a:ext cx="12573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4" name="Group 29">
            <a:extLst>
              <a:ext uri="{FF2B5EF4-FFF2-40B4-BE49-F238E27FC236}">
                <a16:creationId xmlns:a16="http://schemas.microsoft.com/office/drawing/2014/main" id="{53018377-753C-4FFE-97DE-59C68B30BABB}"/>
              </a:ext>
            </a:extLst>
          </p:cNvPr>
          <p:cNvGrpSpPr>
            <a:grpSpLocks/>
          </p:cNvGrpSpPr>
          <p:nvPr/>
        </p:nvGrpSpPr>
        <p:grpSpPr bwMode="auto">
          <a:xfrm>
            <a:off x="349250" y="2166938"/>
            <a:ext cx="1333500" cy="1004887"/>
            <a:chOff x="220" y="1365"/>
            <a:chExt cx="840" cy="633"/>
          </a:xfrm>
        </p:grpSpPr>
        <p:sp>
          <p:nvSpPr>
            <p:cNvPr id="73773" name="Line 30">
              <a:extLst>
                <a:ext uri="{FF2B5EF4-FFF2-40B4-BE49-F238E27FC236}">
                  <a16:creationId xmlns:a16="http://schemas.microsoft.com/office/drawing/2014/main" id="{425C5413-9123-4CC7-AC6D-A94B0345C3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" y="1365"/>
              <a:ext cx="273" cy="154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3774" name="Oval 31">
              <a:extLst>
                <a:ext uri="{FF2B5EF4-FFF2-40B4-BE49-F238E27FC236}">
                  <a16:creationId xmlns:a16="http://schemas.microsoft.com/office/drawing/2014/main" id="{02DFDFE6-E059-4B08-A1A3-DBD9FCEF4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" y="1392"/>
              <a:ext cx="621" cy="606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32">
            <a:extLst>
              <a:ext uri="{FF2B5EF4-FFF2-40B4-BE49-F238E27FC236}">
                <a16:creationId xmlns:a16="http://schemas.microsoft.com/office/drawing/2014/main" id="{BE9CAE49-E94D-46C7-B853-47596692AD25}"/>
              </a:ext>
            </a:extLst>
          </p:cNvPr>
          <p:cNvGrpSpPr>
            <a:grpSpLocks/>
          </p:cNvGrpSpPr>
          <p:nvPr/>
        </p:nvGrpSpPr>
        <p:grpSpPr bwMode="auto">
          <a:xfrm>
            <a:off x="6334125" y="3497263"/>
            <a:ext cx="1414463" cy="1033462"/>
            <a:chOff x="3990" y="2203"/>
            <a:chExt cx="891" cy="651"/>
          </a:xfrm>
        </p:grpSpPr>
        <p:sp>
          <p:nvSpPr>
            <p:cNvPr id="73771" name="Line 33">
              <a:extLst>
                <a:ext uri="{FF2B5EF4-FFF2-40B4-BE49-F238E27FC236}">
                  <a16:creationId xmlns:a16="http://schemas.microsoft.com/office/drawing/2014/main" id="{2303B7F9-E411-43CE-869F-6B59D4FFC3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90" y="2203"/>
              <a:ext cx="273" cy="154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3772" name="Oval 34">
              <a:extLst>
                <a:ext uri="{FF2B5EF4-FFF2-40B4-BE49-F238E27FC236}">
                  <a16:creationId xmlns:a16="http://schemas.microsoft.com/office/drawing/2014/main" id="{47B868A9-A1AF-4A87-A7A9-D4A50F32A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0" y="2248"/>
              <a:ext cx="621" cy="606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73757" name="Text Box 35">
            <a:extLst>
              <a:ext uri="{FF2B5EF4-FFF2-40B4-BE49-F238E27FC236}">
                <a16:creationId xmlns:a16="http://schemas.microsoft.com/office/drawing/2014/main" id="{F9F591C3-E88F-4AFF-82AF-3376905576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0288" y="1200150"/>
            <a:ext cx="2255837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rdt_send(data)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88804" name="Line 36">
            <a:extLst>
              <a:ext uri="{FF2B5EF4-FFF2-40B4-BE49-F238E27FC236}">
                <a16:creationId xmlns:a16="http://schemas.microsoft.com/office/drawing/2014/main" id="{BDA5B417-F63F-4F7F-80D2-1EC6B6055C82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1238" y="1289050"/>
            <a:ext cx="12700" cy="747713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88805" name="Freeform 37">
            <a:extLst>
              <a:ext uri="{FF2B5EF4-FFF2-40B4-BE49-F238E27FC236}">
                <a16:creationId xmlns:a16="http://schemas.microsoft.com/office/drawing/2014/main" id="{B865E80F-5007-4B7D-A1FF-7CA00BC72D6D}"/>
              </a:ext>
            </a:extLst>
          </p:cNvPr>
          <p:cNvSpPr>
            <a:spLocks/>
          </p:cNvSpPr>
          <p:nvPr/>
        </p:nvSpPr>
        <p:spPr bwMode="auto">
          <a:xfrm>
            <a:off x="1011238" y="2006600"/>
            <a:ext cx="6697662" cy="3060700"/>
          </a:xfrm>
          <a:custGeom>
            <a:avLst/>
            <a:gdLst>
              <a:gd name="T0" fmla="*/ 0 w 4219"/>
              <a:gd name="T1" fmla="*/ 2147483646 h 1928"/>
              <a:gd name="T2" fmla="*/ 2147483646 w 4219"/>
              <a:gd name="T3" fmla="*/ 0 h 1928"/>
              <a:gd name="T4" fmla="*/ 2147483646 w 4219"/>
              <a:gd name="T5" fmla="*/ 2147483646 h 1928"/>
              <a:gd name="T6" fmla="*/ 2147483646 w 4219"/>
              <a:gd name="T7" fmla="*/ 2147483646 h 1928"/>
              <a:gd name="T8" fmla="*/ 0 60000 65536"/>
              <a:gd name="T9" fmla="*/ 0 60000 65536"/>
              <a:gd name="T10" fmla="*/ 0 60000 65536"/>
              <a:gd name="T11" fmla="*/ 0 60000 65536"/>
              <a:gd name="T12" fmla="*/ 0 w 4219"/>
              <a:gd name="T13" fmla="*/ 0 h 1928"/>
              <a:gd name="T14" fmla="*/ 4219 w 4219"/>
              <a:gd name="T15" fmla="*/ 1928 h 192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4219" h="1928">
                <a:moveTo>
                  <a:pt x="0" y="10"/>
                </a:moveTo>
                <a:lnTo>
                  <a:pt x="1003" y="0"/>
                </a:lnTo>
                <a:lnTo>
                  <a:pt x="3387" y="1928"/>
                </a:lnTo>
                <a:lnTo>
                  <a:pt x="4219" y="1928"/>
                </a:ln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6" name="Group 38">
            <a:extLst>
              <a:ext uri="{FF2B5EF4-FFF2-40B4-BE49-F238E27FC236}">
                <a16:creationId xmlns:a16="http://schemas.microsoft.com/office/drawing/2014/main" id="{A33AEF95-0F09-4327-A191-DA986AFD60C2}"/>
              </a:ext>
            </a:extLst>
          </p:cNvPr>
          <p:cNvGrpSpPr>
            <a:grpSpLocks/>
          </p:cNvGrpSpPr>
          <p:nvPr/>
        </p:nvGrpSpPr>
        <p:grpSpPr bwMode="auto">
          <a:xfrm>
            <a:off x="347663" y="2166938"/>
            <a:ext cx="1333500" cy="1004887"/>
            <a:chOff x="220" y="1365"/>
            <a:chExt cx="840" cy="633"/>
          </a:xfrm>
        </p:grpSpPr>
        <p:sp>
          <p:nvSpPr>
            <p:cNvPr id="73769" name="Line 39">
              <a:extLst>
                <a:ext uri="{FF2B5EF4-FFF2-40B4-BE49-F238E27FC236}">
                  <a16:creationId xmlns:a16="http://schemas.microsoft.com/office/drawing/2014/main" id="{7586A769-3A8C-4452-8646-F937712346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" y="1365"/>
              <a:ext cx="273" cy="154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3770" name="Oval 40">
              <a:extLst>
                <a:ext uri="{FF2B5EF4-FFF2-40B4-BE49-F238E27FC236}">
                  <a16:creationId xmlns:a16="http://schemas.microsoft.com/office/drawing/2014/main" id="{2A077617-6385-4AC5-B5D8-69C09FFDA0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" y="1392"/>
              <a:ext cx="621" cy="606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288809" name="Oval 41">
            <a:extLst>
              <a:ext uri="{FF2B5EF4-FFF2-40B4-BE49-F238E27FC236}">
                <a16:creationId xmlns:a16="http://schemas.microsoft.com/office/drawing/2014/main" id="{05F65045-69A7-4C7C-A386-2C2D5FC676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2038" y="2222500"/>
            <a:ext cx="985837" cy="96202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88810" name="Line 42">
            <a:extLst>
              <a:ext uri="{FF2B5EF4-FFF2-40B4-BE49-F238E27FC236}">
                <a16:creationId xmlns:a16="http://schemas.microsoft.com/office/drawing/2014/main" id="{F2FD5FF4-0940-4CD9-8118-2005DDB84AF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61100" y="4902200"/>
            <a:ext cx="12700" cy="1193800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88811" name="Freeform 43">
            <a:extLst>
              <a:ext uri="{FF2B5EF4-FFF2-40B4-BE49-F238E27FC236}">
                <a16:creationId xmlns:a16="http://schemas.microsoft.com/office/drawing/2014/main" id="{8B68C59F-2ABB-4E19-B9E7-AD40E95D8293}"/>
              </a:ext>
            </a:extLst>
          </p:cNvPr>
          <p:cNvSpPr>
            <a:spLocks/>
          </p:cNvSpPr>
          <p:nvPr/>
        </p:nvSpPr>
        <p:spPr bwMode="auto">
          <a:xfrm>
            <a:off x="1155700" y="3886200"/>
            <a:ext cx="6667500" cy="2260600"/>
          </a:xfrm>
          <a:custGeom>
            <a:avLst/>
            <a:gdLst>
              <a:gd name="T0" fmla="*/ 2147483646 w 4200"/>
              <a:gd name="T1" fmla="*/ 2147483646 h 1424"/>
              <a:gd name="T2" fmla="*/ 2147483646 w 4200"/>
              <a:gd name="T3" fmla="*/ 2147483646 h 1424"/>
              <a:gd name="T4" fmla="*/ 2147483646 w 4200"/>
              <a:gd name="T5" fmla="*/ 0 h 1424"/>
              <a:gd name="T6" fmla="*/ 0 w 4200"/>
              <a:gd name="T7" fmla="*/ 0 h 1424"/>
              <a:gd name="T8" fmla="*/ 0 60000 65536"/>
              <a:gd name="T9" fmla="*/ 0 60000 65536"/>
              <a:gd name="T10" fmla="*/ 0 60000 65536"/>
              <a:gd name="T11" fmla="*/ 0 60000 65536"/>
              <a:gd name="T12" fmla="*/ 0 w 4200"/>
              <a:gd name="T13" fmla="*/ 0 h 1424"/>
              <a:gd name="T14" fmla="*/ 4200 w 4200"/>
              <a:gd name="T15" fmla="*/ 1424 h 142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4200" h="1424">
                <a:moveTo>
                  <a:pt x="4200" y="1424"/>
                </a:moveTo>
                <a:lnTo>
                  <a:pt x="3224" y="1424"/>
                </a:lnTo>
                <a:lnTo>
                  <a:pt x="1880" y="0"/>
                </a:ln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" name="Group 44">
            <a:extLst>
              <a:ext uri="{FF2B5EF4-FFF2-40B4-BE49-F238E27FC236}">
                <a16:creationId xmlns:a16="http://schemas.microsoft.com/office/drawing/2014/main" id="{EE50A4A7-3AD5-43FF-9F61-D10B22AA58ED}"/>
              </a:ext>
            </a:extLst>
          </p:cNvPr>
          <p:cNvGrpSpPr>
            <a:grpSpLocks/>
          </p:cNvGrpSpPr>
          <p:nvPr/>
        </p:nvGrpSpPr>
        <p:grpSpPr bwMode="auto">
          <a:xfrm>
            <a:off x="347663" y="2166938"/>
            <a:ext cx="1333500" cy="1004887"/>
            <a:chOff x="220" y="1365"/>
            <a:chExt cx="840" cy="633"/>
          </a:xfrm>
        </p:grpSpPr>
        <p:sp>
          <p:nvSpPr>
            <p:cNvPr id="73767" name="Line 45">
              <a:extLst>
                <a:ext uri="{FF2B5EF4-FFF2-40B4-BE49-F238E27FC236}">
                  <a16:creationId xmlns:a16="http://schemas.microsoft.com/office/drawing/2014/main" id="{D5FF5F11-9ACC-4B09-8199-8727E36C95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" y="1365"/>
              <a:ext cx="273" cy="154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3768" name="Oval 46">
              <a:extLst>
                <a:ext uri="{FF2B5EF4-FFF2-40B4-BE49-F238E27FC236}">
                  <a16:creationId xmlns:a16="http://schemas.microsoft.com/office/drawing/2014/main" id="{52931390-7D7D-4EDD-94E0-D5C9D4710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" y="1392"/>
              <a:ext cx="621" cy="606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288815" name="Oval 47">
            <a:extLst>
              <a:ext uri="{FF2B5EF4-FFF2-40B4-BE49-F238E27FC236}">
                <a16:creationId xmlns:a16="http://schemas.microsoft.com/office/drawing/2014/main" id="{DAA6B692-97C9-417C-AD32-9CCF646C90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8863" y="2227263"/>
            <a:ext cx="985837" cy="962025"/>
          </a:xfrm>
          <a:prstGeom prst="ellips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73766" name="Text Box 48">
            <a:extLst>
              <a:ext uri="{FF2B5EF4-FFF2-40B4-BE49-F238E27FC236}">
                <a16:creationId xmlns:a16="http://schemas.microsoft.com/office/drawing/2014/main" id="{1EF39F18-ABC6-466F-8DFF-256C92719D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9700" y="3854450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28880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8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28880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8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2888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8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1000"/>
                                        <p:tgtEl>
                                          <p:spTgt spid="2888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0"/>
                                            </p:cond>
                                          </p:stCondLst>
                                        </p:cTn>
                                        <p:tgtEl>
                                          <p:spTgt spid="288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8809" grpId="0" animBg="1"/>
      <p:bldP spid="288815" grpId="0" animBg="1"/>
      <p:bldP spid="288815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Footer Placeholder 3">
            <a:extLst>
              <a:ext uri="{FF2B5EF4-FFF2-40B4-BE49-F238E27FC236}">
                <a16:creationId xmlns:a16="http://schemas.microsoft.com/office/drawing/2014/main" id="{92029349-E7A0-4655-8013-275CB251F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75779" name="Slide Number Placeholder 4">
            <a:extLst>
              <a:ext uri="{FF2B5EF4-FFF2-40B4-BE49-F238E27FC236}">
                <a16:creationId xmlns:a16="http://schemas.microsoft.com/office/drawing/2014/main" id="{347EC17F-569C-4FFB-A300-6370434A4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A5BD9DD4-3187-43D6-9E3A-BB969414F3C7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33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5780" name="Rectangle 2">
            <a:extLst>
              <a:ext uri="{FF2B5EF4-FFF2-40B4-BE49-F238E27FC236}">
                <a16:creationId xmlns:a16="http://schemas.microsoft.com/office/drawing/2014/main" id="{61807D6F-7A47-4D3A-9CDE-5A01E59E6F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63" y="185738"/>
            <a:ext cx="7772400" cy="885825"/>
          </a:xfrm>
        </p:spPr>
        <p:txBody>
          <a:bodyPr/>
          <a:lstStyle/>
          <a:p>
            <a:r>
              <a:rPr lang="en-US" altLang="zh-TW" sz="4000"/>
              <a:t>rdt2.0: error scenario</a:t>
            </a:r>
            <a:endParaRPr lang="en-US" altLang="zh-TW"/>
          </a:p>
        </p:txBody>
      </p:sp>
      <p:sp>
        <p:nvSpPr>
          <p:cNvPr id="75781" name="Oval 3">
            <a:extLst>
              <a:ext uri="{FF2B5EF4-FFF2-40B4-BE49-F238E27FC236}">
                <a16:creationId xmlns:a16="http://schemas.microsoft.com/office/drawing/2014/main" id="{22870CC3-FB0E-46BA-8CBC-E535AC3BE4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913" y="2209800"/>
            <a:ext cx="985837" cy="9620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75782" name="Text Box 4">
            <a:extLst>
              <a:ext uri="{FF2B5EF4-FFF2-40B4-BE49-F238E27FC236}">
                <a16:creationId xmlns:a16="http://schemas.microsoft.com/office/drawing/2014/main" id="{44ED7489-B4E1-4B9A-BACE-3F08D39DB7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313" y="2293938"/>
            <a:ext cx="120015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Wait for call from above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5783" name="Text Box 5">
            <a:extLst>
              <a:ext uri="{FF2B5EF4-FFF2-40B4-BE49-F238E27FC236}">
                <a16:creationId xmlns:a16="http://schemas.microsoft.com/office/drawing/2014/main" id="{1D3D1279-51B4-440D-BBBC-119661541A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888" y="1490663"/>
            <a:ext cx="36433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snkpkt = make_pkt(data, checksum)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5784" name="Line 6">
            <a:extLst>
              <a:ext uri="{FF2B5EF4-FFF2-40B4-BE49-F238E27FC236}">
                <a16:creationId xmlns:a16="http://schemas.microsoft.com/office/drawing/2014/main" id="{BBBFA676-B716-47D3-A558-3541643ED7E6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9663" y="1535113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5" name="Text Box 7">
            <a:extLst>
              <a:ext uri="{FF2B5EF4-FFF2-40B4-BE49-F238E27FC236}">
                <a16:creationId xmlns:a16="http://schemas.microsoft.com/office/drawing/2014/main" id="{3AF94A91-4ECE-4BA5-873E-0D2348C0A6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9838" y="5314950"/>
            <a:ext cx="2143125" cy="61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extract(rcvpkt,data)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deliver_data(data)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udt_send(ACK)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5786" name="Text Box 8">
            <a:extLst>
              <a:ext uri="{FF2B5EF4-FFF2-40B4-BE49-F238E27FC236}">
                <a16:creationId xmlns:a16="http://schemas.microsoft.com/office/drawing/2014/main" id="{D3F0A971-F0EB-4EC9-B34C-FA8AAE266E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7613" y="4781550"/>
            <a:ext cx="215741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   notcorrupt(rcvpkt)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5787" name="Line 9">
            <a:extLst>
              <a:ext uri="{FF2B5EF4-FFF2-40B4-BE49-F238E27FC236}">
                <a16:creationId xmlns:a16="http://schemas.microsoft.com/office/drawing/2014/main" id="{89F19348-014D-4BFE-A72D-484EAA4328FB}"/>
              </a:ext>
            </a:extLst>
          </p:cNvPr>
          <p:cNvSpPr>
            <a:spLocks noChangeShapeType="1"/>
          </p:cNvSpPr>
          <p:nvPr/>
        </p:nvSpPr>
        <p:spPr bwMode="auto">
          <a:xfrm>
            <a:off x="6419850" y="5370513"/>
            <a:ext cx="148907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8" name="Freeform 10">
            <a:extLst>
              <a:ext uri="{FF2B5EF4-FFF2-40B4-BE49-F238E27FC236}">
                <a16:creationId xmlns:a16="http://schemas.microsoft.com/office/drawing/2014/main" id="{9C41E702-7C07-4213-9BC9-E8AC8A941B4F}"/>
              </a:ext>
            </a:extLst>
          </p:cNvPr>
          <p:cNvSpPr>
            <a:spLocks/>
          </p:cNvSpPr>
          <p:nvPr/>
        </p:nvSpPr>
        <p:spPr bwMode="auto">
          <a:xfrm flipV="1">
            <a:off x="1057275" y="1979613"/>
            <a:ext cx="1800225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9" name="Freeform 11">
            <a:extLst>
              <a:ext uri="{FF2B5EF4-FFF2-40B4-BE49-F238E27FC236}">
                <a16:creationId xmlns:a16="http://schemas.microsoft.com/office/drawing/2014/main" id="{4B0DF877-3494-434A-A770-D1B0E15A7A41}"/>
              </a:ext>
            </a:extLst>
          </p:cNvPr>
          <p:cNvSpPr>
            <a:spLocks/>
          </p:cNvSpPr>
          <p:nvPr/>
        </p:nvSpPr>
        <p:spPr bwMode="auto">
          <a:xfrm>
            <a:off x="1104900" y="3140075"/>
            <a:ext cx="1800225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0" name="Text Box 12">
            <a:extLst>
              <a:ext uri="{FF2B5EF4-FFF2-40B4-BE49-F238E27FC236}">
                <a16:creationId xmlns:a16="http://schemas.microsoft.com/office/drawing/2014/main" id="{5B4A3F20-047A-4DAD-A799-B890ED275B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563" y="3492500"/>
            <a:ext cx="3548062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isACK(rcvpkt)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5791" name="Line 13">
            <a:extLst>
              <a:ext uri="{FF2B5EF4-FFF2-40B4-BE49-F238E27FC236}">
                <a16:creationId xmlns:a16="http://schemas.microsoft.com/office/drawing/2014/main" id="{8CDF4915-1151-4029-B811-9F9E2140B51A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3163" y="3816350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2" name="Freeform 14">
            <a:extLst>
              <a:ext uri="{FF2B5EF4-FFF2-40B4-BE49-F238E27FC236}">
                <a16:creationId xmlns:a16="http://schemas.microsoft.com/office/drawing/2014/main" id="{F2943A7F-2686-4FF3-9F1B-4C3D1393FD42}"/>
              </a:ext>
            </a:extLst>
          </p:cNvPr>
          <p:cNvSpPr>
            <a:spLocks/>
          </p:cNvSpPr>
          <p:nvPr/>
        </p:nvSpPr>
        <p:spPr bwMode="auto">
          <a:xfrm>
            <a:off x="3252788" y="2286000"/>
            <a:ext cx="466725" cy="893763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3" name="Text Box 15">
            <a:extLst>
              <a:ext uri="{FF2B5EF4-FFF2-40B4-BE49-F238E27FC236}">
                <a16:creationId xmlns:a16="http://schemas.microsoft.com/office/drawing/2014/main" id="{21E98E4B-92CC-4604-BA67-5AE5DDCEF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62350" y="2600325"/>
            <a:ext cx="17637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5794" name="Text Box 16">
            <a:extLst>
              <a:ext uri="{FF2B5EF4-FFF2-40B4-BE49-F238E27FC236}">
                <a16:creationId xmlns:a16="http://schemas.microsoft.com/office/drawing/2014/main" id="{E47693D2-FB34-429C-9733-F9FFC3AE5B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6950" y="1925638"/>
            <a:ext cx="2085975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   isNAK(rcvpkt)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5795" name="Line 17">
            <a:extLst>
              <a:ext uri="{FF2B5EF4-FFF2-40B4-BE49-F238E27FC236}">
                <a16:creationId xmlns:a16="http://schemas.microsoft.com/office/drawing/2014/main" id="{12687576-A4C6-45F6-B771-89AC0A0F9F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6013" y="2600325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5796" name="Group 18">
            <a:extLst>
              <a:ext uri="{FF2B5EF4-FFF2-40B4-BE49-F238E27FC236}">
                <a16:creationId xmlns:a16="http://schemas.microsoft.com/office/drawing/2014/main" id="{CAF4A12F-A13C-4EEF-87B8-A56CE45C2E61}"/>
              </a:ext>
            </a:extLst>
          </p:cNvPr>
          <p:cNvGrpSpPr>
            <a:grpSpLocks/>
          </p:cNvGrpSpPr>
          <p:nvPr/>
        </p:nvGrpSpPr>
        <p:grpSpPr bwMode="auto">
          <a:xfrm>
            <a:off x="6573838" y="2352675"/>
            <a:ext cx="1924050" cy="858838"/>
            <a:chOff x="2222" y="2660"/>
            <a:chExt cx="1212" cy="541"/>
          </a:xfrm>
        </p:grpSpPr>
        <p:sp>
          <p:nvSpPr>
            <p:cNvPr id="75829" name="Text Box 19">
              <a:extLst>
                <a:ext uri="{FF2B5EF4-FFF2-40B4-BE49-F238E27FC236}">
                  <a16:creationId xmlns:a16="http://schemas.microsoft.com/office/drawing/2014/main" id="{BB43E329-33A1-4A89-AF2B-472D3E5283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2" y="3039"/>
              <a:ext cx="1152" cy="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udt_send(</a:t>
              </a:r>
              <a:r>
                <a:rPr lang="en-US" altLang="zh-TW" sz="1600">
                  <a:solidFill>
                    <a:srgbClr val="0070C0"/>
                  </a:solidFill>
                  <a:latin typeface="Arial" panose="020B0604020202020204" pitchFamily="34" charset="0"/>
                </a:rPr>
                <a:t>NAK</a:t>
              </a: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5830" name="Text Box 20">
              <a:extLst>
                <a:ext uri="{FF2B5EF4-FFF2-40B4-BE49-F238E27FC236}">
                  <a16:creationId xmlns:a16="http://schemas.microsoft.com/office/drawing/2014/main" id="{B699D415-4BDC-44E9-8BAA-F4B124CDC1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5" y="2660"/>
              <a:ext cx="1209" cy="1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rdt_rcv(rcvpkt) &amp;&amp;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  corrupt(rcvpkt)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5831" name="Line 21">
              <a:extLst>
                <a:ext uri="{FF2B5EF4-FFF2-40B4-BE49-F238E27FC236}">
                  <a16:creationId xmlns:a16="http://schemas.microsoft.com/office/drawing/2014/main" id="{6862DC3C-FA65-4CE0-8BDE-4A6A74C46C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85" y="3040"/>
              <a:ext cx="62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797" name="Group 22">
            <a:extLst>
              <a:ext uri="{FF2B5EF4-FFF2-40B4-BE49-F238E27FC236}">
                <a16:creationId xmlns:a16="http://schemas.microsoft.com/office/drawing/2014/main" id="{029F1700-D26F-44B1-B68B-4B975AFF3175}"/>
              </a:ext>
            </a:extLst>
          </p:cNvPr>
          <p:cNvGrpSpPr>
            <a:grpSpLocks/>
          </p:cNvGrpSpPr>
          <p:nvPr/>
        </p:nvGrpSpPr>
        <p:grpSpPr bwMode="auto">
          <a:xfrm>
            <a:off x="2292350" y="2222500"/>
            <a:ext cx="1074738" cy="962025"/>
            <a:chOff x="1540" y="2116"/>
            <a:chExt cx="677" cy="606"/>
          </a:xfrm>
        </p:grpSpPr>
        <p:sp>
          <p:nvSpPr>
            <p:cNvPr id="75827" name="Oval 23">
              <a:extLst>
                <a:ext uri="{FF2B5EF4-FFF2-40B4-BE49-F238E27FC236}">
                  <a16:creationId xmlns:a16="http://schemas.microsoft.com/office/drawing/2014/main" id="{C1F9936A-EABB-4FEE-8FB7-2FA11CCE30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5" y="2116"/>
              <a:ext cx="621" cy="60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75828" name="Text Box 24">
              <a:extLst>
                <a:ext uri="{FF2B5EF4-FFF2-40B4-BE49-F238E27FC236}">
                  <a16:creationId xmlns:a16="http://schemas.microsoft.com/office/drawing/2014/main" id="{4A5C22B1-2356-45D5-AB9C-9C503FE6F7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0" y="2163"/>
              <a:ext cx="677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Wait for ACK or NAK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75798" name="Freeform 25">
            <a:extLst>
              <a:ext uri="{FF2B5EF4-FFF2-40B4-BE49-F238E27FC236}">
                <a16:creationId xmlns:a16="http://schemas.microsoft.com/office/drawing/2014/main" id="{F39F492D-6224-4F92-AE53-69E29461974B}"/>
              </a:ext>
            </a:extLst>
          </p:cNvPr>
          <p:cNvSpPr>
            <a:spLocks/>
          </p:cNvSpPr>
          <p:nvPr/>
        </p:nvSpPr>
        <p:spPr bwMode="auto">
          <a:xfrm>
            <a:off x="6672263" y="3148013"/>
            <a:ext cx="12573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9" name="Oval 26">
            <a:extLst>
              <a:ext uri="{FF2B5EF4-FFF2-40B4-BE49-F238E27FC236}">
                <a16:creationId xmlns:a16="http://schemas.microsoft.com/office/drawing/2014/main" id="{71562FF1-C896-4D4F-B7AC-EDE05F3952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4338" y="3568700"/>
            <a:ext cx="985837" cy="9620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75800" name="Text Box 27">
            <a:extLst>
              <a:ext uri="{FF2B5EF4-FFF2-40B4-BE49-F238E27FC236}">
                <a16:creationId xmlns:a16="http://schemas.microsoft.com/office/drawing/2014/main" id="{1AF39A37-E11B-4F71-B474-5DFAE85E3C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7025" y="3652838"/>
            <a:ext cx="120015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Wait for call from below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5801" name="Freeform 28">
            <a:extLst>
              <a:ext uri="{FF2B5EF4-FFF2-40B4-BE49-F238E27FC236}">
                <a16:creationId xmlns:a16="http://schemas.microsoft.com/office/drawing/2014/main" id="{FB2E6A60-ECC7-48C7-B035-D91D4C067385}"/>
              </a:ext>
            </a:extLst>
          </p:cNvPr>
          <p:cNvSpPr>
            <a:spLocks/>
          </p:cNvSpPr>
          <p:nvPr/>
        </p:nvSpPr>
        <p:spPr bwMode="auto">
          <a:xfrm flipV="1">
            <a:off x="6684963" y="4464050"/>
            <a:ext cx="12573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28575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4" name="Group 29">
            <a:extLst>
              <a:ext uri="{FF2B5EF4-FFF2-40B4-BE49-F238E27FC236}">
                <a16:creationId xmlns:a16="http://schemas.microsoft.com/office/drawing/2014/main" id="{8D32AFF2-75C1-402E-BDD0-3F438D027093}"/>
              </a:ext>
            </a:extLst>
          </p:cNvPr>
          <p:cNvGrpSpPr>
            <a:grpSpLocks/>
          </p:cNvGrpSpPr>
          <p:nvPr/>
        </p:nvGrpSpPr>
        <p:grpSpPr bwMode="auto">
          <a:xfrm>
            <a:off x="349250" y="2166938"/>
            <a:ext cx="1333500" cy="1004887"/>
            <a:chOff x="220" y="1365"/>
            <a:chExt cx="840" cy="633"/>
          </a:xfrm>
        </p:grpSpPr>
        <p:sp>
          <p:nvSpPr>
            <p:cNvPr id="75825" name="Line 30">
              <a:extLst>
                <a:ext uri="{FF2B5EF4-FFF2-40B4-BE49-F238E27FC236}">
                  <a16:creationId xmlns:a16="http://schemas.microsoft.com/office/drawing/2014/main" id="{529AF855-C5B6-425D-8FEC-A1D85ED2EF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" y="1365"/>
              <a:ext cx="273" cy="154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5826" name="Oval 31">
              <a:extLst>
                <a:ext uri="{FF2B5EF4-FFF2-40B4-BE49-F238E27FC236}">
                  <a16:creationId xmlns:a16="http://schemas.microsoft.com/office/drawing/2014/main" id="{05C27B15-2B74-4D19-853C-39EE824C33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" y="1392"/>
              <a:ext cx="621" cy="606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32">
            <a:extLst>
              <a:ext uri="{FF2B5EF4-FFF2-40B4-BE49-F238E27FC236}">
                <a16:creationId xmlns:a16="http://schemas.microsoft.com/office/drawing/2014/main" id="{6B86AA9C-30D6-48CC-B4C1-68B2E79C1C46}"/>
              </a:ext>
            </a:extLst>
          </p:cNvPr>
          <p:cNvGrpSpPr>
            <a:grpSpLocks/>
          </p:cNvGrpSpPr>
          <p:nvPr/>
        </p:nvGrpSpPr>
        <p:grpSpPr bwMode="auto">
          <a:xfrm>
            <a:off x="6334125" y="3497263"/>
            <a:ext cx="1414463" cy="1033462"/>
            <a:chOff x="3990" y="2203"/>
            <a:chExt cx="891" cy="651"/>
          </a:xfrm>
        </p:grpSpPr>
        <p:sp>
          <p:nvSpPr>
            <p:cNvPr id="75823" name="Line 33">
              <a:extLst>
                <a:ext uri="{FF2B5EF4-FFF2-40B4-BE49-F238E27FC236}">
                  <a16:creationId xmlns:a16="http://schemas.microsoft.com/office/drawing/2014/main" id="{0F7705DE-5BA8-4C87-B566-4E4C5863DA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90" y="2203"/>
              <a:ext cx="273" cy="154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5824" name="Oval 34">
              <a:extLst>
                <a:ext uri="{FF2B5EF4-FFF2-40B4-BE49-F238E27FC236}">
                  <a16:creationId xmlns:a16="http://schemas.microsoft.com/office/drawing/2014/main" id="{0669A606-AF84-4E25-953D-6AB6EDC059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0" y="2248"/>
              <a:ext cx="621" cy="606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75804" name="Text Box 35">
            <a:extLst>
              <a:ext uri="{FF2B5EF4-FFF2-40B4-BE49-F238E27FC236}">
                <a16:creationId xmlns:a16="http://schemas.microsoft.com/office/drawing/2014/main" id="{AE5A3FEA-F146-458C-A48C-67BFF29C7C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0288" y="1200150"/>
            <a:ext cx="2255837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rdt_send(data)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89828" name="Line 36">
            <a:extLst>
              <a:ext uri="{FF2B5EF4-FFF2-40B4-BE49-F238E27FC236}">
                <a16:creationId xmlns:a16="http://schemas.microsoft.com/office/drawing/2014/main" id="{54E109A4-9623-4099-9094-793FE3104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1238" y="1289050"/>
            <a:ext cx="12700" cy="747713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89829" name="Freeform 37">
            <a:extLst>
              <a:ext uri="{FF2B5EF4-FFF2-40B4-BE49-F238E27FC236}">
                <a16:creationId xmlns:a16="http://schemas.microsoft.com/office/drawing/2014/main" id="{7C0DCC4B-344A-4A3E-B8C9-9F9DC11FFF7A}"/>
              </a:ext>
            </a:extLst>
          </p:cNvPr>
          <p:cNvSpPr>
            <a:spLocks/>
          </p:cNvSpPr>
          <p:nvPr/>
        </p:nvSpPr>
        <p:spPr bwMode="auto">
          <a:xfrm>
            <a:off x="1011238" y="2006600"/>
            <a:ext cx="6940550" cy="654050"/>
          </a:xfrm>
          <a:custGeom>
            <a:avLst/>
            <a:gdLst>
              <a:gd name="T0" fmla="*/ 0 w 4372"/>
              <a:gd name="T1" fmla="*/ 2147483646 h 412"/>
              <a:gd name="T2" fmla="*/ 2147483646 w 4372"/>
              <a:gd name="T3" fmla="*/ 0 h 412"/>
              <a:gd name="T4" fmla="*/ 2147483646 w 4372"/>
              <a:gd name="T5" fmla="*/ 2147483646 h 412"/>
              <a:gd name="T6" fmla="*/ 2147483646 w 4372"/>
              <a:gd name="T7" fmla="*/ 2147483646 h 412"/>
              <a:gd name="T8" fmla="*/ 0 60000 65536"/>
              <a:gd name="T9" fmla="*/ 0 60000 65536"/>
              <a:gd name="T10" fmla="*/ 0 60000 65536"/>
              <a:gd name="T11" fmla="*/ 0 60000 65536"/>
              <a:gd name="T12" fmla="*/ 0 w 4372"/>
              <a:gd name="T13" fmla="*/ 0 h 412"/>
              <a:gd name="T14" fmla="*/ 4372 w 4372"/>
              <a:gd name="T15" fmla="*/ 412 h 4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4372" h="412">
                <a:moveTo>
                  <a:pt x="0" y="10"/>
                </a:moveTo>
                <a:lnTo>
                  <a:pt x="1003" y="0"/>
                </a:lnTo>
                <a:lnTo>
                  <a:pt x="3508" y="412"/>
                </a:lnTo>
                <a:lnTo>
                  <a:pt x="4372" y="412"/>
                </a:ln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6" name="Group 38">
            <a:extLst>
              <a:ext uri="{FF2B5EF4-FFF2-40B4-BE49-F238E27FC236}">
                <a16:creationId xmlns:a16="http://schemas.microsoft.com/office/drawing/2014/main" id="{F7667DB4-6D02-4AF3-9E8A-AD0A44194F50}"/>
              </a:ext>
            </a:extLst>
          </p:cNvPr>
          <p:cNvGrpSpPr>
            <a:grpSpLocks/>
          </p:cNvGrpSpPr>
          <p:nvPr/>
        </p:nvGrpSpPr>
        <p:grpSpPr bwMode="auto">
          <a:xfrm>
            <a:off x="347663" y="2166938"/>
            <a:ext cx="1333500" cy="1004887"/>
            <a:chOff x="220" y="1365"/>
            <a:chExt cx="840" cy="633"/>
          </a:xfrm>
        </p:grpSpPr>
        <p:sp>
          <p:nvSpPr>
            <p:cNvPr id="75821" name="Line 39">
              <a:extLst>
                <a:ext uri="{FF2B5EF4-FFF2-40B4-BE49-F238E27FC236}">
                  <a16:creationId xmlns:a16="http://schemas.microsoft.com/office/drawing/2014/main" id="{5FB6B302-D9E2-4AED-9091-51A2259E3A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" y="1365"/>
              <a:ext cx="273" cy="154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5822" name="Oval 40">
              <a:extLst>
                <a:ext uri="{FF2B5EF4-FFF2-40B4-BE49-F238E27FC236}">
                  <a16:creationId xmlns:a16="http://schemas.microsoft.com/office/drawing/2014/main" id="{5EED14DE-1371-42ED-BD96-5400207C0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" y="1392"/>
              <a:ext cx="621" cy="606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289833" name="Oval 41">
            <a:extLst>
              <a:ext uri="{FF2B5EF4-FFF2-40B4-BE49-F238E27FC236}">
                <a16:creationId xmlns:a16="http://schemas.microsoft.com/office/drawing/2014/main" id="{3686F8B6-E64A-4513-B60C-85B4C4164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2038" y="2222500"/>
            <a:ext cx="985837" cy="96202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89834" name="Line 42">
            <a:extLst>
              <a:ext uri="{FF2B5EF4-FFF2-40B4-BE49-F238E27FC236}">
                <a16:creationId xmlns:a16="http://schemas.microsoft.com/office/drawing/2014/main" id="{9C7C71D0-CBF2-476C-A52B-F892AE5C3B8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61100" y="4902200"/>
            <a:ext cx="12700" cy="1193800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89835" name="Freeform 43">
            <a:extLst>
              <a:ext uri="{FF2B5EF4-FFF2-40B4-BE49-F238E27FC236}">
                <a16:creationId xmlns:a16="http://schemas.microsoft.com/office/drawing/2014/main" id="{18260CD1-9982-4949-9FB8-E6972BC8FE07}"/>
              </a:ext>
            </a:extLst>
          </p:cNvPr>
          <p:cNvSpPr>
            <a:spLocks/>
          </p:cNvSpPr>
          <p:nvPr/>
        </p:nvSpPr>
        <p:spPr bwMode="auto">
          <a:xfrm>
            <a:off x="1155700" y="3886200"/>
            <a:ext cx="6667500" cy="2260600"/>
          </a:xfrm>
          <a:custGeom>
            <a:avLst/>
            <a:gdLst>
              <a:gd name="T0" fmla="*/ 2147483646 w 4200"/>
              <a:gd name="T1" fmla="*/ 2147483646 h 1424"/>
              <a:gd name="T2" fmla="*/ 2147483646 w 4200"/>
              <a:gd name="T3" fmla="*/ 2147483646 h 1424"/>
              <a:gd name="T4" fmla="*/ 2147483646 w 4200"/>
              <a:gd name="T5" fmla="*/ 0 h 1424"/>
              <a:gd name="T6" fmla="*/ 0 w 4200"/>
              <a:gd name="T7" fmla="*/ 0 h 1424"/>
              <a:gd name="T8" fmla="*/ 0 60000 65536"/>
              <a:gd name="T9" fmla="*/ 0 60000 65536"/>
              <a:gd name="T10" fmla="*/ 0 60000 65536"/>
              <a:gd name="T11" fmla="*/ 0 60000 65536"/>
              <a:gd name="T12" fmla="*/ 0 w 4200"/>
              <a:gd name="T13" fmla="*/ 0 h 1424"/>
              <a:gd name="T14" fmla="*/ 4200 w 4200"/>
              <a:gd name="T15" fmla="*/ 1424 h 142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4200" h="1424">
                <a:moveTo>
                  <a:pt x="4200" y="1424"/>
                </a:moveTo>
                <a:lnTo>
                  <a:pt x="3224" y="1424"/>
                </a:lnTo>
                <a:lnTo>
                  <a:pt x="1880" y="0"/>
                </a:ln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" name="Group 44">
            <a:extLst>
              <a:ext uri="{FF2B5EF4-FFF2-40B4-BE49-F238E27FC236}">
                <a16:creationId xmlns:a16="http://schemas.microsoft.com/office/drawing/2014/main" id="{1CE78900-CB4A-46FD-B482-ADFF9E5BE288}"/>
              </a:ext>
            </a:extLst>
          </p:cNvPr>
          <p:cNvGrpSpPr>
            <a:grpSpLocks/>
          </p:cNvGrpSpPr>
          <p:nvPr/>
        </p:nvGrpSpPr>
        <p:grpSpPr bwMode="auto">
          <a:xfrm>
            <a:off x="347663" y="2166938"/>
            <a:ext cx="1333500" cy="1004887"/>
            <a:chOff x="220" y="1365"/>
            <a:chExt cx="840" cy="633"/>
          </a:xfrm>
        </p:grpSpPr>
        <p:sp>
          <p:nvSpPr>
            <p:cNvPr id="75819" name="Line 45">
              <a:extLst>
                <a:ext uri="{FF2B5EF4-FFF2-40B4-BE49-F238E27FC236}">
                  <a16:creationId xmlns:a16="http://schemas.microsoft.com/office/drawing/2014/main" id="{62A18151-6AB6-4D4C-851F-60F6ACA903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" y="1365"/>
              <a:ext cx="273" cy="154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5820" name="Oval 46">
              <a:extLst>
                <a:ext uri="{FF2B5EF4-FFF2-40B4-BE49-F238E27FC236}">
                  <a16:creationId xmlns:a16="http://schemas.microsoft.com/office/drawing/2014/main" id="{835399AD-E080-4061-A636-3193CF40DE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" y="1392"/>
              <a:ext cx="621" cy="606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289839" name="Oval 47">
            <a:extLst>
              <a:ext uri="{FF2B5EF4-FFF2-40B4-BE49-F238E27FC236}">
                <a16:creationId xmlns:a16="http://schemas.microsoft.com/office/drawing/2014/main" id="{4E5C6DEC-DF3F-4FCC-A755-DFB5E00094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8863" y="2227263"/>
            <a:ext cx="985837" cy="962025"/>
          </a:xfrm>
          <a:prstGeom prst="ellips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89840" name="Line 48">
            <a:extLst>
              <a:ext uri="{FF2B5EF4-FFF2-40B4-BE49-F238E27FC236}">
                <a16:creationId xmlns:a16="http://schemas.microsoft.com/office/drawing/2014/main" id="{4B97B09C-8C69-4512-91EB-B99C18EEBE4E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2493963"/>
            <a:ext cx="0" cy="817562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89841" name="Freeform 49">
            <a:extLst>
              <a:ext uri="{FF2B5EF4-FFF2-40B4-BE49-F238E27FC236}">
                <a16:creationId xmlns:a16="http://schemas.microsoft.com/office/drawing/2014/main" id="{4DCFB2DA-FBC3-4303-87B2-4089A848DC7A}"/>
              </a:ext>
            </a:extLst>
          </p:cNvPr>
          <p:cNvSpPr>
            <a:spLocks/>
          </p:cNvSpPr>
          <p:nvPr/>
        </p:nvSpPr>
        <p:spPr bwMode="auto">
          <a:xfrm>
            <a:off x="3657600" y="2216150"/>
            <a:ext cx="4378325" cy="1025525"/>
          </a:xfrm>
          <a:custGeom>
            <a:avLst/>
            <a:gdLst>
              <a:gd name="T0" fmla="*/ 2147483646 w 2758"/>
              <a:gd name="T1" fmla="*/ 2147483646 h 646"/>
              <a:gd name="T2" fmla="*/ 2147483646 w 2758"/>
              <a:gd name="T3" fmla="*/ 2147483646 h 646"/>
              <a:gd name="T4" fmla="*/ 2147483646 w 2758"/>
              <a:gd name="T5" fmla="*/ 0 h 646"/>
              <a:gd name="T6" fmla="*/ 0 w 2758"/>
              <a:gd name="T7" fmla="*/ 0 h 646"/>
              <a:gd name="T8" fmla="*/ 0 60000 65536"/>
              <a:gd name="T9" fmla="*/ 0 60000 65536"/>
              <a:gd name="T10" fmla="*/ 0 60000 65536"/>
              <a:gd name="T11" fmla="*/ 0 60000 65536"/>
              <a:gd name="T12" fmla="*/ 0 w 2758"/>
              <a:gd name="T13" fmla="*/ 0 h 646"/>
              <a:gd name="T14" fmla="*/ 2758 w 2758"/>
              <a:gd name="T15" fmla="*/ 646 h 64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758" h="646">
                <a:moveTo>
                  <a:pt x="2758" y="646"/>
                </a:moveTo>
                <a:lnTo>
                  <a:pt x="1763" y="629"/>
                </a:lnTo>
                <a:lnTo>
                  <a:pt x="1039" y="0"/>
                </a:lnTo>
                <a:lnTo>
                  <a:pt x="0" y="0"/>
                </a:ln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89842" name="Line 50">
            <a:extLst>
              <a:ext uri="{FF2B5EF4-FFF2-40B4-BE49-F238E27FC236}">
                <a16:creationId xmlns:a16="http://schemas.microsoft.com/office/drawing/2014/main" id="{E6357777-4014-454C-910C-D2E2672CF352}"/>
              </a:ext>
            </a:extLst>
          </p:cNvPr>
          <p:cNvSpPr>
            <a:spLocks noChangeShapeType="1"/>
          </p:cNvSpPr>
          <p:nvPr/>
        </p:nvSpPr>
        <p:spPr bwMode="auto">
          <a:xfrm>
            <a:off x="3548063" y="2090738"/>
            <a:ext cx="0" cy="846137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89843" name="Freeform 51">
            <a:extLst>
              <a:ext uri="{FF2B5EF4-FFF2-40B4-BE49-F238E27FC236}">
                <a16:creationId xmlns:a16="http://schemas.microsoft.com/office/drawing/2014/main" id="{FEE8EBAC-CC4C-4A87-95C9-0096BA735513}"/>
              </a:ext>
            </a:extLst>
          </p:cNvPr>
          <p:cNvSpPr>
            <a:spLocks/>
          </p:cNvSpPr>
          <p:nvPr/>
        </p:nvSpPr>
        <p:spPr bwMode="auto">
          <a:xfrm>
            <a:off x="3643313" y="2951163"/>
            <a:ext cx="4073525" cy="2133600"/>
          </a:xfrm>
          <a:custGeom>
            <a:avLst/>
            <a:gdLst>
              <a:gd name="T0" fmla="*/ 0 w 2566"/>
              <a:gd name="T1" fmla="*/ 0 h 1344"/>
              <a:gd name="T2" fmla="*/ 2147483646 w 2566"/>
              <a:gd name="T3" fmla="*/ 0 h 1344"/>
              <a:gd name="T4" fmla="*/ 2147483646 w 2566"/>
              <a:gd name="T5" fmla="*/ 2147483646 h 1344"/>
              <a:gd name="T6" fmla="*/ 2147483646 w 2566"/>
              <a:gd name="T7" fmla="*/ 2147483646 h 1344"/>
              <a:gd name="T8" fmla="*/ 0 60000 65536"/>
              <a:gd name="T9" fmla="*/ 0 60000 65536"/>
              <a:gd name="T10" fmla="*/ 0 60000 65536"/>
              <a:gd name="T11" fmla="*/ 0 60000 65536"/>
              <a:gd name="T12" fmla="*/ 0 w 2566"/>
              <a:gd name="T13" fmla="*/ 0 h 1344"/>
              <a:gd name="T14" fmla="*/ 2566 w 2566"/>
              <a:gd name="T15" fmla="*/ 1344 h 13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566" h="1344">
                <a:moveTo>
                  <a:pt x="0" y="0"/>
                </a:moveTo>
                <a:lnTo>
                  <a:pt x="1013" y="0"/>
                </a:lnTo>
                <a:lnTo>
                  <a:pt x="1650" y="1344"/>
                </a:lnTo>
                <a:lnTo>
                  <a:pt x="2566" y="1344"/>
                </a:ln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17" name="Text Box 52">
            <a:extLst>
              <a:ext uri="{FF2B5EF4-FFF2-40B4-BE49-F238E27FC236}">
                <a16:creationId xmlns:a16="http://schemas.microsoft.com/office/drawing/2014/main" id="{0C12AAF7-20A8-4692-A881-ED5FFC29F5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5100" y="3868738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  <p:pic>
        <p:nvPicPr>
          <p:cNvPr id="75818" name="Picture 53" descr="underline_base">
            <a:extLst>
              <a:ext uri="{FF2B5EF4-FFF2-40B4-BE49-F238E27FC236}">
                <a16:creationId xmlns:a16="http://schemas.microsoft.com/office/drawing/2014/main" id="{4D9C054B-1252-4CAC-8996-DCAE35A8DF0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88" y="847725"/>
            <a:ext cx="4570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28982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9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28982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9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2898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9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1000"/>
                                        <p:tgtEl>
                                          <p:spTgt spid="28984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9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1000"/>
                                        <p:tgtEl>
                                          <p:spTgt spid="28984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9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8984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9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1000"/>
                                        <p:tgtEl>
                                          <p:spTgt spid="28983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9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 nodeType="clickPar">
                      <p:stCondLst>
                        <p:cond delay="indefinite"/>
                      </p:stCondLst>
                      <p:childTnLst>
                        <p:par>
                          <p:cTn id="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1000"/>
                                        <p:tgtEl>
                                          <p:spTgt spid="2898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6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9833" grpId="0" animBg="1"/>
      <p:bldP spid="289839" grpId="0" animBg="1"/>
      <p:bldP spid="289839" grpId="1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Footer Placeholder 5">
            <a:extLst>
              <a:ext uri="{FF2B5EF4-FFF2-40B4-BE49-F238E27FC236}">
                <a16:creationId xmlns:a16="http://schemas.microsoft.com/office/drawing/2014/main" id="{DD3E99B3-2664-43D7-B070-6AD1F8AE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77827" name="Slide Number Placeholder 6">
            <a:extLst>
              <a:ext uri="{FF2B5EF4-FFF2-40B4-BE49-F238E27FC236}">
                <a16:creationId xmlns:a16="http://schemas.microsoft.com/office/drawing/2014/main" id="{FCBBBEA6-A6CB-401A-A6A9-77E5E02D9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128FF812-11A9-4424-B26B-AAA9358F7AFC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34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32772" name="Rectangle 2">
            <a:extLst>
              <a:ext uri="{FF2B5EF4-FFF2-40B4-BE49-F238E27FC236}">
                <a16:creationId xmlns:a16="http://schemas.microsoft.com/office/drawing/2014/main" id="{7E57EB30-79DF-46AF-A60E-B1C5295714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4500" y="185738"/>
            <a:ext cx="7772400" cy="101917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rdt2.0 has a fatal flaw!</a:t>
            </a:r>
          </a:p>
        </p:txBody>
      </p:sp>
      <p:sp>
        <p:nvSpPr>
          <p:cNvPr id="347139" name="Rectangle 3">
            <a:extLst>
              <a:ext uri="{FF2B5EF4-FFF2-40B4-BE49-F238E27FC236}">
                <a16:creationId xmlns:a16="http://schemas.microsoft.com/office/drawing/2014/main" id="{5E6C9243-15CE-49B3-8AEC-8BD1CC3067B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11175" y="1589088"/>
            <a:ext cx="3810000" cy="4648200"/>
          </a:xfrm>
        </p:spPr>
        <p:txBody>
          <a:bodyPr/>
          <a:lstStyle/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what happens if ACK/NAK corrupted?</a:t>
            </a:r>
          </a:p>
          <a:p>
            <a:pPr>
              <a:lnSpc>
                <a:spcPct val="80000"/>
              </a:lnSpc>
            </a:pPr>
            <a:r>
              <a:rPr lang="en-US" altLang="zh-TW" sz="2400" dirty="0"/>
              <a:t>sender </a:t>
            </a:r>
            <a:r>
              <a:rPr lang="en-US" altLang="zh-TW" sz="2400" dirty="0" err="1"/>
              <a:t>doesn</a:t>
            </a:r>
            <a:r>
              <a:rPr lang="ja-JP" altLang="en-US" sz="2400" dirty="0"/>
              <a:t>’</a:t>
            </a:r>
            <a:r>
              <a:rPr lang="en-US" altLang="ja-JP" sz="2400" dirty="0"/>
              <a:t>t know what happened at receiver!</a:t>
            </a:r>
          </a:p>
          <a:p>
            <a:pPr>
              <a:lnSpc>
                <a:spcPct val="80000"/>
              </a:lnSpc>
            </a:pPr>
            <a:r>
              <a:rPr lang="en-US" altLang="zh-TW" sz="2400" dirty="0">
                <a:solidFill>
                  <a:srgbClr val="0070C0"/>
                </a:solidFill>
              </a:rPr>
              <a:t>can</a:t>
            </a:r>
            <a:r>
              <a:rPr lang="ja-JP" altLang="en-US" sz="2400" dirty="0">
                <a:solidFill>
                  <a:srgbClr val="0070C0"/>
                </a:solidFill>
              </a:rPr>
              <a:t>’</a:t>
            </a:r>
            <a:r>
              <a:rPr lang="en-US" altLang="ja-JP" sz="2400" dirty="0">
                <a:solidFill>
                  <a:srgbClr val="0070C0"/>
                </a:solidFill>
              </a:rPr>
              <a:t>t just retransmit </a:t>
            </a:r>
            <a:r>
              <a:rPr lang="en-US" altLang="ja-JP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altLang="ja-JP" sz="2400" dirty="0">
                <a:solidFill>
                  <a:srgbClr val="0070C0"/>
                </a:solidFill>
              </a:rPr>
              <a:t> possible </a:t>
            </a:r>
            <a:r>
              <a:rPr lang="en-US" altLang="ja-JP" sz="2400" u="sng" dirty="0">
                <a:solidFill>
                  <a:srgbClr val="0070C0"/>
                </a:solidFill>
              </a:rPr>
              <a:t>duplicate</a:t>
            </a:r>
            <a:endParaRPr lang="en-US" altLang="ja-JP" u="sng" dirty="0">
              <a:solidFill>
                <a:srgbClr val="0070C0"/>
              </a:solidFill>
            </a:endParaRPr>
          </a:p>
          <a:p>
            <a:pPr>
              <a:lnSpc>
                <a:spcPct val="80000"/>
              </a:lnSpc>
              <a:spcBef>
                <a:spcPct val="60000"/>
              </a:spcBef>
              <a:buFont typeface="Wingdings" panose="05000000000000000000" pitchFamily="2" charset="2"/>
              <a:buNone/>
            </a:pPr>
            <a:endParaRPr lang="en-US" altLang="zh-TW" sz="2400" dirty="0"/>
          </a:p>
          <a:p>
            <a:pPr>
              <a:lnSpc>
                <a:spcPct val="70000"/>
              </a:lnSpc>
              <a:buFont typeface="Wingdings" panose="05000000000000000000" pitchFamily="2" charset="2"/>
              <a:buNone/>
            </a:pPr>
            <a:endParaRPr lang="en-US" altLang="zh-TW" dirty="0"/>
          </a:p>
          <a:p>
            <a:pPr>
              <a:lnSpc>
                <a:spcPct val="70000"/>
              </a:lnSpc>
              <a:buFont typeface="Wingdings" panose="05000000000000000000" pitchFamily="2" charset="2"/>
              <a:buNone/>
            </a:pPr>
            <a:endParaRPr lang="en-US" altLang="zh-TW" dirty="0"/>
          </a:p>
        </p:txBody>
      </p:sp>
      <p:sp>
        <p:nvSpPr>
          <p:cNvPr id="347140" name="Rectangle 4">
            <a:extLst>
              <a:ext uri="{FF2B5EF4-FFF2-40B4-BE49-F238E27FC236}">
                <a16:creationId xmlns:a16="http://schemas.microsoft.com/office/drawing/2014/main" id="{94E736F6-7D49-4300-9C88-D7F2D963568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3810000" cy="256222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3200" dirty="0">
                <a:solidFill>
                  <a:srgbClr val="C00000"/>
                </a:solidFill>
              </a:rPr>
              <a:t>handling duplicates: 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sender retransmits current pkt if ACK/NAK corrupted</a:t>
            </a:r>
          </a:p>
          <a:p>
            <a:r>
              <a:rPr lang="en-US" altLang="zh-TW" sz="2400" b="1" dirty="0">
                <a:solidFill>
                  <a:srgbClr val="FF0000"/>
                </a:solidFill>
              </a:rPr>
              <a:t>sender adds </a:t>
            </a:r>
            <a:r>
              <a:rPr lang="en-US" altLang="zh-TW" sz="2400" b="1" i="1" u="sng" dirty="0">
                <a:solidFill>
                  <a:srgbClr val="FF0000"/>
                </a:solidFill>
              </a:rPr>
              <a:t>sequence number</a:t>
            </a:r>
            <a:r>
              <a:rPr lang="en-US" altLang="zh-TW" sz="2400" b="1" dirty="0">
                <a:solidFill>
                  <a:srgbClr val="FF0000"/>
                </a:solidFill>
              </a:rPr>
              <a:t> to each pkt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receiver discards (</a:t>
            </a:r>
            <a:r>
              <a:rPr lang="en-US" altLang="zh-TW" sz="2400" dirty="0" err="1">
                <a:solidFill>
                  <a:srgbClr val="0070C0"/>
                </a:solidFill>
              </a:rPr>
              <a:t>doesn</a:t>
            </a:r>
            <a:r>
              <a:rPr lang="ja-JP" altLang="en-US" sz="2400" dirty="0">
                <a:solidFill>
                  <a:srgbClr val="0070C0"/>
                </a:solidFill>
              </a:rPr>
              <a:t>’</a:t>
            </a:r>
            <a:r>
              <a:rPr lang="en-US" altLang="ja-JP" sz="2400" dirty="0">
                <a:solidFill>
                  <a:srgbClr val="0070C0"/>
                </a:solidFill>
              </a:rPr>
              <a:t>t deliver up) duplicate pkt</a:t>
            </a:r>
            <a:endParaRPr lang="en-US" altLang="zh-TW" sz="2400" dirty="0">
              <a:solidFill>
                <a:srgbClr val="0070C0"/>
              </a:solidFill>
            </a:endParaRPr>
          </a:p>
        </p:txBody>
      </p:sp>
      <p:pic>
        <p:nvPicPr>
          <p:cNvPr id="77831" name="Picture 11" descr="underline_base">
            <a:extLst>
              <a:ext uri="{FF2B5EF4-FFF2-40B4-BE49-F238E27FC236}">
                <a16:creationId xmlns:a16="http://schemas.microsoft.com/office/drawing/2014/main" id="{81B48A21-A64D-4AEC-A32C-83BB222307D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5" y="928688"/>
            <a:ext cx="5027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B5F8EE93-68B4-4A3D-AD9B-09B36D677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661" y="5359077"/>
            <a:ext cx="4097438" cy="9305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Tahoma" panose="020B0604030504040204" pitchFamily="34" charset="0"/>
              </a:rPr>
              <a:t>rdt</a:t>
            </a:r>
            <a:r>
              <a:rPr lang="en-US" altLang="zh-TW" sz="2500" dirty="0">
                <a:solidFill>
                  <a:srgbClr val="FF0000"/>
                </a:solidFill>
                <a:latin typeface="Tahoma" panose="020B0604030504040204" pitchFamily="34" charset="0"/>
              </a:rPr>
              <a:t> 2.1: Include Sequence number</a:t>
            </a:r>
            <a:endParaRPr lang="zh-TW" altLang="zh-TW" sz="25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7139" grpId="0"/>
      <p:bldP spid="34714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Footer Placeholder 5">
            <a:extLst>
              <a:ext uri="{FF2B5EF4-FFF2-40B4-BE49-F238E27FC236}">
                <a16:creationId xmlns:a16="http://schemas.microsoft.com/office/drawing/2014/main" id="{DB38A0D0-61BE-4874-BC00-B00EFBE84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78851" name="Slide Number Placeholder 6">
            <a:extLst>
              <a:ext uri="{FF2B5EF4-FFF2-40B4-BE49-F238E27FC236}">
                <a16:creationId xmlns:a16="http://schemas.microsoft.com/office/drawing/2014/main" id="{A958B864-F891-47F3-870A-1EEECA047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54D00A9A-BBD3-4BFD-858B-F6EEDE7BA4A8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35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78852" name="Picture 39" descr="underline_base">
            <a:extLst>
              <a:ext uri="{FF2B5EF4-FFF2-40B4-BE49-F238E27FC236}">
                <a16:creationId xmlns:a16="http://schemas.microsoft.com/office/drawing/2014/main" id="{F125139B-A897-4462-91FC-8F93688BCE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763" y="825500"/>
            <a:ext cx="8228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8853" name="Rectangle 2">
            <a:extLst>
              <a:ext uri="{FF2B5EF4-FFF2-40B4-BE49-F238E27FC236}">
                <a16:creationId xmlns:a16="http://schemas.microsoft.com/office/drawing/2014/main" id="{8AF8F646-E705-4F7C-B054-840880E0DB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3375" y="161925"/>
            <a:ext cx="8277225" cy="974725"/>
          </a:xfrm>
        </p:spPr>
        <p:txBody>
          <a:bodyPr/>
          <a:lstStyle/>
          <a:p>
            <a:r>
              <a:rPr lang="en-US" altLang="zh-TW" sz="3600" dirty="0"/>
              <a:t>rdt2.1: </a:t>
            </a:r>
            <a:r>
              <a:rPr lang="en-US" altLang="zh-TW" sz="3600" dirty="0">
                <a:solidFill>
                  <a:srgbClr val="FF0000"/>
                </a:solidFill>
              </a:rPr>
              <a:t>sender</a:t>
            </a:r>
            <a:r>
              <a:rPr lang="en-US" altLang="zh-TW" sz="3600" dirty="0"/>
              <a:t>, handles </a:t>
            </a:r>
            <a:r>
              <a:rPr lang="en-US" altLang="zh-TW" sz="3600" dirty="0">
                <a:solidFill>
                  <a:srgbClr val="FF0000"/>
                </a:solidFill>
              </a:rPr>
              <a:t>garbled ACK/NAKs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78854" name="Oval 3">
            <a:extLst>
              <a:ext uri="{FF2B5EF4-FFF2-40B4-BE49-F238E27FC236}">
                <a16:creationId xmlns:a16="http://schemas.microsoft.com/office/drawing/2014/main" id="{A71790E1-1F62-4AD3-8D2B-985A148C0A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3" y="2306638"/>
            <a:ext cx="901700" cy="8366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78855" name="Text Box 4">
            <a:extLst>
              <a:ext uri="{FF2B5EF4-FFF2-40B4-BE49-F238E27FC236}">
                <a16:creationId xmlns:a16="http://schemas.microsoft.com/office/drawing/2014/main" id="{346B1522-A236-4DEA-902B-4416B0C09B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225" y="2395538"/>
            <a:ext cx="1090613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Wait for call </a:t>
            </a:r>
            <a:r>
              <a:rPr lang="en-US" altLang="zh-TW" sz="1400" dirty="0">
                <a:solidFill>
                  <a:srgbClr val="0070C0"/>
                </a:solidFill>
                <a:latin typeface="Arial" panose="020B0604020202020204" pitchFamily="34" charset="0"/>
              </a:rPr>
              <a:t>0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 from above</a:t>
            </a:r>
            <a:endParaRPr lang="en-US" altLang="zh-TW" sz="140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56" name="Text Box 5">
            <a:extLst>
              <a:ext uri="{FF2B5EF4-FFF2-40B4-BE49-F238E27FC236}">
                <a16:creationId xmlns:a16="http://schemas.microsoft.com/office/drawing/2014/main" id="{6E8CF5AC-6B08-47C2-AEB5-537CC57F97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200" y="1577975"/>
            <a:ext cx="36941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sndpkt = make_pkt(</a:t>
            </a: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0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, data, checksum)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57" name="Text Box 6">
            <a:extLst>
              <a:ext uri="{FF2B5EF4-FFF2-40B4-BE49-F238E27FC236}">
                <a16:creationId xmlns:a16="http://schemas.microsoft.com/office/drawing/2014/main" id="{62FB9457-558C-4A46-BA7F-6F5B5818D6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8488" y="1265238"/>
            <a:ext cx="2111375" cy="300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rdt_send(data)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58" name="Line 7">
            <a:extLst>
              <a:ext uri="{FF2B5EF4-FFF2-40B4-BE49-F238E27FC236}">
                <a16:creationId xmlns:a16="http://schemas.microsoft.com/office/drawing/2014/main" id="{74A0D5B2-AB4D-427E-94E1-F7AB48939223}"/>
              </a:ext>
            </a:extLst>
          </p:cNvPr>
          <p:cNvSpPr>
            <a:spLocks noChangeShapeType="1"/>
          </p:cNvSpPr>
          <p:nvPr/>
        </p:nvSpPr>
        <p:spPr bwMode="auto">
          <a:xfrm>
            <a:off x="3255963" y="1630363"/>
            <a:ext cx="2735262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59" name="Line 8">
            <a:extLst>
              <a:ext uri="{FF2B5EF4-FFF2-40B4-BE49-F238E27FC236}">
                <a16:creationId xmlns:a16="http://schemas.microsoft.com/office/drawing/2014/main" id="{C27AEBE7-857B-4F2B-87A2-4293E2EE1B7C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3975" y="2262188"/>
            <a:ext cx="377825" cy="190500"/>
          </a:xfrm>
          <a:prstGeom prst="line">
            <a:avLst/>
          </a:prstGeom>
          <a:noFill/>
          <a:ln w="2857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60" name="Freeform 9">
            <a:extLst>
              <a:ext uri="{FF2B5EF4-FFF2-40B4-BE49-F238E27FC236}">
                <a16:creationId xmlns:a16="http://schemas.microsoft.com/office/drawing/2014/main" id="{3BA1613E-D1A6-4868-88F7-7FCA1BFFF1BD}"/>
              </a:ext>
            </a:extLst>
          </p:cNvPr>
          <p:cNvSpPr>
            <a:spLocks/>
          </p:cNvSpPr>
          <p:nvPr/>
        </p:nvSpPr>
        <p:spPr bwMode="auto">
          <a:xfrm rot="-6989453">
            <a:off x="2179638" y="4603750"/>
            <a:ext cx="9525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8861" name="Group 10">
            <a:extLst>
              <a:ext uri="{FF2B5EF4-FFF2-40B4-BE49-F238E27FC236}">
                <a16:creationId xmlns:a16="http://schemas.microsoft.com/office/drawing/2014/main" id="{AC2FC707-444E-4697-BC0D-7D103D3B45A6}"/>
              </a:ext>
            </a:extLst>
          </p:cNvPr>
          <p:cNvGrpSpPr>
            <a:grpSpLocks/>
          </p:cNvGrpSpPr>
          <p:nvPr/>
        </p:nvGrpSpPr>
        <p:grpSpPr bwMode="auto">
          <a:xfrm>
            <a:off x="4702175" y="2254250"/>
            <a:ext cx="1089025" cy="865188"/>
            <a:chOff x="2848" y="1499"/>
            <a:chExt cx="660" cy="510"/>
          </a:xfrm>
        </p:grpSpPr>
        <p:sp>
          <p:nvSpPr>
            <p:cNvPr id="78890" name="Oval 11">
              <a:extLst>
                <a:ext uri="{FF2B5EF4-FFF2-40B4-BE49-F238E27FC236}">
                  <a16:creationId xmlns:a16="http://schemas.microsoft.com/office/drawing/2014/main" id="{BC811A8B-DB89-4DC3-BE1E-518DFCB44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3" y="1499"/>
              <a:ext cx="568" cy="51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78891" name="Text Box 12">
              <a:extLst>
                <a:ext uri="{FF2B5EF4-FFF2-40B4-BE49-F238E27FC236}">
                  <a16:creationId xmlns:a16="http://schemas.microsoft.com/office/drawing/2014/main" id="{5EA5428A-3143-47C0-BC06-220D4781AE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48" y="1535"/>
              <a:ext cx="660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solidFill>
                    <a:srgbClr val="000000"/>
                  </a:solidFill>
                  <a:latin typeface="Arial" panose="020B0604020202020204" pitchFamily="34" charset="0"/>
                </a:rPr>
                <a:t>Wait for ACK or NAK </a:t>
              </a:r>
              <a:r>
                <a:rPr lang="en-US" altLang="zh-TW" sz="1400" dirty="0">
                  <a:solidFill>
                    <a:srgbClr val="0070C0"/>
                  </a:solidFill>
                  <a:latin typeface="Arial" panose="020B0604020202020204" pitchFamily="34" charset="0"/>
                </a:rPr>
                <a:t>0</a:t>
              </a:r>
              <a:endParaRPr lang="en-US" altLang="zh-TW" sz="1400" dirty="0">
                <a:solidFill>
                  <a:srgbClr val="0070C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78862" name="Freeform 13">
            <a:extLst>
              <a:ext uri="{FF2B5EF4-FFF2-40B4-BE49-F238E27FC236}">
                <a16:creationId xmlns:a16="http://schemas.microsoft.com/office/drawing/2014/main" id="{FFA25752-99D3-4FBF-83E6-D0655D2D6986}"/>
              </a:ext>
            </a:extLst>
          </p:cNvPr>
          <p:cNvSpPr>
            <a:spLocks/>
          </p:cNvSpPr>
          <p:nvPr/>
        </p:nvSpPr>
        <p:spPr bwMode="auto">
          <a:xfrm flipV="1">
            <a:off x="3425825" y="2132013"/>
            <a:ext cx="1482725" cy="220662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63" name="Freeform 14">
            <a:extLst>
              <a:ext uri="{FF2B5EF4-FFF2-40B4-BE49-F238E27FC236}">
                <a16:creationId xmlns:a16="http://schemas.microsoft.com/office/drawing/2014/main" id="{4D3E3196-B234-48F9-9E36-3C5F27D70BE2}"/>
              </a:ext>
            </a:extLst>
          </p:cNvPr>
          <p:cNvSpPr>
            <a:spLocks/>
          </p:cNvSpPr>
          <p:nvPr/>
        </p:nvSpPr>
        <p:spPr bwMode="auto">
          <a:xfrm rot="-1357180">
            <a:off x="5589588" y="2116138"/>
            <a:ext cx="466725" cy="685800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64" name="Text Box 15">
            <a:extLst>
              <a:ext uri="{FF2B5EF4-FFF2-40B4-BE49-F238E27FC236}">
                <a16:creationId xmlns:a16="http://schemas.microsoft.com/office/drawing/2014/main" id="{A281E8CA-4D31-409A-9E0C-9977D210C9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3438" y="2678113"/>
            <a:ext cx="2262187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7030A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7030A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65" name="Text Box 16">
            <a:extLst>
              <a:ext uri="{FF2B5EF4-FFF2-40B4-BE49-F238E27FC236}">
                <a16:creationId xmlns:a16="http://schemas.microsoft.com/office/drawing/2014/main" id="{AA9A4893-DA46-4C98-B231-F9B55EED0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5338" y="1920875"/>
            <a:ext cx="2563812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( </a:t>
            </a:r>
            <a:r>
              <a:rPr lang="en-US" altLang="zh-TW" sz="1600">
                <a:solidFill>
                  <a:srgbClr val="7030A0"/>
                </a:solidFill>
                <a:latin typeface="Arial" panose="020B0604020202020204" pitchFamily="34" charset="0"/>
              </a:rPr>
              <a:t>corrupt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(rcvpkt) ||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isNAK(rcvpkt) 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66" name="Line 17">
            <a:extLst>
              <a:ext uri="{FF2B5EF4-FFF2-40B4-BE49-F238E27FC236}">
                <a16:creationId xmlns:a16="http://schemas.microsoft.com/office/drawing/2014/main" id="{66BC2E82-8290-4652-B225-BC0F9114CBAC}"/>
              </a:ext>
            </a:extLst>
          </p:cNvPr>
          <p:cNvSpPr>
            <a:spLocks noChangeShapeType="1"/>
          </p:cNvSpPr>
          <p:nvPr/>
        </p:nvSpPr>
        <p:spPr bwMode="auto">
          <a:xfrm>
            <a:off x="6045200" y="2717800"/>
            <a:ext cx="1433513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67" name="Freeform 18">
            <a:extLst>
              <a:ext uri="{FF2B5EF4-FFF2-40B4-BE49-F238E27FC236}">
                <a16:creationId xmlns:a16="http://schemas.microsoft.com/office/drawing/2014/main" id="{4F8C10CB-D7F1-457F-BD8B-49D31E2FCE18}"/>
              </a:ext>
            </a:extLst>
          </p:cNvPr>
          <p:cNvSpPr>
            <a:spLocks/>
          </p:cNvSpPr>
          <p:nvPr/>
        </p:nvSpPr>
        <p:spPr bwMode="auto">
          <a:xfrm rot="16200000" flipV="1">
            <a:off x="2201863" y="3492500"/>
            <a:ext cx="1266825" cy="123825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68" name="Freeform 19">
            <a:extLst>
              <a:ext uri="{FF2B5EF4-FFF2-40B4-BE49-F238E27FC236}">
                <a16:creationId xmlns:a16="http://schemas.microsoft.com/office/drawing/2014/main" id="{2681FE9A-AC32-4FF2-8BAE-97083A4E4718}"/>
              </a:ext>
            </a:extLst>
          </p:cNvPr>
          <p:cNvSpPr>
            <a:spLocks/>
          </p:cNvSpPr>
          <p:nvPr/>
        </p:nvSpPr>
        <p:spPr bwMode="auto">
          <a:xfrm>
            <a:off x="3600450" y="4779963"/>
            <a:ext cx="1606550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69" name="Freeform 20">
            <a:extLst>
              <a:ext uri="{FF2B5EF4-FFF2-40B4-BE49-F238E27FC236}">
                <a16:creationId xmlns:a16="http://schemas.microsoft.com/office/drawing/2014/main" id="{92C9DF4B-25FB-4140-A8C0-28E8C3969F22}"/>
              </a:ext>
            </a:extLst>
          </p:cNvPr>
          <p:cNvSpPr>
            <a:spLocks/>
          </p:cNvSpPr>
          <p:nvPr/>
        </p:nvSpPr>
        <p:spPr bwMode="auto">
          <a:xfrm rot="5400000" flipH="1" flipV="1">
            <a:off x="4970462" y="3440113"/>
            <a:ext cx="1363663" cy="204788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70" name="Text Box 21">
            <a:extLst>
              <a:ext uri="{FF2B5EF4-FFF2-40B4-BE49-F238E27FC236}">
                <a16:creationId xmlns:a16="http://schemas.microsoft.com/office/drawing/2014/main" id="{47BDA35A-25DA-4B95-B729-835E917478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5500" y="5364163"/>
            <a:ext cx="37639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sndpkt = make_pkt(</a:t>
            </a: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1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, data, checksum)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71" name="Text Box 22">
            <a:extLst>
              <a:ext uri="{FF2B5EF4-FFF2-40B4-BE49-F238E27FC236}">
                <a16:creationId xmlns:a16="http://schemas.microsoft.com/office/drawing/2014/main" id="{CC7026AB-4843-4F15-80C0-445BC32891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35350" y="5026025"/>
            <a:ext cx="2389188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rdt_send(data)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72" name="Line 23">
            <a:extLst>
              <a:ext uri="{FF2B5EF4-FFF2-40B4-BE49-F238E27FC236}">
                <a16:creationId xmlns:a16="http://schemas.microsoft.com/office/drawing/2014/main" id="{F7BAFF59-0837-4433-B292-2E3C310792D7}"/>
              </a:ext>
            </a:extLst>
          </p:cNvPr>
          <p:cNvSpPr>
            <a:spLocks noChangeShapeType="1"/>
          </p:cNvSpPr>
          <p:nvPr/>
        </p:nvSpPr>
        <p:spPr bwMode="auto">
          <a:xfrm>
            <a:off x="3482975" y="5378450"/>
            <a:ext cx="2903538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73" name="Text Box 24">
            <a:extLst>
              <a:ext uri="{FF2B5EF4-FFF2-40B4-BE49-F238E27FC236}">
                <a16:creationId xmlns:a16="http://schemas.microsoft.com/office/drawing/2014/main" id="{6F801588-D81B-4583-9238-467B2E5CD1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2775" y="3173413"/>
            <a:ext cx="2995613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&amp;&amp; </a:t>
            </a:r>
            <a:r>
              <a:rPr lang="en-US" altLang="zh-TW" sz="1600">
                <a:latin typeface="Arial" panose="020B0604020202020204" pitchFamily="34" charset="0"/>
              </a:rPr>
              <a:t>notcorrupt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(rcvpkt)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&amp;&amp; isACK(rcvpkt) </a:t>
            </a:r>
          </a:p>
        </p:txBody>
      </p:sp>
      <p:sp>
        <p:nvSpPr>
          <p:cNvPr id="78874" name="Line 25">
            <a:extLst>
              <a:ext uri="{FF2B5EF4-FFF2-40B4-BE49-F238E27FC236}">
                <a16:creationId xmlns:a16="http://schemas.microsoft.com/office/drawing/2014/main" id="{EE72C97B-0476-4833-87D7-DAD748EEB2C6}"/>
              </a:ext>
            </a:extLst>
          </p:cNvPr>
          <p:cNvSpPr>
            <a:spLocks noChangeShapeType="1"/>
          </p:cNvSpPr>
          <p:nvPr/>
        </p:nvSpPr>
        <p:spPr bwMode="auto">
          <a:xfrm>
            <a:off x="5821363" y="3984625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75" name="Text Box 26">
            <a:extLst>
              <a:ext uri="{FF2B5EF4-FFF2-40B4-BE49-F238E27FC236}">
                <a16:creationId xmlns:a16="http://schemas.microsoft.com/office/drawing/2014/main" id="{7E32991A-0485-4A00-85C5-72253D1E1B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0725" y="5435600"/>
            <a:ext cx="18192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76" name="Text Box 27">
            <a:extLst>
              <a:ext uri="{FF2B5EF4-FFF2-40B4-BE49-F238E27FC236}">
                <a16:creationId xmlns:a16="http://schemas.microsoft.com/office/drawing/2014/main" id="{C6A3ED54-5C3F-4C55-ABC2-10B0FF0E20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325" y="4618038"/>
            <a:ext cx="2011363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( corrupt(rcvpkt) ||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isNAK(rcvpkt) )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77" name="Line 28">
            <a:extLst>
              <a:ext uri="{FF2B5EF4-FFF2-40B4-BE49-F238E27FC236}">
                <a16:creationId xmlns:a16="http://schemas.microsoft.com/office/drawing/2014/main" id="{9DAF96AA-9342-479A-8F99-FF7313A7A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811213" y="5443538"/>
            <a:ext cx="1557337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8878" name="Text Box 29">
            <a:extLst>
              <a:ext uri="{FF2B5EF4-FFF2-40B4-BE49-F238E27FC236}">
                <a16:creationId xmlns:a16="http://schemas.microsoft.com/office/drawing/2014/main" id="{8E08B27B-AEC2-400F-B67B-3A483403D9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175" y="3016250"/>
            <a:ext cx="2109788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rdt_rcv(rcvpkt) 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&amp;&amp; notcorrupt(rcvpkt)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&amp;&amp; isACK(rcvpkt)</a:t>
            </a: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79" name="Line 30">
            <a:extLst>
              <a:ext uri="{FF2B5EF4-FFF2-40B4-BE49-F238E27FC236}">
                <a16:creationId xmlns:a16="http://schemas.microsoft.com/office/drawing/2014/main" id="{16E965AD-7A73-42D4-908B-6ADA7747816E}"/>
              </a:ext>
            </a:extLst>
          </p:cNvPr>
          <p:cNvSpPr>
            <a:spLocks noChangeShapeType="1"/>
          </p:cNvSpPr>
          <p:nvPr/>
        </p:nvSpPr>
        <p:spPr bwMode="auto">
          <a:xfrm>
            <a:off x="782638" y="3854450"/>
            <a:ext cx="1738312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8880" name="Group 31">
            <a:extLst>
              <a:ext uri="{FF2B5EF4-FFF2-40B4-BE49-F238E27FC236}">
                <a16:creationId xmlns:a16="http://schemas.microsoft.com/office/drawing/2014/main" id="{47F367B0-8316-4D09-B37D-743F4E7D5DA8}"/>
              </a:ext>
            </a:extLst>
          </p:cNvPr>
          <p:cNvGrpSpPr>
            <a:grpSpLocks/>
          </p:cNvGrpSpPr>
          <p:nvPr/>
        </p:nvGrpSpPr>
        <p:grpSpPr bwMode="auto">
          <a:xfrm>
            <a:off x="4852988" y="4200525"/>
            <a:ext cx="1117600" cy="823913"/>
            <a:chOff x="4156" y="2812"/>
            <a:chExt cx="704" cy="519"/>
          </a:xfrm>
        </p:grpSpPr>
        <p:sp>
          <p:nvSpPr>
            <p:cNvPr id="78888" name="Oval 32">
              <a:extLst>
                <a:ext uri="{FF2B5EF4-FFF2-40B4-BE49-F238E27FC236}">
                  <a16:creationId xmlns:a16="http://schemas.microsoft.com/office/drawing/2014/main" id="{E58D8948-5E58-4DAF-9E6B-94EAD08D80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2" y="2812"/>
              <a:ext cx="567" cy="51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78889" name="Text Box 33">
              <a:extLst>
                <a:ext uri="{FF2B5EF4-FFF2-40B4-BE49-F238E27FC236}">
                  <a16:creationId xmlns:a16="http://schemas.microsoft.com/office/drawing/2014/main" id="{FACFE9CE-E92F-479D-90E6-C12F3E61C4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6" y="2870"/>
              <a:ext cx="704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solidFill>
                    <a:srgbClr val="000000"/>
                  </a:solidFill>
                  <a:latin typeface="Arial" panose="020B0604020202020204" pitchFamily="34" charset="0"/>
                </a:rPr>
                <a:t>Wait for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solidFill>
                    <a:srgbClr val="000000"/>
                  </a:solidFill>
                  <a:latin typeface="Arial" panose="020B0604020202020204" pitchFamily="34" charset="0"/>
                </a:rPr>
                <a:t> call </a:t>
              </a:r>
              <a:r>
                <a:rPr lang="en-US" altLang="zh-TW" sz="1400" dirty="0">
                  <a:solidFill>
                    <a:srgbClr val="0070C0"/>
                  </a:solidFill>
                  <a:latin typeface="Arial" panose="020B0604020202020204" pitchFamily="34" charset="0"/>
                </a:rPr>
                <a:t>1</a:t>
              </a:r>
              <a:r>
                <a:rPr lang="en-US" altLang="zh-TW" sz="1400" dirty="0">
                  <a:solidFill>
                    <a:srgbClr val="000000"/>
                  </a:solidFill>
                  <a:latin typeface="Arial" panose="020B0604020202020204" pitchFamily="34" charset="0"/>
                </a:rPr>
                <a:t> from above</a:t>
              </a:r>
              <a:endParaRPr lang="en-US" altLang="zh-TW" sz="1400" dirty="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78881" name="Group 34">
            <a:extLst>
              <a:ext uri="{FF2B5EF4-FFF2-40B4-BE49-F238E27FC236}">
                <a16:creationId xmlns:a16="http://schemas.microsoft.com/office/drawing/2014/main" id="{413496E1-25BB-410F-BDAC-4E3103B45834}"/>
              </a:ext>
            </a:extLst>
          </p:cNvPr>
          <p:cNvGrpSpPr>
            <a:grpSpLocks/>
          </p:cNvGrpSpPr>
          <p:nvPr/>
        </p:nvGrpSpPr>
        <p:grpSpPr bwMode="auto">
          <a:xfrm>
            <a:off x="2663825" y="4146550"/>
            <a:ext cx="1046163" cy="823913"/>
            <a:chOff x="4916" y="3266"/>
            <a:chExt cx="659" cy="519"/>
          </a:xfrm>
        </p:grpSpPr>
        <p:sp>
          <p:nvSpPr>
            <p:cNvPr id="78886" name="Oval 35">
              <a:extLst>
                <a:ext uri="{FF2B5EF4-FFF2-40B4-BE49-F238E27FC236}">
                  <a16:creationId xmlns:a16="http://schemas.microsoft.com/office/drawing/2014/main" id="{15743AD8-BA70-42A1-8FCB-7A3BF12F94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57" y="3266"/>
              <a:ext cx="567" cy="51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78887" name="Text Box 36">
              <a:extLst>
                <a:ext uri="{FF2B5EF4-FFF2-40B4-BE49-F238E27FC236}">
                  <a16:creationId xmlns:a16="http://schemas.microsoft.com/office/drawing/2014/main" id="{34A88CA8-C2D0-4F0E-BDA2-6EC9FB6B5B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6" y="3319"/>
              <a:ext cx="659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solidFill>
                    <a:srgbClr val="000000"/>
                  </a:solidFill>
                  <a:latin typeface="Arial" panose="020B0604020202020204" pitchFamily="34" charset="0"/>
                </a:rPr>
                <a:t>Wait for ACK or NAK </a:t>
              </a:r>
              <a:r>
                <a:rPr lang="en-US" altLang="zh-TW" sz="1400" dirty="0">
                  <a:solidFill>
                    <a:srgbClr val="0070C0"/>
                  </a:solidFill>
                  <a:latin typeface="Arial" panose="020B0604020202020204" pitchFamily="34" charset="0"/>
                </a:rPr>
                <a:t>1</a:t>
              </a:r>
              <a:endParaRPr lang="en-US" altLang="zh-TW" sz="1400" dirty="0">
                <a:solidFill>
                  <a:srgbClr val="0070C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78882" name="Text Box 37">
            <a:extLst>
              <a:ext uri="{FF2B5EF4-FFF2-40B4-BE49-F238E27FC236}">
                <a16:creationId xmlns:a16="http://schemas.microsoft.com/office/drawing/2014/main" id="{2D9551F1-3320-4D6D-BFBF-DB9DE0093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03950" y="3994150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  <p:sp>
        <p:nvSpPr>
          <p:cNvPr id="78883" name="Text Box 38">
            <a:extLst>
              <a:ext uri="{FF2B5EF4-FFF2-40B4-BE49-F238E27FC236}">
                <a16:creationId xmlns:a16="http://schemas.microsoft.com/office/drawing/2014/main" id="{83B53585-0C31-4A08-98A0-FBBFFB1092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4138" y="3868738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  <p:sp>
        <p:nvSpPr>
          <p:cNvPr id="78884" name="Text Box 6">
            <a:extLst>
              <a:ext uri="{FF2B5EF4-FFF2-40B4-BE49-F238E27FC236}">
                <a16:creationId xmlns:a16="http://schemas.microsoft.com/office/drawing/2014/main" id="{6F9A6902-1604-4BFC-9C79-BB0FA61474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7613" y="1098550"/>
            <a:ext cx="2698750" cy="37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dirty="0">
                <a:solidFill>
                  <a:srgbClr val="7030A0"/>
                </a:solidFill>
                <a:latin typeface="Arial" panose="020B0604020202020204" pitchFamily="34" charset="0"/>
              </a:rPr>
              <a:t>[Retransmit current packet if ACK/NAK is corrupted]</a:t>
            </a:r>
            <a:endParaRPr lang="en-US" altLang="zh-TW" sz="1600" i="1" dirty="0">
              <a:solidFill>
                <a:srgbClr val="7030A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885" name="矩形 43">
            <a:extLst>
              <a:ext uri="{FF2B5EF4-FFF2-40B4-BE49-F238E27FC236}">
                <a16:creationId xmlns:a16="http://schemas.microsoft.com/office/drawing/2014/main" id="{F1E6A132-9DAF-46AE-842A-96AA57423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7538" y="5407025"/>
            <a:ext cx="19748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dirty="0">
                <a:solidFill>
                  <a:srgbClr val="0070C0"/>
                </a:solidFill>
                <a:latin typeface="Arial" panose="020B0604020202020204" pitchFamily="34" charset="0"/>
              </a:rPr>
              <a:t>[Sequence number]</a:t>
            </a:r>
            <a:endParaRPr lang="en-US" altLang="zh-TW" sz="1600" i="1" dirty="0">
              <a:solidFill>
                <a:srgbClr val="0070C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Footer Placeholder 3">
            <a:extLst>
              <a:ext uri="{FF2B5EF4-FFF2-40B4-BE49-F238E27FC236}">
                <a16:creationId xmlns:a16="http://schemas.microsoft.com/office/drawing/2014/main" id="{6CCDB49A-4CAA-47C7-B028-661D70643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80899" name="Slide Number Placeholder 4">
            <a:extLst>
              <a:ext uri="{FF2B5EF4-FFF2-40B4-BE49-F238E27FC236}">
                <a16:creationId xmlns:a16="http://schemas.microsoft.com/office/drawing/2014/main" id="{FAD8B1F4-AA4A-4390-8AFA-06CAB0920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EA6085A0-543B-4F77-94A6-AEAFBD3FD986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36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grpSp>
        <p:nvGrpSpPr>
          <p:cNvPr id="80900" name="Group 3">
            <a:extLst>
              <a:ext uri="{FF2B5EF4-FFF2-40B4-BE49-F238E27FC236}">
                <a16:creationId xmlns:a16="http://schemas.microsoft.com/office/drawing/2014/main" id="{C2A45545-C29B-490B-9EAC-17C7BC4F9DA1}"/>
              </a:ext>
            </a:extLst>
          </p:cNvPr>
          <p:cNvGrpSpPr>
            <a:grpSpLocks/>
          </p:cNvGrpSpPr>
          <p:nvPr/>
        </p:nvGrpSpPr>
        <p:grpSpPr bwMode="auto">
          <a:xfrm>
            <a:off x="3038475" y="3352800"/>
            <a:ext cx="817563" cy="795338"/>
            <a:chOff x="963" y="1131"/>
            <a:chExt cx="515" cy="501"/>
          </a:xfrm>
        </p:grpSpPr>
        <p:sp>
          <p:nvSpPr>
            <p:cNvPr id="80934" name="Oval 4">
              <a:extLst>
                <a:ext uri="{FF2B5EF4-FFF2-40B4-BE49-F238E27FC236}">
                  <a16:creationId xmlns:a16="http://schemas.microsoft.com/office/drawing/2014/main" id="{C1534C09-D9FA-4665-9359-6F7B978C6F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3" y="1131"/>
              <a:ext cx="490" cy="501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80935" name="Text Box 5">
              <a:extLst>
                <a:ext uri="{FF2B5EF4-FFF2-40B4-BE49-F238E27FC236}">
                  <a16:creationId xmlns:a16="http://schemas.microsoft.com/office/drawing/2014/main" id="{1964BA8F-C334-40CA-9ECB-F8D36BC3FD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4" y="1153"/>
              <a:ext cx="504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Wait for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0 from below</a:t>
              </a:r>
              <a:endParaRPr lang="en-US" altLang="zh-TW" sz="1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80901" name="Line 6">
            <a:extLst>
              <a:ext uri="{FF2B5EF4-FFF2-40B4-BE49-F238E27FC236}">
                <a16:creationId xmlns:a16="http://schemas.microsoft.com/office/drawing/2014/main" id="{67F9B3DC-C9B0-49DD-9543-173D73566115}"/>
              </a:ext>
            </a:extLst>
          </p:cNvPr>
          <p:cNvSpPr>
            <a:spLocks noChangeShapeType="1"/>
          </p:cNvSpPr>
          <p:nvPr/>
        </p:nvSpPr>
        <p:spPr bwMode="auto">
          <a:xfrm>
            <a:off x="2874963" y="2282825"/>
            <a:ext cx="419100" cy="1079500"/>
          </a:xfrm>
          <a:prstGeom prst="line">
            <a:avLst/>
          </a:prstGeom>
          <a:noFill/>
          <a:ln w="2857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02" name="Freeform 7">
            <a:extLst>
              <a:ext uri="{FF2B5EF4-FFF2-40B4-BE49-F238E27FC236}">
                <a16:creationId xmlns:a16="http://schemas.microsoft.com/office/drawing/2014/main" id="{17CC4943-5784-4A20-ACD9-FAAA096977D1}"/>
              </a:ext>
            </a:extLst>
          </p:cNvPr>
          <p:cNvSpPr>
            <a:spLocks/>
          </p:cNvSpPr>
          <p:nvPr/>
        </p:nvSpPr>
        <p:spPr bwMode="auto">
          <a:xfrm flipV="1">
            <a:off x="3556000" y="2600325"/>
            <a:ext cx="1590675" cy="785813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03" name="Text Box 8">
            <a:extLst>
              <a:ext uri="{FF2B5EF4-FFF2-40B4-BE49-F238E27FC236}">
                <a16:creationId xmlns:a16="http://schemas.microsoft.com/office/drawing/2014/main" id="{61E9C7D0-252E-43D8-938E-9F70BD135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6638" y="2959100"/>
            <a:ext cx="3027362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sndpkt = make_pkt(NAK, chksum)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04" name="Text Box 9">
            <a:extLst>
              <a:ext uri="{FF2B5EF4-FFF2-40B4-BE49-F238E27FC236}">
                <a16:creationId xmlns:a16="http://schemas.microsoft.com/office/drawing/2014/main" id="{90900156-AA64-4271-AF5F-14DD79DC70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9813" y="3671888"/>
            <a:ext cx="262413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   not corrupt(rcvpkt) &amp;&amp;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   has_seq0(rcvpkt)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05" name="Line 10">
            <a:extLst>
              <a:ext uri="{FF2B5EF4-FFF2-40B4-BE49-F238E27FC236}">
                <a16:creationId xmlns:a16="http://schemas.microsoft.com/office/drawing/2014/main" id="{610E0E11-3883-4213-9D4A-5D65A3A15C47}"/>
              </a:ext>
            </a:extLst>
          </p:cNvPr>
          <p:cNvSpPr>
            <a:spLocks noChangeShapeType="1"/>
          </p:cNvSpPr>
          <p:nvPr/>
        </p:nvSpPr>
        <p:spPr bwMode="auto">
          <a:xfrm>
            <a:off x="6203950" y="4370388"/>
            <a:ext cx="1938338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06" name="Freeform 11">
            <a:extLst>
              <a:ext uri="{FF2B5EF4-FFF2-40B4-BE49-F238E27FC236}">
                <a16:creationId xmlns:a16="http://schemas.microsoft.com/office/drawing/2014/main" id="{071AFA07-26DF-44D7-8F04-9E59C9615B78}"/>
              </a:ext>
            </a:extLst>
          </p:cNvPr>
          <p:cNvSpPr>
            <a:spLocks/>
          </p:cNvSpPr>
          <p:nvPr/>
        </p:nvSpPr>
        <p:spPr bwMode="auto">
          <a:xfrm>
            <a:off x="3573463" y="4168775"/>
            <a:ext cx="1590675" cy="688975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07" name="Text Box 12">
            <a:extLst>
              <a:ext uri="{FF2B5EF4-FFF2-40B4-BE49-F238E27FC236}">
                <a16:creationId xmlns:a16="http://schemas.microsoft.com/office/drawing/2014/main" id="{975B2DB4-2927-48FE-A4BB-2AD2B87106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2275" y="4749800"/>
            <a:ext cx="358140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notcorrupt(rcvpkt)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  &amp;&amp; has_seq1(rcvpkt)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08" name="Line 13">
            <a:extLst>
              <a:ext uri="{FF2B5EF4-FFF2-40B4-BE49-F238E27FC236}">
                <a16:creationId xmlns:a16="http://schemas.microsoft.com/office/drawing/2014/main" id="{0A911800-6C4F-4E78-8AB6-280F8EC21939}"/>
              </a:ext>
            </a:extLst>
          </p:cNvPr>
          <p:cNvSpPr>
            <a:spLocks noChangeShapeType="1"/>
          </p:cNvSpPr>
          <p:nvPr/>
        </p:nvSpPr>
        <p:spPr bwMode="auto">
          <a:xfrm>
            <a:off x="3028950" y="5307013"/>
            <a:ext cx="289877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09" name="Text Box 14">
            <a:extLst>
              <a:ext uri="{FF2B5EF4-FFF2-40B4-BE49-F238E27FC236}">
                <a16:creationId xmlns:a16="http://schemas.microsoft.com/office/drawing/2014/main" id="{BB230134-DD77-4641-8027-931BDF664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5362575"/>
            <a:ext cx="3852863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extract(rcvpkt,data)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deliver_data(data)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sndpkt = make_pkt(ACK, chksum)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80910" name="Group 15">
            <a:extLst>
              <a:ext uri="{FF2B5EF4-FFF2-40B4-BE49-F238E27FC236}">
                <a16:creationId xmlns:a16="http://schemas.microsoft.com/office/drawing/2014/main" id="{0AF27535-E2B8-4844-B648-7FE64232B359}"/>
              </a:ext>
            </a:extLst>
          </p:cNvPr>
          <p:cNvGrpSpPr>
            <a:grpSpLocks/>
          </p:cNvGrpSpPr>
          <p:nvPr/>
        </p:nvGrpSpPr>
        <p:grpSpPr bwMode="auto">
          <a:xfrm>
            <a:off x="4737100" y="3387725"/>
            <a:ext cx="825500" cy="796925"/>
            <a:chOff x="4398" y="3133"/>
            <a:chExt cx="520" cy="502"/>
          </a:xfrm>
        </p:grpSpPr>
        <p:sp>
          <p:nvSpPr>
            <p:cNvPr id="80932" name="Oval 16">
              <a:extLst>
                <a:ext uri="{FF2B5EF4-FFF2-40B4-BE49-F238E27FC236}">
                  <a16:creationId xmlns:a16="http://schemas.microsoft.com/office/drawing/2014/main" id="{0A7D3FDB-0D29-48A5-BD48-1995E6ED1A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3133"/>
              <a:ext cx="507" cy="502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80933" name="Text Box 17">
              <a:extLst>
                <a:ext uri="{FF2B5EF4-FFF2-40B4-BE49-F238E27FC236}">
                  <a16:creationId xmlns:a16="http://schemas.microsoft.com/office/drawing/2014/main" id="{D26FB338-F5F6-4CBD-96D8-CA39255E2F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14" y="3163"/>
              <a:ext cx="504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Wait for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1 from below</a:t>
              </a:r>
              <a:endParaRPr lang="en-US" altLang="zh-TW" sz="1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80911" name="Freeform 18">
            <a:extLst>
              <a:ext uri="{FF2B5EF4-FFF2-40B4-BE49-F238E27FC236}">
                <a16:creationId xmlns:a16="http://schemas.microsoft.com/office/drawing/2014/main" id="{19B30C14-0898-4DE8-842C-3E874C0DEBD9}"/>
              </a:ext>
            </a:extLst>
          </p:cNvPr>
          <p:cNvSpPr>
            <a:spLocks/>
          </p:cNvSpPr>
          <p:nvPr/>
        </p:nvSpPr>
        <p:spPr bwMode="auto">
          <a:xfrm rot="-1361013">
            <a:off x="5437188" y="2979738"/>
            <a:ext cx="839787" cy="863600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12" name="Text Box 19">
            <a:extLst>
              <a:ext uri="{FF2B5EF4-FFF2-40B4-BE49-F238E27FC236}">
                <a16:creationId xmlns:a16="http://schemas.microsoft.com/office/drawing/2014/main" id="{FB8938F0-A147-4386-A089-CC2C8D6459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200" y="1284288"/>
            <a:ext cx="398145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rdt_rcv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rcvpkt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) &amp;&amp; </a:t>
            </a:r>
            <a:r>
              <a:rPr lang="en-US" altLang="zh-TW" sz="1400" dirty="0" err="1">
                <a:solidFill>
                  <a:srgbClr val="7030A0"/>
                </a:solidFill>
                <a:latin typeface="Arial" panose="020B0604020202020204" pitchFamily="34" charset="0"/>
              </a:rPr>
              <a:t>notcorrupt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rcvpkt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)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  &amp;&amp; has_</a:t>
            </a:r>
            <a:r>
              <a:rPr lang="en-US" altLang="zh-TW" sz="1400" dirty="0">
                <a:solidFill>
                  <a:srgbClr val="7030A0"/>
                </a:solidFill>
                <a:latin typeface="Arial" panose="020B0604020202020204" pitchFamily="34" charset="0"/>
              </a:rPr>
              <a:t>seq0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rcvpkt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) </a:t>
            </a:r>
            <a:endParaRPr lang="en-US" altLang="zh-TW" sz="140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13" name="Line 20">
            <a:extLst>
              <a:ext uri="{FF2B5EF4-FFF2-40B4-BE49-F238E27FC236}">
                <a16:creationId xmlns:a16="http://schemas.microsoft.com/office/drawing/2014/main" id="{53803377-8334-48A8-AE3D-76F160D4943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3738" y="1854200"/>
            <a:ext cx="191452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14" name="Text Box 21">
            <a:extLst>
              <a:ext uri="{FF2B5EF4-FFF2-40B4-BE49-F238E27FC236}">
                <a16:creationId xmlns:a16="http://schemas.microsoft.com/office/drawing/2014/main" id="{949D075D-B98C-48EE-8A0C-90FB3AEB3A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1811338"/>
            <a:ext cx="3475038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solidFill>
                  <a:srgbClr val="7030A0"/>
                </a:solidFill>
                <a:latin typeface="Arial" panose="020B0604020202020204" pitchFamily="34" charset="0"/>
              </a:rPr>
              <a:t>extract(</a:t>
            </a:r>
            <a:r>
              <a:rPr lang="en-US" altLang="zh-TW" sz="1400" dirty="0" err="1">
                <a:solidFill>
                  <a:srgbClr val="7030A0"/>
                </a:solidFill>
                <a:latin typeface="Arial" panose="020B0604020202020204" pitchFamily="34" charset="0"/>
              </a:rPr>
              <a:t>rcvpkt,data</a:t>
            </a:r>
            <a:r>
              <a:rPr lang="en-US" altLang="zh-TW" sz="1400" dirty="0">
                <a:solidFill>
                  <a:srgbClr val="7030A0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solidFill>
                  <a:srgbClr val="7030A0"/>
                </a:solidFill>
                <a:latin typeface="Arial" panose="020B0604020202020204" pitchFamily="34" charset="0"/>
              </a:rPr>
              <a:t>deliver_data</a:t>
            </a:r>
            <a:r>
              <a:rPr lang="en-US" altLang="zh-TW" sz="1400" dirty="0">
                <a:solidFill>
                  <a:srgbClr val="7030A0"/>
                </a:solidFill>
                <a:latin typeface="Arial" panose="020B0604020202020204" pitchFamily="34" charset="0"/>
              </a:rPr>
              <a:t>(data)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sndpkt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 = </a:t>
            </a: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make_pkt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>
                <a:solidFill>
                  <a:srgbClr val="7030A0"/>
                </a:solidFill>
                <a:latin typeface="Arial" panose="020B0604020202020204" pitchFamily="34" charset="0"/>
              </a:rPr>
              <a:t>ACK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, </a:t>
            </a: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chksum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udt_send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sndpkt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  <a:endParaRPr lang="en-US" altLang="zh-TW" sz="140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15" name="Freeform 22">
            <a:extLst>
              <a:ext uri="{FF2B5EF4-FFF2-40B4-BE49-F238E27FC236}">
                <a16:creationId xmlns:a16="http://schemas.microsoft.com/office/drawing/2014/main" id="{4A558778-B5FC-47B6-9B36-32AC04BC3849}"/>
              </a:ext>
            </a:extLst>
          </p:cNvPr>
          <p:cNvSpPr>
            <a:spLocks/>
          </p:cNvSpPr>
          <p:nvPr/>
        </p:nvSpPr>
        <p:spPr bwMode="auto">
          <a:xfrm rot="1020547">
            <a:off x="5461000" y="3703638"/>
            <a:ext cx="839788" cy="863600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16" name="Text Box 23">
            <a:extLst>
              <a:ext uri="{FF2B5EF4-FFF2-40B4-BE49-F238E27FC236}">
                <a16:creationId xmlns:a16="http://schemas.microsoft.com/office/drawing/2014/main" id="{FF1FCF36-670F-41AC-BF9C-E341CB8C3E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7425" y="2662238"/>
            <a:ext cx="2871788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(corrupt(rcvpkt)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17" name="Line 24">
            <a:extLst>
              <a:ext uri="{FF2B5EF4-FFF2-40B4-BE49-F238E27FC236}">
                <a16:creationId xmlns:a16="http://schemas.microsoft.com/office/drawing/2014/main" id="{B5849C29-FF04-4E6E-A357-30525F39419B}"/>
              </a:ext>
            </a:extLst>
          </p:cNvPr>
          <p:cNvSpPr>
            <a:spLocks noChangeShapeType="1"/>
          </p:cNvSpPr>
          <p:nvPr/>
        </p:nvSpPr>
        <p:spPr bwMode="auto">
          <a:xfrm>
            <a:off x="6205538" y="2973388"/>
            <a:ext cx="1938337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18" name="Text Box 25">
            <a:extLst>
              <a:ext uri="{FF2B5EF4-FFF2-40B4-BE49-F238E27FC236}">
                <a16:creationId xmlns:a16="http://schemas.microsoft.com/office/drawing/2014/main" id="{E2E2685C-561C-4D08-8772-A410F49296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5363" y="4424363"/>
            <a:ext cx="2940050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sndpkt = make_pkt(ACK, chksum)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19" name="Text Box 26">
            <a:extLst>
              <a:ext uri="{FF2B5EF4-FFF2-40B4-BE49-F238E27FC236}">
                <a16:creationId xmlns:a16="http://schemas.microsoft.com/office/drawing/2014/main" id="{882AA902-7B38-4945-80CA-52248A55A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675" y="3651250"/>
            <a:ext cx="2624138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   </a:t>
            </a:r>
            <a:r>
              <a:rPr lang="en-US" altLang="zh-TW" sz="1400">
                <a:solidFill>
                  <a:srgbClr val="C00000"/>
                </a:solidFill>
                <a:latin typeface="Arial" panose="020B0604020202020204" pitchFamily="34" charset="0"/>
              </a:rPr>
              <a:t>not corrupt</a:t>
            </a: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(rcvpkt) &amp;&amp;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   has_</a:t>
            </a:r>
            <a:r>
              <a:rPr lang="en-US" altLang="zh-TW" sz="1400">
                <a:solidFill>
                  <a:srgbClr val="C00000"/>
                </a:solidFill>
                <a:latin typeface="Arial" panose="020B0604020202020204" pitchFamily="34" charset="0"/>
              </a:rPr>
              <a:t>seq1</a:t>
            </a: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(rcvpkt)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6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20" name="Line 27">
            <a:extLst>
              <a:ext uri="{FF2B5EF4-FFF2-40B4-BE49-F238E27FC236}">
                <a16:creationId xmlns:a16="http://schemas.microsoft.com/office/drawing/2014/main" id="{C7BE5DED-C347-40D4-B053-E38F7CA4D756}"/>
              </a:ext>
            </a:extLst>
          </p:cNvPr>
          <p:cNvSpPr>
            <a:spLocks noChangeShapeType="1"/>
          </p:cNvSpPr>
          <p:nvPr/>
        </p:nvSpPr>
        <p:spPr bwMode="auto">
          <a:xfrm>
            <a:off x="277813" y="4359275"/>
            <a:ext cx="1938337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21" name="Text Box 28">
            <a:extLst>
              <a:ext uri="{FF2B5EF4-FFF2-40B4-BE49-F238E27FC236}">
                <a16:creationId xmlns:a16="http://schemas.microsoft.com/office/drawing/2014/main" id="{888B7FD2-A175-4E83-AFC3-A85BD27E3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288" y="2598738"/>
            <a:ext cx="287178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rdt_rcv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rcvpkt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) &amp;&amp; (</a:t>
            </a:r>
            <a:r>
              <a:rPr lang="en-US" altLang="zh-TW" sz="1400" dirty="0">
                <a:solidFill>
                  <a:srgbClr val="0070C0"/>
                </a:solidFill>
                <a:latin typeface="Arial" panose="020B0604020202020204" pitchFamily="34" charset="0"/>
              </a:rPr>
              <a:t>corrupt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rcvpkt</a:t>
            </a:r>
            <a:r>
              <a:rPr lang="en-US" altLang="zh-TW" sz="1400" dirty="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  <a:endParaRPr lang="en-US" altLang="zh-TW" sz="1400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22" name="Line 29">
            <a:extLst>
              <a:ext uri="{FF2B5EF4-FFF2-40B4-BE49-F238E27FC236}">
                <a16:creationId xmlns:a16="http://schemas.microsoft.com/office/drawing/2014/main" id="{DCD21E79-B4A4-4D44-9E73-608F7BF9D3AD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400" y="2973388"/>
            <a:ext cx="1938338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23" name="Text Box 30">
            <a:extLst>
              <a:ext uri="{FF2B5EF4-FFF2-40B4-BE49-F238E27FC236}">
                <a16:creationId xmlns:a16="http://schemas.microsoft.com/office/drawing/2014/main" id="{2EDDD654-5C2F-4F55-9EE2-F1870A31B0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425" y="4381500"/>
            <a:ext cx="2940050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sndpkt = </a:t>
            </a:r>
            <a:r>
              <a:rPr lang="en-US" altLang="zh-TW" sz="1400">
                <a:latin typeface="Arial" panose="020B0604020202020204" pitchFamily="34" charset="0"/>
              </a:rPr>
              <a:t>make_pkt(ACK,</a:t>
            </a: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 chksum)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24" name="Text Box 31">
            <a:extLst>
              <a:ext uri="{FF2B5EF4-FFF2-40B4-BE49-F238E27FC236}">
                <a16:creationId xmlns:a16="http://schemas.microsoft.com/office/drawing/2014/main" id="{227225D0-DA46-4DF5-91B4-CCE5731751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613" y="2940050"/>
            <a:ext cx="3027362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sndpkt = make_pkt(</a:t>
            </a: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NAK</a:t>
            </a: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, chksum)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25" name="Freeform 32">
            <a:extLst>
              <a:ext uri="{FF2B5EF4-FFF2-40B4-BE49-F238E27FC236}">
                <a16:creationId xmlns:a16="http://schemas.microsoft.com/office/drawing/2014/main" id="{160006B8-704C-4142-A1C4-721778D9C6B6}"/>
              </a:ext>
            </a:extLst>
          </p:cNvPr>
          <p:cNvSpPr>
            <a:spLocks/>
          </p:cNvSpPr>
          <p:nvPr/>
        </p:nvSpPr>
        <p:spPr bwMode="auto">
          <a:xfrm rot="20579453" flipH="1">
            <a:off x="2235200" y="3640138"/>
            <a:ext cx="839788" cy="863600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0926" name="Freeform 33">
            <a:extLst>
              <a:ext uri="{FF2B5EF4-FFF2-40B4-BE49-F238E27FC236}">
                <a16:creationId xmlns:a16="http://schemas.microsoft.com/office/drawing/2014/main" id="{74F1592B-6C81-46B1-8323-B1467DC56FC5}"/>
              </a:ext>
            </a:extLst>
          </p:cNvPr>
          <p:cNvSpPr>
            <a:spLocks/>
          </p:cNvSpPr>
          <p:nvPr/>
        </p:nvSpPr>
        <p:spPr bwMode="auto">
          <a:xfrm rot="1361013" flipH="1">
            <a:off x="2222500" y="2992438"/>
            <a:ext cx="839788" cy="863600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80927" name="Picture 34" descr="underline_base">
            <a:extLst>
              <a:ext uri="{FF2B5EF4-FFF2-40B4-BE49-F238E27FC236}">
                <a16:creationId xmlns:a16="http://schemas.microsoft.com/office/drawing/2014/main" id="{61969BDD-C434-4584-8556-4637460451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763" y="825500"/>
            <a:ext cx="8228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0928" name="Rectangle 2">
            <a:extLst>
              <a:ext uri="{FF2B5EF4-FFF2-40B4-BE49-F238E27FC236}">
                <a16:creationId xmlns:a16="http://schemas.microsoft.com/office/drawing/2014/main" id="{3746D3EB-B4C5-4255-86EC-F92440E638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9100" y="185738"/>
            <a:ext cx="8324850" cy="941387"/>
          </a:xfrm>
        </p:spPr>
        <p:txBody>
          <a:bodyPr/>
          <a:lstStyle/>
          <a:p>
            <a:r>
              <a:rPr lang="en-US" altLang="zh-TW" sz="3600" dirty="0"/>
              <a:t>rdt2.1: </a:t>
            </a:r>
            <a:r>
              <a:rPr lang="en-US" altLang="zh-TW" sz="3600" dirty="0">
                <a:solidFill>
                  <a:srgbClr val="FF0000"/>
                </a:solidFill>
              </a:rPr>
              <a:t>receiver</a:t>
            </a:r>
            <a:r>
              <a:rPr lang="en-US" altLang="zh-TW" sz="3600" dirty="0"/>
              <a:t>, handles garbled </a:t>
            </a:r>
            <a:r>
              <a:rPr lang="en-US" altLang="zh-TW" sz="3200" dirty="0"/>
              <a:t>ACK/NAKs</a:t>
            </a:r>
            <a:endParaRPr lang="en-US" altLang="zh-TW" sz="3600" dirty="0"/>
          </a:p>
        </p:txBody>
      </p:sp>
      <p:sp>
        <p:nvSpPr>
          <p:cNvPr id="80929" name="矩形 36">
            <a:extLst>
              <a:ext uri="{FF2B5EF4-FFF2-40B4-BE49-F238E27FC236}">
                <a16:creationId xmlns:a16="http://schemas.microsoft.com/office/drawing/2014/main" id="{1F5C4E3E-65EB-41F6-BEEF-FAB7E4634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59488" y="1506538"/>
            <a:ext cx="289083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dirty="0">
                <a:solidFill>
                  <a:srgbClr val="7030A0"/>
                </a:solidFill>
                <a:latin typeface="Arial" panose="020B0604020202020204" pitchFamily="34" charset="0"/>
              </a:rPr>
              <a:t>[Deliver data to upper layer if packet is not corrupted &amp; has correct seq #]</a:t>
            </a:r>
            <a:endParaRPr lang="en-US" altLang="zh-TW" sz="1600" i="1" dirty="0">
              <a:solidFill>
                <a:srgbClr val="7030A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30" name="矩形 37">
            <a:extLst>
              <a:ext uri="{FF2B5EF4-FFF2-40B4-BE49-F238E27FC236}">
                <a16:creationId xmlns:a16="http://schemas.microsoft.com/office/drawing/2014/main" id="{867851B5-DBC5-4CCD-BA3B-2A9F270C77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940300"/>
            <a:ext cx="289083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dirty="0">
                <a:solidFill>
                  <a:srgbClr val="C00000"/>
                </a:solidFill>
                <a:latin typeface="Arial" panose="020B0604020202020204" pitchFamily="34" charset="0"/>
              </a:rPr>
              <a:t>[Discard duplicate packet if seq # is not correct]</a:t>
            </a:r>
            <a:endParaRPr lang="en-US" altLang="zh-TW" sz="1600" i="1" dirty="0">
              <a:solidFill>
                <a:srgbClr val="C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931" name="矩形 36">
            <a:extLst>
              <a:ext uri="{FF2B5EF4-FFF2-40B4-BE49-F238E27FC236}">
                <a16:creationId xmlns:a16="http://schemas.microsoft.com/office/drawing/2014/main" id="{9F7B1BC6-5398-44BB-95EB-DC7A8E450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238" y="1747838"/>
            <a:ext cx="2890837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dirty="0">
                <a:solidFill>
                  <a:srgbClr val="0070C0"/>
                </a:solidFill>
                <a:latin typeface="Arial" panose="020B0604020202020204" pitchFamily="34" charset="0"/>
              </a:rPr>
              <a:t>[Send NAK for corrupted packet]</a:t>
            </a:r>
            <a:endParaRPr lang="en-US" altLang="zh-TW" sz="1600" i="1" dirty="0">
              <a:solidFill>
                <a:srgbClr val="0070C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Footer Placeholder 5">
            <a:extLst>
              <a:ext uri="{FF2B5EF4-FFF2-40B4-BE49-F238E27FC236}">
                <a16:creationId xmlns:a16="http://schemas.microsoft.com/office/drawing/2014/main" id="{383A39E0-8401-42BD-9E7F-85BD6F02F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82947" name="Slide Number Placeholder 6">
            <a:extLst>
              <a:ext uri="{FF2B5EF4-FFF2-40B4-BE49-F238E27FC236}">
                <a16:creationId xmlns:a16="http://schemas.microsoft.com/office/drawing/2014/main" id="{50C283C3-2909-4AD6-A2FA-D872080CE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1696D9FE-6488-4CC3-9F85-10893CE0B33A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37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35844" name="Rectangle 2">
            <a:extLst>
              <a:ext uri="{FF2B5EF4-FFF2-40B4-BE49-F238E27FC236}">
                <a16:creationId xmlns:a16="http://schemas.microsoft.com/office/drawing/2014/main" id="{281BAC59-CA07-4464-BC9A-17F01B056B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19088"/>
            <a:ext cx="7772400" cy="9525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rdt2.1: discussion</a:t>
            </a:r>
          </a:p>
        </p:txBody>
      </p:sp>
      <p:sp>
        <p:nvSpPr>
          <p:cNvPr id="82949" name="Rectangle 3">
            <a:extLst>
              <a:ext uri="{FF2B5EF4-FFF2-40B4-BE49-F238E27FC236}">
                <a16:creationId xmlns:a16="http://schemas.microsoft.com/office/drawing/2014/main" id="{740B6BF7-F4E9-4F26-BE3C-3E86499E1D6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u="sng">
                <a:solidFill>
                  <a:srgbClr val="CC0000"/>
                </a:solidFill>
              </a:rPr>
              <a:t>sender:</a:t>
            </a:r>
            <a:endParaRPr lang="en-US" altLang="zh-TW">
              <a:solidFill>
                <a:srgbClr val="CC0000"/>
              </a:solidFill>
            </a:endParaRPr>
          </a:p>
          <a:p>
            <a:r>
              <a:rPr lang="en-US" altLang="zh-TW"/>
              <a:t>seq # added to pkt</a:t>
            </a:r>
          </a:p>
          <a:p>
            <a:pPr lvl="1"/>
            <a:r>
              <a:rPr lang="en-US" altLang="zh-TW"/>
              <a:t>two seq. #</a:t>
            </a:r>
            <a:r>
              <a:rPr lang="ja-JP" altLang="en-US"/>
              <a:t>’</a:t>
            </a:r>
            <a:r>
              <a:rPr lang="en-US" altLang="ja-JP"/>
              <a:t>s (0,1) will suffice</a:t>
            </a:r>
          </a:p>
          <a:p>
            <a:r>
              <a:rPr lang="en-US" altLang="zh-TW"/>
              <a:t>must check if received ACK/NAK corrupted </a:t>
            </a:r>
          </a:p>
          <a:p>
            <a:r>
              <a:rPr lang="en-US" altLang="zh-TW"/>
              <a:t>twice as many states</a:t>
            </a:r>
          </a:p>
          <a:p>
            <a:pPr lvl="1"/>
            <a:r>
              <a:rPr lang="en-US" altLang="zh-TW"/>
              <a:t>state must </a:t>
            </a:r>
            <a:r>
              <a:rPr lang="ja-JP" altLang="en-US"/>
              <a:t>“</a:t>
            </a:r>
            <a:r>
              <a:rPr lang="en-US" altLang="ja-JP"/>
              <a:t>remember</a:t>
            </a:r>
            <a:r>
              <a:rPr lang="ja-JP" altLang="en-US"/>
              <a:t>”</a:t>
            </a:r>
            <a:r>
              <a:rPr lang="en-US" altLang="ja-JP"/>
              <a:t> whether </a:t>
            </a:r>
            <a:r>
              <a:rPr lang="ja-JP" altLang="en-US"/>
              <a:t>“</a:t>
            </a:r>
            <a:r>
              <a:rPr lang="en-US" altLang="ja-JP"/>
              <a:t>expected</a:t>
            </a:r>
            <a:r>
              <a:rPr lang="ja-JP" altLang="en-US"/>
              <a:t>”</a:t>
            </a:r>
            <a:r>
              <a:rPr lang="en-US" altLang="ja-JP"/>
              <a:t> pkt should have seq # of 0 or 1 </a:t>
            </a:r>
          </a:p>
          <a:p>
            <a:endParaRPr lang="en-US" altLang="zh-TW"/>
          </a:p>
        </p:txBody>
      </p:sp>
      <p:sp>
        <p:nvSpPr>
          <p:cNvPr id="82950" name="Rectangle 4">
            <a:extLst>
              <a:ext uri="{FF2B5EF4-FFF2-40B4-BE49-F238E27FC236}">
                <a16:creationId xmlns:a16="http://schemas.microsoft.com/office/drawing/2014/main" id="{EE64F274-BB69-45F2-8931-D652665627A4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u="sng">
                <a:solidFill>
                  <a:srgbClr val="CC0000"/>
                </a:solidFill>
              </a:rPr>
              <a:t>receiver:</a:t>
            </a:r>
            <a:endParaRPr lang="en-US" altLang="zh-TW">
              <a:solidFill>
                <a:srgbClr val="CC0000"/>
              </a:solidFill>
            </a:endParaRPr>
          </a:p>
          <a:p>
            <a:r>
              <a:rPr lang="en-US" altLang="zh-TW"/>
              <a:t>must check if received packet is duplicate</a:t>
            </a:r>
          </a:p>
          <a:p>
            <a:pPr lvl="1"/>
            <a:r>
              <a:rPr lang="en-US" altLang="zh-TW"/>
              <a:t>state indicates whether 0 or 1 is expected pkt seq #</a:t>
            </a:r>
          </a:p>
        </p:txBody>
      </p:sp>
      <p:pic>
        <p:nvPicPr>
          <p:cNvPr id="82951" name="Picture 5" descr="underline_base">
            <a:extLst>
              <a:ext uri="{FF2B5EF4-FFF2-40B4-BE49-F238E27FC236}">
                <a16:creationId xmlns:a16="http://schemas.microsoft.com/office/drawing/2014/main" id="{855767DD-C2B8-439E-8E22-6A3878992AF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13" y="1017588"/>
            <a:ext cx="4113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Footer Placeholder 5">
            <a:extLst>
              <a:ext uri="{FF2B5EF4-FFF2-40B4-BE49-F238E27FC236}">
                <a16:creationId xmlns:a16="http://schemas.microsoft.com/office/drawing/2014/main" id="{0A2EE9F8-0767-4671-9243-D5877CA9F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84995" name="Slide Number Placeholder 6">
            <a:extLst>
              <a:ext uri="{FF2B5EF4-FFF2-40B4-BE49-F238E27FC236}">
                <a16:creationId xmlns:a16="http://schemas.microsoft.com/office/drawing/2014/main" id="{5302C7C0-054E-4F60-8301-1CE647564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72D59589-A6E8-428B-8191-AD04F8D184F1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38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84996" name="Picture 4" descr="underline_base">
            <a:extLst>
              <a:ext uri="{FF2B5EF4-FFF2-40B4-BE49-F238E27FC236}">
                <a16:creationId xmlns:a16="http://schemas.microsoft.com/office/drawing/2014/main" id="{D002F371-78B8-45FB-9861-C282D6BEDB8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088" y="922338"/>
            <a:ext cx="5942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4997" name="Rectangle 2">
            <a:extLst>
              <a:ext uri="{FF2B5EF4-FFF2-40B4-BE49-F238E27FC236}">
                <a16:creationId xmlns:a16="http://schemas.microsoft.com/office/drawing/2014/main" id="{7AFD018B-4EBF-4595-A9E8-E56BA74DB3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88950" y="230188"/>
            <a:ext cx="7772400" cy="985837"/>
          </a:xfrm>
        </p:spPr>
        <p:txBody>
          <a:bodyPr/>
          <a:lstStyle/>
          <a:p>
            <a:r>
              <a:rPr lang="en-US" altLang="zh-TW" sz="4000"/>
              <a:t>rdt2.2: a </a:t>
            </a:r>
            <a:r>
              <a:rPr lang="en-US" altLang="zh-TW" sz="4000">
                <a:solidFill>
                  <a:srgbClr val="FF0000"/>
                </a:solidFill>
              </a:rPr>
              <a:t>NAK-free</a:t>
            </a:r>
            <a:r>
              <a:rPr lang="en-US" altLang="zh-TW" sz="4000"/>
              <a:t> protocol</a:t>
            </a:r>
            <a:endParaRPr lang="en-US" altLang="zh-TW"/>
          </a:p>
        </p:txBody>
      </p:sp>
      <p:sp>
        <p:nvSpPr>
          <p:cNvPr id="79878" name="Rectangle 3">
            <a:extLst>
              <a:ext uri="{FF2B5EF4-FFF2-40B4-BE49-F238E27FC236}">
                <a16:creationId xmlns:a16="http://schemas.microsoft.com/office/drawing/2014/main" id="{5950BA35-08C5-42A9-875F-32B63DF6FDF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19100" y="1581150"/>
            <a:ext cx="8064500" cy="2749550"/>
          </a:xfrm>
        </p:spPr>
        <p:txBody>
          <a:bodyPr/>
          <a:lstStyle/>
          <a:p>
            <a:r>
              <a:rPr lang="en-US" altLang="zh-TW" dirty="0"/>
              <a:t>same functionality as rdt2.1, using ACKs only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Q: How to remove NAK?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A: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0000"/>
                </a:solidFill>
              </a:rPr>
              <a:t>ACK + seq #</a:t>
            </a:r>
          </a:p>
          <a:p>
            <a:pPr lvl="1"/>
            <a:r>
              <a:rPr lang="en-US" altLang="zh-TW" dirty="0"/>
              <a:t>instead of NAK, receiver </a:t>
            </a:r>
            <a:r>
              <a:rPr lang="en-US" altLang="zh-TW" dirty="0">
                <a:solidFill>
                  <a:srgbClr val="0070C0"/>
                </a:solidFill>
              </a:rPr>
              <a:t>sends ACK for </a:t>
            </a:r>
            <a:r>
              <a:rPr lang="en-US" altLang="zh-TW" u="sng" dirty="0">
                <a:solidFill>
                  <a:srgbClr val="0070C0"/>
                </a:solidFill>
              </a:rPr>
              <a:t>last pkt received OK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</a:rPr>
              <a:t>receiver must </a:t>
            </a:r>
            <a:r>
              <a:rPr lang="en-US" altLang="zh-TW" i="1" dirty="0">
                <a:solidFill>
                  <a:srgbClr val="0070C0"/>
                </a:solidFill>
              </a:rPr>
              <a:t>explicitly</a:t>
            </a:r>
            <a:r>
              <a:rPr lang="en-US" altLang="zh-TW" dirty="0">
                <a:solidFill>
                  <a:srgbClr val="0070C0"/>
                </a:solidFill>
              </a:rPr>
              <a:t> include seq # of pkt being </a:t>
            </a:r>
            <a:r>
              <a:rPr lang="en-US" altLang="zh-TW" dirty="0" err="1">
                <a:solidFill>
                  <a:srgbClr val="0070C0"/>
                </a:solidFill>
              </a:rPr>
              <a:t>ACKed</a:t>
            </a:r>
            <a:r>
              <a:rPr lang="en-US" altLang="zh-TW" dirty="0">
                <a:solidFill>
                  <a:srgbClr val="0070C0"/>
                </a:solidFill>
              </a:rPr>
              <a:t> </a:t>
            </a:r>
          </a:p>
          <a:p>
            <a:r>
              <a:rPr lang="en-US" altLang="zh-TW" dirty="0"/>
              <a:t>duplicate ACK at sender results in same action as NAK: </a:t>
            </a:r>
            <a:r>
              <a:rPr lang="en-US" altLang="zh-TW" i="1" dirty="0"/>
              <a:t>retransmit current pkt</a:t>
            </a: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Footer Placeholder 4">
            <a:extLst>
              <a:ext uri="{FF2B5EF4-FFF2-40B4-BE49-F238E27FC236}">
                <a16:creationId xmlns:a16="http://schemas.microsoft.com/office/drawing/2014/main" id="{10C62C35-8AE3-4CD0-A6E9-ED140265F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87043" name="Slide Number Placeholder 5">
            <a:extLst>
              <a:ext uri="{FF2B5EF4-FFF2-40B4-BE49-F238E27FC236}">
                <a16:creationId xmlns:a16="http://schemas.microsoft.com/office/drawing/2014/main" id="{51DF724F-9949-4EB2-9FBF-A88E0004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377D5723-A640-4007-A235-4DD22A429307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39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87044" name="Picture 40" descr="underline_base">
            <a:extLst>
              <a:ext uri="{FF2B5EF4-FFF2-40B4-BE49-F238E27FC236}">
                <a16:creationId xmlns:a16="http://schemas.microsoft.com/office/drawing/2014/main" id="{8ACAB599-5CE2-4430-A651-F572E822ECC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388" y="804863"/>
            <a:ext cx="6399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7893" name="Rectangle 2">
            <a:extLst>
              <a:ext uri="{FF2B5EF4-FFF2-40B4-BE49-F238E27FC236}">
                <a16:creationId xmlns:a16="http://schemas.microsoft.com/office/drawing/2014/main" id="{5865F0BB-FAD3-4D9A-B78C-1689CEA2D9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9263" y="174625"/>
            <a:ext cx="7772400" cy="8858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rdt2.2: sender, receiver fragments</a:t>
            </a:r>
          </a:p>
        </p:txBody>
      </p:sp>
      <p:grpSp>
        <p:nvGrpSpPr>
          <p:cNvPr id="87046" name="Group 3">
            <a:extLst>
              <a:ext uri="{FF2B5EF4-FFF2-40B4-BE49-F238E27FC236}">
                <a16:creationId xmlns:a16="http://schemas.microsoft.com/office/drawing/2014/main" id="{9BE6FABA-868F-48EC-98AC-99846E747C75}"/>
              </a:ext>
            </a:extLst>
          </p:cNvPr>
          <p:cNvGrpSpPr>
            <a:grpSpLocks/>
          </p:cNvGrpSpPr>
          <p:nvPr/>
        </p:nvGrpSpPr>
        <p:grpSpPr bwMode="auto">
          <a:xfrm>
            <a:off x="2427288" y="1238250"/>
            <a:ext cx="6508750" cy="2841625"/>
            <a:chOff x="1529" y="780"/>
            <a:chExt cx="4100" cy="1790"/>
          </a:xfrm>
        </p:grpSpPr>
        <p:grpSp>
          <p:nvGrpSpPr>
            <p:cNvPr id="87065" name="Group 4">
              <a:extLst>
                <a:ext uri="{FF2B5EF4-FFF2-40B4-BE49-F238E27FC236}">
                  <a16:creationId xmlns:a16="http://schemas.microsoft.com/office/drawing/2014/main" id="{29EF53B7-62B3-4A5B-8728-86260B9CF4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51" y="1399"/>
              <a:ext cx="669" cy="528"/>
              <a:chOff x="1441" y="2062"/>
              <a:chExt cx="669" cy="528"/>
            </a:xfrm>
          </p:grpSpPr>
          <p:sp>
            <p:nvSpPr>
              <p:cNvPr id="87082" name="Oval 5">
                <a:extLst>
                  <a:ext uri="{FF2B5EF4-FFF2-40B4-BE49-F238E27FC236}">
                    <a16:creationId xmlns:a16="http://schemas.microsoft.com/office/drawing/2014/main" id="{33C7E0AC-9C9B-4C6F-90B7-4C3DAAD863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83" y="2062"/>
                <a:ext cx="578" cy="528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87083" name="Text Box 6">
                <a:extLst>
                  <a:ext uri="{FF2B5EF4-FFF2-40B4-BE49-F238E27FC236}">
                    <a16:creationId xmlns:a16="http://schemas.microsoft.com/office/drawing/2014/main" id="{DA79849A-1CB5-4317-85C7-E9A00A8308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41" y="2110"/>
                <a:ext cx="669" cy="3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Wait for call 0 from above</a:t>
                </a:r>
                <a:endParaRPr lang="en-US" altLang="zh-TW" sz="1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87066" name="Text Box 7">
              <a:extLst>
                <a:ext uri="{FF2B5EF4-FFF2-40B4-BE49-F238E27FC236}">
                  <a16:creationId xmlns:a16="http://schemas.microsoft.com/office/drawing/2014/main" id="{2CEB1A04-F152-4F0C-B80D-EE6B161CBE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" y="957"/>
              <a:ext cx="234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sndpkt = make_pkt(0, data, checksum)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udt_send(sndpkt)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067" name="Text Box 8">
              <a:extLst>
                <a:ext uri="{FF2B5EF4-FFF2-40B4-BE49-F238E27FC236}">
                  <a16:creationId xmlns:a16="http://schemas.microsoft.com/office/drawing/2014/main" id="{C10513FC-7B7D-49AC-8BBE-8908B9DA3F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1" y="780"/>
              <a:ext cx="1086" cy="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rdt_send(data)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068" name="Line 9">
              <a:extLst>
                <a:ext uri="{FF2B5EF4-FFF2-40B4-BE49-F238E27FC236}">
                  <a16:creationId xmlns:a16="http://schemas.microsoft.com/office/drawing/2014/main" id="{506D4CE8-0259-4ED3-98C0-2D0D64E8F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0" y="992"/>
              <a:ext cx="2238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7069" name="Line 10">
              <a:extLst>
                <a:ext uri="{FF2B5EF4-FFF2-40B4-BE49-F238E27FC236}">
                  <a16:creationId xmlns:a16="http://schemas.microsoft.com/office/drawing/2014/main" id="{0CFD10DD-DEE1-4996-8977-2C259B81A7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9" y="1313"/>
              <a:ext cx="264" cy="145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7070" name="Freeform 11">
              <a:extLst>
                <a:ext uri="{FF2B5EF4-FFF2-40B4-BE49-F238E27FC236}">
                  <a16:creationId xmlns:a16="http://schemas.microsoft.com/office/drawing/2014/main" id="{3FEDE0EB-810D-4677-A982-1B0BC1369D9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096" y="1272"/>
              <a:ext cx="1195" cy="130"/>
            </a:xfrm>
            <a:custGeom>
              <a:avLst/>
              <a:gdLst>
                <a:gd name="T0" fmla="*/ 0 w 2835"/>
                <a:gd name="T1" fmla="*/ 0 h 525"/>
                <a:gd name="T2" fmla="*/ 0 w 2835"/>
                <a:gd name="T3" fmla="*/ 0 h 525"/>
                <a:gd name="T4" fmla="*/ 0 60000 65536"/>
                <a:gd name="T5" fmla="*/ 0 60000 65536"/>
                <a:gd name="T6" fmla="*/ 0 w 2835"/>
                <a:gd name="T7" fmla="*/ 0 h 525"/>
                <a:gd name="T8" fmla="*/ 2835 w 2835"/>
                <a:gd name="T9" fmla="*/ 525 h 52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835" h="525">
                  <a:moveTo>
                    <a:pt x="0" y="0"/>
                  </a:moveTo>
                  <a:cubicBezTo>
                    <a:pt x="60" y="525"/>
                    <a:pt x="2835" y="495"/>
                    <a:pt x="2835" y="0"/>
                  </a:cubicBezTo>
                </a:path>
              </a:pathLst>
            </a:custGeom>
            <a:noFill/>
            <a:ln w="19050" cmpd="sng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7071" name="Freeform 12">
              <a:extLst>
                <a:ext uri="{FF2B5EF4-FFF2-40B4-BE49-F238E27FC236}">
                  <a16:creationId xmlns:a16="http://schemas.microsoft.com/office/drawing/2014/main" id="{DE0B821B-C252-4B44-B3D4-EF89B4376E89}"/>
                </a:ext>
              </a:extLst>
            </p:cNvPr>
            <p:cNvSpPr>
              <a:spLocks/>
            </p:cNvSpPr>
            <p:nvPr/>
          </p:nvSpPr>
          <p:spPr bwMode="auto">
            <a:xfrm rot="-1357180">
              <a:off x="3655" y="1225"/>
              <a:ext cx="285" cy="542"/>
            </a:xfrm>
            <a:custGeom>
              <a:avLst/>
              <a:gdLst>
                <a:gd name="T0" fmla="*/ 0 w 735"/>
                <a:gd name="T1" fmla="*/ 1 h 1080"/>
                <a:gd name="T2" fmla="*/ 0 w 735"/>
                <a:gd name="T3" fmla="*/ 1 h 1080"/>
                <a:gd name="T4" fmla="*/ 0 60000 65536"/>
                <a:gd name="T5" fmla="*/ 0 60000 65536"/>
                <a:gd name="T6" fmla="*/ 0 w 735"/>
                <a:gd name="T7" fmla="*/ 0 h 1080"/>
                <a:gd name="T8" fmla="*/ 735 w 735"/>
                <a:gd name="T9" fmla="*/ 1080 h 108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735" h="1080">
                  <a:moveTo>
                    <a:pt x="0" y="195"/>
                  </a:moveTo>
                  <a:cubicBezTo>
                    <a:pt x="690" y="0"/>
                    <a:pt x="735" y="1080"/>
                    <a:pt x="0" y="855"/>
                  </a:cubicBezTo>
                </a:path>
              </a:pathLst>
            </a:custGeom>
            <a:noFill/>
            <a:ln w="19050" cmpd="sng">
              <a:solidFill>
                <a:srgbClr val="0000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7072" name="Text Box 13">
              <a:extLst>
                <a:ext uri="{FF2B5EF4-FFF2-40B4-BE49-F238E27FC236}">
                  <a16:creationId xmlns:a16="http://schemas.microsoft.com/office/drawing/2014/main" id="{813349CD-30A1-446F-83E7-07D6AB8462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8" y="1670"/>
              <a:ext cx="133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udt_send(sndpkt)</a:t>
              </a:r>
              <a:endParaRPr lang="en-US" altLang="zh-TW" sz="1600">
                <a:latin typeface="Times New Roman" panose="02020603050405020304" pitchFamily="18" charset="0"/>
              </a:endParaRPr>
            </a:p>
          </p:txBody>
        </p:sp>
        <p:sp>
          <p:nvSpPr>
            <p:cNvPr id="87073" name="Text Box 14">
              <a:extLst>
                <a:ext uri="{FF2B5EF4-FFF2-40B4-BE49-F238E27FC236}">
                  <a16:creationId xmlns:a16="http://schemas.microsoft.com/office/drawing/2014/main" id="{EDACBE54-6E02-4482-9193-13EF3FB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17" y="1174"/>
              <a:ext cx="1712" cy="3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 err="1">
                  <a:solidFill>
                    <a:srgbClr val="000000"/>
                  </a:solidFill>
                  <a:latin typeface="Arial" panose="020B0604020202020204" pitchFamily="34" charset="0"/>
                </a:rPr>
                <a:t>rdt_rcv</a:t>
              </a: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(</a:t>
              </a:r>
              <a:r>
                <a:rPr lang="en-US" altLang="zh-TW" sz="1600" dirty="0" err="1">
                  <a:solidFill>
                    <a:srgbClr val="000000"/>
                  </a:solidFill>
                  <a:latin typeface="Arial" panose="020B0604020202020204" pitchFamily="34" charset="0"/>
                </a:rPr>
                <a:t>rcvpkt</a:t>
              </a: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) &amp;&amp; 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( corrupt(</a:t>
              </a:r>
              <a:r>
                <a:rPr lang="en-US" altLang="zh-TW" sz="1600" dirty="0" err="1">
                  <a:solidFill>
                    <a:srgbClr val="000000"/>
                  </a:solidFill>
                  <a:latin typeface="Arial" panose="020B0604020202020204" pitchFamily="34" charset="0"/>
                </a:rPr>
                <a:t>rcvpkt</a:t>
              </a: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) ||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  </a:t>
              </a:r>
              <a:r>
                <a:rPr lang="en-US" altLang="zh-TW" sz="1600" b="1" dirty="0" err="1">
                  <a:solidFill>
                    <a:srgbClr val="FF0000"/>
                  </a:solidFill>
                  <a:latin typeface="Arial" panose="020B0604020202020204" pitchFamily="34" charset="0"/>
                </a:rPr>
                <a:t>isACK</a:t>
              </a:r>
              <a:r>
                <a:rPr lang="en-US" altLang="zh-TW" sz="1600" b="1" dirty="0">
                  <a:solidFill>
                    <a:srgbClr val="FF0000"/>
                  </a:solidFill>
                  <a:latin typeface="Arial" panose="020B0604020202020204" pitchFamily="34" charset="0"/>
                </a:rPr>
                <a:t>(rcvpkt,1)</a:t>
              </a: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 )</a:t>
              </a:r>
              <a:endParaRPr lang="en-US" altLang="zh-TW" sz="1600" dirty="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074" name="Line 15">
              <a:extLst>
                <a:ext uri="{FF2B5EF4-FFF2-40B4-BE49-F238E27FC236}">
                  <a16:creationId xmlns:a16="http://schemas.microsoft.com/office/drawing/2014/main" id="{4EAD8A75-422D-400B-B9CC-4B863345D7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3" y="1666"/>
              <a:ext cx="895" cy="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7075" name="Freeform 16">
              <a:extLst>
                <a:ext uri="{FF2B5EF4-FFF2-40B4-BE49-F238E27FC236}">
                  <a16:creationId xmlns:a16="http://schemas.microsoft.com/office/drawing/2014/main" id="{78D76EDC-8303-4051-AC06-6F614CDCA8CB}"/>
                </a:ext>
              </a:extLst>
            </p:cNvPr>
            <p:cNvSpPr>
              <a:spLocks/>
            </p:cNvSpPr>
            <p:nvPr/>
          </p:nvSpPr>
          <p:spPr bwMode="auto">
            <a:xfrm>
              <a:off x="3747" y="1792"/>
              <a:ext cx="128" cy="774"/>
            </a:xfrm>
            <a:custGeom>
              <a:avLst/>
              <a:gdLst>
                <a:gd name="T0" fmla="*/ 67 w 128"/>
                <a:gd name="T1" fmla="*/ 774 h 774"/>
                <a:gd name="T2" fmla="*/ 0 w 128"/>
                <a:gd name="T3" fmla="*/ 0 h 774"/>
                <a:gd name="T4" fmla="*/ 0 60000 65536"/>
                <a:gd name="T5" fmla="*/ 0 60000 65536"/>
                <a:gd name="T6" fmla="*/ 0 w 128"/>
                <a:gd name="T7" fmla="*/ 0 h 774"/>
                <a:gd name="T8" fmla="*/ 128 w 128"/>
                <a:gd name="T9" fmla="*/ 774 h 7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28" h="774">
                  <a:moveTo>
                    <a:pt x="67" y="774"/>
                  </a:moveTo>
                  <a:cubicBezTo>
                    <a:pt x="128" y="425"/>
                    <a:pt x="81" y="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000000"/>
              </a:solidFill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7076" name="Text Box 17">
              <a:extLst>
                <a:ext uri="{FF2B5EF4-FFF2-40B4-BE49-F238E27FC236}">
                  <a16:creationId xmlns:a16="http://schemas.microsoft.com/office/drawing/2014/main" id="{70E952FA-10A3-4320-9869-C8198E40D2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8" y="2051"/>
              <a:ext cx="1520" cy="3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 err="1">
                  <a:solidFill>
                    <a:srgbClr val="000000"/>
                  </a:solidFill>
                  <a:latin typeface="Arial" panose="020B0604020202020204" pitchFamily="34" charset="0"/>
                </a:rPr>
                <a:t>rdt_rcv</a:t>
              </a: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(</a:t>
              </a:r>
              <a:r>
                <a:rPr lang="en-US" altLang="zh-TW" sz="1600" dirty="0" err="1">
                  <a:solidFill>
                    <a:srgbClr val="000000"/>
                  </a:solidFill>
                  <a:latin typeface="Arial" panose="020B0604020202020204" pitchFamily="34" charset="0"/>
                </a:rPr>
                <a:t>rcvpkt</a:t>
              </a: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)  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&amp;&amp; </a:t>
              </a:r>
              <a:r>
                <a:rPr lang="en-US" altLang="zh-TW" sz="1600" dirty="0" err="1">
                  <a:solidFill>
                    <a:srgbClr val="000000"/>
                  </a:solidFill>
                  <a:latin typeface="Arial" panose="020B0604020202020204" pitchFamily="34" charset="0"/>
                </a:rPr>
                <a:t>notcorrupt</a:t>
              </a: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(</a:t>
              </a:r>
              <a:r>
                <a:rPr lang="en-US" altLang="zh-TW" sz="1600" dirty="0" err="1">
                  <a:solidFill>
                    <a:srgbClr val="000000"/>
                  </a:solidFill>
                  <a:latin typeface="Arial" panose="020B0604020202020204" pitchFamily="34" charset="0"/>
                </a:rPr>
                <a:t>rcvpkt</a:t>
              </a: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)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solidFill>
                    <a:srgbClr val="000000"/>
                  </a:solidFill>
                  <a:latin typeface="Arial" panose="020B0604020202020204" pitchFamily="34" charset="0"/>
                </a:rPr>
                <a:t>&amp;&amp; </a:t>
              </a:r>
              <a:r>
                <a:rPr lang="en-US" altLang="zh-TW" sz="1600" b="1" dirty="0" err="1">
                  <a:solidFill>
                    <a:srgbClr val="FF0000"/>
                  </a:solidFill>
                  <a:latin typeface="Arial" panose="020B0604020202020204" pitchFamily="34" charset="0"/>
                </a:rPr>
                <a:t>isACK</a:t>
              </a:r>
              <a:r>
                <a:rPr lang="en-US" altLang="zh-TW" sz="1600" b="1" dirty="0">
                  <a:solidFill>
                    <a:srgbClr val="FF0000"/>
                  </a:solidFill>
                  <a:latin typeface="Arial" panose="020B0604020202020204" pitchFamily="34" charset="0"/>
                </a:rPr>
                <a:t>(rcvpkt,0)</a:t>
              </a:r>
              <a:r>
                <a:rPr lang="en-US" altLang="zh-TW" sz="1000" dirty="0">
                  <a:solidFill>
                    <a:srgbClr val="000000"/>
                  </a:solidFill>
                  <a:latin typeface="Arial" panose="020B0604020202020204" pitchFamily="34" charset="0"/>
                </a:rPr>
                <a:t> </a:t>
              </a:r>
              <a:endParaRPr lang="en-US" altLang="zh-TW" sz="2400" dirty="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077" name="Line 18">
              <a:extLst>
                <a:ext uri="{FF2B5EF4-FFF2-40B4-BE49-F238E27FC236}">
                  <a16:creationId xmlns:a16="http://schemas.microsoft.com/office/drawing/2014/main" id="{D847A02E-BB1E-4BA1-A498-F76CCDC664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94" y="2570"/>
              <a:ext cx="1174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87078" name="Group 19">
              <a:extLst>
                <a:ext uri="{FF2B5EF4-FFF2-40B4-BE49-F238E27FC236}">
                  <a16:creationId xmlns:a16="http://schemas.microsoft.com/office/drawing/2014/main" id="{2C2D937F-E7AD-4375-BDE0-FE37B090FF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35" y="1365"/>
              <a:ext cx="669" cy="528"/>
              <a:chOff x="1441" y="2062"/>
              <a:chExt cx="669" cy="528"/>
            </a:xfrm>
          </p:grpSpPr>
          <p:sp>
            <p:nvSpPr>
              <p:cNvPr id="87080" name="Oval 20">
                <a:extLst>
                  <a:ext uri="{FF2B5EF4-FFF2-40B4-BE49-F238E27FC236}">
                    <a16:creationId xmlns:a16="http://schemas.microsoft.com/office/drawing/2014/main" id="{DAE622C9-E2AA-4D29-A701-ECEA7AE2B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83" y="2062"/>
                <a:ext cx="578" cy="528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87081" name="Text Box 21">
                <a:extLst>
                  <a:ext uri="{FF2B5EF4-FFF2-40B4-BE49-F238E27FC236}">
                    <a16:creationId xmlns:a16="http://schemas.microsoft.com/office/drawing/2014/main" id="{FB3695A4-0A06-4AA8-839F-91642217F4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41" y="2110"/>
                <a:ext cx="669" cy="3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Wait for ACK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0</a:t>
                </a:r>
                <a:endParaRPr lang="en-US" altLang="zh-TW" sz="1400">
                  <a:solidFill>
                    <a:srgbClr val="000000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87079" name="Text Box 22">
              <a:extLst>
                <a:ext uri="{FF2B5EF4-FFF2-40B4-BE49-F238E27FC236}">
                  <a16:creationId xmlns:a16="http://schemas.microsoft.com/office/drawing/2014/main" id="{0FBCE4AB-E938-4EDE-A92E-ADB6C72CDA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63" y="1810"/>
              <a:ext cx="935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u="sng">
                  <a:solidFill>
                    <a:srgbClr val="000099"/>
                  </a:solidFill>
                  <a:latin typeface="Tahoma" panose="020B0604030504040204" pitchFamily="34" charset="0"/>
                </a:rPr>
                <a:t>sender</a:t>
              </a:r>
              <a:r>
                <a:rPr lang="en-US" altLang="zh-TW" sz="2000">
                  <a:solidFill>
                    <a:srgbClr val="000099"/>
                  </a:solidFill>
                  <a:latin typeface="Tahoma" panose="020B0604030504040204" pitchFamily="34" charset="0"/>
                </a:rPr>
                <a:t> FSM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Tahoma" panose="020B0604030504040204" pitchFamily="34" charset="0"/>
                </a:rPr>
                <a:t>fragment</a:t>
              </a:r>
            </a:p>
          </p:txBody>
        </p:sp>
      </p:grpSp>
      <p:sp>
        <p:nvSpPr>
          <p:cNvPr id="87047" name="Line 23">
            <a:extLst>
              <a:ext uri="{FF2B5EF4-FFF2-40B4-BE49-F238E27FC236}">
                <a16:creationId xmlns:a16="http://schemas.microsoft.com/office/drawing/2014/main" id="{B3183946-6514-408D-96F5-61B59E6812A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163" y="2603500"/>
            <a:ext cx="7883525" cy="27574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5" name="Group 24">
            <a:extLst>
              <a:ext uri="{FF2B5EF4-FFF2-40B4-BE49-F238E27FC236}">
                <a16:creationId xmlns:a16="http://schemas.microsoft.com/office/drawing/2014/main" id="{9DE663AE-F26A-41E2-B923-ED71EF86AB7E}"/>
              </a:ext>
            </a:extLst>
          </p:cNvPr>
          <p:cNvGrpSpPr>
            <a:grpSpLocks/>
          </p:cNvGrpSpPr>
          <p:nvPr/>
        </p:nvGrpSpPr>
        <p:grpSpPr bwMode="auto">
          <a:xfrm>
            <a:off x="0" y="3824288"/>
            <a:ext cx="7234238" cy="2535237"/>
            <a:chOff x="0" y="2409"/>
            <a:chExt cx="4557" cy="1597"/>
          </a:xfrm>
        </p:grpSpPr>
        <p:sp>
          <p:nvSpPr>
            <p:cNvPr id="87050" name="Text Box 25">
              <a:extLst>
                <a:ext uri="{FF2B5EF4-FFF2-40B4-BE49-F238E27FC236}">
                  <a16:creationId xmlns:a16="http://schemas.microsoft.com/office/drawing/2014/main" id="{25F71DAA-5063-4A75-97B6-FDB9424000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9" y="3217"/>
              <a:ext cx="2482" cy="3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rdt_rcv(rcvpkt) &amp;&amp; notcorrupt(rcvpkt)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  &amp;&amp; has_</a:t>
              </a:r>
              <a:r>
                <a:rPr lang="en-US" altLang="zh-TW" sz="1600">
                  <a:solidFill>
                    <a:srgbClr val="7030A0"/>
                  </a:solidFill>
                  <a:latin typeface="Arial" panose="020B0604020202020204" pitchFamily="34" charset="0"/>
                </a:rPr>
                <a:t>seq1</a:t>
              </a: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(rcvpkt) 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051" name="Text Box 26">
              <a:extLst>
                <a:ext uri="{FF2B5EF4-FFF2-40B4-BE49-F238E27FC236}">
                  <a16:creationId xmlns:a16="http://schemas.microsoft.com/office/drawing/2014/main" id="{BDFED429-2956-4DC9-892F-15D6523220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9" y="3568"/>
              <a:ext cx="2630" cy="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extract(rcvpkt,data)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deliver_data(data)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sndpkt = make_pkt(</a:t>
              </a:r>
              <a:r>
                <a:rPr lang="en-US" altLang="zh-TW" sz="1600">
                  <a:solidFill>
                    <a:srgbClr val="7030A0"/>
                  </a:solidFill>
                  <a:latin typeface="Arial" panose="020B0604020202020204" pitchFamily="34" charset="0"/>
                </a:rPr>
                <a:t>ACK1</a:t>
              </a:r>
              <a:r>
                <a:rPr lang="en-US" altLang="zh-TW" sz="1600">
                  <a:latin typeface="Arial" panose="020B0604020202020204" pitchFamily="34" charset="0"/>
                </a:rPr>
                <a:t>, chksum)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udt_send(sndpkt)</a:t>
              </a:r>
              <a:endParaRPr lang="en-US" altLang="zh-TW" sz="16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grpSp>
          <p:nvGrpSpPr>
            <p:cNvPr id="87052" name="Group 27">
              <a:extLst>
                <a:ext uri="{FF2B5EF4-FFF2-40B4-BE49-F238E27FC236}">
                  <a16:creationId xmlns:a16="http://schemas.microsoft.com/office/drawing/2014/main" id="{150B8282-88B9-4784-A157-6C4F9658E0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2409"/>
              <a:ext cx="3510" cy="1316"/>
              <a:chOff x="0" y="2409"/>
              <a:chExt cx="3510" cy="1316"/>
            </a:xfrm>
          </p:grpSpPr>
          <p:grpSp>
            <p:nvGrpSpPr>
              <p:cNvPr id="87054" name="Group 28">
                <a:extLst>
                  <a:ext uri="{FF2B5EF4-FFF2-40B4-BE49-F238E27FC236}">
                    <a16:creationId xmlns:a16="http://schemas.microsoft.com/office/drawing/2014/main" id="{DA00A9E0-3CBA-4882-93F1-424201EFE7E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29" y="2687"/>
                <a:ext cx="534" cy="501"/>
                <a:chOff x="3570" y="3063"/>
                <a:chExt cx="534" cy="501"/>
              </a:xfrm>
            </p:grpSpPr>
            <p:sp>
              <p:nvSpPr>
                <p:cNvPr id="87063" name="Oval 29">
                  <a:extLst>
                    <a:ext uri="{FF2B5EF4-FFF2-40B4-BE49-F238E27FC236}">
                      <a16:creationId xmlns:a16="http://schemas.microsoft.com/office/drawing/2014/main" id="{5003F904-660F-4822-80AA-FE71E0138F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570" y="3063"/>
                  <a:ext cx="534" cy="501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solidFill>
                      <a:srgbClr val="000000"/>
                    </a:solidFill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064" name="Text Box 30">
                  <a:extLst>
                    <a:ext uri="{FF2B5EF4-FFF2-40B4-BE49-F238E27FC236}">
                      <a16:creationId xmlns:a16="http://schemas.microsoft.com/office/drawing/2014/main" id="{293F81CC-4644-40E9-9237-9295480465C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97" y="3085"/>
                  <a:ext cx="504" cy="3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TW" sz="1400">
                      <a:solidFill>
                        <a:srgbClr val="000000"/>
                      </a:solidFill>
                      <a:latin typeface="Arial" panose="020B0604020202020204" pitchFamily="34" charset="0"/>
                    </a:rPr>
                    <a:t>Wait for </a:t>
                  </a:r>
                </a:p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TW" sz="1400">
                      <a:solidFill>
                        <a:srgbClr val="000000"/>
                      </a:solidFill>
                      <a:latin typeface="Arial" panose="020B0604020202020204" pitchFamily="34" charset="0"/>
                    </a:rPr>
                    <a:t>0 from below</a:t>
                  </a:r>
                  <a:endParaRPr lang="en-US" altLang="zh-TW" sz="1400">
                    <a:solidFill>
                      <a:srgbClr val="000000"/>
                    </a:solidFill>
                    <a:latin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7055" name="Freeform 31">
                <a:extLst>
                  <a:ext uri="{FF2B5EF4-FFF2-40B4-BE49-F238E27FC236}">
                    <a16:creationId xmlns:a16="http://schemas.microsoft.com/office/drawing/2014/main" id="{E12457F6-C54B-4BB9-B3E5-E75A300137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925" y="2618"/>
                <a:ext cx="520" cy="117"/>
              </a:xfrm>
              <a:custGeom>
                <a:avLst/>
                <a:gdLst>
                  <a:gd name="T0" fmla="*/ 0 w 520"/>
                  <a:gd name="T1" fmla="*/ 117 h 117"/>
                  <a:gd name="T2" fmla="*/ 520 w 520"/>
                  <a:gd name="T3" fmla="*/ 17 h 117"/>
                  <a:gd name="T4" fmla="*/ 0 60000 65536"/>
                  <a:gd name="T5" fmla="*/ 0 60000 65536"/>
                  <a:gd name="T6" fmla="*/ 0 w 520"/>
                  <a:gd name="T7" fmla="*/ 0 h 117"/>
                  <a:gd name="T8" fmla="*/ 520 w 520"/>
                  <a:gd name="T9" fmla="*/ 117 h 117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520" h="117">
                    <a:moveTo>
                      <a:pt x="0" y="117"/>
                    </a:moveTo>
                    <a:cubicBezTo>
                      <a:pt x="136" y="17"/>
                      <a:pt x="276" y="0"/>
                      <a:pt x="520" y="17"/>
                    </a:cubicBez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 type="non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7056" name="Freeform 32">
                <a:extLst>
                  <a:ext uri="{FF2B5EF4-FFF2-40B4-BE49-F238E27FC236}">
                    <a16:creationId xmlns:a16="http://schemas.microsoft.com/office/drawing/2014/main" id="{C2B226B0-DC83-4DA5-B470-42590B61CA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996" y="3125"/>
                <a:ext cx="1514" cy="130"/>
              </a:xfrm>
              <a:custGeom>
                <a:avLst/>
                <a:gdLst>
                  <a:gd name="T0" fmla="*/ 0 w 1514"/>
                  <a:gd name="T1" fmla="*/ 0 h 130"/>
                  <a:gd name="T2" fmla="*/ 1514 w 1514"/>
                  <a:gd name="T3" fmla="*/ 17 h 130"/>
                  <a:gd name="T4" fmla="*/ 0 60000 65536"/>
                  <a:gd name="T5" fmla="*/ 0 60000 65536"/>
                  <a:gd name="T6" fmla="*/ 0 w 1514"/>
                  <a:gd name="T7" fmla="*/ 0 h 130"/>
                  <a:gd name="T8" fmla="*/ 1514 w 1514"/>
                  <a:gd name="T9" fmla="*/ 130 h 13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1514" h="130">
                    <a:moveTo>
                      <a:pt x="0" y="0"/>
                    </a:moveTo>
                    <a:cubicBezTo>
                      <a:pt x="266" y="130"/>
                      <a:pt x="1322" y="113"/>
                      <a:pt x="1514" y="17"/>
                    </a:cubicBez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 type="triangle" w="med" len="med"/>
                <a:tailEnd type="non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7057" name="Line 33">
                <a:extLst>
                  <a:ext uri="{FF2B5EF4-FFF2-40B4-BE49-F238E27FC236}">
                    <a16:creationId xmlns:a16="http://schemas.microsoft.com/office/drawing/2014/main" id="{C7D3D9C7-7D66-4E81-A0B1-645CDE249E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19" y="3577"/>
                <a:ext cx="1206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7058" name="Freeform 34">
                <a:extLst>
                  <a:ext uri="{FF2B5EF4-FFF2-40B4-BE49-F238E27FC236}">
                    <a16:creationId xmlns:a16="http://schemas.microsoft.com/office/drawing/2014/main" id="{3D112B71-BA38-4AA6-AE1A-830EEC9ECB94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1237" y="2468"/>
                <a:ext cx="309" cy="856"/>
              </a:xfrm>
              <a:custGeom>
                <a:avLst/>
                <a:gdLst>
                  <a:gd name="T0" fmla="*/ 0 w 619"/>
                  <a:gd name="T1" fmla="*/ 0 h 1815"/>
                  <a:gd name="T2" fmla="*/ 0 w 619"/>
                  <a:gd name="T3" fmla="*/ 0 h 1815"/>
                  <a:gd name="T4" fmla="*/ 0 60000 65536"/>
                  <a:gd name="T5" fmla="*/ 0 60000 65536"/>
                  <a:gd name="T6" fmla="*/ 0 w 619"/>
                  <a:gd name="T7" fmla="*/ 0 h 1815"/>
                  <a:gd name="T8" fmla="*/ 619 w 619"/>
                  <a:gd name="T9" fmla="*/ 1815 h 1815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619" h="1815">
                    <a:moveTo>
                      <a:pt x="39" y="1136"/>
                    </a:moveTo>
                    <a:cubicBezTo>
                      <a:pt x="619" y="1815"/>
                      <a:pt x="484" y="0"/>
                      <a:pt x="0" y="773"/>
                    </a:cubicBez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 type="non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7059" name="Line 35">
                <a:extLst>
                  <a:ext uri="{FF2B5EF4-FFF2-40B4-BE49-F238E27FC236}">
                    <a16:creationId xmlns:a16="http://schemas.microsoft.com/office/drawing/2014/main" id="{25AE4615-6BEB-459B-9E82-B324076DCF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" y="2936"/>
                <a:ext cx="1212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7060" name="Text Box 36">
                <a:extLst>
                  <a:ext uri="{FF2B5EF4-FFF2-40B4-BE49-F238E27FC236}">
                    <a16:creationId xmlns:a16="http://schemas.microsoft.com/office/drawing/2014/main" id="{28D97D84-D828-4A8A-A64C-0EBF32E20A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" y="2409"/>
                <a:ext cx="1487" cy="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rgbClr val="000000"/>
                    </a:solidFill>
                    <a:latin typeface="Arial" panose="020B0604020202020204" pitchFamily="34" charset="0"/>
                  </a:rPr>
                  <a:t>rdt_rcv(rcvpkt) &amp;&amp; 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rgbClr val="000000"/>
                    </a:solidFill>
                    <a:latin typeface="Arial" panose="020B0604020202020204" pitchFamily="34" charset="0"/>
                  </a:rPr>
                  <a:t>   (corrupt(rcvpkt) ||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rgbClr val="000000"/>
                    </a:solidFill>
                    <a:latin typeface="Arial" panose="020B0604020202020204" pitchFamily="34" charset="0"/>
                  </a:rPr>
                  <a:t>     </a:t>
                </a:r>
                <a:r>
                  <a:rPr lang="en-US" altLang="zh-TW" sz="1600">
                    <a:latin typeface="Arial" panose="020B0604020202020204" pitchFamily="34" charset="0"/>
                  </a:rPr>
                  <a:t>has_</a:t>
                </a:r>
                <a:r>
                  <a:rPr lang="en-US" altLang="zh-TW" sz="1600">
                    <a:solidFill>
                      <a:srgbClr val="0070C0"/>
                    </a:solidFill>
                    <a:latin typeface="Arial" panose="020B0604020202020204" pitchFamily="34" charset="0"/>
                  </a:rPr>
                  <a:t>seq1</a:t>
                </a:r>
                <a:r>
                  <a:rPr lang="en-US" altLang="zh-TW" sz="1600">
                    <a:latin typeface="Arial" panose="020B0604020202020204" pitchFamily="34" charset="0"/>
                  </a:rPr>
                  <a:t>(rcvpkt))</a:t>
                </a:r>
                <a:endParaRPr lang="en-US" altLang="zh-TW" sz="16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7061" name="Text Box 37">
                <a:extLst>
                  <a:ext uri="{FF2B5EF4-FFF2-40B4-BE49-F238E27FC236}">
                    <a16:creationId xmlns:a16="http://schemas.microsoft.com/office/drawing/2014/main" id="{2E36E03F-0967-4F94-8453-ED22806FD75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0" y="3056"/>
                <a:ext cx="1551" cy="6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sndpkt=make_pkt(</a:t>
                </a:r>
                <a:r>
                  <a:rPr lang="en-US" altLang="zh-TW" sz="1600">
                    <a:solidFill>
                      <a:srgbClr val="0070C0"/>
                    </a:solidFill>
                    <a:latin typeface="Tahoma" panose="020B0604030504040204" pitchFamily="34" charset="0"/>
                  </a:rPr>
                  <a:t>ACK1</a:t>
                </a:r>
                <a:r>
                  <a:rPr lang="en-US" altLang="zh-TW" sz="1600">
                    <a:latin typeface="Tahoma" panose="020B0604030504040204" pitchFamily="34" charset="0"/>
                  </a:rPr>
                  <a:t>,chksum)</a:t>
                </a:r>
                <a:endParaRPr lang="en-US" altLang="zh-TW" sz="1600">
                  <a:latin typeface="Arial" panose="020B0604020202020204" pitchFamily="34" charset="0"/>
                </a:endParaRP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udt_send(sndpkt)</a:t>
                </a:r>
                <a:endParaRPr lang="en-US" altLang="zh-TW" sz="16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7062" name="Text Box 38">
                <a:extLst>
                  <a:ext uri="{FF2B5EF4-FFF2-40B4-BE49-F238E27FC236}">
                    <a16:creationId xmlns:a16="http://schemas.microsoft.com/office/drawing/2014/main" id="{35FC4461-9DE8-43F8-BAC9-1E37FDA9D2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66" y="2709"/>
                <a:ext cx="1020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 u="sng">
                    <a:solidFill>
                      <a:srgbClr val="000099"/>
                    </a:solidFill>
                    <a:latin typeface="Tahoma" panose="020B0604030504040204" pitchFamily="34" charset="0"/>
                  </a:rPr>
                  <a:t>receiver</a:t>
                </a:r>
                <a:r>
                  <a:rPr lang="en-US" altLang="zh-TW" sz="2000">
                    <a:solidFill>
                      <a:srgbClr val="000099"/>
                    </a:solidFill>
                    <a:latin typeface="Tahoma" panose="020B0604030504040204" pitchFamily="34" charset="0"/>
                  </a:rPr>
                  <a:t> FSM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solidFill>
                      <a:srgbClr val="000099"/>
                    </a:solidFill>
                    <a:latin typeface="Tahoma" panose="020B0604030504040204" pitchFamily="34" charset="0"/>
                  </a:rPr>
                  <a:t>fragment</a:t>
                </a:r>
              </a:p>
            </p:txBody>
          </p:sp>
        </p:grpSp>
        <p:sp>
          <p:nvSpPr>
            <p:cNvPr id="87053" name="Text Box 39">
              <a:extLst>
                <a:ext uri="{FF2B5EF4-FFF2-40B4-BE49-F238E27FC236}">
                  <a16:creationId xmlns:a16="http://schemas.microsoft.com/office/drawing/2014/main" id="{BF558F2F-B2E5-40AA-B7FF-06B3B8C5E5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18" y="2585"/>
              <a:ext cx="23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Symbol" panose="05050102010706020507" pitchFamily="18" charset="2"/>
                </a:rPr>
                <a:t>L</a:t>
              </a:r>
            </a:p>
          </p:txBody>
        </p:sp>
      </p:grpSp>
      <p:sp>
        <p:nvSpPr>
          <p:cNvPr id="87049" name="矩形 42">
            <a:extLst>
              <a:ext uri="{FF2B5EF4-FFF2-40B4-BE49-F238E27FC236}">
                <a16:creationId xmlns:a16="http://schemas.microsoft.com/office/drawing/2014/main" id="{1C7823CF-2A12-4FC4-924D-E2B11E345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1188" y="923925"/>
            <a:ext cx="2182812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FF0000"/>
                </a:solidFill>
                <a:latin typeface="Tahoma" panose="020B0604030504040204" pitchFamily="34" charset="0"/>
              </a:rPr>
              <a:t>instead of NAK, receiver sends ACK for last pkt received OK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Footer Placeholder 5">
            <a:extLst>
              <a:ext uri="{FF2B5EF4-FFF2-40B4-BE49-F238E27FC236}">
                <a16:creationId xmlns:a16="http://schemas.microsoft.com/office/drawing/2014/main" id="{E34F3082-776C-4991-B0DC-2C86A1B6B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88067" name="Slide Number Placeholder 6">
            <a:extLst>
              <a:ext uri="{FF2B5EF4-FFF2-40B4-BE49-F238E27FC236}">
                <a16:creationId xmlns:a16="http://schemas.microsoft.com/office/drawing/2014/main" id="{905C5436-744F-417E-A3D4-765971E8D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6D9E7B4C-3BF1-4866-AE96-FAA7DC3D2BF1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40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88068" name="Rectangle 2">
            <a:extLst>
              <a:ext uri="{FF2B5EF4-FFF2-40B4-BE49-F238E27FC236}">
                <a16:creationId xmlns:a16="http://schemas.microsoft.com/office/drawing/2014/main" id="{6147EC03-D15C-4776-A1E7-3796829A98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63" y="219075"/>
            <a:ext cx="7772400" cy="963613"/>
          </a:xfrm>
        </p:spPr>
        <p:txBody>
          <a:bodyPr/>
          <a:lstStyle/>
          <a:p>
            <a:r>
              <a:rPr lang="en-US" altLang="zh-TW" sz="3600"/>
              <a:t>rdt3.0: channels with errors </a:t>
            </a:r>
            <a:r>
              <a:rPr lang="en-US" altLang="zh-TW" sz="3600" i="1">
                <a:solidFill>
                  <a:srgbClr val="FF0000"/>
                </a:solidFill>
              </a:rPr>
              <a:t>and</a:t>
            </a:r>
            <a:r>
              <a:rPr lang="en-US" altLang="zh-TW" sz="3600">
                <a:solidFill>
                  <a:srgbClr val="FF0000"/>
                </a:solidFill>
              </a:rPr>
              <a:t> loss</a:t>
            </a:r>
            <a:endParaRPr lang="en-US" altLang="zh-TW">
              <a:solidFill>
                <a:srgbClr val="FF0000"/>
              </a:solidFill>
            </a:endParaRPr>
          </a:p>
        </p:txBody>
      </p:sp>
      <p:sp>
        <p:nvSpPr>
          <p:cNvPr id="88069" name="Rectangle 3">
            <a:extLst>
              <a:ext uri="{FF2B5EF4-FFF2-40B4-BE49-F238E27FC236}">
                <a16:creationId xmlns:a16="http://schemas.microsoft.com/office/drawing/2014/main" id="{3DCBDE85-3A07-4733-A2CC-8D68B63EDBC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u="sng" dirty="0">
                <a:solidFill>
                  <a:srgbClr val="CC0000"/>
                </a:solidFill>
              </a:rPr>
              <a:t>new assumption:</a:t>
            </a:r>
            <a:r>
              <a:rPr lang="en-US" altLang="zh-TW" dirty="0"/>
              <a:t> underlying channel can also </a:t>
            </a:r>
            <a:r>
              <a:rPr lang="en-US" altLang="zh-TW" dirty="0">
                <a:solidFill>
                  <a:srgbClr val="FF0000"/>
                </a:solidFill>
              </a:rPr>
              <a:t>lose packets </a:t>
            </a:r>
            <a:r>
              <a:rPr lang="en-US" altLang="zh-TW" dirty="0"/>
              <a:t>(data, ACKs)</a:t>
            </a:r>
          </a:p>
          <a:p>
            <a:pPr lvl="1">
              <a:lnSpc>
                <a:spcPct val="90000"/>
              </a:lnSpc>
            </a:pPr>
            <a:r>
              <a:rPr lang="en-US" altLang="zh-TW" dirty="0"/>
              <a:t>checksum, seq. #, ACKs, retransmissions will be of help … but not enough</a:t>
            </a:r>
          </a:p>
        </p:txBody>
      </p:sp>
      <p:sp>
        <p:nvSpPr>
          <p:cNvPr id="345092" name="Rectangle 4">
            <a:extLst>
              <a:ext uri="{FF2B5EF4-FFF2-40B4-BE49-F238E27FC236}">
                <a16:creationId xmlns:a16="http://schemas.microsoft.com/office/drawing/2014/main" id="{D1EE2454-4B70-4A49-A766-6F74D728ACF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0957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u="sng">
                <a:solidFill>
                  <a:srgbClr val="CC0000"/>
                </a:solidFill>
              </a:rPr>
              <a:t>approach:</a:t>
            </a:r>
            <a:r>
              <a:rPr lang="en-US" altLang="zh-TW"/>
              <a:t> </a:t>
            </a:r>
            <a:r>
              <a:rPr lang="en-US" altLang="zh-TW">
                <a:solidFill>
                  <a:srgbClr val="FF0000"/>
                </a:solidFill>
              </a:rPr>
              <a:t>sender waits </a:t>
            </a:r>
            <a:r>
              <a:rPr lang="ja-JP" altLang="en-US">
                <a:solidFill>
                  <a:srgbClr val="FF0000"/>
                </a:solidFill>
              </a:rPr>
              <a:t>“</a:t>
            </a:r>
            <a:r>
              <a:rPr lang="en-US" altLang="ja-JP">
                <a:solidFill>
                  <a:srgbClr val="FF0000"/>
                </a:solidFill>
              </a:rPr>
              <a:t>reasonable</a:t>
            </a:r>
            <a:r>
              <a:rPr lang="ja-JP" altLang="en-US">
                <a:solidFill>
                  <a:srgbClr val="FF0000"/>
                </a:solidFill>
              </a:rPr>
              <a:t>”</a:t>
            </a:r>
            <a:r>
              <a:rPr lang="en-US" altLang="ja-JP">
                <a:solidFill>
                  <a:srgbClr val="FF0000"/>
                </a:solidFill>
              </a:rPr>
              <a:t> amount of time for ACK </a:t>
            </a:r>
          </a:p>
          <a:p>
            <a:pPr>
              <a:lnSpc>
                <a:spcPct val="80000"/>
              </a:lnSpc>
            </a:pPr>
            <a:r>
              <a:rPr lang="en-US" altLang="zh-TW" sz="2400">
                <a:solidFill>
                  <a:srgbClr val="0070C0"/>
                </a:solidFill>
              </a:rPr>
              <a:t>retransmits if no ACK received in this time</a:t>
            </a:r>
          </a:p>
          <a:p>
            <a:pPr>
              <a:lnSpc>
                <a:spcPct val="70000"/>
              </a:lnSpc>
            </a:pPr>
            <a:r>
              <a:rPr lang="en-US" altLang="zh-TW" sz="2400"/>
              <a:t>if pkt (or ACK) just delayed (not lost):</a:t>
            </a:r>
          </a:p>
          <a:p>
            <a:pPr lvl="1"/>
            <a:r>
              <a:rPr lang="en-US" altLang="zh-TW"/>
              <a:t>retransmission will be  duplicate, but seq. #</a:t>
            </a:r>
            <a:r>
              <a:rPr lang="ja-JP" altLang="en-US"/>
              <a:t>’</a:t>
            </a:r>
            <a:r>
              <a:rPr lang="en-US" altLang="ja-JP"/>
              <a:t>s already handles this</a:t>
            </a:r>
            <a:endParaRPr lang="en-US" altLang="ja-JP" sz="2000"/>
          </a:p>
          <a:p>
            <a:pPr lvl="1"/>
            <a:r>
              <a:rPr lang="en-US" altLang="zh-TW"/>
              <a:t>receiver must specify seq # of pkt being ACKed</a:t>
            </a:r>
            <a:endParaRPr lang="en-US" altLang="zh-TW" sz="2000"/>
          </a:p>
          <a:p>
            <a:pPr>
              <a:lnSpc>
                <a:spcPct val="70000"/>
              </a:lnSpc>
            </a:pPr>
            <a:r>
              <a:rPr lang="en-US" altLang="zh-TW" sz="2400"/>
              <a:t>requires </a:t>
            </a:r>
            <a:r>
              <a:rPr lang="en-US" altLang="zh-TW" sz="2400">
                <a:solidFill>
                  <a:srgbClr val="FF0000"/>
                </a:solidFill>
              </a:rPr>
              <a:t>countdown timer</a:t>
            </a:r>
          </a:p>
        </p:txBody>
      </p:sp>
      <p:pic>
        <p:nvPicPr>
          <p:cNvPr id="88071" name="Picture 5" descr="underline_base">
            <a:extLst>
              <a:ext uri="{FF2B5EF4-FFF2-40B4-BE49-F238E27FC236}">
                <a16:creationId xmlns:a16="http://schemas.microsoft.com/office/drawing/2014/main" id="{2ED81D49-C76D-426A-B253-6B43677F6CC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879475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509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Footer Placeholder 3">
            <a:extLst>
              <a:ext uri="{FF2B5EF4-FFF2-40B4-BE49-F238E27FC236}">
                <a16:creationId xmlns:a16="http://schemas.microsoft.com/office/drawing/2014/main" id="{E750E761-4191-4456-8C47-5AC11D90A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90115" name="Slide Number Placeholder 4">
            <a:extLst>
              <a:ext uri="{FF2B5EF4-FFF2-40B4-BE49-F238E27FC236}">
                <a16:creationId xmlns:a16="http://schemas.microsoft.com/office/drawing/2014/main" id="{6DCA467C-5D2B-46A0-BA57-A01C3C1B3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7C96A7C8-185A-4531-8E61-2A8869B56007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41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90116" name="Rectangle 2">
            <a:extLst>
              <a:ext uri="{FF2B5EF4-FFF2-40B4-BE49-F238E27FC236}">
                <a16:creationId xmlns:a16="http://schemas.microsoft.com/office/drawing/2014/main" id="{BFB845B3-726E-4829-AA71-725B78569C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9725" y="242888"/>
            <a:ext cx="3560763" cy="893762"/>
          </a:xfrm>
        </p:spPr>
        <p:txBody>
          <a:bodyPr/>
          <a:lstStyle/>
          <a:p>
            <a:r>
              <a:rPr lang="en-US" altLang="zh-TW" sz="4000"/>
              <a:t>rdt3.0 sender</a:t>
            </a:r>
            <a:endParaRPr lang="en-US" altLang="zh-TW"/>
          </a:p>
        </p:txBody>
      </p:sp>
      <p:sp>
        <p:nvSpPr>
          <p:cNvPr id="90117" name="Text Box 3">
            <a:extLst>
              <a:ext uri="{FF2B5EF4-FFF2-40B4-BE49-F238E27FC236}">
                <a16:creationId xmlns:a16="http://schemas.microsoft.com/office/drawing/2014/main" id="{7FB8C315-A264-49E9-B077-E5340DCFC9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9425" y="1384300"/>
            <a:ext cx="3860800" cy="561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sndpkt = make_pkt(0, data, checksum)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start_timer</a:t>
            </a:r>
            <a:endParaRPr lang="en-US" altLang="zh-TW" sz="1400">
              <a:solidFill>
                <a:srgbClr val="0070C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18" name="Text Box 4">
            <a:extLst>
              <a:ext uri="{FF2B5EF4-FFF2-40B4-BE49-F238E27FC236}">
                <a16:creationId xmlns:a16="http://schemas.microsoft.com/office/drawing/2014/main" id="{02D0599E-73F5-415C-9265-453211D41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0700" y="1090613"/>
            <a:ext cx="1724025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rdt_send(data)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19" name="Line 5">
            <a:extLst>
              <a:ext uri="{FF2B5EF4-FFF2-40B4-BE49-F238E27FC236}">
                <a16:creationId xmlns:a16="http://schemas.microsoft.com/office/drawing/2014/main" id="{8C72788E-A7EC-4AD6-B005-519F362CD54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1428750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20" name="Line 6">
            <a:extLst>
              <a:ext uri="{FF2B5EF4-FFF2-40B4-BE49-F238E27FC236}">
                <a16:creationId xmlns:a16="http://schemas.microsoft.com/office/drawing/2014/main" id="{3EE102C8-CB03-46CE-8ACE-CD304E40C8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9550" y="1544638"/>
            <a:ext cx="157163" cy="576262"/>
          </a:xfrm>
          <a:prstGeom prst="line">
            <a:avLst/>
          </a:prstGeom>
          <a:noFill/>
          <a:ln w="2857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90121" name="Group 7">
            <a:extLst>
              <a:ext uri="{FF2B5EF4-FFF2-40B4-BE49-F238E27FC236}">
                <a16:creationId xmlns:a16="http://schemas.microsoft.com/office/drawing/2014/main" id="{ABBE34C3-EB25-4285-AB0C-EFE180A60340}"/>
              </a:ext>
            </a:extLst>
          </p:cNvPr>
          <p:cNvGrpSpPr>
            <a:grpSpLocks/>
          </p:cNvGrpSpPr>
          <p:nvPr/>
        </p:nvGrpSpPr>
        <p:grpSpPr bwMode="auto">
          <a:xfrm>
            <a:off x="5360988" y="2090738"/>
            <a:ext cx="889000" cy="865187"/>
            <a:chOff x="445" y="1273"/>
            <a:chExt cx="560" cy="545"/>
          </a:xfrm>
        </p:grpSpPr>
        <p:sp>
          <p:nvSpPr>
            <p:cNvPr id="90170" name="Oval 8">
              <a:extLst>
                <a:ext uri="{FF2B5EF4-FFF2-40B4-BE49-F238E27FC236}">
                  <a16:creationId xmlns:a16="http://schemas.microsoft.com/office/drawing/2014/main" id="{7F064077-5D35-41FF-97BA-1BFBF50309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5" y="1273"/>
              <a:ext cx="560" cy="545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90171" name="Text Box 9">
              <a:extLst>
                <a:ext uri="{FF2B5EF4-FFF2-40B4-BE49-F238E27FC236}">
                  <a16:creationId xmlns:a16="http://schemas.microsoft.com/office/drawing/2014/main" id="{CD4F99C8-6821-4DA7-B79B-BE1796C087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9" y="1309"/>
              <a:ext cx="450" cy="2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Wait for ACK0</a:t>
              </a:r>
              <a:endParaRPr lang="en-US" altLang="zh-TW" sz="1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90122" name="Freeform 10">
            <a:extLst>
              <a:ext uri="{FF2B5EF4-FFF2-40B4-BE49-F238E27FC236}">
                <a16:creationId xmlns:a16="http://schemas.microsoft.com/office/drawing/2014/main" id="{290A4B88-915B-4303-A0DB-37B566C9DFEE}"/>
              </a:ext>
            </a:extLst>
          </p:cNvPr>
          <p:cNvSpPr>
            <a:spLocks/>
          </p:cNvSpPr>
          <p:nvPr/>
        </p:nvSpPr>
        <p:spPr bwMode="auto">
          <a:xfrm flipV="1">
            <a:off x="3384550" y="2071688"/>
            <a:ext cx="2090738" cy="163512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23" name="Freeform 11">
            <a:extLst>
              <a:ext uri="{FF2B5EF4-FFF2-40B4-BE49-F238E27FC236}">
                <a16:creationId xmlns:a16="http://schemas.microsoft.com/office/drawing/2014/main" id="{88F4E7D2-7E48-49CB-9431-87424090969A}"/>
              </a:ext>
            </a:extLst>
          </p:cNvPr>
          <p:cNvSpPr>
            <a:spLocks/>
          </p:cNvSpPr>
          <p:nvPr/>
        </p:nvSpPr>
        <p:spPr bwMode="auto">
          <a:xfrm>
            <a:off x="6069013" y="1674813"/>
            <a:ext cx="871537" cy="666750"/>
          </a:xfrm>
          <a:custGeom>
            <a:avLst/>
            <a:gdLst>
              <a:gd name="T0" fmla="*/ 0 w 549"/>
              <a:gd name="T1" fmla="*/ 2147483646 h 420"/>
              <a:gd name="T2" fmla="*/ 2147483646 w 549"/>
              <a:gd name="T3" fmla="*/ 2147483646 h 420"/>
              <a:gd name="T4" fmla="*/ 0 60000 65536"/>
              <a:gd name="T5" fmla="*/ 0 60000 65536"/>
              <a:gd name="T6" fmla="*/ 0 w 549"/>
              <a:gd name="T7" fmla="*/ 0 h 420"/>
              <a:gd name="T8" fmla="*/ 549 w 549"/>
              <a:gd name="T9" fmla="*/ 420 h 42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549" h="420">
                <a:moveTo>
                  <a:pt x="0" y="306"/>
                </a:moveTo>
                <a:cubicBezTo>
                  <a:pt x="78" y="0"/>
                  <a:pt x="549" y="315"/>
                  <a:pt x="87" y="42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24" name="Text Box 12">
            <a:extLst>
              <a:ext uri="{FF2B5EF4-FFF2-40B4-BE49-F238E27FC236}">
                <a16:creationId xmlns:a16="http://schemas.microsoft.com/office/drawing/2014/main" id="{7C70A80A-914B-4847-86FF-9002788A84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1763" y="1196975"/>
            <a:ext cx="1704975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( corrupt(rcvpkt) ||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isACK(rcvpkt,1) 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25" name="Line 13">
            <a:extLst>
              <a:ext uri="{FF2B5EF4-FFF2-40B4-BE49-F238E27FC236}">
                <a16:creationId xmlns:a16="http://schemas.microsoft.com/office/drawing/2014/main" id="{F2675B54-875A-419A-B853-BA7C97FD2423}"/>
              </a:ext>
            </a:extLst>
          </p:cNvPr>
          <p:cNvSpPr>
            <a:spLocks noChangeShapeType="1"/>
          </p:cNvSpPr>
          <p:nvPr/>
        </p:nvSpPr>
        <p:spPr bwMode="auto">
          <a:xfrm>
            <a:off x="6691313" y="1898650"/>
            <a:ext cx="1350962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90126" name="Group 14">
            <a:extLst>
              <a:ext uri="{FF2B5EF4-FFF2-40B4-BE49-F238E27FC236}">
                <a16:creationId xmlns:a16="http://schemas.microsoft.com/office/drawing/2014/main" id="{26FE1286-1E53-4444-801D-92908E940E77}"/>
              </a:ext>
            </a:extLst>
          </p:cNvPr>
          <p:cNvGrpSpPr>
            <a:grpSpLocks/>
          </p:cNvGrpSpPr>
          <p:nvPr/>
        </p:nvGrpSpPr>
        <p:grpSpPr bwMode="auto">
          <a:xfrm>
            <a:off x="5453063" y="4005263"/>
            <a:ext cx="1189037" cy="850900"/>
            <a:chOff x="4090" y="3230"/>
            <a:chExt cx="749" cy="536"/>
          </a:xfrm>
        </p:grpSpPr>
        <p:sp>
          <p:nvSpPr>
            <p:cNvPr id="90168" name="Oval 15">
              <a:extLst>
                <a:ext uri="{FF2B5EF4-FFF2-40B4-BE49-F238E27FC236}">
                  <a16:creationId xmlns:a16="http://schemas.microsoft.com/office/drawing/2014/main" id="{5398E370-D1E2-4A9E-829C-8DEF2C59FB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" y="3230"/>
              <a:ext cx="595" cy="53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90169" name="Text Box 16">
              <a:extLst>
                <a:ext uri="{FF2B5EF4-FFF2-40B4-BE49-F238E27FC236}">
                  <a16:creationId xmlns:a16="http://schemas.microsoft.com/office/drawing/2014/main" id="{221B520F-501C-4EBB-A9CF-5D2DDA4BE2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90" y="3270"/>
              <a:ext cx="749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Wait for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call 1 from above</a:t>
              </a:r>
              <a:endParaRPr lang="en-US" altLang="zh-TW" sz="1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90127" name="Freeform 17">
            <a:extLst>
              <a:ext uri="{FF2B5EF4-FFF2-40B4-BE49-F238E27FC236}">
                <a16:creationId xmlns:a16="http://schemas.microsoft.com/office/drawing/2014/main" id="{F2C09787-DE45-4A6E-ADAF-E9EAF89D65E5}"/>
              </a:ext>
            </a:extLst>
          </p:cNvPr>
          <p:cNvSpPr>
            <a:spLocks/>
          </p:cNvSpPr>
          <p:nvPr/>
        </p:nvSpPr>
        <p:spPr bwMode="auto">
          <a:xfrm rot="16200000" flipV="1">
            <a:off x="2140744" y="3402806"/>
            <a:ext cx="1254125" cy="150813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28" name="Freeform 18">
            <a:extLst>
              <a:ext uri="{FF2B5EF4-FFF2-40B4-BE49-F238E27FC236}">
                <a16:creationId xmlns:a16="http://schemas.microsoft.com/office/drawing/2014/main" id="{23F06FD1-7910-4B26-9051-1AFDF23F2BCC}"/>
              </a:ext>
            </a:extLst>
          </p:cNvPr>
          <p:cNvSpPr>
            <a:spLocks/>
          </p:cNvSpPr>
          <p:nvPr/>
        </p:nvSpPr>
        <p:spPr bwMode="auto">
          <a:xfrm>
            <a:off x="3370263" y="4738688"/>
            <a:ext cx="2312987" cy="274637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29" name="Freeform 19">
            <a:extLst>
              <a:ext uri="{FF2B5EF4-FFF2-40B4-BE49-F238E27FC236}">
                <a16:creationId xmlns:a16="http://schemas.microsoft.com/office/drawing/2014/main" id="{BC3C1479-782D-4E57-AF30-1759034B3882}"/>
              </a:ext>
            </a:extLst>
          </p:cNvPr>
          <p:cNvSpPr>
            <a:spLocks/>
          </p:cNvSpPr>
          <p:nvPr/>
        </p:nvSpPr>
        <p:spPr bwMode="auto">
          <a:xfrm rot="5400000" flipH="1" flipV="1">
            <a:off x="5611019" y="3328194"/>
            <a:ext cx="1184275" cy="166687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30" name="Text Box 20">
            <a:extLst>
              <a:ext uri="{FF2B5EF4-FFF2-40B4-BE49-F238E27FC236}">
                <a16:creationId xmlns:a16="http://schemas.microsoft.com/office/drawing/2014/main" id="{2B395B98-E32A-4788-9C95-37AB673F38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6288" y="5224463"/>
            <a:ext cx="3444875" cy="552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sndpkt = make_pkt(1, data, checksum)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start_timer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31" name="Text Box 21">
            <a:extLst>
              <a:ext uri="{FF2B5EF4-FFF2-40B4-BE49-F238E27FC236}">
                <a16:creationId xmlns:a16="http://schemas.microsoft.com/office/drawing/2014/main" id="{E6006432-631F-46CF-BA76-645483F63E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6288" y="4941888"/>
            <a:ext cx="1724025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rdt_send(data)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32" name="Line 22">
            <a:extLst>
              <a:ext uri="{FF2B5EF4-FFF2-40B4-BE49-F238E27FC236}">
                <a16:creationId xmlns:a16="http://schemas.microsoft.com/office/drawing/2014/main" id="{5C3AE99A-3E10-47C3-9C07-905B292741FA}"/>
              </a:ext>
            </a:extLst>
          </p:cNvPr>
          <p:cNvSpPr>
            <a:spLocks noChangeShapeType="1"/>
          </p:cNvSpPr>
          <p:nvPr/>
        </p:nvSpPr>
        <p:spPr bwMode="auto">
          <a:xfrm>
            <a:off x="3435350" y="5253038"/>
            <a:ext cx="2598738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33" name="Text Box 23">
            <a:extLst>
              <a:ext uri="{FF2B5EF4-FFF2-40B4-BE49-F238E27FC236}">
                <a16:creationId xmlns:a16="http://schemas.microsoft.com/office/drawing/2014/main" id="{0EB06530-9E01-49F3-9F57-6E9C47471F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0150" y="3106738"/>
            <a:ext cx="2149475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 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&amp;&amp; notcorrupt(rcvpkt)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&amp;&amp; isACK(rcvpkt,0)</a:t>
            </a: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34" name="Line 24">
            <a:extLst>
              <a:ext uri="{FF2B5EF4-FFF2-40B4-BE49-F238E27FC236}">
                <a16:creationId xmlns:a16="http://schemas.microsoft.com/office/drawing/2014/main" id="{4E7211BC-BFD8-4F88-A471-03F33A88E337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6038" y="3817938"/>
            <a:ext cx="141922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35" name="Text Box 25">
            <a:extLst>
              <a:ext uri="{FF2B5EF4-FFF2-40B4-BE49-F238E27FC236}">
                <a16:creationId xmlns:a16="http://schemas.microsoft.com/office/drawing/2014/main" id="{BBF65E5F-0A7C-4721-89B5-B10E6DC95B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0638" y="5062538"/>
            <a:ext cx="1622425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 &amp;&amp;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( corrupt(rcvpkt) ||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isACK(rcvpkt,0) 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36" name="Line 26">
            <a:extLst>
              <a:ext uri="{FF2B5EF4-FFF2-40B4-BE49-F238E27FC236}">
                <a16:creationId xmlns:a16="http://schemas.microsoft.com/office/drawing/2014/main" id="{DBE0F926-ED0A-48C6-B407-8F7068FC7651}"/>
              </a:ext>
            </a:extLst>
          </p:cNvPr>
          <p:cNvSpPr>
            <a:spLocks noChangeShapeType="1"/>
          </p:cNvSpPr>
          <p:nvPr/>
        </p:nvSpPr>
        <p:spPr bwMode="auto">
          <a:xfrm>
            <a:off x="1393825" y="5788025"/>
            <a:ext cx="125412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37" name="Text Box 27">
            <a:extLst>
              <a:ext uri="{FF2B5EF4-FFF2-40B4-BE49-F238E27FC236}">
                <a16:creationId xmlns:a16="http://schemas.microsoft.com/office/drawing/2014/main" id="{6DEFDF40-7D97-4681-A936-32180686A8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050" y="2865438"/>
            <a:ext cx="1912938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 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&amp;&amp; notcorrupt(rcvpkt)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&amp;&amp; isACK(rcvpkt,1)</a:t>
            </a: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38" name="Line 28">
            <a:extLst>
              <a:ext uri="{FF2B5EF4-FFF2-40B4-BE49-F238E27FC236}">
                <a16:creationId xmlns:a16="http://schemas.microsoft.com/office/drawing/2014/main" id="{231F1FB0-0752-4952-A254-3F23F0CD2ADF}"/>
              </a:ext>
            </a:extLst>
          </p:cNvPr>
          <p:cNvSpPr>
            <a:spLocks noChangeShapeType="1"/>
          </p:cNvSpPr>
          <p:nvPr/>
        </p:nvSpPr>
        <p:spPr bwMode="auto">
          <a:xfrm>
            <a:off x="1035050" y="3605213"/>
            <a:ext cx="151765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39" name="Text Box 29">
            <a:extLst>
              <a:ext uri="{FF2B5EF4-FFF2-40B4-BE49-F238E27FC236}">
                <a16:creationId xmlns:a16="http://schemas.microsoft.com/office/drawing/2014/main" id="{9C99FDF5-00D0-428B-96ED-A46B161927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0788" y="3798888"/>
            <a:ext cx="1514475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stop_timer</a:t>
            </a:r>
            <a:endParaRPr lang="en-US" altLang="zh-TW" sz="1400">
              <a:solidFill>
                <a:srgbClr val="0070C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40" name="Text Box 30">
            <a:extLst>
              <a:ext uri="{FF2B5EF4-FFF2-40B4-BE49-F238E27FC236}">
                <a16:creationId xmlns:a16="http://schemas.microsoft.com/office/drawing/2014/main" id="{20743C8E-1C49-4C4F-A1B7-BFED03D488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113" y="3578225"/>
            <a:ext cx="151447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stop_timer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41" name="Freeform 31">
            <a:extLst>
              <a:ext uri="{FF2B5EF4-FFF2-40B4-BE49-F238E27FC236}">
                <a16:creationId xmlns:a16="http://schemas.microsoft.com/office/drawing/2014/main" id="{7D1A1ABC-B493-40C0-A001-1EF237546224}"/>
              </a:ext>
            </a:extLst>
          </p:cNvPr>
          <p:cNvSpPr>
            <a:spLocks/>
          </p:cNvSpPr>
          <p:nvPr/>
        </p:nvSpPr>
        <p:spPr bwMode="auto">
          <a:xfrm>
            <a:off x="6238875" y="2338388"/>
            <a:ext cx="461963" cy="682625"/>
          </a:xfrm>
          <a:custGeom>
            <a:avLst/>
            <a:gdLst>
              <a:gd name="T0" fmla="*/ 0 w 291"/>
              <a:gd name="T1" fmla="*/ 2147483646 h 430"/>
              <a:gd name="T2" fmla="*/ 2147483646 w 291"/>
              <a:gd name="T3" fmla="*/ 2147483646 h 430"/>
              <a:gd name="T4" fmla="*/ 0 60000 65536"/>
              <a:gd name="T5" fmla="*/ 0 60000 65536"/>
              <a:gd name="T6" fmla="*/ 0 w 291"/>
              <a:gd name="T7" fmla="*/ 0 h 430"/>
              <a:gd name="T8" fmla="*/ 291 w 291"/>
              <a:gd name="T9" fmla="*/ 430 h 43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91" h="430">
                <a:moveTo>
                  <a:pt x="0" y="120"/>
                </a:moveTo>
                <a:cubicBezTo>
                  <a:pt x="291" y="0"/>
                  <a:pt x="259" y="430"/>
                  <a:pt x="15" y="25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42" name="Text Box 32">
            <a:extLst>
              <a:ext uri="{FF2B5EF4-FFF2-40B4-BE49-F238E27FC236}">
                <a16:creationId xmlns:a16="http://schemas.microsoft.com/office/drawing/2014/main" id="{FDB6B720-898C-42E5-AACC-16D2B16D52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0663" y="2516188"/>
            <a:ext cx="2116137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udt_send(sndpkt)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start_timer</a:t>
            </a:r>
            <a:endParaRPr lang="en-US" altLang="zh-TW" sz="1400">
              <a:solidFill>
                <a:srgbClr val="0070C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43" name="Text Box 33">
            <a:extLst>
              <a:ext uri="{FF2B5EF4-FFF2-40B4-BE49-F238E27FC236}">
                <a16:creationId xmlns:a16="http://schemas.microsoft.com/office/drawing/2014/main" id="{A1F57BB7-CD68-4E4C-A6F3-328BEFDBB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2888" y="2279650"/>
            <a:ext cx="1114425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timeout</a:t>
            </a:r>
            <a:endParaRPr lang="en-US" altLang="zh-TW" sz="1400">
              <a:solidFill>
                <a:srgbClr val="0070C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44" name="Line 34">
            <a:extLst>
              <a:ext uri="{FF2B5EF4-FFF2-40B4-BE49-F238E27FC236}">
                <a16:creationId xmlns:a16="http://schemas.microsoft.com/office/drawing/2014/main" id="{AF843B22-6ED2-417D-A1E4-CA771824D6B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81788" y="2533650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45" name="Freeform 35">
            <a:extLst>
              <a:ext uri="{FF2B5EF4-FFF2-40B4-BE49-F238E27FC236}">
                <a16:creationId xmlns:a16="http://schemas.microsoft.com/office/drawing/2014/main" id="{47B9335A-072E-48BD-BA8C-D3EF246C459B}"/>
              </a:ext>
            </a:extLst>
          </p:cNvPr>
          <p:cNvSpPr>
            <a:spLocks/>
          </p:cNvSpPr>
          <p:nvPr/>
        </p:nvSpPr>
        <p:spPr bwMode="auto">
          <a:xfrm>
            <a:off x="2230438" y="4702175"/>
            <a:ext cx="692150" cy="631825"/>
          </a:xfrm>
          <a:custGeom>
            <a:avLst/>
            <a:gdLst>
              <a:gd name="T0" fmla="*/ 2147483646 w 436"/>
              <a:gd name="T1" fmla="*/ 2147483646 h 398"/>
              <a:gd name="T2" fmla="*/ 2147483646 w 436"/>
              <a:gd name="T3" fmla="*/ 0 h 398"/>
              <a:gd name="T4" fmla="*/ 0 60000 65536"/>
              <a:gd name="T5" fmla="*/ 0 60000 65536"/>
              <a:gd name="T6" fmla="*/ 0 w 436"/>
              <a:gd name="T7" fmla="*/ 0 h 398"/>
              <a:gd name="T8" fmla="*/ 436 w 436"/>
              <a:gd name="T9" fmla="*/ 398 h 39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436" h="398">
                <a:moveTo>
                  <a:pt x="436" y="101"/>
                </a:moveTo>
                <a:cubicBezTo>
                  <a:pt x="367" y="398"/>
                  <a:pt x="0" y="31"/>
                  <a:pt x="300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46" name="Freeform 36">
            <a:extLst>
              <a:ext uri="{FF2B5EF4-FFF2-40B4-BE49-F238E27FC236}">
                <a16:creationId xmlns:a16="http://schemas.microsoft.com/office/drawing/2014/main" id="{0EF3F6F3-C11F-4E3D-B217-817167A37DCE}"/>
              </a:ext>
            </a:extLst>
          </p:cNvPr>
          <p:cNvSpPr>
            <a:spLocks/>
          </p:cNvSpPr>
          <p:nvPr/>
        </p:nvSpPr>
        <p:spPr bwMode="auto">
          <a:xfrm>
            <a:off x="2030413" y="4413250"/>
            <a:ext cx="571500" cy="420688"/>
          </a:xfrm>
          <a:custGeom>
            <a:avLst/>
            <a:gdLst>
              <a:gd name="T0" fmla="*/ 2147483646 w 900"/>
              <a:gd name="T1" fmla="*/ 2147483646 h 662"/>
              <a:gd name="T2" fmla="*/ 2147483646 w 900"/>
              <a:gd name="T3" fmla="*/ 2147483646 h 662"/>
              <a:gd name="T4" fmla="*/ 0 60000 65536"/>
              <a:gd name="T5" fmla="*/ 0 60000 65536"/>
              <a:gd name="T6" fmla="*/ 0 w 900"/>
              <a:gd name="T7" fmla="*/ 0 h 662"/>
              <a:gd name="T8" fmla="*/ 900 w 900"/>
              <a:gd name="T9" fmla="*/ 662 h 66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900" h="662">
                <a:moveTo>
                  <a:pt x="900" y="360"/>
                </a:moveTo>
                <a:cubicBezTo>
                  <a:pt x="171" y="662"/>
                  <a:pt x="0" y="0"/>
                  <a:pt x="825" y="1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47" name="Text Box 37">
            <a:extLst>
              <a:ext uri="{FF2B5EF4-FFF2-40B4-BE49-F238E27FC236}">
                <a16:creationId xmlns:a16="http://schemas.microsoft.com/office/drawing/2014/main" id="{4EBB7452-41EB-40F0-A8A8-6BC5C5645B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650" y="4460875"/>
            <a:ext cx="1824038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udt_send(sndpkt)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start_timer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48" name="Text Box 38">
            <a:extLst>
              <a:ext uri="{FF2B5EF4-FFF2-40B4-BE49-F238E27FC236}">
                <a16:creationId xmlns:a16="http://schemas.microsoft.com/office/drawing/2014/main" id="{86E0E3A3-EBC3-402F-A1C0-BDF88B3B9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938" y="4206875"/>
            <a:ext cx="1114425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timeout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49" name="Line 39">
            <a:extLst>
              <a:ext uri="{FF2B5EF4-FFF2-40B4-BE49-F238E27FC236}">
                <a16:creationId xmlns:a16="http://schemas.microsoft.com/office/drawing/2014/main" id="{F1EB1907-ED13-49F0-A4D2-1FB92F7101BE}"/>
              </a:ext>
            </a:extLst>
          </p:cNvPr>
          <p:cNvSpPr>
            <a:spLocks noChangeShapeType="1"/>
          </p:cNvSpPr>
          <p:nvPr/>
        </p:nvSpPr>
        <p:spPr bwMode="auto">
          <a:xfrm>
            <a:off x="746125" y="4489450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50" name="Freeform 40">
            <a:extLst>
              <a:ext uri="{FF2B5EF4-FFF2-40B4-BE49-F238E27FC236}">
                <a16:creationId xmlns:a16="http://schemas.microsoft.com/office/drawing/2014/main" id="{8CD358AB-A6B6-4290-A322-D11F7794EB25}"/>
              </a:ext>
            </a:extLst>
          </p:cNvPr>
          <p:cNvSpPr>
            <a:spLocks/>
          </p:cNvSpPr>
          <p:nvPr/>
        </p:nvSpPr>
        <p:spPr bwMode="auto">
          <a:xfrm>
            <a:off x="6426200" y="4373563"/>
            <a:ext cx="579438" cy="890587"/>
          </a:xfrm>
          <a:custGeom>
            <a:avLst/>
            <a:gdLst>
              <a:gd name="T0" fmla="*/ 2147483646 w 322"/>
              <a:gd name="T1" fmla="*/ 2147483646 h 483"/>
              <a:gd name="T2" fmla="*/ 0 w 322"/>
              <a:gd name="T3" fmla="*/ 2147483646 h 483"/>
              <a:gd name="T4" fmla="*/ 0 60000 65536"/>
              <a:gd name="T5" fmla="*/ 0 60000 65536"/>
              <a:gd name="T6" fmla="*/ 0 w 322"/>
              <a:gd name="T7" fmla="*/ 0 h 483"/>
              <a:gd name="T8" fmla="*/ 322 w 322"/>
              <a:gd name="T9" fmla="*/ 483 h 483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22" h="483">
                <a:moveTo>
                  <a:pt x="31" y="120"/>
                </a:moveTo>
                <a:cubicBezTo>
                  <a:pt x="322" y="0"/>
                  <a:pt x="64" y="483"/>
                  <a:pt x="0" y="18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51" name="Text Box 41">
            <a:extLst>
              <a:ext uri="{FF2B5EF4-FFF2-40B4-BE49-F238E27FC236}">
                <a16:creationId xmlns:a16="http://schemas.microsoft.com/office/drawing/2014/main" id="{03A9684A-EBB9-4885-AD50-24F07F1745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6638" y="1874838"/>
            <a:ext cx="142875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90152" name="Group 42">
            <a:extLst>
              <a:ext uri="{FF2B5EF4-FFF2-40B4-BE49-F238E27FC236}">
                <a16:creationId xmlns:a16="http://schemas.microsoft.com/office/drawing/2014/main" id="{97FE4459-FF5F-439A-BF4B-4775ED05FE27}"/>
              </a:ext>
            </a:extLst>
          </p:cNvPr>
          <p:cNvGrpSpPr>
            <a:grpSpLocks/>
          </p:cNvGrpSpPr>
          <p:nvPr/>
        </p:nvGrpSpPr>
        <p:grpSpPr bwMode="auto">
          <a:xfrm>
            <a:off x="2419350" y="2135188"/>
            <a:ext cx="1189038" cy="850900"/>
            <a:chOff x="4090" y="3230"/>
            <a:chExt cx="749" cy="536"/>
          </a:xfrm>
        </p:grpSpPr>
        <p:sp>
          <p:nvSpPr>
            <p:cNvPr id="90166" name="Oval 43">
              <a:extLst>
                <a:ext uri="{FF2B5EF4-FFF2-40B4-BE49-F238E27FC236}">
                  <a16:creationId xmlns:a16="http://schemas.microsoft.com/office/drawing/2014/main" id="{09F2B21F-653F-4F7C-8124-1661C7AB96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" y="3230"/>
              <a:ext cx="595" cy="53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90167" name="Text Box 44">
              <a:extLst>
                <a:ext uri="{FF2B5EF4-FFF2-40B4-BE49-F238E27FC236}">
                  <a16:creationId xmlns:a16="http://schemas.microsoft.com/office/drawing/2014/main" id="{4CC64E4A-64CD-4CD2-8494-D4FAB6BD6A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90" y="3270"/>
              <a:ext cx="749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Wait for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call 0 from above</a:t>
              </a:r>
              <a:endParaRPr lang="en-US" altLang="zh-TW" sz="1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90153" name="Line 45">
            <a:extLst>
              <a:ext uri="{FF2B5EF4-FFF2-40B4-BE49-F238E27FC236}">
                <a16:creationId xmlns:a16="http://schemas.microsoft.com/office/drawing/2014/main" id="{D4DC2450-03D3-4DB1-AFB4-2B51F9128BA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23950" y="2160588"/>
            <a:ext cx="110172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90154" name="Group 46">
            <a:extLst>
              <a:ext uri="{FF2B5EF4-FFF2-40B4-BE49-F238E27FC236}">
                <a16:creationId xmlns:a16="http://schemas.microsoft.com/office/drawing/2014/main" id="{221019AB-B489-484D-AC89-AEC9F6ABBBE9}"/>
              </a:ext>
            </a:extLst>
          </p:cNvPr>
          <p:cNvGrpSpPr>
            <a:grpSpLocks/>
          </p:cNvGrpSpPr>
          <p:nvPr/>
        </p:nvGrpSpPr>
        <p:grpSpPr bwMode="auto">
          <a:xfrm>
            <a:off x="2630488" y="3989388"/>
            <a:ext cx="889000" cy="865187"/>
            <a:chOff x="445" y="1273"/>
            <a:chExt cx="560" cy="545"/>
          </a:xfrm>
        </p:grpSpPr>
        <p:sp>
          <p:nvSpPr>
            <p:cNvPr id="90164" name="Oval 47">
              <a:extLst>
                <a:ext uri="{FF2B5EF4-FFF2-40B4-BE49-F238E27FC236}">
                  <a16:creationId xmlns:a16="http://schemas.microsoft.com/office/drawing/2014/main" id="{2E7C769B-E20D-40EC-AB19-3266E2565D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5" y="1273"/>
              <a:ext cx="560" cy="545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90165" name="Text Box 48">
              <a:extLst>
                <a:ext uri="{FF2B5EF4-FFF2-40B4-BE49-F238E27FC236}">
                  <a16:creationId xmlns:a16="http://schemas.microsoft.com/office/drawing/2014/main" id="{22443C82-0FB2-402D-85D6-39CC7615D2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9" y="1309"/>
              <a:ext cx="450" cy="2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</a:rPr>
                <a:t>Wait for ACK1</a:t>
              </a:r>
              <a:endParaRPr lang="en-US" altLang="zh-TW" sz="14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90155" name="Freeform 49">
            <a:extLst>
              <a:ext uri="{FF2B5EF4-FFF2-40B4-BE49-F238E27FC236}">
                <a16:creationId xmlns:a16="http://schemas.microsoft.com/office/drawing/2014/main" id="{21FF9423-0B6B-47EE-AE66-6D2A6E59F93B}"/>
              </a:ext>
            </a:extLst>
          </p:cNvPr>
          <p:cNvSpPr>
            <a:spLocks/>
          </p:cNvSpPr>
          <p:nvPr/>
        </p:nvSpPr>
        <p:spPr bwMode="auto">
          <a:xfrm flipH="1" flipV="1">
            <a:off x="2006600" y="1782763"/>
            <a:ext cx="579438" cy="890587"/>
          </a:xfrm>
          <a:custGeom>
            <a:avLst/>
            <a:gdLst>
              <a:gd name="T0" fmla="*/ 2147483646 w 322"/>
              <a:gd name="T1" fmla="*/ 2147483646 h 483"/>
              <a:gd name="T2" fmla="*/ 0 w 322"/>
              <a:gd name="T3" fmla="*/ 2147483646 h 483"/>
              <a:gd name="T4" fmla="*/ 0 60000 65536"/>
              <a:gd name="T5" fmla="*/ 0 60000 65536"/>
              <a:gd name="T6" fmla="*/ 0 w 322"/>
              <a:gd name="T7" fmla="*/ 0 h 483"/>
              <a:gd name="T8" fmla="*/ 322 w 322"/>
              <a:gd name="T9" fmla="*/ 483 h 483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22" h="483">
                <a:moveTo>
                  <a:pt x="31" y="120"/>
                </a:moveTo>
                <a:cubicBezTo>
                  <a:pt x="322" y="0"/>
                  <a:pt x="64" y="483"/>
                  <a:pt x="0" y="18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56" name="Text Box 50">
            <a:extLst>
              <a:ext uri="{FF2B5EF4-FFF2-40B4-BE49-F238E27FC236}">
                <a16:creationId xmlns:a16="http://schemas.microsoft.com/office/drawing/2014/main" id="{525FA3AD-9F02-4665-B6A7-CA9775D06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24713" y="4852988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  <p:sp>
        <p:nvSpPr>
          <p:cNvPr id="90157" name="Text Box 51">
            <a:extLst>
              <a:ext uri="{FF2B5EF4-FFF2-40B4-BE49-F238E27FC236}">
                <a16:creationId xmlns:a16="http://schemas.microsoft.com/office/drawing/2014/main" id="{E86B0EA3-4FA6-4A70-A2C1-6E85F90977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7988" y="4603750"/>
            <a:ext cx="142875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rdt_rcv(rcvpkt)</a:t>
            </a:r>
            <a:endParaRPr lang="en-US" altLang="zh-TW" sz="1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0158" name="Line 52">
            <a:extLst>
              <a:ext uri="{FF2B5EF4-FFF2-40B4-BE49-F238E27FC236}">
                <a16:creationId xmlns:a16="http://schemas.microsoft.com/office/drawing/2014/main" id="{45615E91-2AD3-4B49-B8C0-03E4637469B1}"/>
              </a:ext>
            </a:extLst>
          </p:cNvPr>
          <p:cNvSpPr>
            <a:spLocks noChangeShapeType="1"/>
          </p:cNvSpPr>
          <p:nvPr/>
        </p:nvSpPr>
        <p:spPr bwMode="auto">
          <a:xfrm>
            <a:off x="6845300" y="4889500"/>
            <a:ext cx="110172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0159" name="Text Box 53">
            <a:extLst>
              <a:ext uri="{FF2B5EF4-FFF2-40B4-BE49-F238E27FC236}">
                <a16:creationId xmlns:a16="http://schemas.microsoft.com/office/drawing/2014/main" id="{A3F4DA0E-B0DD-41B6-8E18-F3FC57FE2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7875" y="1847850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  <p:sp>
        <p:nvSpPr>
          <p:cNvPr id="90160" name="Text Box 54">
            <a:extLst>
              <a:ext uri="{FF2B5EF4-FFF2-40B4-BE49-F238E27FC236}">
                <a16:creationId xmlns:a16="http://schemas.microsoft.com/office/drawing/2014/main" id="{57D8B982-C942-4BFA-AC78-F5174492BC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375" y="2124075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  <p:sp>
        <p:nvSpPr>
          <p:cNvPr id="90161" name="Text Box 55">
            <a:extLst>
              <a:ext uri="{FF2B5EF4-FFF2-40B4-BE49-F238E27FC236}">
                <a16:creationId xmlns:a16="http://schemas.microsoft.com/office/drawing/2014/main" id="{02CC9534-CA4F-42CD-86B6-BED984AC04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794375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</a:p>
        </p:txBody>
      </p:sp>
      <p:pic>
        <p:nvPicPr>
          <p:cNvPr id="90162" name="Picture 56" descr="underline_base">
            <a:extLst>
              <a:ext uri="{FF2B5EF4-FFF2-40B4-BE49-F238E27FC236}">
                <a16:creationId xmlns:a16="http://schemas.microsoft.com/office/drawing/2014/main" id="{91DF699F-1245-4CD2-B565-D767C74E9B2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0" y="877888"/>
            <a:ext cx="30162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0163" name="Rectangle 1">
            <a:extLst>
              <a:ext uri="{FF2B5EF4-FFF2-40B4-BE49-F238E27FC236}">
                <a16:creationId xmlns:a16="http://schemas.microsoft.com/office/drawing/2014/main" id="{D2D4A4A5-D3C9-4443-B019-FDF4FC0964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8488" y="342900"/>
            <a:ext cx="3289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dirty="0">
                <a:solidFill>
                  <a:srgbClr val="0070C0"/>
                </a:solidFill>
                <a:latin typeface="Tahoma" panose="020B0604030504040204" pitchFamily="34" charset="0"/>
              </a:rPr>
              <a:t>[Retransmits packet after timeout]</a:t>
            </a:r>
            <a:endParaRPr lang="en-US" altLang="en-US" sz="1600" i="1" dirty="0">
              <a:solidFill>
                <a:srgbClr val="0070C0"/>
              </a:solidFill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標題 1">
            <a:extLst>
              <a:ext uri="{FF2B5EF4-FFF2-40B4-BE49-F238E27FC236}">
                <a16:creationId xmlns:a16="http://schemas.microsoft.com/office/drawing/2014/main" id="{83F39D13-6657-4BF1-80D8-2C1C9AEA71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rdt 3.0 (Summary)</a:t>
            </a:r>
            <a:endParaRPr lang="zh-TW" altLang="en-US"/>
          </a:p>
        </p:txBody>
      </p:sp>
      <p:sp>
        <p:nvSpPr>
          <p:cNvPr id="91139" name="內容版面配置區 2">
            <a:extLst>
              <a:ext uri="{FF2B5EF4-FFF2-40B4-BE49-F238E27FC236}">
                <a16:creationId xmlns:a16="http://schemas.microsoft.com/office/drawing/2014/main" id="{C12153D6-D1FB-40C6-B57A-1A28A18347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800" dirty="0"/>
              <a:t>Stop-and-wait protocol: At most </a:t>
            </a:r>
            <a:r>
              <a:rPr lang="en-US" altLang="zh-TW" sz="2800" dirty="0">
                <a:solidFill>
                  <a:srgbClr val="0070C0"/>
                </a:solidFill>
              </a:rPr>
              <a:t>one packet in flight</a:t>
            </a:r>
            <a:r>
              <a:rPr lang="en-US" altLang="zh-TW" sz="2800" dirty="0"/>
              <a:t> at any time</a:t>
            </a:r>
          </a:p>
          <a:p>
            <a:r>
              <a:rPr lang="en-US" altLang="zh-TW" sz="2800" dirty="0"/>
              <a:t>Receiver sends </a:t>
            </a:r>
            <a:r>
              <a:rPr lang="en-US" altLang="zh-TW" sz="2800" dirty="0">
                <a:solidFill>
                  <a:srgbClr val="FF0000"/>
                </a:solidFill>
              </a:rPr>
              <a:t>ACK </a:t>
            </a:r>
            <a:r>
              <a:rPr lang="en-US" altLang="zh-TW" sz="2800" dirty="0"/>
              <a:t>when it receives data</a:t>
            </a:r>
          </a:p>
          <a:p>
            <a:r>
              <a:rPr lang="en-US" altLang="zh-TW" sz="2800" dirty="0"/>
              <a:t>Sender:</a:t>
            </a:r>
          </a:p>
          <a:p>
            <a:pPr lvl="1"/>
            <a:r>
              <a:rPr lang="en-US" altLang="zh-TW" dirty="0"/>
              <a:t>On receiving </a:t>
            </a:r>
            <a:r>
              <a:rPr lang="en-US" altLang="zh-TW" dirty="0">
                <a:solidFill>
                  <a:srgbClr val="FF0000"/>
                </a:solidFill>
              </a:rPr>
              <a:t>ACK</a:t>
            </a:r>
            <a:r>
              <a:rPr lang="en-US" altLang="zh-TW" dirty="0"/>
              <a:t>, </a:t>
            </a:r>
            <a:r>
              <a:rPr lang="en-US" altLang="zh-TW" dirty="0">
                <a:solidFill>
                  <a:srgbClr val="0070C0"/>
                </a:solidFill>
              </a:rPr>
              <a:t>sends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0070C0"/>
                </a:solidFill>
              </a:rPr>
              <a:t>new data</a:t>
            </a:r>
          </a:p>
          <a:p>
            <a:pPr lvl="1"/>
            <a:r>
              <a:rPr lang="en-US" altLang="zh-TW" dirty="0"/>
              <a:t>On </a:t>
            </a:r>
            <a:r>
              <a:rPr lang="en-US" altLang="zh-TW" dirty="0">
                <a:solidFill>
                  <a:srgbClr val="FF0000"/>
                </a:solidFill>
              </a:rPr>
              <a:t>timeout</a:t>
            </a:r>
            <a:r>
              <a:rPr lang="en-US" altLang="zh-TW" dirty="0"/>
              <a:t>, </a:t>
            </a:r>
            <a:r>
              <a:rPr lang="en-US" altLang="zh-TW" dirty="0">
                <a:solidFill>
                  <a:srgbClr val="0070C0"/>
                </a:solidFill>
              </a:rPr>
              <a:t>resends</a:t>
            </a:r>
            <a:r>
              <a:rPr lang="en-US" altLang="zh-TW" dirty="0"/>
              <a:t> current data</a:t>
            </a:r>
          </a:p>
          <a:p>
            <a:r>
              <a:rPr lang="en-US" altLang="zh-TW" sz="2800" dirty="0"/>
              <a:t>Summary: rdt3.0 is a protocol that </a:t>
            </a:r>
            <a:r>
              <a:rPr lang="en-US" altLang="zh-TW" sz="2800" dirty="0">
                <a:solidFill>
                  <a:srgbClr val="FF0000"/>
                </a:solidFill>
              </a:rPr>
              <a:t>reliably transfers data</a:t>
            </a:r>
            <a:r>
              <a:rPr lang="en-US" altLang="zh-TW" sz="2800" dirty="0"/>
              <a:t> over a channel that can </a:t>
            </a:r>
            <a:r>
              <a:rPr lang="en-US" altLang="zh-TW" sz="2800" dirty="0">
                <a:solidFill>
                  <a:srgbClr val="FF0000"/>
                </a:solidFill>
              </a:rPr>
              <a:t>corrupt</a:t>
            </a:r>
            <a:r>
              <a:rPr lang="en-US" altLang="zh-TW" sz="2800" dirty="0"/>
              <a:t> or </a:t>
            </a:r>
            <a:r>
              <a:rPr lang="en-US" altLang="zh-TW" sz="2800" dirty="0">
                <a:solidFill>
                  <a:srgbClr val="FF0000"/>
                </a:solidFill>
              </a:rPr>
              <a:t>lose</a:t>
            </a:r>
            <a:r>
              <a:rPr lang="en-US" altLang="zh-TW" sz="2800" dirty="0"/>
              <a:t> packets</a:t>
            </a:r>
            <a:endParaRPr lang="zh-TW" altLang="en-US" sz="2800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301B268-4BE9-4FFE-A5EC-0D9D4C5C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91141" name="投影片編號版面配置區 4">
            <a:extLst>
              <a:ext uri="{FF2B5EF4-FFF2-40B4-BE49-F238E27FC236}">
                <a16:creationId xmlns:a16="http://schemas.microsoft.com/office/drawing/2014/main" id="{9009B7D6-331E-4C57-8D75-2455FA601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3637C7E6-2842-4221-9E25-A67097AAC5D0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42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Footer Placeholder 3">
            <a:extLst>
              <a:ext uri="{FF2B5EF4-FFF2-40B4-BE49-F238E27FC236}">
                <a16:creationId xmlns:a16="http://schemas.microsoft.com/office/drawing/2014/main" id="{E3797871-95C0-4B9B-9DC1-F931AFD03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92163" name="Slide Number Placeholder 4">
            <a:extLst>
              <a:ext uri="{FF2B5EF4-FFF2-40B4-BE49-F238E27FC236}">
                <a16:creationId xmlns:a16="http://schemas.microsoft.com/office/drawing/2014/main" id="{750A0584-C33A-49A3-9628-F037AE1F7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8CFEF07-D34E-48B0-AA07-1AC3C89C733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92164" name="Text Box 5">
            <a:extLst>
              <a:ext uri="{FF2B5EF4-FFF2-40B4-BE49-F238E27FC236}">
                <a16:creationId xmlns:a16="http://schemas.microsoft.com/office/drawing/2014/main" id="{8C38FD6F-4A53-438A-82E3-80666DC3A1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475" y="1330325"/>
            <a:ext cx="9366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u="sng">
                <a:solidFill>
                  <a:srgbClr val="000099"/>
                </a:solidFill>
                <a:latin typeface="Tahoma" panose="020B0604030504040204" pitchFamily="34" charset="0"/>
              </a:rPr>
              <a:t>sender</a:t>
            </a:r>
          </a:p>
        </p:txBody>
      </p:sp>
      <p:sp>
        <p:nvSpPr>
          <p:cNvPr id="92165" name="Text Box 6">
            <a:extLst>
              <a:ext uri="{FF2B5EF4-FFF2-40B4-BE49-F238E27FC236}">
                <a16:creationId xmlns:a16="http://schemas.microsoft.com/office/drawing/2014/main" id="{A68540E3-6F8A-443B-8A79-ECD30DFE4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1463" y="1325563"/>
            <a:ext cx="10715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u="sng">
                <a:solidFill>
                  <a:srgbClr val="008000"/>
                </a:solidFill>
                <a:latin typeface="Tahoma" panose="020B0604030504040204" pitchFamily="34" charset="0"/>
              </a:rPr>
              <a:t>receiver</a:t>
            </a:r>
          </a:p>
        </p:txBody>
      </p:sp>
      <p:sp>
        <p:nvSpPr>
          <p:cNvPr id="368648" name="Text Box 8">
            <a:extLst>
              <a:ext uri="{FF2B5EF4-FFF2-40B4-BE49-F238E27FC236}">
                <a16:creationId xmlns:a16="http://schemas.microsoft.com/office/drawing/2014/main" id="{A557BCAF-29DD-46F9-8480-DAC1968455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4638" y="2949575"/>
            <a:ext cx="10001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pkt1</a:t>
            </a:r>
          </a:p>
        </p:txBody>
      </p:sp>
      <p:sp>
        <p:nvSpPr>
          <p:cNvPr id="368650" name="Text Box 10">
            <a:extLst>
              <a:ext uri="{FF2B5EF4-FFF2-40B4-BE49-F238E27FC236}">
                <a16:creationId xmlns:a16="http://schemas.microsoft.com/office/drawing/2014/main" id="{680978B4-565E-462B-83EE-762F826E5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0988" y="3805238"/>
            <a:ext cx="1000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pkt0</a:t>
            </a:r>
          </a:p>
        </p:txBody>
      </p:sp>
      <p:sp>
        <p:nvSpPr>
          <p:cNvPr id="368651" name="Text Box 11">
            <a:extLst>
              <a:ext uri="{FF2B5EF4-FFF2-40B4-BE49-F238E27FC236}">
                <a16:creationId xmlns:a16="http://schemas.microsoft.com/office/drawing/2014/main" id="{5A058406-AE3A-4D1F-AE3E-36A537F8D3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7813" y="2263775"/>
            <a:ext cx="11969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ack0</a:t>
            </a:r>
          </a:p>
        </p:txBody>
      </p:sp>
      <p:sp>
        <p:nvSpPr>
          <p:cNvPr id="368652" name="Text Box 12">
            <a:extLst>
              <a:ext uri="{FF2B5EF4-FFF2-40B4-BE49-F238E27FC236}">
                <a16:creationId xmlns:a16="http://schemas.microsoft.com/office/drawing/2014/main" id="{DEC3038B-79D1-40C6-86D8-98D9FCD6F4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4638" y="3175000"/>
            <a:ext cx="11969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ack1</a:t>
            </a:r>
          </a:p>
        </p:txBody>
      </p:sp>
      <p:sp>
        <p:nvSpPr>
          <p:cNvPr id="368653" name="Text Box 13">
            <a:extLst>
              <a:ext uri="{FF2B5EF4-FFF2-40B4-BE49-F238E27FC236}">
                <a16:creationId xmlns:a16="http://schemas.microsoft.com/office/drawing/2014/main" id="{AAA9D8CC-CA24-4780-80EA-29FDB43BBC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4638" y="4000500"/>
            <a:ext cx="11969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ack0</a:t>
            </a:r>
          </a:p>
        </p:txBody>
      </p:sp>
      <p:sp>
        <p:nvSpPr>
          <p:cNvPr id="368654" name="Text Box 14">
            <a:extLst>
              <a:ext uri="{FF2B5EF4-FFF2-40B4-BE49-F238E27FC236}">
                <a16:creationId xmlns:a16="http://schemas.microsoft.com/office/drawing/2014/main" id="{47B25FF2-645C-45D5-BCF0-C0C4FEC303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038" y="2513013"/>
            <a:ext cx="1022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ack0</a:t>
            </a:r>
          </a:p>
        </p:txBody>
      </p:sp>
      <p:sp>
        <p:nvSpPr>
          <p:cNvPr id="368655" name="Text Box 15">
            <a:extLst>
              <a:ext uri="{FF2B5EF4-FFF2-40B4-BE49-F238E27FC236}">
                <a16:creationId xmlns:a16="http://schemas.microsoft.com/office/drawing/2014/main" id="{17EB3437-F555-49A8-B8CA-85E27E5F62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463" y="3606800"/>
            <a:ext cx="1174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pkt0</a:t>
            </a:r>
          </a:p>
        </p:txBody>
      </p:sp>
      <p:sp>
        <p:nvSpPr>
          <p:cNvPr id="368657" name="Text Box 17">
            <a:extLst>
              <a:ext uri="{FF2B5EF4-FFF2-40B4-BE49-F238E27FC236}">
                <a16:creationId xmlns:a16="http://schemas.microsoft.com/office/drawing/2014/main" id="{FE89A237-E9F8-432D-A7B6-989167981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463" y="2732088"/>
            <a:ext cx="1174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pkt1</a:t>
            </a:r>
          </a:p>
        </p:txBody>
      </p:sp>
      <p:sp>
        <p:nvSpPr>
          <p:cNvPr id="368658" name="Text Box 18">
            <a:extLst>
              <a:ext uri="{FF2B5EF4-FFF2-40B4-BE49-F238E27FC236}">
                <a16:creationId xmlns:a16="http://schemas.microsoft.com/office/drawing/2014/main" id="{37C56C17-7686-4582-BDBB-76451852BF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925" y="3367088"/>
            <a:ext cx="1022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ack1</a:t>
            </a:r>
          </a:p>
        </p:txBody>
      </p:sp>
      <p:sp>
        <p:nvSpPr>
          <p:cNvPr id="92175" name="Text Box 7">
            <a:extLst>
              <a:ext uri="{FF2B5EF4-FFF2-40B4-BE49-F238E27FC236}">
                <a16:creationId xmlns:a16="http://schemas.microsoft.com/office/drawing/2014/main" id="{4CDB2DE8-7999-4A79-B8DB-CAE8824856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350" y="1770063"/>
            <a:ext cx="1174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pkt0</a:t>
            </a:r>
          </a:p>
        </p:txBody>
      </p:sp>
      <p:sp>
        <p:nvSpPr>
          <p:cNvPr id="368649" name="Text Box 9">
            <a:extLst>
              <a:ext uri="{FF2B5EF4-FFF2-40B4-BE49-F238E27FC236}">
                <a16:creationId xmlns:a16="http://schemas.microsoft.com/office/drawing/2014/main" id="{ECE8E085-19C6-466A-BC9D-B4A68320B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9875" y="2052638"/>
            <a:ext cx="1000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pkt0</a:t>
            </a:r>
          </a:p>
        </p:txBody>
      </p:sp>
      <p:grpSp>
        <p:nvGrpSpPr>
          <p:cNvPr id="2" name="Group 37">
            <a:extLst>
              <a:ext uri="{FF2B5EF4-FFF2-40B4-BE49-F238E27FC236}">
                <a16:creationId xmlns:a16="http://schemas.microsoft.com/office/drawing/2014/main" id="{2001B22B-D76A-4571-BD31-C9CDCDD5B775}"/>
              </a:ext>
            </a:extLst>
          </p:cNvPr>
          <p:cNvGrpSpPr>
            <a:grpSpLocks/>
          </p:cNvGrpSpPr>
          <p:nvPr/>
        </p:nvGrpSpPr>
        <p:grpSpPr bwMode="auto">
          <a:xfrm>
            <a:off x="1349375" y="1839913"/>
            <a:ext cx="1471613" cy="512762"/>
            <a:chOff x="850" y="1159"/>
            <a:chExt cx="927" cy="323"/>
          </a:xfrm>
        </p:grpSpPr>
        <p:sp>
          <p:nvSpPr>
            <p:cNvPr id="92240" name="Line 19">
              <a:extLst>
                <a:ext uri="{FF2B5EF4-FFF2-40B4-BE49-F238E27FC236}">
                  <a16:creationId xmlns:a16="http://schemas.microsoft.com/office/drawing/2014/main" id="{2C8F9BAE-76C2-4ECB-BE36-C23674A4B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0" y="1257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41" name="Text Box 28">
              <a:extLst>
                <a:ext uri="{FF2B5EF4-FFF2-40B4-BE49-F238E27FC236}">
                  <a16:creationId xmlns:a16="http://schemas.microsoft.com/office/drawing/2014/main" id="{35B6FBB1-D730-40E4-8E3C-1EE20BB8F3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0" y="1159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pkt0</a:t>
              </a:r>
            </a:p>
          </p:txBody>
        </p:sp>
      </p:grpSp>
      <p:grpSp>
        <p:nvGrpSpPr>
          <p:cNvPr id="3" name="Group 43">
            <a:extLst>
              <a:ext uri="{FF2B5EF4-FFF2-40B4-BE49-F238E27FC236}">
                <a16:creationId xmlns:a16="http://schemas.microsoft.com/office/drawing/2014/main" id="{3933F39D-F4BA-4DED-B784-874DA85AE049}"/>
              </a:ext>
            </a:extLst>
          </p:cNvPr>
          <p:cNvGrpSpPr>
            <a:grpSpLocks/>
          </p:cNvGrpSpPr>
          <p:nvPr/>
        </p:nvGrpSpPr>
        <p:grpSpPr bwMode="auto">
          <a:xfrm>
            <a:off x="1343025" y="3576638"/>
            <a:ext cx="1471613" cy="487362"/>
            <a:chOff x="846" y="2253"/>
            <a:chExt cx="927" cy="307"/>
          </a:xfrm>
        </p:grpSpPr>
        <p:sp>
          <p:nvSpPr>
            <p:cNvPr id="92238" name="Line 24">
              <a:extLst>
                <a:ext uri="{FF2B5EF4-FFF2-40B4-BE49-F238E27FC236}">
                  <a16:creationId xmlns:a16="http://schemas.microsoft.com/office/drawing/2014/main" id="{710B631E-438D-47BF-B46E-1A7835A030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46" y="2335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39" name="Text Box 29">
              <a:extLst>
                <a:ext uri="{FF2B5EF4-FFF2-40B4-BE49-F238E27FC236}">
                  <a16:creationId xmlns:a16="http://schemas.microsoft.com/office/drawing/2014/main" id="{30AFF03B-11C7-4AC3-8E62-B54780FEEE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7" y="2253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pkt0</a:t>
              </a:r>
            </a:p>
          </p:txBody>
        </p:sp>
      </p:grpSp>
      <p:grpSp>
        <p:nvGrpSpPr>
          <p:cNvPr id="4" name="Group 39">
            <a:extLst>
              <a:ext uri="{FF2B5EF4-FFF2-40B4-BE49-F238E27FC236}">
                <a16:creationId xmlns:a16="http://schemas.microsoft.com/office/drawing/2014/main" id="{80FCFFC3-527A-4D70-844C-10352F1DC8D5}"/>
              </a:ext>
            </a:extLst>
          </p:cNvPr>
          <p:cNvGrpSpPr>
            <a:grpSpLocks/>
          </p:cNvGrpSpPr>
          <p:nvPr/>
        </p:nvGrpSpPr>
        <p:grpSpPr bwMode="auto">
          <a:xfrm>
            <a:off x="1357313" y="2714625"/>
            <a:ext cx="1471612" cy="504825"/>
            <a:chOff x="855" y="1710"/>
            <a:chExt cx="927" cy="318"/>
          </a:xfrm>
        </p:grpSpPr>
        <p:sp>
          <p:nvSpPr>
            <p:cNvPr id="92236" name="Line 23">
              <a:extLst>
                <a:ext uri="{FF2B5EF4-FFF2-40B4-BE49-F238E27FC236}">
                  <a16:creationId xmlns:a16="http://schemas.microsoft.com/office/drawing/2014/main" id="{CE528827-B369-4027-83A7-221B913A64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5" y="1803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37" name="Text Box 30">
              <a:extLst>
                <a:ext uri="{FF2B5EF4-FFF2-40B4-BE49-F238E27FC236}">
                  <a16:creationId xmlns:a16="http://schemas.microsoft.com/office/drawing/2014/main" id="{C037A840-701C-488A-A931-2ED828BB78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" y="1710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pkt1</a:t>
              </a:r>
            </a:p>
          </p:txBody>
        </p:sp>
      </p:grpSp>
      <p:grpSp>
        <p:nvGrpSpPr>
          <p:cNvPr id="5" name="Group 40">
            <a:extLst>
              <a:ext uri="{FF2B5EF4-FFF2-40B4-BE49-F238E27FC236}">
                <a16:creationId xmlns:a16="http://schemas.microsoft.com/office/drawing/2014/main" id="{E4396F16-D9F4-4A5B-8FA3-0FC793662861}"/>
              </a:ext>
            </a:extLst>
          </p:cNvPr>
          <p:cNvGrpSpPr>
            <a:grpSpLocks/>
          </p:cNvGrpSpPr>
          <p:nvPr/>
        </p:nvGrpSpPr>
        <p:grpSpPr bwMode="auto">
          <a:xfrm>
            <a:off x="1343025" y="3179763"/>
            <a:ext cx="1471613" cy="471487"/>
            <a:chOff x="846" y="2003"/>
            <a:chExt cx="927" cy="297"/>
          </a:xfrm>
        </p:grpSpPr>
        <p:sp>
          <p:nvSpPr>
            <p:cNvPr id="92234" name="Line 26">
              <a:extLst>
                <a:ext uri="{FF2B5EF4-FFF2-40B4-BE49-F238E27FC236}">
                  <a16:creationId xmlns:a16="http://schemas.microsoft.com/office/drawing/2014/main" id="{6BBB6C14-6EAB-479C-B2C2-A879B037EF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46" y="2075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35" name="Text Box 31">
              <a:extLst>
                <a:ext uri="{FF2B5EF4-FFF2-40B4-BE49-F238E27FC236}">
                  <a16:creationId xmlns:a16="http://schemas.microsoft.com/office/drawing/2014/main" id="{96694DF2-1650-470A-BAF2-9485A7C393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2" y="2003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ack1</a:t>
              </a:r>
            </a:p>
          </p:txBody>
        </p:sp>
      </p:grpSp>
      <p:grpSp>
        <p:nvGrpSpPr>
          <p:cNvPr id="6" name="Group 38">
            <a:extLst>
              <a:ext uri="{FF2B5EF4-FFF2-40B4-BE49-F238E27FC236}">
                <a16:creationId xmlns:a16="http://schemas.microsoft.com/office/drawing/2014/main" id="{BDF9FEF1-CEF7-4047-9DF4-E027F0843B90}"/>
              </a:ext>
            </a:extLst>
          </p:cNvPr>
          <p:cNvGrpSpPr>
            <a:grpSpLocks/>
          </p:cNvGrpSpPr>
          <p:nvPr/>
        </p:nvGrpSpPr>
        <p:grpSpPr bwMode="auto">
          <a:xfrm>
            <a:off x="1335088" y="2339975"/>
            <a:ext cx="1471612" cy="455613"/>
            <a:chOff x="841" y="1474"/>
            <a:chExt cx="927" cy="287"/>
          </a:xfrm>
        </p:grpSpPr>
        <p:sp>
          <p:nvSpPr>
            <p:cNvPr id="92232" name="Line 25">
              <a:extLst>
                <a:ext uri="{FF2B5EF4-FFF2-40B4-BE49-F238E27FC236}">
                  <a16:creationId xmlns:a16="http://schemas.microsoft.com/office/drawing/2014/main" id="{D8161541-7848-4538-B724-97FC680873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41" y="1536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33" name="Text Box 32">
              <a:extLst>
                <a:ext uri="{FF2B5EF4-FFF2-40B4-BE49-F238E27FC236}">
                  <a16:creationId xmlns:a16="http://schemas.microsoft.com/office/drawing/2014/main" id="{F9BAFDD5-490C-4B20-B9B2-83DDB761B9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9" y="1474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ack0</a:t>
              </a:r>
            </a:p>
          </p:txBody>
        </p:sp>
      </p:grpSp>
      <p:grpSp>
        <p:nvGrpSpPr>
          <p:cNvPr id="7" name="Group 44">
            <a:extLst>
              <a:ext uri="{FF2B5EF4-FFF2-40B4-BE49-F238E27FC236}">
                <a16:creationId xmlns:a16="http://schemas.microsoft.com/office/drawing/2014/main" id="{78AC7BA1-AC87-4964-8EAA-E15B37F9F5D8}"/>
              </a:ext>
            </a:extLst>
          </p:cNvPr>
          <p:cNvGrpSpPr>
            <a:grpSpLocks/>
          </p:cNvGrpSpPr>
          <p:nvPr/>
        </p:nvGrpSpPr>
        <p:grpSpPr bwMode="auto">
          <a:xfrm>
            <a:off x="1328738" y="4032250"/>
            <a:ext cx="1471612" cy="461963"/>
            <a:chOff x="837" y="2540"/>
            <a:chExt cx="927" cy="291"/>
          </a:xfrm>
        </p:grpSpPr>
        <p:sp>
          <p:nvSpPr>
            <p:cNvPr id="92230" name="Line 27">
              <a:extLst>
                <a:ext uri="{FF2B5EF4-FFF2-40B4-BE49-F238E27FC236}">
                  <a16:creationId xmlns:a16="http://schemas.microsoft.com/office/drawing/2014/main" id="{D218A77A-BF52-4450-8323-91A8729292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37" y="2606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31" name="Text Box 33">
              <a:extLst>
                <a:ext uri="{FF2B5EF4-FFF2-40B4-BE49-F238E27FC236}">
                  <a16:creationId xmlns:a16="http://schemas.microsoft.com/office/drawing/2014/main" id="{A6C88920-2ED8-488C-9658-0ABF70DC9E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6" y="2540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ack0</a:t>
              </a:r>
            </a:p>
          </p:txBody>
        </p:sp>
      </p:grpSp>
      <p:sp>
        <p:nvSpPr>
          <p:cNvPr id="92183" name="Text Box 45">
            <a:extLst>
              <a:ext uri="{FF2B5EF4-FFF2-40B4-BE49-F238E27FC236}">
                <a16:creationId xmlns:a16="http://schemas.microsoft.com/office/drawing/2014/main" id="{A8BD4F47-576E-490E-BEE4-3211603D5E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6713" y="5111750"/>
            <a:ext cx="12525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(a) no loss</a:t>
            </a:r>
          </a:p>
        </p:txBody>
      </p:sp>
      <p:sp>
        <p:nvSpPr>
          <p:cNvPr id="92184" name="Text Box 46">
            <a:extLst>
              <a:ext uri="{FF2B5EF4-FFF2-40B4-BE49-F238E27FC236}">
                <a16:creationId xmlns:a16="http://schemas.microsoft.com/office/drawing/2014/main" id="{3BF47381-64BA-41C7-9F08-9BBCA47A48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29188" y="1327150"/>
            <a:ext cx="9366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u="sng">
                <a:solidFill>
                  <a:srgbClr val="000099"/>
                </a:solidFill>
                <a:latin typeface="Tahoma" panose="020B0604030504040204" pitchFamily="34" charset="0"/>
              </a:rPr>
              <a:t>sender</a:t>
            </a:r>
          </a:p>
        </p:txBody>
      </p:sp>
      <p:sp>
        <p:nvSpPr>
          <p:cNvPr id="92185" name="Text Box 47">
            <a:extLst>
              <a:ext uri="{FF2B5EF4-FFF2-40B4-BE49-F238E27FC236}">
                <a16:creationId xmlns:a16="http://schemas.microsoft.com/office/drawing/2014/main" id="{448035F1-624A-4C35-854F-DC48FB193E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9175" y="1322388"/>
            <a:ext cx="10715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u="sng">
                <a:solidFill>
                  <a:srgbClr val="008000"/>
                </a:solidFill>
                <a:latin typeface="Tahoma" panose="020B0604030504040204" pitchFamily="34" charset="0"/>
              </a:rPr>
              <a:t>receiver</a:t>
            </a:r>
          </a:p>
        </p:txBody>
      </p:sp>
      <p:sp>
        <p:nvSpPr>
          <p:cNvPr id="368688" name="Text Box 48">
            <a:extLst>
              <a:ext uri="{FF2B5EF4-FFF2-40B4-BE49-F238E27FC236}">
                <a16:creationId xmlns:a16="http://schemas.microsoft.com/office/drawing/2014/main" id="{6AF0091B-4022-4999-9356-522403C713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70763" y="4238625"/>
            <a:ext cx="10001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pkt1</a:t>
            </a:r>
          </a:p>
        </p:txBody>
      </p:sp>
      <p:sp>
        <p:nvSpPr>
          <p:cNvPr id="368689" name="Text Box 49">
            <a:extLst>
              <a:ext uri="{FF2B5EF4-FFF2-40B4-BE49-F238E27FC236}">
                <a16:creationId xmlns:a16="http://schemas.microsoft.com/office/drawing/2014/main" id="{C105D0D0-EFAB-4A54-9753-41528A3D96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78700" y="5080000"/>
            <a:ext cx="10001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pkt0</a:t>
            </a:r>
          </a:p>
        </p:txBody>
      </p:sp>
      <p:sp>
        <p:nvSpPr>
          <p:cNvPr id="368690" name="Text Box 50">
            <a:extLst>
              <a:ext uri="{FF2B5EF4-FFF2-40B4-BE49-F238E27FC236}">
                <a16:creationId xmlns:a16="http://schemas.microsoft.com/office/drawing/2014/main" id="{AC450362-2DEA-4D10-BA67-4379FD424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75525" y="2260600"/>
            <a:ext cx="11969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ack0</a:t>
            </a:r>
          </a:p>
        </p:txBody>
      </p:sp>
      <p:sp>
        <p:nvSpPr>
          <p:cNvPr id="368691" name="Text Box 51">
            <a:extLst>
              <a:ext uri="{FF2B5EF4-FFF2-40B4-BE49-F238E27FC236}">
                <a16:creationId xmlns:a16="http://schemas.microsoft.com/office/drawing/2014/main" id="{AA6FB55B-468F-434D-A4CF-F7ABDA8B95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72350" y="4449763"/>
            <a:ext cx="11969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ack1</a:t>
            </a:r>
          </a:p>
        </p:txBody>
      </p:sp>
      <p:sp>
        <p:nvSpPr>
          <p:cNvPr id="368692" name="Text Box 52">
            <a:extLst>
              <a:ext uri="{FF2B5EF4-FFF2-40B4-BE49-F238E27FC236}">
                <a16:creationId xmlns:a16="http://schemas.microsoft.com/office/drawing/2014/main" id="{078133AF-55EF-47ED-A802-D24B4EADE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72350" y="5275263"/>
            <a:ext cx="11969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ack0</a:t>
            </a:r>
          </a:p>
        </p:txBody>
      </p:sp>
      <p:sp>
        <p:nvSpPr>
          <p:cNvPr id="368693" name="Text Box 53">
            <a:extLst>
              <a:ext uri="{FF2B5EF4-FFF2-40B4-BE49-F238E27FC236}">
                <a16:creationId xmlns:a16="http://schemas.microsoft.com/office/drawing/2014/main" id="{87A28240-8B1A-4436-96FC-5AAEEB510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7750" y="2509838"/>
            <a:ext cx="1022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ack0</a:t>
            </a:r>
          </a:p>
        </p:txBody>
      </p:sp>
      <p:sp>
        <p:nvSpPr>
          <p:cNvPr id="368694" name="Text Box 54">
            <a:extLst>
              <a:ext uri="{FF2B5EF4-FFF2-40B4-BE49-F238E27FC236}">
                <a16:creationId xmlns:a16="http://schemas.microsoft.com/office/drawing/2014/main" id="{CE861003-7670-485B-9108-A9C019A65C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2175" y="4881563"/>
            <a:ext cx="1174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pkt0</a:t>
            </a:r>
          </a:p>
        </p:txBody>
      </p:sp>
      <p:sp>
        <p:nvSpPr>
          <p:cNvPr id="368695" name="Text Box 55">
            <a:extLst>
              <a:ext uri="{FF2B5EF4-FFF2-40B4-BE49-F238E27FC236}">
                <a16:creationId xmlns:a16="http://schemas.microsoft.com/office/drawing/2014/main" id="{B7B142A8-300B-45B8-B3D1-CCA3845FB7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2175" y="2728913"/>
            <a:ext cx="1174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pkt1</a:t>
            </a:r>
          </a:p>
        </p:txBody>
      </p:sp>
      <p:sp>
        <p:nvSpPr>
          <p:cNvPr id="368696" name="Text Box 56">
            <a:extLst>
              <a:ext uri="{FF2B5EF4-FFF2-40B4-BE49-F238E27FC236}">
                <a16:creationId xmlns:a16="http://schemas.microsoft.com/office/drawing/2014/main" id="{5B743B22-DEAD-4A51-99BC-35B308D897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6638" y="4641850"/>
            <a:ext cx="1022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ack1</a:t>
            </a:r>
          </a:p>
        </p:txBody>
      </p:sp>
      <p:sp>
        <p:nvSpPr>
          <p:cNvPr id="92195" name="Text Box 57">
            <a:extLst>
              <a:ext uri="{FF2B5EF4-FFF2-40B4-BE49-F238E27FC236}">
                <a16:creationId xmlns:a16="http://schemas.microsoft.com/office/drawing/2014/main" id="{F40CC41E-9DA4-4326-803E-C3AD3E1CD6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1063" y="1766888"/>
            <a:ext cx="1174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pkt0</a:t>
            </a:r>
          </a:p>
        </p:txBody>
      </p:sp>
      <p:sp>
        <p:nvSpPr>
          <p:cNvPr id="368698" name="Text Box 58">
            <a:extLst>
              <a:ext uri="{FF2B5EF4-FFF2-40B4-BE49-F238E27FC236}">
                <a16:creationId xmlns:a16="http://schemas.microsoft.com/office/drawing/2014/main" id="{2CF79440-62C6-4728-851A-5EDF273D8A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7588" y="2049463"/>
            <a:ext cx="1000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pkt0</a:t>
            </a:r>
          </a:p>
        </p:txBody>
      </p:sp>
      <p:grpSp>
        <p:nvGrpSpPr>
          <p:cNvPr id="8" name="Group 59">
            <a:extLst>
              <a:ext uri="{FF2B5EF4-FFF2-40B4-BE49-F238E27FC236}">
                <a16:creationId xmlns:a16="http://schemas.microsoft.com/office/drawing/2014/main" id="{0F416A7E-5324-4DDC-B7E1-131A460AF570}"/>
              </a:ext>
            </a:extLst>
          </p:cNvPr>
          <p:cNvGrpSpPr>
            <a:grpSpLocks/>
          </p:cNvGrpSpPr>
          <p:nvPr/>
        </p:nvGrpSpPr>
        <p:grpSpPr bwMode="auto">
          <a:xfrm>
            <a:off x="5907088" y="1836738"/>
            <a:ext cx="1471612" cy="512762"/>
            <a:chOff x="850" y="1159"/>
            <a:chExt cx="927" cy="323"/>
          </a:xfrm>
        </p:grpSpPr>
        <p:sp>
          <p:nvSpPr>
            <p:cNvPr id="92228" name="Line 60">
              <a:extLst>
                <a:ext uri="{FF2B5EF4-FFF2-40B4-BE49-F238E27FC236}">
                  <a16:creationId xmlns:a16="http://schemas.microsoft.com/office/drawing/2014/main" id="{61390D66-82C5-42AC-94F8-CCE8A4A716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0" y="1257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29" name="Text Box 61">
              <a:extLst>
                <a:ext uri="{FF2B5EF4-FFF2-40B4-BE49-F238E27FC236}">
                  <a16:creationId xmlns:a16="http://schemas.microsoft.com/office/drawing/2014/main" id="{14FC1232-D9E2-4491-B529-103C6A5EF3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0" y="1159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pkt0</a:t>
              </a:r>
            </a:p>
          </p:txBody>
        </p:sp>
      </p:grpSp>
      <p:grpSp>
        <p:nvGrpSpPr>
          <p:cNvPr id="9" name="Group 62">
            <a:extLst>
              <a:ext uri="{FF2B5EF4-FFF2-40B4-BE49-F238E27FC236}">
                <a16:creationId xmlns:a16="http://schemas.microsoft.com/office/drawing/2014/main" id="{236ADF57-97B0-4D5E-8A29-DCC5479D45B7}"/>
              </a:ext>
            </a:extLst>
          </p:cNvPr>
          <p:cNvGrpSpPr>
            <a:grpSpLocks/>
          </p:cNvGrpSpPr>
          <p:nvPr/>
        </p:nvGrpSpPr>
        <p:grpSpPr bwMode="auto">
          <a:xfrm>
            <a:off x="5900738" y="4851400"/>
            <a:ext cx="1471612" cy="487363"/>
            <a:chOff x="846" y="2253"/>
            <a:chExt cx="927" cy="307"/>
          </a:xfrm>
        </p:grpSpPr>
        <p:sp>
          <p:nvSpPr>
            <p:cNvPr id="92226" name="Line 63">
              <a:extLst>
                <a:ext uri="{FF2B5EF4-FFF2-40B4-BE49-F238E27FC236}">
                  <a16:creationId xmlns:a16="http://schemas.microsoft.com/office/drawing/2014/main" id="{B0702D7A-1FEF-4DAC-ABAB-B10FF764E6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46" y="2335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27" name="Text Box 64">
              <a:extLst>
                <a:ext uri="{FF2B5EF4-FFF2-40B4-BE49-F238E27FC236}">
                  <a16:creationId xmlns:a16="http://schemas.microsoft.com/office/drawing/2014/main" id="{78171108-C3DE-4208-80E1-27FE2FC379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7" y="2253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pkt0</a:t>
              </a:r>
            </a:p>
          </p:txBody>
        </p:sp>
      </p:grpSp>
      <p:grpSp>
        <p:nvGrpSpPr>
          <p:cNvPr id="10" name="Group 68">
            <a:extLst>
              <a:ext uri="{FF2B5EF4-FFF2-40B4-BE49-F238E27FC236}">
                <a16:creationId xmlns:a16="http://schemas.microsoft.com/office/drawing/2014/main" id="{3498271D-99C3-41CE-B4FB-8B987D3EB18A}"/>
              </a:ext>
            </a:extLst>
          </p:cNvPr>
          <p:cNvGrpSpPr>
            <a:grpSpLocks/>
          </p:cNvGrpSpPr>
          <p:nvPr/>
        </p:nvGrpSpPr>
        <p:grpSpPr bwMode="auto">
          <a:xfrm>
            <a:off x="5900738" y="4454525"/>
            <a:ext cx="1471612" cy="471488"/>
            <a:chOff x="846" y="2003"/>
            <a:chExt cx="927" cy="297"/>
          </a:xfrm>
        </p:grpSpPr>
        <p:sp>
          <p:nvSpPr>
            <p:cNvPr id="92224" name="Line 69">
              <a:extLst>
                <a:ext uri="{FF2B5EF4-FFF2-40B4-BE49-F238E27FC236}">
                  <a16:creationId xmlns:a16="http://schemas.microsoft.com/office/drawing/2014/main" id="{19BC2F57-F097-449C-9E34-F757688B44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46" y="2075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25" name="Text Box 70">
              <a:extLst>
                <a:ext uri="{FF2B5EF4-FFF2-40B4-BE49-F238E27FC236}">
                  <a16:creationId xmlns:a16="http://schemas.microsoft.com/office/drawing/2014/main" id="{5A6B1716-469A-406F-BFE8-2BD55F7C2D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2" y="2003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ack1</a:t>
              </a:r>
            </a:p>
          </p:txBody>
        </p:sp>
      </p:grpSp>
      <p:grpSp>
        <p:nvGrpSpPr>
          <p:cNvPr id="11" name="Group 71">
            <a:extLst>
              <a:ext uri="{FF2B5EF4-FFF2-40B4-BE49-F238E27FC236}">
                <a16:creationId xmlns:a16="http://schemas.microsoft.com/office/drawing/2014/main" id="{927DA2EC-AED6-43F6-8B1B-A963ED1A1881}"/>
              </a:ext>
            </a:extLst>
          </p:cNvPr>
          <p:cNvGrpSpPr>
            <a:grpSpLocks/>
          </p:cNvGrpSpPr>
          <p:nvPr/>
        </p:nvGrpSpPr>
        <p:grpSpPr bwMode="auto">
          <a:xfrm>
            <a:off x="5892800" y="2336800"/>
            <a:ext cx="1471613" cy="455613"/>
            <a:chOff x="841" y="1474"/>
            <a:chExt cx="927" cy="287"/>
          </a:xfrm>
        </p:grpSpPr>
        <p:sp>
          <p:nvSpPr>
            <p:cNvPr id="92222" name="Line 72">
              <a:extLst>
                <a:ext uri="{FF2B5EF4-FFF2-40B4-BE49-F238E27FC236}">
                  <a16:creationId xmlns:a16="http://schemas.microsoft.com/office/drawing/2014/main" id="{3F2D4314-78A9-46D6-84BC-AEB91DA27F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41" y="1536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23" name="Text Box 73">
              <a:extLst>
                <a:ext uri="{FF2B5EF4-FFF2-40B4-BE49-F238E27FC236}">
                  <a16:creationId xmlns:a16="http://schemas.microsoft.com/office/drawing/2014/main" id="{FA3C9F70-CA9D-493F-B616-F1235AE25E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9" y="1474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ack0</a:t>
              </a:r>
            </a:p>
          </p:txBody>
        </p:sp>
      </p:grpSp>
      <p:grpSp>
        <p:nvGrpSpPr>
          <p:cNvPr id="12" name="Group 74">
            <a:extLst>
              <a:ext uri="{FF2B5EF4-FFF2-40B4-BE49-F238E27FC236}">
                <a16:creationId xmlns:a16="http://schemas.microsoft.com/office/drawing/2014/main" id="{548DDE18-F39F-4948-AC0D-B2618BF43387}"/>
              </a:ext>
            </a:extLst>
          </p:cNvPr>
          <p:cNvGrpSpPr>
            <a:grpSpLocks/>
          </p:cNvGrpSpPr>
          <p:nvPr/>
        </p:nvGrpSpPr>
        <p:grpSpPr bwMode="auto">
          <a:xfrm>
            <a:off x="5886450" y="5302250"/>
            <a:ext cx="1471613" cy="466725"/>
            <a:chOff x="837" y="2537"/>
            <a:chExt cx="927" cy="294"/>
          </a:xfrm>
        </p:grpSpPr>
        <p:sp>
          <p:nvSpPr>
            <p:cNvPr id="92220" name="Line 75">
              <a:extLst>
                <a:ext uri="{FF2B5EF4-FFF2-40B4-BE49-F238E27FC236}">
                  <a16:creationId xmlns:a16="http://schemas.microsoft.com/office/drawing/2014/main" id="{0D89C5E8-B4C3-4080-8A11-63EAED908EB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37" y="2606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21" name="Text Box 76">
              <a:extLst>
                <a:ext uri="{FF2B5EF4-FFF2-40B4-BE49-F238E27FC236}">
                  <a16:creationId xmlns:a16="http://schemas.microsoft.com/office/drawing/2014/main" id="{FD546268-F890-48FC-B570-DD1047E526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1" y="2537"/>
              <a:ext cx="37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Tahoma" panose="020B0604030504040204" pitchFamily="34" charset="0"/>
                </a:rPr>
                <a:t>ack0</a:t>
              </a:r>
            </a:p>
          </p:txBody>
        </p:sp>
      </p:grpSp>
      <p:sp>
        <p:nvSpPr>
          <p:cNvPr id="92202" name="Text Box 78">
            <a:extLst>
              <a:ext uri="{FF2B5EF4-FFF2-40B4-BE49-F238E27FC236}">
                <a16:creationId xmlns:a16="http://schemas.microsoft.com/office/drawing/2014/main" id="{6BE5F6FD-D6B1-4BF4-8168-C5F0BFFFF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113" y="6019800"/>
            <a:ext cx="167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(b) packet loss</a:t>
            </a:r>
          </a:p>
        </p:txBody>
      </p:sp>
      <p:grpSp>
        <p:nvGrpSpPr>
          <p:cNvPr id="13" name="Group 81">
            <a:extLst>
              <a:ext uri="{FF2B5EF4-FFF2-40B4-BE49-F238E27FC236}">
                <a16:creationId xmlns:a16="http://schemas.microsoft.com/office/drawing/2014/main" id="{4723602C-8F80-478B-9A59-197E337D8200}"/>
              </a:ext>
            </a:extLst>
          </p:cNvPr>
          <p:cNvGrpSpPr>
            <a:grpSpLocks/>
          </p:cNvGrpSpPr>
          <p:nvPr/>
        </p:nvGrpSpPr>
        <p:grpSpPr bwMode="auto">
          <a:xfrm>
            <a:off x="5915025" y="2711450"/>
            <a:ext cx="1157288" cy="738188"/>
            <a:chOff x="3726" y="1687"/>
            <a:chExt cx="729" cy="465"/>
          </a:xfrm>
        </p:grpSpPr>
        <p:sp>
          <p:nvSpPr>
            <p:cNvPr id="92216" name="Line 66">
              <a:extLst>
                <a:ext uri="{FF2B5EF4-FFF2-40B4-BE49-F238E27FC236}">
                  <a16:creationId xmlns:a16="http://schemas.microsoft.com/office/drawing/2014/main" id="{D64B4D4F-B55B-4D39-9AA4-4F8AFCED48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6" y="1780"/>
              <a:ext cx="548" cy="148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17" name="Text Box 67">
              <a:extLst>
                <a:ext uri="{FF2B5EF4-FFF2-40B4-BE49-F238E27FC236}">
                  <a16:creationId xmlns:a16="http://schemas.microsoft.com/office/drawing/2014/main" id="{B044E6F8-E334-4661-ABBF-FA3DCFCBD8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5" y="1687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pkt1</a:t>
              </a:r>
            </a:p>
          </p:txBody>
        </p:sp>
        <p:sp>
          <p:nvSpPr>
            <p:cNvPr id="92218" name="Text Box 79">
              <a:extLst>
                <a:ext uri="{FF2B5EF4-FFF2-40B4-BE49-F238E27FC236}">
                  <a16:creationId xmlns:a16="http://schemas.microsoft.com/office/drawing/2014/main" id="{522308F3-0C29-423F-817D-967BDFC5C8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5" y="1808"/>
              <a:ext cx="21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>
                  <a:solidFill>
                    <a:srgbClr val="FF0000"/>
                  </a:solidFill>
                  <a:latin typeface="Tahoma" panose="020B0604030504040204" pitchFamily="34" charset="0"/>
                </a:rPr>
                <a:t>X</a:t>
              </a:r>
            </a:p>
          </p:txBody>
        </p:sp>
        <p:sp>
          <p:nvSpPr>
            <p:cNvPr id="92219" name="Text Box 80">
              <a:extLst>
                <a:ext uri="{FF2B5EF4-FFF2-40B4-BE49-F238E27FC236}">
                  <a16:creationId xmlns:a16="http://schemas.microsoft.com/office/drawing/2014/main" id="{808F756A-F040-40DF-8ADF-514B09F795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6" y="1940"/>
              <a:ext cx="32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solidFill>
                    <a:srgbClr val="FF0000"/>
                  </a:solidFill>
                  <a:latin typeface="Tahoma" panose="020B0604030504040204" pitchFamily="34" charset="0"/>
                </a:rPr>
                <a:t>loss</a:t>
              </a:r>
            </a:p>
          </p:txBody>
        </p:sp>
      </p:grpSp>
      <p:grpSp>
        <p:nvGrpSpPr>
          <p:cNvPr id="14" name="Group 86">
            <a:extLst>
              <a:ext uri="{FF2B5EF4-FFF2-40B4-BE49-F238E27FC236}">
                <a16:creationId xmlns:a16="http://schemas.microsoft.com/office/drawing/2014/main" id="{5FFF0D64-BD02-447A-B076-B644421B4062}"/>
              </a:ext>
            </a:extLst>
          </p:cNvPr>
          <p:cNvGrpSpPr>
            <a:grpSpLocks/>
          </p:cNvGrpSpPr>
          <p:nvPr/>
        </p:nvGrpSpPr>
        <p:grpSpPr bwMode="auto">
          <a:xfrm>
            <a:off x="5795963" y="3014663"/>
            <a:ext cx="122237" cy="1033462"/>
            <a:chOff x="3651" y="1878"/>
            <a:chExt cx="78" cy="963"/>
          </a:xfrm>
        </p:grpSpPr>
        <p:sp>
          <p:nvSpPr>
            <p:cNvPr id="92213" name="Line 82">
              <a:extLst>
                <a:ext uri="{FF2B5EF4-FFF2-40B4-BE49-F238E27FC236}">
                  <a16:creationId xmlns:a16="http://schemas.microsoft.com/office/drawing/2014/main" id="{26AA1CAF-4164-48C5-BFB5-B3404D5133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9" y="1879"/>
              <a:ext cx="0" cy="9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14" name="Line 84">
              <a:extLst>
                <a:ext uri="{FF2B5EF4-FFF2-40B4-BE49-F238E27FC236}">
                  <a16:creationId xmlns:a16="http://schemas.microsoft.com/office/drawing/2014/main" id="{D0A6893E-4E09-46CE-80F9-ED3F3A9EE4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651" y="1878"/>
              <a:ext cx="75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15" name="Line 85">
              <a:extLst>
                <a:ext uri="{FF2B5EF4-FFF2-40B4-BE49-F238E27FC236}">
                  <a16:creationId xmlns:a16="http://schemas.microsoft.com/office/drawing/2014/main" id="{BEB7F289-0002-4953-B682-D4471D0B45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651" y="2841"/>
              <a:ext cx="75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5" name="Group 88">
            <a:extLst>
              <a:ext uri="{FF2B5EF4-FFF2-40B4-BE49-F238E27FC236}">
                <a16:creationId xmlns:a16="http://schemas.microsoft.com/office/drawing/2014/main" id="{90013D35-C936-471E-832F-EBD23B9F8E27}"/>
              </a:ext>
            </a:extLst>
          </p:cNvPr>
          <p:cNvGrpSpPr>
            <a:grpSpLocks/>
          </p:cNvGrpSpPr>
          <p:nvPr/>
        </p:nvGrpSpPr>
        <p:grpSpPr bwMode="auto">
          <a:xfrm>
            <a:off x="5924550" y="4003675"/>
            <a:ext cx="1471613" cy="504825"/>
            <a:chOff x="855" y="1710"/>
            <a:chExt cx="927" cy="318"/>
          </a:xfrm>
        </p:grpSpPr>
        <p:sp>
          <p:nvSpPr>
            <p:cNvPr id="92211" name="Line 89">
              <a:extLst>
                <a:ext uri="{FF2B5EF4-FFF2-40B4-BE49-F238E27FC236}">
                  <a16:creationId xmlns:a16="http://schemas.microsoft.com/office/drawing/2014/main" id="{DB27E797-DDDB-45AD-BE92-65FD7F1C0D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5" y="1803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2212" name="Text Box 90">
              <a:extLst>
                <a:ext uri="{FF2B5EF4-FFF2-40B4-BE49-F238E27FC236}">
                  <a16:creationId xmlns:a16="http://schemas.microsoft.com/office/drawing/2014/main" id="{84866624-1DDF-4779-B547-6948150797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" y="1710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pkt1</a:t>
              </a:r>
            </a:p>
          </p:txBody>
        </p:sp>
      </p:grpSp>
      <p:grpSp>
        <p:nvGrpSpPr>
          <p:cNvPr id="16" name="Group 92">
            <a:extLst>
              <a:ext uri="{FF2B5EF4-FFF2-40B4-BE49-F238E27FC236}">
                <a16:creationId xmlns:a16="http://schemas.microsoft.com/office/drawing/2014/main" id="{5666662B-E954-4B85-925E-3234DDA01D26}"/>
              </a:ext>
            </a:extLst>
          </p:cNvPr>
          <p:cNvGrpSpPr>
            <a:grpSpLocks/>
          </p:cNvGrpSpPr>
          <p:nvPr/>
        </p:nvGrpSpPr>
        <p:grpSpPr bwMode="auto">
          <a:xfrm>
            <a:off x="4492625" y="3627438"/>
            <a:ext cx="1377950" cy="731837"/>
            <a:chOff x="2802" y="2348"/>
            <a:chExt cx="868" cy="461"/>
          </a:xfrm>
        </p:grpSpPr>
        <p:pic>
          <p:nvPicPr>
            <p:cNvPr id="92209" name="Picture 87" descr="alarm_clock_ringing">
              <a:extLst>
                <a:ext uri="{FF2B5EF4-FFF2-40B4-BE49-F238E27FC236}">
                  <a16:creationId xmlns:a16="http://schemas.microsoft.com/office/drawing/2014/main" id="{1BB3D7D0-F167-429E-92D9-D96066E693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46" y="2348"/>
              <a:ext cx="275" cy="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2210" name="Text Box 91">
              <a:extLst>
                <a:ext uri="{FF2B5EF4-FFF2-40B4-BE49-F238E27FC236}">
                  <a16:creationId xmlns:a16="http://schemas.microsoft.com/office/drawing/2014/main" id="{9178E550-0839-4AB6-817F-357C8005A7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2" y="2491"/>
              <a:ext cx="868" cy="3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i="1">
                  <a:solidFill>
                    <a:srgbClr val="FF0000"/>
                  </a:solidFill>
                  <a:latin typeface="Tahoma" panose="020B0604030504040204" pitchFamily="34" charset="0"/>
                </a:rPr>
                <a:t>timeout</a:t>
              </a:r>
            </a:p>
            <a:p>
              <a:pPr algn="r"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FF0000"/>
                  </a:solidFill>
                  <a:latin typeface="Tahoma" panose="020B0604030504040204" pitchFamily="34" charset="0"/>
                </a:rPr>
                <a:t>resend pkt1</a:t>
              </a:r>
            </a:p>
          </p:txBody>
        </p:sp>
      </p:grpSp>
      <p:sp>
        <p:nvSpPr>
          <p:cNvPr id="92207" name="Rectangle 95">
            <a:extLst>
              <a:ext uri="{FF2B5EF4-FFF2-40B4-BE49-F238E27FC236}">
                <a16:creationId xmlns:a16="http://schemas.microsoft.com/office/drawing/2014/main" id="{994D0F32-9997-48E2-A1AE-615BA2945D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7825" y="252413"/>
            <a:ext cx="6096000" cy="619125"/>
          </a:xfrm>
        </p:spPr>
        <p:txBody>
          <a:bodyPr/>
          <a:lstStyle/>
          <a:p>
            <a:r>
              <a:rPr lang="en-US" altLang="zh-TW"/>
              <a:t>rdt3.0 in action</a:t>
            </a:r>
          </a:p>
        </p:txBody>
      </p:sp>
      <p:pic>
        <p:nvPicPr>
          <p:cNvPr id="92208" name="Picture 96" descr="underline_base">
            <a:extLst>
              <a:ext uri="{FF2B5EF4-FFF2-40B4-BE49-F238E27FC236}">
                <a16:creationId xmlns:a16="http://schemas.microsoft.com/office/drawing/2014/main" id="{F3513374-519C-4F3E-A82F-996E54C8488C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275" y="768350"/>
            <a:ext cx="3382963" cy="13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686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686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68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68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686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68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4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368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5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368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5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3686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 nodeType="afterGroup">
                            <p:stCondLst>
                              <p:cond delay="4500"/>
                            </p:stCondLst>
                            <p:childTnLst>
                              <p:par>
                                <p:cTn id="6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368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6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 nodeType="clickPar">
                      <p:stCondLst>
                        <p:cond delay="indefinite"/>
                      </p:stCondLst>
                      <p:childTnLst>
                        <p:par>
                          <p:cTn id="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76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368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8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3686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8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3686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9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368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9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0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 nodeType="clickPar">
                      <p:stCondLst>
                        <p:cond delay="indefinite"/>
                      </p:stCondLst>
                      <p:childTnLst>
                        <p:par>
                          <p:cTn id="10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3686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3686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2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368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1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68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1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3686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14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3686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 nodeType="afterGroup">
                            <p:stCondLst>
                              <p:cond delay="4500"/>
                            </p:stCondLst>
                            <p:childTnLst>
                              <p:par>
                                <p:cTn id="14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50" grpId="0"/>
      <p:bldP spid="368651" grpId="0"/>
      <p:bldP spid="368652" grpId="0"/>
      <p:bldP spid="368654" grpId="0"/>
      <p:bldP spid="368655" grpId="0"/>
      <p:bldP spid="368657" grpId="0"/>
      <p:bldP spid="368658" grpId="0"/>
      <p:bldP spid="368689" grpId="0"/>
      <p:bldP spid="368690" grpId="0"/>
      <p:bldP spid="368691" grpId="0"/>
      <p:bldP spid="368693" grpId="0"/>
      <p:bldP spid="368694" grpId="0"/>
      <p:bldP spid="368695" grpId="0"/>
      <p:bldP spid="36869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Footer Placeholder 3">
            <a:extLst>
              <a:ext uri="{FF2B5EF4-FFF2-40B4-BE49-F238E27FC236}">
                <a16:creationId xmlns:a16="http://schemas.microsoft.com/office/drawing/2014/main" id="{CCF1C407-E089-436E-8656-21BAC698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93187" name="Slide Number Placeholder 4">
            <a:extLst>
              <a:ext uri="{FF2B5EF4-FFF2-40B4-BE49-F238E27FC236}">
                <a16:creationId xmlns:a16="http://schemas.microsoft.com/office/drawing/2014/main" id="{8C304FE4-1AAB-4E7B-90FC-3F08A9509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32A3FDF-5C9D-4600-A293-EA48C39FC8B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93188" name="Rectangle 2">
            <a:extLst>
              <a:ext uri="{FF2B5EF4-FFF2-40B4-BE49-F238E27FC236}">
                <a16:creationId xmlns:a16="http://schemas.microsoft.com/office/drawing/2014/main" id="{77920EA3-2992-495D-8D25-A23323B66F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7825" y="252413"/>
            <a:ext cx="5846763" cy="619125"/>
          </a:xfrm>
        </p:spPr>
        <p:txBody>
          <a:bodyPr/>
          <a:lstStyle/>
          <a:p>
            <a:r>
              <a:rPr lang="en-US" altLang="zh-TW" sz="4000"/>
              <a:t>rdt3.0 in action</a:t>
            </a:r>
            <a:endParaRPr lang="en-US" altLang="zh-TW"/>
          </a:p>
        </p:txBody>
      </p:sp>
      <p:pic>
        <p:nvPicPr>
          <p:cNvPr id="93189" name="Picture 3" descr="underline_base">
            <a:extLst>
              <a:ext uri="{FF2B5EF4-FFF2-40B4-BE49-F238E27FC236}">
                <a16:creationId xmlns:a16="http://schemas.microsoft.com/office/drawing/2014/main" id="{A9D6E391-DAE3-492E-967C-C40196DD183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275" y="768350"/>
            <a:ext cx="3382963" cy="13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9670" name="Text Box 6">
            <a:extLst>
              <a:ext uri="{FF2B5EF4-FFF2-40B4-BE49-F238E27FC236}">
                <a16:creationId xmlns:a16="http://schemas.microsoft.com/office/drawing/2014/main" id="{DA4D4AE0-1FAB-4382-AB9E-F67535CEE2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2425" y="2713038"/>
            <a:ext cx="1000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pkt1</a:t>
            </a:r>
          </a:p>
        </p:txBody>
      </p:sp>
      <p:sp>
        <p:nvSpPr>
          <p:cNvPr id="369673" name="Text Box 9">
            <a:extLst>
              <a:ext uri="{FF2B5EF4-FFF2-40B4-BE49-F238E27FC236}">
                <a16:creationId xmlns:a16="http://schemas.microsoft.com/office/drawing/2014/main" id="{7048B2E7-28CB-4604-8AD5-CFDBF40333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2425" y="2938463"/>
            <a:ext cx="11969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ack1</a:t>
            </a:r>
          </a:p>
        </p:txBody>
      </p:sp>
      <p:sp>
        <p:nvSpPr>
          <p:cNvPr id="369678" name="Text Box 14">
            <a:extLst>
              <a:ext uri="{FF2B5EF4-FFF2-40B4-BE49-F238E27FC236}">
                <a16:creationId xmlns:a16="http://schemas.microsoft.com/office/drawing/2014/main" id="{E00BD1AA-31E8-4C6A-8F07-FC48FB8E88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3375" y="4129088"/>
            <a:ext cx="15684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(</a:t>
            </a:r>
            <a:r>
              <a:rPr lang="en-US" altLang="zh-TW" sz="1400">
                <a:solidFill>
                  <a:srgbClr val="0070C0"/>
                </a:solidFill>
                <a:latin typeface="Tahoma" panose="020B0604030504040204" pitchFamily="34" charset="0"/>
              </a:rPr>
              <a:t>detect duplicate</a:t>
            </a:r>
            <a:r>
              <a:rPr lang="en-US" altLang="zh-TW" sz="140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2" name="Group 23">
            <a:extLst>
              <a:ext uri="{FF2B5EF4-FFF2-40B4-BE49-F238E27FC236}">
                <a16:creationId xmlns:a16="http://schemas.microsoft.com/office/drawing/2014/main" id="{A3BE07C8-F0E3-411E-B0BA-5391156F860D}"/>
              </a:ext>
            </a:extLst>
          </p:cNvPr>
          <p:cNvGrpSpPr>
            <a:grpSpLocks/>
          </p:cNvGrpSpPr>
          <p:nvPr/>
        </p:nvGrpSpPr>
        <p:grpSpPr bwMode="auto">
          <a:xfrm>
            <a:off x="1423988" y="2486025"/>
            <a:ext cx="1471612" cy="504825"/>
            <a:chOff x="855" y="1710"/>
            <a:chExt cx="927" cy="318"/>
          </a:xfrm>
        </p:grpSpPr>
        <p:sp>
          <p:nvSpPr>
            <p:cNvPr id="93303" name="Line 24">
              <a:extLst>
                <a:ext uri="{FF2B5EF4-FFF2-40B4-BE49-F238E27FC236}">
                  <a16:creationId xmlns:a16="http://schemas.microsoft.com/office/drawing/2014/main" id="{7B4FB3F5-44A3-475E-8BED-252D551676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5" y="1803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304" name="Text Box 25">
              <a:extLst>
                <a:ext uri="{FF2B5EF4-FFF2-40B4-BE49-F238E27FC236}">
                  <a16:creationId xmlns:a16="http://schemas.microsoft.com/office/drawing/2014/main" id="{6F471C25-E75C-46F0-B955-A960390824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" y="1710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pkt1</a:t>
              </a:r>
            </a:p>
          </p:txBody>
        </p:sp>
      </p:grpSp>
      <p:sp>
        <p:nvSpPr>
          <p:cNvPr id="93194" name="Text Box 36">
            <a:extLst>
              <a:ext uri="{FF2B5EF4-FFF2-40B4-BE49-F238E27FC236}">
                <a16:creationId xmlns:a16="http://schemas.microsoft.com/office/drawing/2014/main" id="{CAD26DAA-17D8-4077-BE98-2D7E4FD270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6563" y="1104900"/>
            <a:ext cx="9366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u="sng">
                <a:solidFill>
                  <a:srgbClr val="000099"/>
                </a:solidFill>
                <a:latin typeface="Tahoma" panose="020B0604030504040204" pitchFamily="34" charset="0"/>
              </a:rPr>
              <a:t>sender</a:t>
            </a:r>
          </a:p>
        </p:txBody>
      </p:sp>
      <p:sp>
        <p:nvSpPr>
          <p:cNvPr id="93195" name="Text Box 37">
            <a:extLst>
              <a:ext uri="{FF2B5EF4-FFF2-40B4-BE49-F238E27FC236}">
                <a16:creationId xmlns:a16="http://schemas.microsoft.com/office/drawing/2014/main" id="{CC0D9510-C98B-47A6-B73F-375630D6B5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6550" y="1100138"/>
            <a:ext cx="10715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u="sng">
                <a:solidFill>
                  <a:srgbClr val="008000"/>
                </a:solidFill>
                <a:latin typeface="Tahoma" panose="020B0604030504040204" pitchFamily="34" charset="0"/>
              </a:rPr>
              <a:t>receiver</a:t>
            </a:r>
          </a:p>
        </p:txBody>
      </p:sp>
      <p:sp>
        <p:nvSpPr>
          <p:cNvPr id="369702" name="Text Box 38">
            <a:extLst>
              <a:ext uri="{FF2B5EF4-FFF2-40B4-BE49-F238E27FC236}">
                <a16:creationId xmlns:a16="http://schemas.microsoft.com/office/drawing/2014/main" id="{55D7D4EC-C3E9-47B6-A4B1-A3708B5B47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9250" y="3860800"/>
            <a:ext cx="10001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pkt1</a:t>
            </a:r>
          </a:p>
        </p:txBody>
      </p:sp>
      <p:sp>
        <p:nvSpPr>
          <p:cNvPr id="369703" name="Text Box 39">
            <a:extLst>
              <a:ext uri="{FF2B5EF4-FFF2-40B4-BE49-F238E27FC236}">
                <a16:creationId xmlns:a16="http://schemas.microsoft.com/office/drawing/2014/main" id="{FD5BE188-E855-41AE-AF0B-084495DEE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6075" y="4857750"/>
            <a:ext cx="10001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pkt0</a:t>
            </a:r>
          </a:p>
        </p:txBody>
      </p:sp>
      <p:sp>
        <p:nvSpPr>
          <p:cNvPr id="369704" name="Text Box 40">
            <a:extLst>
              <a:ext uri="{FF2B5EF4-FFF2-40B4-BE49-F238E27FC236}">
                <a16:creationId xmlns:a16="http://schemas.microsoft.com/office/drawing/2014/main" id="{5C498C75-B496-452F-94B5-3A1AD85E4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2900" y="2038350"/>
            <a:ext cx="11969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ack0</a:t>
            </a:r>
          </a:p>
        </p:txBody>
      </p:sp>
      <p:sp>
        <p:nvSpPr>
          <p:cNvPr id="369705" name="Text Box 41">
            <a:extLst>
              <a:ext uri="{FF2B5EF4-FFF2-40B4-BE49-F238E27FC236}">
                <a16:creationId xmlns:a16="http://schemas.microsoft.com/office/drawing/2014/main" id="{701F9634-2D18-4DD1-8644-907AEA8970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1950" y="4283075"/>
            <a:ext cx="11969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0070C0"/>
                </a:solidFill>
                <a:latin typeface="Tahoma" panose="020B0604030504040204" pitchFamily="34" charset="0"/>
              </a:rPr>
              <a:t>send ack1</a:t>
            </a:r>
          </a:p>
        </p:txBody>
      </p:sp>
      <p:sp>
        <p:nvSpPr>
          <p:cNvPr id="369706" name="Text Box 42">
            <a:extLst>
              <a:ext uri="{FF2B5EF4-FFF2-40B4-BE49-F238E27FC236}">
                <a16:creationId xmlns:a16="http://schemas.microsoft.com/office/drawing/2014/main" id="{892B0F73-DAD9-457D-BB26-042CE6A017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9725" y="5053013"/>
            <a:ext cx="11969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ack0</a:t>
            </a:r>
          </a:p>
        </p:txBody>
      </p:sp>
      <p:sp>
        <p:nvSpPr>
          <p:cNvPr id="369707" name="Text Box 43">
            <a:extLst>
              <a:ext uri="{FF2B5EF4-FFF2-40B4-BE49-F238E27FC236}">
                <a16:creationId xmlns:a16="http://schemas.microsoft.com/office/drawing/2014/main" id="{8AEFF718-0C89-4D61-ADBB-69FA198C56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125" y="2287588"/>
            <a:ext cx="1022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ack0</a:t>
            </a:r>
          </a:p>
        </p:txBody>
      </p:sp>
      <p:sp>
        <p:nvSpPr>
          <p:cNvPr id="369708" name="Text Box 44">
            <a:extLst>
              <a:ext uri="{FF2B5EF4-FFF2-40B4-BE49-F238E27FC236}">
                <a16:creationId xmlns:a16="http://schemas.microsoft.com/office/drawing/2014/main" id="{4F65E55E-82DD-4321-843F-7640A984E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9550" y="4659313"/>
            <a:ext cx="1174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pkt0</a:t>
            </a:r>
          </a:p>
        </p:txBody>
      </p:sp>
      <p:sp>
        <p:nvSpPr>
          <p:cNvPr id="369709" name="Text Box 45">
            <a:extLst>
              <a:ext uri="{FF2B5EF4-FFF2-40B4-BE49-F238E27FC236}">
                <a16:creationId xmlns:a16="http://schemas.microsoft.com/office/drawing/2014/main" id="{5BCF7470-2E57-41A9-8DA7-EDFD7E6652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9550" y="2506663"/>
            <a:ext cx="1174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pkt1</a:t>
            </a:r>
          </a:p>
        </p:txBody>
      </p:sp>
      <p:sp>
        <p:nvSpPr>
          <p:cNvPr id="369710" name="Text Box 46">
            <a:extLst>
              <a:ext uri="{FF2B5EF4-FFF2-40B4-BE49-F238E27FC236}">
                <a16:creationId xmlns:a16="http://schemas.microsoft.com/office/drawing/2014/main" id="{F9E48268-10AA-438A-8D56-FDBE84DA98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013" y="4419600"/>
            <a:ext cx="1022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ack1</a:t>
            </a:r>
          </a:p>
        </p:txBody>
      </p:sp>
      <p:sp>
        <p:nvSpPr>
          <p:cNvPr id="93205" name="Text Box 47">
            <a:extLst>
              <a:ext uri="{FF2B5EF4-FFF2-40B4-BE49-F238E27FC236}">
                <a16:creationId xmlns:a16="http://schemas.microsoft.com/office/drawing/2014/main" id="{7969E5E1-0DC2-4553-BD0C-CE612BFC3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438" y="1544638"/>
            <a:ext cx="1174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pkt0</a:t>
            </a:r>
          </a:p>
        </p:txBody>
      </p:sp>
      <p:sp>
        <p:nvSpPr>
          <p:cNvPr id="369712" name="Text Box 48">
            <a:extLst>
              <a:ext uri="{FF2B5EF4-FFF2-40B4-BE49-F238E27FC236}">
                <a16:creationId xmlns:a16="http://schemas.microsoft.com/office/drawing/2014/main" id="{D7B20D38-F9CB-4356-A351-7E24F50A75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4963" y="1827213"/>
            <a:ext cx="1000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pkt0</a:t>
            </a:r>
          </a:p>
        </p:txBody>
      </p:sp>
      <p:grpSp>
        <p:nvGrpSpPr>
          <p:cNvPr id="3" name="Group 49">
            <a:extLst>
              <a:ext uri="{FF2B5EF4-FFF2-40B4-BE49-F238E27FC236}">
                <a16:creationId xmlns:a16="http://schemas.microsoft.com/office/drawing/2014/main" id="{25E328BF-742B-4C2A-8646-6F00EF35E6CB}"/>
              </a:ext>
            </a:extLst>
          </p:cNvPr>
          <p:cNvGrpSpPr>
            <a:grpSpLocks/>
          </p:cNvGrpSpPr>
          <p:nvPr/>
        </p:nvGrpSpPr>
        <p:grpSpPr bwMode="auto">
          <a:xfrm>
            <a:off x="1414463" y="1614488"/>
            <a:ext cx="1471612" cy="512762"/>
            <a:chOff x="850" y="1159"/>
            <a:chExt cx="927" cy="323"/>
          </a:xfrm>
        </p:grpSpPr>
        <p:sp>
          <p:nvSpPr>
            <p:cNvPr id="93301" name="Line 50">
              <a:extLst>
                <a:ext uri="{FF2B5EF4-FFF2-40B4-BE49-F238E27FC236}">
                  <a16:creationId xmlns:a16="http://schemas.microsoft.com/office/drawing/2014/main" id="{1B560E73-F473-4D52-B82C-AA16BC7BD3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0" y="1257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302" name="Text Box 51">
              <a:extLst>
                <a:ext uri="{FF2B5EF4-FFF2-40B4-BE49-F238E27FC236}">
                  <a16:creationId xmlns:a16="http://schemas.microsoft.com/office/drawing/2014/main" id="{F5EA4790-2F45-4C84-B525-2210DDE061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0" y="1159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pkt0</a:t>
              </a:r>
            </a:p>
          </p:txBody>
        </p:sp>
      </p:grpSp>
      <p:grpSp>
        <p:nvGrpSpPr>
          <p:cNvPr id="4" name="Group 52">
            <a:extLst>
              <a:ext uri="{FF2B5EF4-FFF2-40B4-BE49-F238E27FC236}">
                <a16:creationId xmlns:a16="http://schemas.microsoft.com/office/drawing/2014/main" id="{551933DA-37A2-4721-8989-005503218966}"/>
              </a:ext>
            </a:extLst>
          </p:cNvPr>
          <p:cNvGrpSpPr>
            <a:grpSpLocks/>
          </p:cNvGrpSpPr>
          <p:nvPr/>
        </p:nvGrpSpPr>
        <p:grpSpPr bwMode="auto">
          <a:xfrm>
            <a:off x="1408113" y="4629150"/>
            <a:ext cx="1471612" cy="487363"/>
            <a:chOff x="846" y="2253"/>
            <a:chExt cx="927" cy="307"/>
          </a:xfrm>
        </p:grpSpPr>
        <p:sp>
          <p:nvSpPr>
            <p:cNvPr id="93299" name="Line 53">
              <a:extLst>
                <a:ext uri="{FF2B5EF4-FFF2-40B4-BE49-F238E27FC236}">
                  <a16:creationId xmlns:a16="http://schemas.microsoft.com/office/drawing/2014/main" id="{A8202045-84BA-4948-BAFE-9C5CE5DC15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46" y="2335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300" name="Text Box 54">
              <a:extLst>
                <a:ext uri="{FF2B5EF4-FFF2-40B4-BE49-F238E27FC236}">
                  <a16:creationId xmlns:a16="http://schemas.microsoft.com/office/drawing/2014/main" id="{841AF580-4FE4-4C65-A370-E901BFFC5D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7" y="2253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pkt0</a:t>
              </a:r>
            </a:p>
          </p:txBody>
        </p:sp>
      </p:grpSp>
      <p:grpSp>
        <p:nvGrpSpPr>
          <p:cNvPr id="5" name="Group 55">
            <a:extLst>
              <a:ext uri="{FF2B5EF4-FFF2-40B4-BE49-F238E27FC236}">
                <a16:creationId xmlns:a16="http://schemas.microsoft.com/office/drawing/2014/main" id="{7FF8B4D3-F4D7-4429-884F-2B6E7691BB9C}"/>
              </a:ext>
            </a:extLst>
          </p:cNvPr>
          <p:cNvGrpSpPr>
            <a:grpSpLocks/>
          </p:cNvGrpSpPr>
          <p:nvPr/>
        </p:nvGrpSpPr>
        <p:grpSpPr bwMode="auto">
          <a:xfrm>
            <a:off x="1408113" y="4232275"/>
            <a:ext cx="1471612" cy="471488"/>
            <a:chOff x="846" y="2003"/>
            <a:chExt cx="927" cy="297"/>
          </a:xfrm>
        </p:grpSpPr>
        <p:sp>
          <p:nvSpPr>
            <p:cNvPr id="93297" name="Line 56">
              <a:extLst>
                <a:ext uri="{FF2B5EF4-FFF2-40B4-BE49-F238E27FC236}">
                  <a16:creationId xmlns:a16="http://schemas.microsoft.com/office/drawing/2014/main" id="{37D4CDF6-30AD-4AE5-8AC0-0B706626191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46" y="2075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298" name="Text Box 57">
              <a:extLst>
                <a:ext uri="{FF2B5EF4-FFF2-40B4-BE49-F238E27FC236}">
                  <a16:creationId xmlns:a16="http://schemas.microsoft.com/office/drawing/2014/main" id="{950AB991-1C7A-4B1C-A1BF-FD4298E83E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2" y="2003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ack1</a:t>
              </a:r>
            </a:p>
          </p:txBody>
        </p:sp>
      </p:grpSp>
      <p:grpSp>
        <p:nvGrpSpPr>
          <p:cNvPr id="6" name="Group 58">
            <a:extLst>
              <a:ext uri="{FF2B5EF4-FFF2-40B4-BE49-F238E27FC236}">
                <a16:creationId xmlns:a16="http://schemas.microsoft.com/office/drawing/2014/main" id="{2193657C-2CBE-45C0-A3CA-ED61665E3434}"/>
              </a:ext>
            </a:extLst>
          </p:cNvPr>
          <p:cNvGrpSpPr>
            <a:grpSpLocks/>
          </p:cNvGrpSpPr>
          <p:nvPr/>
        </p:nvGrpSpPr>
        <p:grpSpPr bwMode="auto">
          <a:xfrm>
            <a:off x="1400175" y="2114550"/>
            <a:ext cx="1471613" cy="455613"/>
            <a:chOff x="841" y="1474"/>
            <a:chExt cx="927" cy="287"/>
          </a:xfrm>
        </p:grpSpPr>
        <p:sp>
          <p:nvSpPr>
            <p:cNvPr id="93295" name="Line 59">
              <a:extLst>
                <a:ext uri="{FF2B5EF4-FFF2-40B4-BE49-F238E27FC236}">
                  <a16:creationId xmlns:a16="http://schemas.microsoft.com/office/drawing/2014/main" id="{C728F476-6562-414C-8C94-B6DE3B8987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41" y="1536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296" name="Text Box 60">
              <a:extLst>
                <a:ext uri="{FF2B5EF4-FFF2-40B4-BE49-F238E27FC236}">
                  <a16:creationId xmlns:a16="http://schemas.microsoft.com/office/drawing/2014/main" id="{D4F91A75-4885-493C-A5AA-648C771774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9" y="1474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ack0</a:t>
              </a:r>
            </a:p>
          </p:txBody>
        </p:sp>
      </p:grpSp>
      <p:grpSp>
        <p:nvGrpSpPr>
          <p:cNvPr id="7" name="Group 61">
            <a:extLst>
              <a:ext uri="{FF2B5EF4-FFF2-40B4-BE49-F238E27FC236}">
                <a16:creationId xmlns:a16="http://schemas.microsoft.com/office/drawing/2014/main" id="{68F5D16B-D5F4-40F9-9071-558D458CB9A9}"/>
              </a:ext>
            </a:extLst>
          </p:cNvPr>
          <p:cNvGrpSpPr>
            <a:grpSpLocks/>
          </p:cNvGrpSpPr>
          <p:nvPr/>
        </p:nvGrpSpPr>
        <p:grpSpPr bwMode="auto">
          <a:xfrm>
            <a:off x="1393825" y="5084763"/>
            <a:ext cx="1471613" cy="461962"/>
            <a:chOff x="837" y="2540"/>
            <a:chExt cx="927" cy="291"/>
          </a:xfrm>
        </p:grpSpPr>
        <p:sp>
          <p:nvSpPr>
            <p:cNvPr id="93293" name="Line 62">
              <a:extLst>
                <a:ext uri="{FF2B5EF4-FFF2-40B4-BE49-F238E27FC236}">
                  <a16:creationId xmlns:a16="http://schemas.microsoft.com/office/drawing/2014/main" id="{D4B73905-7D69-4CE3-A794-D181BF6F855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37" y="2606"/>
              <a:ext cx="927" cy="225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294" name="Text Box 63">
              <a:extLst>
                <a:ext uri="{FF2B5EF4-FFF2-40B4-BE49-F238E27FC236}">
                  <a16:creationId xmlns:a16="http://schemas.microsoft.com/office/drawing/2014/main" id="{03EA6A9C-87A9-49B1-8203-B345556B7A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6" y="2540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ack0</a:t>
              </a:r>
            </a:p>
          </p:txBody>
        </p:sp>
      </p:grpSp>
      <p:sp>
        <p:nvSpPr>
          <p:cNvPr id="93212" name="Text Box 64">
            <a:extLst>
              <a:ext uri="{FF2B5EF4-FFF2-40B4-BE49-F238E27FC236}">
                <a16:creationId xmlns:a16="http://schemas.microsoft.com/office/drawing/2014/main" id="{A21F2C7F-154B-4A4F-857D-3E8EA539BC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2213" y="5797550"/>
            <a:ext cx="13938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(c) ACK loss</a:t>
            </a:r>
          </a:p>
        </p:txBody>
      </p:sp>
      <p:grpSp>
        <p:nvGrpSpPr>
          <p:cNvPr id="8" name="Group 81">
            <a:extLst>
              <a:ext uri="{FF2B5EF4-FFF2-40B4-BE49-F238E27FC236}">
                <a16:creationId xmlns:a16="http://schemas.microsoft.com/office/drawing/2014/main" id="{B38AC9AD-52F4-428A-82C3-F69E6338CAD5}"/>
              </a:ext>
            </a:extLst>
          </p:cNvPr>
          <p:cNvGrpSpPr>
            <a:grpSpLocks/>
          </p:cNvGrpSpPr>
          <p:nvPr/>
        </p:nvGrpSpPr>
        <p:grpSpPr bwMode="auto">
          <a:xfrm>
            <a:off x="1679575" y="2886075"/>
            <a:ext cx="1212850" cy="719138"/>
            <a:chOff x="1324" y="1931"/>
            <a:chExt cx="764" cy="453"/>
          </a:xfrm>
        </p:grpSpPr>
        <p:sp>
          <p:nvSpPr>
            <p:cNvPr id="93289" name="Line 27">
              <a:extLst>
                <a:ext uri="{FF2B5EF4-FFF2-40B4-BE49-F238E27FC236}">
                  <a16:creationId xmlns:a16="http://schemas.microsoft.com/office/drawing/2014/main" id="{FBFEBBE1-1C74-495C-A4C4-48BE8EBDCA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514" y="2031"/>
              <a:ext cx="574" cy="132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290" name="Text Box 28">
              <a:extLst>
                <a:ext uri="{FF2B5EF4-FFF2-40B4-BE49-F238E27FC236}">
                  <a16:creationId xmlns:a16="http://schemas.microsoft.com/office/drawing/2014/main" id="{CAAB26AD-6EF4-4326-8796-B0D3CFF852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56" y="1931"/>
              <a:ext cx="3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8000"/>
                  </a:solidFill>
                  <a:latin typeface="Arial" panose="020B0604020202020204" pitchFamily="34" charset="0"/>
                </a:rPr>
                <a:t>ack1</a:t>
              </a:r>
            </a:p>
          </p:txBody>
        </p:sp>
        <p:sp>
          <p:nvSpPr>
            <p:cNvPr id="93291" name="Text Box 68">
              <a:extLst>
                <a:ext uri="{FF2B5EF4-FFF2-40B4-BE49-F238E27FC236}">
                  <a16:creationId xmlns:a16="http://schemas.microsoft.com/office/drawing/2014/main" id="{C4BDB351-C5E0-4F5F-9A76-B540727087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83" y="2040"/>
              <a:ext cx="21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>
                  <a:solidFill>
                    <a:srgbClr val="FF0000"/>
                  </a:solidFill>
                  <a:latin typeface="Tahoma" panose="020B0604030504040204" pitchFamily="34" charset="0"/>
                </a:rPr>
                <a:t>X</a:t>
              </a:r>
            </a:p>
          </p:txBody>
        </p:sp>
        <p:sp>
          <p:nvSpPr>
            <p:cNvPr id="93292" name="Text Box 69">
              <a:extLst>
                <a:ext uri="{FF2B5EF4-FFF2-40B4-BE49-F238E27FC236}">
                  <a16:creationId xmlns:a16="http://schemas.microsoft.com/office/drawing/2014/main" id="{1F08EC73-F5D7-45EE-8DD5-C95B39A0D9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24" y="2172"/>
              <a:ext cx="32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solidFill>
                    <a:srgbClr val="FF0000"/>
                  </a:solidFill>
                  <a:latin typeface="Tahoma" panose="020B0604030504040204" pitchFamily="34" charset="0"/>
                </a:rPr>
                <a:t>loss</a:t>
              </a:r>
            </a:p>
          </p:txBody>
        </p:sp>
      </p:grpSp>
      <p:grpSp>
        <p:nvGrpSpPr>
          <p:cNvPr id="9" name="Group 70">
            <a:extLst>
              <a:ext uri="{FF2B5EF4-FFF2-40B4-BE49-F238E27FC236}">
                <a16:creationId xmlns:a16="http://schemas.microsoft.com/office/drawing/2014/main" id="{B29A8D2F-2D1E-4139-91D7-FDB3A5D9E2E2}"/>
              </a:ext>
            </a:extLst>
          </p:cNvPr>
          <p:cNvGrpSpPr>
            <a:grpSpLocks/>
          </p:cNvGrpSpPr>
          <p:nvPr/>
        </p:nvGrpSpPr>
        <p:grpSpPr bwMode="auto">
          <a:xfrm>
            <a:off x="1303338" y="2792413"/>
            <a:ext cx="122237" cy="1033462"/>
            <a:chOff x="3651" y="1878"/>
            <a:chExt cx="78" cy="963"/>
          </a:xfrm>
        </p:grpSpPr>
        <p:sp>
          <p:nvSpPr>
            <p:cNvPr id="93286" name="Line 71">
              <a:extLst>
                <a:ext uri="{FF2B5EF4-FFF2-40B4-BE49-F238E27FC236}">
                  <a16:creationId xmlns:a16="http://schemas.microsoft.com/office/drawing/2014/main" id="{F7567137-F59C-43A2-A8CD-8ABAF95797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9" y="1879"/>
              <a:ext cx="0" cy="9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287" name="Line 72">
              <a:extLst>
                <a:ext uri="{FF2B5EF4-FFF2-40B4-BE49-F238E27FC236}">
                  <a16:creationId xmlns:a16="http://schemas.microsoft.com/office/drawing/2014/main" id="{2D1381C3-7F59-4DB4-87A4-D734380D82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651" y="1878"/>
              <a:ext cx="75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288" name="Line 73">
              <a:extLst>
                <a:ext uri="{FF2B5EF4-FFF2-40B4-BE49-F238E27FC236}">
                  <a16:creationId xmlns:a16="http://schemas.microsoft.com/office/drawing/2014/main" id="{8587EE77-1F0D-4E32-BCA6-00EC81F59E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651" y="2841"/>
              <a:ext cx="75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" name="Group 74">
            <a:extLst>
              <a:ext uri="{FF2B5EF4-FFF2-40B4-BE49-F238E27FC236}">
                <a16:creationId xmlns:a16="http://schemas.microsoft.com/office/drawing/2014/main" id="{2A9BA05E-C2AB-471A-99B2-CCD6D0F7CA45}"/>
              </a:ext>
            </a:extLst>
          </p:cNvPr>
          <p:cNvGrpSpPr>
            <a:grpSpLocks/>
          </p:cNvGrpSpPr>
          <p:nvPr/>
        </p:nvGrpSpPr>
        <p:grpSpPr bwMode="auto">
          <a:xfrm>
            <a:off x="1431925" y="3781425"/>
            <a:ext cx="1471613" cy="504825"/>
            <a:chOff x="855" y="1710"/>
            <a:chExt cx="927" cy="318"/>
          </a:xfrm>
        </p:grpSpPr>
        <p:sp>
          <p:nvSpPr>
            <p:cNvPr id="93284" name="Line 75">
              <a:extLst>
                <a:ext uri="{FF2B5EF4-FFF2-40B4-BE49-F238E27FC236}">
                  <a16:creationId xmlns:a16="http://schemas.microsoft.com/office/drawing/2014/main" id="{EDBC1088-7C6E-4251-AF6D-228B4A21A2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5" y="1803"/>
              <a:ext cx="927" cy="225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93285" name="Text Box 76">
              <a:extLst>
                <a:ext uri="{FF2B5EF4-FFF2-40B4-BE49-F238E27FC236}">
                  <a16:creationId xmlns:a16="http://schemas.microsoft.com/office/drawing/2014/main" id="{92701B5A-D5A3-4368-8E0F-20B94EB127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4" y="1710"/>
              <a:ext cx="35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99"/>
                  </a:solidFill>
                  <a:latin typeface="Arial" panose="020B0604020202020204" pitchFamily="34" charset="0"/>
                </a:rPr>
                <a:t>pkt1</a:t>
              </a:r>
            </a:p>
          </p:txBody>
        </p:sp>
      </p:grpSp>
      <p:grpSp>
        <p:nvGrpSpPr>
          <p:cNvPr id="11" name="Group 77">
            <a:extLst>
              <a:ext uri="{FF2B5EF4-FFF2-40B4-BE49-F238E27FC236}">
                <a16:creationId xmlns:a16="http://schemas.microsoft.com/office/drawing/2014/main" id="{AD58D1CD-802D-4EB4-9C8B-89D381C2892C}"/>
              </a:ext>
            </a:extLst>
          </p:cNvPr>
          <p:cNvGrpSpPr>
            <a:grpSpLocks/>
          </p:cNvGrpSpPr>
          <p:nvPr/>
        </p:nvGrpSpPr>
        <p:grpSpPr bwMode="auto">
          <a:xfrm>
            <a:off x="0" y="3405188"/>
            <a:ext cx="1377950" cy="731837"/>
            <a:chOff x="2802" y="2348"/>
            <a:chExt cx="868" cy="461"/>
          </a:xfrm>
        </p:grpSpPr>
        <p:pic>
          <p:nvPicPr>
            <p:cNvPr id="93282" name="Picture 78" descr="alarm_clock_ringing">
              <a:extLst>
                <a:ext uri="{FF2B5EF4-FFF2-40B4-BE49-F238E27FC236}">
                  <a16:creationId xmlns:a16="http://schemas.microsoft.com/office/drawing/2014/main" id="{DCF18082-4E1F-4144-8FAD-35CFB2C9AE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46" y="2348"/>
              <a:ext cx="275" cy="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3283" name="Text Box 79">
              <a:extLst>
                <a:ext uri="{FF2B5EF4-FFF2-40B4-BE49-F238E27FC236}">
                  <a16:creationId xmlns:a16="http://schemas.microsoft.com/office/drawing/2014/main" id="{BCAD861C-2767-4DC1-BD2B-B7029AC383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2" y="2491"/>
              <a:ext cx="868" cy="3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i="1">
                  <a:solidFill>
                    <a:srgbClr val="FF0000"/>
                  </a:solidFill>
                  <a:latin typeface="Tahoma" panose="020B0604030504040204" pitchFamily="34" charset="0"/>
                </a:rPr>
                <a:t>timeout</a:t>
              </a:r>
            </a:p>
            <a:p>
              <a:pPr algn="r"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FF0000"/>
                  </a:solidFill>
                  <a:latin typeface="Tahoma" panose="020B0604030504040204" pitchFamily="34" charset="0"/>
                </a:rPr>
                <a:t>resend pkt1</a:t>
              </a:r>
            </a:p>
          </p:txBody>
        </p:sp>
      </p:grpSp>
      <p:pic>
        <p:nvPicPr>
          <p:cNvPr id="121" name="圖片 120">
            <a:extLst>
              <a:ext uri="{FF2B5EF4-FFF2-40B4-BE49-F238E27FC236}">
                <a16:creationId xmlns:a16="http://schemas.microsoft.com/office/drawing/2014/main" id="{69259EEB-6CA8-4287-BCEC-88D045A00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1487" y="1051853"/>
            <a:ext cx="4671575" cy="48795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697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69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697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697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6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696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3696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 nodeType="clickPar">
                      <p:stCondLst>
                        <p:cond delay="indefinite"/>
                      </p:stCondLst>
                      <p:childTnLst>
                        <p:par>
                          <p:cTn id="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5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3697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3696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369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7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3697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69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3697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9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36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 nodeType="afterGroup">
                            <p:stCondLst>
                              <p:cond delay="4500"/>
                            </p:stCondLst>
                            <p:childTnLst>
                              <p:par>
                                <p:cTn id="9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9673" grpId="0"/>
      <p:bldP spid="369678" grpId="0"/>
      <p:bldP spid="369703" grpId="0"/>
      <p:bldP spid="369704" grpId="0"/>
      <p:bldP spid="369705" grpId="0"/>
      <p:bldP spid="369707" grpId="0"/>
      <p:bldP spid="369708" grpId="0"/>
      <p:bldP spid="369709" grpId="0"/>
      <p:bldP spid="36971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Footer Placeholder 5">
            <a:extLst>
              <a:ext uri="{FF2B5EF4-FFF2-40B4-BE49-F238E27FC236}">
                <a16:creationId xmlns:a16="http://schemas.microsoft.com/office/drawing/2014/main" id="{4334D0C8-B671-431F-8342-987D1218F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95235" name="Slide Number Placeholder 6">
            <a:extLst>
              <a:ext uri="{FF2B5EF4-FFF2-40B4-BE49-F238E27FC236}">
                <a16:creationId xmlns:a16="http://schemas.microsoft.com/office/drawing/2014/main" id="{BDF3EC25-D6BF-4E00-966E-1ACF9B087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AC7D5FDB-DCDA-40C8-9C69-0AF76D4F9A0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95236" name="Rectangle 2">
            <a:extLst>
              <a:ext uri="{FF2B5EF4-FFF2-40B4-BE49-F238E27FC236}">
                <a16:creationId xmlns:a16="http://schemas.microsoft.com/office/drawing/2014/main" id="{005D654F-2BDA-4953-975B-570C424363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/>
              <a:t>Performance of rdt3.0</a:t>
            </a:r>
            <a:endParaRPr lang="en-US" altLang="zh-TW"/>
          </a:p>
        </p:txBody>
      </p:sp>
      <p:sp>
        <p:nvSpPr>
          <p:cNvPr id="95237" name="Rectangle 3">
            <a:extLst>
              <a:ext uri="{FF2B5EF4-FFF2-40B4-BE49-F238E27FC236}">
                <a16:creationId xmlns:a16="http://schemas.microsoft.com/office/drawing/2014/main" id="{676582AF-98C2-417B-BD88-50803A2FDCAD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8738" y="1455738"/>
            <a:ext cx="9085262" cy="990600"/>
          </a:xfrm>
        </p:spPr>
        <p:txBody>
          <a:bodyPr/>
          <a:lstStyle/>
          <a:p>
            <a:r>
              <a:rPr lang="en-US" altLang="zh-TW">
                <a:solidFill>
                  <a:srgbClr val="FF0000"/>
                </a:solidFill>
              </a:rPr>
              <a:t>rdt 3.0 is correct, but performance stinks</a:t>
            </a:r>
          </a:p>
          <a:p>
            <a:r>
              <a:rPr lang="en-US" altLang="zh-TW"/>
              <a:t>e.g.: 1 Gbps link, 15 ms prop. delay, 1KB = 8000 bit packet:</a:t>
            </a:r>
          </a:p>
          <a:p>
            <a:endParaRPr lang="en-US" altLang="zh-TW"/>
          </a:p>
        </p:txBody>
      </p:sp>
      <p:sp>
        <p:nvSpPr>
          <p:cNvPr id="95238" name="Rectangle 4">
            <a:extLst>
              <a:ext uri="{FF2B5EF4-FFF2-40B4-BE49-F238E27FC236}">
                <a16:creationId xmlns:a16="http://schemas.microsoft.com/office/drawing/2014/main" id="{33C752AB-F2C5-4771-A04F-268EB5B8AF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502025"/>
            <a:ext cx="8372475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6889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1"/>
            <a:r>
              <a:rPr lang="en-US" altLang="zh-TW" sz="2400" dirty="0"/>
              <a:t>RTT = </a:t>
            </a:r>
            <a:r>
              <a:rPr lang="en-US" altLang="zh-TW" sz="2400" dirty="0">
                <a:latin typeface="Tahoma" panose="020B0604030504040204" pitchFamily="34" charset="0"/>
              </a:rPr>
              <a:t>15 </a:t>
            </a:r>
            <a:r>
              <a:rPr lang="en-US" altLang="zh-TW" sz="2400" dirty="0" err="1">
                <a:latin typeface="Tahoma" panose="020B0604030504040204" pitchFamily="34" charset="0"/>
              </a:rPr>
              <a:t>ms</a:t>
            </a:r>
            <a:r>
              <a:rPr lang="en-US" altLang="zh-TW" sz="2400" dirty="0">
                <a:latin typeface="Tahoma" panose="020B0604030504040204" pitchFamily="34" charset="0"/>
              </a:rPr>
              <a:t> * 2 = </a:t>
            </a:r>
            <a:r>
              <a:rPr lang="en-US" altLang="zh-TW" sz="2400" dirty="0"/>
              <a:t>30 msec</a:t>
            </a:r>
          </a:p>
        </p:txBody>
      </p:sp>
      <p:pic>
        <p:nvPicPr>
          <p:cNvPr id="95239" name="Picture 9" descr="underline_base">
            <a:extLst>
              <a:ext uri="{FF2B5EF4-FFF2-40B4-BE49-F238E27FC236}">
                <a16:creationId xmlns:a16="http://schemas.microsoft.com/office/drawing/2014/main" id="{E900F28A-488A-4FEF-A3BF-77F24AE1E29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1006475"/>
            <a:ext cx="5027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5240" name="Group 24">
            <a:extLst>
              <a:ext uri="{FF2B5EF4-FFF2-40B4-BE49-F238E27FC236}">
                <a16:creationId xmlns:a16="http://schemas.microsoft.com/office/drawing/2014/main" id="{53C8276F-1835-48B3-BD65-011E5A3D4CCE}"/>
              </a:ext>
            </a:extLst>
          </p:cNvPr>
          <p:cNvGrpSpPr>
            <a:grpSpLocks/>
          </p:cNvGrpSpPr>
          <p:nvPr/>
        </p:nvGrpSpPr>
        <p:grpSpPr bwMode="auto">
          <a:xfrm>
            <a:off x="1789113" y="2438400"/>
            <a:ext cx="5903912" cy="812800"/>
            <a:chOff x="137" y="1675"/>
            <a:chExt cx="3719" cy="512"/>
          </a:xfrm>
        </p:grpSpPr>
        <p:sp>
          <p:nvSpPr>
            <p:cNvPr id="95241" name="Text Box 10">
              <a:extLst>
                <a:ext uri="{FF2B5EF4-FFF2-40B4-BE49-F238E27FC236}">
                  <a16:creationId xmlns:a16="http://schemas.microsoft.com/office/drawing/2014/main" id="{599905F7-A511-470C-829D-4344ACCF75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7" y="1795"/>
              <a:ext cx="70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i="1">
                  <a:latin typeface="Arial" panose="020B0604020202020204" pitchFamily="34" charset="0"/>
                </a:rPr>
                <a:t>D</a:t>
              </a:r>
              <a:r>
                <a:rPr lang="en-US" altLang="zh-TW" sz="2400" i="1" baseline="-25000">
                  <a:latin typeface="Arial" panose="020B0604020202020204" pitchFamily="34" charset="0"/>
                </a:rPr>
                <a:t>trans</a:t>
              </a:r>
              <a:r>
                <a:rPr lang="en-US" altLang="zh-TW" sz="2400" i="1">
                  <a:latin typeface="Arial" panose="020B0604020202020204" pitchFamily="34" charset="0"/>
                </a:rPr>
                <a:t> =</a:t>
              </a:r>
            </a:p>
          </p:txBody>
        </p:sp>
        <p:grpSp>
          <p:nvGrpSpPr>
            <p:cNvPr id="95242" name="Group 14">
              <a:extLst>
                <a:ext uri="{FF2B5EF4-FFF2-40B4-BE49-F238E27FC236}">
                  <a16:creationId xmlns:a16="http://schemas.microsoft.com/office/drawing/2014/main" id="{29A742CF-0A34-4558-A088-763D0231E58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27" y="1677"/>
              <a:ext cx="255" cy="496"/>
              <a:chOff x="155" y="2937"/>
              <a:chExt cx="255" cy="496"/>
            </a:xfrm>
          </p:grpSpPr>
          <p:sp>
            <p:nvSpPr>
              <p:cNvPr id="95251" name="Text Box 11">
                <a:extLst>
                  <a:ext uri="{FF2B5EF4-FFF2-40B4-BE49-F238E27FC236}">
                    <a16:creationId xmlns:a16="http://schemas.microsoft.com/office/drawing/2014/main" id="{43F59F18-812C-447A-946F-43504E7831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6" y="2937"/>
                <a:ext cx="21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 i="1">
                    <a:latin typeface="Tahoma" panose="020B0604030504040204" pitchFamily="34" charset="0"/>
                  </a:rPr>
                  <a:t>L</a:t>
                </a:r>
              </a:p>
            </p:txBody>
          </p:sp>
          <p:sp>
            <p:nvSpPr>
              <p:cNvPr id="95252" name="Text Box 12">
                <a:extLst>
                  <a:ext uri="{FF2B5EF4-FFF2-40B4-BE49-F238E27FC236}">
                    <a16:creationId xmlns:a16="http://schemas.microsoft.com/office/drawing/2014/main" id="{6EE19FA7-C29C-4C99-B8D7-5E8B5599BD9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5" y="3145"/>
                <a:ext cx="255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 i="1">
                    <a:latin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95253" name="Line 13">
                <a:extLst>
                  <a:ext uri="{FF2B5EF4-FFF2-40B4-BE49-F238E27FC236}">
                    <a16:creationId xmlns:a16="http://schemas.microsoft.com/office/drawing/2014/main" id="{1559675D-5603-4FDE-8DA0-956CC43819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4" y="3192"/>
                <a:ext cx="18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95243" name="Group 19">
              <a:extLst>
                <a:ext uri="{FF2B5EF4-FFF2-40B4-BE49-F238E27FC236}">
                  <a16:creationId xmlns:a16="http://schemas.microsoft.com/office/drawing/2014/main" id="{53EDE039-DBC9-45E9-8409-79401B2781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33" y="1675"/>
              <a:ext cx="1225" cy="512"/>
              <a:chOff x="1401" y="1693"/>
              <a:chExt cx="1225" cy="512"/>
            </a:xfrm>
          </p:grpSpPr>
          <p:sp>
            <p:nvSpPr>
              <p:cNvPr id="95247" name="Text Box 6">
                <a:extLst>
                  <a:ext uri="{FF2B5EF4-FFF2-40B4-BE49-F238E27FC236}">
                    <a16:creationId xmlns:a16="http://schemas.microsoft.com/office/drawing/2014/main" id="{8069E565-5013-4961-AACD-D95A16827E3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85" y="1748"/>
                <a:ext cx="164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Comic Sans MS" panose="030F0702030302020204" pitchFamily="66" charset="0"/>
                  </a:rPr>
                  <a:t> </a:t>
                </a:r>
                <a:endParaRPr lang="en-US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5248" name="Text Box 16">
                <a:extLst>
                  <a:ext uri="{FF2B5EF4-FFF2-40B4-BE49-F238E27FC236}">
                    <a16:creationId xmlns:a16="http://schemas.microsoft.com/office/drawing/2014/main" id="{424622A9-54A0-4C1F-9259-5138ACC00AC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3" y="1693"/>
                <a:ext cx="896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 i="1">
                    <a:latin typeface="Arial" panose="020B0604020202020204" pitchFamily="34" charset="0"/>
                  </a:rPr>
                  <a:t>8000 bits</a:t>
                </a:r>
              </a:p>
            </p:txBody>
          </p:sp>
          <p:sp>
            <p:nvSpPr>
              <p:cNvPr id="95249" name="Text Box 17">
                <a:extLst>
                  <a:ext uri="{FF2B5EF4-FFF2-40B4-BE49-F238E27FC236}">
                    <a16:creationId xmlns:a16="http://schemas.microsoft.com/office/drawing/2014/main" id="{38694543-0403-4348-BA53-7195D101C2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01" y="1917"/>
                <a:ext cx="1225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 i="1">
                    <a:latin typeface="Tahoma" panose="020B0604030504040204" pitchFamily="34" charset="0"/>
                  </a:rPr>
                  <a:t>10</a:t>
                </a:r>
                <a:r>
                  <a:rPr lang="en-US" altLang="zh-TW" sz="2400" i="1" baseline="30000">
                    <a:latin typeface="Tahoma" panose="020B0604030504040204" pitchFamily="34" charset="0"/>
                  </a:rPr>
                  <a:t>9 </a:t>
                </a:r>
                <a:r>
                  <a:rPr lang="en-US" altLang="zh-TW" sz="2400" i="1">
                    <a:latin typeface="Tahoma" panose="020B0604030504040204" pitchFamily="34" charset="0"/>
                  </a:rPr>
                  <a:t>bits/sec</a:t>
                </a:r>
              </a:p>
            </p:txBody>
          </p:sp>
          <p:sp>
            <p:nvSpPr>
              <p:cNvPr id="95250" name="Line 18">
                <a:extLst>
                  <a:ext uri="{FF2B5EF4-FFF2-40B4-BE49-F238E27FC236}">
                    <a16:creationId xmlns:a16="http://schemas.microsoft.com/office/drawing/2014/main" id="{F7A1CAF3-852D-468C-9FC7-9376693F46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04" y="1950"/>
                <a:ext cx="97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95244" name="Text Box 20">
              <a:extLst>
                <a:ext uri="{FF2B5EF4-FFF2-40B4-BE49-F238E27FC236}">
                  <a16:creationId xmlns:a16="http://schemas.microsoft.com/office/drawing/2014/main" id="{CA800169-3834-4AA1-AA35-6CF47B7ED8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3" y="1789"/>
              <a:ext cx="22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=</a:t>
              </a:r>
            </a:p>
          </p:txBody>
        </p:sp>
        <p:sp>
          <p:nvSpPr>
            <p:cNvPr id="95245" name="Text Box 22">
              <a:extLst>
                <a:ext uri="{FF2B5EF4-FFF2-40B4-BE49-F238E27FC236}">
                  <a16:creationId xmlns:a16="http://schemas.microsoft.com/office/drawing/2014/main" id="{184F3071-1520-432A-9EEF-679E0B0648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9" y="1789"/>
              <a:ext cx="22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=</a:t>
              </a:r>
            </a:p>
          </p:txBody>
        </p:sp>
        <p:sp>
          <p:nvSpPr>
            <p:cNvPr id="95246" name="Text Box 23">
              <a:extLst>
                <a:ext uri="{FF2B5EF4-FFF2-40B4-BE49-F238E27FC236}">
                  <a16:creationId xmlns:a16="http://schemas.microsoft.com/office/drawing/2014/main" id="{1E247E24-4FCF-4C80-999E-B949531F86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15" y="1777"/>
              <a:ext cx="1141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i="1">
                  <a:latin typeface="Arial" panose="020B0604020202020204" pitchFamily="34" charset="0"/>
                </a:rPr>
                <a:t>8 microsecs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Footer Placeholder 4">
            <a:extLst>
              <a:ext uri="{FF2B5EF4-FFF2-40B4-BE49-F238E27FC236}">
                <a16:creationId xmlns:a16="http://schemas.microsoft.com/office/drawing/2014/main" id="{05A05985-47ED-45AC-834E-2287E11D1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463" y="6243637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Transport</a:t>
            </a:r>
            <a:r>
              <a:rPr lang="en-US" altLang="zh-TW" sz="1400" dirty="0">
                <a:latin typeface="Tahoma" panose="020B0604030504040204" pitchFamily="34" charset="0"/>
              </a:rPr>
              <a:t> </a:t>
            </a:r>
            <a:r>
              <a:rPr lang="en-US" altLang="zh-TW" sz="1200" dirty="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96259" name="Slide Number Placeholder 5">
            <a:extLst>
              <a:ext uri="{FF2B5EF4-FFF2-40B4-BE49-F238E27FC236}">
                <a16:creationId xmlns:a16="http://schemas.microsoft.com/office/drawing/2014/main" id="{3B5D5791-7F1A-483F-BC2D-A67D45400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24850" y="6265939"/>
            <a:ext cx="676275" cy="2762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3-</a:t>
            </a:r>
            <a:fld id="{E731121E-73F4-4435-B0F2-9197B30A88B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46</a:t>
            </a:fld>
            <a:endParaRPr lang="en-US" altLang="zh-TW" sz="1200" dirty="0">
              <a:latin typeface="Tahoma" panose="020B0604030504040204" pitchFamily="34" charset="0"/>
            </a:endParaRPr>
          </a:p>
        </p:txBody>
      </p:sp>
      <p:pic>
        <p:nvPicPr>
          <p:cNvPr id="96260" name="Picture 32" descr="underline_base">
            <a:extLst>
              <a:ext uri="{FF2B5EF4-FFF2-40B4-BE49-F238E27FC236}">
                <a16:creationId xmlns:a16="http://schemas.microsoft.com/office/drawing/2014/main" id="{1F03EF02-A7A9-4A68-A403-9A073565ABC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50" y="960438"/>
            <a:ext cx="667226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037" name="Rectangle 2">
            <a:extLst>
              <a:ext uri="{FF2B5EF4-FFF2-40B4-BE49-F238E27FC236}">
                <a16:creationId xmlns:a16="http://schemas.microsoft.com/office/drawing/2014/main" id="{59EBB37D-E4C5-47FF-B9C1-F13ACA7675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63525"/>
            <a:ext cx="7772400" cy="1008063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rdt3.0: stop-and-wait operation</a:t>
            </a:r>
          </a:p>
        </p:txBody>
      </p:sp>
      <p:grpSp>
        <p:nvGrpSpPr>
          <p:cNvPr id="96262" name="Group 2">
            <a:extLst>
              <a:ext uri="{FF2B5EF4-FFF2-40B4-BE49-F238E27FC236}">
                <a16:creationId xmlns:a16="http://schemas.microsoft.com/office/drawing/2014/main" id="{9FA6A369-93A6-4C0F-8214-EFE0231E228D}"/>
              </a:ext>
            </a:extLst>
          </p:cNvPr>
          <p:cNvGrpSpPr>
            <a:grpSpLocks/>
          </p:cNvGrpSpPr>
          <p:nvPr/>
        </p:nvGrpSpPr>
        <p:grpSpPr bwMode="auto">
          <a:xfrm>
            <a:off x="90488" y="1311275"/>
            <a:ext cx="8963025" cy="3249613"/>
            <a:chOff x="0" y="1446213"/>
            <a:chExt cx="8963025" cy="3249612"/>
          </a:xfrm>
        </p:grpSpPr>
        <p:sp>
          <p:nvSpPr>
            <p:cNvPr id="96266" name="Line 3">
              <a:extLst>
                <a:ext uri="{FF2B5EF4-FFF2-40B4-BE49-F238E27FC236}">
                  <a16:creationId xmlns:a16="http://schemas.microsoft.com/office/drawing/2014/main" id="{35CD99B3-8CF2-440E-80BB-C473159255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7588" y="2001838"/>
              <a:ext cx="2227262" cy="92233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67" name="Text Box 4">
              <a:extLst>
                <a:ext uri="{FF2B5EF4-FFF2-40B4-BE49-F238E27FC236}">
                  <a16:creationId xmlns:a16="http://schemas.microsoft.com/office/drawing/2014/main" id="{17225C4E-CE92-48AB-8D31-E961182574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363" y="1797050"/>
              <a:ext cx="3232150" cy="35242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first packet bit transmitted, t = 0</a:t>
              </a:r>
            </a:p>
          </p:txBody>
        </p:sp>
        <p:sp>
          <p:nvSpPr>
            <p:cNvPr id="96268" name="Line 5">
              <a:extLst>
                <a:ext uri="{FF2B5EF4-FFF2-40B4-BE49-F238E27FC236}">
                  <a16:creationId xmlns:a16="http://schemas.microsoft.com/office/drawing/2014/main" id="{EBE47517-FB32-4441-B355-5C01F75FDC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46475" y="1782763"/>
              <a:ext cx="23813" cy="29130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69" name="Line 6">
              <a:extLst>
                <a:ext uri="{FF2B5EF4-FFF2-40B4-BE49-F238E27FC236}">
                  <a16:creationId xmlns:a16="http://schemas.microsoft.com/office/drawing/2014/main" id="{3F8DFC4F-BAEE-4478-9179-EBA77AAC15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3738" y="1795463"/>
              <a:ext cx="22225" cy="289083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70" name="Text Box 7">
              <a:extLst>
                <a:ext uri="{FF2B5EF4-FFF2-40B4-BE49-F238E27FC236}">
                  <a16:creationId xmlns:a16="http://schemas.microsoft.com/office/drawing/2014/main" id="{211A7870-A165-4929-A3DF-51E0353FC5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17838" y="1446213"/>
              <a:ext cx="885825" cy="35083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sender</a:t>
              </a:r>
              <a:endParaRPr lang="en-US" altLang="zh-TW" sz="1600">
                <a:latin typeface="Times New Roman" panose="02020603050405020304" pitchFamily="18" charset="0"/>
              </a:endParaRPr>
            </a:p>
          </p:txBody>
        </p:sp>
        <p:sp>
          <p:nvSpPr>
            <p:cNvPr id="96271" name="Text Box 8">
              <a:extLst>
                <a:ext uri="{FF2B5EF4-FFF2-40B4-BE49-F238E27FC236}">
                  <a16:creationId xmlns:a16="http://schemas.microsoft.com/office/drawing/2014/main" id="{C259A513-755E-4ABD-8947-5C1237703F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95888" y="1446213"/>
              <a:ext cx="946150" cy="35083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receiver</a:t>
              </a:r>
              <a:endParaRPr lang="en-US" altLang="zh-TW" sz="1600">
                <a:latin typeface="Times New Roman" panose="02020603050405020304" pitchFamily="18" charset="0"/>
              </a:endParaRPr>
            </a:p>
          </p:txBody>
        </p:sp>
        <p:sp>
          <p:nvSpPr>
            <p:cNvPr id="96272" name="Line 9">
              <a:extLst>
                <a:ext uri="{FF2B5EF4-FFF2-40B4-BE49-F238E27FC236}">
                  <a16:creationId xmlns:a16="http://schemas.microsoft.com/office/drawing/2014/main" id="{4E941949-38B6-47DF-9E05-91FE89EE17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0288" y="1997075"/>
              <a:ext cx="2190750" cy="317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73" name="Line 10">
              <a:extLst>
                <a:ext uri="{FF2B5EF4-FFF2-40B4-BE49-F238E27FC236}">
                  <a16:creationId xmlns:a16="http://schemas.microsoft.com/office/drawing/2014/main" id="{11CBE754-A2D9-4A75-B1FD-A4E1247035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5050" y="4108450"/>
              <a:ext cx="2192338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74" name="Line 11">
              <a:extLst>
                <a:ext uri="{FF2B5EF4-FFF2-40B4-BE49-F238E27FC236}">
                  <a16:creationId xmlns:a16="http://schemas.microsoft.com/office/drawing/2014/main" id="{8400D1AF-3337-495E-BDD0-4459B49B8B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75050" y="3165475"/>
              <a:ext cx="2209800" cy="92233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75" name="Freeform 12">
              <a:extLst>
                <a:ext uri="{FF2B5EF4-FFF2-40B4-BE49-F238E27FC236}">
                  <a16:creationId xmlns:a16="http://schemas.microsoft.com/office/drawing/2014/main" id="{C8936982-2412-4EAA-86DF-EDFCF11D41CF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2825" y="1995488"/>
              <a:ext cx="2232025" cy="1155700"/>
            </a:xfrm>
            <a:custGeom>
              <a:avLst/>
              <a:gdLst>
                <a:gd name="T0" fmla="*/ 0 w 2902"/>
                <a:gd name="T1" fmla="*/ 0 h 1185"/>
                <a:gd name="T2" fmla="*/ 2147483646 w 2902"/>
                <a:gd name="T3" fmla="*/ 2147483646 h 1185"/>
                <a:gd name="T4" fmla="*/ 2147483646 w 2902"/>
                <a:gd name="T5" fmla="*/ 2147483646 h 1185"/>
                <a:gd name="T6" fmla="*/ 0 w 2902"/>
                <a:gd name="T7" fmla="*/ 2147483646 h 1185"/>
                <a:gd name="T8" fmla="*/ 0 w 2902"/>
                <a:gd name="T9" fmla="*/ 0 h 118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02"/>
                <a:gd name="T16" fmla="*/ 0 h 1185"/>
                <a:gd name="T17" fmla="*/ 2902 w 2902"/>
                <a:gd name="T18" fmla="*/ 1185 h 118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02" h="1185">
                  <a:moveTo>
                    <a:pt x="0" y="0"/>
                  </a:moveTo>
                  <a:lnTo>
                    <a:pt x="2895" y="937"/>
                  </a:lnTo>
                  <a:lnTo>
                    <a:pt x="2902" y="1185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C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76" name="Line 13">
              <a:extLst>
                <a:ext uri="{FF2B5EF4-FFF2-40B4-BE49-F238E27FC236}">
                  <a16:creationId xmlns:a16="http://schemas.microsoft.com/office/drawing/2014/main" id="{23AC8D9B-DB86-4895-B775-7D8E075197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08363" y="1995488"/>
              <a:ext cx="13176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77" name="Line 14">
              <a:extLst>
                <a:ext uri="{FF2B5EF4-FFF2-40B4-BE49-F238E27FC236}">
                  <a16:creationId xmlns:a16="http://schemas.microsoft.com/office/drawing/2014/main" id="{F60924DA-BE3C-4809-848F-171CCAEA18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08363" y="2236788"/>
              <a:ext cx="13176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78" name="Line 15">
              <a:extLst>
                <a:ext uri="{FF2B5EF4-FFF2-40B4-BE49-F238E27FC236}">
                  <a16:creationId xmlns:a16="http://schemas.microsoft.com/office/drawing/2014/main" id="{6261EB27-C21B-4B83-9AB7-3630FF134A0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19475" y="4095750"/>
              <a:ext cx="13335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79" name="Text Box 16">
              <a:extLst>
                <a:ext uri="{FF2B5EF4-FFF2-40B4-BE49-F238E27FC236}">
                  <a16:creationId xmlns:a16="http://schemas.microsoft.com/office/drawing/2014/main" id="{EAB56D3E-A932-48FA-9E30-C2E84F0019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55900" y="2968625"/>
              <a:ext cx="84772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RTT</a:t>
              </a:r>
              <a:r>
                <a:rPr lang="en-US" altLang="zh-TW" sz="1000">
                  <a:latin typeface="Arial" panose="020B0604020202020204" pitchFamily="34" charset="0"/>
                </a:rPr>
                <a:t> </a:t>
              </a:r>
              <a:endParaRPr lang="en-US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96280" name="Line 17">
              <a:extLst>
                <a:ext uri="{FF2B5EF4-FFF2-40B4-BE49-F238E27FC236}">
                  <a16:creationId xmlns:a16="http://schemas.microsoft.com/office/drawing/2014/main" id="{8FF7E94E-C4C5-4E8D-8BC7-EDC1F0D4E9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3288" y="3276600"/>
              <a:ext cx="11112" cy="81121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81" name="Line 18">
              <a:extLst>
                <a:ext uri="{FF2B5EF4-FFF2-40B4-BE49-F238E27FC236}">
                  <a16:creationId xmlns:a16="http://schemas.microsoft.com/office/drawing/2014/main" id="{025892B1-8479-4539-BE15-DBA2F72953F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48050" y="2259013"/>
              <a:ext cx="3175" cy="7683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82" name="Text Box 19">
              <a:extLst>
                <a:ext uri="{FF2B5EF4-FFF2-40B4-BE49-F238E27FC236}">
                  <a16:creationId xmlns:a16="http://schemas.microsoft.com/office/drawing/2014/main" id="{20278520-8B74-47DE-9C99-8FDA52B329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2074863"/>
              <a:ext cx="3465513" cy="352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last packet bit transmitted, </a:t>
              </a: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t = L / R</a:t>
              </a:r>
              <a:endParaRPr lang="en-US" altLang="zh-TW" sz="1600">
                <a:solidFill>
                  <a:srgbClr val="CC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283" name="Line 20">
              <a:extLst>
                <a:ext uri="{FF2B5EF4-FFF2-40B4-BE49-F238E27FC236}">
                  <a16:creationId xmlns:a16="http://schemas.microsoft.com/office/drawing/2014/main" id="{9DFCFBED-ECAE-47F5-88B4-FC55420B62C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761038" y="2909888"/>
              <a:ext cx="13335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84" name="Text Box 21">
              <a:extLst>
                <a:ext uri="{FF2B5EF4-FFF2-40B4-BE49-F238E27FC236}">
                  <a16:creationId xmlns:a16="http://schemas.microsoft.com/office/drawing/2014/main" id="{AF0C8C4E-2A81-4C81-9435-28BBCACE4A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42000" y="2733675"/>
              <a:ext cx="2425700" cy="352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first packet bit arrives</a:t>
              </a:r>
              <a:endParaRPr lang="en-US" altLang="zh-TW" sz="1600">
                <a:latin typeface="Times New Roman" panose="02020603050405020304" pitchFamily="18" charset="0"/>
              </a:endParaRPr>
            </a:p>
          </p:txBody>
        </p:sp>
        <p:sp>
          <p:nvSpPr>
            <p:cNvPr id="96285" name="Line 22">
              <a:extLst>
                <a:ext uri="{FF2B5EF4-FFF2-40B4-BE49-F238E27FC236}">
                  <a16:creationId xmlns:a16="http://schemas.microsoft.com/office/drawing/2014/main" id="{B4B46012-E8A6-4A32-B307-51C61EA237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4850" y="3159125"/>
              <a:ext cx="1270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86" name="Text Box 23">
              <a:extLst>
                <a:ext uri="{FF2B5EF4-FFF2-40B4-BE49-F238E27FC236}">
                  <a16:creationId xmlns:a16="http://schemas.microsoft.com/office/drawing/2014/main" id="{EBFE8C9C-F0F2-4364-9D01-15AA735C230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48350" y="2986088"/>
              <a:ext cx="3114675" cy="5699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last packet bit arrives, send ACK</a:t>
              </a:r>
              <a:endParaRPr lang="en-US" altLang="zh-TW" sz="1600">
                <a:latin typeface="Times New Roman" panose="02020603050405020304" pitchFamily="18" charset="0"/>
              </a:endParaRPr>
            </a:p>
          </p:txBody>
        </p:sp>
        <p:sp>
          <p:nvSpPr>
            <p:cNvPr id="96287" name="Text Box 24">
              <a:extLst>
                <a:ext uri="{FF2B5EF4-FFF2-40B4-BE49-F238E27FC236}">
                  <a16:creationId xmlns:a16="http://schemas.microsoft.com/office/drawing/2014/main" id="{517CE808-5D06-4F5A-A42C-C65BEA45C1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500" y="3768725"/>
              <a:ext cx="2686050" cy="635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Arial" panose="020B0604020202020204" pitchFamily="34" charset="0"/>
                </a:rPr>
                <a:t>ACK arrives, send next 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Arial" panose="020B0604020202020204" pitchFamily="34" charset="0"/>
                </a:rPr>
                <a:t>packet, </a:t>
              </a:r>
              <a:r>
                <a:rPr lang="en-US" altLang="zh-TW" sz="1600" dirty="0">
                  <a:solidFill>
                    <a:srgbClr val="CC0000"/>
                  </a:solidFill>
                  <a:latin typeface="Arial" panose="020B0604020202020204" pitchFamily="34" charset="0"/>
                </a:rPr>
                <a:t>t = RTT + L / R</a:t>
              </a:r>
              <a:endParaRPr lang="en-US" altLang="zh-TW" sz="1600" dirty="0">
                <a:solidFill>
                  <a:srgbClr val="CC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288" name="Freeform 25">
              <a:extLst>
                <a:ext uri="{FF2B5EF4-FFF2-40B4-BE49-F238E27FC236}">
                  <a16:creationId xmlns:a16="http://schemas.microsoft.com/office/drawing/2014/main" id="{A87A0406-ACD7-4FBB-B98C-D3C803E82D85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0288" y="4103688"/>
              <a:ext cx="1419225" cy="577850"/>
            </a:xfrm>
            <a:custGeom>
              <a:avLst/>
              <a:gdLst>
                <a:gd name="T0" fmla="*/ 0 w 1845"/>
                <a:gd name="T1" fmla="*/ 0 h 592"/>
                <a:gd name="T2" fmla="*/ 2147483646 w 1845"/>
                <a:gd name="T3" fmla="*/ 2147483646 h 592"/>
                <a:gd name="T4" fmla="*/ 2147483646 w 1845"/>
                <a:gd name="T5" fmla="*/ 2147483646 h 592"/>
                <a:gd name="T6" fmla="*/ 0 w 1845"/>
                <a:gd name="T7" fmla="*/ 2147483646 h 592"/>
                <a:gd name="T8" fmla="*/ 0 w 1845"/>
                <a:gd name="T9" fmla="*/ 0 h 5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5"/>
                <a:gd name="T16" fmla="*/ 0 h 592"/>
                <a:gd name="T17" fmla="*/ 1845 w 1845"/>
                <a:gd name="T18" fmla="*/ 592 h 5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5" h="592">
                  <a:moveTo>
                    <a:pt x="0" y="0"/>
                  </a:moveTo>
                  <a:lnTo>
                    <a:pt x="1845" y="592"/>
                  </a:lnTo>
                  <a:lnTo>
                    <a:pt x="1095" y="592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6289" name="Group 26">
              <a:extLst>
                <a:ext uri="{FF2B5EF4-FFF2-40B4-BE49-F238E27FC236}">
                  <a16:creationId xmlns:a16="http://schemas.microsoft.com/office/drawing/2014/main" id="{4B993F63-B89C-4FBB-AF9F-89AD675FF0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63938" y="4095750"/>
              <a:ext cx="1281112" cy="534988"/>
              <a:chOff x="12315" y="13225"/>
              <a:chExt cx="2775" cy="913"/>
            </a:xfrm>
          </p:grpSpPr>
          <p:sp>
            <p:nvSpPr>
              <p:cNvPr id="96292" name="Line 27">
                <a:extLst>
                  <a:ext uri="{FF2B5EF4-FFF2-40B4-BE49-F238E27FC236}">
                    <a16:creationId xmlns:a16="http://schemas.microsoft.com/office/drawing/2014/main" id="{12530EF5-31A3-4162-A5BA-E45BD54829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315" y="13225"/>
                <a:ext cx="1587" cy="51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6293" name="Line 28">
                <a:extLst>
                  <a:ext uri="{FF2B5EF4-FFF2-40B4-BE49-F238E27FC236}">
                    <a16:creationId xmlns:a16="http://schemas.microsoft.com/office/drawing/2014/main" id="{6F7AC6F9-7652-4377-ABB7-8F434CAA2E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915" y="13737"/>
                <a:ext cx="1175" cy="40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96290" name="Line 29">
              <a:extLst>
                <a:ext uri="{FF2B5EF4-FFF2-40B4-BE49-F238E27FC236}">
                  <a16:creationId xmlns:a16="http://schemas.microsoft.com/office/drawing/2014/main" id="{55EDCF52-665B-47CB-9E10-3F1384BD72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63938" y="4337050"/>
              <a:ext cx="317500" cy="1238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6291" name="Line 30">
              <a:extLst>
                <a:ext uri="{FF2B5EF4-FFF2-40B4-BE49-F238E27FC236}">
                  <a16:creationId xmlns:a16="http://schemas.microsoft.com/office/drawing/2014/main" id="{4C60056B-94F0-4776-9980-77EF7F7542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7788" y="4460875"/>
              <a:ext cx="541337" cy="2349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aphicFrame>
        <p:nvGraphicFramePr>
          <p:cNvPr id="96263" name="Object 35">
            <a:extLst>
              <a:ext uri="{FF2B5EF4-FFF2-40B4-BE49-F238E27FC236}">
                <a16:creationId xmlns:a16="http://schemas.microsoft.com/office/drawing/2014/main" id="{16F5DF7E-DD6D-478B-9001-8F7B5868872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5713" y="4919663"/>
          <a:ext cx="6748462" cy="933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4" imgW="3581400" imgH="495300" progId="Word.Picture.8">
                  <p:embed/>
                </p:oleObj>
              </mc:Choice>
              <mc:Fallback>
                <p:oleObj name="Picture" r:id="rId4" imgW="3581400" imgH="495300" progId="Word.Picture.8">
                  <p:embed/>
                  <p:pic>
                    <p:nvPicPr>
                      <p:cNvPr id="0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5713" y="4919663"/>
                        <a:ext cx="6748462" cy="933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64" name="Rectangle 4">
            <a:extLst>
              <a:ext uri="{FF2B5EF4-FFF2-40B4-BE49-F238E27FC236}">
                <a16:creationId xmlns:a16="http://schemas.microsoft.com/office/drawing/2014/main" id="{09B796D3-828E-4944-B078-B7780D38E3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716463"/>
            <a:ext cx="8372475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6889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1"/>
            <a:r>
              <a:rPr lang="en-US" altLang="zh-TW" sz="2400"/>
              <a:t>U </a:t>
            </a:r>
            <a:r>
              <a:rPr lang="en-US" altLang="zh-TW" sz="2400" baseline="-25000"/>
              <a:t>sender</a:t>
            </a:r>
            <a:r>
              <a:rPr lang="en-US" altLang="zh-TW" sz="2400"/>
              <a:t>: </a:t>
            </a:r>
            <a:r>
              <a:rPr lang="en-US" altLang="zh-TW" sz="2400" i="1">
                <a:solidFill>
                  <a:srgbClr val="CC0000"/>
                </a:solidFill>
              </a:rPr>
              <a:t>utilization</a:t>
            </a:r>
            <a:r>
              <a:rPr lang="en-US" altLang="zh-TW" sz="2400"/>
              <a:t>, i.e., fraction of time sender busy sending</a:t>
            </a:r>
          </a:p>
        </p:txBody>
      </p:sp>
      <p:sp>
        <p:nvSpPr>
          <p:cNvPr id="96265" name="Rectangle 7">
            <a:extLst>
              <a:ext uri="{FF2B5EF4-FFF2-40B4-BE49-F238E27FC236}">
                <a16:creationId xmlns:a16="http://schemas.microsoft.com/office/drawing/2014/main" id="{0C16F7BF-9774-49CF-8E68-EEA88D16B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5249863"/>
            <a:ext cx="8372475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6889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Throughput =1KB / 30.008 </a:t>
            </a:r>
            <a:r>
              <a:rPr lang="en-US" altLang="zh-TW" sz="2400" dirty="0" err="1"/>
              <a:t>msec</a:t>
            </a:r>
            <a:r>
              <a:rPr lang="en-US" altLang="zh-TW" sz="2400" dirty="0"/>
              <a:t> = 267 kbps </a:t>
            </a:r>
          </a:p>
          <a:p>
            <a:pPr lvl="1">
              <a:buFontTx/>
              <a:buNone/>
            </a:pPr>
            <a:r>
              <a:rPr lang="en-US" altLang="zh-TW" sz="2400" dirty="0"/>
              <a:t>	given 1 Gbps link!</a:t>
            </a:r>
          </a:p>
          <a:p>
            <a:r>
              <a:rPr lang="en-US" altLang="zh-TW" sz="2800" dirty="0">
                <a:solidFill>
                  <a:srgbClr val="0070C0"/>
                </a:solidFill>
              </a:rPr>
              <a:t>network protocol</a:t>
            </a:r>
            <a:r>
              <a:rPr lang="en-US" altLang="zh-TW" sz="2800" dirty="0"/>
              <a:t> limits use of </a:t>
            </a:r>
            <a:r>
              <a:rPr lang="en-US" altLang="zh-TW" sz="2800" dirty="0">
                <a:solidFill>
                  <a:srgbClr val="0070C0"/>
                </a:solidFill>
              </a:rPr>
              <a:t>physical resources</a:t>
            </a:r>
            <a:r>
              <a:rPr lang="en-US" altLang="zh-TW" sz="2800" dirty="0"/>
              <a:t>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Footer Placeholder 5">
            <a:extLst>
              <a:ext uri="{FF2B5EF4-FFF2-40B4-BE49-F238E27FC236}">
                <a16:creationId xmlns:a16="http://schemas.microsoft.com/office/drawing/2014/main" id="{F6920F97-7FC3-430A-B9B5-0D3724C37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97283" name="Slide Number Placeholder 6">
            <a:extLst>
              <a:ext uri="{FF2B5EF4-FFF2-40B4-BE49-F238E27FC236}">
                <a16:creationId xmlns:a16="http://schemas.microsoft.com/office/drawing/2014/main" id="{EA4193ED-27DA-465A-9ABE-8B612D426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EAC6910D-2065-4BB9-9734-945695F21F2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97284" name="Picture 6" descr="underline_base">
            <a:extLst>
              <a:ext uri="{FF2B5EF4-FFF2-40B4-BE49-F238E27FC236}">
                <a16:creationId xmlns:a16="http://schemas.microsoft.com/office/drawing/2014/main" id="{EF92AF2E-A3A1-4400-B153-61CB464FEE4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25" y="803275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7285" name="Rectangle 2">
            <a:extLst>
              <a:ext uri="{FF2B5EF4-FFF2-40B4-BE49-F238E27FC236}">
                <a16:creationId xmlns:a16="http://schemas.microsoft.com/office/drawing/2014/main" id="{EB8C25A9-2C2D-447B-9922-A8D0F1D1FF4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85725"/>
            <a:ext cx="7772400" cy="1008063"/>
          </a:xfrm>
        </p:spPr>
        <p:txBody>
          <a:bodyPr/>
          <a:lstStyle/>
          <a:p>
            <a:r>
              <a:rPr lang="en-US" altLang="zh-TW" sz="4000" dirty="0"/>
              <a:t>Pipelined protocols</a:t>
            </a:r>
            <a:endParaRPr lang="en-US" altLang="zh-TW" dirty="0"/>
          </a:p>
        </p:txBody>
      </p:sp>
      <p:sp>
        <p:nvSpPr>
          <p:cNvPr id="97286" name="Rectangle 3">
            <a:extLst>
              <a:ext uri="{FF2B5EF4-FFF2-40B4-BE49-F238E27FC236}">
                <a16:creationId xmlns:a16="http://schemas.microsoft.com/office/drawing/2014/main" id="{5BE53EA5-18E7-40D3-9100-F8F4C6F5929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23875" y="1304925"/>
            <a:ext cx="75914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pipelining: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0000"/>
                </a:solidFill>
              </a:rPr>
              <a:t>sender allows multiple, </a:t>
            </a:r>
            <a:r>
              <a:rPr lang="ja-JP" altLang="en-US" dirty="0">
                <a:solidFill>
                  <a:srgbClr val="FF0000"/>
                </a:solidFill>
              </a:rPr>
              <a:t>“</a:t>
            </a:r>
            <a:r>
              <a:rPr lang="en-US" altLang="ja-JP" dirty="0">
                <a:solidFill>
                  <a:srgbClr val="FF0000"/>
                </a:solidFill>
              </a:rPr>
              <a:t>in-flight</a:t>
            </a:r>
            <a:r>
              <a:rPr lang="ja-JP" altLang="en-US" dirty="0">
                <a:solidFill>
                  <a:srgbClr val="FF0000"/>
                </a:solidFill>
              </a:rPr>
              <a:t>”</a:t>
            </a:r>
            <a:r>
              <a:rPr lang="en-US" altLang="ja-JP" dirty="0">
                <a:solidFill>
                  <a:srgbClr val="FF0000"/>
                </a:solidFill>
              </a:rPr>
              <a:t>, yet-to-be-acknowledged packets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</a:rPr>
              <a:t>range of sequence numbers</a:t>
            </a:r>
            <a:r>
              <a:rPr lang="en-US" altLang="zh-TW" dirty="0"/>
              <a:t> must be increased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</a:rPr>
              <a:t>buffering</a:t>
            </a:r>
            <a:r>
              <a:rPr lang="en-US" altLang="zh-TW" dirty="0"/>
              <a:t> at sender and/or receiver</a:t>
            </a:r>
          </a:p>
        </p:txBody>
      </p:sp>
      <p:sp>
        <p:nvSpPr>
          <p:cNvPr id="45063" name="Rectangle 4">
            <a:extLst>
              <a:ext uri="{FF2B5EF4-FFF2-40B4-BE49-F238E27FC236}">
                <a16:creationId xmlns:a16="http://schemas.microsoft.com/office/drawing/2014/main" id="{4BDC9AD2-4152-4C5E-B89A-6B8DA047D8B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90550" y="5419725"/>
            <a:ext cx="8286750" cy="107632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two generic forms of pipelined protocols: </a:t>
            </a: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go-Back-N, selective repeat</a:t>
            </a:r>
          </a:p>
        </p:txBody>
      </p:sp>
      <p:pic>
        <p:nvPicPr>
          <p:cNvPr id="97288" name="Picture 5" descr="rdt_pipelined1">
            <a:extLst>
              <a:ext uri="{FF2B5EF4-FFF2-40B4-BE49-F238E27FC236}">
                <a16:creationId xmlns:a16="http://schemas.microsoft.com/office/drawing/2014/main" id="{9D997FA7-ED57-48A3-8141-7583BD926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2588" y="2946400"/>
            <a:ext cx="6105525" cy="2370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7289" name="Group 44">
            <a:extLst>
              <a:ext uri="{FF2B5EF4-FFF2-40B4-BE49-F238E27FC236}">
                <a16:creationId xmlns:a16="http://schemas.microsoft.com/office/drawing/2014/main" id="{4469934D-F1A5-474C-9ADC-DB4385C225C5}"/>
              </a:ext>
            </a:extLst>
          </p:cNvPr>
          <p:cNvGrpSpPr>
            <a:grpSpLocks/>
          </p:cNvGrpSpPr>
          <p:nvPr/>
        </p:nvGrpSpPr>
        <p:grpSpPr bwMode="auto">
          <a:xfrm>
            <a:off x="1398588" y="3624263"/>
            <a:ext cx="469900" cy="465137"/>
            <a:chOff x="881" y="2283"/>
            <a:chExt cx="296" cy="293"/>
          </a:xfrm>
        </p:grpSpPr>
        <p:sp>
          <p:nvSpPr>
            <p:cNvPr id="97362" name="Rectangle 43">
              <a:extLst>
                <a:ext uri="{FF2B5EF4-FFF2-40B4-BE49-F238E27FC236}">
                  <a16:creationId xmlns:a16="http://schemas.microsoft.com/office/drawing/2014/main" id="{497D2508-7C91-4437-A6F4-46544665C5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" y="2283"/>
              <a:ext cx="122" cy="2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97363" name="Group 36">
              <a:extLst>
                <a:ext uri="{FF2B5EF4-FFF2-40B4-BE49-F238E27FC236}">
                  <a16:creationId xmlns:a16="http://schemas.microsoft.com/office/drawing/2014/main" id="{00D057CD-17A5-4E90-87A7-B4EB7C1250C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81" y="2283"/>
              <a:ext cx="296" cy="293"/>
              <a:chOff x="2839" y="3501"/>
              <a:chExt cx="755" cy="803"/>
            </a:xfrm>
          </p:grpSpPr>
          <p:pic>
            <p:nvPicPr>
              <p:cNvPr id="97364" name="Picture 37" descr="desktop_computer_stylized_medium">
                <a:extLst>
                  <a:ext uri="{FF2B5EF4-FFF2-40B4-BE49-F238E27FC236}">
                    <a16:creationId xmlns:a16="http://schemas.microsoft.com/office/drawing/2014/main" id="{F6FD8B12-EEE0-4FAE-857D-5DB0C11501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7365" name="Freeform 38">
                <a:extLst>
                  <a:ext uri="{FF2B5EF4-FFF2-40B4-BE49-F238E27FC236}">
                    <a16:creationId xmlns:a16="http://schemas.microsoft.com/office/drawing/2014/main" id="{B0F8A8E2-98D3-4444-90F0-28B9731A4A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sp>
        <p:nvSpPr>
          <p:cNvPr id="97290" name="Freeform 48">
            <a:extLst>
              <a:ext uri="{FF2B5EF4-FFF2-40B4-BE49-F238E27FC236}">
                <a16:creationId xmlns:a16="http://schemas.microsoft.com/office/drawing/2014/main" id="{11541199-AE2C-402B-84BB-35008F286656}"/>
              </a:ext>
            </a:extLst>
          </p:cNvPr>
          <p:cNvSpPr>
            <a:spLocks/>
          </p:cNvSpPr>
          <p:nvPr/>
        </p:nvSpPr>
        <p:spPr bwMode="auto">
          <a:xfrm>
            <a:off x="7339013" y="3636963"/>
            <a:ext cx="185737" cy="431800"/>
          </a:xfrm>
          <a:custGeom>
            <a:avLst/>
            <a:gdLst>
              <a:gd name="T0" fmla="*/ 2147483646 w 117"/>
              <a:gd name="T1" fmla="*/ 2147483646 h 272"/>
              <a:gd name="T2" fmla="*/ 2147483646 w 117"/>
              <a:gd name="T3" fmla="*/ 2147483646 h 272"/>
              <a:gd name="T4" fmla="*/ 2147483646 w 117"/>
              <a:gd name="T5" fmla="*/ 2147483646 h 272"/>
              <a:gd name="T6" fmla="*/ 0 w 117"/>
              <a:gd name="T7" fmla="*/ 2147483646 h 272"/>
              <a:gd name="T8" fmla="*/ 2147483646 w 117"/>
              <a:gd name="T9" fmla="*/ 2147483646 h 272"/>
              <a:gd name="T10" fmla="*/ 2147483646 w 117"/>
              <a:gd name="T11" fmla="*/ 2147483646 h 272"/>
              <a:gd name="T12" fmla="*/ 2147483646 w 117"/>
              <a:gd name="T13" fmla="*/ 0 h 272"/>
              <a:gd name="T14" fmla="*/ 2147483646 w 117"/>
              <a:gd name="T15" fmla="*/ 2147483646 h 272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17"/>
              <a:gd name="T25" fmla="*/ 0 h 272"/>
              <a:gd name="T26" fmla="*/ 117 w 117"/>
              <a:gd name="T27" fmla="*/ 272 h 272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17" h="272">
                <a:moveTo>
                  <a:pt x="6" y="6"/>
                </a:moveTo>
                <a:lnTo>
                  <a:pt x="3" y="77"/>
                </a:lnTo>
                <a:lnTo>
                  <a:pt x="59" y="120"/>
                </a:lnTo>
                <a:lnTo>
                  <a:pt x="0" y="146"/>
                </a:lnTo>
                <a:lnTo>
                  <a:pt x="3" y="270"/>
                </a:lnTo>
                <a:lnTo>
                  <a:pt x="117" y="272"/>
                </a:lnTo>
                <a:lnTo>
                  <a:pt x="114" y="0"/>
                </a:lnTo>
                <a:lnTo>
                  <a:pt x="6" y="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97291" name="Group 50">
            <a:extLst>
              <a:ext uri="{FF2B5EF4-FFF2-40B4-BE49-F238E27FC236}">
                <a16:creationId xmlns:a16="http://schemas.microsoft.com/office/drawing/2014/main" id="{BCE43044-6CA7-4B9E-B07F-24590964DF0C}"/>
              </a:ext>
            </a:extLst>
          </p:cNvPr>
          <p:cNvGrpSpPr>
            <a:grpSpLocks/>
          </p:cNvGrpSpPr>
          <p:nvPr/>
        </p:nvGrpSpPr>
        <p:grpSpPr bwMode="auto">
          <a:xfrm>
            <a:off x="4510088" y="3641725"/>
            <a:ext cx="469900" cy="465138"/>
            <a:chOff x="881" y="2283"/>
            <a:chExt cx="296" cy="293"/>
          </a:xfrm>
        </p:grpSpPr>
        <p:sp>
          <p:nvSpPr>
            <p:cNvPr id="97358" name="Rectangle 51">
              <a:extLst>
                <a:ext uri="{FF2B5EF4-FFF2-40B4-BE49-F238E27FC236}">
                  <a16:creationId xmlns:a16="http://schemas.microsoft.com/office/drawing/2014/main" id="{62683B2F-8B08-4CD4-8CC6-6519DA7C6D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" y="2283"/>
              <a:ext cx="122" cy="2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97359" name="Group 52">
              <a:extLst>
                <a:ext uri="{FF2B5EF4-FFF2-40B4-BE49-F238E27FC236}">
                  <a16:creationId xmlns:a16="http://schemas.microsoft.com/office/drawing/2014/main" id="{FFA193B1-FD1E-4632-BBDE-4E66C757A6F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81" y="2283"/>
              <a:ext cx="296" cy="293"/>
              <a:chOff x="2839" y="3501"/>
              <a:chExt cx="755" cy="803"/>
            </a:xfrm>
          </p:grpSpPr>
          <p:pic>
            <p:nvPicPr>
              <p:cNvPr id="97360" name="Picture 53" descr="desktop_computer_stylized_medium">
                <a:extLst>
                  <a:ext uri="{FF2B5EF4-FFF2-40B4-BE49-F238E27FC236}">
                    <a16:creationId xmlns:a16="http://schemas.microsoft.com/office/drawing/2014/main" id="{CE1DCE5A-4CAF-4622-A53A-01FB750419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7361" name="Freeform 54">
                <a:extLst>
                  <a:ext uri="{FF2B5EF4-FFF2-40B4-BE49-F238E27FC236}">
                    <a16:creationId xmlns:a16="http://schemas.microsoft.com/office/drawing/2014/main" id="{B512EC2C-3379-42BB-BB7C-C490A9E8C7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grpSp>
        <p:nvGrpSpPr>
          <p:cNvPr id="97292" name="Group 55">
            <a:extLst>
              <a:ext uri="{FF2B5EF4-FFF2-40B4-BE49-F238E27FC236}">
                <a16:creationId xmlns:a16="http://schemas.microsoft.com/office/drawing/2014/main" id="{8BA84451-5842-4AFD-AAB5-098257273947}"/>
              </a:ext>
            </a:extLst>
          </p:cNvPr>
          <p:cNvGrpSpPr>
            <a:grpSpLocks/>
          </p:cNvGrpSpPr>
          <p:nvPr/>
        </p:nvGrpSpPr>
        <p:grpSpPr bwMode="auto">
          <a:xfrm>
            <a:off x="4321175" y="3508375"/>
            <a:ext cx="223838" cy="501650"/>
            <a:chOff x="4140" y="429"/>
            <a:chExt cx="1425" cy="2396"/>
          </a:xfrm>
        </p:grpSpPr>
        <p:sp>
          <p:nvSpPr>
            <p:cNvPr id="97326" name="Freeform 56">
              <a:extLst>
                <a:ext uri="{FF2B5EF4-FFF2-40B4-BE49-F238E27FC236}">
                  <a16:creationId xmlns:a16="http://schemas.microsoft.com/office/drawing/2014/main" id="{7B6043CB-BE8C-4505-A5C8-3E9C9FC56B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27" name="Rectangle 57">
              <a:extLst>
                <a:ext uri="{FF2B5EF4-FFF2-40B4-BE49-F238E27FC236}">
                  <a16:creationId xmlns:a16="http://schemas.microsoft.com/office/drawing/2014/main" id="{C3EA81B8-9D97-470C-B5A7-DF70F40B61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429"/>
              <a:ext cx="1041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28" name="Freeform 58">
              <a:extLst>
                <a:ext uri="{FF2B5EF4-FFF2-40B4-BE49-F238E27FC236}">
                  <a16:creationId xmlns:a16="http://schemas.microsoft.com/office/drawing/2014/main" id="{93C6760D-BACA-4159-92C7-5DA75CD9D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29" name="Freeform 59">
              <a:extLst>
                <a:ext uri="{FF2B5EF4-FFF2-40B4-BE49-F238E27FC236}">
                  <a16:creationId xmlns:a16="http://schemas.microsoft.com/office/drawing/2014/main" id="{ED3ACAAB-F4C5-4B9D-9F52-A0F6606E738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30" name="Rectangle 60">
              <a:extLst>
                <a:ext uri="{FF2B5EF4-FFF2-40B4-BE49-F238E27FC236}">
                  <a16:creationId xmlns:a16="http://schemas.microsoft.com/office/drawing/2014/main" id="{02380843-75DA-4D2C-A877-2BB4A89E8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6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97331" name="Group 61">
              <a:extLst>
                <a:ext uri="{FF2B5EF4-FFF2-40B4-BE49-F238E27FC236}">
                  <a16:creationId xmlns:a16="http://schemas.microsoft.com/office/drawing/2014/main" id="{0DC5AF3E-9DA6-4B86-A48C-5581024E5E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97356" name="AutoShape 62">
                <a:extLst>
                  <a:ext uri="{FF2B5EF4-FFF2-40B4-BE49-F238E27FC236}">
                    <a16:creationId xmlns:a16="http://schemas.microsoft.com/office/drawing/2014/main" id="{D701435A-68C4-468C-BDAE-5F65FFE594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1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97357" name="AutoShape 63">
                <a:extLst>
                  <a:ext uri="{FF2B5EF4-FFF2-40B4-BE49-F238E27FC236}">
                    <a16:creationId xmlns:a16="http://schemas.microsoft.com/office/drawing/2014/main" id="{B7D87988-285B-40C7-BC88-B629FDE26D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" y="2586"/>
                <a:ext cx="706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332" name="Rectangle 64">
              <a:extLst>
                <a:ext uri="{FF2B5EF4-FFF2-40B4-BE49-F238E27FC236}">
                  <a16:creationId xmlns:a16="http://schemas.microsoft.com/office/drawing/2014/main" id="{154E8AD5-078D-4A7E-9093-D4674E8B0A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1" y="1020"/>
              <a:ext cx="596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97333" name="Group 65">
              <a:extLst>
                <a:ext uri="{FF2B5EF4-FFF2-40B4-BE49-F238E27FC236}">
                  <a16:creationId xmlns:a16="http://schemas.microsoft.com/office/drawing/2014/main" id="{84A51E81-3982-4D68-A048-CA20E733F6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97354" name="AutoShape 66">
                <a:extLst>
                  <a:ext uri="{FF2B5EF4-FFF2-40B4-BE49-F238E27FC236}">
                    <a16:creationId xmlns:a16="http://schemas.microsoft.com/office/drawing/2014/main" id="{7A1FB9A3-3030-4531-8B5F-7BDB1D2F5C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97355" name="AutoShape 67">
                <a:extLst>
                  <a:ext uri="{FF2B5EF4-FFF2-40B4-BE49-F238E27FC236}">
                    <a16:creationId xmlns:a16="http://schemas.microsoft.com/office/drawing/2014/main" id="{B0BA55D7-1726-4F5D-B985-6BB0DF428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8"/>
                <a:ext cx="706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334" name="Rectangle 68">
              <a:extLst>
                <a:ext uri="{FF2B5EF4-FFF2-40B4-BE49-F238E27FC236}">
                  <a16:creationId xmlns:a16="http://schemas.microsoft.com/office/drawing/2014/main" id="{E5C58F05-44D6-461D-924C-DCCC72AC96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1" y="1362"/>
              <a:ext cx="596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35" name="Rectangle 69">
              <a:extLst>
                <a:ext uri="{FF2B5EF4-FFF2-40B4-BE49-F238E27FC236}">
                  <a16:creationId xmlns:a16="http://schemas.microsoft.com/office/drawing/2014/main" id="{0717D0EC-6E87-487B-A0B7-A97BBE42B0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1" y="1657"/>
              <a:ext cx="596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97336" name="Group 70">
              <a:extLst>
                <a:ext uri="{FF2B5EF4-FFF2-40B4-BE49-F238E27FC236}">
                  <a16:creationId xmlns:a16="http://schemas.microsoft.com/office/drawing/2014/main" id="{CE707622-8FCF-4BA4-B87C-210AA36841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97352" name="AutoShape 71">
                <a:extLst>
                  <a:ext uri="{FF2B5EF4-FFF2-40B4-BE49-F238E27FC236}">
                    <a16:creationId xmlns:a16="http://schemas.microsoft.com/office/drawing/2014/main" id="{57F90021-2838-45AF-958B-8B401EB622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18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97353" name="AutoShape 72">
                <a:extLst>
                  <a:ext uri="{FF2B5EF4-FFF2-40B4-BE49-F238E27FC236}">
                    <a16:creationId xmlns:a16="http://schemas.microsoft.com/office/drawing/2014/main" id="{6703AE4A-D9F5-4D10-9076-22A92775BF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2"/>
                <a:ext cx="692" cy="11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337" name="Freeform 73">
              <a:extLst>
                <a:ext uri="{FF2B5EF4-FFF2-40B4-BE49-F238E27FC236}">
                  <a16:creationId xmlns:a16="http://schemas.microsoft.com/office/drawing/2014/main" id="{D875A5FB-5A48-482D-95E2-39A2568D0A8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7338" name="Group 74">
              <a:extLst>
                <a:ext uri="{FF2B5EF4-FFF2-40B4-BE49-F238E27FC236}">
                  <a16:creationId xmlns:a16="http://schemas.microsoft.com/office/drawing/2014/main" id="{C999F95C-1DA2-46D6-A80E-D4A9E7702F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97350" name="AutoShape 75">
                <a:extLst>
                  <a:ext uri="{FF2B5EF4-FFF2-40B4-BE49-F238E27FC236}">
                    <a16:creationId xmlns:a16="http://schemas.microsoft.com/office/drawing/2014/main" id="{A8E8DBF1-09C2-4788-99A6-7748D75EAF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5"/>
                <a:ext cx="730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97351" name="AutoShape 76">
                <a:extLst>
                  <a:ext uri="{FF2B5EF4-FFF2-40B4-BE49-F238E27FC236}">
                    <a16:creationId xmlns:a16="http://schemas.microsoft.com/office/drawing/2014/main" id="{D61510AE-432B-4B55-B895-F82A3E465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" y="2580"/>
                <a:ext cx="705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339" name="Rectangle 77">
              <a:extLst>
                <a:ext uri="{FF2B5EF4-FFF2-40B4-BE49-F238E27FC236}">
                  <a16:creationId xmlns:a16="http://schemas.microsoft.com/office/drawing/2014/main" id="{0BCA2A5A-B031-45E0-B840-4E09E73C69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71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40" name="Freeform 78">
              <a:extLst>
                <a:ext uri="{FF2B5EF4-FFF2-40B4-BE49-F238E27FC236}">
                  <a16:creationId xmlns:a16="http://schemas.microsoft.com/office/drawing/2014/main" id="{AD246749-84B4-41ED-9A9D-D5FAF67EF2E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41" name="Freeform 79">
              <a:extLst>
                <a:ext uri="{FF2B5EF4-FFF2-40B4-BE49-F238E27FC236}">
                  <a16:creationId xmlns:a16="http://schemas.microsoft.com/office/drawing/2014/main" id="{D5B1109E-1C22-437E-B7EB-CA687F4116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42" name="Oval 80">
              <a:extLst>
                <a:ext uri="{FF2B5EF4-FFF2-40B4-BE49-F238E27FC236}">
                  <a16:creationId xmlns:a16="http://schemas.microsoft.com/office/drawing/2014/main" id="{E5A6DEE5-AE6F-4312-9A8C-E9185DC2E3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4" y="2613"/>
              <a:ext cx="51" cy="91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43" name="Freeform 81">
              <a:extLst>
                <a:ext uri="{FF2B5EF4-FFF2-40B4-BE49-F238E27FC236}">
                  <a16:creationId xmlns:a16="http://schemas.microsoft.com/office/drawing/2014/main" id="{D4481135-D986-4089-A5E5-34CF9FB3D20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44" name="AutoShape 82">
              <a:extLst>
                <a:ext uri="{FF2B5EF4-FFF2-40B4-BE49-F238E27FC236}">
                  <a16:creationId xmlns:a16="http://schemas.microsoft.com/office/drawing/2014/main" id="{3471297C-0A3A-493D-8731-987134CDC3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203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45" name="AutoShape 83">
              <a:extLst>
                <a:ext uri="{FF2B5EF4-FFF2-40B4-BE49-F238E27FC236}">
                  <a16:creationId xmlns:a16="http://schemas.microsoft.com/office/drawing/2014/main" id="{2AA32166-F94D-4FD5-B863-EDB5A96A8E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2711"/>
              <a:ext cx="1061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46" name="Oval 84">
              <a:extLst>
                <a:ext uri="{FF2B5EF4-FFF2-40B4-BE49-F238E27FC236}">
                  <a16:creationId xmlns:a16="http://schemas.microsoft.com/office/drawing/2014/main" id="{4E3F6E2E-60CC-4DA3-9B8B-D856A1A1E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2" y="2385"/>
              <a:ext cx="152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47" name="Oval 85">
              <a:extLst>
                <a:ext uri="{FF2B5EF4-FFF2-40B4-BE49-F238E27FC236}">
                  <a16:creationId xmlns:a16="http://schemas.microsoft.com/office/drawing/2014/main" id="{2E2C5629-4439-455E-AB6F-D97E75A354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4" y="2385"/>
              <a:ext cx="162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348" name="Oval 86">
              <a:extLst>
                <a:ext uri="{FF2B5EF4-FFF2-40B4-BE49-F238E27FC236}">
                  <a16:creationId xmlns:a16="http://schemas.microsoft.com/office/drawing/2014/main" id="{1CDA9DE0-8B53-48B8-99D8-057154FCD6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6" y="2378"/>
              <a:ext cx="152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49" name="Rectangle 87">
              <a:extLst>
                <a:ext uri="{FF2B5EF4-FFF2-40B4-BE49-F238E27FC236}">
                  <a16:creationId xmlns:a16="http://schemas.microsoft.com/office/drawing/2014/main" id="{BB817D39-DA33-4725-BDE4-5F21A23D66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0" y="1832"/>
              <a:ext cx="91" cy="766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grpSp>
        <p:nvGrpSpPr>
          <p:cNvPr id="97293" name="Group 88">
            <a:extLst>
              <a:ext uri="{FF2B5EF4-FFF2-40B4-BE49-F238E27FC236}">
                <a16:creationId xmlns:a16="http://schemas.microsoft.com/office/drawing/2014/main" id="{9C85788B-B4BA-413C-B4FC-7A722A3287DA}"/>
              </a:ext>
            </a:extLst>
          </p:cNvPr>
          <p:cNvGrpSpPr>
            <a:grpSpLocks/>
          </p:cNvGrpSpPr>
          <p:nvPr/>
        </p:nvGrpSpPr>
        <p:grpSpPr bwMode="auto">
          <a:xfrm>
            <a:off x="7385050" y="3503613"/>
            <a:ext cx="223838" cy="501650"/>
            <a:chOff x="4140" y="429"/>
            <a:chExt cx="1425" cy="2396"/>
          </a:xfrm>
        </p:grpSpPr>
        <p:sp>
          <p:nvSpPr>
            <p:cNvPr id="97294" name="Freeform 89">
              <a:extLst>
                <a:ext uri="{FF2B5EF4-FFF2-40B4-BE49-F238E27FC236}">
                  <a16:creationId xmlns:a16="http://schemas.microsoft.com/office/drawing/2014/main" id="{9EB51D23-370B-435A-A0E3-16C0C6D377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295" name="Rectangle 90">
              <a:extLst>
                <a:ext uri="{FF2B5EF4-FFF2-40B4-BE49-F238E27FC236}">
                  <a16:creationId xmlns:a16="http://schemas.microsoft.com/office/drawing/2014/main" id="{C2E85098-5AB7-4F0E-BC8F-496B9C2F2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429"/>
              <a:ext cx="1041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296" name="Freeform 91">
              <a:extLst>
                <a:ext uri="{FF2B5EF4-FFF2-40B4-BE49-F238E27FC236}">
                  <a16:creationId xmlns:a16="http://schemas.microsoft.com/office/drawing/2014/main" id="{A4688FB0-58AF-44E2-92A3-D08B6D4FD05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297" name="Freeform 92">
              <a:extLst>
                <a:ext uri="{FF2B5EF4-FFF2-40B4-BE49-F238E27FC236}">
                  <a16:creationId xmlns:a16="http://schemas.microsoft.com/office/drawing/2014/main" id="{4991DCFE-90F5-4615-88D6-836E5D02CF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298" name="Rectangle 93">
              <a:extLst>
                <a:ext uri="{FF2B5EF4-FFF2-40B4-BE49-F238E27FC236}">
                  <a16:creationId xmlns:a16="http://schemas.microsoft.com/office/drawing/2014/main" id="{CB5D2720-7366-4B6D-AABA-E775976922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6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97299" name="Group 94">
              <a:extLst>
                <a:ext uri="{FF2B5EF4-FFF2-40B4-BE49-F238E27FC236}">
                  <a16:creationId xmlns:a16="http://schemas.microsoft.com/office/drawing/2014/main" id="{5DB83699-BE29-4F57-937A-629104C6A3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97324" name="AutoShape 95">
                <a:extLst>
                  <a:ext uri="{FF2B5EF4-FFF2-40B4-BE49-F238E27FC236}">
                    <a16:creationId xmlns:a16="http://schemas.microsoft.com/office/drawing/2014/main" id="{D94A87BD-68B5-4FC3-BEB8-71A84596C5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1"/>
                <a:ext cx="731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97325" name="AutoShape 96">
                <a:extLst>
                  <a:ext uri="{FF2B5EF4-FFF2-40B4-BE49-F238E27FC236}">
                    <a16:creationId xmlns:a16="http://schemas.microsoft.com/office/drawing/2014/main" id="{B7D3B647-6745-4F11-932F-8387E2D328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" y="2586"/>
                <a:ext cx="706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300" name="Rectangle 97">
              <a:extLst>
                <a:ext uri="{FF2B5EF4-FFF2-40B4-BE49-F238E27FC236}">
                  <a16:creationId xmlns:a16="http://schemas.microsoft.com/office/drawing/2014/main" id="{9D93F98C-A6B5-4FAE-A900-5B64B2DD4A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1" y="1020"/>
              <a:ext cx="596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97301" name="Group 98">
              <a:extLst>
                <a:ext uri="{FF2B5EF4-FFF2-40B4-BE49-F238E27FC236}">
                  <a16:creationId xmlns:a16="http://schemas.microsoft.com/office/drawing/2014/main" id="{B3FD28E2-B745-4D79-97BA-346473A297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97322" name="AutoShape 99">
                <a:extLst>
                  <a:ext uri="{FF2B5EF4-FFF2-40B4-BE49-F238E27FC236}">
                    <a16:creationId xmlns:a16="http://schemas.microsoft.com/office/drawing/2014/main" id="{D2924774-48AB-48CF-A7F7-79F8B1A158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97323" name="AutoShape 100">
                <a:extLst>
                  <a:ext uri="{FF2B5EF4-FFF2-40B4-BE49-F238E27FC236}">
                    <a16:creationId xmlns:a16="http://schemas.microsoft.com/office/drawing/2014/main" id="{7E1279C6-9FFC-4FE2-A7E6-D74771F8A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8"/>
                <a:ext cx="706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302" name="Rectangle 101">
              <a:extLst>
                <a:ext uri="{FF2B5EF4-FFF2-40B4-BE49-F238E27FC236}">
                  <a16:creationId xmlns:a16="http://schemas.microsoft.com/office/drawing/2014/main" id="{2B868D7B-2F46-49BB-98A8-A38AE5CB13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1" y="1362"/>
              <a:ext cx="596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03" name="Rectangle 102">
              <a:extLst>
                <a:ext uri="{FF2B5EF4-FFF2-40B4-BE49-F238E27FC236}">
                  <a16:creationId xmlns:a16="http://schemas.microsoft.com/office/drawing/2014/main" id="{78E0A02F-50EA-4863-8CEA-62CDE1F6FE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1" y="1657"/>
              <a:ext cx="596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97304" name="Group 103">
              <a:extLst>
                <a:ext uri="{FF2B5EF4-FFF2-40B4-BE49-F238E27FC236}">
                  <a16:creationId xmlns:a16="http://schemas.microsoft.com/office/drawing/2014/main" id="{C1B66016-0B33-4C53-8E9A-778AB248907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97320" name="AutoShape 104">
                <a:extLst>
                  <a:ext uri="{FF2B5EF4-FFF2-40B4-BE49-F238E27FC236}">
                    <a16:creationId xmlns:a16="http://schemas.microsoft.com/office/drawing/2014/main" id="{4243FE16-9533-4897-B18B-43C10E2C4A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18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97321" name="AutoShape 105">
                <a:extLst>
                  <a:ext uri="{FF2B5EF4-FFF2-40B4-BE49-F238E27FC236}">
                    <a16:creationId xmlns:a16="http://schemas.microsoft.com/office/drawing/2014/main" id="{37CE3A52-E4B1-4B13-8BED-89A42588AF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2"/>
                <a:ext cx="692" cy="11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305" name="Freeform 106">
              <a:extLst>
                <a:ext uri="{FF2B5EF4-FFF2-40B4-BE49-F238E27FC236}">
                  <a16:creationId xmlns:a16="http://schemas.microsoft.com/office/drawing/2014/main" id="{5B864361-715F-4AF9-8C46-F6B6E52E4A7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7306" name="Group 107">
              <a:extLst>
                <a:ext uri="{FF2B5EF4-FFF2-40B4-BE49-F238E27FC236}">
                  <a16:creationId xmlns:a16="http://schemas.microsoft.com/office/drawing/2014/main" id="{583FEAE9-2CB2-4403-9CBA-CCBE7EBE2D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97318" name="AutoShape 108">
                <a:extLst>
                  <a:ext uri="{FF2B5EF4-FFF2-40B4-BE49-F238E27FC236}">
                    <a16:creationId xmlns:a16="http://schemas.microsoft.com/office/drawing/2014/main" id="{8865F892-6B71-4F9B-B6DF-539F6A66F5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5"/>
                <a:ext cx="730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97319" name="AutoShape 109">
                <a:extLst>
                  <a:ext uri="{FF2B5EF4-FFF2-40B4-BE49-F238E27FC236}">
                    <a16:creationId xmlns:a16="http://schemas.microsoft.com/office/drawing/2014/main" id="{532B2EFC-42F5-457E-B6D9-DDDBD2BA5E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" y="2580"/>
                <a:ext cx="705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7307" name="Rectangle 110">
              <a:extLst>
                <a:ext uri="{FF2B5EF4-FFF2-40B4-BE49-F238E27FC236}">
                  <a16:creationId xmlns:a16="http://schemas.microsoft.com/office/drawing/2014/main" id="{2CB20513-95E1-4F47-898C-4B4F9BD37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71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08" name="Freeform 111">
              <a:extLst>
                <a:ext uri="{FF2B5EF4-FFF2-40B4-BE49-F238E27FC236}">
                  <a16:creationId xmlns:a16="http://schemas.microsoft.com/office/drawing/2014/main" id="{4EEDB118-5A3B-46E7-AAD3-0800DC91FFE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09" name="Freeform 112">
              <a:extLst>
                <a:ext uri="{FF2B5EF4-FFF2-40B4-BE49-F238E27FC236}">
                  <a16:creationId xmlns:a16="http://schemas.microsoft.com/office/drawing/2014/main" id="{0F3D4C57-D1C6-40A8-A910-8422F7EB608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10" name="Oval 113">
              <a:extLst>
                <a:ext uri="{FF2B5EF4-FFF2-40B4-BE49-F238E27FC236}">
                  <a16:creationId xmlns:a16="http://schemas.microsoft.com/office/drawing/2014/main" id="{BB285293-D5D4-4DF5-ADA4-350A1C982B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4" y="2613"/>
              <a:ext cx="51" cy="91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11" name="Freeform 114">
              <a:extLst>
                <a:ext uri="{FF2B5EF4-FFF2-40B4-BE49-F238E27FC236}">
                  <a16:creationId xmlns:a16="http://schemas.microsoft.com/office/drawing/2014/main" id="{99A7DB75-9329-414F-9B63-5A5C10AA7C7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7312" name="AutoShape 115">
              <a:extLst>
                <a:ext uri="{FF2B5EF4-FFF2-40B4-BE49-F238E27FC236}">
                  <a16:creationId xmlns:a16="http://schemas.microsoft.com/office/drawing/2014/main" id="{41582674-3309-45C7-9888-21B539C5CE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1"/>
              <a:ext cx="1203" cy="144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13" name="AutoShape 116">
              <a:extLst>
                <a:ext uri="{FF2B5EF4-FFF2-40B4-BE49-F238E27FC236}">
                  <a16:creationId xmlns:a16="http://schemas.microsoft.com/office/drawing/2014/main" id="{5E59297A-BE61-448F-A662-9D5726020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2711"/>
              <a:ext cx="1061" cy="83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14" name="Oval 117">
              <a:extLst>
                <a:ext uri="{FF2B5EF4-FFF2-40B4-BE49-F238E27FC236}">
                  <a16:creationId xmlns:a16="http://schemas.microsoft.com/office/drawing/2014/main" id="{F2B04592-774D-48C1-809D-9728F0EF4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12" y="2385"/>
              <a:ext cx="152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15" name="Oval 118">
              <a:extLst>
                <a:ext uri="{FF2B5EF4-FFF2-40B4-BE49-F238E27FC236}">
                  <a16:creationId xmlns:a16="http://schemas.microsoft.com/office/drawing/2014/main" id="{709B423F-04EA-4627-B3A1-EE13609616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4" y="2385"/>
              <a:ext cx="162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316" name="Oval 119">
              <a:extLst>
                <a:ext uri="{FF2B5EF4-FFF2-40B4-BE49-F238E27FC236}">
                  <a16:creationId xmlns:a16="http://schemas.microsoft.com/office/drawing/2014/main" id="{9519B631-A1ED-4654-8F89-77BAF4B762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6" y="2378"/>
              <a:ext cx="152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97317" name="Rectangle 120">
              <a:extLst>
                <a:ext uri="{FF2B5EF4-FFF2-40B4-BE49-F238E27FC236}">
                  <a16:creationId xmlns:a16="http://schemas.microsoft.com/office/drawing/2014/main" id="{C4D7A852-B332-4C83-9918-5A052DC87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0" y="1832"/>
              <a:ext cx="91" cy="766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Footer Placeholder 4">
            <a:extLst>
              <a:ext uri="{FF2B5EF4-FFF2-40B4-BE49-F238E27FC236}">
                <a16:creationId xmlns:a16="http://schemas.microsoft.com/office/drawing/2014/main" id="{DD1C3627-E3BA-4A96-815F-9E6E10E1A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98307" name="Slide Number Placeholder 5">
            <a:extLst>
              <a:ext uri="{FF2B5EF4-FFF2-40B4-BE49-F238E27FC236}">
                <a16:creationId xmlns:a16="http://schemas.microsoft.com/office/drawing/2014/main" id="{3A55E890-7E35-44C0-B1CE-429AB38D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9913BC81-2E56-412A-A34D-E7C5B1AE773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98308" name="Picture 60" descr="underline_base">
            <a:extLst>
              <a:ext uri="{FF2B5EF4-FFF2-40B4-BE49-F238E27FC236}">
                <a16:creationId xmlns:a16="http://schemas.microsoft.com/office/drawing/2014/main" id="{B6264E97-9A04-42F2-8ADC-B0B2606F6A7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13" y="842963"/>
            <a:ext cx="6399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5" name="Rectangle 2">
            <a:extLst>
              <a:ext uri="{FF2B5EF4-FFF2-40B4-BE49-F238E27FC236}">
                <a16:creationId xmlns:a16="http://schemas.microsoft.com/office/drawing/2014/main" id="{5B30B8AD-5D54-4F8F-B064-C98DD0981D2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63513"/>
            <a:ext cx="7772400" cy="963612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Pipelining: increased utilization</a:t>
            </a:r>
          </a:p>
        </p:txBody>
      </p:sp>
      <p:sp>
        <p:nvSpPr>
          <p:cNvPr id="98310" name="Line 3">
            <a:extLst>
              <a:ext uri="{FF2B5EF4-FFF2-40B4-BE49-F238E27FC236}">
                <a16:creationId xmlns:a16="http://schemas.microsoft.com/office/drawing/2014/main" id="{67CA738B-3A0D-4F04-B79B-FBCCA4D41F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71825" y="1778000"/>
            <a:ext cx="2082800" cy="93186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11" name="Text Box 4">
            <a:extLst>
              <a:ext uri="{FF2B5EF4-FFF2-40B4-BE49-F238E27FC236}">
                <a16:creationId xmlns:a16="http://schemas.microsoft.com/office/drawing/2014/main" id="{77CD1982-852F-40C9-B068-35C5CBC353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71625"/>
            <a:ext cx="3086100" cy="354013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first packet bit transmitted, t = 0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12" name="Line 5">
            <a:extLst>
              <a:ext uri="{FF2B5EF4-FFF2-40B4-BE49-F238E27FC236}">
                <a16:creationId xmlns:a16="http://schemas.microsoft.com/office/drawing/2014/main" id="{3C7AB2FA-ACC9-4721-99A8-AEFAE6E3B9C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1555750"/>
            <a:ext cx="20638" cy="32845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13" name="Line 6">
            <a:extLst>
              <a:ext uri="{FF2B5EF4-FFF2-40B4-BE49-F238E27FC236}">
                <a16:creationId xmlns:a16="http://schemas.microsoft.com/office/drawing/2014/main" id="{0B453B39-FF8D-41AB-B90E-464BB1FCA56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43513" y="1568450"/>
            <a:ext cx="22225" cy="33512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14" name="Text Box 7">
            <a:extLst>
              <a:ext uri="{FF2B5EF4-FFF2-40B4-BE49-F238E27FC236}">
                <a16:creationId xmlns:a16="http://schemas.microsoft.com/office/drawing/2014/main" id="{294A472D-3021-40A2-8D8C-940F90A4CA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1925" y="1228725"/>
            <a:ext cx="1042988" cy="3556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sender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15" name="Text Box 8">
            <a:extLst>
              <a:ext uri="{FF2B5EF4-FFF2-40B4-BE49-F238E27FC236}">
                <a16:creationId xmlns:a16="http://schemas.microsoft.com/office/drawing/2014/main" id="{0BCDCC4E-8FEB-4A41-BD5E-ACD69D5A30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0" y="1228725"/>
            <a:ext cx="1108075" cy="3556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receiver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16" name="Line 9">
            <a:extLst>
              <a:ext uri="{FF2B5EF4-FFF2-40B4-BE49-F238E27FC236}">
                <a16:creationId xmlns:a16="http://schemas.microsoft.com/office/drawing/2014/main" id="{DC3276EA-CD63-48E4-9725-9DA366BE804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82938" y="1773238"/>
            <a:ext cx="2049462" cy="3175"/>
          </a:xfrm>
          <a:prstGeom prst="line">
            <a:avLst/>
          </a:prstGeom>
          <a:noFill/>
          <a:ln w="9525">
            <a:solidFill>
              <a:srgbClr val="00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17" name="Line 10">
            <a:extLst>
              <a:ext uri="{FF2B5EF4-FFF2-40B4-BE49-F238E27FC236}">
                <a16:creationId xmlns:a16="http://schemas.microsoft.com/office/drawing/2014/main" id="{DBC53ED0-469D-425E-9720-8CB94B1A36A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89288" y="3905250"/>
            <a:ext cx="2049462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18" name="Freeform 11">
            <a:extLst>
              <a:ext uri="{FF2B5EF4-FFF2-40B4-BE49-F238E27FC236}">
                <a16:creationId xmlns:a16="http://schemas.microsoft.com/office/drawing/2014/main" id="{086D510B-3684-4639-A172-138300AF09EC}"/>
              </a:ext>
            </a:extLst>
          </p:cNvPr>
          <p:cNvSpPr>
            <a:spLocks/>
          </p:cNvSpPr>
          <p:nvPr/>
        </p:nvSpPr>
        <p:spPr bwMode="auto">
          <a:xfrm>
            <a:off x="3167063" y="1770063"/>
            <a:ext cx="2087562" cy="1169987"/>
          </a:xfrm>
          <a:custGeom>
            <a:avLst/>
            <a:gdLst>
              <a:gd name="T0" fmla="*/ 0 w 2902"/>
              <a:gd name="T1" fmla="*/ 0 h 1185"/>
              <a:gd name="T2" fmla="*/ 2147483646 w 2902"/>
              <a:gd name="T3" fmla="*/ 2147483646 h 1185"/>
              <a:gd name="T4" fmla="*/ 2147483646 w 2902"/>
              <a:gd name="T5" fmla="*/ 2147483646 h 1185"/>
              <a:gd name="T6" fmla="*/ 0 w 2902"/>
              <a:gd name="T7" fmla="*/ 2147483646 h 1185"/>
              <a:gd name="T8" fmla="*/ 0 w 2902"/>
              <a:gd name="T9" fmla="*/ 0 h 118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02"/>
              <a:gd name="T16" fmla="*/ 0 h 1185"/>
              <a:gd name="T17" fmla="*/ 2902 w 2902"/>
              <a:gd name="T18" fmla="*/ 1185 h 118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02" h="1185">
                <a:moveTo>
                  <a:pt x="0" y="0"/>
                </a:moveTo>
                <a:lnTo>
                  <a:pt x="2895" y="937"/>
                </a:lnTo>
                <a:lnTo>
                  <a:pt x="2902" y="1185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solidFill>
            <a:srgbClr val="00CC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98319" name="Line 12">
            <a:extLst>
              <a:ext uri="{FF2B5EF4-FFF2-40B4-BE49-F238E27FC236}">
                <a16:creationId xmlns:a16="http://schemas.microsoft.com/office/drawing/2014/main" id="{2864EBEF-CCEF-4B7D-AE97-CE054E50BC7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32125" y="1770063"/>
            <a:ext cx="123825" cy="31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20" name="Line 13">
            <a:extLst>
              <a:ext uri="{FF2B5EF4-FFF2-40B4-BE49-F238E27FC236}">
                <a16:creationId xmlns:a16="http://schemas.microsoft.com/office/drawing/2014/main" id="{3AF406EF-E088-4701-B26D-ABD8AA8642B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32125" y="2014538"/>
            <a:ext cx="12382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21" name="Text Box 14">
            <a:extLst>
              <a:ext uri="{FF2B5EF4-FFF2-40B4-BE49-F238E27FC236}">
                <a16:creationId xmlns:a16="http://schemas.microsoft.com/office/drawing/2014/main" id="{DBF4905A-1DB1-40F0-B8FD-3F102DD8FB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1075" y="2754313"/>
            <a:ext cx="9652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RTT 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22" name="Line 15">
            <a:extLst>
              <a:ext uri="{FF2B5EF4-FFF2-40B4-BE49-F238E27FC236}">
                <a16:creationId xmlns:a16="http://schemas.microsoft.com/office/drawing/2014/main" id="{55C9C229-A831-4E01-B81B-8535FF4332BB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5463" y="3065463"/>
            <a:ext cx="9525" cy="8207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23" name="Line 16">
            <a:extLst>
              <a:ext uri="{FF2B5EF4-FFF2-40B4-BE49-F238E27FC236}">
                <a16:creationId xmlns:a16="http://schemas.microsoft.com/office/drawing/2014/main" id="{850E3075-7E61-4983-9AD6-00D6182162D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70225" y="2036763"/>
            <a:ext cx="1588" cy="7762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24" name="Text Box 17">
            <a:extLst>
              <a:ext uri="{FF2B5EF4-FFF2-40B4-BE49-F238E27FC236}">
                <a16:creationId xmlns:a16="http://schemas.microsoft.com/office/drawing/2014/main" id="{55396C89-FA05-48A6-89A6-FF7A9F7ADF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075" y="1852613"/>
            <a:ext cx="2740025" cy="354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last bit transmitted, t = L / R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25" name="Line 18">
            <a:extLst>
              <a:ext uri="{FF2B5EF4-FFF2-40B4-BE49-F238E27FC236}">
                <a16:creationId xmlns:a16="http://schemas.microsoft.com/office/drawing/2014/main" id="{5A9968CA-A769-41E1-8EA9-92AAE7F242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32400" y="2695575"/>
            <a:ext cx="12541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26" name="Text Box 19">
            <a:extLst>
              <a:ext uri="{FF2B5EF4-FFF2-40B4-BE49-F238E27FC236}">
                <a16:creationId xmlns:a16="http://schemas.microsoft.com/office/drawing/2014/main" id="{8D77874E-B897-43C2-8EDF-B8BBDA31E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08600" y="2517775"/>
            <a:ext cx="2641600" cy="35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first packet bit arrives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27" name="Line 20">
            <a:extLst>
              <a:ext uri="{FF2B5EF4-FFF2-40B4-BE49-F238E27FC236}">
                <a16:creationId xmlns:a16="http://schemas.microsoft.com/office/drawing/2014/main" id="{BD9B697F-FC47-4EF9-951B-9C79B7E6AEA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4625" y="2946400"/>
            <a:ext cx="11906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28" name="Text Box 21">
            <a:extLst>
              <a:ext uri="{FF2B5EF4-FFF2-40B4-BE49-F238E27FC236}">
                <a16:creationId xmlns:a16="http://schemas.microsoft.com/office/drawing/2014/main" id="{E91CE458-D7C2-4C03-A0DC-370292448A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13363" y="2770188"/>
            <a:ext cx="3581400" cy="38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last packet bit arrives, send ACK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29" name="Text Box 22">
            <a:extLst>
              <a:ext uri="{FF2B5EF4-FFF2-40B4-BE49-F238E27FC236}">
                <a16:creationId xmlns:a16="http://schemas.microsoft.com/office/drawing/2014/main" id="{8A276CB9-5FAC-4EAD-890B-85E79D3C99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713" y="3562350"/>
            <a:ext cx="2635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ACK arrives, send next 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packet, t = RTT + L / R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grpSp>
        <p:nvGrpSpPr>
          <p:cNvPr id="98330" name="Group 23">
            <a:extLst>
              <a:ext uri="{FF2B5EF4-FFF2-40B4-BE49-F238E27FC236}">
                <a16:creationId xmlns:a16="http://schemas.microsoft.com/office/drawing/2014/main" id="{8B3F3D8F-6FB2-4A89-B0EC-CB2F1C440735}"/>
              </a:ext>
            </a:extLst>
          </p:cNvPr>
          <p:cNvGrpSpPr>
            <a:grpSpLocks/>
          </p:cNvGrpSpPr>
          <p:nvPr/>
        </p:nvGrpSpPr>
        <p:grpSpPr bwMode="auto">
          <a:xfrm>
            <a:off x="3043238" y="3892550"/>
            <a:ext cx="1466850" cy="608013"/>
            <a:chOff x="12502" y="21425"/>
            <a:chExt cx="3400" cy="1025"/>
          </a:xfrm>
        </p:grpSpPr>
        <p:sp>
          <p:nvSpPr>
            <p:cNvPr id="98359" name="Line 24">
              <a:extLst>
                <a:ext uri="{FF2B5EF4-FFF2-40B4-BE49-F238E27FC236}">
                  <a16:creationId xmlns:a16="http://schemas.microsoft.com/office/drawing/2014/main" id="{301BA824-38A7-4190-8DD9-F8911537E41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502" y="21425"/>
              <a:ext cx="288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0" name="Freeform 25">
              <a:extLst>
                <a:ext uri="{FF2B5EF4-FFF2-40B4-BE49-F238E27FC236}">
                  <a16:creationId xmlns:a16="http://schemas.microsoft.com/office/drawing/2014/main" id="{0D74DFA5-7AF7-4A1C-B362-644609396BE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27" y="21438"/>
              <a:ext cx="3075" cy="987"/>
            </a:xfrm>
            <a:custGeom>
              <a:avLst/>
              <a:gdLst>
                <a:gd name="T0" fmla="*/ 0 w 1845"/>
                <a:gd name="T1" fmla="*/ 0 h 592"/>
                <a:gd name="T2" fmla="*/ 2147483646 w 1845"/>
                <a:gd name="T3" fmla="*/ 2147483646 h 592"/>
                <a:gd name="T4" fmla="*/ 2147483646 w 1845"/>
                <a:gd name="T5" fmla="*/ 2147483646 h 592"/>
                <a:gd name="T6" fmla="*/ 0 w 1845"/>
                <a:gd name="T7" fmla="*/ 2147483646 h 592"/>
                <a:gd name="T8" fmla="*/ 0 w 1845"/>
                <a:gd name="T9" fmla="*/ 0 h 5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5"/>
                <a:gd name="T16" fmla="*/ 0 h 592"/>
                <a:gd name="T17" fmla="*/ 1845 w 1845"/>
                <a:gd name="T18" fmla="*/ 592 h 5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5" h="592">
                  <a:moveTo>
                    <a:pt x="0" y="0"/>
                  </a:moveTo>
                  <a:lnTo>
                    <a:pt x="1845" y="592"/>
                  </a:lnTo>
                  <a:lnTo>
                    <a:pt x="1095" y="592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8361" name="Group 26">
              <a:extLst>
                <a:ext uri="{FF2B5EF4-FFF2-40B4-BE49-F238E27FC236}">
                  <a16:creationId xmlns:a16="http://schemas.microsoft.com/office/drawing/2014/main" id="{3275D732-1854-468C-8858-AD0F0C1A6D3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815" y="21425"/>
              <a:ext cx="2776" cy="913"/>
              <a:chOff x="12315" y="13225"/>
              <a:chExt cx="2775" cy="913"/>
            </a:xfrm>
          </p:grpSpPr>
          <p:sp>
            <p:nvSpPr>
              <p:cNvPr id="98364" name="Line 27">
                <a:extLst>
                  <a:ext uri="{FF2B5EF4-FFF2-40B4-BE49-F238E27FC236}">
                    <a16:creationId xmlns:a16="http://schemas.microsoft.com/office/drawing/2014/main" id="{C73D1E78-5E2C-4811-8E45-321E34A8E2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315" y="13225"/>
                <a:ext cx="1587" cy="51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365" name="Line 28">
                <a:extLst>
                  <a:ext uri="{FF2B5EF4-FFF2-40B4-BE49-F238E27FC236}">
                    <a16:creationId xmlns:a16="http://schemas.microsoft.com/office/drawing/2014/main" id="{CE313B99-263F-48AA-BB1E-25330762A23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915" y="13737"/>
                <a:ext cx="1175" cy="40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98362" name="Line 29">
              <a:extLst>
                <a:ext uri="{FF2B5EF4-FFF2-40B4-BE49-F238E27FC236}">
                  <a16:creationId xmlns:a16="http://schemas.microsoft.com/office/drawing/2014/main" id="{92441C28-8554-4528-8367-B9DCF15BDF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15" y="21837"/>
              <a:ext cx="687" cy="21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63" name="Line 30">
              <a:extLst>
                <a:ext uri="{FF2B5EF4-FFF2-40B4-BE49-F238E27FC236}">
                  <a16:creationId xmlns:a16="http://schemas.microsoft.com/office/drawing/2014/main" id="{C9881BCA-EE84-44EF-B527-DDF17E5041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515" y="22048"/>
              <a:ext cx="1175" cy="40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98331" name="Freeform 31">
            <a:extLst>
              <a:ext uri="{FF2B5EF4-FFF2-40B4-BE49-F238E27FC236}">
                <a16:creationId xmlns:a16="http://schemas.microsoft.com/office/drawing/2014/main" id="{DC82A7DF-548F-4CB5-99C1-E5A7DDC48B20}"/>
              </a:ext>
            </a:extLst>
          </p:cNvPr>
          <p:cNvSpPr>
            <a:spLocks/>
          </p:cNvSpPr>
          <p:nvPr/>
        </p:nvSpPr>
        <p:spPr bwMode="auto">
          <a:xfrm>
            <a:off x="3171825" y="2022475"/>
            <a:ext cx="2087563" cy="1168400"/>
          </a:xfrm>
          <a:custGeom>
            <a:avLst/>
            <a:gdLst>
              <a:gd name="T0" fmla="*/ 0 w 2902"/>
              <a:gd name="T1" fmla="*/ 0 h 1185"/>
              <a:gd name="T2" fmla="*/ 2147483646 w 2902"/>
              <a:gd name="T3" fmla="*/ 2147483646 h 1185"/>
              <a:gd name="T4" fmla="*/ 2147483646 w 2902"/>
              <a:gd name="T5" fmla="*/ 2147483646 h 1185"/>
              <a:gd name="T6" fmla="*/ 0 w 2902"/>
              <a:gd name="T7" fmla="*/ 2147483646 h 1185"/>
              <a:gd name="T8" fmla="*/ 0 w 2902"/>
              <a:gd name="T9" fmla="*/ 0 h 118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02"/>
              <a:gd name="T16" fmla="*/ 0 h 1185"/>
              <a:gd name="T17" fmla="*/ 2902 w 2902"/>
              <a:gd name="T18" fmla="*/ 1185 h 118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02" h="1185">
                <a:moveTo>
                  <a:pt x="0" y="0"/>
                </a:moveTo>
                <a:lnTo>
                  <a:pt x="2895" y="937"/>
                </a:lnTo>
                <a:lnTo>
                  <a:pt x="2902" y="1185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32" name="Freeform 32">
            <a:extLst>
              <a:ext uri="{FF2B5EF4-FFF2-40B4-BE49-F238E27FC236}">
                <a16:creationId xmlns:a16="http://schemas.microsoft.com/office/drawing/2014/main" id="{7471962C-9AC1-4B44-A642-FBEB88A53233}"/>
              </a:ext>
            </a:extLst>
          </p:cNvPr>
          <p:cNvSpPr>
            <a:spLocks/>
          </p:cNvSpPr>
          <p:nvPr/>
        </p:nvSpPr>
        <p:spPr bwMode="auto">
          <a:xfrm>
            <a:off x="3171825" y="2273300"/>
            <a:ext cx="2087563" cy="1168400"/>
          </a:xfrm>
          <a:custGeom>
            <a:avLst/>
            <a:gdLst>
              <a:gd name="T0" fmla="*/ 0 w 2902"/>
              <a:gd name="T1" fmla="*/ 0 h 1185"/>
              <a:gd name="T2" fmla="*/ 2147483646 w 2902"/>
              <a:gd name="T3" fmla="*/ 2147483646 h 1185"/>
              <a:gd name="T4" fmla="*/ 2147483646 w 2902"/>
              <a:gd name="T5" fmla="*/ 2147483646 h 1185"/>
              <a:gd name="T6" fmla="*/ 0 w 2902"/>
              <a:gd name="T7" fmla="*/ 2147483646 h 1185"/>
              <a:gd name="T8" fmla="*/ 0 w 2902"/>
              <a:gd name="T9" fmla="*/ 0 h 118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02"/>
              <a:gd name="T16" fmla="*/ 0 h 1185"/>
              <a:gd name="T17" fmla="*/ 2902 w 2902"/>
              <a:gd name="T18" fmla="*/ 1185 h 118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02" h="1185">
                <a:moveTo>
                  <a:pt x="0" y="0"/>
                </a:moveTo>
                <a:lnTo>
                  <a:pt x="2895" y="937"/>
                </a:lnTo>
                <a:lnTo>
                  <a:pt x="2902" y="1185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solidFill>
            <a:srgbClr val="00CC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98333" name="Line 33">
            <a:extLst>
              <a:ext uri="{FF2B5EF4-FFF2-40B4-BE49-F238E27FC236}">
                <a16:creationId xmlns:a16="http://schemas.microsoft.com/office/drawing/2014/main" id="{4ED0B5B2-92C5-49EA-AFF3-515437CB505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89288" y="2954338"/>
            <a:ext cx="2065337" cy="9318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34" name="Line 34">
            <a:extLst>
              <a:ext uri="{FF2B5EF4-FFF2-40B4-BE49-F238E27FC236}">
                <a16:creationId xmlns:a16="http://schemas.microsoft.com/office/drawing/2014/main" id="{9B698981-66F9-40DE-9F6D-13FE5B30DD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89288" y="3205163"/>
            <a:ext cx="2065337" cy="9318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98335" name="Group 35">
            <a:extLst>
              <a:ext uri="{FF2B5EF4-FFF2-40B4-BE49-F238E27FC236}">
                <a16:creationId xmlns:a16="http://schemas.microsoft.com/office/drawing/2014/main" id="{BD4BBD37-1EA0-46CA-92AA-B99A31816CBE}"/>
              </a:ext>
            </a:extLst>
          </p:cNvPr>
          <p:cNvGrpSpPr>
            <a:grpSpLocks/>
          </p:cNvGrpSpPr>
          <p:nvPr/>
        </p:nvGrpSpPr>
        <p:grpSpPr bwMode="auto">
          <a:xfrm>
            <a:off x="3032125" y="4130675"/>
            <a:ext cx="1466850" cy="606425"/>
            <a:chOff x="12502" y="21425"/>
            <a:chExt cx="3400" cy="1025"/>
          </a:xfrm>
        </p:grpSpPr>
        <p:sp>
          <p:nvSpPr>
            <p:cNvPr id="98352" name="Line 36">
              <a:extLst>
                <a:ext uri="{FF2B5EF4-FFF2-40B4-BE49-F238E27FC236}">
                  <a16:creationId xmlns:a16="http://schemas.microsoft.com/office/drawing/2014/main" id="{069384C0-B50A-4BAF-991F-50D158E6DE3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502" y="21425"/>
              <a:ext cx="288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3" name="Freeform 37">
              <a:extLst>
                <a:ext uri="{FF2B5EF4-FFF2-40B4-BE49-F238E27FC236}">
                  <a16:creationId xmlns:a16="http://schemas.microsoft.com/office/drawing/2014/main" id="{1362CFBB-EFDB-4456-9E96-FC5412E599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27" y="21438"/>
              <a:ext cx="3075" cy="987"/>
            </a:xfrm>
            <a:custGeom>
              <a:avLst/>
              <a:gdLst>
                <a:gd name="T0" fmla="*/ 0 w 1845"/>
                <a:gd name="T1" fmla="*/ 0 h 592"/>
                <a:gd name="T2" fmla="*/ 2147483646 w 1845"/>
                <a:gd name="T3" fmla="*/ 2147483646 h 592"/>
                <a:gd name="T4" fmla="*/ 2147483646 w 1845"/>
                <a:gd name="T5" fmla="*/ 2147483646 h 592"/>
                <a:gd name="T6" fmla="*/ 0 w 1845"/>
                <a:gd name="T7" fmla="*/ 2147483646 h 592"/>
                <a:gd name="T8" fmla="*/ 0 w 1845"/>
                <a:gd name="T9" fmla="*/ 0 h 5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5"/>
                <a:gd name="T16" fmla="*/ 0 h 592"/>
                <a:gd name="T17" fmla="*/ 1845 w 1845"/>
                <a:gd name="T18" fmla="*/ 592 h 5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5" h="592">
                  <a:moveTo>
                    <a:pt x="0" y="0"/>
                  </a:moveTo>
                  <a:lnTo>
                    <a:pt x="1845" y="592"/>
                  </a:lnTo>
                  <a:lnTo>
                    <a:pt x="1095" y="592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8354" name="Group 38">
              <a:extLst>
                <a:ext uri="{FF2B5EF4-FFF2-40B4-BE49-F238E27FC236}">
                  <a16:creationId xmlns:a16="http://schemas.microsoft.com/office/drawing/2014/main" id="{770E239B-338B-41D1-B9B6-B8DD3A8C0B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815" y="21425"/>
              <a:ext cx="2776" cy="913"/>
              <a:chOff x="12315" y="13225"/>
              <a:chExt cx="2775" cy="913"/>
            </a:xfrm>
          </p:grpSpPr>
          <p:sp>
            <p:nvSpPr>
              <p:cNvPr id="98357" name="Line 39">
                <a:extLst>
                  <a:ext uri="{FF2B5EF4-FFF2-40B4-BE49-F238E27FC236}">
                    <a16:creationId xmlns:a16="http://schemas.microsoft.com/office/drawing/2014/main" id="{02DC59D3-52DA-46B3-9611-8E9C9D18C6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315" y="13225"/>
                <a:ext cx="1587" cy="51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358" name="Line 40">
                <a:extLst>
                  <a:ext uri="{FF2B5EF4-FFF2-40B4-BE49-F238E27FC236}">
                    <a16:creationId xmlns:a16="http://schemas.microsoft.com/office/drawing/2014/main" id="{8D55BF53-6EFE-4D08-9AFE-1F53057BC0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915" y="13737"/>
                <a:ext cx="1175" cy="40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98355" name="Line 41">
              <a:extLst>
                <a:ext uri="{FF2B5EF4-FFF2-40B4-BE49-F238E27FC236}">
                  <a16:creationId xmlns:a16="http://schemas.microsoft.com/office/drawing/2014/main" id="{73646D46-EE22-4A4A-9758-B7A4016B5B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15" y="21837"/>
              <a:ext cx="687" cy="21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56" name="Line 42">
              <a:extLst>
                <a:ext uri="{FF2B5EF4-FFF2-40B4-BE49-F238E27FC236}">
                  <a16:creationId xmlns:a16="http://schemas.microsoft.com/office/drawing/2014/main" id="{61BF4440-F9C7-4933-B3AE-BF0D177CCA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515" y="22048"/>
              <a:ext cx="1175" cy="40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98336" name="Group 43">
            <a:extLst>
              <a:ext uri="{FF2B5EF4-FFF2-40B4-BE49-F238E27FC236}">
                <a16:creationId xmlns:a16="http://schemas.microsoft.com/office/drawing/2014/main" id="{A14107C8-6858-4013-949F-901AE57FF17C}"/>
              </a:ext>
            </a:extLst>
          </p:cNvPr>
          <p:cNvGrpSpPr>
            <a:grpSpLocks/>
          </p:cNvGrpSpPr>
          <p:nvPr/>
        </p:nvGrpSpPr>
        <p:grpSpPr bwMode="auto">
          <a:xfrm>
            <a:off x="3043238" y="4381500"/>
            <a:ext cx="1466850" cy="606425"/>
            <a:chOff x="12502" y="21425"/>
            <a:chExt cx="3400" cy="1025"/>
          </a:xfrm>
        </p:grpSpPr>
        <p:sp>
          <p:nvSpPr>
            <p:cNvPr id="98345" name="Line 44">
              <a:extLst>
                <a:ext uri="{FF2B5EF4-FFF2-40B4-BE49-F238E27FC236}">
                  <a16:creationId xmlns:a16="http://schemas.microsoft.com/office/drawing/2014/main" id="{AD44104F-31E8-4547-9016-3702F5586E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502" y="21425"/>
              <a:ext cx="288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46" name="Freeform 45">
              <a:extLst>
                <a:ext uri="{FF2B5EF4-FFF2-40B4-BE49-F238E27FC236}">
                  <a16:creationId xmlns:a16="http://schemas.microsoft.com/office/drawing/2014/main" id="{1939807D-8AF1-4610-AB36-558E54253FD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827" y="21438"/>
              <a:ext cx="3075" cy="987"/>
            </a:xfrm>
            <a:custGeom>
              <a:avLst/>
              <a:gdLst>
                <a:gd name="T0" fmla="*/ 0 w 1845"/>
                <a:gd name="T1" fmla="*/ 0 h 592"/>
                <a:gd name="T2" fmla="*/ 2147483646 w 1845"/>
                <a:gd name="T3" fmla="*/ 2147483646 h 592"/>
                <a:gd name="T4" fmla="*/ 2147483646 w 1845"/>
                <a:gd name="T5" fmla="*/ 2147483646 h 592"/>
                <a:gd name="T6" fmla="*/ 0 w 1845"/>
                <a:gd name="T7" fmla="*/ 2147483646 h 592"/>
                <a:gd name="T8" fmla="*/ 0 w 1845"/>
                <a:gd name="T9" fmla="*/ 0 h 5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5"/>
                <a:gd name="T16" fmla="*/ 0 h 592"/>
                <a:gd name="T17" fmla="*/ 1845 w 1845"/>
                <a:gd name="T18" fmla="*/ 592 h 5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5" h="592">
                  <a:moveTo>
                    <a:pt x="0" y="0"/>
                  </a:moveTo>
                  <a:lnTo>
                    <a:pt x="1845" y="592"/>
                  </a:lnTo>
                  <a:lnTo>
                    <a:pt x="1095" y="592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98347" name="Group 46">
              <a:extLst>
                <a:ext uri="{FF2B5EF4-FFF2-40B4-BE49-F238E27FC236}">
                  <a16:creationId xmlns:a16="http://schemas.microsoft.com/office/drawing/2014/main" id="{75A15090-1E5E-48F7-B77C-7B8414BE2C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815" y="21425"/>
              <a:ext cx="2776" cy="913"/>
              <a:chOff x="12315" y="13225"/>
              <a:chExt cx="2775" cy="913"/>
            </a:xfrm>
          </p:grpSpPr>
          <p:sp>
            <p:nvSpPr>
              <p:cNvPr id="98350" name="Line 47">
                <a:extLst>
                  <a:ext uri="{FF2B5EF4-FFF2-40B4-BE49-F238E27FC236}">
                    <a16:creationId xmlns:a16="http://schemas.microsoft.com/office/drawing/2014/main" id="{27E41423-0C25-4572-84F7-AF61B89396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315" y="13225"/>
                <a:ext cx="1587" cy="51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98351" name="Line 48">
                <a:extLst>
                  <a:ext uri="{FF2B5EF4-FFF2-40B4-BE49-F238E27FC236}">
                    <a16:creationId xmlns:a16="http://schemas.microsoft.com/office/drawing/2014/main" id="{A05F2567-E931-4257-9475-60EEB74A3A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915" y="13737"/>
                <a:ext cx="1175" cy="40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98348" name="Line 49">
              <a:extLst>
                <a:ext uri="{FF2B5EF4-FFF2-40B4-BE49-F238E27FC236}">
                  <a16:creationId xmlns:a16="http://schemas.microsoft.com/office/drawing/2014/main" id="{88B93381-201F-4DB9-A92F-09678D44A7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15" y="21837"/>
              <a:ext cx="687" cy="21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8349" name="Line 50">
              <a:extLst>
                <a:ext uri="{FF2B5EF4-FFF2-40B4-BE49-F238E27FC236}">
                  <a16:creationId xmlns:a16="http://schemas.microsoft.com/office/drawing/2014/main" id="{92429F83-96FD-4E7F-912C-24BBBA9097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515" y="22048"/>
              <a:ext cx="1175" cy="40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98337" name="Line 51">
            <a:extLst>
              <a:ext uri="{FF2B5EF4-FFF2-40B4-BE49-F238E27FC236}">
                <a16:creationId xmlns:a16="http://schemas.microsoft.com/office/drawing/2014/main" id="{07832DE7-B7BD-4977-B280-EB16B8F7690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94050" y="3457575"/>
            <a:ext cx="2065338" cy="93186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38" name="Text Box 52">
            <a:extLst>
              <a:ext uri="{FF2B5EF4-FFF2-40B4-BE49-F238E27FC236}">
                <a16:creationId xmlns:a16="http://schemas.microsoft.com/office/drawing/2014/main" id="{4AD0AB0D-83E3-46BD-9D42-548F00D3E9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10188" y="3024188"/>
            <a:ext cx="3833812" cy="38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last bit of 2</a:t>
            </a:r>
            <a:r>
              <a:rPr lang="en-US" altLang="zh-TW" sz="1600" baseline="30000">
                <a:latin typeface="Arial" panose="020B0604020202020204" pitchFamily="34" charset="0"/>
              </a:rPr>
              <a:t>nd</a:t>
            </a:r>
            <a:r>
              <a:rPr lang="en-US" altLang="zh-TW" sz="1600">
                <a:latin typeface="Arial" panose="020B0604020202020204" pitchFamily="34" charset="0"/>
              </a:rPr>
              <a:t> packet arrives, send ACK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39" name="Line 53">
            <a:extLst>
              <a:ext uri="{FF2B5EF4-FFF2-40B4-BE49-F238E27FC236}">
                <a16:creationId xmlns:a16="http://schemas.microsoft.com/office/drawing/2014/main" id="{E80D27AE-475D-40D8-A4CC-A191BB75283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54625" y="3182938"/>
            <a:ext cx="11271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40" name="Line 54">
            <a:extLst>
              <a:ext uri="{FF2B5EF4-FFF2-40B4-BE49-F238E27FC236}">
                <a16:creationId xmlns:a16="http://schemas.microsoft.com/office/drawing/2014/main" id="{AAF55B82-145A-42CD-92C6-4DFD0F9C328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65738" y="3435350"/>
            <a:ext cx="112712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98341" name="Text Box 55">
            <a:extLst>
              <a:ext uri="{FF2B5EF4-FFF2-40B4-BE49-F238E27FC236}">
                <a16:creationId xmlns:a16="http://schemas.microsoft.com/office/drawing/2014/main" id="{9FB2C2BF-D3A5-4B89-982C-5A0B6A2783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05425" y="3257550"/>
            <a:ext cx="3838575" cy="38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last bit of 3</a:t>
            </a:r>
            <a:r>
              <a:rPr lang="en-US" altLang="zh-TW" sz="1600" baseline="30000">
                <a:latin typeface="Arial" panose="020B0604020202020204" pitchFamily="34" charset="0"/>
              </a:rPr>
              <a:t>rd</a:t>
            </a:r>
            <a:r>
              <a:rPr lang="en-US" altLang="zh-TW" sz="1600">
                <a:latin typeface="Arial" panose="020B0604020202020204" pitchFamily="34" charset="0"/>
              </a:rPr>
              <a:t> packet arrives, send ACK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98342" name="Text Box 57">
            <a:extLst>
              <a:ext uri="{FF2B5EF4-FFF2-40B4-BE49-F238E27FC236}">
                <a16:creationId xmlns:a16="http://schemas.microsoft.com/office/drawing/2014/main" id="{FCF218E7-EA8E-49A8-AD4F-98B2194C20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8150" y="4152900"/>
            <a:ext cx="34607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CC0000"/>
                </a:solidFill>
                <a:latin typeface="Arial" panose="020B0604020202020204" pitchFamily="34" charset="0"/>
              </a:rPr>
              <a:t>3-packet pipelining increases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CC0000"/>
                </a:solidFill>
                <a:latin typeface="Arial" panose="020B0604020202020204" pitchFamily="34" charset="0"/>
              </a:rPr>
              <a:t> utilization by a factor of 3!</a:t>
            </a:r>
          </a:p>
        </p:txBody>
      </p:sp>
      <p:sp>
        <p:nvSpPr>
          <p:cNvPr id="98343" name="Line 58">
            <a:extLst>
              <a:ext uri="{FF2B5EF4-FFF2-40B4-BE49-F238E27FC236}">
                <a16:creationId xmlns:a16="http://schemas.microsoft.com/office/drawing/2014/main" id="{EFFF5F50-5F71-4DE6-8ECD-BA6A3E3BF67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86513" y="4821238"/>
            <a:ext cx="125412" cy="51276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aphicFrame>
        <p:nvGraphicFramePr>
          <p:cNvPr id="98344" name="Object 61">
            <a:extLst>
              <a:ext uri="{FF2B5EF4-FFF2-40B4-BE49-F238E27FC236}">
                <a16:creationId xmlns:a16="http://schemas.microsoft.com/office/drawing/2014/main" id="{28BC4525-3FB9-44B2-B0D4-0D5035BCDAF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55750" y="5087938"/>
          <a:ext cx="6748463" cy="933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4" imgW="3581400" imgH="495300" progId="Word.Picture.8">
                  <p:embed/>
                </p:oleObj>
              </mc:Choice>
              <mc:Fallback>
                <p:oleObj name="Picture" r:id="rId4" imgW="3581400" imgH="495300" progId="Word.Picture.8">
                  <p:embed/>
                  <p:pic>
                    <p:nvPicPr>
                      <p:cNvPr id="0" name="Object 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5750" y="5087938"/>
                        <a:ext cx="6748463" cy="933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標題 1">
            <a:extLst>
              <a:ext uri="{FF2B5EF4-FFF2-40B4-BE49-F238E27FC236}">
                <a16:creationId xmlns:a16="http://schemas.microsoft.com/office/drawing/2014/main" id="{296FD0AB-BF5F-41F1-BE2A-18F69941E09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Pipelined Protocols</a:t>
            </a:r>
            <a:endParaRPr lang="zh-TW" altLang="en-US"/>
          </a:p>
        </p:txBody>
      </p:sp>
      <p:sp>
        <p:nvSpPr>
          <p:cNvPr id="99331" name="副標題 2">
            <a:extLst>
              <a:ext uri="{FF2B5EF4-FFF2-40B4-BE49-F238E27FC236}">
                <a16:creationId xmlns:a16="http://schemas.microsoft.com/office/drawing/2014/main" id="{548C7702-1459-47C8-95CC-1375D664115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/>
              <a:t>Go-back-N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/>
              <a:t>Selective Repeat</a:t>
            </a:r>
            <a:endParaRPr lang="zh-TW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Footer Placeholder 5">
            <a:extLst>
              <a:ext uri="{FF2B5EF4-FFF2-40B4-BE49-F238E27FC236}">
                <a16:creationId xmlns:a16="http://schemas.microsoft.com/office/drawing/2014/main" id="{E1E82943-4EE8-4554-878E-7F2338FB6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00355" name="Slide Number Placeholder 6">
            <a:extLst>
              <a:ext uri="{FF2B5EF4-FFF2-40B4-BE49-F238E27FC236}">
                <a16:creationId xmlns:a16="http://schemas.microsoft.com/office/drawing/2014/main" id="{3713F3B6-AFC2-46B1-88D1-FBBFEC1A5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27F10678-A674-4FB4-8E96-0BE09F7BBEC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00356" name="Picture 7" descr="underline_base">
            <a:extLst>
              <a:ext uri="{FF2B5EF4-FFF2-40B4-BE49-F238E27FC236}">
                <a16:creationId xmlns:a16="http://schemas.microsoft.com/office/drawing/2014/main" id="{389B9DFC-3720-4F3E-A253-34D6966C19C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613" y="904875"/>
            <a:ext cx="7313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109" name="Rectangle 2">
            <a:extLst>
              <a:ext uri="{FF2B5EF4-FFF2-40B4-BE49-F238E27FC236}">
                <a16:creationId xmlns:a16="http://schemas.microsoft.com/office/drawing/2014/main" id="{EE12C365-197C-4E39-8D3C-A9BD30F634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07963"/>
            <a:ext cx="7772400" cy="93027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Pipelined protocols: overview</a:t>
            </a:r>
          </a:p>
        </p:txBody>
      </p:sp>
      <p:sp>
        <p:nvSpPr>
          <p:cNvPr id="35846" name="Rectangle 3">
            <a:extLst>
              <a:ext uri="{FF2B5EF4-FFF2-40B4-BE49-F238E27FC236}">
                <a16:creationId xmlns:a16="http://schemas.microsoft.com/office/drawing/2014/main" id="{79E8F47E-81B9-4F4D-9A29-F7C596BCC1D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455738"/>
            <a:ext cx="3954463" cy="4848225"/>
          </a:xfrm>
        </p:spPr>
        <p:txBody>
          <a:bodyPr/>
          <a:lstStyle/>
          <a:p>
            <a:pPr>
              <a:lnSpc>
                <a:spcPct val="70000"/>
              </a:lnSpc>
              <a:buFont typeface="Wingdings" panose="05000000000000000000" pitchFamily="2" charset="2"/>
              <a:buNone/>
              <a:defRPr/>
            </a:pPr>
            <a:r>
              <a:rPr lang="en-US" altLang="zh-TW" u="sng" dirty="0">
                <a:solidFill>
                  <a:srgbClr val="CC0000"/>
                </a:solidFill>
              </a:rPr>
              <a:t>Go-back-N:</a:t>
            </a:r>
          </a:p>
          <a:p>
            <a:pPr marL="514350" indent="-514350">
              <a:lnSpc>
                <a:spcPct val="75000"/>
              </a:lnSpc>
              <a:buFont typeface="+mj-lt"/>
              <a:buAutoNum type="arabicPeriod"/>
              <a:defRPr/>
            </a:pPr>
            <a:r>
              <a:rPr lang="en-US" altLang="zh-TW" dirty="0"/>
              <a:t>sender can have </a:t>
            </a:r>
            <a:r>
              <a:rPr lang="en-US" altLang="zh-TW" dirty="0">
                <a:solidFill>
                  <a:srgbClr val="0070C0"/>
                </a:solidFill>
              </a:rPr>
              <a:t>up to N unacked packets</a:t>
            </a:r>
            <a:r>
              <a:rPr lang="en-US" altLang="zh-TW" dirty="0"/>
              <a:t> in pipeline</a:t>
            </a:r>
          </a:p>
          <a:p>
            <a:pPr marL="514350" indent="-514350">
              <a:lnSpc>
                <a:spcPct val="75000"/>
              </a:lnSpc>
              <a:buFont typeface="+mj-lt"/>
              <a:buAutoNum type="arabicPeriod"/>
              <a:defRPr/>
            </a:pPr>
            <a:r>
              <a:rPr lang="en-US" altLang="zh-TW" dirty="0"/>
              <a:t>receiver only sends </a:t>
            </a:r>
            <a:r>
              <a:rPr lang="en-US" altLang="zh-TW" i="1" dirty="0">
                <a:solidFill>
                  <a:srgbClr val="CC0000"/>
                </a:solidFill>
              </a:rPr>
              <a:t>cumulative ack</a:t>
            </a:r>
          </a:p>
          <a:p>
            <a:pPr marL="914400" lvl="1" indent="-457200">
              <a:defRPr/>
            </a:pPr>
            <a:r>
              <a:rPr lang="en-US" altLang="zh-TW" dirty="0"/>
              <a:t>doesn</a:t>
            </a:r>
            <a:r>
              <a:rPr lang="ja-JP" altLang="en-US" dirty="0"/>
              <a:t>’</a:t>
            </a:r>
            <a:r>
              <a:rPr lang="en-US" altLang="ja-JP" dirty="0"/>
              <a:t>t ack packet if there</a:t>
            </a:r>
            <a:r>
              <a:rPr lang="ja-JP" altLang="en-US" dirty="0"/>
              <a:t>’</a:t>
            </a:r>
            <a:r>
              <a:rPr lang="en-US" altLang="ja-JP" dirty="0"/>
              <a:t>s a gap</a:t>
            </a:r>
          </a:p>
          <a:p>
            <a:pPr marL="514350" indent="-514350">
              <a:lnSpc>
                <a:spcPct val="75000"/>
              </a:lnSpc>
              <a:buFont typeface="+mj-lt"/>
              <a:buAutoNum type="arabicPeriod"/>
              <a:defRPr/>
            </a:pPr>
            <a:r>
              <a:rPr lang="en-US" altLang="zh-TW" dirty="0"/>
              <a:t>sender has </a:t>
            </a:r>
            <a:r>
              <a:rPr lang="en-US" altLang="zh-TW" dirty="0">
                <a:solidFill>
                  <a:srgbClr val="0070C0"/>
                </a:solidFill>
              </a:rPr>
              <a:t>timer</a:t>
            </a:r>
            <a:r>
              <a:rPr lang="en-US" altLang="zh-TW" dirty="0"/>
              <a:t> for </a:t>
            </a:r>
            <a:r>
              <a:rPr lang="en-US" altLang="zh-TW" dirty="0">
                <a:solidFill>
                  <a:srgbClr val="0070C0"/>
                </a:solidFill>
              </a:rPr>
              <a:t>oldest</a:t>
            </a:r>
            <a:r>
              <a:rPr lang="en-US" altLang="zh-TW" dirty="0"/>
              <a:t> unacked packet</a:t>
            </a:r>
          </a:p>
          <a:p>
            <a:pPr marL="914400" lvl="1" indent="-457200">
              <a:defRPr/>
            </a:pPr>
            <a:r>
              <a:rPr lang="en-US" altLang="zh-TW" dirty="0"/>
              <a:t>when timer expires, retransmit </a:t>
            </a:r>
            <a:r>
              <a:rPr lang="en-US" altLang="zh-TW" i="1" dirty="0">
                <a:solidFill>
                  <a:srgbClr val="0070C0"/>
                </a:solidFill>
              </a:rPr>
              <a:t>all</a:t>
            </a:r>
            <a:r>
              <a:rPr lang="en-US" altLang="zh-TW" dirty="0"/>
              <a:t> unacked packets</a:t>
            </a:r>
          </a:p>
        </p:txBody>
      </p:sp>
      <p:sp>
        <p:nvSpPr>
          <p:cNvPr id="35847" name="Rectangle 4">
            <a:extLst>
              <a:ext uri="{FF2B5EF4-FFF2-40B4-BE49-F238E27FC236}">
                <a16:creationId xmlns:a16="http://schemas.microsoft.com/office/drawing/2014/main" id="{9F427339-CDAE-4A64-9836-C31CFB3CC4A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73600" y="1455738"/>
            <a:ext cx="4289425" cy="4648200"/>
          </a:xfrm>
        </p:spPr>
        <p:txBody>
          <a:bodyPr/>
          <a:lstStyle/>
          <a:p>
            <a:pPr>
              <a:lnSpc>
                <a:spcPct val="70000"/>
              </a:lnSpc>
              <a:buFont typeface="Wingdings" panose="05000000000000000000" pitchFamily="2" charset="2"/>
              <a:buNone/>
              <a:defRPr/>
            </a:pPr>
            <a:r>
              <a:rPr lang="en-US" altLang="zh-TW" u="sng" dirty="0">
                <a:solidFill>
                  <a:srgbClr val="CC0000"/>
                </a:solidFill>
              </a:rPr>
              <a:t>Selective Repeat:</a:t>
            </a:r>
          </a:p>
          <a:p>
            <a:pPr marL="514350" indent="-514350">
              <a:lnSpc>
                <a:spcPct val="75000"/>
              </a:lnSpc>
              <a:buFont typeface="+mj-lt"/>
              <a:buAutoNum type="arabicPeriod"/>
              <a:defRPr/>
            </a:pPr>
            <a:r>
              <a:rPr lang="en-US" altLang="zh-TW" dirty="0"/>
              <a:t>sender can have </a:t>
            </a:r>
            <a:r>
              <a:rPr lang="en-US" altLang="zh-TW" dirty="0">
                <a:solidFill>
                  <a:srgbClr val="0070C0"/>
                </a:solidFill>
              </a:rPr>
              <a:t>up to N unack</a:t>
            </a:r>
            <a:r>
              <a:rPr lang="en-US" altLang="ja-JP" dirty="0">
                <a:solidFill>
                  <a:srgbClr val="0070C0"/>
                </a:solidFill>
              </a:rPr>
              <a:t>ed packets</a:t>
            </a:r>
            <a:r>
              <a:rPr lang="en-US" altLang="ja-JP" dirty="0"/>
              <a:t> in pipeline</a:t>
            </a:r>
          </a:p>
          <a:p>
            <a:pPr marL="514350" indent="-514350">
              <a:lnSpc>
                <a:spcPct val="75000"/>
              </a:lnSpc>
              <a:buFont typeface="+mj-lt"/>
              <a:buAutoNum type="arabicPeriod"/>
              <a:defRPr/>
            </a:pPr>
            <a:r>
              <a:rPr lang="en-US" altLang="zh-TW" dirty="0"/>
              <a:t>rcvr sends </a:t>
            </a:r>
            <a:r>
              <a:rPr lang="en-US" altLang="zh-TW" i="1" dirty="0">
                <a:solidFill>
                  <a:srgbClr val="CC0000"/>
                </a:solidFill>
              </a:rPr>
              <a:t>individual ack</a:t>
            </a:r>
            <a:r>
              <a:rPr lang="en-US" altLang="zh-TW" dirty="0"/>
              <a:t> for each packet</a:t>
            </a:r>
          </a:p>
          <a:p>
            <a:pPr marL="514350" indent="-514350">
              <a:lnSpc>
                <a:spcPct val="70000"/>
              </a:lnSpc>
              <a:buFont typeface="+mj-lt"/>
              <a:buAutoNum type="arabicPeriod"/>
              <a:defRPr/>
            </a:pPr>
            <a:endParaRPr lang="en-US" altLang="zh-TW" dirty="0"/>
          </a:p>
          <a:p>
            <a:pPr marL="514350" indent="-514350">
              <a:lnSpc>
                <a:spcPct val="70000"/>
              </a:lnSpc>
              <a:buFont typeface="+mj-lt"/>
              <a:buAutoNum type="arabicPeriod"/>
              <a:defRPr/>
            </a:pPr>
            <a:endParaRPr lang="en-US" altLang="zh-TW" dirty="0"/>
          </a:p>
          <a:p>
            <a:pPr marL="514350" indent="-514350">
              <a:lnSpc>
                <a:spcPct val="75000"/>
              </a:lnSpc>
              <a:spcBef>
                <a:spcPct val="0"/>
              </a:spcBef>
              <a:buFont typeface="+mj-lt"/>
              <a:buAutoNum type="arabicPeriod"/>
              <a:defRPr/>
            </a:pPr>
            <a:r>
              <a:rPr lang="en-US" altLang="zh-TW" dirty="0"/>
              <a:t>sender maintains </a:t>
            </a:r>
            <a:r>
              <a:rPr lang="en-US" altLang="zh-TW" dirty="0">
                <a:solidFill>
                  <a:srgbClr val="0070C0"/>
                </a:solidFill>
              </a:rPr>
              <a:t>timer </a:t>
            </a:r>
            <a:r>
              <a:rPr lang="en-US" altLang="zh-TW" dirty="0"/>
              <a:t>for </a:t>
            </a:r>
            <a:r>
              <a:rPr lang="en-US" altLang="zh-TW" dirty="0">
                <a:solidFill>
                  <a:srgbClr val="0070C0"/>
                </a:solidFill>
              </a:rPr>
              <a:t>each</a:t>
            </a:r>
            <a:r>
              <a:rPr lang="en-US" altLang="zh-TW" dirty="0"/>
              <a:t> unacked packet</a:t>
            </a:r>
          </a:p>
          <a:p>
            <a:pPr lvl="1">
              <a:lnSpc>
                <a:spcPct val="80000"/>
              </a:lnSpc>
              <a:defRPr/>
            </a:pPr>
            <a:r>
              <a:rPr lang="en-US" altLang="zh-TW" dirty="0"/>
              <a:t>when timer expires, retransmit only </a:t>
            </a:r>
            <a:r>
              <a:rPr lang="en-US" altLang="zh-TW" dirty="0">
                <a:solidFill>
                  <a:srgbClr val="0070C0"/>
                </a:solidFill>
              </a:rPr>
              <a:t>that </a:t>
            </a:r>
            <a:r>
              <a:rPr lang="en-US" altLang="zh-TW" dirty="0"/>
              <a:t>unacked packet</a:t>
            </a:r>
          </a:p>
          <a:p>
            <a:pPr>
              <a:lnSpc>
                <a:spcPct val="70000"/>
              </a:lnSpc>
              <a:defRPr/>
            </a:pP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Footer Placeholder 5">
            <a:extLst>
              <a:ext uri="{FF2B5EF4-FFF2-40B4-BE49-F238E27FC236}">
                <a16:creationId xmlns:a16="http://schemas.microsoft.com/office/drawing/2014/main" id="{3CFB925F-8736-4089-A873-188D24F4D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01379" name="Slide Number Placeholder 6">
            <a:extLst>
              <a:ext uri="{FF2B5EF4-FFF2-40B4-BE49-F238E27FC236}">
                <a16:creationId xmlns:a16="http://schemas.microsoft.com/office/drawing/2014/main" id="{31E5F67E-2A71-40E7-8037-56B62B932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9FD5B15-51D3-4BC7-B055-E38F49F1DAC5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48132" name="Rectangle 2">
            <a:extLst>
              <a:ext uri="{FF2B5EF4-FFF2-40B4-BE49-F238E27FC236}">
                <a16:creationId xmlns:a16="http://schemas.microsoft.com/office/drawing/2014/main" id="{F78AA3B8-CB2F-4EE0-899D-4BB96002D5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52400"/>
            <a:ext cx="7772400" cy="9525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Go-Back-N: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+mj-cs"/>
              </a:rPr>
              <a:t>sender</a:t>
            </a:r>
          </a:p>
        </p:txBody>
      </p:sp>
      <p:sp>
        <p:nvSpPr>
          <p:cNvPr id="101381" name="Rectangle 3">
            <a:extLst>
              <a:ext uri="{FF2B5EF4-FFF2-40B4-BE49-F238E27FC236}">
                <a16:creationId xmlns:a16="http://schemas.microsoft.com/office/drawing/2014/main" id="{AD8FD8BC-3C4D-46BD-BBDA-E387CB493ED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314450"/>
            <a:ext cx="8324850" cy="1219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ja-JP" sz="2400" dirty="0"/>
              <a:t>1. </a:t>
            </a:r>
            <a:r>
              <a:rPr lang="en-US" altLang="ja-JP" sz="2400" dirty="0">
                <a:solidFill>
                  <a:srgbClr val="FF0000"/>
                </a:solidFill>
              </a:rPr>
              <a:t>Window</a:t>
            </a:r>
            <a:r>
              <a:rPr lang="en-US" altLang="ja-JP" sz="2400" dirty="0"/>
              <a:t>: up to N consecutive </a:t>
            </a:r>
            <a:r>
              <a:rPr lang="en-US" altLang="ja-JP" sz="2400" dirty="0" err="1">
                <a:solidFill>
                  <a:srgbClr val="FF0000"/>
                </a:solidFill>
              </a:rPr>
              <a:t>unack</a:t>
            </a:r>
            <a:r>
              <a:rPr lang="ja-JP" altLang="en-US" sz="2400" dirty="0">
                <a:solidFill>
                  <a:srgbClr val="FF0000"/>
                </a:solidFill>
              </a:rPr>
              <a:t>’</a:t>
            </a:r>
            <a:r>
              <a:rPr lang="en-US" altLang="ja-JP" sz="2400" dirty="0">
                <a:solidFill>
                  <a:srgbClr val="FF0000"/>
                </a:solidFill>
              </a:rPr>
              <a:t>ed packets</a:t>
            </a:r>
            <a:r>
              <a:rPr lang="en-US" altLang="ja-JP" sz="2400" dirty="0"/>
              <a:t> allowed</a:t>
            </a:r>
          </a:p>
          <a:p>
            <a:endParaRPr lang="en-US" altLang="zh-TW" dirty="0"/>
          </a:p>
          <a:p>
            <a:endParaRPr lang="en-US" altLang="zh-TW" dirty="0"/>
          </a:p>
        </p:txBody>
      </p:sp>
      <p:pic>
        <p:nvPicPr>
          <p:cNvPr id="101382" name="Picture 4" descr="gbn_seqnum">
            <a:extLst>
              <a:ext uri="{FF2B5EF4-FFF2-40B4-BE49-F238E27FC236}">
                <a16:creationId xmlns:a16="http://schemas.microsoft.com/office/drawing/2014/main" id="{3CD3B2AE-4A37-41BE-8F3C-36D02286C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075" y="1792288"/>
            <a:ext cx="8099425" cy="163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71" name="Rectangle 5">
            <a:extLst>
              <a:ext uri="{FF2B5EF4-FFF2-40B4-BE49-F238E27FC236}">
                <a16:creationId xmlns:a16="http://schemas.microsoft.com/office/drawing/2014/main" id="{E6DF9D25-AFF8-479C-B644-729B4781AD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0" y="3751263"/>
            <a:ext cx="832485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defRPr/>
            </a:pPr>
            <a:r>
              <a:rPr lang="en-US" altLang="zh-TW" sz="2400" dirty="0">
                <a:latin typeface="Gill Sans MT" pitchFamily="34" charset="0"/>
              </a:rPr>
              <a:t>2. </a:t>
            </a:r>
            <a:r>
              <a:rPr lang="en-US" altLang="zh-TW" sz="2400" dirty="0">
                <a:solidFill>
                  <a:srgbClr val="FF0000"/>
                </a:solidFill>
                <a:latin typeface="Gill Sans MT" pitchFamily="34" charset="0"/>
              </a:rPr>
              <a:t>cumulative ACK</a:t>
            </a:r>
            <a:r>
              <a:rPr lang="en-US" altLang="zh-TW" sz="2400" dirty="0">
                <a:latin typeface="Gill Sans MT" pitchFamily="34" charset="0"/>
              </a:rPr>
              <a:t>(n): all packets with a sequence number </a:t>
            </a:r>
            <a:r>
              <a:rPr lang="en-US" altLang="zh-TW" sz="2400" u="sng" dirty="0">
                <a:latin typeface="Gill Sans MT" pitchFamily="34" charset="0"/>
              </a:rPr>
              <a:t>up to and including n</a:t>
            </a:r>
            <a:r>
              <a:rPr lang="en-US" altLang="zh-TW" sz="2400" dirty="0">
                <a:latin typeface="Gill Sans MT" pitchFamily="34" charset="0"/>
              </a:rPr>
              <a:t> have been correctly received at the receiver </a:t>
            </a:r>
            <a:endParaRPr lang="en-US" altLang="ja-JP" sz="2400" i="1" dirty="0">
              <a:solidFill>
                <a:srgbClr val="CC0000"/>
              </a:solidFill>
              <a:latin typeface="Gill Sans MT" pitchFamily="34" charset="0"/>
            </a:endParaRPr>
          </a:p>
          <a:p>
            <a:pPr marL="688975" lvl="1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itchFamily="2" charset="2"/>
              <a:buChar char="§"/>
              <a:defRPr/>
            </a:pPr>
            <a:r>
              <a:rPr lang="en-US" altLang="zh-TW" sz="2400" dirty="0">
                <a:latin typeface="Gill Sans MT" pitchFamily="34" charset="0"/>
              </a:rPr>
              <a:t>may receive duplicate ACKs (see receiver)</a:t>
            </a:r>
            <a:endParaRPr lang="en-US" altLang="zh-TW" sz="2000" dirty="0">
              <a:latin typeface="Gill Sans MT" pitchFamily="34" charset="0"/>
            </a:endParaRP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defRPr/>
            </a:pPr>
            <a:r>
              <a:rPr lang="en-US" altLang="zh-TW" sz="2400" dirty="0">
                <a:latin typeface="Gill Sans MT" pitchFamily="34" charset="0"/>
              </a:rPr>
              <a:t>3. </a:t>
            </a:r>
            <a:r>
              <a:rPr lang="en-US" altLang="zh-TW" sz="2400" dirty="0">
                <a:solidFill>
                  <a:srgbClr val="FF0000"/>
                </a:solidFill>
                <a:latin typeface="Gill Sans MT" pitchFamily="34" charset="0"/>
              </a:rPr>
              <a:t>timer</a:t>
            </a:r>
            <a:r>
              <a:rPr lang="en-US" altLang="zh-TW" sz="2400" dirty="0">
                <a:latin typeface="Gill Sans MT" pitchFamily="34" charset="0"/>
              </a:rPr>
              <a:t> for </a:t>
            </a:r>
            <a:r>
              <a:rPr lang="en-US" altLang="zh-TW" sz="2400" dirty="0">
                <a:solidFill>
                  <a:srgbClr val="0070C0"/>
                </a:solidFill>
                <a:latin typeface="Gill Sans MT" pitchFamily="34" charset="0"/>
              </a:rPr>
              <a:t>oldest in-flight pkt (i.e., send_base)</a:t>
            </a:r>
          </a:p>
          <a:p>
            <a:pPr marL="800100" lvl="1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itchFamily="2" charset="2"/>
              <a:buChar char="v"/>
              <a:defRPr/>
            </a:pPr>
            <a:r>
              <a:rPr lang="en-US" altLang="zh-TW" sz="2400" i="1" dirty="0">
                <a:solidFill>
                  <a:srgbClr val="FF0000"/>
                </a:solidFill>
                <a:latin typeface="Gill Sans MT" pitchFamily="34" charset="0"/>
              </a:rPr>
              <a:t>timeout</a:t>
            </a:r>
            <a:r>
              <a:rPr lang="en-US" altLang="zh-TW" sz="2400" i="1" dirty="0">
                <a:latin typeface="Gill Sans MT" pitchFamily="34" charset="0"/>
              </a:rPr>
              <a:t>:</a:t>
            </a:r>
            <a:r>
              <a:rPr lang="en-US" altLang="zh-TW" sz="2400" dirty="0">
                <a:latin typeface="Gill Sans MT" pitchFamily="34" charset="0"/>
              </a:rPr>
              <a:t> retransmit packets from send_base to nextseqnum-1 (i.e., yellow region)</a:t>
            </a: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itchFamily="2" charset="2"/>
              <a:buChar char="v"/>
              <a:defRPr/>
            </a:pPr>
            <a:endParaRPr lang="en-US" altLang="zh-TW" sz="2800" dirty="0">
              <a:latin typeface="Gill Sans MT" pitchFamily="34" charset="0"/>
            </a:endParaRP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itchFamily="2" charset="2"/>
              <a:buChar char="v"/>
              <a:defRPr/>
            </a:pPr>
            <a:endParaRPr lang="en-US" altLang="zh-TW" sz="2800" dirty="0">
              <a:latin typeface="Gill Sans MT" pitchFamily="34" charset="0"/>
            </a:endParaRPr>
          </a:p>
        </p:txBody>
      </p:sp>
      <p:sp>
        <p:nvSpPr>
          <p:cNvPr id="101384" name="Rectangle 6">
            <a:extLst>
              <a:ext uri="{FF2B5EF4-FFF2-40B4-BE49-F238E27FC236}">
                <a16:creationId xmlns:a16="http://schemas.microsoft.com/office/drawing/2014/main" id="{4B1C824E-2BF5-494A-ABA8-818A334987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9888" y="2301875"/>
            <a:ext cx="2206625" cy="63658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pic>
        <p:nvPicPr>
          <p:cNvPr id="101385" name="Picture 9" descr="underline_base">
            <a:extLst>
              <a:ext uri="{FF2B5EF4-FFF2-40B4-BE49-F238E27FC236}">
                <a16:creationId xmlns:a16="http://schemas.microsoft.com/office/drawing/2014/main" id="{92B73F62-D01E-4D7A-ACFD-472CEF155B65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563" y="850900"/>
            <a:ext cx="5027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Footer Placeholder 3">
            <a:extLst>
              <a:ext uri="{FF2B5EF4-FFF2-40B4-BE49-F238E27FC236}">
                <a16:creationId xmlns:a16="http://schemas.microsoft.com/office/drawing/2014/main" id="{0D43E019-B736-4835-A08A-B4128DFD7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03427" name="Slide Number Placeholder 4">
            <a:extLst>
              <a:ext uri="{FF2B5EF4-FFF2-40B4-BE49-F238E27FC236}">
                <a16:creationId xmlns:a16="http://schemas.microsoft.com/office/drawing/2014/main" id="{8C3979A3-C3D1-4F01-A0F5-A7CDEE86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699A81E-68BA-4B51-8526-71DB076EFF7F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3428" name="Rectangle 2">
            <a:extLst>
              <a:ext uri="{FF2B5EF4-FFF2-40B4-BE49-F238E27FC236}">
                <a16:creationId xmlns:a16="http://schemas.microsoft.com/office/drawing/2014/main" id="{7B0A6CC8-CA1E-416F-AEC8-81EEB3F7B9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4500" y="207963"/>
            <a:ext cx="7772400" cy="700087"/>
          </a:xfrm>
        </p:spPr>
        <p:txBody>
          <a:bodyPr/>
          <a:lstStyle/>
          <a:p>
            <a:r>
              <a:rPr lang="en-US" altLang="zh-TW" sz="3600" dirty="0"/>
              <a:t>GBN: </a:t>
            </a:r>
            <a:r>
              <a:rPr lang="en-US" altLang="zh-TW" sz="3600" dirty="0">
                <a:solidFill>
                  <a:srgbClr val="FF0000"/>
                </a:solidFill>
              </a:rPr>
              <a:t>sender</a:t>
            </a:r>
            <a:r>
              <a:rPr lang="en-US" altLang="zh-TW" sz="3600" dirty="0"/>
              <a:t> extended FSM</a:t>
            </a:r>
            <a:endParaRPr lang="en-US" altLang="zh-TW" dirty="0"/>
          </a:p>
        </p:txBody>
      </p:sp>
      <p:grpSp>
        <p:nvGrpSpPr>
          <p:cNvPr id="103429" name="Group 3">
            <a:extLst>
              <a:ext uri="{FF2B5EF4-FFF2-40B4-BE49-F238E27FC236}">
                <a16:creationId xmlns:a16="http://schemas.microsoft.com/office/drawing/2014/main" id="{8B299994-3245-4AF1-95D3-E496CB59A5AC}"/>
              </a:ext>
            </a:extLst>
          </p:cNvPr>
          <p:cNvGrpSpPr>
            <a:grpSpLocks/>
          </p:cNvGrpSpPr>
          <p:nvPr/>
        </p:nvGrpSpPr>
        <p:grpSpPr bwMode="auto">
          <a:xfrm>
            <a:off x="3535363" y="3743325"/>
            <a:ext cx="800100" cy="657225"/>
            <a:chOff x="1939" y="2515"/>
            <a:chExt cx="504" cy="414"/>
          </a:xfrm>
        </p:grpSpPr>
        <p:sp>
          <p:nvSpPr>
            <p:cNvPr id="103453" name="Oval 4">
              <a:extLst>
                <a:ext uri="{FF2B5EF4-FFF2-40B4-BE49-F238E27FC236}">
                  <a16:creationId xmlns:a16="http://schemas.microsoft.com/office/drawing/2014/main" id="{134B0288-B620-464F-BDCF-3161D50EA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4" y="2515"/>
              <a:ext cx="420" cy="414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3454" name="Text Box 5">
              <a:extLst>
                <a:ext uri="{FF2B5EF4-FFF2-40B4-BE49-F238E27FC236}">
                  <a16:creationId xmlns:a16="http://schemas.microsoft.com/office/drawing/2014/main" id="{3667ADE0-456F-424F-9BBC-3FDECF3710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39" y="2611"/>
              <a:ext cx="504" cy="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Wait</a:t>
              </a:r>
              <a:endParaRPr lang="en-US" altLang="zh-TW" sz="1600">
                <a:latin typeface="Times New Roman" panose="02020603050405020304" pitchFamily="18" charset="0"/>
              </a:endParaRPr>
            </a:p>
          </p:txBody>
        </p:sp>
      </p:grpSp>
      <p:sp>
        <p:nvSpPr>
          <p:cNvPr id="103430" name="Line 6">
            <a:extLst>
              <a:ext uri="{FF2B5EF4-FFF2-40B4-BE49-F238E27FC236}">
                <a16:creationId xmlns:a16="http://schemas.microsoft.com/office/drawing/2014/main" id="{2E375281-6AEB-48E7-A7EF-DDFE7C036318}"/>
              </a:ext>
            </a:extLst>
          </p:cNvPr>
          <p:cNvSpPr>
            <a:spLocks noChangeShapeType="1"/>
          </p:cNvSpPr>
          <p:nvPr/>
        </p:nvSpPr>
        <p:spPr bwMode="auto">
          <a:xfrm>
            <a:off x="2028825" y="2830513"/>
            <a:ext cx="1624013" cy="1069975"/>
          </a:xfrm>
          <a:prstGeom prst="line">
            <a:avLst/>
          </a:prstGeom>
          <a:noFill/>
          <a:ln w="28575">
            <a:solidFill>
              <a:srgbClr val="00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31" name="Text Box 7">
            <a:extLst>
              <a:ext uri="{FF2B5EF4-FFF2-40B4-BE49-F238E27FC236}">
                <a16:creationId xmlns:a16="http://schemas.microsoft.com/office/drawing/2014/main" id="{5B8AF654-F851-415D-A12C-3B4471FF1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1388" y="3810000"/>
            <a:ext cx="2776537" cy="82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start_timer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udt_send(sndpkt[</a:t>
            </a: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base</a:t>
            </a:r>
            <a:r>
              <a:rPr lang="en-US" altLang="zh-TW" sz="1400">
                <a:latin typeface="Arial" panose="020B0604020202020204" pitchFamily="34" charset="0"/>
              </a:rPr>
              <a:t>])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udt_send(sndpkt[</a:t>
            </a: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base+1</a:t>
            </a:r>
            <a:r>
              <a:rPr lang="en-US" altLang="zh-TW" sz="1400">
                <a:latin typeface="Arial" panose="020B0604020202020204" pitchFamily="34" charset="0"/>
              </a:rPr>
              <a:t>])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…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udt_send(sndpkt[</a:t>
            </a: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nextseqnum-1</a:t>
            </a:r>
            <a:r>
              <a:rPr lang="en-US" altLang="zh-TW" sz="1400">
                <a:latin typeface="Arial" panose="020B0604020202020204" pitchFamily="34" charset="0"/>
              </a:rPr>
              <a:t>])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imes New Roman" panose="02020603050405020304" pitchFamily="18" charset="0"/>
            </a:endParaRPr>
          </a:p>
        </p:txBody>
      </p:sp>
      <p:sp>
        <p:nvSpPr>
          <p:cNvPr id="103432" name="Text Box 8">
            <a:extLst>
              <a:ext uri="{FF2B5EF4-FFF2-40B4-BE49-F238E27FC236}">
                <a16:creationId xmlns:a16="http://schemas.microsoft.com/office/drawing/2014/main" id="{B745AF1E-5B13-45F5-9B6E-110953D05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3613" y="3575050"/>
            <a:ext cx="11001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70C0"/>
                </a:solidFill>
                <a:latin typeface="Arial" panose="020B0604020202020204" pitchFamily="34" charset="0"/>
              </a:rPr>
              <a:t>timeout</a:t>
            </a:r>
            <a:endParaRPr lang="en-US" altLang="zh-TW" sz="1400">
              <a:solidFill>
                <a:srgbClr val="0070C0"/>
              </a:solidFill>
              <a:latin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imes New Roman" panose="02020603050405020304" pitchFamily="18" charset="0"/>
            </a:endParaRPr>
          </a:p>
        </p:txBody>
      </p:sp>
      <p:sp>
        <p:nvSpPr>
          <p:cNvPr id="103433" name="Line 9">
            <a:extLst>
              <a:ext uri="{FF2B5EF4-FFF2-40B4-BE49-F238E27FC236}">
                <a16:creationId xmlns:a16="http://schemas.microsoft.com/office/drawing/2014/main" id="{B63082A7-DA8C-4080-8EA7-A4033A3421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7750" y="3851275"/>
            <a:ext cx="16192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34" name="Freeform 10">
            <a:extLst>
              <a:ext uri="{FF2B5EF4-FFF2-40B4-BE49-F238E27FC236}">
                <a16:creationId xmlns:a16="http://schemas.microsoft.com/office/drawing/2014/main" id="{6548DDF8-7953-4941-B090-D156A855A23C}"/>
              </a:ext>
            </a:extLst>
          </p:cNvPr>
          <p:cNvSpPr>
            <a:spLocks/>
          </p:cNvSpPr>
          <p:nvPr/>
        </p:nvSpPr>
        <p:spPr bwMode="auto">
          <a:xfrm>
            <a:off x="4360863" y="3498850"/>
            <a:ext cx="393700" cy="1152525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35" name="Text Box 11">
            <a:extLst>
              <a:ext uri="{FF2B5EF4-FFF2-40B4-BE49-F238E27FC236}">
                <a16:creationId xmlns:a16="http://schemas.microsoft.com/office/drawing/2014/main" id="{2242537E-9F74-4EA5-A23A-F215198712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4050" y="1069975"/>
            <a:ext cx="2333625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rdt_send(data)</a:t>
            </a:r>
            <a:r>
              <a:rPr lang="en-US" altLang="zh-TW" sz="1000">
                <a:latin typeface="Arial" panose="020B0604020202020204" pitchFamily="34" charset="0"/>
              </a:rPr>
              <a:t> </a:t>
            </a: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03436" name="Line 12">
            <a:extLst>
              <a:ext uri="{FF2B5EF4-FFF2-40B4-BE49-F238E27FC236}">
                <a16:creationId xmlns:a16="http://schemas.microsoft.com/office/drawing/2014/main" id="{8AE310BD-B53D-41D0-AFBA-36E3CD2D2B6A}"/>
              </a:ext>
            </a:extLst>
          </p:cNvPr>
          <p:cNvSpPr>
            <a:spLocks noChangeShapeType="1"/>
          </p:cNvSpPr>
          <p:nvPr/>
        </p:nvSpPr>
        <p:spPr bwMode="auto">
          <a:xfrm>
            <a:off x="3302000" y="1389063"/>
            <a:ext cx="191452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37" name="Text Box 13">
            <a:extLst>
              <a:ext uri="{FF2B5EF4-FFF2-40B4-BE49-F238E27FC236}">
                <a16:creationId xmlns:a16="http://schemas.microsoft.com/office/drawing/2014/main" id="{F4F0A7E5-7DA6-4B4A-814E-3F73FC81F9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4050" y="1411288"/>
            <a:ext cx="5521325" cy="146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solidFill>
                  <a:srgbClr val="C00000"/>
                </a:solidFill>
                <a:latin typeface="Arial" panose="020B0604020202020204" pitchFamily="34" charset="0"/>
              </a:rPr>
              <a:t>if (</a:t>
            </a:r>
            <a:r>
              <a:rPr lang="en-US" altLang="zh-TW" sz="1400" dirty="0" err="1">
                <a:solidFill>
                  <a:srgbClr val="C00000"/>
                </a:solidFill>
                <a:latin typeface="Arial" panose="020B0604020202020204" pitchFamily="34" charset="0"/>
              </a:rPr>
              <a:t>nextseqnum</a:t>
            </a:r>
            <a:r>
              <a:rPr lang="en-US" altLang="zh-TW" sz="1400" dirty="0">
                <a:solidFill>
                  <a:srgbClr val="C00000"/>
                </a:solidFill>
                <a:latin typeface="Arial" panose="020B0604020202020204" pitchFamily="34" charset="0"/>
              </a:rPr>
              <a:t> &lt; </a:t>
            </a:r>
            <a:r>
              <a:rPr lang="en-US" altLang="zh-TW" sz="1400" dirty="0" err="1">
                <a:solidFill>
                  <a:srgbClr val="C00000"/>
                </a:solidFill>
                <a:latin typeface="Arial" panose="020B0604020202020204" pitchFamily="34" charset="0"/>
              </a:rPr>
              <a:t>base+N</a:t>
            </a:r>
            <a:r>
              <a:rPr lang="en-US" altLang="zh-TW" sz="1400" dirty="0">
                <a:solidFill>
                  <a:srgbClr val="C00000"/>
                </a:solidFill>
                <a:latin typeface="Arial" panose="020B0604020202020204" pitchFamily="34" charset="0"/>
              </a:rPr>
              <a:t>) </a:t>
            </a:r>
            <a:r>
              <a:rPr lang="en-US" altLang="zh-TW" sz="1400" dirty="0">
                <a:latin typeface="Arial" panose="020B0604020202020204" pitchFamily="34" charset="0"/>
              </a:rPr>
              <a:t>{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    </a:t>
            </a:r>
            <a:r>
              <a:rPr lang="en-US" altLang="zh-TW" sz="1400" dirty="0" err="1">
                <a:latin typeface="Arial" panose="020B0604020202020204" pitchFamily="34" charset="0"/>
              </a:rPr>
              <a:t>sndpkt</a:t>
            </a:r>
            <a:r>
              <a:rPr lang="en-US" altLang="zh-TW" sz="1400" dirty="0">
                <a:latin typeface="Arial" panose="020B0604020202020204" pitchFamily="34" charset="0"/>
              </a:rPr>
              <a:t>[</a:t>
            </a:r>
            <a:r>
              <a:rPr lang="en-US" altLang="zh-TW" sz="1400" dirty="0" err="1">
                <a:latin typeface="Arial" panose="020B0604020202020204" pitchFamily="34" charset="0"/>
              </a:rPr>
              <a:t>nextseqnum</a:t>
            </a:r>
            <a:r>
              <a:rPr lang="en-US" altLang="zh-TW" sz="1400" dirty="0">
                <a:latin typeface="Arial" panose="020B0604020202020204" pitchFamily="34" charset="0"/>
              </a:rPr>
              <a:t>] = </a:t>
            </a:r>
            <a:r>
              <a:rPr lang="en-US" altLang="zh-TW" sz="1400" dirty="0" err="1">
                <a:solidFill>
                  <a:srgbClr val="C00000"/>
                </a:solidFill>
                <a:latin typeface="Arial" panose="020B0604020202020204" pitchFamily="34" charset="0"/>
              </a:rPr>
              <a:t>make_pkt</a:t>
            </a:r>
            <a:r>
              <a:rPr lang="en-US" altLang="zh-TW" sz="1400" dirty="0"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latin typeface="Arial" panose="020B0604020202020204" pitchFamily="34" charset="0"/>
              </a:rPr>
              <a:t>nextseqnum,data,chksum</a:t>
            </a:r>
            <a:r>
              <a:rPr lang="en-US" altLang="zh-TW" sz="1400" dirty="0"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    </a:t>
            </a:r>
            <a:r>
              <a:rPr lang="en-US" altLang="zh-TW" sz="1400" dirty="0" err="1">
                <a:latin typeface="Arial" panose="020B0604020202020204" pitchFamily="34" charset="0"/>
              </a:rPr>
              <a:t>udt_send</a:t>
            </a:r>
            <a:r>
              <a:rPr lang="en-US" altLang="zh-TW" sz="1400" dirty="0"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latin typeface="Arial" panose="020B0604020202020204" pitchFamily="34" charset="0"/>
              </a:rPr>
              <a:t>sndpkt</a:t>
            </a:r>
            <a:r>
              <a:rPr lang="en-US" altLang="zh-TW" sz="1400" dirty="0">
                <a:latin typeface="Arial" panose="020B0604020202020204" pitchFamily="34" charset="0"/>
              </a:rPr>
              <a:t>[</a:t>
            </a:r>
            <a:r>
              <a:rPr lang="en-US" altLang="zh-TW" sz="1400" dirty="0" err="1">
                <a:latin typeface="Arial" panose="020B0604020202020204" pitchFamily="34" charset="0"/>
              </a:rPr>
              <a:t>nextseqnum</a:t>
            </a:r>
            <a:r>
              <a:rPr lang="en-US" altLang="zh-TW" sz="1400" dirty="0">
                <a:latin typeface="Arial" panose="020B0604020202020204" pitchFamily="34" charset="0"/>
              </a:rPr>
              <a:t>])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    if (base == </a:t>
            </a:r>
            <a:r>
              <a:rPr lang="en-US" altLang="zh-TW" sz="1400" dirty="0" err="1">
                <a:latin typeface="Arial" panose="020B0604020202020204" pitchFamily="34" charset="0"/>
              </a:rPr>
              <a:t>nextseqnum</a:t>
            </a:r>
            <a:r>
              <a:rPr lang="en-US" altLang="zh-TW" sz="1400" dirty="0"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       </a:t>
            </a:r>
            <a:r>
              <a:rPr lang="en-US" altLang="zh-TW" sz="1400" dirty="0" err="1">
                <a:latin typeface="Arial" panose="020B0604020202020204" pitchFamily="34" charset="0"/>
              </a:rPr>
              <a:t>start_timer</a:t>
            </a:r>
            <a:endParaRPr lang="en-US" altLang="zh-TW" sz="1400" dirty="0"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    </a:t>
            </a:r>
            <a:r>
              <a:rPr lang="en-US" altLang="zh-TW" sz="1400" dirty="0" err="1">
                <a:latin typeface="Arial" panose="020B0604020202020204" pitchFamily="34" charset="0"/>
              </a:rPr>
              <a:t>nextseqnum</a:t>
            </a:r>
            <a:r>
              <a:rPr lang="en-US" altLang="zh-TW" sz="1400" dirty="0">
                <a:latin typeface="Arial" panose="020B0604020202020204" pitchFamily="34" charset="0"/>
              </a:rPr>
              <a:t>++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    }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else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solidFill>
                  <a:srgbClr val="C00000"/>
                </a:solidFill>
                <a:latin typeface="Arial" panose="020B0604020202020204" pitchFamily="34" charset="0"/>
              </a:rPr>
              <a:t>  </a:t>
            </a:r>
            <a:r>
              <a:rPr lang="en-US" altLang="zh-TW" sz="1400" dirty="0" err="1">
                <a:solidFill>
                  <a:srgbClr val="C00000"/>
                </a:solidFill>
                <a:latin typeface="Arial" panose="020B0604020202020204" pitchFamily="34" charset="0"/>
              </a:rPr>
              <a:t>refuse_data</a:t>
            </a:r>
            <a:r>
              <a:rPr lang="en-US" altLang="zh-TW" sz="1400" dirty="0">
                <a:solidFill>
                  <a:srgbClr val="C00000"/>
                </a:solidFill>
                <a:latin typeface="Arial" panose="020B0604020202020204" pitchFamily="34" charset="0"/>
              </a:rPr>
              <a:t>(data)</a:t>
            </a:r>
            <a:endParaRPr lang="en-US" altLang="zh-TW" sz="1400" dirty="0">
              <a:solidFill>
                <a:srgbClr val="C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3438" name="Freeform 14">
            <a:extLst>
              <a:ext uri="{FF2B5EF4-FFF2-40B4-BE49-F238E27FC236}">
                <a16:creationId xmlns:a16="http://schemas.microsoft.com/office/drawing/2014/main" id="{16D96B28-268E-4FB7-8480-C6CB52AB7187}"/>
              </a:ext>
            </a:extLst>
          </p:cNvPr>
          <p:cNvSpPr>
            <a:spLocks/>
          </p:cNvSpPr>
          <p:nvPr/>
        </p:nvSpPr>
        <p:spPr bwMode="auto">
          <a:xfrm rot="5142103" flipH="1">
            <a:off x="3787776" y="2933700"/>
            <a:ext cx="393700" cy="1152525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39" name="Text Box 15">
            <a:extLst>
              <a:ext uri="{FF2B5EF4-FFF2-40B4-BE49-F238E27FC236}">
                <a16:creationId xmlns:a16="http://schemas.microsoft.com/office/drawing/2014/main" id="{A23AF660-C740-4C36-B6EA-4452E7C321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3275" y="5478463"/>
            <a:ext cx="3686175" cy="82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7030A0"/>
                </a:solidFill>
                <a:latin typeface="Arial" panose="020B0604020202020204" pitchFamily="34" charset="0"/>
              </a:rPr>
              <a:t>base = getacknum(rcvpkt)+1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If (base == nextseqnum)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  stop_timer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else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  start_timer</a:t>
            </a:r>
            <a:endParaRPr lang="en-US" altLang="zh-TW" sz="1400">
              <a:latin typeface="Times New Roman" panose="02020603050405020304" pitchFamily="18" charset="0"/>
            </a:endParaRPr>
          </a:p>
        </p:txBody>
      </p:sp>
      <p:sp>
        <p:nvSpPr>
          <p:cNvPr id="103440" name="Text Box 16">
            <a:extLst>
              <a:ext uri="{FF2B5EF4-FFF2-40B4-BE49-F238E27FC236}">
                <a16:creationId xmlns:a16="http://schemas.microsoft.com/office/drawing/2014/main" id="{D61A2BF3-2D94-4E98-90CA-168C5611C9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5975" y="4978400"/>
            <a:ext cx="2833688" cy="44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rdt_rcv(rcvpkt) &amp;&amp;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 notcorrupt(rcvpkt)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imes New Roman" panose="02020603050405020304" pitchFamily="18" charset="0"/>
            </a:endParaRPr>
          </a:p>
        </p:txBody>
      </p:sp>
      <p:sp>
        <p:nvSpPr>
          <p:cNvPr id="103441" name="Line 17">
            <a:extLst>
              <a:ext uri="{FF2B5EF4-FFF2-40B4-BE49-F238E27FC236}">
                <a16:creationId xmlns:a16="http://schemas.microsoft.com/office/drawing/2014/main" id="{548C5C2E-18D7-45E3-B46A-C2E9A9A0CECC}"/>
              </a:ext>
            </a:extLst>
          </p:cNvPr>
          <p:cNvSpPr>
            <a:spLocks noChangeShapeType="1"/>
          </p:cNvSpPr>
          <p:nvPr/>
        </p:nvSpPr>
        <p:spPr bwMode="auto">
          <a:xfrm>
            <a:off x="3448050" y="5502275"/>
            <a:ext cx="161925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42" name="Freeform 18">
            <a:extLst>
              <a:ext uri="{FF2B5EF4-FFF2-40B4-BE49-F238E27FC236}">
                <a16:creationId xmlns:a16="http://schemas.microsoft.com/office/drawing/2014/main" id="{3D306286-20D4-454A-9A6A-A4EC9DFFB472}"/>
              </a:ext>
            </a:extLst>
          </p:cNvPr>
          <p:cNvSpPr>
            <a:spLocks/>
          </p:cNvSpPr>
          <p:nvPr/>
        </p:nvSpPr>
        <p:spPr bwMode="auto">
          <a:xfrm>
            <a:off x="3505200" y="4446588"/>
            <a:ext cx="1054100" cy="674687"/>
          </a:xfrm>
          <a:custGeom>
            <a:avLst/>
            <a:gdLst>
              <a:gd name="T0" fmla="*/ 2147483646 w 664"/>
              <a:gd name="T1" fmla="*/ 2147483646 h 425"/>
              <a:gd name="T2" fmla="*/ 2147483646 w 664"/>
              <a:gd name="T3" fmla="*/ 0 h 425"/>
              <a:gd name="T4" fmla="*/ 0 60000 65536"/>
              <a:gd name="T5" fmla="*/ 0 60000 65536"/>
              <a:gd name="T6" fmla="*/ 0 w 664"/>
              <a:gd name="T7" fmla="*/ 0 h 425"/>
              <a:gd name="T8" fmla="*/ 664 w 664"/>
              <a:gd name="T9" fmla="*/ 425 h 4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64" h="425">
                <a:moveTo>
                  <a:pt x="241" y="20"/>
                </a:moveTo>
                <a:cubicBezTo>
                  <a:pt x="0" y="393"/>
                  <a:pt x="664" y="425"/>
                  <a:pt x="388" y="0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43" name="Line 19">
            <a:extLst>
              <a:ext uri="{FF2B5EF4-FFF2-40B4-BE49-F238E27FC236}">
                <a16:creationId xmlns:a16="http://schemas.microsoft.com/office/drawing/2014/main" id="{D7E263AD-2B65-4A6A-885A-5198FA2A4DEE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4488" y="3257550"/>
            <a:ext cx="803275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44" name="Text Box 20">
            <a:extLst>
              <a:ext uri="{FF2B5EF4-FFF2-40B4-BE49-F238E27FC236}">
                <a16:creationId xmlns:a16="http://schemas.microsoft.com/office/drawing/2014/main" id="{46CAF251-D577-4F58-A946-63AFD85279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7488" y="3227388"/>
            <a:ext cx="14859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base=1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nextseqnum=1</a:t>
            </a:r>
            <a:endParaRPr lang="en-US" altLang="zh-TW" sz="1400">
              <a:latin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03445" name="Text Box 21">
            <a:extLst>
              <a:ext uri="{FF2B5EF4-FFF2-40B4-BE49-F238E27FC236}">
                <a16:creationId xmlns:a16="http://schemas.microsoft.com/office/drawing/2014/main" id="{049383F8-9801-4E02-8DF6-2903029480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950" y="4289425"/>
            <a:ext cx="2047875" cy="44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latin typeface="Arial" panose="020B0604020202020204" pitchFamily="34" charset="0"/>
              </a:rPr>
              <a:t>rdt_rcv</a:t>
            </a:r>
            <a:r>
              <a:rPr lang="en-US" altLang="zh-TW" sz="1400" dirty="0"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latin typeface="Arial" panose="020B0604020202020204" pitchFamily="34" charset="0"/>
              </a:rPr>
              <a:t>rcvpkt</a:t>
            </a:r>
            <a:r>
              <a:rPr lang="en-US" altLang="zh-TW" sz="1400" dirty="0">
                <a:latin typeface="Arial" panose="020B0604020202020204" pitchFamily="34" charset="0"/>
              </a:rPr>
              <a:t>)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   &amp;&amp; corrupt(</a:t>
            </a:r>
            <a:r>
              <a:rPr lang="en-US" altLang="zh-TW" sz="1400" dirty="0" err="1">
                <a:latin typeface="Arial" panose="020B0604020202020204" pitchFamily="34" charset="0"/>
              </a:rPr>
              <a:t>rcvpkt</a:t>
            </a:r>
            <a:r>
              <a:rPr lang="en-US" altLang="zh-TW" sz="1400" dirty="0">
                <a:latin typeface="Arial" panose="020B0604020202020204" pitchFamily="34" charset="0"/>
              </a:rPr>
              <a:t>)</a:t>
            </a:r>
            <a:r>
              <a:rPr lang="en-US" altLang="zh-TW" sz="1000" dirty="0">
                <a:latin typeface="Arial" panose="020B0604020202020204" pitchFamily="34" charset="0"/>
              </a:rPr>
              <a:t>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 dirty="0">
              <a:latin typeface="Times New Roman" panose="02020603050405020304" pitchFamily="18" charset="0"/>
            </a:endParaRPr>
          </a:p>
        </p:txBody>
      </p:sp>
      <p:sp>
        <p:nvSpPr>
          <p:cNvPr id="103446" name="Line 22">
            <a:extLst>
              <a:ext uri="{FF2B5EF4-FFF2-40B4-BE49-F238E27FC236}">
                <a16:creationId xmlns:a16="http://schemas.microsoft.com/office/drawing/2014/main" id="{4328EBCA-B6E2-447D-9C05-6D1752511B5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43025" y="4787900"/>
            <a:ext cx="1520825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47" name="Freeform 23">
            <a:extLst>
              <a:ext uri="{FF2B5EF4-FFF2-40B4-BE49-F238E27FC236}">
                <a16:creationId xmlns:a16="http://schemas.microsoft.com/office/drawing/2014/main" id="{BF20D941-0255-4047-93CE-DDD0639A5DE2}"/>
              </a:ext>
            </a:extLst>
          </p:cNvPr>
          <p:cNvSpPr>
            <a:spLocks/>
          </p:cNvSpPr>
          <p:nvPr/>
        </p:nvSpPr>
        <p:spPr bwMode="auto">
          <a:xfrm>
            <a:off x="2898775" y="4221163"/>
            <a:ext cx="695325" cy="638175"/>
          </a:xfrm>
          <a:custGeom>
            <a:avLst/>
            <a:gdLst>
              <a:gd name="T0" fmla="*/ 2147483646 w 1095"/>
              <a:gd name="T1" fmla="*/ 0 h 1005"/>
              <a:gd name="T2" fmla="*/ 2147483646 w 1095"/>
              <a:gd name="T3" fmla="*/ 2147483646 h 1005"/>
              <a:gd name="T4" fmla="*/ 0 60000 65536"/>
              <a:gd name="T5" fmla="*/ 0 60000 65536"/>
              <a:gd name="T6" fmla="*/ 0 w 1095"/>
              <a:gd name="T7" fmla="*/ 0 h 1005"/>
              <a:gd name="T8" fmla="*/ 1095 w 1095"/>
              <a:gd name="T9" fmla="*/ 1005 h 100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095" h="1005">
                <a:moveTo>
                  <a:pt x="1005" y="0"/>
                </a:moveTo>
                <a:cubicBezTo>
                  <a:pt x="0" y="30"/>
                  <a:pt x="645" y="1005"/>
                  <a:pt x="1095" y="165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48" name="Text Box 24">
            <a:extLst>
              <a:ext uri="{FF2B5EF4-FFF2-40B4-BE49-F238E27FC236}">
                <a16:creationId xmlns:a16="http://schemas.microsoft.com/office/drawing/2014/main" id="{28E1EC0F-A3C7-406E-BF6F-7363542A8B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0350" y="2927350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Symbol" panose="05050102010706020507" pitchFamily="18" charset="2"/>
              </a:rPr>
              <a:t>L</a:t>
            </a:r>
          </a:p>
        </p:txBody>
      </p:sp>
      <p:pic>
        <p:nvPicPr>
          <p:cNvPr id="103449" name="Picture 25" descr="underline_base">
            <a:extLst>
              <a:ext uri="{FF2B5EF4-FFF2-40B4-BE49-F238E27FC236}">
                <a16:creationId xmlns:a16="http://schemas.microsoft.com/office/drawing/2014/main" id="{6761489C-2A00-4072-B3AB-A68D4AC69BE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263" y="760413"/>
            <a:ext cx="5484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450" name="Rectangle 1">
            <a:extLst>
              <a:ext uri="{FF2B5EF4-FFF2-40B4-BE49-F238E27FC236}">
                <a16:creationId xmlns:a16="http://schemas.microsoft.com/office/drawing/2014/main" id="{A63EF2E8-A31C-4EA1-850A-5CD8B51960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0" y="1260475"/>
            <a:ext cx="318293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zh-TW" sz="1600" dirty="0">
                <a:solidFill>
                  <a:srgbClr val="C00000"/>
                </a:solidFill>
                <a:latin typeface="Tahoma" panose="020B0604030504040204" pitchFamily="34" charset="0"/>
              </a:rPr>
              <a:t>// Checks if blue region is available: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C00000"/>
                </a:solidFill>
                <a:latin typeface="Tahoma" panose="020B0604030504040204" pitchFamily="34" charset="0"/>
              </a:rPr>
              <a:t>If so, creates a packet. 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C00000"/>
                </a:solidFill>
                <a:latin typeface="Tahoma" panose="020B0604030504040204" pitchFamily="34" charset="0"/>
              </a:rPr>
              <a:t>If not, returns data back to upper layer. </a:t>
            </a:r>
          </a:p>
        </p:txBody>
      </p:sp>
      <p:sp>
        <p:nvSpPr>
          <p:cNvPr id="103451" name="Rectangle 2">
            <a:extLst>
              <a:ext uri="{FF2B5EF4-FFF2-40B4-BE49-F238E27FC236}">
                <a16:creationId xmlns:a16="http://schemas.microsoft.com/office/drawing/2014/main" id="{ED93BC36-E298-49FD-99CC-B3A1621535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38" y="5438775"/>
            <a:ext cx="2252662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7030A0"/>
                </a:solidFill>
                <a:latin typeface="Tahoma" panose="020B0604030504040204" pitchFamily="34" charset="0"/>
              </a:rPr>
              <a:t>// Cumulative ACK: Update </a:t>
            </a:r>
            <a:r>
              <a:rPr lang="en-US" altLang="zh-TW" sz="1600" dirty="0" err="1">
                <a:solidFill>
                  <a:srgbClr val="7030A0"/>
                </a:solidFill>
                <a:latin typeface="Tahoma" panose="020B0604030504040204" pitchFamily="34" charset="0"/>
              </a:rPr>
              <a:t>send_base</a:t>
            </a:r>
            <a:endParaRPr lang="en-US" altLang="zh-TW" sz="1600" dirty="0">
              <a:solidFill>
                <a:srgbClr val="7030A0"/>
              </a:solidFill>
              <a:latin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103452" name="Rectangle 1">
            <a:extLst>
              <a:ext uri="{FF2B5EF4-FFF2-40B4-BE49-F238E27FC236}">
                <a16:creationId xmlns:a16="http://schemas.microsoft.com/office/drawing/2014/main" id="{9FD29B05-B41A-4F34-8BD4-5BF4849C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3088" y="3113088"/>
            <a:ext cx="3182937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zh-TW" sz="1600" dirty="0">
                <a:solidFill>
                  <a:srgbClr val="0070C0"/>
                </a:solidFill>
                <a:latin typeface="Tahoma" panose="020B0604030504040204" pitchFamily="34" charset="0"/>
              </a:rPr>
              <a:t>// If timeout, retransmit packets in yellow region. </a:t>
            </a:r>
          </a:p>
        </p:txBody>
      </p:sp>
      <p:sp>
        <p:nvSpPr>
          <p:cNvPr id="31" name="Text Box 24">
            <a:extLst>
              <a:ext uri="{FF2B5EF4-FFF2-40B4-BE49-F238E27FC236}">
                <a16:creationId xmlns:a16="http://schemas.microsoft.com/office/drawing/2014/main" id="{C90A1F7A-F652-4875-BDAC-3796A35C9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2" y="4776788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Symbol" panose="05050102010706020507" pitchFamily="18" charset="2"/>
              </a:rPr>
              <a:t>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Footer Placeholder 5">
            <a:extLst>
              <a:ext uri="{FF2B5EF4-FFF2-40B4-BE49-F238E27FC236}">
                <a16:creationId xmlns:a16="http://schemas.microsoft.com/office/drawing/2014/main" id="{358ADD6C-25C7-4E24-910F-EEE915B25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04451" name="Slide Number Placeholder 6">
            <a:extLst>
              <a:ext uri="{FF2B5EF4-FFF2-40B4-BE49-F238E27FC236}">
                <a16:creationId xmlns:a16="http://schemas.microsoft.com/office/drawing/2014/main" id="{9C501542-CC88-44B1-A985-C4A46669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3FFDCF5C-87D9-47D9-9ED0-32396AC03CD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1380" name="Rectangle 3">
            <a:extLst>
              <a:ext uri="{FF2B5EF4-FFF2-40B4-BE49-F238E27FC236}">
                <a16:creationId xmlns:a16="http://schemas.microsoft.com/office/drawing/2014/main" id="{283E1CCC-F345-4336-9FCD-9DECE2E818A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801688" y="3641725"/>
            <a:ext cx="8148637" cy="2854325"/>
          </a:xfrm>
        </p:spPr>
        <p:txBody>
          <a:bodyPr/>
          <a:lstStyle/>
          <a:p>
            <a:pPr>
              <a:defRPr/>
            </a:pPr>
            <a:r>
              <a:rPr lang="en-US" altLang="zh-TW" sz="2400" dirty="0"/>
              <a:t>If a packet with seq # </a:t>
            </a:r>
            <a:r>
              <a:rPr lang="en-US" altLang="zh-TW" sz="2400" i="1" dirty="0"/>
              <a:t>n</a:t>
            </a:r>
            <a:r>
              <a:rPr lang="en-US" altLang="zh-TW" sz="2400" dirty="0"/>
              <a:t> is </a:t>
            </a:r>
          </a:p>
          <a:p>
            <a:pPr marL="514350" indent="-514350">
              <a:buFont typeface="Wingdings" panose="05000000000000000000" pitchFamily="2" charset="2"/>
              <a:buAutoNum type="alphaLcParenBoth"/>
              <a:defRPr/>
            </a:pPr>
            <a:r>
              <a:rPr lang="en-US" altLang="zh-TW" sz="2400" dirty="0">
                <a:solidFill>
                  <a:srgbClr val="7030A0"/>
                </a:solidFill>
              </a:rPr>
              <a:t>received correctly </a:t>
            </a:r>
            <a:r>
              <a:rPr lang="en-US" altLang="zh-TW" sz="2400" dirty="0"/>
              <a:t>AND </a:t>
            </a:r>
          </a:p>
          <a:p>
            <a:pPr marL="514350" indent="-514350">
              <a:buFont typeface="Wingdings" panose="05000000000000000000" pitchFamily="2" charset="2"/>
              <a:buAutoNum type="alphaLcParenBoth"/>
              <a:defRPr/>
            </a:pPr>
            <a:r>
              <a:rPr lang="en-US" altLang="zh-TW" sz="2400" dirty="0">
                <a:solidFill>
                  <a:srgbClr val="C00000"/>
                </a:solidFill>
              </a:rPr>
              <a:t>in order </a:t>
            </a:r>
            <a:r>
              <a:rPr lang="en-US" altLang="zh-TW" sz="2400" dirty="0"/>
              <a:t>(i.e., data last delivered to the upper layer came from a packet with sequence number </a:t>
            </a:r>
            <a:r>
              <a:rPr lang="en-US" altLang="zh-TW" sz="2400" i="1" dirty="0"/>
              <a:t>n-1</a:t>
            </a:r>
            <a:r>
              <a:rPr lang="en-US" altLang="zh-TW" sz="2400" dirty="0"/>
              <a:t>): </a:t>
            </a:r>
          </a:p>
          <a:p>
            <a:pPr lvl="1">
              <a:defRPr/>
            </a:pPr>
            <a:r>
              <a:rPr lang="en-US" altLang="zh-TW" dirty="0">
                <a:solidFill>
                  <a:srgbClr val="0070C0"/>
                </a:solidFill>
              </a:rPr>
              <a:t>delivers the data portion of packet to upper layer</a:t>
            </a:r>
          </a:p>
          <a:p>
            <a:pPr lvl="1">
              <a:defRPr/>
            </a:pPr>
            <a:r>
              <a:rPr lang="en-US" altLang="zh-TW" dirty="0"/>
              <a:t>receiver </a:t>
            </a:r>
            <a:r>
              <a:rPr lang="en-US" altLang="zh-TW" dirty="0">
                <a:solidFill>
                  <a:srgbClr val="FFC000"/>
                </a:solidFill>
              </a:rPr>
              <a:t>sends an ACK for packet </a:t>
            </a:r>
            <a:r>
              <a:rPr lang="en-US" altLang="zh-TW" i="1" dirty="0">
                <a:solidFill>
                  <a:srgbClr val="FFC000"/>
                </a:solidFill>
              </a:rPr>
              <a:t>n</a:t>
            </a:r>
          </a:p>
          <a:p>
            <a:pPr>
              <a:defRPr/>
            </a:pPr>
            <a:r>
              <a:rPr lang="en-US" altLang="zh-TW" sz="2400" dirty="0"/>
              <a:t>Ow, receiver discards packet and </a:t>
            </a:r>
            <a:r>
              <a:rPr lang="en-US" altLang="zh-TW" sz="2400" dirty="0">
                <a:solidFill>
                  <a:srgbClr val="00B050"/>
                </a:solidFill>
              </a:rPr>
              <a:t>resends an ACK for the most recently received in-order packet. </a:t>
            </a:r>
          </a:p>
        </p:txBody>
      </p:sp>
      <p:sp>
        <p:nvSpPr>
          <p:cNvPr id="104453" name="Oval 4">
            <a:extLst>
              <a:ext uri="{FF2B5EF4-FFF2-40B4-BE49-F238E27FC236}">
                <a16:creationId xmlns:a16="http://schemas.microsoft.com/office/drawing/2014/main" id="{CA0EB009-44AC-42B6-ACC7-755EA8B35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125" y="2041525"/>
            <a:ext cx="666750" cy="6572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04454" name="Text Box 5">
            <a:extLst>
              <a:ext uri="{FF2B5EF4-FFF2-40B4-BE49-F238E27FC236}">
                <a16:creationId xmlns:a16="http://schemas.microsoft.com/office/drawing/2014/main" id="{09A95E7D-05F7-496C-A78C-01D177F35C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8638" y="2209800"/>
            <a:ext cx="800100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Wait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104455" name="Line 6">
            <a:extLst>
              <a:ext uri="{FF2B5EF4-FFF2-40B4-BE49-F238E27FC236}">
                <a16:creationId xmlns:a16="http://schemas.microsoft.com/office/drawing/2014/main" id="{ECFF87C3-F609-404C-8F21-F614F2D83EAB}"/>
              </a:ext>
            </a:extLst>
          </p:cNvPr>
          <p:cNvSpPr>
            <a:spLocks noChangeShapeType="1"/>
          </p:cNvSpPr>
          <p:nvPr/>
        </p:nvSpPr>
        <p:spPr bwMode="auto">
          <a:xfrm>
            <a:off x="844550" y="1881188"/>
            <a:ext cx="2298700" cy="474662"/>
          </a:xfrm>
          <a:prstGeom prst="line">
            <a:avLst/>
          </a:prstGeom>
          <a:noFill/>
          <a:ln w="2857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56" name="Text Box 7">
            <a:extLst>
              <a:ext uri="{FF2B5EF4-FFF2-40B4-BE49-F238E27FC236}">
                <a16:creationId xmlns:a16="http://schemas.microsoft.com/office/drawing/2014/main" id="{F9B0D370-BFEF-4E0D-A5C0-B08CDFD79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7463" y="1468438"/>
            <a:ext cx="1617662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solidFill>
                  <a:srgbClr val="00B050"/>
                </a:solidFill>
                <a:latin typeface="Arial" panose="020B0604020202020204" pitchFamily="34" charset="0"/>
              </a:rPr>
              <a:t>udt_send</a:t>
            </a:r>
            <a:r>
              <a:rPr lang="en-US" altLang="zh-TW" sz="1400" dirty="0">
                <a:solidFill>
                  <a:srgbClr val="00B05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solidFill>
                  <a:srgbClr val="00B050"/>
                </a:solidFill>
                <a:latin typeface="Arial" panose="020B0604020202020204" pitchFamily="34" charset="0"/>
              </a:rPr>
              <a:t>sndpkt</a:t>
            </a:r>
            <a:r>
              <a:rPr lang="en-US" altLang="zh-TW" sz="1400" dirty="0">
                <a:solidFill>
                  <a:srgbClr val="00B050"/>
                </a:solidFill>
                <a:latin typeface="Arial" panose="020B0604020202020204" pitchFamily="34" charset="0"/>
              </a:rPr>
              <a:t>)</a:t>
            </a:r>
            <a:endParaRPr lang="en-US" altLang="zh-TW" sz="1400" dirty="0">
              <a:solidFill>
                <a:srgbClr val="00B05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4457" name="Text Box 8">
            <a:extLst>
              <a:ext uri="{FF2B5EF4-FFF2-40B4-BE49-F238E27FC236}">
                <a16:creationId xmlns:a16="http://schemas.microsoft.com/office/drawing/2014/main" id="{2FF5AFED-1D54-4C69-85E3-2E7C258CF7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97150" y="1192213"/>
            <a:ext cx="725488" cy="247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default</a:t>
            </a:r>
            <a:endParaRPr lang="en-US" altLang="zh-TW" sz="1400">
              <a:latin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04458" name="Line 9">
            <a:extLst>
              <a:ext uri="{FF2B5EF4-FFF2-40B4-BE49-F238E27FC236}">
                <a16:creationId xmlns:a16="http://schemas.microsoft.com/office/drawing/2014/main" id="{58C5D457-498D-4787-97FD-F80169B850C9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8113" y="1489075"/>
            <a:ext cx="81597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59" name="Freeform 10">
            <a:extLst>
              <a:ext uri="{FF2B5EF4-FFF2-40B4-BE49-F238E27FC236}">
                <a16:creationId xmlns:a16="http://schemas.microsoft.com/office/drawing/2014/main" id="{E5452C7E-D320-40E1-B9BA-13879D739671}"/>
              </a:ext>
            </a:extLst>
          </p:cNvPr>
          <p:cNvSpPr>
            <a:spLocks/>
          </p:cNvSpPr>
          <p:nvPr/>
        </p:nvSpPr>
        <p:spPr bwMode="auto">
          <a:xfrm>
            <a:off x="3832225" y="1784350"/>
            <a:ext cx="828675" cy="1152525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60" name="Text Box 11">
            <a:extLst>
              <a:ext uri="{FF2B5EF4-FFF2-40B4-BE49-F238E27FC236}">
                <a16:creationId xmlns:a16="http://schemas.microsoft.com/office/drawing/2014/main" id="{C0F743AE-3142-44C6-90DD-14F88E058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25938" y="1554163"/>
            <a:ext cx="3570287" cy="563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rdt_rcv(rcvpkt)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&amp;&amp; </a:t>
            </a:r>
            <a:r>
              <a:rPr lang="en-US" altLang="zh-TW" sz="1400">
                <a:solidFill>
                  <a:srgbClr val="7030A0"/>
                </a:solidFill>
                <a:latin typeface="Arial" panose="020B0604020202020204" pitchFamily="34" charset="0"/>
              </a:rPr>
              <a:t>notcurrupt</a:t>
            </a:r>
            <a:r>
              <a:rPr lang="en-US" altLang="zh-TW" sz="1400">
                <a:latin typeface="Arial" panose="020B0604020202020204" pitchFamily="34" charset="0"/>
              </a:rPr>
              <a:t>(rcvpkt)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&amp;&amp; </a:t>
            </a:r>
            <a:r>
              <a:rPr lang="en-US" altLang="zh-TW" sz="1400">
                <a:solidFill>
                  <a:srgbClr val="C00000"/>
                </a:solidFill>
                <a:latin typeface="Arial" panose="020B0604020202020204" pitchFamily="34" charset="0"/>
              </a:rPr>
              <a:t>hasseqnum</a:t>
            </a:r>
            <a:r>
              <a:rPr lang="en-US" altLang="zh-TW" sz="1400">
                <a:latin typeface="Arial" panose="020B0604020202020204" pitchFamily="34" charset="0"/>
              </a:rPr>
              <a:t>(rcvpkt,expectedseqnum) </a:t>
            </a:r>
            <a:endParaRPr lang="en-US" altLang="zh-TW" sz="1400">
              <a:latin typeface="Times New Roman" panose="02020603050405020304" pitchFamily="18" charset="0"/>
            </a:endParaRPr>
          </a:p>
        </p:txBody>
      </p:sp>
      <p:sp>
        <p:nvSpPr>
          <p:cNvPr id="104461" name="Line 12">
            <a:extLst>
              <a:ext uri="{FF2B5EF4-FFF2-40B4-BE49-F238E27FC236}">
                <a16:creationId xmlns:a16="http://schemas.microsoft.com/office/drawing/2014/main" id="{5674A7AB-DF5C-4D6D-BA0F-2FE26DD67B05}"/>
              </a:ext>
            </a:extLst>
          </p:cNvPr>
          <p:cNvSpPr>
            <a:spLocks noChangeShapeType="1"/>
          </p:cNvSpPr>
          <p:nvPr/>
        </p:nvSpPr>
        <p:spPr bwMode="auto">
          <a:xfrm>
            <a:off x="4395788" y="2246313"/>
            <a:ext cx="31750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62" name="Text Box 13">
            <a:extLst>
              <a:ext uri="{FF2B5EF4-FFF2-40B4-BE49-F238E27FC236}">
                <a16:creationId xmlns:a16="http://schemas.microsoft.com/office/drawing/2014/main" id="{6E807F98-8448-4017-9B2B-88385B45BD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0700" y="2289175"/>
            <a:ext cx="4314825" cy="858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extract(</a:t>
            </a:r>
            <a:r>
              <a:rPr lang="en-US" altLang="zh-TW" sz="1400" dirty="0" err="1">
                <a:latin typeface="Arial" panose="020B0604020202020204" pitchFamily="34" charset="0"/>
              </a:rPr>
              <a:t>rcvpkt,data</a:t>
            </a:r>
            <a:r>
              <a:rPr lang="en-US" altLang="zh-TW" sz="1400" dirty="0"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solidFill>
                  <a:srgbClr val="0070C0"/>
                </a:solidFill>
                <a:latin typeface="Arial" panose="020B0604020202020204" pitchFamily="34" charset="0"/>
              </a:rPr>
              <a:t>deliver_data</a:t>
            </a:r>
            <a:r>
              <a:rPr lang="en-US" altLang="zh-TW" sz="1400" dirty="0">
                <a:solidFill>
                  <a:srgbClr val="0070C0"/>
                </a:solidFill>
                <a:latin typeface="Arial" panose="020B0604020202020204" pitchFamily="34" charset="0"/>
              </a:rPr>
              <a:t>(data)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latin typeface="Arial" panose="020B0604020202020204" pitchFamily="34" charset="0"/>
              </a:rPr>
              <a:t>sndpkt</a:t>
            </a:r>
            <a:r>
              <a:rPr lang="en-US" altLang="zh-TW" sz="1400" dirty="0">
                <a:latin typeface="Arial" panose="020B0604020202020204" pitchFamily="34" charset="0"/>
              </a:rPr>
              <a:t> = </a:t>
            </a:r>
            <a:r>
              <a:rPr lang="en-US" altLang="zh-TW" sz="1400" dirty="0" err="1">
                <a:solidFill>
                  <a:srgbClr val="FFC000"/>
                </a:solidFill>
                <a:latin typeface="Arial" panose="020B0604020202020204" pitchFamily="34" charset="0"/>
              </a:rPr>
              <a:t>make_pkt</a:t>
            </a:r>
            <a:r>
              <a:rPr lang="en-US" altLang="zh-TW" sz="1400" dirty="0">
                <a:solidFill>
                  <a:srgbClr val="FFC000"/>
                </a:solidFill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solidFill>
                  <a:srgbClr val="FFC000"/>
                </a:solidFill>
                <a:latin typeface="Arial" panose="020B0604020202020204" pitchFamily="34" charset="0"/>
              </a:rPr>
              <a:t>expectedseqnum</a:t>
            </a:r>
            <a:r>
              <a:rPr lang="en-US" altLang="zh-TW" sz="1400" dirty="0" err="1">
                <a:solidFill>
                  <a:srgbClr val="0070C0"/>
                </a:solidFill>
                <a:latin typeface="Arial" panose="020B0604020202020204" pitchFamily="34" charset="0"/>
              </a:rPr>
              <a:t>,</a:t>
            </a:r>
            <a:r>
              <a:rPr lang="en-US" altLang="zh-TW" sz="1400" dirty="0" err="1">
                <a:latin typeface="Arial" panose="020B0604020202020204" pitchFamily="34" charset="0"/>
              </a:rPr>
              <a:t>ACK,chksum</a:t>
            </a:r>
            <a:r>
              <a:rPr lang="en-US" altLang="zh-TW" sz="1400" dirty="0"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latin typeface="Arial" panose="020B0604020202020204" pitchFamily="34" charset="0"/>
              </a:rPr>
              <a:t>udt_send</a:t>
            </a:r>
            <a:r>
              <a:rPr lang="en-US" altLang="zh-TW" sz="1400" dirty="0"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latin typeface="Arial" panose="020B0604020202020204" pitchFamily="34" charset="0"/>
              </a:rPr>
              <a:t>sndpkt</a:t>
            </a:r>
            <a:r>
              <a:rPr lang="en-US" altLang="zh-TW" sz="1400" dirty="0"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latin typeface="Arial" panose="020B0604020202020204" pitchFamily="34" charset="0"/>
              </a:rPr>
              <a:t>expectedseqnum</a:t>
            </a:r>
            <a:r>
              <a:rPr lang="en-US" altLang="zh-TW" sz="1400" dirty="0">
                <a:latin typeface="Arial" panose="020B0604020202020204" pitchFamily="34" charset="0"/>
              </a:rPr>
              <a:t>++</a:t>
            </a:r>
            <a:endParaRPr lang="en-US" altLang="zh-TW" sz="1400" dirty="0">
              <a:latin typeface="Times New Roman" panose="02020603050405020304" pitchFamily="18" charset="0"/>
            </a:endParaRPr>
          </a:p>
        </p:txBody>
      </p:sp>
      <p:sp>
        <p:nvSpPr>
          <p:cNvPr id="104463" name="Freeform 14">
            <a:extLst>
              <a:ext uri="{FF2B5EF4-FFF2-40B4-BE49-F238E27FC236}">
                <a16:creationId xmlns:a16="http://schemas.microsoft.com/office/drawing/2014/main" id="{CA3F2C75-CB26-40C2-AEDB-14D9A2222D36}"/>
              </a:ext>
            </a:extLst>
          </p:cNvPr>
          <p:cNvSpPr>
            <a:spLocks/>
          </p:cNvSpPr>
          <p:nvPr/>
        </p:nvSpPr>
        <p:spPr bwMode="auto">
          <a:xfrm rot="5142103" flipH="1">
            <a:off x="3305176" y="1260475"/>
            <a:ext cx="393700" cy="1152525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64" name="Line 15">
            <a:extLst>
              <a:ext uri="{FF2B5EF4-FFF2-40B4-BE49-F238E27FC236}">
                <a16:creationId xmlns:a16="http://schemas.microsoft.com/office/drawing/2014/main" id="{6579294B-C8D8-462D-A71E-48456EFDFE3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4225" y="2293938"/>
            <a:ext cx="123825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4465" name="Text Box 16">
            <a:extLst>
              <a:ext uri="{FF2B5EF4-FFF2-40B4-BE49-F238E27FC236}">
                <a16:creationId xmlns:a16="http://schemas.microsoft.com/office/drawing/2014/main" id="{E9BAE992-A7EB-42D9-95AC-86BF063B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8" y="2314575"/>
            <a:ext cx="3641725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expectedseqnum=1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sndpkt =  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make_pkt(expectedseqnum,ACK,chksum)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04466" name="Text Box 17">
            <a:extLst>
              <a:ext uri="{FF2B5EF4-FFF2-40B4-BE49-F238E27FC236}">
                <a16:creationId xmlns:a16="http://schemas.microsoft.com/office/drawing/2014/main" id="{BA608240-A340-43DA-BE4B-9CE5360E4B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250" y="1990725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Symbol" panose="05050102010706020507" pitchFamily="18" charset="2"/>
              </a:rPr>
              <a:t>L</a:t>
            </a:r>
          </a:p>
        </p:txBody>
      </p:sp>
      <p:sp>
        <p:nvSpPr>
          <p:cNvPr id="50195" name="Rectangle 19">
            <a:extLst>
              <a:ext uri="{FF2B5EF4-FFF2-40B4-BE49-F238E27FC236}">
                <a16:creationId xmlns:a16="http://schemas.microsoft.com/office/drawing/2014/main" id="{B75555EF-3F25-444F-9D1A-11061012E4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4500" y="207963"/>
            <a:ext cx="7772400" cy="700087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GBN: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+mj-cs"/>
              </a:rPr>
              <a:t>receiver</a:t>
            </a:r>
            <a:r>
              <a:rPr lang="en-US" dirty="0">
                <a:ea typeface="ＭＳ Ｐゴシック" charset="0"/>
                <a:cs typeface="+mj-cs"/>
              </a:rPr>
              <a:t> extended FSM</a:t>
            </a:r>
          </a:p>
        </p:txBody>
      </p:sp>
      <p:pic>
        <p:nvPicPr>
          <p:cNvPr id="104468" name="Picture 22" descr="underline_base">
            <a:extLst>
              <a:ext uri="{FF2B5EF4-FFF2-40B4-BE49-F238E27FC236}">
                <a16:creationId xmlns:a16="http://schemas.microsoft.com/office/drawing/2014/main" id="{1ADD5781-EBC6-4158-9DEE-C8342439062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50" y="806450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Footer Placeholder 5">
            <a:extLst>
              <a:ext uri="{FF2B5EF4-FFF2-40B4-BE49-F238E27FC236}">
                <a16:creationId xmlns:a16="http://schemas.microsoft.com/office/drawing/2014/main" id="{7AB3A7F5-6DE7-4FDA-8BCF-72F3A7099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05475" name="Slide Number Placeholder 6">
            <a:extLst>
              <a:ext uri="{FF2B5EF4-FFF2-40B4-BE49-F238E27FC236}">
                <a16:creationId xmlns:a16="http://schemas.microsoft.com/office/drawing/2014/main" id="{39FCA6F2-184E-4E6E-A151-0CB9879EA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E045C67-79F1-4ABB-B0CD-9E4BD388188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78852" name="Rectangle 3">
            <a:extLst>
              <a:ext uri="{FF2B5EF4-FFF2-40B4-BE49-F238E27FC236}">
                <a16:creationId xmlns:a16="http://schemas.microsoft.com/office/drawing/2014/main" id="{CCEF79E8-2A21-48FC-8BCC-CB8181B576DB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801688" y="3641725"/>
            <a:ext cx="8148637" cy="2854325"/>
          </a:xfrm>
        </p:spPr>
        <p:txBody>
          <a:bodyPr/>
          <a:lstStyle/>
          <a:p>
            <a:pPr>
              <a:defRPr/>
            </a:pPr>
            <a:r>
              <a:rPr lang="en-US" altLang="zh-TW" dirty="0">
                <a:solidFill>
                  <a:srgbClr val="FF0000"/>
                </a:solidFill>
              </a:rPr>
              <a:t>Simple receiver operations:</a:t>
            </a:r>
          </a:p>
          <a:p>
            <a:pPr lvl="1">
              <a:defRPr/>
            </a:pPr>
            <a:r>
              <a:rPr lang="en-US" altLang="zh-TW" dirty="0"/>
              <a:t>need only remember </a:t>
            </a:r>
            <a:r>
              <a:rPr lang="en-US" altLang="zh-TW" b="1" dirty="0">
                <a:latin typeface="Courier New" pitchFamily="49" charset="0"/>
              </a:rPr>
              <a:t>expectedseqnum</a:t>
            </a:r>
          </a:p>
          <a:p>
            <a:pPr lvl="1">
              <a:defRPr/>
            </a:pPr>
            <a:r>
              <a:rPr lang="en-US" altLang="zh-TW" dirty="0">
                <a:solidFill>
                  <a:srgbClr val="FF0000"/>
                </a:solidFill>
              </a:rPr>
              <a:t>no receiver buffering!</a:t>
            </a:r>
            <a:endParaRPr lang="en-US" altLang="ja-JP" dirty="0">
              <a:solidFill>
                <a:srgbClr val="FF0000"/>
              </a:solidFill>
            </a:endParaRPr>
          </a:p>
        </p:txBody>
      </p:sp>
      <p:sp>
        <p:nvSpPr>
          <p:cNvPr id="105477" name="Oval 4">
            <a:extLst>
              <a:ext uri="{FF2B5EF4-FFF2-40B4-BE49-F238E27FC236}">
                <a16:creationId xmlns:a16="http://schemas.microsoft.com/office/drawing/2014/main" id="{CC55BF15-6F67-418C-A39A-5E68A088B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125" y="2041525"/>
            <a:ext cx="666750" cy="6572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05478" name="Text Box 5">
            <a:extLst>
              <a:ext uri="{FF2B5EF4-FFF2-40B4-BE49-F238E27FC236}">
                <a16:creationId xmlns:a16="http://schemas.microsoft.com/office/drawing/2014/main" id="{082BAA03-CA53-499E-A015-C9DA51889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8638" y="2209800"/>
            <a:ext cx="800100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Wait</a:t>
            </a:r>
            <a:endParaRPr lang="en-US" altLang="zh-TW" sz="1600">
              <a:latin typeface="Times New Roman" panose="02020603050405020304" pitchFamily="18" charset="0"/>
            </a:endParaRPr>
          </a:p>
        </p:txBody>
      </p:sp>
      <p:sp>
        <p:nvSpPr>
          <p:cNvPr id="105479" name="Line 6">
            <a:extLst>
              <a:ext uri="{FF2B5EF4-FFF2-40B4-BE49-F238E27FC236}">
                <a16:creationId xmlns:a16="http://schemas.microsoft.com/office/drawing/2014/main" id="{9163F070-10C4-4127-963E-DBF4DE585005}"/>
              </a:ext>
            </a:extLst>
          </p:cNvPr>
          <p:cNvSpPr>
            <a:spLocks noChangeShapeType="1"/>
          </p:cNvSpPr>
          <p:nvPr/>
        </p:nvSpPr>
        <p:spPr bwMode="auto">
          <a:xfrm>
            <a:off x="844550" y="1881188"/>
            <a:ext cx="2298700" cy="474662"/>
          </a:xfrm>
          <a:prstGeom prst="line">
            <a:avLst/>
          </a:prstGeom>
          <a:noFill/>
          <a:ln w="2857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0" name="Text Box 7">
            <a:extLst>
              <a:ext uri="{FF2B5EF4-FFF2-40B4-BE49-F238E27FC236}">
                <a16:creationId xmlns:a16="http://schemas.microsoft.com/office/drawing/2014/main" id="{C28CAFD7-9E90-4611-8921-7C1010CC9F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7463" y="1468438"/>
            <a:ext cx="1617662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 err="1">
                <a:latin typeface="Arial" panose="020B0604020202020204" pitchFamily="34" charset="0"/>
              </a:rPr>
              <a:t>udt_send</a:t>
            </a:r>
            <a:r>
              <a:rPr lang="en-US" altLang="zh-TW" sz="1400" dirty="0">
                <a:latin typeface="Arial" panose="020B0604020202020204" pitchFamily="34" charset="0"/>
              </a:rPr>
              <a:t>(</a:t>
            </a:r>
            <a:r>
              <a:rPr lang="en-US" altLang="zh-TW" sz="1400" dirty="0" err="1">
                <a:latin typeface="Arial" panose="020B0604020202020204" pitchFamily="34" charset="0"/>
              </a:rPr>
              <a:t>sndpkt</a:t>
            </a:r>
            <a:r>
              <a:rPr lang="en-US" altLang="zh-TW" sz="1400" dirty="0">
                <a:latin typeface="Arial" panose="020B0604020202020204" pitchFamily="34" charset="0"/>
              </a:rPr>
              <a:t>)</a:t>
            </a:r>
            <a:endParaRPr lang="en-US" altLang="zh-TW" sz="1400" dirty="0">
              <a:latin typeface="Times New Roman" panose="02020603050405020304" pitchFamily="18" charset="0"/>
            </a:endParaRPr>
          </a:p>
        </p:txBody>
      </p:sp>
      <p:sp>
        <p:nvSpPr>
          <p:cNvPr id="105481" name="Text Box 8">
            <a:extLst>
              <a:ext uri="{FF2B5EF4-FFF2-40B4-BE49-F238E27FC236}">
                <a16:creationId xmlns:a16="http://schemas.microsoft.com/office/drawing/2014/main" id="{46D2F329-30B0-4CD6-BD01-5747651D03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97150" y="1192213"/>
            <a:ext cx="725488" cy="247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default</a:t>
            </a:r>
            <a:endParaRPr lang="en-US" altLang="zh-TW" sz="1400">
              <a:latin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05482" name="Line 9">
            <a:extLst>
              <a:ext uri="{FF2B5EF4-FFF2-40B4-BE49-F238E27FC236}">
                <a16:creationId xmlns:a16="http://schemas.microsoft.com/office/drawing/2014/main" id="{41995E8F-CF29-4B59-B84A-B24B3ECF6A54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8113" y="1489075"/>
            <a:ext cx="815975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3" name="Freeform 10">
            <a:extLst>
              <a:ext uri="{FF2B5EF4-FFF2-40B4-BE49-F238E27FC236}">
                <a16:creationId xmlns:a16="http://schemas.microsoft.com/office/drawing/2014/main" id="{85346AF8-1A19-4A1E-9DDE-887B55C5A961}"/>
              </a:ext>
            </a:extLst>
          </p:cNvPr>
          <p:cNvSpPr>
            <a:spLocks/>
          </p:cNvSpPr>
          <p:nvPr/>
        </p:nvSpPr>
        <p:spPr bwMode="auto">
          <a:xfrm>
            <a:off x="3832225" y="1784350"/>
            <a:ext cx="828675" cy="1152525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4" name="Text Box 11">
            <a:extLst>
              <a:ext uri="{FF2B5EF4-FFF2-40B4-BE49-F238E27FC236}">
                <a16:creationId xmlns:a16="http://schemas.microsoft.com/office/drawing/2014/main" id="{192C75E5-854F-4054-B5DE-F23C5B0C92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25938" y="1554163"/>
            <a:ext cx="3570287" cy="563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rdt_rcv(rcvpkt)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&amp;&amp; notcurrupt(rcvpkt)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&amp;&amp; hasseqnum(rcvpkt,expectedseqnum) </a:t>
            </a:r>
            <a:endParaRPr lang="en-US" altLang="zh-TW" sz="1400">
              <a:latin typeface="Times New Roman" panose="02020603050405020304" pitchFamily="18" charset="0"/>
            </a:endParaRPr>
          </a:p>
        </p:txBody>
      </p:sp>
      <p:sp>
        <p:nvSpPr>
          <p:cNvPr id="105485" name="Line 12">
            <a:extLst>
              <a:ext uri="{FF2B5EF4-FFF2-40B4-BE49-F238E27FC236}">
                <a16:creationId xmlns:a16="http://schemas.microsoft.com/office/drawing/2014/main" id="{F5415D37-B3D5-45CC-8EE9-12345765D5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395788" y="2246313"/>
            <a:ext cx="31750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6" name="Text Box 13">
            <a:extLst>
              <a:ext uri="{FF2B5EF4-FFF2-40B4-BE49-F238E27FC236}">
                <a16:creationId xmlns:a16="http://schemas.microsoft.com/office/drawing/2014/main" id="{336CCA5F-4CB0-4947-81A4-2B5F832BD9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0700" y="2289175"/>
            <a:ext cx="4314825" cy="858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extract(rcvpkt,data)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deliver_data(data)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sndpkt = make_pkt(expectedseqnum,ACK,chksum)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udt_send(sndpkt)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expectedseqnum++</a:t>
            </a:r>
            <a:endParaRPr lang="en-US" altLang="zh-TW" sz="1400">
              <a:latin typeface="Times New Roman" panose="02020603050405020304" pitchFamily="18" charset="0"/>
            </a:endParaRPr>
          </a:p>
        </p:txBody>
      </p:sp>
      <p:sp>
        <p:nvSpPr>
          <p:cNvPr id="105487" name="Freeform 14">
            <a:extLst>
              <a:ext uri="{FF2B5EF4-FFF2-40B4-BE49-F238E27FC236}">
                <a16:creationId xmlns:a16="http://schemas.microsoft.com/office/drawing/2014/main" id="{0949C049-F10A-464B-B96D-201F9BEB282A}"/>
              </a:ext>
            </a:extLst>
          </p:cNvPr>
          <p:cNvSpPr>
            <a:spLocks/>
          </p:cNvSpPr>
          <p:nvPr/>
        </p:nvSpPr>
        <p:spPr bwMode="auto">
          <a:xfrm rot="5142103" flipH="1">
            <a:off x="3305176" y="1260475"/>
            <a:ext cx="393700" cy="1152525"/>
          </a:xfrm>
          <a:custGeom>
            <a:avLst/>
            <a:gdLst>
              <a:gd name="T0" fmla="*/ 2147483646 w 619"/>
              <a:gd name="T1" fmla="*/ 2147483646 h 1815"/>
              <a:gd name="T2" fmla="*/ 0 w 619"/>
              <a:gd name="T3" fmla="*/ 2147483646 h 1815"/>
              <a:gd name="T4" fmla="*/ 0 60000 65536"/>
              <a:gd name="T5" fmla="*/ 0 60000 65536"/>
              <a:gd name="T6" fmla="*/ 0 w 619"/>
              <a:gd name="T7" fmla="*/ 0 h 1815"/>
              <a:gd name="T8" fmla="*/ 619 w 619"/>
              <a:gd name="T9" fmla="*/ 1815 h 181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19" h="1815">
                <a:moveTo>
                  <a:pt x="39" y="1136"/>
                </a:moveTo>
                <a:cubicBezTo>
                  <a:pt x="619" y="1815"/>
                  <a:pt x="484" y="0"/>
                  <a:pt x="0" y="773"/>
                </a:cubicBezTo>
              </a:path>
            </a:pathLst>
          </a:custGeom>
          <a:noFill/>
          <a:ln w="19050" cmpd="sng">
            <a:solidFill>
              <a:srgbClr val="00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8" name="Line 15">
            <a:extLst>
              <a:ext uri="{FF2B5EF4-FFF2-40B4-BE49-F238E27FC236}">
                <a16:creationId xmlns:a16="http://schemas.microsoft.com/office/drawing/2014/main" id="{DA569573-31DE-455A-87EA-99438921C576}"/>
              </a:ext>
            </a:extLst>
          </p:cNvPr>
          <p:cNvSpPr>
            <a:spLocks noChangeShapeType="1"/>
          </p:cNvSpPr>
          <p:nvPr/>
        </p:nvSpPr>
        <p:spPr bwMode="auto">
          <a:xfrm>
            <a:off x="784225" y="2293938"/>
            <a:ext cx="123825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9" name="Text Box 16">
            <a:extLst>
              <a:ext uri="{FF2B5EF4-FFF2-40B4-BE49-F238E27FC236}">
                <a16:creationId xmlns:a16="http://schemas.microsoft.com/office/drawing/2014/main" id="{A1D15E4E-2166-4E51-8E70-D797EA4095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8" y="2314575"/>
            <a:ext cx="3641725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expectedseqnum=1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sndpkt =  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  make_pkt(expectedseqnum,ACK,chksum)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05490" name="Text Box 17">
            <a:extLst>
              <a:ext uri="{FF2B5EF4-FFF2-40B4-BE49-F238E27FC236}">
                <a16:creationId xmlns:a16="http://schemas.microsoft.com/office/drawing/2014/main" id="{8094ABD9-DC17-4A9E-A697-5483C1AA07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250" y="1990725"/>
            <a:ext cx="323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Symbol" panose="05050102010706020507" pitchFamily="18" charset="2"/>
              </a:rPr>
              <a:t>L</a:t>
            </a:r>
          </a:p>
        </p:txBody>
      </p:sp>
      <p:sp>
        <p:nvSpPr>
          <p:cNvPr id="50195" name="Rectangle 19">
            <a:extLst>
              <a:ext uri="{FF2B5EF4-FFF2-40B4-BE49-F238E27FC236}">
                <a16:creationId xmlns:a16="http://schemas.microsoft.com/office/drawing/2014/main" id="{749695B7-6709-4F0D-9241-9F2F2F9FDF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4500" y="207963"/>
            <a:ext cx="7772400" cy="700087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GBN: receiver extended FSM </a:t>
            </a:r>
            <a:r>
              <a:rPr lang="en-US" sz="1500" dirty="0">
                <a:ea typeface="ＭＳ Ｐゴシック" charset="0"/>
                <a:cs typeface="+mj-cs"/>
              </a:rPr>
              <a:t>(cont’d)</a:t>
            </a:r>
          </a:p>
        </p:txBody>
      </p:sp>
      <p:pic>
        <p:nvPicPr>
          <p:cNvPr id="105492" name="Picture 22" descr="underline_base">
            <a:extLst>
              <a:ext uri="{FF2B5EF4-FFF2-40B4-BE49-F238E27FC236}">
                <a16:creationId xmlns:a16="http://schemas.microsoft.com/office/drawing/2014/main" id="{3D971860-8667-4068-95F9-E162C022F69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50" y="806450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Footer Placeholder 3">
            <a:extLst>
              <a:ext uri="{FF2B5EF4-FFF2-40B4-BE49-F238E27FC236}">
                <a16:creationId xmlns:a16="http://schemas.microsoft.com/office/drawing/2014/main" id="{4797E2DC-30AF-4158-9539-620E8D147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07523" name="Slide Number Placeholder 4">
            <a:extLst>
              <a:ext uri="{FF2B5EF4-FFF2-40B4-BE49-F238E27FC236}">
                <a16:creationId xmlns:a16="http://schemas.microsoft.com/office/drawing/2014/main" id="{0662FE2F-97B9-41CA-AA39-CF7243250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4B574BC-B57C-4032-85B2-E562219AA6A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7524" name="Rectangle 2">
            <a:extLst>
              <a:ext uri="{FF2B5EF4-FFF2-40B4-BE49-F238E27FC236}">
                <a16:creationId xmlns:a16="http://schemas.microsoft.com/office/drawing/2014/main" id="{184E94C1-03A4-49F3-94F9-ED6539A1BF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6250" y="204788"/>
            <a:ext cx="7772400" cy="650875"/>
          </a:xfrm>
        </p:spPr>
        <p:txBody>
          <a:bodyPr/>
          <a:lstStyle/>
          <a:p>
            <a:r>
              <a:rPr lang="en-US" altLang="zh-TW" sz="4000"/>
              <a:t>GBN in action</a:t>
            </a:r>
            <a:endParaRPr lang="en-US" altLang="zh-TW"/>
          </a:p>
        </p:txBody>
      </p:sp>
      <p:sp>
        <p:nvSpPr>
          <p:cNvPr id="107525" name="Text Box 4">
            <a:extLst>
              <a:ext uri="{FF2B5EF4-FFF2-40B4-BE49-F238E27FC236}">
                <a16:creationId xmlns:a16="http://schemas.microsoft.com/office/drawing/2014/main" id="{BA6F4A38-DE24-477F-90D2-10F05E7CED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2075" y="1412875"/>
            <a:ext cx="1246188" cy="1465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 pkt0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 pkt1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 pkt2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 pkt3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(wait)</a:t>
            </a:r>
          </a:p>
        </p:txBody>
      </p:sp>
      <p:sp>
        <p:nvSpPr>
          <p:cNvPr id="107526" name="Text Box 5">
            <a:extLst>
              <a:ext uri="{FF2B5EF4-FFF2-40B4-BE49-F238E27FC236}">
                <a16:creationId xmlns:a16="http://schemas.microsoft.com/office/drawing/2014/main" id="{97D4D205-E88A-40FD-A7A7-0BC87A8CE8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2750" y="1041400"/>
            <a:ext cx="9366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u="sng">
                <a:solidFill>
                  <a:srgbClr val="000099"/>
                </a:solidFill>
                <a:latin typeface="Tahoma" panose="020B0604030504040204" pitchFamily="34" charset="0"/>
              </a:rPr>
              <a:t>sender</a:t>
            </a:r>
          </a:p>
        </p:txBody>
      </p:sp>
      <p:sp>
        <p:nvSpPr>
          <p:cNvPr id="107527" name="Text Box 6">
            <a:extLst>
              <a:ext uri="{FF2B5EF4-FFF2-40B4-BE49-F238E27FC236}">
                <a16:creationId xmlns:a16="http://schemas.microsoft.com/office/drawing/2014/main" id="{A2F5A291-17F6-4FCA-91AB-F6BBA1D95E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3288" y="1060450"/>
            <a:ext cx="10715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u="sng">
                <a:solidFill>
                  <a:srgbClr val="008000"/>
                </a:solidFill>
                <a:latin typeface="Tahoma" panose="020B0604030504040204" pitchFamily="34" charset="0"/>
              </a:rPr>
              <a:t>receiver</a:t>
            </a:r>
          </a:p>
        </p:txBody>
      </p:sp>
      <p:sp>
        <p:nvSpPr>
          <p:cNvPr id="107528" name="Line 14">
            <a:extLst>
              <a:ext uri="{FF2B5EF4-FFF2-40B4-BE49-F238E27FC236}">
                <a16:creationId xmlns:a16="http://schemas.microsoft.com/office/drawing/2014/main" id="{D93441FF-9B6C-4F0D-B470-646A8E5BD628}"/>
              </a:ext>
            </a:extLst>
          </p:cNvPr>
          <p:cNvSpPr>
            <a:spLocks noChangeShapeType="1"/>
          </p:cNvSpPr>
          <p:nvPr/>
        </p:nvSpPr>
        <p:spPr bwMode="auto">
          <a:xfrm>
            <a:off x="6057900" y="1658938"/>
            <a:ext cx="11113" cy="4538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29" name="Text Box 15">
            <a:extLst>
              <a:ext uri="{FF2B5EF4-FFF2-40B4-BE49-F238E27FC236}">
                <a16:creationId xmlns:a16="http://schemas.microsoft.com/office/drawing/2014/main" id="{FED7B0FC-8BB0-40A0-8549-5AA2A64989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00750" y="1854200"/>
            <a:ext cx="2568575" cy="1465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receive pkt0, send ack0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receive pkt1, send ack1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receive pkt3, discard,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           (re)send ack1</a:t>
            </a:r>
          </a:p>
        </p:txBody>
      </p:sp>
      <p:sp>
        <p:nvSpPr>
          <p:cNvPr id="107530" name="Text Box 22">
            <a:extLst>
              <a:ext uri="{FF2B5EF4-FFF2-40B4-BE49-F238E27FC236}">
                <a16:creationId xmlns:a16="http://schemas.microsoft.com/office/drawing/2014/main" id="{94D9DEC8-D81D-4A0E-B140-225B00FA66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6413" y="3016250"/>
            <a:ext cx="21542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ack0, send pkt4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ack1, send pkt5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Tahoma" panose="020B0604030504040204" pitchFamily="34" charset="0"/>
            </a:endParaRPr>
          </a:p>
        </p:txBody>
      </p:sp>
      <p:pic>
        <p:nvPicPr>
          <p:cNvPr id="103435" name="Picture 34" descr="alarm_clock_ringing">
            <a:extLst>
              <a:ext uri="{FF2B5EF4-FFF2-40B4-BE49-F238E27FC236}">
                <a16:creationId xmlns:a16="http://schemas.microsoft.com/office/drawing/2014/main" id="{435B8BBE-414C-4101-8349-E4012A3DF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3100" y="4164013"/>
            <a:ext cx="436563" cy="481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436" name="Text Box 35">
            <a:extLst>
              <a:ext uri="{FF2B5EF4-FFF2-40B4-BE49-F238E27FC236}">
                <a16:creationId xmlns:a16="http://schemas.microsoft.com/office/drawing/2014/main" id="{4E52F6C2-3E02-41F9-8222-3EEE55EF0C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1400" y="4379913"/>
            <a:ext cx="1538288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7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solidFill>
                  <a:srgbClr val="FF0000"/>
                </a:solidFill>
                <a:latin typeface="Tahoma" panose="020B0604030504040204" pitchFamily="34" charset="0"/>
              </a:rPr>
              <a:t>pkt 2 timeout</a:t>
            </a:r>
          </a:p>
        </p:txBody>
      </p:sp>
      <p:sp>
        <p:nvSpPr>
          <p:cNvPr id="103437" name="Text Box 36">
            <a:extLst>
              <a:ext uri="{FF2B5EF4-FFF2-40B4-BE49-F238E27FC236}">
                <a16:creationId xmlns:a16="http://schemas.microsoft.com/office/drawing/2014/main" id="{3A43742B-7B77-4F27-8306-47D20F11F0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6838" y="4594225"/>
            <a:ext cx="1246187" cy="108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 pkt2</a:t>
            </a:r>
          </a:p>
          <a:p>
            <a:pPr algn="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 pkt3</a:t>
            </a:r>
          </a:p>
          <a:p>
            <a:pPr algn="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 pkt4</a:t>
            </a:r>
          </a:p>
          <a:p>
            <a:pPr algn="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send  pkt5</a:t>
            </a:r>
          </a:p>
        </p:txBody>
      </p:sp>
      <p:sp>
        <p:nvSpPr>
          <p:cNvPr id="107534" name="Line 7">
            <a:extLst>
              <a:ext uri="{FF2B5EF4-FFF2-40B4-BE49-F238E27FC236}">
                <a16:creationId xmlns:a16="http://schemas.microsoft.com/office/drawing/2014/main" id="{B8695A55-9095-4EE6-9647-3158CC8676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922713" y="1606550"/>
            <a:ext cx="2101850" cy="468313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35" name="Line 11">
            <a:extLst>
              <a:ext uri="{FF2B5EF4-FFF2-40B4-BE49-F238E27FC236}">
                <a16:creationId xmlns:a16="http://schemas.microsoft.com/office/drawing/2014/main" id="{D3662FAE-D7FD-44E3-8664-BD2E338D5D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921125" y="1881188"/>
            <a:ext cx="2100263" cy="468312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36" name="Line 12">
            <a:extLst>
              <a:ext uri="{FF2B5EF4-FFF2-40B4-BE49-F238E27FC236}">
                <a16:creationId xmlns:a16="http://schemas.microsoft.com/office/drawing/2014/main" id="{AD3FDDEB-4148-4497-8958-271D38CE6F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37000" y="2144713"/>
            <a:ext cx="876300" cy="200025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37" name="Line 13">
            <a:extLst>
              <a:ext uri="{FF2B5EF4-FFF2-40B4-BE49-F238E27FC236}">
                <a16:creationId xmlns:a16="http://schemas.microsoft.com/office/drawing/2014/main" id="{46787478-850C-40E1-B09D-423246B326CD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3350" y="2430463"/>
            <a:ext cx="2100263" cy="468312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38" name="Line 17">
            <a:extLst>
              <a:ext uri="{FF2B5EF4-FFF2-40B4-BE49-F238E27FC236}">
                <a16:creationId xmlns:a16="http://schemas.microsoft.com/office/drawing/2014/main" id="{6FF0D6FE-38AA-4E29-89DE-D2AA2E4151E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29063" y="2130425"/>
            <a:ext cx="2014537" cy="1066800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39" name="Text Box 19">
            <a:extLst>
              <a:ext uri="{FF2B5EF4-FFF2-40B4-BE49-F238E27FC236}">
                <a16:creationId xmlns:a16="http://schemas.microsoft.com/office/drawing/2014/main" id="{8813C990-E149-4298-87A5-6B512427AE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9000" y="2179638"/>
            <a:ext cx="341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solidFill>
                  <a:srgbClr val="FF0000"/>
                </a:solidFill>
                <a:latin typeface="Tahoma" panose="020B0604030504040204" pitchFamily="34" charset="0"/>
              </a:rPr>
              <a:t>X</a:t>
            </a:r>
          </a:p>
        </p:txBody>
      </p:sp>
      <p:sp>
        <p:nvSpPr>
          <p:cNvPr id="107540" name="Text Box 20">
            <a:extLst>
              <a:ext uri="{FF2B5EF4-FFF2-40B4-BE49-F238E27FC236}">
                <a16:creationId xmlns:a16="http://schemas.microsoft.com/office/drawing/2014/main" id="{67C759A1-54CE-4110-964F-296C611305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7750" y="2200275"/>
            <a:ext cx="522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FF0000"/>
                </a:solidFill>
                <a:latin typeface="Tahoma" panose="020B0604030504040204" pitchFamily="34" charset="0"/>
              </a:rPr>
              <a:t>loss</a:t>
            </a:r>
          </a:p>
        </p:txBody>
      </p:sp>
      <p:sp>
        <p:nvSpPr>
          <p:cNvPr id="107541" name="Line 21">
            <a:extLst>
              <a:ext uri="{FF2B5EF4-FFF2-40B4-BE49-F238E27FC236}">
                <a16:creationId xmlns:a16="http://schemas.microsoft.com/office/drawing/2014/main" id="{8B05B42C-251B-4021-8296-62BED3877A5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25888" y="2416175"/>
            <a:ext cx="2014537" cy="1100138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42" name="Line 24">
            <a:extLst>
              <a:ext uri="{FF2B5EF4-FFF2-40B4-BE49-F238E27FC236}">
                <a16:creationId xmlns:a16="http://schemas.microsoft.com/office/drawing/2014/main" id="{EE7FA208-BCF6-4076-9D12-9115EFE5E93E}"/>
              </a:ext>
            </a:extLst>
          </p:cNvPr>
          <p:cNvSpPr>
            <a:spLocks noChangeShapeType="1"/>
          </p:cNvSpPr>
          <p:nvPr/>
        </p:nvSpPr>
        <p:spPr bwMode="auto">
          <a:xfrm>
            <a:off x="3929063" y="3252788"/>
            <a:ext cx="2100262" cy="468312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43" name="Line 25">
            <a:extLst>
              <a:ext uri="{FF2B5EF4-FFF2-40B4-BE49-F238E27FC236}">
                <a16:creationId xmlns:a16="http://schemas.microsoft.com/office/drawing/2014/main" id="{ABBAB9BD-48FA-4F34-BB14-84CD6E6115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0813" y="3571875"/>
            <a:ext cx="2101850" cy="468313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44" name="Line 26">
            <a:extLst>
              <a:ext uri="{FF2B5EF4-FFF2-40B4-BE49-F238E27FC236}">
                <a16:creationId xmlns:a16="http://schemas.microsoft.com/office/drawing/2014/main" id="{9EDECB4A-6C21-47E1-85BD-B4F04007E17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57638" y="2946400"/>
            <a:ext cx="2014537" cy="1100138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103449" name="Group 29">
            <a:extLst>
              <a:ext uri="{FF2B5EF4-FFF2-40B4-BE49-F238E27FC236}">
                <a16:creationId xmlns:a16="http://schemas.microsoft.com/office/drawing/2014/main" id="{8F0D04F5-A347-4D9C-A170-3D30141ECA37}"/>
              </a:ext>
            </a:extLst>
          </p:cNvPr>
          <p:cNvGrpSpPr>
            <a:grpSpLocks/>
          </p:cNvGrpSpPr>
          <p:nvPr/>
        </p:nvGrpSpPr>
        <p:grpSpPr bwMode="auto">
          <a:xfrm>
            <a:off x="3817938" y="2135188"/>
            <a:ext cx="103187" cy="2462212"/>
            <a:chOff x="3651" y="1878"/>
            <a:chExt cx="78" cy="963"/>
          </a:xfrm>
        </p:grpSpPr>
        <p:sp>
          <p:nvSpPr>
            <p:cNvPr id="107591" name="Line 30">
              <a:extLst>
                <a:ext uri="{FF2B5EF4-FFF2-40B4-BE49-F238E27FC236}">
                  <a16:creationId xmlns:a16="http://schemas.microsoft.com/office/drawing/2014/main" id="{F61CEC76-3F4A-4D77-BDA1-8BF8B483F1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9" y="1879"/>
              <a:ext cx="0" cy="9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7592" name="Line 31">
              <a:extLst>
                <a:ext uri="{FF2B5EF4-FFF2-40B4-BE49-F238E27FC236}">
                  <a16:creationId xmlns:a16="http://schemas.microsoft.com/office/drawing/2014/main" id="{450B4735-F94E-4FB9-8BE2-0A1CB30F257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651" y="1878"/>
              <a:ext cx="7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7593" name="Line 32">
              <a:extLst>
                <a:ext uri="{FF2B5EF4-FFF2-40B4-BE49-F238E27FC236}">
                  <a16:creationId xmlns:a16="http://schemas.microsoft.com/office/drawing/2014/main" id="{8DA479AC-6755-4FDB-A8D0-10C706EE800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651" y="2841"/>
              <a:ext cx="7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03450" name="Line 37">
            <a:extLst>
              <a:ext uri="{FF2B5EF4-FFF2-40B4-BE49-F238E27FC236}">
                <a16:creationId xmlns:a16="http://schemas.microsoft.com/office/drawing/2014/main" id="{A66FE7E3-83A3-4071-BF9B-73F3D7045369}"/>
              </a:ext>
            </a:extLst>
          </p:cNvPr>
          <p:cNvSpPr>
            <a:spLocks noChangeShapeType="1"/>
          </p:cNvSpPr>
          <p:nvPr/>
        </p:nvSpPr>
        <p:spPr bwMode="auto">
          <a:xfrm>
            <a:off x="3937000" y="4765675"/>
            <a:ext cx="2100263" cy="468313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3451" name="Line 38">
            <a:extLst>
              <a:ext uri="{FF2B5EF4-FFF2-40B4-BE49-F238E27FC236}">
                <a16:creationId xmlns:a16="http://schemas.microsoft.com/office/drawing/2014/main" id="{A5EFCA32-8187-419A-A499-46A099D1BA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929063" y="5010150"/>
            <a:ext cx="2101850" cy="468313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3452" name="Line 39">
            <a:extLst>
              <a:ext uri="{FF2B5EF4-FFF2-40B4-BE49-F238E27FC236}">
                <a16:creationId xmlns:a16="http://schemas.microsoft.com/office/drawing/2014/main" id="{EAF9EE1B-FF82-4CE5-BC96-BB4DC03E8A29}"/>
              </a:ext>
            </a:extLst>
          </p:cNvPr>
          <p:cNvSpPr>
            <a:spLocks noChangeShapeType="1"/>
          </p:cNvSpPr>
          <p:nvPr/>
        </p:nvSpPr>
        <p:spPr bwMode="auto">
          <a:xfrm>
            <a:off x="3922713" y="5243513"/>
            <a:ext cx="2101850" cy="468312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3453" name="Line 40">
            <a:extLst>
              <a:ext uri="{FF2B5EF4-FFF2-40B4-BE49-F238E27FC236}">
                <a16:creationId xmlns:a16="http://schemas.microsoft.com/office/drawing/2014/main" id="{06E54A33-4213-4B9E-896B-046E5227318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25888" y="5476875"/>
            <a:ext cx="2100262" cy="468313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50" name="Text Box 41">
            <a:extLst>
              <a:ext uri="{FF2B5EF4-FFF2-40B4-BE49-F238E27FC236}">
                <a16:creationId xmlns:a16="http://schemas.microsoft.com/office/drawing/2014/main" id="{30C2671B-9963-4F7C-9FA7-975494CB3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3378200"/>
            <a:ext cx="24130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receive pkt4, discard,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           (re)send ack1</a:t>
            </a:r>
          </a:p>
        </p:txBody>
      </p:sp>
      <p:sp>
        <p:nvSpPr>
          <p:cNvPr id="107551" name="Text Box 42">
            <a:extLst>
              <a:ext uri="{FF2B5EF4-FFF2-40B4-BE49-F238E27FC236}">
                <a16:creationId xmlns:a16="http://schemas.microsoft.com/office/drawing/2014/main" id="{A1EBF5A5-3495-443F-8933-B118C17C82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6625" y="3898900"/>
            <a:ext cx="24130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receive pkt5, discard,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           (re)send ack1</a:t>
            </a:r>
          </a:p>
        </p:txBody>
      </p:sp>
      <p:sp>
        <p:nvSpPr>
          <p:cNvPr id="103456" name="Text Box 43">
            <a:extLst>
              <a:ext uri="{FF2B5EF4-FFF2-40B4-BE49-F238E27FC236}">
                <a16:creationId xmlns:a16="http://schemas.microsoft.com/office/drawing/2014/main" id="{2253230B-52B3-4F26-8255-B316C2E87C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7738" y="5053013"/>
            <a:ext cx="2965450" cy="108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pkt2, deliver, send ack2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pkt3, deliver, send ack3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pkt4, deliver, send ack4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rcv pkt5, deliver, send ack5</a:t>
            </a:r>
          </a:p>
        </p:txBody>
      </p:sp>
      <p:sp>
        <p:nvSpPr>
          <p:cNvPr id="107553" name="Text Box 44">
            <a:extLst>
              <a:ext uri="{FF2B5EF4-FFF2-40B4-BE49-F238E27FC236}">
                <a16:creationId xmlns:a16="http://schemas.microsoft.com/office/drawing/2014/main" id="{E38F7493-2D78-4131-8AD3-A1815E3D57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9625" y="3881438"/>
            <a:ext cx="18113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ignore duplicate ACK</a:t>
            </a:r>
          </a:p>
        </p:txBody>
      </p:sp>
      <p:grpSp>
        <p:nvGrpSpPr>
          <p:cNvPr id="107554" name="Group 65">
            <a:extLst>
              <a:ext uri="{FF2B5EF4-FFF2-40B4-BE49-F238E27FC236}">
                <a16:creationId xmlns:a16="http://schemas.microsoft.com/office/drawing/2014/main" id="{DCFCE57F-F57C-4299-B959-78F4435DE7E1}"/>
              </a:ext>
            </a:extLst>
          </p:cNvPr>
          <p:cNvGrpSpPr>
            <a:grpSpLocks/>
          </p:cNvGrpSpPr>
          <p:nvPr/>
        </p:nvGrpSpPr>
        <p:grpSpPr bwMode="auto">
          <a:xfrm>
            <a:off x="182563" y="1450975"/>
            <a:ext cx="1512887" cy="304800"/>
            <a:chOff x="115" y="914"/>
            <a:chExt cx="953" cy="192"/>
          </a:xfrm>
        </p:grpSpPr>
        <p:sp>
          <p:nvSpPr>
            <p:cNvPr id="107589" name="Rectangle 60">
              <a:extLst>
                <a:ext uri="{FF2B5EF4-FFF2-40B4-BE49-F238E27FC236}">
                  <a16:creationId xmlns:a16="http://schemas.microsoft.com/office/drawing/2014/main" id="{47F5A275-38BC-441D-A7DB-D1FF907AD9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" y="936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90" name="Text Box 46">
              <a:extLst>
                <a:ext uri="{FF2B5EF4-FFF2-40B4-BE49-F238E27FC236}">
                  <a16:creationId xmlns:a16="http://schemas.microsoft.com/office/drawing/2014/main" id="{0E80635C-6F0E-4276-8035-DD149433E2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" y="914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0 1 2 3 </a:t>
              </a:r>
              <a:r>
                <a:rPr lang="en-US" altLang="zh-TW" sz="1400">
                  <a:latin typeface="Arial" panose="020B0604020202020204" pitchFamily="34" charset="0"/>
                </a:rPr>
                <a:t>4 5 6 7 8 </a:t>
              </a:r>
            </a:p>
          </p:txBody>
        </p:sp>
      </p:grpSp>
      <p:sp>
        <p:nvSpPr>
          <p:cNvPr id="107555" name="Text Box 59">
            <a:extLst>
              <a:ext uri="{FF2B5EF4-FFF2-40B4-BE49-F238E27FC236}">
                <a16:creationId xmlns:a16="http://schemas.microsoft.com/office/drawing/2014/main" id="{8DCEBFB5-36BC-44B0-A0AD-4139664058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700" y="1104900"/>
            <a:ext cx="2146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 u="sng">
                <a:solidFill>
                  <a:srgbClr val="000099"/>
                </a:solidFill>
                <a:latin typeface="Tahoma" panose="020B0604030504040204" pitchFamily="34" charset="0"/>
              </a:rPr>
              <a:t>sender window (N=4)</a:t>
            </a:r>
          </a:p>
        </p:txBody>
      </p:sp>
      <p:grpSp>
        <p:nvGrpSpPr>
          <p:cNvPr id="107556" name="Group 67">
            <a:extLst>
              <a:ext uri="{FF2B5EF4-FFF2-40B4-BE49-F238E27FC236}">
                <a16:creationId xmlns:a16="http://schemas.microsoft.com/office/drawing/2014/main" id="{1709E843-1262-42EB-AC0E-4286CA17153A}"/>
              </a:ext>
            </a:extLst>
          </p:cNvPr>
          <p:cNvGrpSpPr>
            <a:grpSpLocks/>
          </p:cNvGrpSpPr>
          <p:nvPr/>
        </p:nvGrpSpPr>
        <p:grpSpPr bwMode="auto">
          <a:xfrm>
            <a:off x="179388" y="1736725"/>
            <a:ext cx="1512887" cy="304800"/>
            <a:chOff x="115" y="914"/>
            <a:chExt cx="953" cy="192"/>
          </a:xfrm>
        </p:grpSpPr>
        <p:sp>
          <p:nvSpPr>
            <p:cNvPr id="107587" name="Rectangle 68">
              <a:extLst>
                <a:ext uri="{FF2B5EF4-FFF2-40B4-BE49-F238E27FC236}">
                  <a16:creationId xmlns:a16="http://schemas.microsoft.com/office/drawing/2014/main" id="{2CECA78F-511B-4627-BA4C-0B9213D3CB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" y="936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88" name="Text Box 69">
              <a:extLst>
                <a:ext uri="{FF2B5EF4-FFF2-40B4-BE49-F238E27FC236}">
                  <a16:creationId xmlns:a16="http://schemas.microsoft.com/office/drawing/2014/main" id="{E22A4D41-A8B8-4D6B-9013-31FA2DFA53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" y="914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0 1 2 3 </a:t>
              </a:r>
              <a:r>
                <a:rPr lang="en-US" altLang="zh-TW" sz="1400">
                  <a:latin typeface="Arial" panose="020B0604020202020204" pitchFamily="34" charset="0"/>
                </a:rPr>
                <a:t>4 5 6 7 8 </a:t>
              </a:r>
            </a:p>
          </p:txBody>
        </p:sp>
      </p:grpSp>
      <p:grpSp>
        <p:nvGrpSpPr>
          <p:cNvPr id="107557" name="Group 70">
            <a:extLst>
              <a:ext uri="{FF2B5EF4-FFF2-40B4-BE49-F238E27FC236}">
                <a16:creationId xmlns:a16="http://schemas.microsoft.com/office/drawing/2014/main" id="{4ADD63D5-01DC-4401-97AA-8A1EB7855DDD}"/>
              </a:ext>
            </a:extLst>
          </p:cNvPr>
          <p:cNvGrpSpPr>
            <a:grpSpLocks/>
          </p:cNvGrpSpPr>
          <p:nvPr/>
        </p:nvGrpSpPr>
        <p:grpSpPr bwMode="auto">
          <a:xfrm>
            <a:off x="187325" y="2022475"/>
            <a:ext cx="1512888" cy="304800"/>
            <a:chOff x="115" y="914"/>
            <a:chExt cx="953" cy="192"/>
          </a:xfrm>
        </p:grpSpPr>
        <p:sp>
          <p:nvSpPr>
            <p:cNvPr id="107585" name="Rectangle 71">
              <a:extLst>
                <a:ext uri="{FF2B5EF4-FFF2-40B4-BE49-F238E27FC236}">
                  <a16:creationId xmlns:a16="http://schemas.microsoft.com/office/drawing/2014/main" id="{2C564F81-8F46-4D50-B66E-3ADD79DE80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" y="936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86" name="Text Box 72">
              <a:extLst>
                <a:ext uri="{FF2B5EF4-FFF2-40B4-BE49-F238E27FC236}">
                  <a16:creationId xmlns:a16="http://schemas.microsoft.com/office/drawing/2014/main" id="{DC240F73-5104-4E83-82CB-2A111CE43F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" y="914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0 1 2 3 </a:t>
              </a:r>
              <a:r>
                <a:rPr lang="en-US" altLang="zh-TW" sz="1400">
                  <a:latin typeface="Arial" panose="020B0604020202020204" pitchFamily="34" charset="0"/>
                </a:rPr>
                <a:t>4 5 6 7 8 </a:t>
              </a:r>
            </a:p>
          </p:txBody>
        </p:sp>
      </p:grpSp>
      <p:grpSp>
        <p:nvGrpSpPr>
          <p:cNvPr id="107558" name="Group 73">
            <a:extLst>
              <a:ext uri="{FF2B5EF4-FFF2-40B4-BE49-F238E27FC236}">
                <a16:creationId xmlns:a16="http://schemas.microsoft.com/office/drawing/2014/main" id="{743B4FF8-BD8D-4119-BE93-D3C59863DABF}"/>
              </a:ext>
            </a:extLst>
          </p:cNvPr>
          <p:cNvGrpSpPr>
            <a:grpSpLocks/>
          </p:cNvGrpSpPr>
          <p:nvPr/>
        </p:nvGrpSpPr>
        <p:grpSpPr bwMode="auto">
          <a:xfrm>
            <a:off x="184150" y="2297113"/>
            <a:ext cx="1512888" cy="304800"/>
            <a:chOff x="115" y="914"/>
            <a:chExt cx="953" cy="192"/>
          </a:xfrm>
        </p:grpSpPr>
        <p:sp>
          <p:nvSpPr>
            <p:cNvPr id="107583" name="Rectangle 74">
              <a:extLst>
                <a:ext uri="{FF2B5EF4-FFF2-40B4-BE49-F238E27FC236}">
                  <a16:creationId xmlns:a16="http://schemas.microsoft.com/office/drawing/2014/main" id="{6D04FDC4-76B8-42C7-9607-F12FAB2C1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" y="936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84" name="Text Box 75">
              <a:extLst>
                <a:ext uri="{FF2B5EF4-FFF2-40B4-BE49-F238E27FC236}">
                  <a16:creationId xmlns:a16="http://schemas.microsoft.com/office/drawing/2014/main" id="{00F93AAC-9FDD-4FD2-BFD9-98E4DB8EB3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" y="914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0 1 2 3 </a:t>
              </a:r>
              <a:r>
                <a:rPr lang="en-US" altLang="zh-TW" sz="1400">
                  <a:latin typeface="Arial" panose="020B0604020202020204" pitchFamily="34" charset="0"/>
                </a:rPr>
                <a:t>4 5 6 7 8 </a:t>
              </a:r>
            </a:p>
          </p:txBody>
        </p:sp>
      </p:grpSp>
      <p:sp>
        <p:nvSpPr>
          <p:cNvPr id="107559" name="Rectangle 79">
            <a:extLst>
              <a:ext uri="{FF2B5EF4-FFF2-40B4-BE49-F238E27FC236}">
                <a16:creationId xmlns:a16="http://schemas.microsoft.com/office/drawing/2014/main" id="{AB5BDAF2-DCCE-460C-AD0D-DD6E928C98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8" y="3101975"/>
            <a:ext cx="628650" cy="2286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07560" name="Text Box 80">
            <a:extLst>
              <a:ext uri="{FF2B5EF4-FFF2-40B4-BE49-F238E27FC236}">
                <a16:creationId xmlns:a16="http://schemas.microsoft.com/office/drawing/2014/main" id="{74BE27D5-1B61-4FCD-A0C9-14C5F4CBFA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975" y="3067050"/>
            <a:ext cx="151288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0 </a:t>
            </a:r>
            <a:r>
              <a:rPr lang="en-US" altLang="zh-TW" sz="1400">
                <a:solidFill>
                  <a:schemeClr val="bg1"/>
                </a:solidFill>
                <a:latin typeface="Arial" panose="020B0604020202020204" pitchFamily="34" charset="0"/>
              </a:rPr>
              <a:t>1 2 3 4</a:t>
            </a:r>
            <a:r>
              <a:rPr lang="en-US" altLang="zh-TW" sz="1400">
                <a:latin typeface="Arial" panose="020B0604020202020204" pitchFamily="34" charset="0"/>
              </a:rPr>
              <a:t> 5 6 7 8 </a:t>
            </a:r>
          </a:p>
        </p:txBody>
      </p:sp>
      <p:grpSp>
        <p:nvGrpSpPr>
          <p:cNvPr id="107561" name="Group 84">
            <a:extLst>
              <a:ext uri="{FF2B5EF4-FFF2-40B4-BE49-F238E27FC236}">
                <a16:creationId xmlns:a16="http://schemas.microsoft.com/office/drawing/2014/main" id="{20FB7D4C-22C3-46D3-9CCA-BCA885A2BBFA}"/>
              </a:ext>
            </a:extLst>
          </p:cNvPr>
          <p:cNvGrpSpPr>
            <a:grpSpLocks/>
          </p:cNvGrpSpPr>
          <p:nvPr/>
        </p:nvGrpSpPr>
        <p:grpSpPr bwMode="auto">
          <a:xfrm>
            <a:off x="177800" y="3341688"/>
            <a:ext cx="1512888" cy="304800"/>
            <a:chOff x="112" y="2105"/>
            <a:chExt cx="953" cy="192"/>
          </a:xfrm>
        </p:grpSpPr>
        <p:sp>
          <p:nvSpPr>
            <p:cNvPr id="107581" name="Rectangle 82">
              <a:extLst>
                <a:ext uri="{FF2B5EF4-FFF2-40B4-BE49-F238E27FC236}">
                  <a16:creationId xmlns:a16="http://schemas.microsoft.com/office/drawing/2014/main" id="{4412C188-7436-4849-907E-EFB4619F87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" y="2127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82" name="Text Box 83">
              <a:extLst>
                <a:ext uri="{FF2B5EF4-FFF2-40B4-BE49-F238E27FC236}">
                  <a16:creationId xmlns:a16="http://schemas.microsoft.com/office/drawing/2014/main" id="{04389453-C04E-4034-86DE-6121AAA520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2" y="2105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0 1</a:t>
              </a: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 2 3 4 5</a:t>
              </a:r>
              <a:r>
                <a:rPr lang="en-US" altLang="zh-TW" sz="1400">
                  <a:latin typeface="Arial" panose="020B0604020202020204" pitchFamily="34" charset="0"/>
                </a:rPr>
                <a:t> 6 7 8 </a:t>
              </a:r>
            </a:p>
          </p:txBody>
        </p:sp>
      </p:grpSp>
      <p:grpSp>
        <p:nvGrpSpPr>
          <p:cNvPr id="103466" name="Group 85">
            <a:extLst>
              <a:ext uri="{FF2B5EF4-FFF2-40B4-BE49-F238E27FC236}">
                <a16:creationId xmlns:a16="http://schemas.microsoft.com/office/drawing/2014/main" id="{25D47F6C-AF8B-41A7-A260-BF891BC3FAEC}"/>
              </a:ext>
            </a:extLst>
          </p:cNvPr>
          <p:cNvGrpSpPr>
            <a:grpSpLocks/>
          </p:cNvGrpSpPr>
          <p:nvPr/>
        </p:nvGrpSpPr>
        <p:grpSpPr bwMode="auto">
          <a:xfrm>
            <a:off x="166688" y="4635500"/>
            <a:ext cx="1512887" cy="304800"/>
            <a:chOff x="112" y="2105"/>
            <a:chExt cx="953" cy="192"/>
          </a:xfrm>
        </p:grpSpPr>
        <p:sp>
          <p:nvSpPr>
            <p:cNvPr id="107579" name="Rectangle 86">
              <a:extLst>
                <a:ext uri="{FF2B5EF4-FFF2-40B4-BE49-F238E27FC236}">
                  <a16:creationId xmlns:a16="http://schemas.microsoft.com/office/drawing/2014/main" id="{E8DF2B95-E033-4932-9A1B-C78C8B5A05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" y="2127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80" name="Text Box 87">
              <a:extLst>
                <a:ext uri="{FF2B5EF4-FFF2-40B4-BE49-F238E27FC236}">
                  <a16:creationId xmlns:a16="http://schemas.microsoft.com/office/drawing/2014/main" id="{16906455-4599-40D5-B1ED-E167D4AD60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2" y="2105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0 1</a:t>
              </a: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 2 3 4 5</a:t>
              </a:r>
              <a:r>
                <a:rPr lang="en-US" altLang="zh-TW" sz="1400">
                  <a:latin typeface="Arial" panose="020B0604020202020204" pitchFamily="34" charset="0"/>
                </a:rPr>
                <a:t> 6 7 8 </a:t>
              </a:r>
            </a:p>
          </p:txBody>
        </p:sp>
      </p:grpSp>
      <p:grpSp>
        <p:nvGrpSpPr>
          <p:cNvPr id="103467" name="Group 88">
            <a:extLst>
              <a:ext uri="{FF2B5EF4-FFF2-40B4-BE49-F238E27FC236}">
                <a16:creationId xmlns:a16="http://schemas.microsoft.com/office/drawing/2014/main" id="{C8A49650-E469-454D-99EC-D314C61B9D1A}"/>
              </a:ext>
            </a:extLst>
          </p:cNvPr>
          <p:cNvGrpSpPr>
            <a:grpSpLocks/>
          </p:cNvGrpSpPr>
          <p:nvPr/>
        </p:nvGrpSpPr>
        <p:grpSpPr bwMode="auto">
          <a:xfrm>
            <a:off x="174625" y="4876800"/>
            <a:ext cx="1512888" cy="304800"/>
            <a:chOff x="112" y="2105"/>
            <a:chExt cx="953" cy="192"/>
          </a:xfrm>
        </p:grpSpPr>
        <p:sp>
          <p:nvSpPr>
            <p:cNvPr id="107577" name="Rectangle 89">
              <a:extLst>
                <a:ext uri="{FF2B5EF4-FFF2-40B4-BE49-F238E27FC236}">
                  <a16:creationId xmlns:a16="http://schemas.microsoft.com/office/drawing/2014/main" id="{CC122A64-0F2D-4798-B521-6940A03DED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" y="2127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78" name="Text Box 90">
              <a:extLst>
                <a:ext uri="{FF2B5EF4-FFF2-40B4-BE49-F238E27FC236}">
                  <a16:creationId xmlns:a16="http://schemas.microsoft.com/office/drawing/2014/main" id="{64B5AB59-1682-4F23-A271-4E225DE366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2" y="2105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0 1</a:t>
              </a: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 2 3 4 5</a:t>
              </a:r>
              <a:r>
                <a:rPr lang="en-US" altLang="zh-TW" sz="1400">
                  <a:latin typeface="Arial" panose="020B0604020202020204" pitchFamily="34" charset="0"/>
                </a:rPr>
                <a:t> 6 7 8 </a:t>
              </a:r>
            </a:p>
          </p:txBody>
        </p:sp>
      </p:grpSp>
      <p:grpSp>
        <p:nvGrpSpPr>
          <p:cNvPr id="103468" name="Group 91">
            <a:extLst>
              <a:ext uri="{FF2B5EF4-FFF2-40B4-BE49-F238E27FC236}">
                <a16:creationId xmlns:a16="http://schemas.microsoft.com/office/drawing/2014/main" id="{FF9A6355-7C4D-4476-8B64-A5F37F12885B}"/>
              </a:ext>
            </a:extLst>
          </p:cNvPr>
          <p:cNvGrpSpPr>
            <a:grpSpLocks/>
          </p:cNvGrpSpPr>
          <p:nvPr/>
        </p:nvGrpSpPr>
        <p:grpSpPr bwMode="auto">
          <a:xfrm>
            <a:off x="171450" y="5140325"/>
            <a:ext cx="1512888" cy="304800"/>
            <a:chOff x="112" y="2105"/>
            <a:chExt cx="953" cy="192"/>
          </a:xfrm>
        </p:grpSpPr>
        <p:sp>
          <p:nvSpPr>
            <p:cNvPr id="107575" name="Rectangle 92">
              <a:extLst>
                <a:ext uri="{FF2B5EF4-FFF2-40B4-BE49-F238E27FC236}">
                  <a16:creationId xmlns:a16="http://schemas.microsoft.com/office/drawing/2014/main" id="{D6AD55CD-5CC9-4244-8B39-CDE000E7B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" y="2127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76" name="Text Box 93">
              <a:extLst>
                <a:ext uri="{FF2B5EF4-FFF2-40B4-BE49-F238E27FC236}">
                  <a16:creationId xmlns:a16="http://schemas.microsoft.com/office/drawing/2014/main" id="{84537A19-051F-46BE-A032-25D65E0ECD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2" y="2105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0 1</a:t>
              </a: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 2 3 4 5</a:t>
              </a:r>
              <a:r>
                <a:rPr lang="en-US" altLang="zh-TW" sz="1400">
                  <a:latin typeface="Arial" panose="020B0604020202020204" pitchFamily="34" charset="0"/>
                </a:rPr>
                <a:t> 6 7 8 </a:t>
              </a:r>
            </a:p>
          </p:txBody>
        </p:sp>
      </p:grpSp>
      <p:grpSp>
        <p:nvGrpSpPr>
          <p:cNvPr id="103469" name="Group 94">
            <a:extLst>
              <a:ext uri="{FF2B5EF4-FFF2-40B4-BE49-F238E27FC236}">
                <a16:creationId xmlns:a16="http://schemas.microsoft.com/office/drawing/2014/main" id="{C48879C1-5A6D-4DC6-9ADC-64BD94ADDB5E}"/>
              </a:ext>
            </a:extLst>
          </p:cNvPr>
          <p:cNvGrpSpPr>
            <a:grpSpLocks/>
          </p:cNvGrpSpPr>
          <p:nvPr/>
        </p:nvGrpSpPr>
        <p:grpSpPr bwMode="auto">
          <a:xfrm>
            <a:off x="168275" y="5381625"/>
            <a:ext cx="1512888" cy="304800"/>
            <a:chOff x="112" y="2105"/>
            <a:chExt cx="953" cy="192"/>
          </a:xfrm>
        </p:grpSpPr>
        <p:sp>
          <p:nvSpPr>
            <p:cNvPr id="107573" name="Rectangle 95">
              <a:extLst>
                <a:ext uri="{FF2B5EF4-FFF2-40B4-BE49-F238E27FC236}">
                  <a16:creationId xmlns:a16="http://schemas.microsoft.com/office/drawing/2014/main" id="{27C0C3AC-B3C4-4983-A656-A4688DAD1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" y="2127"/>
              <a:ext cx="396" cy="14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07574" name="Text Box 96">
              <a:extLst>
                <a:ext uri="{FF2B5EF4-FFF2-40B4-BE49-F238E27FC236}">
                  <a16:creationId xmlns:a16="http://schemas.microsoft.com/office/drawing/2014/main" id="{5CA352A1-DB4C-4B83-97B3-17FB05A73C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2" y="2105"/>
              <a:ext cx="9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0 1</a:t>
              </a:r>
              <a:r>
                <a:rPr lang="en-US" altLang="zh-TW" sz="1400">
                  <a:solidFill>
                    <a:schemeClr val="bg1"/>
                  </a:solidFill>
                  <a:latin typeface="Arial" panose="020B0604020202020204" pitchFamily="34" charset="0"/>
                </a:rPr>
                <a:t> 2 3 4 5</a:t>
              </a:r>
              <a:r>
                <a:rPr lang="en-US" altLang="zh-TW" sz="1400">
                  <a:latin typeface="Arial" panose="020B0604020202020204" pitchFamily="34" charset="0"/>
                </a:rPr>
                <a:t> 6 7 8 </a:t>
              </a:r>
            </a:p>
          </p:txBody>
        </p:sp>
      </p:grpSp>
      <p:pic>
        <p:nvPicPr>
          <p:cNvPr id="107566" name="Picture 97" descr="underline_base">
            <a:extLst>
              <a:ext uri="{FF2B5EF4-FFF2-40B4-BE49-F238E27FC236}">
                <a16:creationId xmlns:a16="http://schemas.microsoft.com/office/drawing/2014/main" id="{9F58741D-1C6B-4511-B8A1-D66550338384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513" y="744538"/>
            <a:ext cx="3656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7567" name="Line 98">
            <a:extLst>
              <a:ext uri="{FF2B5EF4-FFF2-40B4-BE49-F238E27FC236}">
                <a16:creationId xmlns:a16="http://schemas.microsoft.com/office/drawing/2014/main" id="{34FC3ABB-7BF1-4817-B6E8-540E20C5CD9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91100" y="3757613"/>
            <a:ext cx="1033463" cy="563562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7568" name="Line 99">
            <a:extLst>
              <a:ext uri="{FF2B5EF4-FFF2-40B4-BE49-F238E27FC236}">
                <a16:creationId xmlns:a16="http://schemas.microsoft.com/office/drawing/2014/main" id="{EC045B1D-634C-4ABD-A474-E2204017FD5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97450" y="4067175"/>
            <a:ext cx="1033463" cy="563563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3473" name="Line 100">
            <a:extLst>
              <a:ext uri="{FF2B5EF4-FFF2-40B4-BE49-F238E27FC236}">
                <a16:creationId xmlns:a16="http://schemas.microsoft.com/office/drawing/2014/main" id="{D7880E31-C0BC-4DB9-B4A1-0AE106B1045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92688" y="5257800"/>
            <a:ext cx="1033462" cy="563563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3474" name="Line 101">
            <a:extLst>
              <a:ext uri="{FF2B5EF4-FFF2-40B4-BE49-F238E27FC236}">
                <a16:creationId xmlns:a16="http://schemas.microsoft.com/office/drawing/2014/main" id="{4E28D1F4-2ED6-4BC8-A7F0-B025006D77B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76813" y="5511800"/>
            <a:ext cx="1033462" cy="563563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3475" name="Line 102">
            <a:extLst>
              <a:ext uri="{FF2B5EF4-FFF2-40B4-BE49-F238E27FC236}">
                <a16:creationId xmlns:a16="http://schemas.microsoft.com/office/drawing/2014/main" id="{7CA51D3E-D897-435D-A249-BD9920E22DF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60938" y="5754688"/>
            <a:ext cx="1033462" cy="563562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3476" name="Line 103">
            <a:extLst>
              <a:ext uri="{FF2B5EF4-FFF2-40B4-BE49-F238E27FC236}">
                <a16:creationId xmlns:a16="http://schemas.microsoft.com/office/drawing/2014/main" id="{220639BD-87BF-422A-86EE-4A9CA99C341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45063" y="5997575"/>
            <a:ext cx="1033462" cy="563563"/>
          </a:xfrm>
          <a:prstGeom prst="line">
            <a:avLst/>
          </a:prstGeom>
          <a:noFill/>
          <a:ln w="28575">
            <a:solidFill>
              <a:srgbClr val="008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34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34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3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34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34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34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34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34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34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34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34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34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34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34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34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34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34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034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034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034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34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34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034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034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034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034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034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034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034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034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426" grpId="0"/>
      <p:bldP spid="103436" grpId="0"/>
      <p:bldP spid="103437" grpId="0"/>
      <p:bldP spid="10345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Footer Placeholder 5">
            <a:extLst>
              <a:ext uri="{FF2B5EF4-FFF2-40B4-BE49-F238E27FC236}">
                <a16:creationId xmlns:a16="http://schemas.microsoft.com/office/drawing/2014/main" id="{1893445A-1780-431E-9F0E-C22CDC1E8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09571" name="Slide Number Placeholder 6">
            <a:extLst>
              <a:ext uri="{FF2B5EF4-FFF2-40B4-BE49-F238E27FC236}">
                <a16:creationId xmlns:a16="http://schemas.microsoft.com/office/drawing/2014/main" id="{5C9E8328-268F-48F1-91B2-52B4395A7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8EF2951C-3061-461B-92ED-1AB701DD5C9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09572" name="Picture 4" descr="underline_base">
            <a:extLst>
              <a:ext uri="{FF2B5EF4-FFF2-40B4-BE49-F238E27FC236}">
                <a16:creationId xmlns:a16="http://schemas.microsoft.com/office/drawing/2014/main" id="{5D8CC4B0-7762-427E-9D06-47FDE70B4A5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50" y="1000125"/>
            <a:ext cx="3656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9573" name="Rectangle 2">
            <a:extLst>
              <a:ext uri="{FF2B5EF4-FFF2-40B4-BE49-F238E27FC236}">
                <a16:creationId xmlns:a16="http://schemas.microsoft.com/office/drawing/2014/main" id="{221A0B3E-DA29-42FE-8946-819CF67AAB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/>
              <a:t>Selective repeat</a:t>
            </a:r>
            <a:endParaRPr lang="en-US" altLang="zh-TW"/>
          </a:p>
        </p:txBody>
      </p:sp>
      <p:sp>
        <p:nvSpPr>
          <p:cNvPr id="109574" name="Rectangle 3">
            <a:extLst>
              <a:ext uri="{FF2B5EF4-FFF2-40B4-BE49-F238E27FC236}">
                <a16:creationId xmlns:a16="http://schemas.microsoft.com/office/drawing/2014/main" id="{CC8502C9-F66A-461D-B237-5CB225F5C7D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52450" y="1466850"/>
            <a:ext cx="7562850" cy="4648200"/>
          </a:xfrm>
        </p:spPr>
        <p:txBody>
          <a:bodyPr/>
          <a:lstStyle/>
          <a:p>
            <a:pPr marL="514350" indent="-514350">
              <a:buFont typeface="Gill Sans MT" panose="020B0502020104020203" pitchFamily="34" charset="0"/>
              <a:buAutoNum type="arabicPeriod"/>
            </a:pPr>
            <a:r>
              <a:rPr lang="en-US" altLang="zh-TW" dirty="0">
                <a:solidFill>
                  <a:srgbClr val="FF0000"/>
                </a:solidFill>
              </a:rPr>
              <a:t>sender window</a:t>
            </a:r>
          </a:p>
          <a:p>
            <a:pPr marL="914400" lvl="1" indent="-457200"/>
            <a:r>
              <a:rPr lang="en-US" altLang="zh-TW" i="1" dirty="0"/>
              <a:t>N</a:t>
            </a:r>
            <a:r>
              <a:rPr lang="en-US" altLang="zh-TW" dirty="0"/>
              <a:t> consecutive seq #</a:t>
            </a:r>
            <a:r>
              <a:rPr lang="ja-JP" altLang="en-US" dirty="0"/>
              <a:t>’</a:t>
            </a:r>
            <a:r>
              <a:rPr lang="en-US" altLang="ja-JP" dirty="0"/>
              <a:t>s</a:t>
            </a:r>
          </a:p>
          <a:p>
            <a:pPr marL="914400" lvl="1" indent="-457200"/>
            <a:r>
              <a:rPr lang="en-US" altLang="zh-TW" dirty="0"/>
              <a:t>limits seq #s of sent, </a:t>
            </a:r>
            <a:r>
              <a:rPr lang="en-US" altLang="zh-TW" dirty="0" err="1"/>
              <a:t>unACKed</a:t>
            </a:r>
            <a:r>
              <a:rPr lang="en-US" altLang="zh-TW" dirty="0"/>
              <a:t> pkts</a:t>
            </a:r>
          </a:p>
          <a:p>
            <a:pPr marL="514350" indent="-514350">
              <a:buFont typeface="Gill Sans MT" panose="020B0502020104020203" pitchFamily="34" charset="0"/>
              <a:buAutoNum type="arabicPeriod"/>
            </a:pPr>
            <a:r>
              <a:rPr lang="en-US" altLang="zh-TW" dirty="0"/>
              <a:t>receiver </a:t>
            </a:r>
            <a:r>
              <a:rPr lang="en-US" altLang="zh-TW" i="1" dirty="0">
                <a:solidFill>
                  <a:srgbClr val="FF0000"/>
                </a:solidFill>
              </a:rPr>
              <a:t>individually</a:t>
            </a:r>
            <a:r>
              <a:rPr lang="en-US" altLang="zh-TW" dirty="0">
                <a:solidFill>
                  <a:srgbClr val="FF0000"/>
                </a:solidFill>
              </a:rPr>
              <a:t> acknowledges</a:t>
            </a:r>
            <a:r>
              <a:rPr lang="en-US" altLang="zh-TW" dirty="0"/>
              <a:t> all correctly received pkts</a:t>
            </a:r>
          </a:p>
          <a:p>
            <a:pPr marL="914400" lvl="1" indent="-457200"/>
            <a:r>
              <a:rPr lang="en-US" altLang="zh-TW" dirty="0">
                <a:solidFill>
                  <a:srgbClr val="0070C0"/>
                </a:solidFill>
              </a:rPr>
              <a:t>buffers</a:t>
            </a:r>
            <a:r>
              <a:rPr lang="en-US" altLang="zh-TW" dirty="0"/>
              <a:t> pkts, as needed, for eventual in-order delivery to upper layer</a:t>
            </a:r>
          </a:p>
          <a:p>
            <a:pPr marL="514350" indent="-514350">
              <a:buFont typeface="Gill Sans MT" panose="020B0502020104020203" pitchFamily="34" charset="0"/>
              <a:buAutoNum type="arabicPeriod"/>
            </a:pPr>
            <a:r>
              <a:rPr lang="en-US" altLang="zh-TW" dirty="0"/>
              <a:t>sender </a:t>
            </a:r>
            <a:r>
              <a:rPr lang="en-US" altLang="zh-TW" dirty="0">
                <a:solidFill>
                  <a:srgbClr val="FF0000"/>
                </a:solidFill>
              </a:rPr>
              <a:t>timer</a:t>
            </a:r>
            <a:r>
              <a:rPr lang="en-US" altLang="zh-TW" dirty="0"/>
              <a:t> for each </a:t>
            </a:r>
            <a:r>
              <a:rPr lang="en-US" altLang="zh-TW" dirty="0" err="1"/>
              <a:t>unACKed</a:t>
            </a:r>
            <a:r>
              <a:rPr lang="en-US" altLang="zh-TW" dirty="0"/>
              <a:t> pkt</a:t>
            </a:r>
          </a:p>
          <a:p>
            <a:pPr marL="914400" lvl="1" indent="-457200"/>
            <a:r>
              <a:rPr lang="en-US" altLang="zh-TW" dirty="0">
                <a:solidFill>
                  <a:srgbClr val="0070C0"/>
                </a:solidFill>
              </a:rPr>
              <a:t>Timeout</a:t>
            </a:r>
            <a:r>
              <a:rPr lang="en-US" altLang="zh-TW" dirty="0"/>
              <a:t>: sender only resends pkts for which ACK not received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Footer Placeholder 3">
            <a:extLst>
              <a:ext uri="{FF2B5EF4-FFF2-40B4-BE49-F238E27FC236}">
                <a16:creationId xmlns:a16="http://schemas.microsoft.com/office/drawing/2014/main" id="{49F1C66B-EDB0-4FFF-A16B-3CB0B7FF4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10595" name="Slide Number Placeholder 4">
            <a:extLst>
              <a:ext uri="{FF2B5EF4-FFF2-40B4-BE49-F238E27FC236}">
                <a16:creationId xmlns:a16="http://schemas.microsoft.com/office/drawing/2014/main" id="{C355E2B6-C1CF-4A4E-937B-7D734BA39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94521C28-4504-4B1C-8F83-432478392B8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10596" name="Rectangle 2">
            <a:extLst>
              <a:ext uri="{FF2B5EF4-FFF2-40B4-BE49-F238E27FC236}">
                <a16:creationId xmlns:a16="http://schemas.microsoft.com/office/drawing/2014/main" id="{1CD6976F-C91E-451C-97A2-009D9D680D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85750" y="182563"/>
            <a:ext cx="8486775" cy="898525"/>
          </a:xfrm>
        </p:spPr>
        <p:txBody>
          <a:bodyPr/>
          <a:lstStyle/>
          <a:p>
            <a:r>
              <a:rPr lang="en-US" altLang="zh-TW" sz="3600"/>
              <a:t>Selective repeat: sender, receiver windows</a:t>
            </a:r>
            <a:endParaRPr lang="en-US" altLang="zh-TW"/>
          </a:p>
        </p:txBody>
      </p:sp>
      <p:pic>
        <p:nvPicPr>
          <p:cNvPr id="110597" name="Picture 3" descr="sr_seqnum">
            <a:extLst>
              <a:ext uri="{FF2B5EF4-FFF2-40B4-BE49-F238E27FC236}">
                <a16:creationId xmlns:a16="http://schemas.microsoft.com/office/drawing/2014/main" id="{18047E64-D978-426C-A080-520E3D7CF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404938"/>
            <a:ext cx="8235950" cy="491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0598" name="Rectangle 4">
            <a:extLst>
              <a:ext uri="{FF2B5EF4-FFF2-40B4-BE49-F238E27FC236}">
                <a16:creationId xmlns:a16="http://schemas.microsoft.com/office/drawing/2014/main" id="{A3910F70-C538-41F5-99F5-DE2F61A0AF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3825" y="1917700"/>
            <a:ext cx="2141538" cy="6143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10599" name="Rectangle 5">
            <a:extLst>
              <a:ext uri="{FF2B5EF4-FFF2-40B4-BE49-F238E27FC236}">
                <a16:creationId xmlns:a16="http://schemas.microsoft.com/office/drawing/2014/main" id="{9EE35931-0A9B-4566-9454-3246F1DD1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28825" y="4516438"/>
            <a:ext cx="2130425" cy="5794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pic>
        <p:nvPicPr>
          <p:cNvPr id="110600" name="Picture 6" descr="underline_base">
            <a:extLst>
              <a:ext uri="{FF2B5EF4-FFF2-40B4-BE49-F238E27FC236}">
                <a16:creationId xmlns:a16="http://schemas.microsoft.com/office/drawing/2014/main" id="{6C446343-802C-4CD5-9A1E-C23D97903C2A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238" y="82232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Footer Placeholder 5">
            <a:extLst>
              <a:ext uri="{FF2B5EF4-FFF2-40B4-BE49-F238E27FC236}">
                <a16:creationId xmlns:a16="http://schemas.microsoft.com/office/drawing/2014/main" id="{F5A1E1D8-C4BA-44C6-BBB9-0392E9292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12643" name="Slide Number Placeholder 6">
            <a:extLst>
              <a:ext uri="{FF2B5EF4-FFF2-40B4-BE49-F238E27FC236}">
                <a16:creationId xmlns:a16="http://schemas.microsoft.com/office/drawing/2014/main" id="{627F4CD3-6F1C-4DD2-84B7-652DAE6B5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F002DA6A-113D-4CA7-A34B-7466D06A891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12644" name="Picture 13" descr="underline_base">
            <a:extLst>
              <a:ext uri="{FF2B5EF4-FFF2-40B4-BE49-F238E27FC236}">
                <a16:creationId xmlns:a16="http://schemas.microsoft.com/office/drawing/2014/main" id="{E3FBAEFC-029E-43D2-B215-0BD0D3BE64F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98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277" name="Rectangle 2">
            <a:extLst>
              <a:ext uri="{FF2B5EF4-FFF2-40B4-BE49-F238E27FC236}">
                <a16:creationId xmlns:a16="http://schemas.microsoft.com/office/drawing/2014/main" id="{90660E28-B2E5-42AB-9443-B0A41581F3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7675" y="247650"/>
            <a:ext cx="7772400" cy="8382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Selective repeat</a:t>
            </a:r>
          </a:p>
        </p:txBody>
      </p:sp>
      <p:sp>
        <p:nvSpPr>
          <p:cNvPr id="112646" name="Rectangle 3">
            <a:extLst>
              <a:ext uri="{FF2B5EF4-FFF2-40B4-BE49-F238E27FC236}">
                <a16:creationId xmlns:a16="http://schemas.microsoft.com/office/drawing/2014/main" id="{B0BBB9AC-75C1-41E8-A34D-DB35E5A5DB4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40830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If received data from above:</a:t>
            </a:r>
          </a:p>
          <a:p>
            <a:r>
              <a:rPr lang="en-US" altLang="zh-TW" sz="2400" dirty="0"/>
              <a:t>if next available seq # in window </a:t>
            </a:r>
            <a:r>
              <a:rPr lang="en-US" altLang="zh-TW" sz="2400" dirty="0">
                <a:solidFill>
                  <a:srgbClr val="0070C0"/>
                </a:solidFill>
              </a:rPr>
              <a:t>(i.e., blue region available), send pkt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ACK(n)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r>
              <a:rPr lang="en-US" altLang="zh-TW" dirty="0"/>
              <a:t>in </a:t>
            </a:r>
            <a:r>
              <a:rPr lang="en-US" altLang="zh-TW" sz="1600" dirty="0"/>
              <a:t>[</a:t>
            </a:r>
            <a:r>
              <a:rPr lang="en-US" altLang="zh-TW" sz="1600" dirty="0" err="1"/>
              <a:t>sendbase,sendbase+N</a:t>
            </a:r>
            <a:r>
              <a:rPr lang="en-US" altLang="zh-TW" sz="1600" dirty="0"/>
              <a:t>] </a:t>
            </a:r>
            <a:r>
              <a:rPr lang="en-US" altLang="zh-TW" sz="2000" dirty="0"/>
              <a:t>(i.e., </a:t>
            </a:r>
            <a:r>
              <a:rPr lang="en-US" altLang="zh-TW" sz="2000" dirty="0">
                <a:solidFill>
                  <a:srgbClr val="0070C0"/>
                </a:solidFill>
              </a:rPr>
              <a:t>sender window</a:t>
            </a:r>
            <a:r>
              <a:rPr lang="en-US" altLang="zh-TW" sz="2000" dirty="0"/>
              <a:t>):</a:t>
            </a:r>
            <a:endParaRPr lang="en-US" altLang="zh-TW" dirty="0"/>
          </a:p>
          <a:p>
            <a:r>
              <a:rPr lang="en-US" altLang="zh-TW" sz="2400" dirty="0">
                <a:solidFill>
                  <a:srgbClr val="0070C0"/>
                </a:solidFill>
              </a:rPr>
              <a:t>mark pkt n as received (yellow </a:t>
            </a:r>
            <a:r>
              <a:rPr lang="en-US" altLang="zh-TW" sz="2400" dirty="0">
                <a:solidFill>
                  <a:srgbClr val="0070C0"/>
                </a:solidFill>
                <a:sym typeface="Wingdings" panose="05000000000000000000" pitchFamily="2" charset="2"/>
              </a:rPr>
              <a:t> green)</a:t>
            </a:r>
            <a:endParaRPr lang="en-US" altLang="zh-TW" sz="2400" dirty="0">
              <a:solidFill>
                <a:srgbClr val="0070C0"/>
              </a:solidFill>
            </a:endParaRPr>
          </a:p>
          <a:p>
            <a:r>
              <a:rPr lang="en-US" altLang="zh-TW" sz="2400" dirty="0"/>
              <a:t>if n is smallest </a:t>
            </a:r>
            <a:r>
              <a:rPr lang="en-US" altLang="zh-TW" sz="2400" dirty="0" err="1"/>
              <a:t>unACKed</a:t>
            </a:r>
            <a:r>
              <a:rPr lang="en-US" altLang="zh-TW" sz="2400" dirty="0"/>
              <a:t> pkt, advance </a:t>
            </a:r>
            <a:r>
              <a:rPr lang="en-US" altLang="zh-TW" sz="2400" dirty="0" err="1"/>
              <a:t>send_base</a:t>
            </a:r>
            <a:r>
              <a:rPr lang="en-US" altLang="zh-TW" sz="2400" dirty="0"/>
              <a:t> to next </a:t>
            </a:r>
            <a:r>
              <a:rPr lang="en-US" altLang="zh-TW" sz="2400" dirty="0" err="1"/>
              <a:t>unACKed</a:t>
            </a:r>
            <a:r>
              <a:rPr lang="en-US" altLang="zh-TW" sz="2400" dirty="0"/>
              <a:t> seq #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timeout(n):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resend pkt n</a:t>
            </a:r>
            <a:r>
              <a:rPr lang="en-US" altLang="zh-TW" sz="2400" dirty="0"/>
              <a:t>, restart timer</a:t>
            </a:r>
          </a:p>
          <a:p>
            <a:endParaRPr lang="en-US" altLang="zh-TW" dirty="0"/>
          </a:p>
        </p:txBody>
      </p:sp>
      <p:sp>
        <p:nvSpPr>
          <p:cNvPr id="112647" name="Rectangle 4">
            <a:extLst>
              <a:ext uri="{FF2B5EF4-FFF2-40B4-BE49-F238E27FC236}">
                <a16:creationId xmlns:a16="http://schemas.microsoft.com/office/drawing/2014/main" id="{AA771EE4-8A9E-4135-91AD-4C5C8BF74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" y="1457325"/>
            <a:ext cx="3838575" cy="5275263"/>
          </a:xfrm>
          <a:prstGeom prst="rect">
            <a:avLst/>
          </a:prstGeom>
          <a:noFill/>
          <a:ln w="28575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grpSp>
        <p:nvGrpSpPr>
          <p:cNvPr id="112648" name="Group 5">
            <a:extLst>
              <a:ext uri="{FF2B5EF4-FFF2-40B4-BE49-F238E27FC236}">
                <a16:creationId xmlns:a16="http://schemas.microsoft.com/office/drawing/2014/main" id="{A43CBA8B-93C0-496A-ABB8-5F3D9FFA10A9}"/>
              </a:ext>
            </a:extLst>
          </p:cNvPr>
          <p:cNvGrpSpPr>
            <a:grpSpLocks/>
          </p:cNvGrpSpPr>
          <p:nvPr/>
        </p:nvGrpSpPr>
        <p:grpSpPr bwMode="auto">
          <a:xfrm>
            <a:off x="698500" y="1155700"/>
            <a:ext cx="1160463" cy="519113"/>
            <a:chOff x="1100" y="3896"/>
            <a:chExt cx="731" cy="327"/>
          </a:xfrm>
        </p:grpSpPr>
        <p:sp>
          <p:nvSpPr>
            <p:cNvPr id="112654" name="Rectangle 6">
              <a:extLst>
                <a:ext uri="{FF2B5EF4-FFF2-40B4-BE49-F238E27FC236}">
                  <a16:creationId xmlns:a16="http://schemas.microsoft.com/office/drawing/2014/main" id="{57F7F126-721C-4301-A0BC-0E6D750A62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6" y="3984"/>
              <a:ext cx="612" cy="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12655" name="Text Box 7">
              <a:extLst>
                <a:ext uri="{FF2B5EF4-FFF2-40B4-BE49-F238E27FC236}">
                  <a16:creationId xmlns:a16="http://schemas.microsoft.com/office/drawing/2014/main" id="{18C2C58C-D55B-45FF-9E21-E74F188B61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0" y="3896"/>
              <a:ext cx="731" cy="3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800">
                  <a:solidFill>
                    <a:srgbClr val="000099"/>
                  </a:solidFill>
                </a:rPr>
                <a:t>sender</a:t>
              </a:r>
            </a:p>
          </p:txBody>
        </p:sp>
      </p:grpSp>
      <p:sp>
        <p:nvSpPr>
          <p:cNvPr id="112649" name="Rectangle 8">
            <a:extLst>
              <a:ext uri="{FF2B5EF4-FFF2-40B4-BE49-F238E27FC236}">
                <a16:creationId xmlns:a16="http://schemas.microsoft.com/office/drawing/2014/main" id="{72CFE9B0-6F38-419E-B5CC-9077D6C71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0625" y="1581150"/>
            <a:ext cx="38100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2800" dirty="0">
                <a:solidFill>
                  <a:srgbClr val="CC0000"/>
                </a:solidFill>
              </a:rPr>
              <a:t>pkt n in </a:t>
            </a:r>
            <a:r>
              <a:rPr lang="en-US" altLang="zh-TW" sz="1800" dirty="0">
                <a:solidFill>
                  <a:srgbClr val="CC0000"/>
                </a:solidFill>
              </a:rPr>
              <a:t>[</a:t>
            </a:r>
            <a:r>
              <a:rPr lang="en-US" altLang="zh-TW" sz="1800" dirty="0" err="1">
                <a:solidFill>
                  <a:srgbClr val="CC0000"/>
                </a:solidFill>
              </a:rPr>
              <a:t>rcvbase</a:t>
            </a:r>
            <a:r>
              <a:rPr lang="en-US" altLang="zh-TW" sz="1800" dirty="0">
                <a:solidFill>
                  <a:srgbClr val="CC0000"/>
                </a:solidFill>
              </a:rPr>
              <a:t>, rcvbase+N-1] </a:t>
            </a:r>
            <a:r>
              <a:rPr lang="en-US" altLang="zh-TW" sz="1800" dirty="0"/>
              <a:t>(i.e., receiver window)</a:t>
            </a:r>
            <a:endParaRPr lang="en-US" altLang="zh-TW" sz="2800" dirty="0"/>
          </a:p>
          <a:p>
            <a:r>
              <a:rPr lang="en-US" altLang="zh-TW" sz="2400" dirty="0"/>
              <a:t>send ACK(n)</a:t>
            </a:r>
          </a:p>
          <a:p>
            <a:pPr lvl="1"/>
            <a:r>
              <a:rPr lang="en-US" altLang="zh-TW" sz="2000" dirty="0">
                <a:solidFill>
                  <a:srgbClr val="0070C0"/>
                </a:solidFill>
              </a:rPr>
              <a:t>out-of-order</a:t>
            </a:r>
            <a:r>
              <a:rPr lang="en-US" altLang="zh-TW" sz="2000" dirty="0"/>
              <a:t>: buffer</a:t>
            </a:r>
          </a:p>
          <a:p>
            <a:pPr lvl="1"/>
            <a:r>
              <a:rPr lang="en-US" altLang="zh-TW" sz="2000" dirty="0">
                <a:solidFill>
                  <a:srgbClr val="0070C0"/>
                </a:solidFill>
              </a:rPr>
              <a:t>in-order</a:t>
            </a:r>
            <a:r>
              <a:rPr lang="en-US" altLang="zh-TW" sz="2000" dirty="0"/>
              <a:t>: deliver (also deliver buffered, in-order pkts), advance window to next not-yet-received pkt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>
                <a:solidFill>
                  <a:srgbClr val="CC0000"/>
                </a:solidFill>
              </a:rPr>
              <a:t>pkt n in </a:t>
            </a:r>
            <a:r>
              <a:rPr lang="en-US" altLang="zh-TW" sz="1800" dirty="0">
                <a:solidFill>
                  <a:srgbClr val="CC0000"/>
                </a:solidFill>
              </a:rPr>
              <a:t>[rcvbase-N,rcvbase-1]</a:t>
            </a:r>
            <a:endParaRPr lang="en-US" altLang="zh-TW" sz="2800" dirty="0">
              <a:solidFill>
                <a:srgbClr val="CC0000"/>
              </a:solidFill>
            </a:endParaRPr>
          </a:p>
          <a:p>
            <a:r>
              <a:rPr lang="en-US" altLang="zh-TW" sz="2400" dirty="0"/>
              <a:t>ACK(n)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>
                <a:solidFill>
                  <a:srgbClr val="CC0000"/>
                </a:solidFill>
              </a:rPr>
              <a:t>otherwise:</a:t>
            </a:r>
            <a:r>
              <a:rPr lang="en-US" altLang="zh-TW" sz="2400" dirty="0">
                <a:solidFill>
                  <a:srgbClr val="FF0000"/>
                </a:solidFill>
              </a:rPr>
              <a:t> </a:t>
            </a:r>
          </a:p>
          <a:p>
            <a:r>
              <a:rPr lang="en-US" altLang="zh-TW" sz="2400" dirty="0"/>
              <a:t>ignore </a:t>
            </a:r>
            <a:endParaRPr lang="en-US" altLang="zh-TW" sz="2800" dirty="0"/>
          </a:p>
          <a:p>
            <a:endParaRPr lang="en-US" altLang="zh-TW" sz="2800" dirty="0"/>
          </a:p>
        </p:txBody>
      </p:sp>
      <p:sp>
        <p:nvSpPr>
          <p:cNvPr id="112650" name="Rectangle 9">
            <a:extLst>
              <a:ext uri="{FF2B5EF4-FFF2-40B4-BE49-F238E27FC236}">
                <a16:creationId xmlns:a16="http://schemas.microsoft.com/office/drawing/2014/main" id="{19F8C7CB-E1A4-4ECA-B612-31BCC2558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62525" y="1438275"/>
            <a:ext cx="3838575" cy="4610100"/>
          </a:xfrm>
          <a:prstGeom prst="rect">
            <a:avLst/>
          </a:prstGeom>
          <a:noFill/>
          <a:ln w="28575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grpSp>
        <p:nvGrpSpPr>
          <p:cNvPr id="112651" name="Group 10">
            <a:extLst>
              <a:ext uri="{FF2B5EF4-FFF2-40B4-BE49-F238E27FC236}">
                <a16:creationId xmlns:a16="http://schemas.microsoft.com/office/drawing/2014/main" id="{47143902-6F4C-4FAE-8EFF-2EB20079341F}"/>
              </a:ext>
            </a:extLst>
          </p:cNvPr>
          <p:cNvGrpSpPr>
            <a:grpSpLocks/>
          </p:cNvGrpSpPr>
          <p:nvPr/>
        </p:nvGrpSpPr>
        <p:grpSpPr bwMode="auto">
          <a:xfrm>
            <a:off x="5186363" y="1127125"/>
            <a:ext cx="1365250" cy="519113"/>
            <a:chOff x="3339" y="158"/>
            <a:chExt cx="860" cy="327"/>
          </a:xfrm>
        </p:grpSpPr>
        <p:sp>
          <p:nvSpPr>
            <p:cNvPr id="112652" name="Rectangle 11">
              <a:extLst>
                <a:ext uri="{FF2B5EF4-FFF2-40B4-BE49-F238E27FC236}">
                  <a16:creationId xmlns:a16="http://schemas.microsoft.com/office/drawing/2014/main" id="{D8E78DD0-8462-4E79-8ABD-D6C80B0D3C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0" y="264"/>
              <a:ext cx="822" cy="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12653" name="Text Box 12">
              <a:extLst>
                <a:ext uri="{FF2B5EF4-FFF2-40B4-BE49-F238E27FC236}">
                  <a16:creationId xmlns:a16="http://schemas.microsoft.com/office/drawing/2014/main" id="{1498843E-EFD2-4DA4-805A-F28483350C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9" y="158"/>
              <a:ext cx="860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800">
                  <a:solidFill>
                    <a:srgbClr val="000099"/>
                  </a:solidFill>
                </a:rPr>
                <a:t>receiver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Footer Placeholder 3">
            <a:extLst>
              <a:ext uri="{FF2B5EF4-FFF2-40B4-BE49-F238E27FC236}">
                <a16:creationId xmlns:a16="http://schemas.microsoft.com/office/drawing/2014/main" id="{A5152265-CDAF-40CE-AC9E-B49669FE5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14691" name="Slide Number Placeholder 4">
            <a:extLst>
              <a:ext uri="{FF2B5EF4-FFF2-40B4-BE49-F238E27FC236}">
                <a16:creationId xmlns:a16="http://schemas.microsoft.com/office/drawing/2014/main" id="{3F286F47-2515-4667-A431-F6794450A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D68E70DA-79E7-46F8-AE99-BCD6C530EAE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14692" name="Picture 94" descr="underline_base">
            <a:extLst>
              <a:ext uri="{FF2B5EF4-FFF2-40B4-BE49-F238E27FC236}">
                <a16:creationId xmlns:a16="http://schemas.microsoft.com/office/drawing/2014/main" id="{34BB8E4F-3E26-4CB6-B0C4-42045708503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650" y="806450"/>
            <a:ext cx="5027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301" name="Rectangle 2">
            <a:extLst>
              <a:ext uri="{FF2B5EF4-FFF2-40B4-BE49-F238E27FC236}">
                <a16:creationId xmlns:a16="http://schemas.microsoft.com/office/drawing/2014/main" id="{2C538F4D-D012-4414-A478-5DB7E3520B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17500" y="198438"/>
            <a:ext cx="7772400" cy="838200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Selective repeat in action</a:t>
            </a:r>
          </a:p>
        </p:txBody>
      </p:sp>
      <p:pic>
        <p:nvPicPr>
          <p:cNvPr id="114694" name="Picture 72">
            <a:extLst>
              <a:ext uri="{FF2B5EF4-FFF2-40B4-BE49-F238E27FC236}">
                <a16:creationId xmlns:a16="http://schemas.microsoft.com/office/drawing/2014/main" id="{C4AE61C4-094D-45D6-8E7E-E682881AC4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950" y="977900"/>
            <a:ext cx="6386513" cy="578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Footer Placeholder 5">
            <a:extLst>
              <a:ext uri="{FF2B5EF4-FFF2-40B4-BE49-F238E27FC236}">
                <a16:creationId xmlns:a16="http://schemas.microsoft.com/office/drawing/2014/main" id="{62623EE3-E016-4CA4-80F7-409A126A0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17763" name="Slide Number Placeholder 6">
            <a:extLst>
              <a:ext uri="{FF2B5EF4-FFF2-40B4-BE49-F238E27FC236}">
                <a16:creationId xmlns:a16="http://schemas.microsoft.com/office/drawing/2014/main" id="{DC65246E-0AD2-4779-B8DE-A7C27AF0E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249A2569-F5F0-4D14-B42F-62FCF9BB74A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57348" name="Rectangle 2">
            <a:extLst>
              <a:ext uri="{FF2B5EF4-FFF2-40B4-BE49-F238E27FC236}">
                <a16:creationId xmlns:a16="http://schemas.microsoft.com/office/drawing/2014/main" id="{58CE8EB9-E522-41D8-A672-E686FE9AB8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57349" name="Rectangle 3">
            <a:extLst>
              <a:ext uri="{FF2B5EF4-FFF2-40B4-BE49-F238E27FC236}">
                <a16:creationId xmlns:a16="http://schemas.microsoft.com/office/drawing/2014/main" id="{1555E974-1069-4B33-B0A7-5E9A673F5BD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57350" name="Rectangle 4">
            <a:extLst>
              <a:ext uri="{FF2B5EF4-FFF2-40B4-BE49-F238E27FC236}">
                <a16:creationId xmlns:a16="http://schemas.microsoft.com/office/drawing/2014/main" id="{E42B9B0B-A658-44CA-856D-BCA12A437942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117767" name="Picture 5" descr="underline_base">
            <a:extLst>
              <a:ext uri="{FF2B5EF4-FFF2-40B4-BE49-F238E27FC236}">
                <a16:creationId xmlns:a16="http://schemas.microsoft.com/office/drawing/2014/main" id="{79717728-7659-4700-A586-306C8B79C80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17588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Footer Placeholder 5">
            <a:extLst>
              <a:ext uri="{FF2B5EF4-FFF2-40B4-BE49-F238E27FC236}">
                <a16:creationId xmlns:a16="http://schemas.microsoft.com/office/drawing/2014/main" id="{8689DC9E-1F7F-4653-8A73-0E163B25E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18787" name="Slide Number Placeholder 6">
            <a:extLst>
              <a:ext uri="{FF2B5EF4-FFF2-40B4-BE49-F238E27FC236}">
                <a16:creationId xmlns:a16="http://schemas.microsoft.com/office/drawing/2014/main" id="{F0CA6070-C4E1-428D-B398-C0E974B49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C176940A-8E61-4B42-A955-3779E963A9D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18788" name="Rectangle 2">
            <a:extLst>
              <a:ext uri="{FF2B5EF4-FFF2-40B4-BE49-F238E27FC236}">
                <a16:creationId xmlns:a16="http://schemas.microsoft.com/office/drawing/2014/main" id="{57709C7A-8C40-49CB-B574-3BF1914EA5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5600" y="252413"/>
            <a:ext cx="8243888" cy="885825"/>
          </a:xfrm>
        </p:spPr>
        <p:txBody>
          <a:bodyPr/>
          <a:lstStyle/>
          <a:p>
            <a:r>
              <a:rPr lang="en-US" altLang="zh-TW"/>
              <a:t>TCP: Overview  </a:t>
            </a:r>
            <a:r>
              <a:rPr lang="en-US" altLang="zh-TW" sz="2400"/>
              <a:t>RFCs: 793,1122,1323, 2018, 2581</a:t>
            </a:r>
            <a:endParaRPr lang="en-US" altLang="zh-TW"/>
          </a:p>
        </p:txBody>
      </p:sp>
      <p:sp>
        <p:nvSpPr>
          <p:cNvPr id="58373" name="Rectangle 3">
            <a:extLst>
              <a:ext uri="{FF2B5EF4-FFF2-40B4-BE49-F238E27FC236}">
                <a16:creationId xmlns:a16="http://schemas.microsoft.com/office/drawing/2014/main" id="{3EED3A02-0982-407B-A0ED-A540661C7D7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810125" y="1552575"/>
            <a:ext cx="3895725" cy="46482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full duplex data: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bi-directional data flow in same connection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connection-oriented:</a:t>
            </a:r>
            <a:r>
              <a:rPr lang="en-US" dirty="0">
                <a:ea typeface="ＭＳ Ｐゴシック" charset="0"/>
                <a:cs typeface="+mn-cs"/>
              </a:rPr>
              <a:t> 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handshaking (exchange of control msgs) initializes sender, receiver state before data exchange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flow controlled: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sender will not overwhelm receiver</a:t>
            </a:r>
          </a:p>
        </p:txBody>
      </p:sp>
      <p:sp>
        <p:nvSpPr>
          <p:cNvPr id="118790" name="Rectangle 4">
            <a:extLst>
              <a:ext uri="{FF2B5EF4-FFF2-40B4-BE49-F238E27FC236}">
                <a16:creationId xmlns:a16="http://schemas.microsoft.com/office/drawing/2014/main" id="{3FE54AFF-79A4-4EE3-9B36-A19A50EA940E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71500" y="1543050"/>
            <a:ext cx="3981450" cy="4648200"/>
          </a:xfrm>
        </p:spPr>
        <p:txBody>
          <a:bodyPr/>
          <a:lstStyle/>
          <a:p>
            <a:r>
              <a:rPr lang="en-US" altLang="zh-TW">
                <a:solidFill>
                  <a:srgbClr val="CC0000"/>
                </a:solidFill>
              </a:rPr>
              <a:t>point-to-point:</a:t>
            </a:r>
          </a:p>
          <a:p>
            <a:pPr lvl="1"/>
            <a:r>
              <a:rPr lang="en-US" altLang="zh-TW"/>
              <a:t>one sender, one receiver</a:t>
            </a:r>
            <a:r>
              <a:rPr lang="en-US" altLang="zh-TW">
                <a:solidFill>
                  <a:srgbClr val="FF0000"/>
                </a:solidFill>
              </a:rPr>
              <a:t> </a:t>
            </a:r>
          </a:p>
          <a:p>
            <a:r>
              <a:rPr lang="en-US" altLang="zh-TW">
                <a:solidFill>
                  <a:srgbClr val="CC0000"/>
                </a:solidFill>
              </a:rPr>
              <a:t>reliable, in-order </a:t>
            </a:r>
            <a:r>
              <a:rPr lang="en-US" altLang="zh-TW" i="1">
                <a:solidFill>
                  <a:srgbClr val="0070C0"/>
                </a:solidFill>
              </a:rPr>
              <a:t>byte steam:</a:t>
            </a:r>
          </a:p>
          <a:p>
            <a:pPr lvl="1"/>
            <a:r>
              <a:rPr lang="en-US" altLang="zh-TW"/>
              <a:t>no </a:t>
            </a:r>
            <a:r>
              <a:rPr lang="ja-JP" altLang="en-US"/>
              <a:t>“</a:t>
            </a:r>
            <a:r>
              <a:rPr lang="en-US" altLang="ja-JP"/>
              <a:t>message boundaries</a:t>
            </a:r>
            <a:r>
              <a:rPr lang="ja-JP" altLang="en-US"/>
              <a:t>”</a:t>
            </a:r>
            <a:endParaRPr lang="en-US" altLang="ja-JP"/>
          </a:p>
          <a:p>
            <a:r>
              <a:rPr lang="en-US" altLang="zh-TW">
                <a:solidFill>
                  <a:srgbClr val="CC0000"/>
                </a:solidFill>
              </a:rPr>
              <a:t>pipelined:</a:t>
            </a:r>
          </a:p>
          <a:p>
            <a:pPr lvl="1"/>
            <a:r>
              <a:rPr lang="en-US" altLang="zh-TW"/>
              <a:t>TCP congestion and flow control set window size</a:t>
            </a:r>
            <a:endParaRPr lang="en-US" altLang="zh-TW" i="1"/>
          </a:p>
          <a:p>
            <a:endParaRPr lang="en-US" altLang="zh-TW"/>
          </a:p>
        </p:txBody>
      </p:sp>
      <p:pic>
        <p:nvPicPr>
          <p:cNvPr id="118791" name="Picture 6" descr="underline_base">
            <a:extLst>
              <a:ext uri="{FF2B5EF4-FFF2-40B4-BE49-F238E27FC236}">
                <a16:creationId xmlns:a16="http://schemas.microsoft.com/office/drawing/2014/main" id="{452C24EE-F862-4BD4-BA3A-D67D16D6E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925513"/>
            <a:ext cx="8228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Footer Placeholder 3">
            <a:extLst>
              <a:ext uri="{FF2B5EF4-FFF2-40B4-BE49-F238E27FC236}">
                <a16:creationId xmlns:a16="http://schemas.microsoft.com/office/drawing/2014/main" id="{8AC8BD0F-C423-437F-BAFE-825A735FB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19811" name="Slide Number Placeholder 4">
            <a:extLst>
              <a:ext uri="{FF2B5EF4-FFF2-40B4-BE49-F238E27FC236}">
                <a16:creationId xmlns:a16="http://schemas.microsoft.com/office/drawing/2014/main" id="{435540FD-B7E1-4F77-8DAC-C9DF799B2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0A8502A0-9239-4493-8FF4-02A63EE4299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19812" name="Picture 57" descr="underline_base">
            <a:extLst>
              <a:ext uri="{FF2B5EF4-FFF2-40B4-BE49-F238E27FC236}">
                <a16:creationId xmlns:a16="http://schemas.microsoft.com/office/drawing/2014/main" id="{CBE76003-B063-4523-B2FE-950A571CECF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238" y="773113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9813" name="Rectangle 2">
            <a:extLst>
              <a:ext uri="{FF2B5EF4-FFF2-40B4-BE49-F238E27FC236}">
                <a16:creationId xmlns:a16="http://schemas.microsoft.com/office/drawing/2014/main" id="{9711A993-66CF-45F0-9857-CE8859E5F7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90500"/>
            <a:ext cx="7772400" cy="781050"/>
          </a:xfrm>
        </p:spPr>
        <p:txBody>
          <a:bodyPr/>
          <a:lstStyle/>
          <a:p>
            <a:r>
              <a:rPr lang="en-US" altLang="zh-TW" sz="4000"/>
              <a:t>TCP segment structure</a:t>
            </a:r>
            <a:endParaRPr lang="en-US" altLang="zh-TW"/>
          </a:p>
        </p:txBody>
      </p:sp>
      <p:sp>
        <p:nvSpPr>
          <p:cNvPr id="119814" name="Rectangle 4">
            <a:extLst>
              <a:ext uri="{FF2B5EF4-FFF2-40B4-BE49-F238E27FC236}">
                <a16:creationId xmlns:a16="http://schemas.microsoft.com/office/drawing/2014/main" id="{5A3467E0-EC54-4602-BB7F-CE7643AA9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7188" y="1512888"/>
            <a:ext cx="3951287" cy="4824412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19815" name="Rectangle 5">
            <a:extLst>
              <a:ext uri="{FF2B5EF4-FFF2-40B4-BE49-F238E27FC236}">
                <a16:creationId xmlns:a16="http://schemas.microsoft.com/office/drawing/2014/main" id="{9BB58CA3-8332-4A35-854D-91B411978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1628775"/>
            <a:ext cx="3951287" cy="48053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19816" name="Text Box 6">
            <a:extLst>
              <a:ext uri="{FF2B5EF4-FFF2-40B4-BE49-F238E27FC236}">
                <a16:creationId xmlns:a16="http://schemas.microsoft.com/office/drawing/2014/main" id="{ABB7CFB9-C927-435E-9FCB-104DADD97F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5925" y="1587500"/>
            <a:ext cx="16637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source port #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17" name="Text Box 7">
            <a:extLst>
              <a:ext uri="{FF2B5EF4-FFF2-40B4-BE49-F238E27FC236}">
                <a16:creationId xmlns:a16="http://schemas.microsoft.com/office/drawing/2014/main" id="{8CD0E827-235D-4110-A449-23DE7DAC0A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6188" y="1592263"/>
            <a:ext cx="13811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dest port #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119818" name="Line 8">
            <a:extLst>
              <a:ext uri="{FF2B5EF4-FFF2-40B4-BE49-F238E27FC236}">
                <a16:creationId xmlns:a16="http://schemas.microsoft.com/office/drawing/2014/main" id="{201E90C6-C7C6-499F-BFC3-86A8B227E89D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4638" y="2003425"/>
            <a:ext cx="3946525" cy="47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19" name="Line 9">
            <a:extLst>
              <a:ext uri="{FF2B5EF4-FFF2-40B4-BE49-F238E27FC236}">
                <a16:creationId xmlns:a16="http://schemas.microsoft.com/office/drawing/2014/main" id="{D9205C0C-81F2-4C76-B835-103A24F86F3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08288" y="2382838"/>
            <a:ext cx="39512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20" name="Line 10">
            <a:extLst>
              <a:ext uri="{FF2B5EF4-FFF2-40B4-BE49-F238E27FC236}">
                <a16:creationId xmlns:a16="http://schemas.microsoft.com/office/drawing/2014/main" id="{8479336E-B5D9-4499-A3CC-EABEBCC9E94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54563" y="1628775"/>
            <a:ext cx="0" cy="3921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21" name="Text Box 11">
            <a:extLst>
              <a:ext uri="{FF2B5EF4-FFF2-40B4-BE49-F238E27FC236}">
                <a16:creationId xmlns:a16="http://schemas.microsoft.com/office/drawing/2014/main" id="{6702F17C-4E8F-4315-8B31-ADD1D35FEB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7363" y="1098550"/>
            <a:ext cx="85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32 bits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22" name="Line 12">
            <a:extLst>
              <a:ext uri="{FF2B5EF4-FFF2-40B4-BE49-F238E27FC236}">
                <a16:creationId xmlns:a16="http://schemas.microsoft.com/office/drawing/2014/main" id="{12C8103A-07EF-4302-A0CA-8DFBF642411E}"/>
              </a:ext>
            </a:extLst>
          </p:cNvPr>
          <p:cNvSpPr>
            <a:spLocks noChangeShapeType="1"/>
          </p:cNvSpPr>
          <p:nvPr/>
        </p:nvSpPr>
        <p:spPr bwMode="auto">
          <a:xfrm>
            <a:off x="5297488" y="1344613"/>
            <a:ext cx="1427162" cy="47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23" name="Line 13">
            <a:extLst>
              <a:ext uri="{FF2B5EF4-FFF2-40B4-BE49-F238E27FC236}">
                <a16:creationId xmlns:a16="http://schemas.microsoft.com/office/drawing/2014/main" id="{311BD26F-D773-46E3-A181-087727CF6D8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2789238" y="1355725"/>
            <a:ext cx="13414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24" name="Text Box 14">
            <a:extLst>
              <a:ext uri="{FF2B5EF4-FFF2-40B4-BE49-F238E27FC236}">
                <a16:creationId xmlns:a16="http://schemas.microsoft.com/office/drawing/2014/main" id="{B970767A-86AD-42AA-9A1C-CC992EF6F2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3975" y="4567238"/>
            <a:ext cx="2005013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application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data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(variable length)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25" name="Text Box 15">
            <a:extLst>
              <a:ext uri="{FF2B5EF4-FFF2-40B4-BE49-F238E27FC236}">
                <a16:creationId xmlns:a16="http://schemas.microsoft.com/office/drawing/2014/main" id="{5725D120-8AA3-4D9D-A761-C21DFD540B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44875" y="1982788"/>
            <a:ext cx="24860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Arial" panose="020B0604020202020204" pitchFamily="34" charset="0"/>
              </a:rPr>
              <a:t>sequence number</a:t>
            </a:r>
            <a:endParaRPr lang="en-US" altLang="zh-TW" sz="240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  <p:sp>
        <p:nvSpPr>
          <p:cNvPr id="119826" name="Line 16">
            <a:extLst>
              <a:ext uri="{FF2B5EF4-FFF2-40B4-BE49-F238E27FC236}">
                <a16:creationId xmlns:a16="http://schemas.microsoft.com/office/drawing/2014/main" id="{1D1C0D8C-481A-49A6-BEA8-216943BAE10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17813" y="2763838"/>
            <a:ext cx="39512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27" name="Text Box 17">
            <a:extLst>
              <a:ext uri="{FF2B5EF4-FFF2-40B4-BE49-F238E27FC236}">
                <a16:creationId xmlns:a16="http://schemas.microsoft.com/office/drawing/2014/main" id="{1089B83C-2266-49E1-B6B5-A61A9B96C3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825" y="2382838"/>
            <a:ext cx="3409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FF0000"/>
                </a:solidFill>
                <a:latin typeface="Arial" panose="020B0604020202020204" pitchFamily="34" charset="0"/>
              </a:rPr>
              <a:t>acknowledgement number</a:t>
            </a:r>
          </a:p>
        </p:txBody>
      </p:sp>
      <p:sp>
        <p:nvSpPr>
          <p:cNvPr id="119828" name="Line 18">
            <a:extLst>
              <a:ext uri="{FF2B5EF4-FFF2-40B4-BE49-F238E27FC236}">
                <a16:creationId xmlns:a16="http://schemas.microsoft.com/office/drawing/2014/main" id="{8C113E2B-E04F-4F79-AA8B-903144BBE5A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13050" y="3159125"/>
            <a:ext cx="39512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29" name="Line 19">
            <a:extLst>
              <a:ext uri="{FF2B5EF4-FFF2-40B4-BE49-F238E27FC236}">
                <a16:creationId xmlns:a16="http://schemas.microsoft.com/office/drawing/2014/main" id="{FAEFB306-CD99-4AB3-B686-56004670B7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08288" y="3549650"/>
            <a:ext cx="39512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30" name="Line 20">
            <a:extLst>
              <a:ext uri="{FF2B5EF4-FFF2-40B4-BE49-F238E27FC236}">
                <a16:creationId xmlns:a16="http://schemas.microsoft.com/office/drawing/2014/main" id="{399E8D8D-EEFA-4009-B326-EF63751403C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08288" y="4111625"/>
            <a:ext cx="39512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31" name="Line 21">
            <a:extLst>
              <a:ext uri="{FF2B5EF4-FFF2-40B4-BE49-F238E27FC236}">
                <a16:creationId xmlns:a16="http://schemas.microsoft.com/office/drawing/2014/main" id="{29C8F401-8D56-4C51-A8C1-F738A7B9573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768850" y="2767013"/>
            <a:ext cx="4763" cy="777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32" name="Text Box 22">
            <a:extLst>
              <a:ext uri="{FF2B5EF4-FFF2-40B4-BE49-F238E27FC236}">
                <a16:creationId xmlns:a16="http://schemas.microsoft.com/office/drawing/2014/main" id="{06A4A3CC-1EC4-4B52-9BE8-5AA6DCC407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0450" y="2770188"/>
            <a:ext cx="1746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receive window</a:t>
            </a:r>
          </a:p>
        </p:txBody>
      </p:sp>
      <p:sp>
        <p:nvSpPr>
          <p:cNvPr id="119833" name="Text Box 23">
            <a:extLst>
              <a:ext uri="{FF2B5EF4-FFF2-40B4-BE49-F238E27FC236}">
                <a16:creationId xmlns:a16="http://schemas.microsoft.com/office/drawing/2014/main" id="{2D9EF24A-E70E-48FC-9F52-6AC70CF6B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5850" y="3165475"/>
            <a:ext cx="1822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Urg data pointer</a:t>
            </a:r>
          </a:p>
        </p:txBody>
      </p:sp>
      <p:sp>
        <p:nvSpPr>
          <p:cNvPr id="119834" name="Text Box 24">
            <a:extLst>
              <a:ext uri="{FF2B5EF4-FFF2-40B4-BE49-F238E27FC236}">
                <a16:creationId xmlns:a16="http://schemas.microsoft.com/office/drawing/2014/main" id="{038C02F4-CDCD-4BB6-B6AC-5A1C59CFCE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763" y="3146425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checksum</a:t>
            </a:r>
          </a:p>
        </p:txBody>
      </p:sp>
      <p:sp>
        <p:nvSpPr>
          <p:cNvPr id="119835" name="Text Box 25">
            <a:extLst>
              <a:ext uri="{FF2B5EF4-FFF2-40B4-BE49-F238E27FC236}">
                <a16:creationId xmlns:a16="http://schemas.microsoft.com/office/drawing/2014/main" id="{FFCE4DCA-AED4-4163-9BAB-8C3BBC0E69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2313" y="2798763"/>
            <a:ext cx="3079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F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36" name="Line 26">
            <a:extLst>
              <a:ext uri="{FF2B5EF4-FFF2-40B4-BE49-F238E27FC236}">
                <a16:creationId xmlns:a16="http://schemas.microsoft.com/office/drawing/2014/main" id="{491F3335-2B7E-4D34-BA1F-0DF109CF37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11688" y="2757488"/>
            <a:ext cx="0" cy="39211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37" name="Line 27">
            <a:extLst>
              <a:ext uri="{FF2B5EF4-FFF2-40B4-BE49-F238E27FC236}">
                <a16:creationId xmlns:a16="http://schemas.microsoft.com/office/drawing/2014/main" id="{1263CD1D-59F3-44B8-B8B6-66B05B8E6F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49763" y="2762250"/>
            <a:ext cx="0" cy="3921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38" name="Line 28">
            <a:extLst>
              <a:ext uri="{FF2B5EF4-FFF2-40B4-BE49-F238E27FC236}">
                <a16:creationId xmlns:a16="http://schemas.microsoft.com/office/drawing/2014/main" id="{F36A6BEC-214F-4507-8ABA-EEB7917AE0E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83075" y="2762250"/>
            <a:ext cx="0" cy="3921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39" name="Line 29">
            <a:extLst>
              <a:ext uri="{FF2B5EF4-FFF2-40B4-BE49-F238E27FC236}">
                <a16:creationId xmlns:a16="http://schemas.microsoft.com/office/drawing/2014/main" id="{8B0D7AA5-FF52-4964-AB90-6C6CCA4FE0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21150" y="2767013"/>
            <a:ext cx="0" cy="39211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40" name="Line 30">
            <a:extLst>
              <a:ext uri="{FF2B5EF4-FFF2-40B4-BE49-F238E27FC236}">
                <a16:creationId xmlns:a16="http://schemas.microsoft.com/office/drawing/2014/main" id="{B24819BF-E8A0-4B70-BB19-775623EEB7E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63988" y="2762250"/>
            <a:ext cx="0" cy="3921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41" name="Line 31">
            <a:extLst>
              <a:ext uri="{FF2B5EF4-FFF2-40B4-BE49-F238E27FC236}">
                <a16:creationId xmlns:a16="http://schemas.microsoft.com/office/drawing/2014/main" id="{9D3809AB-124E-40CF-86D3-42A3D3AC348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92538" y="2771775"/>
            <a:ext cx="0" cy="3921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42" name="Text Box 32">
            <a:extLst>
              <a:ext uri="{FF2B5EF4-FFF2-40B4-BE49-F238E27FC236}">
                <a16:creationId xmlns:a16="http://schemas.microsoft.com/office/drawing/2014/main" id="{DD80127C-EEC0-4DF8-BD4F-BA938D4975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65625" y="2794000"/>
            <a:ext cx="3190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43" name="Text Box 33">
            <a:extLst>
              <a:ext uri="{FF2B5EF4-FFF2-40B4-BE49-F238E27FC236}">
                <a16:creationId xmlns:a16="http://schemas.microsoft.com/office/drawing/2014/main" id="{B0B05E3E-6806-4E5F-97F4-2196D6CEE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2588" y="2794000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44" name="Text Box 34">
            <a:extLst>
              <a:ext uri="{FF2B5EF4-FFF2-40B4-BE49-F238E27FC236}">
                <a16:creationId xmlns:a16="http://schemas.microsoft.com/office/drawing/2014/main" id="{55D3D886-F08B-4C4A-9F84-63B373434F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0663" y="2789238"/>
            <a:ext cx="3190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45" name="Text Box 35">
            <a:extLst>
              <a:ext uri="{FF2B5EF4-FFF2-40B4-BE49-F238E27FC236}">
                <a16:creationId xmlns:a16="http://schemas.microsoft.com/office/drawing/2014/main" id="{83017765-0626-4242-8921-D495B0C67E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8263" y="2789238"/>
            <a:ext cx="3190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A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46" name="Text Box 36">
            <a:extLst>
              <a:ext uri="{FF2B5EF4-FFF2-40B4-BE49-F238E27FC236}">
                <a16:creationId xmlns:a16="http://schemas.microsoft.com/office/drawing/2014/main" id="{EC20C214-6076-49CF-A491-9D600697B8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2789238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U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47" name="Text Box 37">
            <a:extLst>
              <a:ext uri="{FF2B5EF4-FFF2-40B4-BE49-F238E27FC236}">
                <a16:creationId xmlns:a16="http://schemas.microsoft.com/office/drawing/2014/main" id="{902D9D5D-1263-40FD-A61D-84CD6256C8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9075" y="2697163"/>
            <a:ext cx="57785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head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len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119848" name="Text Box 38">
            <a:extLst>
              <a:ext uri="{FF2B5EF4-FFF2-40B4-BE49-F238E27FC236}">
                <a16:creationId xmlns:a16="http://schemas.microsoft.com/office/drawing/2014/main" id="{198F9B6F-B94B-431E-B997-79F43F2ADB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0" y="2697163"/>
            <a:ext cx="568325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not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used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119849" name="Line 39">
            <a:extLst>
              <a:ext uri="{FF2B5EF4-FFF2-40B4-BE49-F238E27FC236}">
                <a16:creationId xmlns:a16="http://schemas.microsoft.com/office/drawing/2014/main" id="{52669C04-90B7-448D-BBAB-28519E89C5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87713" y="2762250"/>
            <a:ext cx="0" cy="3921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50" name="Text Box 40">
            <a:extLst>
              <a:ext uri="{FF2B5EF4-FFF2-40B4-BE49-F238E27FC236}">
                <a16:creationId xmlns:a16="http://schemas.microsoft.com/office/drawing/2014/main" id="{ABE86606-F862-4BB9-A580-EC22C06110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7875" y="3648075"/>
            <a:ext cx="289401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options (variable length)</a:t>
            </a:r>
            <a:endParaRPr lang="en-US" altLang="zh-TW" sz="2400">
              <a:latin typeface="Arial" panose="020B0604020202020204" pitchFamily="34" charset="0"/>
            </a:endParaRPr>
          </a:p>
        </p:txBody>
      </p:sp>
      <p:sp>
        <p:nvSpPr>
          <p:cNvPr id="119851" name="Text Box 42">
            <a:extLst>
              <a:ext uri="{FF2B5EF4-FFF2-40B4-BE49-F238E27FC236}">
                <a16:creationId xmlns:a16="http://schemas.microsoft.com/office/drawing/2014/main" id="{865C1B35-4249-4C79-B6E3-5C7041BFF9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538" y="2151063"/>
            <a:ext cx="2181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ACK: ACK # valid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119852" name="Text Box 44">
            <a:extLst>
              <a:ext uri="{FF2B5EF4-FFF2-40B4-BE49-F238E27FC236}">
                <a16:creationId xmlns:a16="http://schemas.microsoft.com/office/drawing/2014/main" id="{7ACA8D7B-FA44-4A73-B8CB-CD6D7F8F4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00" y="3627438"/>
            <a:ext cx="2711450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RST, SYN, FIN: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0070C0"/>
                </a:solidFill>
                <a:latin typeface="Arial" panose="020B0604020202020204" pitchFamily="34" charset="0"/>
              </a:rPr>
              <a:t>connection management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(setup, teardown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commands)</a:t>
            </a:r>
          </a:p>
        </p:txBody>
      </p:sp>
      <p:sp>
        <p:nvSpPr>
          <p:cNvPr id="119853" name="Line 46">
            <a:extLst>
              <a:ext uri="{FF2B5EF4-FFF2-40B4-BE49-F238E27FC236}">
                <a16:creationId xmlns:a16="http://schemas.microsoft.com/office/drawing/2014/main" id="{AE07AEF7-8668-4B2B-B3E4-8D1B9914B257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6488" y="2487613"/>
            <a:ext cx="1658937" cy="44132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54" name="Freeform 48">
            <a:extLst>
              <a:ext uri="{FF2B5EF4-FFF2-40B4-BE49-F238E27FC236}">
                <a16:creationId xmlns:a16="http://schemas.microsoft.com/office/drawing/2014/main" id="{4B308EFF-CD4E-4AC8-8177-6AD01B0DE60C}"/>
              </a:ext>
            </a:extLst>
          </p:cNvPr>
          <p:cNvSpPr>
            <a:spLocks/>
          </p:cNvSpPr>
          <p:nvPr/>
        </p:nvSpPr>
        <p:spPr bwMode="auto">
          <a:xfrm>
            <a:off x="2390775" y="3105150"/>
            <a:ext cx="2314575" cy="704850"/>
          </a:xfrm>
          <a:custGeom>
            <a:avLst/>
            <a:gdLst>
              <a:gd name="T0" fmla="*/ 0 w 1458"/>
              <a:gd name="T1" fmla="*/ 2147483646 h 444"/>
              <a:gd name="T2" fmla="*/ 2147483646 w 1458"/>
              <a:gd name="T3" fmla="*/ 0 h 444"/>
              <a:gd name="T4" fmla="*/ 2147483646 w 1458"/>
              <a:gd name="T5" fmla="*/ 2147483646 h 444"/>
              <a:gd name="T6" fmla="*/ 0 60000 65536"/>
              <a:gd name="T7" fmla="*/ 0 60000 65536"/>
              <a:gd name="T8" fmla="*/ 0 60000 65536"/>
              <a:gd name="T9" fmla="*/ 0 w 1458"/>
              <a:gd name="T10" fmla="*/ 0 h 444"/>
              <a:gd name="T11" fmla="*/ 1458 w 1458"/>
              <a:gd name="T12" fmla="*/ 444 h 4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58" h="444">
                <a:moveTo>
                  <a:pt x="0" y="444"/>
                </a:moveTo>
                <a:lnTo>
                  <a:pt x="1248" y="0"/>
                </a:lnTo>
                <a:lnTo>
                  <a:pt x="1458" y="6"/>
                </a:lnTo>
              </a:path>
            </a:pathLst>
          </a:cu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55" name="Text Box 49">
            <a:extLst>
              <a:ext uri="{FF2B5EF4-FFF2-40B4-BE49-F238E27FC236}">
                <a16:creationId xmlns:a16="http://schemas.microsoft.com/office/drawing/2014/main" id="{987EA30F-C175-431C-A5AB-11C18B393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39025" y="3008313"/>
            <a:ext cx="1704975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# bytes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rcvr willing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to accept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zh-TW" sz="180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flow control</a:t>
            </a:r>
          </a:p>
        </p:txBody>
      </p:sp>
      <p:sp>
        <p:nvSpPr>
          <p:cNvPr id="119856" name="Text Box 50">
            <a:extLst>
              <a:ext uri="{FF2B5EF4-FFF2-40B4-BE49-F238E27FC236}">
                <a16:creationId xmlns:a16="http://schemas.microsoft.com/office/drawing/2014/main" id="{74C517A5-F67F-4AC6-B66F-C39107745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638" y="1522413"/>
            <a:ext cx="1916112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 dirty="0">
                <a:solidFill>
                  <a:srgbClr val="FF0000"/>
                </a:solidFill>
                <a:latin typeface="Arial" panose="020B0604020202020204" pitchFamily="34" charset="0"/>
              </a:rPr>
              <a:t>counting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 dirty="0">
                <a:solidFill>
                  <a:srgbClr val="FF0000"/>
                </a:solidFill>
                <a:latin typeface="Arial" panose="020B0604020202020204" pitchFamily="34" charset="0"/>
              </a:rPr>
              <a:t>by bytes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 dirty="0">
                <a:solidFill>
                  <a:srgbClr val="FF0000"/>
                </a:solidFill>
                <a:latin typeface="Arial" panose="020B0604020202020204" pitchFamily="34" charset="0"/>
              </a:rPr>
              <a:t>of data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 dirty="0">
                <a:solidFill>
                  <a:srgbClr val="FF0000"/>
                </a:solidFill>
                <a:latin typeface="Arial" panose="020B0604020202020204" pitchFamily="34" charset="0"/>
              </a:rPr>
              <a:t>(not segments!)</a:t>
            </a:r>
          </a:p>
        </p:txBody>
      </p:sp>
      <p:sp>
        <p:nvSpPr>
          <p:cNvPr id="119857" name="Text Box 51">
            <a:extLst>
              <a:ext uri="{FF2B5EF4-FFF2-40B4-BE49-F238E27FC236}">
                <a16:creationId xmlns:a16="http://schemas.microsoft.com/office/drawing/2014/main" id="{9B0AE7E0-85D7-4A91-9B88-D86A1B5FA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2663" y="4960938"/>
            <a:ext cx="13652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dirty="0">
                <a:latin typeface="Arial" panose="020B0604020202020204" pitchFamily="34" charset="0"/>
              </a:rPr>
              <a:t>Internet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dirty="0">
                <a:solidFill>
                  <a:srgbClr val="0070C0"/>
                </a:solidFill>
                <a:latin typeface="Arial" panose="020B0604020202020204" pitchFamily="34" charset="0"/>
              </a:rPr>
              <a:t>checksum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dirty="0">
                <a:latin typeface="Arial" panose="020B0604020202020204" pitchFamily="34" charset="0"/>
              </a:rPr>
              <a:t>(as in UDP)</a:t>
            </a:r>
          </a:p>
        </p:txBody>
      </p:sp>
      <p:sp>
        <p:nvSpPr>
          <p:cNvPr id="119858" name="Line 52">
            <a:extLst>
              <a:ext uri="{FF2B5EF4-FFF2-40B4-BE49-F238E27FC236}">
                <a16:creationId xmlns:a16="http://schemas.microsoft.com/office/drawing/2014/main" id="{33342DC7-F680-43D7-8581-5B9B868ADCA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66950" y="3429000"/>
            <a:ext cx="2105025" cy="19812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59" name="Line 53">
            <a:extLst>
              <a:ext uri="{FF2B5EF4-FFF2-40B4-BE49-F238E27FC236}">
                <a16:creationId xmlns:a16="http://schemas.microsoft.com/office/drawing/2014/main" id="{12060D2A-8F18-45AF-901A-0D8959F63DD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686550" y="3019425"/>
            <a:ext cx="809625" cy="46672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60" name="Line 54">
            <a:extLst>
              <a:ext uri="{FF2B5EF4-FFF2-40B4-BE49-F238E27FC236}">
                <a16:creationId xmlns:a16="http://schemas.microsoft.com/office/drawing/2014/main" id="{7D1A4996-88E1-4C12-9FD0-19352AA3BC5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19875" y="1724025"/>
            <a:ext cx="552450" cy="88582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9861" name="Line 55">
            <a:extLst>
              <a:ext uri="{FF2B5EF4-FFF2-40B4-BE49-F238E27FC236}">
                <a16:creationId xmlns:a16="http://schemas.microsoft.com/office/drawing/2014/main" id="{C1126CE6-7627-4138-B942-603E65C6959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81775" y="1714500"/>
            <a:ext cx="571500" cy="5238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858" name="Picture 35" descr="underline_base">
            <a:extLst>
              <a:ext uri="{FF2B5EF4-FFF2-40B4-BE49-F238E27FC236}">
                <a16:creationId xmlns:a16="http://schemas.microsoft.com/office/drawing/2014/main" id="{CE18D22D-5D47-4984-9B04-EE6D71935FA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815975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1" name="Rectangle 4">
            <a:extLst>
              <a:ext uri="{FF2B5EF4-FFF2-40B4-BE49-F238E27FC236}">
                <a16:creationId xmlns:a16="http://schemas.microsoft.com/office/drawing/2014/main" id="{E681A1A0-04EE-4603-9B28-CA70754FD6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6713" y="150813"/>
            <a:ext cx="7772400" cy="88582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seq. numbers</a:t>
            </a:r>
          </a:p>
        </p:txBody>
      </p:sp>
      <p:sp>
        <p:nvSpPr>
          <p:cNvPr id="90116" name="Rectangle 5">
            <a:extLst>
              <a:ext uri="{FF2B5EF4-FFF2-40B4-BE49-F238E27FC236}">
                <a16:creationId xmlns:a16="http://schemas.microsoft.com/office/drawing/2014/main" id="{270E5543-4AAA-466B-8C41-2CE2B14BCD9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55600" y="1339850"/>
            <a:ext cx="8420100" cy="4648200"/>
          </a:xfrm>
        </p:spPr>
        <p:txBody>
          <a:bodyPr/>
          <a:lstStyle/>
          <a:p>
            <a:pPr>
              <a:defRPr/>
            </a:pPr>
            <a:r>
              <a:rPr lang="en-US" altLang="zh-TW" dirty="0">
                <a:solidFill>
                  <a:srgbClr val="FF0000"/>
                </a:solidFill>
              </a:rPr>
              <a:t>Maximum segment size (MSS)</a:t>
            </a:r>
            <a:r>
              <a:rPr lang="en-US" altLang="zh-TW" dirty="0"/>
              <a:t>: Maximum amount of data that can be grabbed and placed in a segment</a:t>
            </a:r>
          </a:p>
          <a:p>
            <a:pPr>
              <a:defRPr/>
            </a:pPr>
            <a:r>
              <a:rPr lang="en-US" altLang="zh-TW" dirty="0">
                <a:solidFill>
                  <a:srgbClr val="FF0000"/>
                </a:solidFill>
              </a:rPr>
              <a:t>Sequence number</a:t>
            </a:r>
            <a:r>
              <a:rPr lang="en-US" altLang="zh-TW" dirty="0"/>
              <a:t> for a segment: Byte-stream number of the first byte in the segment</a:t>
            </a:r>
          </a:p>
          <a:p>
            <a:pPr>
              <a:defRPr/>
            </a:pPr>
            <a:r>
              <a:rPr lang="en-US" altLang="zh-TW" dirty="0"/>
              <a:t>E.g., file size = 500,000 bytes and MSS = 1,000 bytes</a:t>
            </a:r>
          </a:p>
          <a:p>
            <a:pPr lvl="1">
              <a:defRPr/>
            </a:pPr>
            <a:r>
              <a:rPr lang="en-US" altLang="zh-TW" dirty="0"/>
              <a:t>Seq # of 1</a:t>
            </a:r>
            <a:r>
              <a:rPr lang="en-US" altLang="zh-TW" baseline="30000" dirty="0"/>
              <a:t>st</a:t>
            </a:r>
            <a:r>
              <a:rPr lang="en-US" altLang="zh-TW" dirty="0"/>
              <a:t> segment: 0; 2</a:t>
            </a:r>
            <a:r>
              <a:rPr lang="en-US" altLang="zh-TW" baseline="30000" dirty="0"/>
              <a:t>nd</a:t>
            </a:r>
            <a:r>
              <a:rPr lang="en-US" altLang="zh-TW" dirty="0"/>
              <a:t> segment: 1000</a:t>
            </a:r>
          </a:p>
          <a:p>
            <a:pPr marL="234950" indent="-123825">
              <a:buFont typeface="Wingdings" panose="05000000000000000000" pitchFamily="2" charset="2"/>
              <a:buChar char="l"/>
              <a:defRPr/>
            </a:pPr>
            <a:endParaRPr lang="en-US" altLang="zh-TW" dirty="0">
              <a:solidFill>
                <a:srgbClr val="0070C0"/>
              </a:solidFill>
            </a:endParaRPr>
          </a:p>
          <a:p>
            <a:pPr marL="234950" indent="-123825">
              <a:buFont typeface="Wingdings" panose="05000000000000000000" pitchFamily="2" charset="2"/>
              <a:buChar char="l"/>
              <a:defRPr/>
            </a:pPr>
            <a:endParaRPr lang="en-US" altLang="zh-TW" dirty="0"/>
          </a:p>
          <a:p>
            <a:pPr marL="512763" lvl="1" indent="-163513">
              <a:defRPr/>
            </a:pPr>
            <a:endParaRPr lang="en-US" altLang="ja-JP" sz="2000" dirty="0"/>
          </a:p>
        </p:txBody>
      </p:sp>
      <p:pic>
        <p:nvPicPr>
          <p:cNvPr id="121861" name="Picture 109">
            <a:extLst>
              <a:ext uri="{FF2B5EF4-FFF2-40B4-BE49-F238E27FC236}">
                <a16:creationId xmlns:a16="http://schemas.microsoft.com/office/drawing/2014/main" id="{FEDA6FFB-76B4-470E-B2B9-13592B1C0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375" y="3843338"/>
            <a:ext cx="7742238" cy="271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Footer Placeholder 5">
            <a:extLst>
              <a:ext uri="{FF2B5EF4-FFF2-40B4-BE49-F238E27FC236}">
                <a16:creationId xmlns:a16="http://schemas.microsoft.com/office/drawing/2014/main" id="{8D7AA9BC-D468-42CE-A2C1-19F0EADC0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23907" name="Slide Number Placeholder 6">
            <a:extLst>
              <a:ext uri="{FF2B5EF4-FFF2-40B4-BE49-F238E27FC236}">
                <a16:creationId xmlns:a16="http://schemas.microsoft.com/office/drawing/2014/main" id="{D54AC9AB-808B-4887-9DBE-3CC7DE258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CA230FAE-7745-4032-A37F-05FDDA73128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23908" name="Picture 35" descr="underline_base">
            <a:extLst>
              <a:ext uri="{FF2B5EF4-FFF2-40B4-BE49-F238E27FC236}">
                <a16:creationId xmlns:a16="http://schemas.microsoft.com/office/drawing/2014/main" id="{30D09485-B3B9-4FDB-B6B8-36C71758DEE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815975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1" name="Rectangle 4">
            <a:extLst>
              <a:ext uri="{FF2B5EF4-FFF2-40B4-BE49-F238E27FC236}">
                <a16:creationId xmlns:a16="http://schemas.microsoft.com/office/drawing/2014/main" id="{99248D9A-F873-4970-8EEF-35EC98B007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6713" y="150813"/>
            <a:ext cx="7772400" cy="88582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ACKs</a:t>
            </a:r>
          </a:p>
        </p:txBody>
      </p:sp>
      <p:sp>
        <p:nvSpPr>
          <p:cNvPr id="91142" name="Rectangle 5">
            <a:extLst>
              <a:ext uri="{FF2B5EF4-FFF2-40B4-BE49-F238E27FC236}">
                <a16:creationId xmlns:a16="http://schemas.microsoft.com/office/drawing/2014/main" id="{12FEB11A-BC15-4863-8719-33065D2D51B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55600" y="1339850"/>
            <a:ext cx="8150225" cy="4648200"/>
          </a:xfrm>
        </p:spPr>
        <p:txBody>
          <a:bodyPr/>
          <a:lstStyle/>
          <a:p>
            <a:pPr>
              <a:defRPr/>
            </a:pPr>
            <a:r>
              <a:rPr lang="en-US" altLang="zh-TW" dirty="0">
                <a:solidFill>
                  <a:srgbClr val="C00000"/>
                </a:solidFill>
              </a:rPr>
              <a:t>ACK number that receiver puts in its segment </a:t>
            </a:r>
          </a:p>
          <a:p>
            <a:pPr marL="0" indent="0">
              <a:buNone/>
              <a:defRPr/>
            </a:pPr>
            <a:r>
              <a:rPr lang="en-US" altLang="zh-TW" dirty="0">
                <a:solidFill>
                  <a:srgbClr val="C00000"/>
                </a:solidFill>
              </a:rPr>
              <a:t>= seq # of </a:t>
            </a:r>
            <a:r>
              <a:rPr lang="en-US" altLang="zh-TW" u="sng" dirty="0">
                <a:solidFill>
                  <a:srgbClr val="C00000"/>
                </a:solidFill>
              </a:rPr>
              <a:t>next</a:t>
            </a:r>
            <a:r>
              <a:rPr lang="en-US" altLang="zh-TW" dirty="0">
                <a:solidFill>
                  <a:srgbClr val="C00000"/>
                </a:solidFill>
              </a:rPr>
              <a:t> byte expected from other side</a:t>
            </a:r>
          </a:p>
          <a:p>
            <a:pPr lvl="1">
              <a:defRPr/>
            </a:pPr>
            <a:r>
              <a:rPr lang="en-US" altLang="zh-TW" dirty="0"/>
              <a:t>E.g., Host A has received all bytes 0 through 535 from B</a:t>
            </a:r>
          </a:p>
          <a:p>
            <a:pPr marL="457200" lvl="1" indent="0">
              <a:buNone/>
              <a:defRPr/>
            </a:pPr>
            <a:r>
              <a:rPr lang="en-US" altLang="zh-TW" dirty="0"/>
              <a:t>-&gt; ACK number = 536</a:t>
            </a:r>
          </a:p>
          <a:p>
            <a:pPr marL="512763" lvl="1" indent="-163513">
              <a:defRPr/>
            </a:pPr>
            <a:r>
              <a:rPr lang="en-US" altLang="zh-TW" dirty="0"/>
              <a:t>E.g., Host A has received one segment from Host B containing bytes 0 through 535 and another segment containing bytes 900 through 1,000</a:t>
            </a:r>
          </a:p>
          <a:p>
            <a:pPr marL="349250" lvl="1" indent="0">
              <a:buNone/>
              <a:defRPr/>
            </a:pPr>
            <a:r>
              <a:rPr lang="en-US" altLang="zh-TW" dirty="0"/>
              <a:t>-&gt; ACK number = 536 </a:t>
            </a:r>
          </a:p>
          <a:p>
            <a:pPr marL="349250" lvl="1" indent="0">
              <a:buNone/>
              <a:defRPr/>
            </a:pPr>
            <a:r>
              <a:rPr lang="en-US" altLang="zh-TW" dirty="0"/>
              <a:t>(acknowledges bytes up to the first missing byte of 536)</a:t>
            </a:r>
          </a:p>
          <a:p>
            <a:pPr>
              <a:defRPr/>
            </a:pPr>
            <a:r>
              <a:rPr lang="en-US" altLang="zh-TW" dirty="0">
                <a:solidFill>
                  <a:srgbClr val="FF0000"/>
                </a:solidFill>
              </a:rPr>
              <a:t>Cumulative ACK</a:t>
            </a:r>
            <a:r>
              <a:rPr lang="en-US" altLang="zh-TW" dirty="0"/>
              <a:t>:</a:t>
            </a:r>
            <a:r>
              <a:rPr lang="en-US" altLang="zh-TW" dirty="0">
                <a:solidFill>
                  <a:srgbClr val="0070C0"/>
                </a:solidFill>
              </a:rPr>
              <a:t> </a:t>
            </a:r>
            <a:r>
              <a:rPr lang="en-US" altLang="zh-HK" dirty="0"/>
              <a:t>TCP acknowledges bytes </a:t>
            </a:r>
            <a:r>
              <a:rPr lang="en-US" altLang="zh-HK" i="1" dirty="0">
                <a:solidFill>
                  <a:srgbClr val="0070C0"/>
                </a:solidFill>
              </a:rPr>
              <a:t>up to</a:t>
            </a:r>
            <a:r>
              <a:rPr lang="en-US" altLang="zh-HK" dirty="0">
                <a:solidFill>
                  <a:srgbClr val="0070C0"/>
                </a:solidFill>
              </a:rPr>
              <a:t> the first missing byte </a:t>
            </a:r>
            <a:r>
              <a:rPr lang="en-US" altLang="zh-HK" dirty="0"/>
              <a:t>in the stream</a:t>
            </a:r>
            <a:endParaRPr lang="en-US" altLang="zh-TW" dirty="0">
              <a:solidFill>
                <a:srgbClr val="0070C0"/>
              </a:solidFill>
            </a:endParaRPr>
          </a:p>
          <a:p>
            <a:pPr>
              <a:defRPr/>
            </a:pPr>
            <a:r>
              <a:rPr lang="en-US" altLang="zh-TW" sz="2400" dirty="0">
                <a:solidFill>
                  <a:srgbClr val="CC0000"/>
                </a:solidFill>
              </a:rPr>
              <a:t>Q:</a:t>
            </a:r>
            <a:r>
              <a:rPr lang="en-US" altLang="zh-TW" sz="2400" dirty="0"/>
              <a:t> how receiver handles </a:t>
            </a:r>
            <a:r>
              <a:rPr lang="en-US" altLang="zh-TW" sz="2400" dirty="0">
                <a:solidFill>
                  <a:srgbClr val="0070C0"/>
                </a:solidFill>
              </a:rPr>
              <a:t>out-of-order</a:t>
            </a:r>
            <a:r>
              <a:rPr lang="en-US" altLang="zh-TW" sz="2400" dirty="0"/>
              <a:t> segments</a:t>
            </a:r>
          </a:p>
          <a:p>
            <a:pPr marL="512763" lvl="1" indent="-163513">
              <a:defRPr/>
            </a:pPr>
            <a:r>
              <a:rPr lang="en-US" altLang="zh-TW" dirty="0"/>
              <a:t>A: TCP spec </a:t>
            </a:r>
            <a:r>
              <a:rPr lang="en-US" altLang="zh-TW" dirty="0" err="1"/>
              <a:t>doesn</a:t>
            </a:r>
            <a:r>
              <a:rPr lang="ja-JP" altLang="en-US" dirty="0"/>
              <a:t>’</a:t>
            </a:r>
            <a:r>
              <a:rPr lang="en-US" altLang="ja-JP" dirty="0"/>
              <a:t>t say, - up to implementor</a:t>
            </a: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Footer Placeholder 5">
            <a:extLst>
              <a:ext uri="{FF2B5EF4-FFF2-40B4-BE49-F238E27FC236}">
                <a16:creationId xmlns:a16="http://schemas.microsoft.com/office/drawing/2014/main" id="{B444CC7C-ACA9-4EC5-8084-2A06CC8A3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34025" y="64166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25955" name="Slide Number Placeholder 6">
            <a:extLst>
              <a:ext uri="{FF2B5EF4-FFF2-40B4-BE49-F238E27FC236}">
                <a16:creationId xmlns:a16="http://schemas.microsoft.com/office/drawing/2014/main" id="{2379E8CB-9F9A-4D3F-A2A5-5BDA92506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75CFC21A-A912-402C-A0BD-608F6B801E0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25956" name="Picture 35" descr="underline_base">
            <a:extLst>
              <a:ext uri="{FF2B5EF4-FFF2-40B4-BE49-F238E27FC236}">
                <a16:creationId xmlns:a16="http://schemas.microsoft.com/office/drawing/2014/main" id="{9F56913B-B8AB-486E-B11C-232C7D156AF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815975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5957" name="Rectangle 4">
            <a:extLst>
              <a:ext uri="{FF2B5EF4-FFF2-40B4-BE49-F238E27FC236}">
                <a16:creationId xmlns:a16="http://schemas.microsoft.com/office/drawing/2014/main" id="{DE6F76BD-7F1B-4FB1-9C85-C77A985C6F2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6713" y="150813"/>
            <a:ext cx="7772400" cy="885825"/>
          </a:xfrm>
        </p:spPr>
        <p:txBody>
          <a:bodyPr/>
          <a:lstStyle/>
          <a:p>
            <a:r>
              <a:rPr lang="en-US" altLang="zh-TW"/>
              <a:t>TCP seq. numbers</a:t>
            </a:r>
          </a:p>
        </p:txBody>
      </p:sp>
      <p:grpSp>
        <p:nvGrpSpPr>
          <p:cNvPr id="2" name="Group 192">
            <a:extLst>
              <a:ext uri="{FF2B5EF4-FFF2-40B4-BE49-F238E27FC236}">
                <a16:creationId xmlns:a16="http://schemas.microsoft.com/office/drawing/2014/main" id="{B6394859-A021-47D1-BCC7-C1083DB8945A}"/>
              </a:ext>
            </a:extLst>
          </p:cNvPr>
          <p:cNvGrpSpPr>
            <a:grpSpLocks/>
          </p:cNvGrpSpPr>
          <p:nvPr/>
        </p:nvGrpSpPr>
        <p:grpSpPr bwMode="auto">
          <a:xfrm>
            <a:off x="3594100" y="3816350"/>
            <a:ext cx="2897188" cy="2541588"/>
            <a:chOff x="3599" y="2404"/>
            <a:chExt cx="1825" cy="1601"/>
          </a:xfrm>
        </p:grpSpPr>
        <p:sp>
          <p:nvSpPr>
            <p:cNvPr id="126040" name="Rectangle 167">
              <a:extLst>
                <a:ext uri="{FF2B5EF4-FFF2-40B4-BE49-F238E27FC236}">
                  <a16:creationId xmlns:a16="http://schemas.microsoft.com/office/drawing/2014/main" id="{47628396-066D-4956-A798-DD0E7289D0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53" y="3587"/>
              <a:ext cx="1202" cy="130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26041" name="Group 148">
              <a:extLst>
                <a:ext uri="{FF2B5EF4-FFF2-40B4-BE49-F238E27FC236}">
                  <a16:creationId xmlns:a16="http://schemas.microsoft.com/office/drawing/2014/main" id="{B00593EB-56D4-4327-AD6D-4492D1D40C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3" y="3291"/>
              <a:ext cx="1252" cy="714"/>
              <a:chOff x="1976" y="2984"/>
              <a:chExt cx="1252" cy="714"/>
            </a:xfrm>
          </p:grpSpPr>
          <p:sp>
            <p:nvSpPr>
              <p:cNvPr id="126044" name="Rectangle 149">
                <a:extLst>
                  <a:ext uri="{FF2B5EF4-FFF2-40B4-BE49-F238E27FC236}">
                    <a16:creationId xmlns:a16="http://schemas.microsoft.com/office/drawing/2014/main" id="{3F750B0C-312E-4151-B00C-942165F325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94" y="2995"/>
                <a:ext cx="1210" cy="703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26045" name="Text Box 150">
                <a:extLst>
                  <a:ext uri="{FF2B5EF4-FFF2-40B4-BE49-F238E27FC236}">
                    <a16:creationId xmlns:a16="http://schemas.microsoft.com/office/drawing/2014/main" id="{F89B5AC0-D07A-4C80-A63A-7A6691064D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01" y="2984"/>
                <a:ext cx="58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source port #</a:t>
                </a:r>
              </a:p>
            </p:txBody>
          </p:sp>
          <p:sp>
            <p:nvSpPr>
              <p:cNvPr id="126046" name="Text Box 151">
                <a:extLst>
                  <a:ext uri="{FF2B5EF4-FFF2-40B4-BE49-F238E27FC236}">
                    <a16:creationId xmlns:a16="http://schemas.microsoft.com/office/drawing/2014/main" id="{BE9FB579-4418-4AB8-B04D-FD070938151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48" y="2987"/>
                <a:ext cx="49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dest port #</a:t>
                </a:r>
              </a:p>
            </p:txBody>
          </p:sp>
          <p:sp>
            <p:nvSpPr>
              <p:cNvPr id="126047" name="Text Box 152">
                <a:extLst>
                  <a:ext uri="{FF2B5EF4-FFF2-40B4-BE49-F238E27FC236}">
                    <a16:creationId xmlns:a16="http://schemas.microsoft.com/office/drawing/2014/main" id="{889995DE-E305-4C56-B55D-738307A4F8E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54" y="3117"/>
                <a:ext cx="912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latin typeface="Arial" panose="020B0604020202020204" pitchFamily="34" charset="0"/>
                  </a:rPr>
                  <a:t>sequence number</a:t>
                </a:r>
              </a:p>
            </p:txBody>
          </p:sp>
          <p:sp>
            <p:nvSpPr>
              <p:cNvPr id="126048" name="Text Box 153">
                <a:extLst>
                  <a:ext uri="{FF2B5EF4-FFF2-40B4-BE49-F238E27FC236}">
                    <a16:creationId xmlns:a16="http://schemas.microsoft.com/office/drawing/2014/main" id="{F1F2111B-3C3D-42AE-9FE8-FD12966E7B4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76" y="3257"/>
                <a:ext cx="1252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chemeClr val="bg1"/>
                    </a:solidFill>
                    <a:latin typeface="Arial" panose="020B0604020202020204" pitchFamily="34" charset="0"/>
                  </a:rPr>
                  <a:t>acknowledgement number</a:t>
                </a:r>
              </a:p>
            </p:txBody>
          </p:sp>
          <p:sp>
            <p:nvSpPr>
              <p:cNvPr id="126049" name="Text Box 154">
                <a:extLst>
                  <a:ext uri="{FF2B5EF4-FFF2-40B4-BE49-F238E27FC236}">
                    <a16:creationId xmlns:a16="http://schemas.microsoft.com/office/drawing/2014/main" id="{A93ADA50-0292-4200-89A4-DF721A823A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53" y="3544"/>
                <a:ext cx="47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checksum</a:t>
                </a:r>
              </a:p>
            </p:txBody>
          </p:sp>
          <p:sp>
            <p:nvSpPr>
              <p:cNvPr id="126050" name="Line 155">
                <a:extLst>
                  <a:ext uri="{FF2B5EF4-FFF2-40B4-BE49-F238E27FC236}">
                    <a16:creationId xmlns:a16="http://schemas.microsoft.com/office/drawing/2014/main" id="{3B1A7DFA-81B4-49DB-8E3A-174E9B022E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94" y="3138"/>
                <a:ext cx="121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51" name="Line 156">
                <a:extLst>
                  <a:ext uri="{FF2B5EF4-FFF2-40B4-BE49-F238E27FC236}">
                    <a16:creationId xmlns:a16="http://schemas.microsoft.com/office/drawing/2014/main" id="{B6CDD641-5711-4C94-964F-B561A866D4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94" y="3274"/>
                <a:ext cx="121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52" name="Line 157">
                <a:extLst>
                  <a:ext uri="{FF2B5EF4-FFF2-40B4-BE49-F238E27FC236}">
                    <a16:creationId xmlns:a16="http://schemas.microsoft.com/office/drawing/2014/main" id="{7DD7D72E-FFA7-4C27-84A8-DDEA36C979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92" y="3414"/>
                <a:ext cx="121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53" name="Line 158">
                <a:extLst>
                  <a:ext uri="{FF2B5EF4-FFF2-40B4-BE49-F238E27FC236}">
                    <a16:creationId xmlns:a16="http://schemas.microsoft.com/office/drawing/2014/main" id="{79D818F3-47A0-4739-A886-826FBD595C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88" y="2994"/>
                <a:ext cx="0" cy="1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54" name="Line 159">
                <a:extLst>
                  <a:ext uri="{FF2B5EF4-FFF2-40B4-BE49-F238E27FC236}">
                    <a16:creationId xmlns:a16="http://schemas.microsoft.com/office/drawing/2014/main" id="{D9EC2AE0-A3D8-4947-920A-31ED6E204F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88" y="3416"/>
                <a:ext cx="0" cy="2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55" name="Line 160">
                <a:extLst>
                  <a:ext uri="{FF2B5EF4-FFF2-40B4-BE49-F238E27FC236}">
                    <a16:creationId xmlns:a16="http://schemas.microsoft.com/office/drawing/2014/main" id="{ED91985A-BF63-4D5D-BE77-6C7A2FBE99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94" y="3548"/>
                <a:ext cx="121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56" name="Text Box 161">
                <a:extLst>
                  <a:ext uri="{FF2B5EF4-FFF2-40B4-BE49-F238E27FC236}">
                    <a16:creationId xmlns:a16="http://schemas.microsoft.com/office/drawing/2014/main" id="{9D2B8909-FBD7-40CD-9523-59E14F7791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08" y="3390"/>
                <a:ext cx="323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latin typeface="Arial" panose="020B0604020202020204" pitchFamily="34" charset="0"/>
                  </a:rPr>
                  <a:t>rwnd</a:t>
                </a:r>
              </a:p>
            </p:txBody>
          </p:sp>
          <p:sp>
            <p:nvSpPr>
              <p:cNvPr id="126057" name="Text Box 162">
                <a:extLst>
                  <a:ext uri="{FF2B5EF4-FFF2-40B4-BE49-F238E27FC236}">
                    <a16:creationId xmlns:a16="http://schemas.microsoft.com/office/drawing/2014/main" id="{89A42FA2-8C81-4DE0-B7D3-71AC11C475A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51" y="3544"/>
                <a:ext cx="49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urg pointer</a:t>
                </a:r>
              </a:p>
            </p:txBody>
          </p:sp>
          <p:sp>
            <p:nvSpPr>
              <p:cNvPr id="126058" name="Line 163">
                <a:extLst>
                  <a:ext uri="{FF2B5EF4-FFF2-40B4-BE49-F238E27FC236}">
                    <a16:creationId xmlns:a16="http://schemas.microsoft.com/office/drawing/2014/main" id="{632F7AC7-8D0E-4CD7-8C52-A6CB327E11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98" y="3413"/>
                <a:ext cx="0" cy="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59" name="Line 164">
                <a:extLst>
                  <a:ext uri="{FF2B5EF4-FFF2-40B4-BE49-F238E27FC236}">
                    <a16:creationId xmlns:a16="http://schemas.microsoft.com/office/drawing/2014/main" id="{40DC3D0C-BD48-4931-BEEA-C2F1F875B8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43" y="3412"/>
                <a:ext cx="0" cy="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26042" name="Text Box 166">
              <a:extLst>
                <a:ext uri="{FF2B5EF4-FFF2-40B4-BE49-F238E27FC236}">
                  <a16:creationId xmlns:a16="http://schemas.microsoft.com/office/drawing/2014/main" id="{5882E2BE-FD35-4E6C-8D51-34CDE8C47C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4" y="3092"/>
              <a:ext cx="172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solidFill>
                    <a:srgbClr val="0070C0"/>
                  </a:solidFill>
                  <a:latin typeface="Tahoma" panose="020B0604030504040204" pitchFamily="34" charset="0"/>
                </a:rPr>
                <a:t>incoming segment to sender</a:t>
              </a:r>
            </a:p>
          </p:txBody>
        </p:sp>
        <p:sp>
          <p:nvSpPr>
            <p:cNvPr id="126043" name="Freeform 168">
              <a:extLst>
                <a:ext uri="{FF2B5EF4-FFF2-40B4-BE49-F238E27FC236}">
                  <a16:creationId xmlns:a16="http://schemas.microsoft.com/office/drawing/2014/main" id="{8C5C4CC9-7156-4445-834B-5A36CD95F8BE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3599" y="2404"/>
              <a:ext cx="107" cy="1194"/>
            </a:xfrm>
            <a:custGeom>
              <a:avLst/>
              <a:gdLst>
                <a:gd name="T0" fmla="*/ 0 w 107"/>
                <a:gd name="T1" fmla="*/ 0 h 910"/>
                <a:gd name="T2" fmla="*/ 107 w 107"/>
                <a:gd name="T3" fmla="*/ 0 h 910"/>
                <a:gd name="T4" fmla="*/ 107 w 107"/>
                <a:gd name="T5" fmla="*/ 47617698 h 910"/>
                <a:gd name="T6" fmla="*/ 0 60000 65536"/>
                <a:gd name="T7" fmla="*/ 0 60000 65536"/>
                <a:gd name="T8" fmla="*/ 0 60000 65536"/>
                <a:gd name="T9" fmla="*/ 0 w 107"/>
                <a:gd name="T10" fmla="*/ 0 h 910"/>
                <a:gd name="T11" fmla="*/ 107 w 107"/>
                <a:gd name="T12" fmla="*/ 910 h 91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7" h="910">
                  <a:moveTo>
                    <a:pt x="0" y="0"/>
                  </a:moveTo>
                  <a:lnTo>
                    <a:pt x="107" y="0"/>
                  </a:lnTo>
                  <a:lnTo>
                    <a:pt x="107" y="910"/>
                  </a:lnTo>
                </a:path>
              </a:pathLst>
            </a:custGeom>
            <a:noFill/>
            <a:ln w="9525" cap="flat" cmpd="sng">
              <a:solidFill>
                <a:srgbClr val="CC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" name="Group 195">
            <a:extLst>
              <a:ext uri="{FF2B5EF4-FFF2-40B4-BE49-F238E27FC236}">
                <a16:creationId xmlns:a16="http://schemas.microsoft.com/office/drawing/2014/main" id="{B91EE877-BC46-4960-800A-AD848A2D9ECF}"/>
              </a:ext>
            </a:extLst>
          </p:cNvPr>
          <p:cNvGrpSpPr>
            <a:grpSpLocks/>
          </p:cNvGrpSpPr>
          <p:nvPr/>
        </p:nvGrpSpPr>
        <p:grpSpPr bwMode="auto">
          <a:xfrm>
            <a:off x="4370388" y="5849938"/>
            <a:ext cx="358775" cy="304800"/>
            <a:chOff x="5144" y="3677"/>
            <a:chExt cx="226" cy="192"/>
          </a:xfrm>
        </p:grpSpPr>
        <p:sp>
          <p:nvSpPr>
            <p:cNvPr id="126038" name="Rectangle 194">
              <a:extLst>
                <a:ext uri="{FF2B5EF4-FFF2-40B4-BE49-F238E27FC236}">
                  <a16:creationId xmlns:a16="http://schemas.microsoft.com/office/drawing/2014/main" id="{A03CAA51-D2D0-4CD5-9729-84F4347D2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2" y="3716"/>
              <a:ext cx="88" cy="130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6039" name="Text Box 193">
              <a:extLst>
                <a:ext uri="{FF2B5EF4-FFF2-40B4-BE49-F238E27FC236}">
                  <a16:creationId xmlns:a16="http://schemas.microsoft.com/office/drawing/2014/main" id="{DE7BCCCA-E991-4661-8792-F436B9B357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44" y="3677"/>
              <a:ext cx="22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chemeClr val="bg1"/>
                  </a:solidFill>
                  <a:latin typeface="Arial Narrow" panose="020B0606020202030204" pitchFamily="34" charset="0"/>
                </a:rPr>
                <a:t>A</a:t>
              </a:r>
            </a:p>
          </p:txBody>
        </p:sp>
      </p:grpSp>
      <p:sp>
        <p:nvSpPr>
          <p:cNvPr id="125960" name="Rectangle 37">
            <a:extLst>
              <a:ext uri="{FF2B5EF4-FFF2-40B4-BE49-F238E27FC236}">
                <a16:creationId xmlns:a16="http://schemas.microsoft.com/office/drawing/2014/main" id="{AFCC49EB-830B-4005-9E64-FA4CF5DCEE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0950" y="3038475"/>
            <a:ext cx="65088" cy="622300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rgbClr val="33CC33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1" name="Rectangle 39">
            <a:extLst>
              <a:ext uri="{FF2B5EF4-FFF2-40B4-BE49-F238E27FC236}">
                <a16:creationId xmlns:a16="http://schemas.microsoft.com/office/drawing/2014/main" id="{26B4EBAA-33B0-410C-9BDC-77B88AE65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7788" y="3040063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2" name="Rectangle 40">
            <a:extLst>
              <a:ext uri="{FF2B5EF4-FFF2-40B4-BE49-F238E27FC236}">
                <a16:creationId xmlns:a16="http://schemas.microsoft.com/office/drawing/2014/main" id="{7792732E-62A6-4966-AC61-0BD4879EE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6213" y="3038475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3" name="Rectangle 41">
            <a:extLst>
              <a:ext uri="{FF2B5EF4-FFF2-40B4-BE49-F238E27FC236}">
                <a16:creationId xmlns:a16="http://schemas.microsoft.com/office/drawing/2014/main" id="{1381FB40-E7BE-44A9-93D0-C9075818A8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3050" y="3038475"/>
            <a:ext cx="65088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4" name="Rectangle 42">
            <a:extLst>
              <a:ext uri="{FF2B5EF4-FFF2-40B4-BE49-F238E27FC236}">
                <a16:creationId xmlns:a16="http://schemas.microsoft.com/office/drawing/2014/main" id="{9052F639-F572-4374-BA2F-90D44F1ED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8300" y="3038475"/>
            <a:ext cx="65088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5" name="Rectangle 43">
            <a:extLst>
              <a:ext uri="{FF2B5EF4-FFF2-40B4-BE49-F238E27FC236}">
                <a16:creationId xmlns:a16="http://schemas.microsoft.com/office/drawing/2014/main" id="{FBBEA665-A082-46B6-9B61-1B757A976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5138" y="3038475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6" name="Rectangle 45">
            <a:extLst>
              <a:ext uri="{FF2B5EF4-FFF2-40B4-BE49-F238E27FC236}">
                <a16:creationId xmlns:a16="http://schemas.microsoft.com/office/drawing/2014/main" id="{7A620DF4-96EF-4573-A381-76BD97F67A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7213" y="3038475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7" name="Rectangle 46">
            <a:extLst>
              <a:ext uri="{FF2B5EF4-FFF2-40B4-BE49-F238E27FC236}">
                <a16:creationId xmlns:a16="http://schemas.microsoft.com/office/drawing/2014/main" id="{BAAA6242-181B-4740-95A1-93001B2AD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2463" y="3038475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8" name="Rectangle 47">
            <a:extLst>
              <a:ext uri="{FF2B5EF4-FFF2-40B4-BE49-F238E27FC236}">
                <a16:creationId xmlns:a16="http://schemas.microsoft.com/office/drawing/2014/main" id="{E2C5A5E6-3BDF-4CA4-AAA0-634AD6FAF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7713" y="3038475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69" name="Rectangle 50">
            <a:extLst>
              <a:ext uri="{FF2B5EF4-FFF2-40B4-BE49-F238E27FC236}">
                <a16:creationId xmlns:a16="http://schemas.microsoft.com/office/drawing/2014/main" id="{312E28B9-0321-47C8-A793-AB0CA0BA7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4075" y="3038475"/>
            <a:ext cx="65088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0" name="Rectangle 51">
            <a:extLst>
              <a:ext uri="{FF2B5EF4-FFF2-40B4-BE49-F238E27FC236}">
                <a16:creationId xmlns:a16="http://schemas.microsoft.com/office/drawing/2014/main" id="{E1FA38BC-7B8D-4A40-B55F-BF04F1C7EB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3040063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1" name="Rectangle 52">
            <a:extLst>
              <a:ext uri="{FF2B5EF4-FFF2-40B4-BE49-F238E27FC236}">
                <a16:creationId xmlns:a16="http://schemas.microsoft.com/office/drawing/2014/main" id="{EB6B6BF6-BC14-4006-B72D-DDFDC02C93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9338" y="3038475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2" name="Rectangle 53">
            <a:extLst>
              <a:ext uri="{FF2B5EF4-FFF2-40B4-BE49-F238E27FC236}">
                <a16:creationId xmlns:a16="http://schemas.microsoft.com/office/drawing/2014/main" id="{3B8D442D-CBBB-47E9-A2A6-05E4D5BA6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6175" y="3038475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3" name="Rectangle 54">
            <a:extLst>
              <a:ext uri="{FF2B5EF4-FFF2-40B4-BE49-F238E27FC236}">
                <a16:creationId xmlns:a16="http://schemas.microsoft.com/office/drawing/2014/main" id="{F838B00D-57E3-42AC-AEA0-DB5058D9C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3013" y="3038475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4" name="Rectangle 55">
            <a:extLst>
              <a:ext uri="{FF2B5EF4-FFF2-40B4-BE49-F238E27FC236}">
                <a16:creationId xmlns:a16="http://schemas.microsoft.com/office/drawing/2014/main" id="{54306CE1-827C-4443-9E68-D3319874B9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8263" y="3038475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5" name="Rectangle 56">
            <a:extLst>
              <a:ext uri="{FF2B5EF4-FFF2-40B4-BE49-F238E27FC236}">
                <a16:creationId xmlns:a16="http://schemas.microsoft.com/office/drawing/2014/main" id="{E39558FC-88A5-4EAE-B0C0-51C997D298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70338" y="3038475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6" name="Rectangle 57">
            <a:extLst>
              <a:ext uri="{FF2B5EF4-FFF2-40B4-BE49-F238E27FC236}">
                <a16:creationId xmlns:a16="http://schemas.microsoft.com/office/drawing/2014/main" id="{5E4D1439-2BBE-4978-BDCA-1A41A6873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5588" y="3038475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7" name="Rectangle 58">
            <a:extLst>
              <a:ext uri="{FF2B5EF4-FFF2-40B4-BE49-F238E27FC236}">
                <a16:creationId xmlns:a16="http://schemas.microsoft.com/office/drawing/2014/main" id="{888CBCFB-78DB-425E-9C6E-1D3EFBE105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2425" y="3038475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8" name="Rectangle 59">
            <a:extLst>
              <a:ext uri="{FF2B5EF4-FFF2-40B4-BE49-F238E27FC236}">
                <a16:creationId xmlns:a16="http://schemas.microsoft.com/office/drawing/2014/main" id="{9C0C6EA2-78D9-46E0-AE44-26DF7FFF35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1325" y="3038475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79" name="Rectangle 60">
            <a:extLst>
              <a:ext uri="{FF2B5EF4-FFF2-40B4-BE49-F238E27FC236}">
                <a16:creationId xmlns:a16="http://schemas.microsoft.com/office/drawing/2014/main" id="{7E223589-3432-452B-B4AB-20C05BAADA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6575" y="3038475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0" name="Rectangle 61">
            <a:extLst>
              <a:ext uri="{FF2B5EF4-FFF2-40B4-BE49-F238E27FC236}">
                <a16:creationId xmlns:a16="http://schemas.microsoft.com/office/drawing/2014/main" id="{A0ED7A48-4EE4-434C-A63E-E4A19DA28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0238" y="3036888"/>
            <a:ext cx="65087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1" name="Rectangle 62">
            <a:extLst>
              <a:ext uri="{FF2B5EF4-FFF2-40B4-BE49-F238E27FC236}">
                <a16:creationId xmlns:a16="http://schemas.microsoft.com/office/drawing/2014/main" id="{F348F81A-B50A-4262-B104-02E6F90AB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2313" y="3036888"/>
            <a:ext cx="65087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2" name="Rectangle 63">
            <a:extLst>
              <a:ext uri="{FF2B5EF4-FFF2-40B4-BE49-F238E27FC236}">
                <a16:creationId xmlns:a16="http://schemas.microsoft.com/office/drawing/2014/main" id="{7EE7DBCD-2DA9-4B43-B722-91E3952C9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9150" y="3036888"/>
            <a:ext cx="65088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3" name="Rectangle 64">
            <a:extLst>
              <a:ext uri="{FF2B5EF4-FFF2-40B4-BE49-F238E27FC236}">
                <a16:creationId xmlns:a16="http://schemas.microsoft.com/office/drawing/2014/main" id="{AAD52EE0-8C0D-4A18-B3CB-3EF207FE0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3036888"/>
            <a:ext cx="65088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4" name="Rectangle 65">
            <a:extLst>
              <a:ext uri="{FF2B5EF4-FFF2-40B4-BE49-F238E27FC236}">
                <a16:creationId xmlns:a16="http://schemas.microsoft.com/office/drawing/2014/main" id="{9979E48B-341D-4AD1-BBEF-BA0BED768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3300" y="3036888"/>
            <a:ext cx="65088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5" name="Rectangle 66">
            <a:extLst>
              <a:ext uri="{FF2B5EF4-FFF2-40B4-BE49-F238E27FC236}">
                <a16:creationId xmlns:a16="http://schemas.microsoft.com/office/drawing/2014/main" id="{4B1F0B2A-A192-47D6-A710-CD38BBE739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8550" y="3036888"/>
            <a:ext cx="65088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6" name="Rectangle 68">
            <a:extLst>
              <a:ext uri="{FF2B5EF4-FFF2-40B4-BE49-F238E27FC236}">
                <a16:creationId xmlns:a16="http://schemas.microsoft.com/office/drawing/2014/main" id="{7F957FDE-E8A7-4B93-A66D-1CF0EF914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5388" y="3038475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7" name="Rectangle 69">
            <a:extLst>
              <a:ext uri="{FF2B5EF4-FFF2-40B4-BE49-F238E27FC236}">
                <a16:creationId xmlns:a16="http://schemas.microsoft.com/office/drawing/2014/main" id="{3EAAC22F-BAEB-489D-8731-9C2A6FA2D1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2225" y="3040063"/>
            <a:ext cx="65088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8" name="Rectangle 70">
            <a:extLst>
              <a:ext uri="{FF2B5EF4-FFF2-40B4-BE49-F238E27FC236}">
                <a16:creationId xmlns:a16="http://schemas.microsoft.com/office/drawing/2014/main" id="{7D2F135E-2340-4ADD-BB9C-89A6C5887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9063" y="3038475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89" name="Rectangle 71">
            <a:extLst>
              <a:ext uri="{FF2B5EF4-FFF2-40B4-BE49-F238E27FC236}">
                <a16:creationId xmlns:a16="http://schemas.microsoft.com/office/drawing/2014/main" id="{E1BD363D-223A-4ACA-9A9C-43B7C2B32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88" y="3038475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90" name="Rectangle 72">
            <a:extLst>
              <a:ext uri="{FF2B5EF4-FFF2-40B4-BE49-F238E27FC236}">
                <a16:creationId xmlns:a16="http://schemas.microsoft.com/office/drawing/2014/main" id="{FDA5486F-9737-46F8-873C-7CFF2D687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2738" y="3038475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91" name="Rectangle 73">
            <a:extLst>
              <a:ext uri="{FF2B5EF4-FFF2-40B4-BE49-F238E27FC236}">
                <a16:creationId xmlns:a16="http://schemas.microsoft.com/office/drawing/2014/main" id="{CFA76DD4-4A5E-4A39-9D09-7017CE4E2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7988" y="3038475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92" name="Rectangle 74">
            <a:extLst>
              <a:ext uri="{FF2B5EF4-FFF2-40B4-BE49-F238E27FC236}">
                <a16:creationId xmlns:a16="http://schemas.microsoft.com/office/drawing/2014/main" id="{FF1C02A9-9BBC-477F-AAC9-8FD6C8AA9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3038475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93" name="Rectangle 75">
            <a:extLst>
              <a:ext uri="{FF2B5EF4-FFF2-40B4-BE49-F238E27FC236}">
                <a16:creationId xmlns:a16="http://schemas.microsoft.com/office/drawing/2014/main" id="{0D6DC2FD-60E4-4B36-B397-75314B6283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6900" y="3038475"/>
            <a:ext cx="65088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94" name="Rectangle 76">
            <a:extLst>
              <a:ext uri="{FF2B5EF4-FFF2-40B4-BE49-F238E27FC236}">
                <a16:creationId xmlns:a16="http://schemas.microsoft.com/office/drawing/2014/main" id="{AAD0F5D9-505D-4A27-AB41-A64999FC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2150" y="3038475"/>
            <a:ext cx="65088" cy="622300"/>
          </a:xfrm>
          <a:prstGeom prst="rect">
            <a:avLst/>
          </a:pr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95" name="Rectangle 78">
            <a:extLst>
              <a:ext uri="{FF2B5EF4-FFF2-40B4-BE49-F238E27FC236}">
                <a16:creationId xmlns:a16="http://schemas.microsoft.com/office/drawing/2014/main" id="{455BC90D-2B99-454C-9807-40BACE9062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8088" y="3776663"/>
            <a:ext cx="3408362" cy="88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96" name="Rectangle 79">
            <a:extLst>
              <a:ext uri="{FF2B5EF4-FFF2-40B4-BE49-F238E27FC236}">
                <a16:creationId xmlns:a16="http://schemas.microsoft.com/office/drawing/2014/main" id="{E12E7920-DABA-41AA-A862-A11C729A8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813" y="2928938"/>
            <a:ext cx="3408362" cy="88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25997" name="Line 80">
            <a:extLst>
              <a:ext uri="{FF2B5EF4-FFF2-40B4-BE49-F238E27FC236}">
                <a16:creationId xmlns:a16="http://schemas.microsoft.com/office/drawing/2014/main" id="{51DE8EF2-0D43-4E3F-B186-3D33F15CC3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586038" y="3890963"/>
            <a:ext cx="868362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25998" name="Line 82">
            <a:extLst>
              <a:ext uri="{FF2B5EF4-FFF2-40B4-BE49-F238E27FC236}">
                <a16:creationId xmlns:a16="http://schemas.microsoft.com/office/drawing/2014/main" id="{D47A7EA8-3797-4AF4-B134-640671CF7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521075" y="3892550"/>
            <a:ext cx="868363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25999" name="Line 83">
            <a:extLst>
              <a:ext uri="{FF2B5EF4-FFF2-40B4-BE49-F238E27FC236}">
                <a16:creationId xmlns:a16="http://schemas.microsoft.com/office/drawing/2014/main" id="{48233896-9A4C-4B3D-AE40-D2171FA7F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5014913" y="3890963"/>
            <a:ext cx="801687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26000" name="Line 84">
            <a:extLst>
              <a:ext uri="{FF2B5EF4-FFF2-40B4-BE49-F238E27FC236}">
                <a16:creationId xmlns:a16="http://schemas.microsoft.com/office/drawing/2014/main" id="{03B906FA-9748-41B4-8541-E71B77A380B8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5000" y="3892550"/>
            <a:ext cx="528638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26001" name="Line 87">
            <a:extLst>
              <a:ext uri="{FF2B5EF4-FFF2-40B4-BE49-F238E27FC236}">
                <a16:creationId xmlns:a16="http://schemas.microsoft.com/office/drawing/2014/main" id="{BDC1B1E2-2968-4AE1-A37E-A3F934B904A6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8113" y="3914775"/>
            <a:ext cx="0" cy="233363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26002" name="Line 88">
            <a:extLst>
              <a:ext uri="{FF2B5EF4-FFF2-40B4-BE49-F238E27FC236}">
                <a16:creationId xmlns:a16="http://schemas.microsoft.com/office/drawing/2014/main" id="{7D832420-203B-40EE-B50F-479F6CAB92E5}"/>
              </a:ext>
            </a:extLst>
          </p:cNvPr>
          <p:cNvSpPr>
            <a:spLocks noChangeShapeType="1"/>
          </p:cNvSpPr>
          <p:nvPr/>
        </p:nvSpPr>
        <p:spPr bwMode="auto">
          <a:xfrm>
            <a:off x="3906838" y="3910013"/>
            <a:ext cx="0" cy="23336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26003" name="Line 89">
            <a:extLst>
              <a:ext uri="{FF2B5EF4-FFF2-40B4-BE49-F238E27FC236}">
                <a16:creationId xmlns:a16="http://schemas.microsoft.com/office/drawing/2014/main" id="{141DBB9D-0AF0-4969-AFEF-12A03FB17A5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5988" y="3910013"/>
            <a:ext cx="0" cy="23336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26004" name="Line 90">
            <a:extLst>
              <a:ext uri="{FF2B5EF4-FFF2-40B4-BE49-F238E27FC236}">
                <a16:creationId xmlns:a16="http://schemas.microsoft.com/office/drawing/2014/main" id="{0CD960D4-7409-48E1-AFC9-947ADF062F0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3213" y="3910013"/>
            <a:ext cx="0" cy="23336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26005" name="Text Box 91">
            <a:extLst>
              <a:ext uri="{FF2B5EF4-FFF2-40B4-BE49-F238E27FC236}">
                <a16:creationId xmlns:a16="http://schemas.microsoft.com/office/drawing/2014/main" id="{00960DDF-5C74-43DE-9916-EBFFAD56C0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4288" y="4138613"/>
            <a:ext cx="693737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sent 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ACKed</a:t>
            </a:r>
          </a:p>
        </p:txBody>
      </p:sp>
      <p:sp>
        <p:nvSpPr>
          <p:cNvPr id="126006" name="Text Box 92">
            <a:extLst>
              <a:ext uri="{FF2B5EF4-FFF2-40B4-BE49-F238E27FC236}">
                <a16:creationId xmlns:a16="http://schemas.microsoft.com/office/drawing/2014/main" id="{EFA2FABD-E025-4755-A92E-2EDECD2F89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5363" y="4144963"/>
            <a:ext cx="1066800" cy="668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sent, not-yet ACKed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(</a:t>
            </a:r>
            <a:r>
              <a:rPr lang="ja-JP" altLang="en-US" sz="1400">
                <a:latin typeface="Tahoma" panose="020B0604030504040204" pitchFamily="34" charset="0"/>
              </a:rPr>
              <a:t>“</a:t>
            </a:r>
            <a:r>
              <a:rPr lang="en-US" altLang="ja-JP" sz="1400">
                <a:latin typeface="Tahoma" panose="020B0604030504040204" pitchFamily="34" charset="0"/>
              </a:rPr>
              <a:t>in-flight</a:t>
            </a:r>
            <a:r>
              <a:rPr lang="ja-JP" altLang="en-US" sz="1400">
                <a:latin typeface="Tahoma" panose="020B0604030504040204" pitchFamily="34" charset="0"/>
              </a:rPr>
              <a:t>”</a:t>
            </a:r>
            <a:r>
              <a:rPr lang="en-US" altLang="ja-JP" sz="1400">
                <a:latin typeface="Tahoma" panose="020B0604030504040204" pitchFamily="34" charset="0"/>
              </a:rPr>
              <a:t>)</a:t>
            </a:r>
            <a:endParaRPr lang="en-US" altLang="zh-TW" sz="1400">
              <a:latin typeface="Tahoma" panose="020B0604030504040204" pitchFamily="34" charset="0"/>
            </a:endParaRPr>
          </a:p>
        </p:txBody>
      </p:sp>
      <p:sp>
        <p:nvSpPr>
          <p:cNvPr id="126007" name="Text Box 93">
            <a:extLst>
              <a:ext uri="{FF2B5EF4-FFF2-40B4-BE49-F238E27FC236}">
                <a16:creationId xmlns:a16="http://schemas.microsoft.com/office/drawing/2014/main" id="{16395029-52A3-4B3B-80FA-5A1990B4B9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4850" y="4140200"/>
            <a:ext cx="1066800" cy="668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usable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but not 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yet sent</a:t>
            </a:r>
          </a:p>
        </p:txBody>
      </p:sp>
      <p:sp>
        <p:nvSpPr>
          <p:cNvPr id="126008" name="Text Box 94">
            <a:extLst>
              <a:ext uri="{FF2B5EF4-FFF2-40B4-BE49-F238E27FC236}">
                <a16:creationId xmlns:a16="http://schemas.microsoft.com/office/drawing/2014/main" id="{AC28A3D7-72B9-42F1-8830-C5BABAF499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72088" y="4144963"/>
            <a:ext cx="8191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not 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usable</a:t>
            </a:r>
          </a:p>
        </p:txBody>
      </p:sp>
      <p:sp>
        <p:nvSpPr>
          <p:cNvPr id="126009" name="Text Box 96">
            <a:extLst>
              <a:ext uri="{FF2B5EF4-FFF2-40B4-BE49-F238E27FC236}">
                <a16:creationId xmlns:a16="http://schemas.microsoft.com/office/drawing/2014/main" id="{B5FFCF26-4FC7-40E0-B562-64253091D7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4738" y="2573338"/>
            <a:ext cx="1131887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window size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1">
                <a:latin typeface="Tahoma" panose="020B0604030504040204" pitchFamily="34" charset="0"/>
              </a:rPr>
              <a:t> N</a:t>
            </a:r>
          </a:p>
        </p:txBody>
      </p:sp>
      <p:grpSp>
        <p:nvGrpSpPr>
          <p:cNvPr id="126010" name="Group 99">
            <a:extLst>
              <a:ext uri="{FF2B5EF4-FFF2-40B4-BE49-F238E27FC236}">
                <a16:creationId xmlns:a16="http://schemas.microsoft.com/office/drawing/2014/main" id="{6F99BC07-51DF-4AB2-8663-D84015CF7661}"/>
              </a:ext>
            </a:extLst>
          </p:cNvPr>
          <p:cNvGrpSpPr>
            <a:grpSpLocks/>
          </p:cNvGrpSpPr>
          <p:nvPr/>
        </p:nvGrpSpPr>
        <p:grpSpPr bwMode="auto">
          <a:xfrm>
            <a:off x="4381500" y="2797175"/>
            <a:ext cx="593725" cy="136525"/>
            <a:chOff x="4250" y="1692"/>
            <a:chExt cx="374" cy="86"/>
          </a:xfrm>
        </p:grpSpPr>
        <p:sp>
          <p:nvSpPr>
            <p:cNvPr id="126036" name="Line 97">
              <a:extLst>
                <a:ext uri="{FF2B5EF4-FFF2-40B4-BE49-F238E27FC236}">
                  <a16:creationId xmlns:a16="http://schemas.microsoft.com/office/drawing/2014/main" id="{8E62CA3F-8032-4D8C-A1B3-AC329B75DB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0" y="1738"/>
              <a:ext cx="374" cy="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26037" name="Line 98">
              <a:extLst>
                <a:ext uri="{FF2B5EF4-FFF2-40B4-BE49-F238E27FC236}">
                  <a16:creationId xmlns:a16="http://schemas.microsoft.com/office/drawing/2014/main" id="{EBAD1378-A2C7-4B5C-9FE7-2C354144F8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22" y="1692"/>
              <a:ext cx="0" cy="8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26011" name="Group 100">
            <a:extLst>
              <a:ext uri="{FF2B5EF4-FFF2-40B4-BE49-F238E27FC236}">
                <a16:creationId xmlns:a16="http://schemas.microsoft.com/office/drawing/2014/main" id="{ADA5D23A-DC17-411B-AE75-5F3250654F21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3489325" y="2822575"/>
            <a:ext cx="593725" cy="136525"/>
            <a:chOff x="4250" y="1692"/>
            <a:chExt cx="374" cy="86"/>
          </a:xfrm>
        </p:grpSpPr>
        <p:sp>
          <p:nvSpPr>
            <p:cNvPr id="126034" name="Line 101">
              <a:extLst>
                <a:ext uri="{FF2B5EF4-FFF2-40B4-BE49-F238E27FC236}">
                  <a16:creationId xmlns:a16="http://schemas.microsoft.com/office/drawing/2014/main" id="{99D87858-17BC-4804-AFA3-050D2D35AA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3" y="1741"/>
              <a:ext cx="374" cy="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26035" name="Line 102">
              <a:extLst>
                <a:ext uri="{FF2B5EF4-FFF2-40B4-BE49-F238E27FC236}">
                  <a16:creationId xmlns:a16="http://schemas.microsoft.com/office/drawing/2014/main" id="{B903298D-E6FD-49EA-B9AA-384986E515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25" y="1695"/>
              <a:ext cx="0" cy="8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26012" name="Text Box 196">
            <a:extLst>
              <a:ext uri="{FF2B5EF4-FFF2-40B4-BE49-F238E27FC236}">
                <a16:creationId xmlns:a16="http://schemas.microsoft.com/office/drawing/2014/main" id="{FBA7A900-3205-494E-BFD9-EB72744CAC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0188" y="3592513"/>
            <a:ext cx="31781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1"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 i="1">
                <a:latin typeface="Tahoma" panose="020B0604030504040204" pitchFamily="34" charset="0"/>
              </a:rPr>
              <a:t>sender sequence number space </a:t>
            </a:r>
          </a:p>
        </p:txBody>
      </p:sp>
      <p:grpSp>
        <p:nvGrpSpPr>
          <p:cNvPr id="7" name="Group 199">
            <a:extLst>
              <a:ext uri="{FF2B5EF4-FFF2-40B4-BE49-F238E27FC236}">
                <a16:creationId xmlns:a16="http://schemas.microsoft.com/office/drawing/2014/main" id="{92AB38B1-3B9B-40A0-9F52-964D101EF2A0}"/>
              </a:ext>
            </a:extLst>
          </p:cNvPr>
          <p:cNvGrpSpPr>
            <a:grpSpLocks/>
          </p:cNvGrpSpPr>
          <p:nvPr/>
        </p:nvGrpSpPr>
        <p:grpSpPr bwMode="auto">
          <a:xfrm>
            <a:off x="2273300" y="1068388"/>
            <a:ext cx="2952750" cy="1954212"/>
            <a:chOff x="2768" y="673"/>
            <a:chExt cx="1860" cy="1231"/>
          </a:xfrm>
        </p:grpSpPr>
        <p:sp>
          <p:nvSpPr>
            <p:cNvPr id="126014" name="Rectangle 171">
              <a:extLst>
                <a:ext uri="{FF2B5EF4-FFF2-40B4-BE49-F238E27FC236}">
                  <a16:creationId xmlns:a16="http://schemas.microsoft.com/office/drawing/2014/main" id="{AD5B6579-4162-41C7-95E9-8942ADF582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0" y="1028"/>
              <a:ext cx="1202" cy="130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26015" name="Group 172">
              <a:extLst>
                <a:ext uri="{FF2B5EF4-FFF2-40B4-BE49-F238E27FC236}">
                  <a16:creationId xmlns:a16="http://schemas.microsoft.com/office/drawing/2014/main" id="{A81F2581-EE07-4742-B2DE-7CDAC5802A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20" y="872"/>
              <a:ext cx="1252" cy="714"/>
              <a:chOff x="1976" y="2984"/>
              <a:chExt cx="1252" cy="714"/>
            </a:xfrm>
          </p:grpSpPr>
          <p:sp>
            <p:nvSpPr>
              <p:cNvPr id="126018" name="Rectangle 173">
                <a:extLst>
                  <a:ext uri="{FF2B5EF4-FFF2-40B4-BE49-F238E27FC236}">
                    <a16:creationId xmlns:a16="http://schemas.microsoft.com/office/drawing/2014/main" id="{95BFE542-EFFD-4A18-8171-FF9F0DFD8B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94" y="2995"/>
                <a:ext cx="1210" cy="703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26019" name="Text Box 174">
                <a:extLst>
                  <a:ext uri="{FF2B5EF4-FFF2-40B4-BE49-F238E27FC236}">
                    <a16:creationId xmlns:a16="http://schemas.microsoft.com/office/drawing/2014/main" id="{3BA6E8B4-EF97-443B-84AC-18146F346AB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01" y="2984"/>
                <a:ext cx="58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source port #</a:t>
                </a:r>
              </a:p>
            </p:txBody>
          </p:sp>
          <p:sp>
            <p:nvSpPr>
              <p:cNvPr id="126020" name="Text Box 175">
                <a:extLst>
                  <a:ext uri="{FF2B5EF4-FFF2-40B4-BE49-F238E27FC236}">
                    <a16:creationId xmlns:a16="http://schemas.microsoft.com/office/drawing/2014/main" id="{7C026AB3-615E-4F31-8098-FFF7750F50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48" y="2987"/>
                <a:ext cx="49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dest port #</a:t>
                </a:r>
              </a:p>
            </p:txBody>
          </p:sp>
          <p:sp>
            <p:nvSpPr>
              <p:cNvPr id="126021" name="Text Box 176">
                <a:extLst>
                  <a:ext uri="{FF2B5EF4-FFF2-40B4-BE49-F238E27FC236}">
                    <a16:creationId xmlns:a16="http://schemas.microsoft.com/office/drawing/2014/main" id="{9ACC8AAC-FE6E-487B-8158-E9729F40AAA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54" y="3117"/>
                <a:ext cx="912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chemeClr val="bg1"/>
                    </a:solidFill>
                    <a:latin typeface="Arial" panose="020B0604020202020204" pitchFamily="34" charset="0"/>
                  </a:rPr>
                  <a:t>sequence number</a:t>
                </a:r>
              </a:p>
            </p:txBody>
          </p:sp>
          <p:sp>
            <p:nvSpPr>
              <p:cNvPr id="126022" name="Text Box 177">
                <a:extLst>
                  <a:ext uri="{FF2B5EF4-FFF2-40B4-BE49-F238E27FC236}">
                    <a16:creationId xmlns:a16="http://schemas.microsoft.com/office/drawing/2014/main" id="{D43CF39B-0C8F-4446-A636-7F3E90215E8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76" y="3257"/>
                <a:ext cx="1252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latin typeface="Arial" panose="020B0604020202020204" pitchFamily="34" charset="0"/>
                  </a:rPr>
                  <a:t>acknowledgement number</a:t>
                </a:r>
              </a:p>
            </p:txBody>
          </p:sp>
          <p:sp>
            <p:nvSpPr>
              <p:cNvPr id="126023" name="Text Box 178">
                <a:extLst>
                  <a:ext uri="{FF2B5EF4-FFF2-40B4-BE49-F238E27FC236}">
                    <a16:creationId xmlns:a16="http://schemas.microsoft.com/office/drawing/2014/main" id="{CA53BB29-4D48-4782-ADBC-427674C9EB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53" y="3544"/>
                <a:ext cx="47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checksum</a:t>
                </a:r>
              </a:p>
            </p:txBody>
          </p:sp>
          <p:sp>
            <p:nvSpPr>
              <p:cNvPr id="126024" name="Line 179">
                <a:extLst>
                  <a:ext uri="{FF2B5EF4-FFF2-40B4-BE49-F238E27FC236}">
                    <a16:creationId xmlns:a16="http://schemas.microsoft.com/office/drawing/2014/main" id="{8EF31A63-2FDD-4967-BC7D-8B11FF75F9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94" y="3138"/>
                <a:ext cx="121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25" name="Line 180">
                <a:extLst>
                  <a:ext uri="{FF2B5EF4-FFF2-40B4-BE49-F238E27FC236}">
                    <a16:creationId xmlns:a16="http://schemas.microsoft.com/office/drawing/2014/main" id="{E897E0F4-0169-4B96-9AC0-708E97D45B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94" y="3274"/>
                <a:ext cx="121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26" name="Line 181">
                <a:extLst>
                  <a:ext uri="{FF2B5EF4-FFF2-40B4-BE49-F238E27FC236}">
                    <a16:creationId xmlns:a16="http://schemas.microsoft.com/office/drawing/2014/main" id="{F46E24D3-3D5C-4097-9BAB-D4418A67D5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92" y="3414"/>
                <a:ext cx="121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27" name="Line 182">
                <a:extLst>
                  <a:ext uri="{FF2B5EF4-FFF2-40B4-BE49-F238E27FC236}">
                    <a16:creationId xmlns:a16="http://schemas.microsoft.com/office/drawing/2014/main" id="{153A514B-951D-4A21-B53F-B58532E2F5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88" y="2994"/>
                <a:ext cx="0" cy="1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28" name="Line 183">
                <a:extLst>
                  <a:ext uri="{FF2B5EF4-FFF2-40B4-BE49-F238E27FC236}">
                    <a16:creationId xmlns:a16="http://schemas.microsoft.com/office/drawing/2014/main" id="{680FE218-D140-4D90-938B-EB2631A457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88" y="3416"/>
                <a:ext cx="0" cy="2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29" name="Line 184">
                <a:extLst>
                  <a:ext uri="{FF2B5EF4-FFF2-40B4-BE49-F238E27FC236}">
                    <a16:creationId xmlns:a16="http://schemas.microsoft.com/office/drawing/2014/main" id="{282072DA-9B6A-431D-A8CA-0796B366FFD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94" y="3548"/>
                <a:ext cx="121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30" name="Text Box 185">
                <a:extLst>
                  <a:ext uri="{FF2B5EF4-FFF2-40B4-BE49-F238E27FC236}">
                    <a16:creationId xmlns:a16="http://schemas.microsoft.com/office/drawing/2014/main" id="{D87786E8-2BCB-4384-8FE6-2F73E5C2D8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08" y="3390"/>
                <a:ext cx="323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latin typeface="Arial" panose="020B0604020202020204" pitchFamily="34" charset="0"/>
                  </a:rPr>
                  <a:t>rwnd</a:t>
                </a:r>
              </a:p>
            </p:txBody>
          </p:sp>
          <p:sp>
            <p:nvSpPr>
              <p:cNvPr id="126031" name="Text Box 186">
                <a:extLst>
                  <a:ext uri="{FF2B5EF4-FFF2-40B4-BE49-F238E27FC236}">
                    <a16:creationId xmlns:a16="http://schemas.microsoft.com/office/drawing/2014/main" id="{53DD84F5-0C28-4E42-BE9C-C153FF652E3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51" y="3544"/>
                <a:ext cx="49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urg pointer</a:t>
                </a:r>
              </a:p>
            </p:txBody>
          </p:sp>
          <p:sp>
            <p:nvSpPr>
              <p:cNvPr id="126032" name="Line 187">
                <a:extLst>
                  <a:ext uri="{FF2B5EF4-FFF2-40B4-BE49-F238E27FC236}">
                    <a16:creationId xmlns:a16="http://schemas.microsoft.com/office/drawing/2014/main" id="{A5EB2C4F-E53E-4A2A-A63A-A26D150C88F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98" y="3413"/>
                <a:ext cx="0" cy="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26033" name="Line 188">
                <a:extLst>
                  <a:ext uri="{FF2B5EF4-FFF2-40B4-BE49-F238E27FC236}">
                    <a16:creationId xmlns:a16="http://schemas.microsoft.com/office/drawing/2014/main" id="{2440D8BD-D21E-42B7-8A47-FFCA0F35F8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43" y="3412"/>
                <a:ext cx="0" cy="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26016" name="Text Box 189">
              <a:extLst>
                <a:ext uri="{FF2B5EF4-FFF2-40B4-BE49-F238E27FC236}">
                  <a16:creationId xmlns:a16="http://schemas.microsoft.com/office/drawing/2014/main" id="{0A0C7B5C-4571-4C1F-ADA6-8C0708A1CE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68" y="673"/>
              <a:ext cx="186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solidFill>
                    <a:srgbClr val="0070C0"/>
                  </a:solidFill>
                  <a:latin typeface="Tahoma" panose="020B0604030504040204" pitchFamily="34" charset="0"/>
                </a:rPr>
                <a:t>outgoing segment from sender</a:t>
              </a:r>
            </a:p>
          </p:txBody>
        </p:sp>
        <p:sp>
          <p:nvSpPr>
            <p:cNvPr id="126017" name="Freeform 190">
              <a:extLst>
                <a:ext uri="{FF2B5EF4-FFF2-40B4-BE49-F238E27FC236}">
                  <a16:creationId xmlns:a16="http://schemas.microsoft.com/office/drawing/2014/main" id="{AA77DDF5-336D-4582-A38B-F21BB143BEED}"/>
                </a:ext>
              </a:extLst>
            </p:cNvPr>
            <p:cNvSpPr>
              <a:spLocks/>
            </p:cNvSpPr>
            <p:nvPr/>
          </p:nvSpPr>
          <p:spPr bwMode="auto">
            <a:xfrm>
              <a:off x="4050" y="1080"/>
              <a:ext cx="107" cy="824"/>
            </a:xfrm>
            <a:custGeom>
              <a:avLst/>
              <a:gdLst>
                <a:gd name="T0" fmla="*/ 0 w 107"/>
                <a:gd name="T1" fmla="*/ 0 h 910"/>
                <a:gd name="T2" fmla="*/ 107 w 107"/>
                <a:gd name="T3" fmla="*/ 0 h 910"/>
                <a:gd name="T4" fmla="*/ 107 w 107"/>
                <a:gd name="T5" fmla="*/ 17 h 910"/>
                <a:gd name="T6" fmla="*/ 0 60000 65536"/>
                <a:gd name="T7" fmla="*/ 0 60000 65536"/>
                <a:gd name="T8" fmla="*/ 0 60000 65536"/>
                <a:gd name="T9" fmla="*/ 0 w 107"/>
                <a:gd name="T10" fmla="*/ 0 h 910"/>
                <a:gd name="T11" fmla="*/ 107 w 107"/>
                <a:gd name="T12" fmla="*/ 910 h 91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7" h="910">
                  <a:moveTo>
                    <a:pt x="0" y="0"/>
                  </a:moveTo>
                  <a:lnTo>
                    <a:pt x="107" y="0"/>
                  </a:lnTo>
                  <a:lnTo>
                    <a:pt x="107" y="910"/>
                  </a:lnTo>
                </a:path>
              </a:pathLst>
            </a:custGeom>
            <a:noFill/>
            <a:ln w="9525" cap="flat" cmpd="sng">
              <a:solidFill>
                <a:srgbClr val="CC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Footer Placeholder 5">
            <a:extLst>
              <a:ext uri="{FF2B5EF4-FFF2-40B4-BE49-F238E27FC236}">
                <a16:creationId xmlns:a16="http://schemas.microsoft.com/office/drawing/2014/main" id="{890E5570-2668-41CC-920E-901F0608F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26979" name="Slide Number Placeholder 6">
            <a:extLst>
              <a:ext uri="{FF2B5EF4-FFF2-40B4-BE49-F238E27FC236}">
                <a16:creationId xmlns:a16="http://schemas.microsoft.com/office/drawing/2014/main" id="{6DF23025-1C2F-42C6-A24E-C761821E6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973C8B88-EE6C-472B-9D80-AF036509836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26980" name="Picture 2" descr="underline_base">
            <a:extLst>
              <a:ext uri="{FF2B5EF4-FFF2-40B4-BE49-F238E27FC236}">
                <a16:creationId xmlns:a16="http://schemas.microsoft.com/office/drawing/2014/main" id="{EFC9B131-AC64-473A-9372-B01617D822A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815975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47" name="Rectangle 5">
            <a:extLst>
              <a:ext uri="{FF2B5EF4-FFF2-40B4-BE49-F238E27FC236}">
                <a16:creationId xmlns:a16="http://schemas.microsoft.com/office/drawing/2014/main" id="{86930D0B-22D7-4ABE-84F8-E60D17AF68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6713" y="150813"/>
            <a:ext cx="7772400" cy="88582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seq. numbers, </a:t>
            </a:r>
            <a:r>
              <a:rPr lang="en-US" sz="4000" dirty="0">
                <a:ea typeface="ＭＳ Ｐゴシック" charset="0"/>
                <a:cs typeface="+mj-cs"/>
              </a:rPr>
              <a:t>ACK</a:t>
            </a:r>
            <a:r>
              <a:rPr lang="en-US" dirty="0">
                <a:ea typeface="ＭＳ Ｐゴシック" charset="0"/>
                <a:cs typeface="+mj-cs"/>
              </a:rPr>
              <a:t>s</a:t>
            </a:r>
          </a:p>
        </p:txBody>
      </p:sp>
      <p:grpSp>
        <p:nvGrpSpPr>
          <p:cNvPr id="126982" name="群組 28">
            <a:extLst>
              <a:ext uri="{FF2B5EF4-FFF2-40B4-BE49-F238E27FC236}">
                <a16:creationId xmlns:a16="http://schemas.microsoft.com/office/drawing/2014/main" id="{2F558D81-3B65-4581-AE8A-66F72632F63D}"/>
              </a:ext>
            </a:extLst>
          </p:cNvPr>
          <p:cNvGrpSpPr>
            <a:grpSpLocks/>
          </p:cNvGrpSpPr>
          <p:nvPr/>
        </p:nvGrpSpPr>
        <p:grpSpPr bwMode="auto">
          <a:xfrm>
            <a:off x="4748213" y="1430338"/>
            <a:ext cx="4098925" cy="4262437"/>
            <a:chOff x="2233613" y="1430338"/>
            <a:chExt cx="4799012" cy="4227512"/>
          </a:xfrm>
        </p:grpSpPr>
        <p:sp>
          <p:nvSpPr>
            <p:cNvPr id="126984" name="Line 3">
              <a:extLst>
                <a:ext uri="{FF2B5EF4-FFF2-40B4-BE49-F238E27FC236}">
                  <a16:creationId xmlns:a16="http://schemas.microsoft.com/office/drawing/2014/main" id="{286D98AD-E2C6-4C8F-9A0E-61F654CF98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9775" y="4483100"/>
              <a:ext cx="2590800" cy="506413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26985" name="Line 4">
              <a:extLst>
                <a:ext uri="{FF2B5EF4-FFF2-40B4-BE49-F238E27FC236}">
                  <a16:creationId xmlns:a16="http://schemas.microsoft.com/office/drawing/2014/main" id="{143E8E0C-B03A-4338-ABD6-A1BA7F60D9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063" y="2714625"/>
              <a:ext cx="2586037" cy="57150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26986" name="Text Box 7">
              <a:extLst>
                <a:ext uri="{FF2B5EF4-FFF2-40B4-BE49-F238E27FC236}">
                  <a16:creationId xmlns:a16="http://schemas.microsoft.com/office/drawing/2014/main" id="{860E4254-DFCC-4536-834B-85E20213AC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84438" y="2320925"/>
              <a:ext cx="809625" cy="7540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User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types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ja-JP" altLang="en-US" sz="1600">
                  <a:latin typeface="Tahoma" panose="020B0604030504040204" pitchFamily="34" charset="0"/>
                </a:rPr>
                <a:t>‘</a:t>
              </a:r>
              <a:r>
                <a:rPr lang="en-US" altLang="ja-JP" sz="1600">
                  <a:latin typeface="Tahoma" panose="020B0604030504040204" pitchFamily="34" charset="0"/>
                </a:rPr>
                <a:t>C</a:t>
              </a:r>
              <a:r>
                <a:rPr lang="ja-JP" altLang="en-US" sz="1600">
                  <a:latin typeface="Tahoma" panose="020B0604030504040204" pitchFamily="34" charset="0"/>
                </a:rPr>
                <a:t>’</a:t>
              </a:r>
              <a:endParaRPr lang="en-US" altLang="zh-TW" sz="1000">
                <a:latin typeface="Tahoma" panose="020B0604030504040204" pitchFamily="34" charset="0"/>
              </a:endParaRPr>
            </a:p>
          </p:txBody>
        </p:sp>
        <p:sp>
          <p:nvSpPr>
            <p:cNvPr id="126987" name="Text Box 8">
              <a:extLst>
                <a:ext uri="{FF2B5EF4-FFF2-40B4-BE49-F238E27FC236}">
                  <a16:creationId xmlns:a16="http://schemas.microsoft.com/office/drawing/2014/main" id="{000EC27D-A25A-4991-912E-76FF4C33E7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3613" y="3933825"/>
              <a:ext cx="1084262" cy="974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host ACKs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receipt 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of echoed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ja-JP" altLang="en-US" sz="1600">
                  <a:latin typeface="Tahoma" panose="020B0604030504040204" pitchFamily="34" charset="0"/>
                </a:rPr>
                <a:t>‘</a:t>
              </a:r>
              <a:r>
                <a:rPr lang="en-US" altLang="ja-JP" sz="1600">
                  <a:latin typeface="Tahoma" panose="020B0604030504040204" pitchFamily="34" charset="0"/>
                </a:rPr>
                <a:t>C</a:t>
              </a:r>
              <a:r>
                <a:rPr lang="ja-JP" altLang="en-US" sz="1600">
                  <a:latin typeface="Tahoma" panose="020B0604030504040204" pitchFamily="34" charset="0"/>
                </a:rPr>
                <a:t>’</a:t>
              </a:r>
              <a:endParaRPr lang="en-US" altLang="zh-TW" sz="1000">
                <a:latin typeface="Tahoma" panose="020B0604030504040204" pitchFamily="34" charset="0"/>
              </a:endParaRPr>
            </a:p>
          </p:txBody>
        </p:sp>
        <p:sp>
          <p:nvSpPr>
            <p:cNvPr id="126988" name="Text Box 9">
              <a:extLst>
                <a:ext uri="{FF2B5EF4-FFF2-40B4-BE49-F238E27FC236}">
                  <a16:creationId xmlns:a16="http://schemas.microsoft.com/office/drawing/2014/main" id="{31F0187F-4B27-400F-8522-4E15AC38B7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94388" y="3055938"/>
              <a:ext cx="1138237" cy="1069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host ACKs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receipt of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ja-JP" altLang="en-US" sz="1600">
                  <a:latin typeface="Tahoma" panose="020B0604030504040204" pitchFamily="34" charset="0"/>
                </a:rPr>
                <a:t>‘</a:t>
              </a:r>
              <a:r>
                <a:rPr lang="en-US" altLang="ja-JP" sz="1600">
                  <a:latin typeface="Tahoma" panose="020B0604030504040204" pitchFamily="34" charset="0"/>
                </a:rPr>
                <a:t>C</a:t>
              </a:r>
              <a:r>
                <a:rPr lang="ja-JP" altLang="en-US" sz="1600">
                  <a:latin typeface="Tahoma" panose="020B0604030504040204" pitchFamily="34" charset="0"/>
                </a:rPr>
                <a:t>’</a:t>
              </a:r>
              <a:r>
                <a:rPr lang="en-US" altLang="ja-JP" sz="1600">
                  <a:latin typeface="Tahoma" panose="020B0604030504040204" pitchFamily="34" charset="0"/>
                </a:rPr>
                <a:t>, echoes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back </a:t>
              </a:r>
              <a:r>
                <a:rPr lang="ja-JP" altLang="en-US" sz="1600">
                  <a:latin typeface="Tahoma" panose="020B0604030504040204" pitchFamily="34" charset="0"/>
                </a:rPr>
                <a:t>‘</a:t>
              </a:r>
              <a:r>
                <a:rPr lang="en-US" altLang="ja-JP" sz="1600">
                  <a:latin typeface="Tahoma" panose="020B0604030504040204" pitchFamily="34" charset="0"/>
                </a:rPr>
                <a:t>C</a:t>
              </a:r>
              <a:r>
                <a:rPr lang="ja-JP" altLang="en-US" sz="1600">
                  <a:latin typeface="Tahoma" panose="020B0604030504040204" pitchFamily="34" charset="0"/>
                </a:rPr>
                <a:t>’</a:t>
              </a:r>
              <a:endParaRPr lang="en-US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6989" name="Line 10">
              <a:extLst>
                <a:ext uri="{FF2B5EF4-FFF2-40B4-BE49-F238E27FC236}">
                  <a16:creationId xmlns:a16="http://schemas.microsoft.com/office/drawing/2014/main" id="{C481B11E-BF07-4E92-BA9C-2B7760A27C2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84538" y="3487738"/>
              <a:ext cx="2554287" cy="80010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26990" name="Text Box 11">
              <a:extLst>
                <a:ext uri="{FF2B5EF4-FFF2-40B4-BE49-F238E27FC236}">
                  <a16:creationId xmlns:a16="http://schemas.microsoft.com/office/drawing/2014/main" id="{C9EBDED8-19C3-43B5-8734-C9206D937F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8213" y="5291138"/>
              <a:ext cx="2379662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99"/>
                  </a:solidFill>
                  <a:latin typeface="Tahoma" panose="020B0604030504040204" pitchFamily="34" charset="0"/>
                </a:rPr>
                <a:t>simple telnet scenario</a:t>
              </a:r>
              <a:endParaRPr lang="en-US" altLang="zh-TW" sz="1000">
                <a:solidFill>
                  <a:srgbClr val="000099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26991" name="Text Box 13">
              <a:extLst>
                <a:ext uri="{FF2B5EF4-FFF2-40B4-BE49-F238E27FC236}">
                  <a16:creationId xmlns:a16="http://schemas.microsoft.com/office/drawing/2014/main" id="{246E3AF0-ED11-425C-8032-338049FE06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68938" y="1430338"/>
              <a:ext cx="77311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Host B</a:t>
              </a:r>
            </a:p>
          </p:txBody>
        </p:sp>
        <p:sp>
          <p:nvSpPr>
            <p:cNvPr id="126992" name="Text Box 17">
              <a:extLst>
                <a:ext uri="{FF2B5EF4-FFF2-40B4-BE49-F238E27FC236}">
                  <a16:creationId xmlns:a16="http://schemas.microsoft.com/office/drawing/2014/main" id="{3D163882-E65A-4ED2-986C-A4B4E13585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8775" y="1436688"/>
              <a:ext cx="7731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Host A</a:t>
              </a:r>
            </a:p>
          </p:txBody>
        </p:sp>
        <p:sp>
          <p:nvSpPr>
            <p:cNvPr id="126993" name="Rectangle 18">
              <a:extLst>
                <a:ext uri="{FF2B5EF4-FFF2-40B4-BE49-F238E27FC236}">
                  <a16:creationId xmlns:a16="http://schemas.microsoft.com/office/drawing/2014/main" id="{76551B60-F481-457C-910E-2045C6FFDB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6863" y="2806700"/>
              <a:ext cx="814387" cy="3794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6994" name="Text Box 19">
              <a:extLst>
                <a:ext uri="{FF2B5EF4-FFF2-40B4-BE49-F238E27FC236}">
                  <a16:creationId xmlns:a16="http://schemas.microsoft.com/office/drawing/2014/main" id="{10F2A1AA-1A84-4EA6-9E7B-5599989629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98838" y="2859088"/>
              <a:ext cx="242252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Seq=42, ACK=79, data = </a:t>
              </a:r>
              <a:r>
                <a:rPr lang="ja-JP" altLang="en-US" sz="1400">
                  <a:latin typeface="Tahoma" panose="020B0604030504040204" pitchFamily="34" charset="0"/>
                </a:rPr>
                <a:t>‘</a:t>
              </a:r>
              <a:r>
                <a:rPr lang="en-US" altLang="ja-JP" sz="1400">
                  <a:latin typeface="Tahoma" panose="020B0604030504040204" pitchFamily="34" charset="0"/>
                </a:rPr>
                <a:t>C</a:t>
              </a:r>
              <a:r>
                <a:rPr lang="ja-JP" altLang="en-US" sz="1400">
                  <a:latin typeface="Tahoma" panose="020B0604030504040204" pitchFamily="34" charset="0"/>
                </a:rPr>
                <a:t>’</a:t>
              </a:r>
              <a:endParaRPr lang="en-US" altLang="zh-TW" sz="1400">
                <a:latin typeface="Tahoma" panose="020B0604030504040204" pitchFamily="34" charset="0"/>
              </a:endParaRPr>
            </a:p>
          </p:txBody>
        </p:sp>
        <p:sp>
          <p:nvSpPr>
            <p:cNvPr id="126995" name="Rectangle 20">
              <a:extLst>
                <a:ext uri="{FF2B5EF4-FFF2-40B4-BE49-F238E27FC236}">
                  <a16:creationId xmlns:a16="http://schemas.microsoft.com/office/drawing/2014/main" id="{8AC7E978-2219-4695-916F-E226662136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1788" y="3765550"/>
              <a:ext cx="823912" cy="2460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6996" name="Text Box 21">
              <a:extLst>
                <a:ext uri="{FF2B5EF4-FFF2-40B4-BE49-F238E27FC236}">
                  <a16:creationId xmlns:a16="http://schemas.microsoft.com/office/drawing/2014/main" id="{A1AB8349-87FC-43ED-85BF-4B0712E661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2013" y="3754438"/>
              <a:ext cx="24177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Seq=79, ACK=43, data = </a:t>
              </a:r>
              <a:r>
                <a:rPr lang="ja-JP" altLang="en-US" sz="1400">
                  <a:latin typeface="Arial" panose="020B0604020202020204" pitchFamily="34" charset="0"/>
                </a:rPr>
                <a:t>‘</a:t>
              </a:r>
              <a:r>
                <a:rPr lang="en-US" altLang="ja-JP" sz="1400">
                  <a:latin typeface="Arial" panose="020B0604020202020204" pitchFamily="34" charset="0"/>
                </a:rPr>
                <a:t>C</a:t>
              </a:r>
              <a:r>
                <a:rPr lang="ja-JP" altLang="en-US" sz="1400">
                  <a:latin typeface="Arial" panose="020B0604020202020204" pitchFamily="34" charset="0"/>
                </a:rPr>
                <a:t>’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  <p:sp>
          <p:nvSpPr>
            <p:cNvPr id="126997" name="Rectangle 22">
              <a:extLst>
                <a:ext uri="{FF2B5EF4-FFF2-40B4-BE49-F238E27FC236}">
                  <a16:creationId xmlns:a16="http://schemas.microsoft.com/office/drawing/2014/main" id="{8B6274E3-F3C6-4FB7-B13E-CD3459D58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463" y="4613275"/>
              <a:ext cx="958850" cy="3571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6998" name="Text Box 23">
              <a:extLst>
                <a:ext uri="{FF2B5EF4-FFF2-40B4-BE49-F238E27FC236}">
                  <a16:creationId xmlns:a16="http://schemas.microsoft.com/office/drawing/2014/main" id="{4C497289-994F-4FBA-8D2B-7E055D9441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7788" y="4627563"/>
              <a:ext cx="156527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Seq=43, ACK=80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  <p:sp>
          <p:nvSpPr>
            <p:cNvPr id="126999" name="Line 24">
              <a:extLst>
                <a:ext uri="{FF2B5EF4-FFF2-40B4-BE49-F238E27FC236}">
                  <a16:creationId xmlns:a16="http://schemas.microsoft.com/office/drawing/2014/main" id="{19C2935C-70D1-4F97-A25C-AE10F3AA17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1838" y="2473325"/>
              <a:ext cx="0" cy="25876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27000" name="Line 25">
              <a:extLst>
                <a:ext uri="{FF2B5EF4-FFF2-40B4-BE49-F238E27FC236}">
                  <a16:creationId xmlns:a16="http://schemas.microsoft.com/office/drawing/2014/main" id="{3C3AECC9-31F9-475B-9860-3EA95CC5BB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34075" y="2525713"/>
              <a:ext cx="0" cy="25876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grpSp>
          <p:nvGrpSpPr>
            <p:cNvPr id="127001" name="Group 27">
              <a:extLst>
                <a:ext uri="{FF2B5EF4-FFF2-40B4-BE49-F238E27FC236}">
                  <a16:creationId xmlns:a16="http://schemas.microsoft.com/office/drawing/2014/main" id="{2C1B7130-F882-47DC-9F14-B32BDE630B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63838" y="1652588"/>
              <a:ext cx="755650" cy="782637"/>
              <a:chOff x="-44" y="1473"/>
              <a:chExt cx="981" cy="1105"/>
            </a:xfrm>
          </p:grpSpPr>
          <p:pic>
            <p:nvPicPr>
              <p:cNvPr id="127005" name="Picture 28" descr="desktop_computer_stylized_medium">
                <a:extLst>
                  <a:ext uri="{FF2B5EF4-FFF2-40B4-BE49-F238E27FC236}">
                    <a16:creationId xmlns:a16="http://schemas.microsoft.com/office/drawing/2014/main" id="{71DF23C4-7880-4101-952A-0235D41A3C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7006" name="Freeform 29">
                <a:extLst>
                  <a:ext uri="{FF2B5EF4-FFF2-40B4-BE49-F238E27FC236}">
                    <a16:creationId xmlns:a16="http://schemas.microsoft.com/office/drawing/2014/main" id="{2F2341AD-59CB-49A4-9DA6-1CAB1C6EFBEA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36298130 w 356"/>
                  <a:gd name="T3" fmla="*/ 4810829 h 368"/>
                  <a:gd name="T4" fmla="*/ 43059907 w 356"/>
                  <a:gd name="T5" fmla="*/ 100260457 h 368"/>
                  <a:gd name="T6" fmla="*/ 9489792 w 356"/>
                  <a:gd name="T7" fmla="*/ 125386632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27002" name="Group 30">
              <a:extLst>
                <a:ext uri="{FF2B5EF4-FFF2-40B4-BE49-F238E27FC236}">
                  <a16:creationId xmlns:a16="http://schemas.microsoft.com/office/drawing/2014/main" id="{0E9A7B2A-FBD8-449D-8F0F-EEBD4812D5E7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626100" y="1692275"/>
              <a:ext cx="788988" cy="862013"/>
              <a:chOff x="-44" y="1473"/>
              <a:chExt cx="981" cy="1105"/>
            </a:xfrm>
          </p:grpSpPr>
          <p:pic>
            <p:nvPicPr>
              <p:cNvPr id="127003" name="Picture 31" descr="desktop_computer_stylized_medium">
                <a:extLst>
                  <a:ext uri="{FF2B5EF4-FFF2-40B4-BE49-F238E27FC236}">
                    <a16:creationId xmlns:a16="http://schemas.microsoft.com/office/drawing/2014/main" id="{10F6200B-0B49-45BD-8199-02DC4F84CC8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7004" name="Freeform 32">
                <a:extLst>
                  <a:ext uri="{FF2B5EF4-FFF2-40B4-BE49-F238E27FC236}">
                    <a16:creationId xmlns:a16="http://schemas.microsoft.com/office/drawing/2014/main" id="{F96EA359-3329-4E9B-A320-63FF24ED1C72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36298130 w 356"/>
                  <a:gd name="T3" fmla="*/ 4810829 h 368"/>
                  <a:gd name="T4" fmla="*/ 43059907 w 356"/>
                  <a:gd name="T5" fmla="*/ 100260457 h 368"/>
                  <a:gd name="T6" fmla="*/ 9489792 w 356"/>
                  <a:gd name="T7" fmla="*/ 125386632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sp>
        <p:nvSpPr>
          <p:cNvPr id="31" name="Rectangle 1027">
            <a:extLst>
              <a:ext uri="{FF2B5EF4-FFF2-40B4-BE49-F238E27FC236}">
                <a16:creationId xmlns:a16="http://schemas.microsoft.com/office/drawing/2014/main" id="{34678D4E-D316-4D42-81F3-528CB0EC32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063" y="1436688"/>
            <a:ext cx="4429125" cy="4610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Char char="v"/>
              <a:defRPr/>
            </a:pPr>
            <a:r>
              <a:rPr lang="en-US" sz="2800" kern="0" dirty="0">
                <a:latin typeface="+mn-lt"/>
                <a:ea typeface="ＭＳ Ｐゴシック" charset="0"/>
              </a:rPr>
              <a:t>E.g.: Telnet application: Host A (client) types a character and Host B (server) echoes back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Char char="v"/>
              <a:defRPr/>
            </a:pPr>
            <a:r>
              <a:rPr lang="en-US" sz="2800" kern="0" dirty="0">
                <a:latin typeface="+mn-lt"/>
                <a:ea typeface="ＭＳ Ｐゴシック" charset="0"/>
              </a:rPr>
              <a:t>suppose the starting sequence numbers are 42 and 79 for the client and server, respectively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Char char="v"/>
              <a:defRPr/>
            </a:pPr>
            <a:r>
              <a:rPr lang="en-US" sz="2800" kern="0" dirty="0">
                <a:latin typeface="+mn-lt"/>
                <a:ea typeface="ＭＳ Ｐゴシック" charset="0"/>
              </a:rPr>
              <a:t>Segment 1:</a:t>
            </a:r>
          </a:p>
          <a:p>
            <a:pPr marL="800100" lvl="1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Char char="v"/>
              <a:defRPr/>
            </a:pPr>
            <a:r>
              <a:rPr lang="en-US" sz="2800" kern="0" dirty="0">
                <a:latin typeface="+mn-lt"/>
                <a:ea typeface="ＭＳ Ｐゴシック" charset="0"/>
              </a:rPr>
              <a:t>Client is waiting for byte 79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Footer Placeholder 5">
            <a:extLst>
              <a:ext uri="{FF2B5EF4-FFF2-40B4-BE49-F238E27FC236}">
                <a16:creationId xmlns:a16="http://schemas.microsoft.com/office/drawing/2014/main" id="{A3106EC6-0F2A-4C10-87DE-F6E8DEB51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29027" name="Slide Number Placeholder 6">
            <a:extLst>
              <a:ext uri="{FF2B5EF4-FFF2-40B4-BE49-F238E27FC236}">
                <a16:creationId xmlns:a16="http://schemas.microsoft.com/office/drawing/2014/main" id="{077E9F14-0A63-415A-AC25-863A6F858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D89783D6-4B4A-476B-9D8E-B598B992369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29028" name="Picture 2" descr="underline_base">
            <a:extLst>
              <a:ext uri="{FF2B5EF4-FFF2-40B4-BE49-F238E27FC236}">
                <a16:creationId xmlns:a16="http://schemas.microsoft.com/office/drawing/2014/main" id="{817CE25E-8557-4663-828B-633152C5903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815975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47" name="Rectangle 5">
            <a:extLst>
              <a:ext uri="{FF2B5EF4-FFF2-40B4-BE49-F238E27FC236}">
                <a16:creationId xmlns:a16="http://schemas.microsoft.com/office/drawing/2014/main" id="{D0EEEB76-C528-4CA7-A077-E15CC3AADF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6713" y="150813"/>
            <a:ext cx="7772400" cy="88582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seq. numbers, </a:t>
            </a:r>
            <a:r>
              <a:rPr lang="en-US" sz="4000" dirty="0">
                <a:ea typeface="ＭＳ Ｐゴシック" charset="0"/>
                <a:cs typeface="+mj-cs"/>
              </a:rPr>
              <a:t>ACK</a:t>
            </a:r>
            <a:r>
              <a:rPr lang="en-US" dirty="0">
                <a:ea typeface="ＭＳ Ｐゴシック" charset="0"/>
                <a:cs typeface="+mj-cs"/>
              </a:rPr>
              <a:t>s</a:t>
            </a:r>
          </a:p>
        </p:txBody>
      </p:sp>
      <p:grpSp>
        <p:nvGrpSpPr>
          <p:cNvPr id="129030" name="群組 28">
            <a:extLst>
              <a:ext uri="{FF2B5EF4-FFF2-40B4-BE49-F238E27FC236}">
                <a16:creationId xmlns:a16="http://schemas.microsoft.com/office/drawing/2014/main" id="{9A768FD7-B5EF-456F-A0BD-68F5A623B61C}"/>
              </a:ext>
            </a:extLst>
          </p:cNvPr>
          <p:cNvGrpSpPr>
            <a:grpSpLocks/>
          </p:cNvGrpSpPr>
          <p:nvPr/>
        </p:nvGrpSpPr>
        <p:grpSpPr bwMode="auto">
          <a:xfrm>
            <a:off x="4748213" y="1430338"/>
            <a:ext cx="4098925" cy="4262437"/>
            <a:chOff x="2233613" y="1430338"/>
            <a:chExt cx="4799012" cy="4227512"/>
          </a:xfrm>
        </p:grpSpPr>
        <p:sp>
          <p:nvSpPr>
            <p:cNvPr id="129032" name="Line 3">
              <a:extLst>
                <a:ext uri="{FF2B5EF4-FFF2-40B4-BE49-F238E27FC236}">
                  <a16:creationId xmlns:a16="http://schemas.microsoft.com/office/drawing/2014/main" id="{CF319393-0F1C-4D31-90AB-350C130052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9775" y="4483100"/>
              <a:ext cx="2590800" cy="506413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29033" name="Line 4">
              <a:extLst>
                <a:ext uri="{FF2B5EF4-FFF2-40B4-BE49-F238E27FC236}">
                  <a16:creationId xmlns:a16="http://schemas.microsoft.com/office/drawing/2014/main" id="{CCA7A378-B418-4CF9-A178-CF144848E2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063" y="2714625"/>
              <a:ext cx="2586037" cy="57150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29034" name="Text Box 7">
              <a:extLst>
                <a:ext uri="{FF2B5EF4-FFF2-40B4-BE49-F238E27FC236}">
                  <a16:creationId xmlns:a16="http://schemas.microsoft.com/office/drawing/2014/main" id="{81FD38B8-2CBA-41AF-9D38-ED30CF2D99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84438" y="2320925"/>
              <a:ext cx="809625" cy="7540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User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types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ja-JP" altLang="en-US" sz="1600">
                  <a:latin typeface="Tahoma" panose="020B0604030504040204" pitchFamily="34" charset="0"/>
                </a:rPr>
                <a:t>‘</a:t>
              </a:r>
              <a:r>
                <a:rPr lang="en-US" altLang="ja-JP" sz="1600">
                  <a:latin typeface="Tahoma" panose="020B0604030504040204" pitchFamily="34" charset="0"/>
                </a:rPr>
                <a:t>C</a:t>
              </a:r>
              <a:r>
                <a:rPr lang="ja-JP" altLang="en-US" sz="1600">
                  <a:latin typeface="Tahoma" panose="020B0604030504040204" pitchFamily="34" charset="0"/>
                </a:rPr>
                <a:t>’</a:t>
              </a:r>
              <a:endParaRPr lang="en-US" altLang="zh-TW" sz="1000">
                <a:latin typeface="Tahoma" panose="020B0604030504040204" pitchFamily="34" charset="0"/>
              </a:endParaRPr>
            </a:p>
          </p:txBody>
        </p:sp>
        <p:sp>
          <p:nvSpPr>
            <p:cNvPr id="129035" name="Text Box 8">
              <a:extLst>
                <a:ext uri="{FF2B5EF4-FFF2-40B4-BE49-F238E27FC236}">
                  <a16:creationId xmlns:a16="http://schemas.microsoft.com/office/drawing/2014/main" id="{4494C62F-9E03-4AD6-A7B7-D41FD6F054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3613" y="3933825"/>
              <a:ext cx="1084262" cy="974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host ACKs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receipt 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of echoed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ja-JP" altLang="en-US" sz="1600">
                  <a:latin typeface="Tahoma" panose="020B0604030504040204" pitchFamily="34" charset="0"/>
                </a:rPr>
                <a:t>‘</a:t>
              </a:r>
              <a:r>
                <a:rPr lang="en-US" altLang="ja-JP" sz="1600">
                  <a:latin typeface="Tahoma" panose="020B0604030504040204" pitchFamily="34" charset="0"/>
                </a:rPr>
                <a:t>C</a:t>
              </a:r>
              <a:r>
                <a:rPr lang="ja-JP" altLang="en-US" sz="1600">
                  <a:latin typeface="Tahoma" panose="020B0604030504040204" pitchFamily="34" charset="0"/>
                </a:rPr>
                <a:t>’</a:t>
              </a:r>
              <a:endParaRPr lang="en-US" altLang="zh-TW" sz="1000">
                <a:latin typeface="Tahoma" panose="020B0604030504040204" pitchFamily="34" charset="0"/>
              </a:endParaRPr>
            </a:p>
          </p:txBody>
        </p:sp>
        <p:sp>
          <p:nvSpPr>
            <p:cNvPr id="129036" name="Text Box 9">
              <a:extLst>
                <a:ext uri="{FF2B5EF4-FFF2-40B4-BE49-F238E27FC236}">
                  <a16:creationId xmlns:a16="http://schemas.microsoft.com/office/drawing/2014/main" id="{B1630AF4-0D43-4D44-A16F-F7A07DB1E5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94388" y="3055938"/>
              <a:ext cx="1138237" cy="1069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host ACKs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receipt of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ja-JP" altLang="en-US" sz="1600">
                  <a:latin typeface="Tahoma" panose="020B0604030504040204" pitchFamily="34" charset="0"/>
                </a:rPr>
                <a:t>‘</a:t>
              </a:r>
              <a:r>
                <a:rPr lang="en-US" altLang="ja-JP" sz="1600">
                  <a:latin typeface="Tahoma" panose="020B0604030504040204" pitchFamily="34" charset="0"/>
                </a:rPr>
                <a:t>C</a:t>
              </a:r>
              <a:r>
                <a:rPr lang="ja-JP" altLang="en-US" sz="1600">
                  <a:latin typeface="Tahoma" panose="020B0604030504040204" pitchFamily="34" charset="0"/>
                </a:rPr>
                <a:t>’</a:t>
              </a:r>
              <a:r>
                <a:rPr lang="en-US" altLang="ja-JP" sz="1600">
                  <a:latin typeface="Tahoma" panose="020B0604030504040204" pitchFamily="34" charset="0"/>
                </a:rPr>
                <a:t>, echoes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back </a:t>
              </a:r>
              <a:r>
                <a:rPr lang="ja-JP" altLang="en-US" sz="1600">
                  <a:latin typeface="Tahoma" panose="020B0604030504040204" pitchFamily="34" charset="0"/>
                </a:rPr>
                <a:t>‘</a:t>
              </a:r>
              <a:r>
                <a:rPr lang="en-US" altLang="ja-JP" sz="1600">
                  <a:latin typeface="Tahoma" panose="020B0604030504040204" pitchFamily="34" charset="0"/>
                </a:rPr>
                <a:t>C</a:t>
              </a:r>
              <a:r>
                <a:rPr lang="ja-JP" altLang="en-US" sz="1600">
                  <a:latin typeface="Tahoma" panose="020B0604030504040204" pitchFamily="34" charset="0"/>
                </a:rPr>
                <a:t>’</a:t>
              </a:r>
              <a:endParaRPr lang="en-US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9037" name="Line 10">
              <a:extLst>
                <a:ext uri="{FF2B5EF4-FFF2-40B4-BE49-F238E27FC236}">
                  <a16:creationId xmlns:a16="http://schemas.microsoft.com/office/drawing/2014/main" id="{9F60C3D7-B02A-453F-BB9B-79ABD2758D2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84538" y="3487738"/>
              <a:ext cx="2554287" cy="80010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29038" name="Text Box 11">
              <a:extLst>
                <a:ext uri="{FF2B5EF4-FFF2-40B4-BE49-F238E27FC236}">
                  <a16:creationId xmlns:a16="http://schemas.microsoft.com/office/drawing/2014/main" id="{3BF3044C-5BD5-4816-9546-E0B064C5D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8213" y="5291138"/>
              <a:ext cx="2379662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99"/>
                  </a:solidFill>
                  <a:latin typeface="Tahoma" panose="020B0604030504040204" pitchFamily="34" charset="0"/>
                </a:rPr>
                <a:t>simple telnet scenario</a:t>
              </a:r>
              <a:endParaRPr lang="en-US" altLang="zh-TW" sz="1000">
                <a:solidFill>
                  <a:srgbClr val="000099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29039" name="Text Box 13">
              <a:extLst>
                <a:ext uri="{FF2B5EF4-FFF2-40B4-BE49-F238E27FC236}">
                  <a16:creationId xmlns:a16="http://schemas.microsoft.com/office/drawing/2014/main" id="{57F62537-0B7C-4E6F-A9E5-05E8208D6B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68938" y="1430338"/>
              <a:ext cx="77311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Host B</a:t>
              </a:r>
            </a:p>
          </p:txBody>
        </p:sp>
        <p:sp>
          <p:nvSpPr>
            <p:cNvPr id="129040" name="Text Box 17">
              <a:extLst>
                <a:ext uri="{FF2B5EF4-FFF2-40B4-BE49-F238E27FC236}">
                  <a16:creationId xmlns:a16="http://schemas.microsoft.com/office/drawing/2014/main" id="{94B8318C-A476-4C51-8B54-29FD8A8CDB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8775" y="1436688"/>
              <a:ext cx="7731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Host A</a:t>
              </a:r>
            </a:p>
          </p:txBody>
        </p:sp>
        <p:sp>
          <p:nvSpPr>
            <p:cNvPr id="129041" name="Rectangle 18">
              <a:extLst>
                <a:ext uri="{FF2B5EF4-FFF2-40B4-BE49-F238E27FC236}">
                  <a16:creationId xmlns:a16="http://schemas.microsoft.com/office/drawing/2014/main" id="{1DB4BAD8-B62C-4BC3-AFE3-7B99B19097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6863" y="2806700"/>
              <a:ext cx="814387" cy="3794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9042" name="Text Box 19">
              <a:extLst>
                <a:ext uri="{FF2B5EF4-FFF2-40B4-BE49-F238E27FC236}">
                  <a16:creationId xmlns:a16="http://schemas.microsoft.com/office/drawing/2014/main" id="{BEB214DB-6B6B-442E-94F7-E6CCAA14FC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98838" y="2859088"/>
              <a:ext cx="242252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Seq=42, ACK=79, data = </a:t>
              </a:r>
              <a:r>
                <a:rPr lang="ja-JP" altLang="en-US" sz="1400">
                  <a:latin typeface="Tahoma" panose="020B0604030504040204" pitchFamily="34" charset="0"/>
                </a:rPr>
                <a:t>‘</a:t>
              </a:r>
              <a:r>
                <a:rPr lang="en-US" altLang="ja-JP" sz="1400">
                  <a:latin typeface="Tahoma" panose="020B0604030504040204" pitchFamily="34" charset="0"/>
                </a:rPr>
                <a:t>C</a:t>
              </a:r>
              <a:r>
                <a:rPr lang="ja-JP" altLang="en-US" sz="1400">
                  <a:latin typeface="Tahoma" panose="020B0604030504040204" pitchFamily="34" charset="0"/>
                </a:rPr>
                <a:t>’</a:t>
              </a:r>
              <a:endParaRPr lang="en-US" altLang="zh-TW" sz="1400">
                <a:latin typeface="Tahoma" panose="020B0604030504040204" pitchFamily="34" charset="0"/>
              </a:endParaRPr>
            </a:p>
          </p:txBody>
        </p:sp>
        <p:sp>
          <p:nvSpPr>
            <p:cNvPr id="129043" name="Rectangle 20">
              <a:extLst>
                <a:ext uri="{FF2B5EF4-FFF2-40B4-BE49-F238E27FC236}">
                  <a16:creationId xmlns:a16="http://schemas.microsoft.com/office/drawing/2014/main" id="{4699025B-422A-462D-BEF5-395EDBF49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1788" y="3765550"/>
              <a:ext cx="823912" cy="2460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9044" name="Text Box 21">
              <a:extLst>
                <a:ext uri="{FF2B5EF4-FFF2-40B4-BE49-F238E27FC236}">
                  <a16:creationId xmlns:a16="http://schemas.microsoft.com/office/drawing/2014/main" id="{8EEF5B19-3F70-493B-83E2-4DB36EBA7E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2013" y="3754438"/>
              <a:ext cx="24177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Seq=79, ACK=43, data = </a:t>
              </a:r>
              <a:r>
                <a:rPr lang="ja-JP" altLang="en-US" sz="1400">
                  <a:latin typeface="Arial" panose="020B0604020202020204" pitchFamily="34" charset="0"/>
                </a:rPr>
                <a:t>‘</a:t>
              </a:r>
              <a:r>
                <a:rPr lang="en-US" altLang="ja-JP" sz="1400">
                  <a:latin typeface="Arial" panose="020B0604020202020204" pitchFamily="34" charset="0"/>
                </a:rPr>
                <a:t>C</a:t>
              </a:r>
              <a:r>
                <a:rPr lang="ja-JP" altLang="en-US" sz="1400">
                  <a:latin typeface="Arial" panose="020B0604020202020204" pitchFamily="34" charset="0"/>
                </a:rPr>
                <a:t>’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  <p:sp>
          <p:nvSpPr>
            <p:cNvPr id="129045" name="Rectangle 22">
              <a:extLst>
                <a:ext uri="{FF2B5EF4-FFF2-40B4-BE49-F238E27FC236}">
                  <a16:creationId xmlns:a16="http://schemas.microsoft.com/office/drawing/2014/main" id="{D22B5ED4-939A-4AD0-AEB0-F54664B814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463" y="4613275"/>
              <a:ext cx="958850" cy="3571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29046" name="Text Box 23">
              <a:extLst>
                <a:ext uri="{FF2B5EF4-FFF2-40B4-BE49-F238E27FC236}">
                  <a16:creationId xmlns:a16="http://schemas.microsoft.com/office/drawing/2014/main" id="{1767E5F5-A5BF-485B-A617-82F3E7BEB7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7788" y="4627563"/>
              <a:ext cx="156527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Seq=43, ACK=80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  <p:sp>
          <p:nvSpPr>
            <p:cNvPr id="129047" name="Line 24">
              <a:extLst>
                <a:ext uri="{FF2B5EF4-FFF2-40B4-BE49-F238E27FC236}">
                  <a16:creationId xmlns:a16="http://schemas.microsoft.com/office/drawing/2014/main" id="{AFB84F01-CA25-49CA-9137-EF62C303B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1838" y="2473325"/>
              <a:ext cx="0" cy="25876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29048" name="Line 25">
              <a:extLst>
                <a:ext uri="{FF2B5EF4-FFF2-40B4-BE49-F238E27FC236}">
                  <a16:creationId xmlns:a16="http://schemas.microsoft.com/office/drawing/2014/main" id="{C7523354-763A-4B1B-A84F-E15BEBCF22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34075" y="2525713"/>
              <a:ext cx="0" cy="2587625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grpSp>
          <p:nvGrpSpPr>
            <p:cNvPr id="129049" name="Group 27">
              <a:extLst>
                <a:ext uri="{FF2B5EF4-FFF2-40B4-BE49-F238E27FC236}">
                  <a16:creationId xmlns:a16="http://schemas.microsoft.com/office/drawing/2014/main" id="{0EDD4A76-6D6F-4B04-AEE8-A5AE6EDF108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63838" y="1652588"/>
              <a:ext cx="755650" cy="782637"/>
              <a:chOff x="-44" y="1473"/>
              <a:chExt cx="981" cy="1105"/>
            </a:xfrm>
          </p:grpSpPr>
          <p:pic>
            <p:nvPicPr>
              <p:cNvPr id="129053" name="Picture 28" descr="desktop_computer_stylized_medium">
                <a:extLst>
                  <a:ext uri="{FF2B5EF4-FFF2-40B4-BE49-F238E27FC236}">
                    <a16:creationId xmlns:a16="http://schemas.microsoft.com/office/drawing/2014/main" id="{2BD9E0FA-E005-41DD-AEF3-6E3846C00C7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9054" name="Freeform 29">
                <a:extLst>
                  <a:ext uri="{FF2B5EF4-FFF2-40B4-BE49-F238E27FC236}">
                    <a16:creationId xmlns:a16="http://schemas.microsoft.com/office/drawing/2014/main" id="{F0E5BD83-0D2B-4993-BA66-3299A687B682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36298130 w 356"/>
                  <a:gd name="T3" fmla="*/ 4810829 h 368"/>
                  <a:gd name="T4" fmla="*/ 43059907 w 356"/>
                  <a:gd name="T5" fmla="*/ 100260457 h 368"/>
                  <a:gd name="T6" fmla="*/ 9489792 w 356"/>
                  <a:gd name="T7" fmla="*/ 125386632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29050" name="Group 30">
              <a:extLst>
                <a:ext uri="{FF2B5EF4-FFF2-40B4-BE49-F238E27FC236}">
                  <a16:creationId xmlns:a16="http://schemas.microsoft.com/office/drawing/2014/main" id="{8A2F0B49-07F8-4C19-8022-143B13037BBF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626100" y="1692275"/>
              <a:ext cx="788988" cy="862013"/>
              <a:chOff x="-44" y="1473"/>
              <a:chExt cx="981" cy="1105"/>
            </a:xfrm>
          </p:grpSpPr>
          <p:pic>
            <p:nvPicPr>
              <p:cNvPr id="129051" name="Picture 31" descr="desktop_computer_stylized_medium">
                <a:extLst>
                  <a:ext uri="{FF2B5EF4-FFF2-40B4-BE49-F238E27FC236}">
                    <a16:creationId xmlns:a16="http://schemas.microsoft.com/office/drawing/2014/main" id="{A99CA6DD-0FEC-41B2-9C92-FC94E6B0B2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9052" name="Freeform 32">
                <a:extLst>
                  <a:ext uri="{FF2B5EF4-FFF2-40B4-BE49-F238E27FC236}">
                    <a16:creationId xmlns:a16="http://schemas.microsoft.com/office/drawing/2014/main" id="{6D279F9A-D010-41FE-B358-7316C820FF8D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36298130 w 356"/>
                  <a:gd name="T3" fmla="*/ 4810829 h 368"/>
                  <a:gd name="T4" fmla="*/ 43059907 w 356"/>
                  <a:gd name="T5" fmla="*/ 100260457 h 368"/>
                  <a:gd name="T6" fmla="*/ 9489792 w 356"/>
                  <a:gd name="T7" fmla="*/ 125386632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sp>
        <p:nvSpPr>
          <p:cNvPr id="31" name="Rectangle 1027">
            <a:extLst>
              <a:ext uri="{FF2B5EF4-FFF2-40B4-BE49-F238E27FC236}">
                <a16:creationId xmlns:a16="http://schemas.microsoft.com/office/drawing/2014/main" id="{E17A0BF2-42C7-4A16-A138-39DF85D6E4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375" y="1436688"/>
            <a:ext cx="4341813" cy="4610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Char char="v"/>
              <a:defRPr/>
            </a:pPr>
            <a:r>
              <a:rPr lang="en-US" sz="2400" kern="0" dirty="0">
                <a:latin typeface="+mn-lt"/>
                <a:ea typeface="ＭＳ Ｐゴシック" charset="0"/>
              </a:rPr>
              <a:t>Segment 2: ACK = 43 (server is telling the client that it has successfully received everything up through byte 42 and is now waiting for bytes 43 onward.)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Char char="v"/>
              <a:defRPr/>
            </a:pPr>
            <a:r>
              <a:rPr lang="en-US" sz="2400" kern="0" dirty="0">
                <a:latin typeface="+mn-lt"/>
                <a:ea typeface="ＭＳ Ｐゴシック" charset="0"/>
              </a:rPr>
              <a:t>Segment 3: Empty data field 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Footer Placeholder 5">
            <a:extLst>
              <a:ext uri="{FF2B5EF4-FFF2-40B4-BE49-F238E27FC236}">
                <a16:creationId xmlns:a16="http://schemas.microsoft.com/office/drawing/2014/main" id="{1FEA4A2A-7CEE-437C-A7EC-A8DEAE1BD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31075" name="Slide Number Placeholder 6">
            <a:extLst>
              <a:ext uri="{FF2B5EF4-FFF2-40B4-BE49-F238E27FC236}">
                <a16:creationId xmlns:a16="http://schemas.microsoft.com/office/drawing/2014/main" id="{982B73E2-4767-46F5-B0F1-794BF41F6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842F6D58-E3DF-4844-AAE7-C24CA56461D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31076" name="Picture 1029" descr="underline_base">
            <a:extLst>
              <a:ext uri="{FF2B5EF4-FFF2-40B4-BE49-F238E27FC236}">
                <a16:creationId xmlns:a16="http://schemas.microsoft.com/office/drawing/2014/main" id="{BE4A95A9-A2B9-4897-B4CE-D994B339C9F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947738"/>
            <a:ext cx="6935788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1077" name="Rectangle 1026">
            <a:extLst>
              <a:ext uri="{FF2B5EF4-FFF2-40B4-BE49-F238E27FC236}">
                <a16:creationId xmlns:a16="http://schemas.microsoft.com/office/drawing/2014/main" id="{3ABE1619-09B4-471E-A04D-86E606B1E4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42925" y="233363"/>
            <a:ext cx="7772400" cy="920750"/>
          </a:xfrm>
        </p:spPr>
        <p:txBody>
          <a:bodyPr/>
          <a:lstStyle/>
          <a:p>
            <a:r>
              <a:rPr lang="en-US" altLang="zh-TW"/>
              <a:t>TCP round trip time, timeout</a:t>
            </a:r>
            <a:endParaRPr lang="en-US" altLang="zh-TW" sz="4800"/>
          </a:p>
        </p:txBody>
      </p:sp>
      <p:sp>
        <p:nvSpPr>
          <p:cNvPr id="62470" name="Rectangle 1027">
            <a:extLst>
              <a:ext uri="{FF2B5EF4-FFF2-40B4-BE49-F238E27FC236}">
                <a16:creationId xmlns:a16="http://schemas.microsoft.com/office/drawing/2014/main" id="{C1079DE9-250B-4103-B287-469CE1F8D4C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81025" y="1436688"/>
            <a:ext cx="3716338" cy="46482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sz="3200" u="sng" dirty="0">
                <a:solidFill>
                  <a:srgbClr val="FF0000"/>
                </a:solidFill>
                <a:ea typeface="ＭＳ Ｐゴシック" charset="0"/>
                <a:cs typeface="+mn-cs"/>
              </a:rPr>
              <a:t>Q:</a:t>
            </a:r>
            <a:r>
              <a:rPr lang="en-US" sz="3200" dirty="0">
                <a:ea typeface="ＭＳ Ｐゴシック" charset="0"/>
                <a:cs typeface="+mn-cs"/>
              </a:rPr>
              <a:t> </a:t>
            </a:r>
            <a:r>
              <a:rPr lang="en-US" sz="3200" dirty="0">
                <a:solidFill>
                  <a:srgbClr val="FF0000"/>
                </a:solidFill>
                <a:ea typeface="ＭＳ Ｐゴシック" charset="0"/>
                <a:cs typeface="+mn-cs"/>
              </a:rPr>
              <a:t>how to set TCP timeout value?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i="1" dirty="0">
                <a:solidFill>
                  <a:srgbClr val="0070C0"/>
                </a:solidFill>
                <a:ea typeface="ＭＳ Ｐゴシック" charset="0"/>
                <a:cs typeface="+mn-cs"/>
              </a:rPr>
              <a:t>too short</a:t>
            </a:r>
            <a:r>
              <a:rPr lang="en-US" i="1" dirty="0">
                <a:ea typeface="ＭＳ Ｐゴシック" charset="0"/>
                <a:cs typeface="+mn-cs"/>
              </a:rPr>
              <a:t>:</a:t>
            </a:r>
            <a:r>
              <a:rPr lang="en-US" dirty="0">
                <a:ea typeface="ＭＳ Ｐゴシック" charset="0"/>
                <a:cs typeface="+mn-cs"/>
              </a:rPr>
              <a:t> premature timeout, unnecessary retransmissions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i="1" dirty="0">
                <a:solidFill>
                  <a:srgbClr val="0070C0"/>
                </a:solidFill>
                <a:ea typeface="ＭＳ Ｐゴシック" charset="0"/>
                <a:cs typeface="+mn-cs"/>
              </a:rPr>
              <a:t>too long</a:t>
            </a:r>
            <a:r>
              <a:rPr lang="en-US" i="1" dirty="0">
                <a:ea typeface="ＭＳ Ｐゴシック" charset="0"/>
                <a:cs typeface="+mn-cs"/>
              </a:rPr>
              <a:t>:</a:t>
            </a:r>
            <a:r>
              <a:rPr lang="en-US" dirty="0">
                <a:ea typeface="ＭＳ Ｐゴシック" charset="0"/>
                <a:cs typeface="+mn-cs"/>
              </a:rPr>
              <a:t> slow reaction to segment loss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altLang="zh-HK" dirty="0">
                <a:ea typeface="ＭＳ Ｐゴシック" charset="0"/>
              </a:rPr>
              <a:t>longer than RTT</a:t>
            </a:r>
          </a:p>
          <a:p>
            <a:pPr lvl="1">
              <a:lnSpc>
                <a:spcPct val="90000"/>
              </a:lnSpc>
              <a:buFont typeface="Wingdings" charset="0"/>
              <a:buChar char="§"/>
              <a:defRPr/>
            </a:pPr>
            <a:r>
              <a:rPr lang="en-US" altLang="zh-HK" dirty="0">
                <a:ea typeface="ＭＳ Ｐゴシック" charset="0"/>
              </a:rPr>
              <a:t>but RTT varies</a:t>
            </a:r>
          </a:p>
          <a:p>
            <a:pPr marL="0" indent="0">
              <a:lnSpc>
                <a:spcPct val="90000"/>
              </a:lnSpc>
              <a:buNone/>
              <a:defRPr/>
            </a:pPr>
            <a:endParaRPr lang="en-US" dirty="0">
              <a:ea typeface="ＭＳ Ｐゴシック" charset="0"/>
              <a:cs typeface="+mn-cs"/>
            </a:endParaRPr>
          </a:p>
        </p:txBody>
      </p:sp>
      <p:sp>
        <p:nvSpPr>
          <p:cNvPr id="94215" name="Rectangle 1028">
            <a:extLst>
              <a:ext uri="{FF2B5EF4-FFF2-40B4-BE49-F238E27FC236}">
                <a16:creationId xmlns:a16="http://schemas.microsoft.com/office/drawing/2014/main" id="{0B235CD7-FD8B-4216-AC8A-60F9AA54A9D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46613" y="1485900"/>
            <a:ext cx="4059237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u="sng" dirty="0">
                <a:solidFill>
                  <a:srgbClr val="FF0000"/>
                </a:solidFill>
              </a:rPr>
              <a:t>Q: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0000"/>
                </a:solidFill>
              </a:rPr>
              <a:t>how to estimate RTT?</a:t>
            </a:r>
          </a:p>
          <a:p>
            <a:r>
              <a:rPr lang="en-US" altLang="zh-TW" sz="2400" b="1" dirty="0" err="1">
                <a:solidFill>
                  <a:srgbClr val="000099"/>
                </a:solidFill>
                <a:latin typeface="Courier New" panose="02070309020205020404" pitchFamily="49" charset="0"/>
              </a:rPr>
              <a:t>SampleRTT</a:t>
            </a:r>
            <a:r>
              <a:rPr lang="en-US" altLang="zh-TW" sz="2400" dirty="0">
                <a:solidFill>
                  <a:srgbClr val="000099"/>
                </a:solidFill>
              </a:rPr>
              <a:t>:</a:t>
            </a:r>
            <a:r>
              <a:rPr lang="en-US" altLang="zh-TW" sz="2400" dirty="0"/>
              <a:t> </a:t>
            </a:r>
            <a:r>
              <a:rPr lang="en-US" altLang="zh-TW" sz="2400" dirty="0">
                <a:solidFill>
                  <a:srgbClr val="0070C0"/>
                </a:solidFill>
              </a:rPr>
              <a:t>measured</a:t>
            </a:r>
            <a:r>
              <a:rPr lang="en-US" altLang="zh-TW" sz="2400" dirty="0"/>
              <a:t> </a:t>
            </a:r>
            <a:r>
              <a:rPr lang="en-US" altLang="zh-TW" sz="2400" dirty="0">
                <a:solidFill>
                  <a:srgbClr val="0070C0"/>
                </a:solidFill>
              </a:rPr>
              <a:t>time from segment transmission until ACK receipt</a:t>
            </a:r>
          </a:p>
          <a:p>
            <a:pPr lvl="1"/>
            <a:r>
              <a:rPr lang="en-US" altLang="zh-TW" dirty="0"/>
              <a:t>ignore retransmissions</a:t>
            </a:r>
          </a:p>
          <a:p>
            <a:r>
              <a:rPr lang="en-US" altLang="zh-TW" sz="24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SampleRTT</a:t>
            </a:r>
            <a:r>
              <a:rPr lang="en-US" altLang="zh-TW" sz="2400" dirty="0">
                <a:solidFill>
                  <a:srgbClr val="FF0000"/>
                </a:solidFill>
              </a:rPr>
              <a:t> will vary</a:t>
            </a:r>
          </a:p>
          <a:p>
            <a:pPr lvl="1"/>
            <a:r>
              <a:rPr lang="en-US" altLang="zh-TW" sz="2000" dirty="0"/>
              <a:t>But  we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TW" dirty="0"/>
              <a:t>want estimated RTT  to be</a:t>
            </a:r>
            <a:r>
              <a:rPr lang="ja-JP" altLang="en-US" dirty="0"/>
              <a:t>“</a:t>
            </a:r>
            <a:r>
              <a:rPr lang="en-US" altLang="ja-JP" dirty="0"/>
              <a:t>smoother</a:t>
            </a:r>
            <a:r>
              <a:rPr lang="ja-JP" altLang="en-US" dirty="0"/>
              <a:t>”</a:t>
            </a:r>
            <a:endParaRPr lang="en-US" altLang="ja-JP" dirty="0"/>
          </a:p>
          <a:p>
            <a:pPr lvl="1">
              <a:buFont typeface="Wingdings" panose="05000000000000000000" pitchFamily="2" charset="2"/>
              <a:buNone/>
            </a:pP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zh-TW" dirty="0">
                <a:solidFill>
                  <a:srgbClr val="FF0000"/>
                </a:solidFill>
              </a:rPr>
              <a:t>average</a:t>
            </a:r>
            <a:r>
              <a:rPr lang="en-US" altLang="zh-TW" dirty="0">
                <a:solidFill>
                  <a:srgbClr val="0070C0"/>
                </a:solidFill>
              </a:rPr>
              <a:t> several </a:t>
            </a:r>
            <a:r>
              <a:rPr lang="en-US" altLang="zh-TW" i="1" dirty="0">
                <a:solidFill>
                  <a:srgbClr val="0070C0"/>
                </a:solidFill>
              </a:rPr>
              <a:t>recent</a:t>
            </a:r>
            <a:r>
              <a:rPr lang="en-US" altLang="zh-TW" dirty="0">
                <a:solidFill>
                  <a:srgbClr val="0070C0"/>
                </a:solidFill>
              </a:rPr>
              <a:t> measurements</a:t>
            </a:r>
            <a:r>
              <a:rPr lang="en-US" altLang="zh-TW" dirty="0"/>
              <a:t>, not just current </a:t>
            </a:r>
            <a:r>
              <a:rPr lang="en-US" altLang="zh-TW" b="1" dirty="0" err="1">
                <a:latin typeface="Courier New" panose="02070309020205020404" pitchFamily="49" charset="0"/>
              </a:rPr>
              <a:t>SampleRTT</a:t>
            </a: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Footer Placeholder 5">
            <a:extLst>
              <a:ext uri="{FF2B5EF4-FFF2-40B4-BE49-F238E27FC236}">
                <a16:creationId xmlns:a16="http://schemas.microsoft.com/office/drawing/2014/main" id="{F2B010B6-86EF-416D-A257-36606031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33123" name="Slide Number Placeholder 6">
            <a:extLst>
              <a:ext uri="{FF2B5EF4-FFF2-40B4-BE49-F238E27FC236}">
                <a16:creationId xmlns:a16="http://schemas.microsoft.com/office/drawing/2014/main" id="{FEBCB6EC-CD43-4C42-84A4-43EF747FC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63653328-8F2D-459A-B908-1F5FA4ADA3A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133124" name="Group 14">
            <a:extLst>
              <a:ext uri="{FF2B5EF4-FFF2-40B4-BE49-F238E27FC236}">
                <a16:creationId xmlns:a16="http://schemas.microsoft.com/office/drawing/2014/main" id="{86A26500-1076-481A-BF12-CA1662987D07}"/>
              </a:ext>
            </a:extLst>
          </p:cNvPr>
          <p:cNvGrpSpPr>
            <a:grpSpLocks/>
          </p:cNvGrpSpPr>
          <p:nvPr/>
        </p:nvGrpSpPr>
        <p:grpSpPr bwMode="auto">
          <a:xfrm>
            <a:off x="1708150" y="2565400"/>
            <a:ext cx="6272213" cy="4292600"/>
            <a:chOff x="782" y="1865"/>
            <a:chExt cx="3951" cy="2704"/>
          </a:xfrm>
        </p:grpSpPr>
        <p:pic>
          <p:nvPicPr>
            <p:cNvPr id="133139" name="Picture 12">
              <a:extLst>
                <a:ext uri="{FF2B5EF4-FFF2-40B4-BE49-F238E27FC236}">
                  <a16:creationId xmlns:a16="http://schemas.microsoft.com/office/drawing/2014/main" id="{A25F95B7-023E-4824-A277-0B1487DA56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2" y="1865"/>
              <a:ext cx="3951" cy="2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40" name="Rectangle 13">
              <a:extLst>
                <a:ext uri="{FF2B5EF4-FFF2-40B4-BE49-F238E27FC236}">
                  <a16:creationId xmlns:a16="http://schemas.microsoft.com/office/drawing/2014/main" id="{3BECFEF9-0285-4B2F-993B-3E404BC202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1926"/>
              <a:ext cx="1404" cy="1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33125" name="Text Box 3">
            <a:extLst>
              <a:ext uri="{FF2B5EF4-FFF2-40B4-BE49-F238E27FC236}">
                <a16:creationId xmlns:a16="http://schemas.microsoft.com/office/drawing/2014/main" id="{59F436E5-A27D-4AF7-82B9-11BFCCE2F8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362075"/>
            <a:ext cx="7515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latin typeface="Courier New" panose="02070309020205020404" pitchFamily="49" charset="0"/>
              </a:rPr>
              <a:t>EstimatedRTT = (1- </a:t>
            </a:r>
            <a:r>
              <a:rPr lang="en-US" altLang="zh-TW" sz="2000" b="1">
                <a:latin typeface="Courier New" panose="02070309020205020404" pitchFamily="49" charset="0"/>
                <a:sym typeface="Symbol" panose="05050102010706020507" pitchFamily="18" charset="2"/>
              </a:rPr>
              <a:t></a:t>
            </a:r>
            <a:r>
              <a:rPr lang="en-US" altLang="zh-TW" sz="2000" b="1">
                <a:latin typeface="Courier New" panose="02070309020205020404" pitchFamily="49" charset="0"/>
              </a:rPr>
              <a:t>)*EstimatedRTT + </a:t>
            </a:r>
            <a:r>
              <a:rPr lang="en-US" altLang="zh-TW" sz="2000" b="1">
                <a:latin typeface="Courier New" panose="02070309020205020404" pitchFamily="49" charset="0"/>
                <a:sym typeface="Symbol" panose="05050102010706020507" pitchFamily="18" charset="2"/>
              </a:rPr>
              <a:t></a:t>
            </a:r>
            <a:r>
              <a:rPr lang="en-US" altLang="zh-TW" sz="2000" b="1">
                <a:latin typeface="Courier New" panose="02070309020205020404" pitchFamily="49" charset="0"/>
              </a:rPr>
              <a:t>*SampleRTT</a:t>
            </a:r>
          </a:p>
        </p:txBody>
      </p:sp>
      <p:sp>
        <p:nvSpPr>
          <p:cNvPr id="133126" name="Rectangle 4">
            <a:extLst>
              <a:ext uri="{FF2B5EF4-FFF2-40B4-BE49-F238E27FC236}">
                <a16:creationId xmlns:a16="http://schemas.microsoft.com/office/drawing/2014/main" id="{9153C3FC-B820-4C3B-9081-DBF60B5B2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3638" y="1836738"/>
            <a:ext cx="7067550" cy="126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zh-TW" sz="2400">
                <a:solidFill>
                  <a:srgbClr val="FF0000"/>
                </a:solidFill>
              </a:rPr>
              <a:t>exponential weighted moving average</a:t>
            </a:r>
          </a:p>
          <a:p>
            <a:pPr>
              <a:lnSpc>
                <a:spcPct val="75000"/>
              </a:lnSpc>
            </a:pPr>
            <a:r>
              <a:rPr lang="en-US" altLang="zh-TW" sz="2400"/>
              <a:t>influence of past sample decreases exponentially fast</a:t>
            </a:r>
          </a:p>
          <a:p>
            <a:pPr>
              <a:lnSpc>
                <a:spcPct val="75000"/>
              </a:lnSpc>
            </a:pPr>
            <a:r>
              <a:rPr lang="en-US" altLang="zh-TW" sz="2400"/>
              <a:t>typical value: </a:t>
            </a:r>
            <a:r>
              <a:rPr lang="en-US" altLang="zh-TW" sz="2400" b="1">
                <a:latin typeface="Courier New" panose="02070309020205020404" pitchFamily="49" charset="0"/>
                <a:sym typeface="Symbol" panose="05050102010706020507" pitchFamily="18" charset="2"/>
              </a:rPr>
              <a:t> =</a:t>
            </a:r>
            <a:r>
              <a:rPr lang="en-US" altLang="zh-TW" sz="2400"/>
              <a:t> 0.125</a:t>
            </a:r>
          </a:p>
        </p:txBody>
      </p:sp>
      <p:pic>
        <p:nvPicPr>
          <p:cNvPr id="133127" name="Picture 10" descr="underline_base">
            <a:extLst>
              <a:ext uri="{FF2B5EF4-FFF2-40B4-BE49-F238E27FC236}">
                <a16:creationId xmlns:a16="http://schemas.microsoft.com/office/drawing/2014/main" id="{78D84CB6-934C-4BA0-BC62-CDD08EEB8B87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947738"/>
            <a:ext cx="6935788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496" name="Rectangle 11">
            <a:extLst>
              <a:ext uri="{FF2B5EF4-FFF2-40B4-BE49-F238E27FC236}">
                <a16:creationId xmlns:a16="http://schemas.microsoft.com/office/drawing/2014/main" id="{2E4CB516-EC94-46E0-ADA3-25FF299612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42925" y="233363"/>
            <a:ext cx="7772400" cy="92075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round trip time, timeout</a:t>
            </a:r>
          </a:p>
        </p:txBody>
      </p:sp>
      <p:sp>
        <p:nvSpPr>
          <p:cNvPr id="133129" name="Text Box 18">
            <a:extLst>
              <a:ext uri="{FF2B5EF4-FFF2-40B4-BE49-F238E27FC236}">
                <a16:creationId xmlns:a16="http://schemas.microsoft.com/office/drawing/2014/main" id="{F599368F-7DF9-49EB-9E9A-9B07F9875137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1531938" y="3535363"/>
            <a:ext cx="428625" cy="17478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RTT (milliseconds)</a:t>
            </a:r>
          </a:p>
        </p:txBody>
      </p:sp>
      <p:sp>
        <p:nvSpPr>
          <p:cNvPr id="133130" name="Text Box 19">
            <a:extLst>
              <a:ext uri="{FF2B5EF4-FFF2-40B4-BE49-F238E27FC236}">
                <a16:creationId xmlns:a16="http://schemas.microsoft.com/office/drawing/2014/main" id="{403724B7-2DEB-4A42-AB0F-9A3A7AA69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5363" y="3168650"/>
            <a:ext cx="38671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RTT:</a:t>
            </a:r>
            <a:r>
              <a:rPr lang="en-US" altLang="zh-TW" sz="140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400">
                <a:latin typeface="Arial" panose="020B0604020202020204" pitchFamily="34" charset="0"/>
              </a:rPr>
              <a:t>gaia.cs.umass.edu</a:t>
            </a:r>
            <a:r>
              <a:rPr lang="en-US" altLang="zh-TW" sz="140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400">
                <a:latin typeface="Arial" panose="020B0604020202020204" pitchFamily="34" charset="0"/>
              </a:rPr>
              <a:t>to</a:t>
            </a:r>
            <a:r>
              <a:rPr lang="en-US" altLang="zh-TW" sz="140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400">
                <a:latin typeface="Arial" panose="020B0604020202020204" pitchFamily="34" charset="0"/>
              </a:rPr>
              <a:t>fantasia.eurecom.fr</a:t>
            </a:r>
          </a:p>
        </p:txBody>
      </p:sp>
      <p:sp>
        <p:nvSpPr>
          <p:cNvPr id="133131" name="Text Box 20">
            <a:extLst>
              <a:ext uri="{FF2B5EF4-FFF2-40B4-BE49-F238E27FC236}">
                <a16:creationId xmlns:a16="http://schemas.microsoft.com/office/drawing/2014/main" id="{1A2C12A1-B736-431E-B78A-F398F4C23E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1413" y="5230813"/>
            <a:ext cx="11811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sampleRTT</a:t>
            </a:r>
          </a:p>
        </p:txBody>
      </p:sp>
      <p:sp>
        <p:nvSpPr>
          <p:cNvPr id="133132" name="Text Box 21">
            <a:extLst>
              <a:ext uri="{FF2B5EF4-FFF2-40B4-BE49-F238E27FC236}">
                <a16:creationId xmlns:a16="http://schemas.microsoft.com/office/drawing/2014/main" id="{2744FA1E-D4FF-41D6-B52B-318CC7A0B6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5063" y="5548313"/>
            <a:ext cx="14319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EstimatedRTT</a:t>
            </a:r>
          </a:p>
        </p:txBody>
      </p:sp>
      <p:sp>
        <p:nvSpPr>
          <p:cNvPr id="133133" name="AutoShape 22">
            <a:extLst>
              <a:ext uri="{FF2B5EF4-FFF2-40B4-BE49-F238E27FC236}">
                <a16:creationId xmlns:a16="http://schemas.microsoft.com/office/drawing/2014/main" id="{F0562565-6FC7-4654-9D5E-680B3263ED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5513" y="5343525"/>
            <a:ext cx="147637" cy="142875"/>
          </a:xfrm>
          <a:prstGeom prst="diamond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33134" name="AutoShape 23">
            <a:extLst>
              <a:ext uri="{FF2B5EF4-FFF2-40B4-BE49-F238E27FC236}">
                <a16:creationId xmlns:a16="http://schemas.microsoft.com/office/drawing/2014/main" id="{ABD44F15-797C-4CE7-A933-F660F6E3A7D7}"/>
              </a:ext>
            </a:extLst>
          </p:cNvPr>
          <p:cNvSpPr>
            <a:spLocks noChangeArrowheads="1"/>
          </p:cNvSpPr>
          <p:nvPr/>
        </p:nvSpPr>
        <p:spPr bwMode="auto">
          <a:xfrm rot="2776382">
            <a:off x="6011069" y="5633244"/>
            <a:ext cx="147637" cy="142875"/>
          </a:xfrm>
          <a:prstGeom prst="diamond">
            <a:avLst/>
          </a:prstGeom>
          <a:solidFill>
            <a:srgbClr val="FF66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33135" name="Rectangle 24">
            <a:extLst>
              <a:ext uri="{FF2B5EF4-FFF2-40B4-BE49-F238E27FC236}">
                <a16:creationId xmlns:a16="http://schemas.microsoft.com/office/drawing/2014/main" id="{B4E03F7E-9606-42C1-A468-C1DBD0F2FE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8450" y="6389688"/>
            <a:ext cx="1863725" cy="468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grpSp>
        <p:nvGrpSpPr>
          <p:cNvPr id="133136" name="Group 15">
            <a:extLst>
              <a:ext uri="{FF2B5EF4-FFF2-40B4-BE49-F238E27FC236}">
                <a16:creationId xmlns:a16="http://schemas.microsoft.com/office/drawing/2014/main" id="{BE701AC4-CB93-44ED-8065-71FAE8FF12C4}"/>
              </a:ext>
            </a:extLst>
          </p:cNvPr>
          <p:cNvGrpSpPr>
            <a:grpSpLocks/>
          </p:cNvGrpSpPr>
          <p:nvPr/>
        </p:nvGrpSpPr>
        <p:grpSpPr bwMode="auto">
          <a:xfrm>
            <a:off x="4041775" y="6386513"/>
            <a:ext cx="1512888" cy="336550"/>
            <a:chOff x="2343" y="3645"/>
            <a:chExt cx="953" cy="212"/>
          </a:xfrm>
        </p:grpSpPr>
        <p:sp>
          <p:nvSpPr>
            <p:cNvPr id="133137" name="Rectangle 16">
              <a:extLst>
                <a:ext uri="{FF2B5EF4-FFF2-40B4-BE49-F238E27FC236}">
                  <a16:creationId xmlns:a16="http://schemas.microsoft.com/office/drawing/2014/main" id="{31BCD52A-0CF4-48C2-9CF7-BFDC1C58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2" y="3695"/>
              <a:ext cx="527" cy="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33138" name="Text Box 17">
              <a:extLst>
                <a:ext uri="{FF2B5EF4-FFF2-40B4-BE49-F238E27FC236}">
                  <a16:creationId xmlns:a16="http://schemas.microsoft.com/office/drawing/2014/main" id="{EDAA16A2-B661-4FF9-9B66-875046D7C5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43" y="3645"/>
              <a:ext cx="95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time (seconds)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Footer Placeholder 5">
            <a:extLst>
              <a:ext uri="{FF2B5EF4-FFF2-40B4-BE49-F238E27FC236}">
                <a16:creationId xmlns:a16="http://schemas.microsoft.com/office/drawing/2014/main" id="{0821CA9D-6983-4F83-8346-1CA26BBD4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35171" name="Slide Number Placeholder 6">
            <a:extLst>
              <a:ext uri="{FF2B5EF4-FFF2-40B4-BE49-F238E27FC236}">
                <a16:creationId xmlns:a16="http://schemas.microsoft.com/office/drawing/2014/main" id="{FC732A4D-5194-490A-983C-D272E74A0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B48BE9E-240E-45DC-AC02-2D5F8CB1274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35172" name="Rectangle 5">
            <a:extLst>
              <a:ext uri="{FF2B5EF4-FFF2-40B4-BE49-F238E27FC236}">
                <a16:creationId xmlns:a16="http://schemas.microsoft.com/office/drawing/2014/main" id="{FBD1B605-BA47-4F3B-A18C-912C22B729D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55625" y="1595438"/>
            <a:ext cx="7918450" cy="1495425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zh-TW" dirty="0">
                <a:solidFill>
                  <a:srgbClr val="FF0000"/>
                </a:solidFill>
              </a:rPr>
              <a:t>timeout interval</a:t>
            </a:r>
            <a:r>
              <a:rPr lang="en-US" altLang="zh-TW" dirty="0"/>
              <a:t>:</a:t>
            </a:r>
            <a:r>
              <a:rPr lang="en-US" altLang="zh-TW" sz="2400" b="1" dirty="0">
                <a:latin typeface="Courier New" panose="02070309020205020404" pitchFamily="49" charset="0"/>
              </a:rPr>
              <a:t> </a:t>
            </a:r>
            <a:r>
              <a:rPr lang="en-US" altLang="zh-TW" sz="2400" b="1" dirty="0" err="1">
                <a:latin typeface="Courier New" panose="02070309020205020404" pitchFamily="49" charset="0"/>
              </a:rPr>
              <a:t>EstimatedRTT</a:t>
            </a:r>
            <a:r>
              <a:rPr lang="en-US" altLang="zh-TW" sz="2400" dirty="0"/>
              <a:t> plus </a:t>
            </a:r>
            <a:r>
              <a:rPr lang="ja-JP" altLang="en-US" sz="2400" dirty="0"/>
              <a:t>“</a:t>
            </a:r>
            <a:r>
              <a:rPr lang="en-US" altLang="ja-JP" sz="2400" dirty="0">
                <a:solidFill>
                  <a:srgbClr val="0070C0"/>
                </a:solidFill>
              </a:rPr>
              <a:t>safety margin</a:t>
            </a:r>
            <a:r>
              <a:rPr lang="ja-JP" altLang="en-US" sz="2400" dirty="0"/>
              <a:t>”</a:t>
            </a:r>
            <a:endParaRPr lang="en-US" altLang="ja-JP" sz="2400" dirty="0"/>
          </a:p>
          <a:p>
            <a:pPr lvl="1">
              <a:lnSpc>
                <a:spcPct val="90000"/>
              </a:lnSpc>
            </a:pPr>
            <a:r>
              <a:rPr lang="en-US" altLang="zh-TW" sz="2000" dirty="0"/>
              <a:t>large variation in </a:t>
            </a:r>
            <a:r>
              <a:rPr lang="en-US" altLang="zh-TW" sz="2000" b="1" dirty="0" err="1">
                <a:latin typeface="Courier New" panose="02070309020205020404" pitchFamily="49" charset="0"/>
              </a:rPr>
              <a:t>EstimatedRTT</a:t>
            </a:r>
            <a:r>
              <a:rPr lang="en-US" altLang="zh-TW" sz="2000" b="1" dirty="0">
                <a:latin typeface="Courier New" panose="02070309020205020404" pitchFamily="49" charset="0"/>
              </a:rPr>
              <a:t> -&gt;</a:t>
            </a:r>
            <a:r>
              <a:rPr lang="en-US" altLang="zh-TW" sz="2000" dirty="0"/>
              <a:t> larger safety margin</a:t>
            </a:r>
          </a:p>
          <a:p>
            <a:pPr>
              <a:lnSpc>
                <a:spcPct val="90000"/>
              </a:lnSpc>
              <a:spcBef>
                <a:spcPct val="35000"/>
              </a:spcBef>
            </a:pPr>
            <a:r>
              <a:rPr lang="en-US" altLang="zh-TW" sz="2400" dirty="0"/>
              <a:t>estimate </a:t>
            </a:r>
            <a:r>
              <a:rPr lang="en-US" altLang="zh-TW" sz="2400" dirty="0" err="1"/>
              <a:t>SampleRTT</a:t>
            </a:r>
            <a:r>
              <a:rPr lang="en-US" altLang="zh-TW" sz="2400" dirty="0"/>
              <a:t> deviation from </a:t>
            </a:r>
            <a:r>
              <a:rPr lang="en-US" altLang="zh-TW" sz="2400" dirty="0" err="1"/>
              <a:t>EstimatedRTT</a:t>
            </a:r>
            <a:r>
              <a:rPr lang="en-US" altLang="zh-TW" sz="2400" dirty="0"/>
              <a:t>: </a:t>
            </a:r>
          </a:p>
        </p:txBody>
      </p:sp>
      <p:sp>
        <p:nvSpPr>
          <p:cNvPr id="135173" name="Text Box 7">
            <a:extLst>
              <a:ext uri="{FF2B5EF4-FFF2-40B4-BE49-F238E27FC236}">
                <a16:creationId xmlns:a16="http://schemas.microsoft.com/office/drawing/2014/main" id="{D6C23E5A-243E-4B20-91AA-A308C0BFD3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9988" y="2871788"/>
            <a:ext cx="6975475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 err="1">
                <a:latin typeface="Courier New" panose="02070309020205020404" pitchFamily="49" charset="0"/>
              </a:rPr>
              <a:t>DevRTT</a:t>
            </a:r>
            <a:r>
              <a:rPr lang="en-US" altLang="zh-TW" sz="2000" b="1" dirty="0">
                <a:latin typeface="Courier New" panose="02070309020205020404" pitchFamily="49" charset="0"/>
              </a:rPr>
              <a:t> = (1-</a:t>
            </a:r>
            <a:r>
              <a:rPr lang="en-US" altLang="zh-TW" sz="2000" b="1" dirty="0">
                <a:latin typeface="Courier New" panose="02070309020205020404" pitchFamily="49" charset="0"/>
                <a:sym typeface="Symbol" panose="05050102010706020507" pitchFamily="18" charset="2"/>
              </a:rPr>
              <a:t></a:t>
            </a:r>
            <a:r>
              <a:rPr lang="en-US" altLang="zh-TW" sz="2000" b="1" dirty="0">
                <a:latin typeface="Courier New" panose="02070309020205020404" pitchFamily="49" charset="0"/>
              </a:rPr>
              <a:t>)*</a:t>
            </a:r>
            <a:r>
              <a:rPr lang="en-US" altLang="zh-TW" sz="2000" b="1" dirty="0" err="1">
                <a:latin typeface="Courier New" panose="02070309020205020404" pitchFamily="49" charset="0"/>
              </a:rPr>
              <a:t>DevRTT</a:t>
            </a:r>
            <a:r>
              <a:rPr lang="en-US" altLang="zh-TW" sz="2000" b="1" dirty="0">
                <a:latin typeface="Courier New" panose="02070309020205020404" pitchFamily="49" charset="0"/>
              </a:rPr>
              <a:t> +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>
                <a:latin typeface="Courier New" panose="02070309020205020404" pitchFamily="49" charset="0"/>
              </a:rPr>
              <a:t>             </a:t>
            </a:r>
            <a:r>
              <a:rPr lang="en-US" altLang="zh-TW" sz="2000" b="1" dirty="0">
                <a:latin typeface="Courier New" panose="02070309020205020404" pitchFamily="49" charset="0"/>
                <a:sym typeface="Symbol" panose="05050102010706020507" pitchFamily="18" charset="2"/>
              </a:rPr>
              <a:t></a:t>
            </a:r>
            <a:r>
              <a:rPr lang="en-US" altLang="zh-TW" sz="2000" b="1" dirty="0">
                <a:latin typeface="Courier New" panose="02070309020205020404" pitchFamily="49" charset="0"/>
              </a:rPr>
              <a:t>*|</a:t>
            </a:r>
            <a:r>
              <a:rPr lang="en-US" altLang="zh-TW" sz="2000" b="1" dirty="0" err="1">
                <a:latin typeface="Courier New" panose="02070309020205020404" pitchFamily="49" charset="0"/>
              </a:rPr>
              <a:t>SampleRTT-EstimatedRTT</a:t>
            </a:r>
            <a:r>
              <a:rPr lang="en-US" altLang="zh-TW" sz="2000" b="1" dirty="0">
                <a:latin typeface="Courier New" panose="02070309020205020404" pitchFamily="49" charset="0"/>
              </a:rPr>
              <a:t>|</a:t>
            </a:r>
          </a:p>
        </p:txBody>
      </p:sp>
      <p:pic>
        <p:nvPicPr>
          <p:cNvPr id="135174" name="Picture 10" descr="underline_base">
            <a:extLst>
              <a:ext uri="{FF2B5EF4-FFF2-40B4-BE49-F238E27FC236}">
                <a16:creationId xmlns:a16="http://schemas.microsoft.com/office/drawing/2014/main" id="{EDBB1223-BDA5-4DFE-8AB7-CE671EDDB65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947738"/>
            <a:ext cx="6935788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4519" name="Rectangle 11">
            <a:extLst>
              <a:ext uri="{FF2B5EF4-FFF2-40B4-BE49-F238E27FC236}">
                <a16:creationId xmlns:a16="http://schemas.microsoft.com/office/drawing/2014/main" id="{487C99A2-E032-4987-A323-1B2345C59D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42925" y="233363"/>
            <a:ext cx="7772400" cy="92075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round trip time, timeout</a:t>
            </a:r>
          </a:p>
        </p:txBody>
      </p:sp>
      <p:sp>
        <p:nvSpPr>
          <p:cNvPr id="135176" name="Text Box 12">
            <a:extLst>
              <a:ext uri="{FF2B5EF4-FFF2-40B4-BE49-F238E27FC236}">
                <a16:creationId xmlns:a16="http://schemas.microsoft.com/office/drawing/2014/main" id="{78F7833C-BF9B-4792-B6F7-CA62AF6E0F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4513" y="3592513"/>
            <a:ext cx="33861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 dirty="0">
                <a:latin typeface="Courier New" panose="02070309020205020404" pitchFamily="49" charset="0"/>
              </a:rPr>
              <a:t>(typically, </a:t>
            </a:r>
            <a:r>
              <a:rPr lang="en-US" altLang="zh-TW" sz="2000" b="1" dirty="0">
                <a:latin typeface="Courier New" panose="02070309020205020404" pitchFamily="49" charset="0"/>
                <a:sym typeface="Symbol" panose="05050102010706020507" pitchFamily="18" charset="2"/>
              </a:rPr>
              <a:t> = 0.25)</a:t>
            </a:r>
          </a:p>
        </p:txBody>
      </p:sp>
      <p:sp>
        <p:nvSpPr>
          <p:cNvPr id="135177" name="Rectangle 13">
            <a:extLst>
              <a:ext uri="{FF2B5EF4-FFF2-40B4-BE49-F238E27FC236}">
                <a16:creationId xmlns:a16="http://schemas.microsoft.com/office/drawing/2014/main" id="{C3D513B4-D8C7-4EA1-8B44-90D57B760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" y="4368800"/>
            <a:ext cx="7918450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b="1" dirty="0" err="1">
                <a:latin typeface="Courier New" panose="02070309020205020404" pitchFamily="49" charset="0"/>
              </a:rPr>
              <a:t>TimeoutInterval</a:t>
            </a:r>
            <a:r>
              <a:rPr lang="en-US" altLang="zh-TW" sz="2400" b="1" dirty="0">
                <a:latin typeface="Courier New" panose="02070309020205020404" pitchFamily="49" charset="0"/>
              </a:rPr>
              <a:t> = </a:t>
            </a:r>
            <a:r>
              <a:rPr lang="en-US" altLang="zh-TW" sz="2400" b="1" dirty="0" err="1">
                <a:latin typeface="Courier New" panose="02070309020205020404" pitchFamily="49" charset="0"/>
              </a:rPr>
              <a:t>EstimatedRTT</a:t>
            </a:r>
            <a:r>
              <a:rPr lang="en-US" altLang="zh-TW" sz="2400" b="1" dirty="0">
                <a:latin typeface="Courier New" panose="02070309020205020404" pitchFamily="49" charset="0"/>
              </a:rPr>
              <a:t> + 4*</a:t>
            </a:r>
            <a:r>
              <a:rPr lang="en-US" altLang="zh-TW" sz="2400" b="1" dirty="0" err="1">
                <a:latin typeface="Courier New" panose="02070309020205020404" pitchFamily="49" charset="0"/>
              </a:rPr>
              <a:t>DevRTT</a:t>
            </a:r>
            <a:endParaRPr lang="en-US" altLang="zh-TW" sz="2400" b="1" dirty="0">
              <a:latin typeface="Courier New" panose="02070309020205020404" pitchFamily="49" charset="0"/>
            </a:endParaRPr>
          </a:p>
        </p:txBody>
      </p:sp>
      <p:sp>
        <p:nvSpPr>
          <p:cNvPr id="135178" name="Text Box 14">
            <a:extLst>
              <a:ext uri="{FF2B5EF4-FFF2-40B4-BE49-F238E27FC236}">
                <a16:creationId xmlns:a16="http://schemas.microsoft.com/office/drawing/2014/main" id="{D04C7E95-68AB-4A12-9C15-AF463ED825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0025" y="5122863"/>
            <a:ext cx="18113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99"/>
                </a:solidFill>
                <a:latin typeface="Tahoma" panose="020B0604030504040204" pitchFamily="34" charset="0"/>
              </a:rPr>
              <a:t>estimated RTT</a:t>
            </a:r>
          </a:p>
        </p:txBody>
      </p:sp>
      <p:sp>
        <p:nvSpPr>
          <p:cNvPr id="135179" name="Text Box 16">
            <a:extLst>
              <a:ext uri="{FF2B5EF4-FFF2-40B4-BE49-F238E27FC236}">
                <a16:creationId xmlns:a16="http://schemas.microsoft.com/office/drawing/2014/main" id="{5357709D-7402-4FB6-8275-1377DEF3BF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2075" y="5141913"/>
            <a:ext cx="19177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ja-JP" altLang="en-US" sz="2000">
                <a:solidFill>
                  <a:srgbClr val="000099"/>
                </a:solidFill>
                <a:latin typeface="Tahoma" panose="020B0604030504040204" pitchFamily="34" charset="0"/>
              </a:rPr>
              <a:t>“</a:t>
            </a:r>
            <a:r>
              <a:rPr lang="en-US" altLang="ja-JP" sz="2000">
                <a:solidFill>
                  <a:srgbClr val="000099"/>
                </a:solidFill>
                <a:latin typeface="Tahoma" panose="020B0604030504040204" pitchFamily="34" charset="0"/>
              </a:rPr>
              <a:t>safety margin</a:t>
            </a:r>
            <a:r>
              <a:rPr lang="ja-JP" altLang="en-US" sz="2000">
                <a:solidFill>
                  <a:srgbClr val="000099"/>
                </a:solidFill>
                <a:latin typeface="Tahoma" panose="020B0604030504040204" pitchFamily="34" charset="0"/>
              </a:rPr>
              <a:t>”</a:t>
            </a:r>
            <a:endParaRPr lang="en-US" altLang="zh-TW" sz="2000">
              <a:solidFill>
                <a:srgbClr val="000099"/>
              </a:solidFill>
              <a:latin typeface="Tahoma" panose="020B0604030504040204" pitchFamily="34" charset="0"/>
            </a:endParaRPr>
          </a:p>
        </p:txBody>
      </p:sp>
      <p:sp>
        <p:nvSpPr>
          <p:cNvPr id="135180" name="Line 17">
            <a:extLst>
              <a:ext uri="{FF2B5EF4-FFF2-40B4-BE49-F238E27FC236}">
                <a16:creationId xmlns:a16="http://schemas.microsoft.com/office/drawing/2014/main" id="{20E2526F-E16A-47F0-9A6D-56B07B3FD5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06950" y="4762500"/>
            <a:ext cx="0" cy="446088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35181" name="Line 19">
            <a:extLst>
              <a:ext uri="{FF2B5EF4-FFF2-40B4-BE49-F238E27FC236}">
                <a16:creationId xmlns:a16="http://schemas.microsoft.com/office/drawing/2014/main" id="{0B10B3B6-EF18-46DB-BDC9-139701D7280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78700" y="4768850"/>
            <a:ext cx="0" cy="446088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pic>
        <p:nvPicPr>
          <p:cNvPr id="135182" name="Picture 20" descr="alarm_clock_ringing">
            <a:extLst>
              <a:ext uri="{FF2B5EF4-FFF2-40B4-BE49-F238E27FC236}">
                <a16:creationId xmlns:a16="http://schemas.microsoft.com/office/drawing/2014/main" id="{BFA8C3B2-04AC-4667-BCA4-65C708C0D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1163" y="4773613"/>
            <a:ext cx="752475" cy="82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173" grpId="0"/>
      <p:bldP spid="135176" grpId="0"/>
      <p:bldP spid="135177" grpId="0"/>
      <p:bldP spid="135178" grpId="0"/>
      <p:bldP spid="135179" grpId="0"/>
      <p:bldP spid="135180" grpId="0" animBg="1"/>
      <p:bldP spid="13518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Footer Placeholder 5">
            <a:extLst>
              <a:ext uri="{FF2B5EF4-FFF2-40B4-BE49-F238E27FC236}">
                <a16:creationId xmlns:a16="http://schemas.microsoft.com/office/drawing/2014/main" id="{0304CC52-D17E-4611-A8E2-CEB061A37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36195" name="Slide Number Placeholder 6">
            <a:extLst>
              <a:ext uri="{FF2B5EF4-FFF2-40B4-BE49-F238E27FC236}">
                <a16:creationId xmlns:a16="http://schemas.microsoft.com/office/drawing/2014/main" id="{F026FCB3-1496-450D-A796-E9A9AF61A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A8E246BD-2F3E-48D9-8840-174862DA829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65540" name="Rectangle 2">
            <a:extLst>
              <a:ext uri="{FF2B5EF4-FFF2-40B4-BE49-F238E27FC236}">
                <a16:creationId xmlns:a16="http://schemas.microsoft.com/office/drawing/2014/main" id="{FF6B48F5-7E72-4C81-A827-9C6917A04D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65541" name="Rectangle 3">
            <a:extLst>
              <a:ext uri="{FF2B5EF4-FFF2-40B4-BE49-F238E27FC236}">
                <a16:creationId xmlns:a16="http://schemas.microsoft.com/office/drawing/2014/main" id="{EA6480EB-CE97-4D66-9B90-D370A5D42DD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65542" name="Rectangle 4">
            <a:extLst>
              <a:ext uri="{FF2B5EF4-FFF2-40B4-BE49-F238E27FC236}">
                <a16:creationId xmlns:a16="http://schemas.microsoft.com/office/drawing/2014/main" id="{05335ACC-8924-45E0-BC07-73703051E48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136199" name="Picture 5" descr="underline_base">
            <a:extLst>
              <a:ext uri="{FF2B5EF4-FFF2-40B4-BE49-F238E27FC236}">
                <a16:creationId xmlns:a16="http://schemas.microsoft.com/office/drawing/2014/main" id="{11416075-6966-423C-86B8-CDF015F161C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39813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Footer Placeholder 5">
            <a:extLst>
              <a:ext uri="{FF2B5EF4-FFF2-40B4-BE49-F238E27FC236}">
                <a16:creationId xmlns:a16="http://schemas.microsoft.com/office/drawing/2014/main" id="{064D90A1-5F20-4225-BC69-78EC6C086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37219" name="Slide Number Placeholder 6">
            <a:extLst>
              <a:ext uri="{FF2B5EF4-FFF2-40B4-BE49-F238E27FC236}">
                <a16:creationId xmlns:a16="http://schemas.microsoft.com/office/drawing/2014/main" id="{BA669C42-50A1-4B1B-95D0-579946FEA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21B48047-E2DD-4BF0-BFAE-9CDC1560F05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66564" name="Rectangle 2">
            <a:extLst>
              <a:ext uri="{FF2B5EF4-FFF2-40B4-BE49-F238E27FC236}">
                <a16:creationId xmlns:a16="http://schemas.microsoft.com/office/drawing/2014/main" id="{13C44769-B1FB-4B90-A1DC-F7E75DA174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73038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reliable data transfer</a:t>
            </a:r>
          </a:p>
        </p:txBody>
      </p:sp>
      <p:sp>
        <p:nvSpPr>
          <p:cNvPr id="137221" name="Rectangle 3">
            <a:extLst>
              <a:ext uri="{FF2B5EF4-FFF2-40B4-BE49-F238E27FC236}">
                <a16:creationId xmlns:a16="http://schemas.microsoft.com/office/drawing/2014/main" id="{C797D566-A677-4AA2-BD4F-A484CA997D6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500188"/>
            <a:ext cx="4070350" cy="4648200"/>
          </a:xfrm>
        </p:spPr>
        <p:txBody>
          <a:bodyPr/>
          <a:lstStyle/>
          <a:p>
            <a:r>
              <a:rPr lang="en-US" altLang="zh-TW" dirty="0"/>
              <a:t>TCP creates </a:t>
            </a:r>
            <a:r>
              <a:rPr lang="en-US" altLang="zh-TW" dirty="0" err="1"/>
              <a:t>rdt</a:t>
            </a:r>
            <a:r>
              <a:rPr lang="en-US" altLang="zh-TW" dirty="0"/>
              <a:t> service on top of IP</a:t>
            </a:r>
            <a:r>
              <a:rPr lang="ja-JP" altLang="en-US" dirty="0"/>
              <a:t>’</a:t>
            </a:r>
            <a:r>
              <a:rPr lang="en-US" altLang="ja-JP" dirty="0"/>
              <a:t>s unreliable service</a:t>
            </a:r>
          </a:p>
          <a:p>
            <a:pPr lvl="1"/>
            <a:r>
              <a:rPr lang="en-US" altLang="zh-TW" dirty="0"/>
              <a:t>pipelined segments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</a:rPr>
              <a:t>cumulative acks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</a:rPr>
              <a:t>single retransmission timer</a:t>
            </a:r>
          </a:p>
          <a:p>
            <a:r>
              <a:rPr lang="en-US" altLang="zh-TW" dirty="0"/>
              <a:t>retransmissions  triggered by:</a:t>
            </a:r>
          </a:p>
          <a:p>
            <a:pPr lvl="1"/>
            <a:r>
              <a:rPr lang="en-US" altLang="zh-TW" dirty="0"/>
              <a:t>timeout events</a:t>
            </a:r>
          </a:p>
          <a:p>
            <a:pPr lvl="1"/>
            <a:r>
              <a:rPr lang="en-US" altLang="zh-TW" dirty="0"/>
              <a:t>duplicate acks</a:t>
            </a:r>
          </a:p>
          <a:p>
            <a:endParaRPr lang="en-US" altLang="zh-TW" dirty="0"/>
          </a:p>
          <a:p>
            <a:endParaRPr lang="en-US" altLang="zh-TW" dirty="0"/>
          </a:p>
        </p:txBody>
      </p:sp>
      <p:sp>
        <p:nvSpPr>
          <p:cNvPr id="137222" name="Rectangle 4">
            <a:extLst>
              <a:ext uri="{FF2B5EF4-FFF2-40B4-BE49-F238E27FC236}">
                <a16:creationId xmlns:a16="http://schemas.microsoft.com/office/drawing/2014/main" id="{BED7A673-3B52-432E-8595-ECC3428F90D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54550" y="2911475"/>
            <a:ext cx="3933825" cy="2119313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/>
              <a:t>let</a:t>
            </a:r>
            <a:r>
              <a:rPr lang="ja-JP" altLang="en-US"/>
              <a:t>’</a:t>
            </a:r>
            <a:r>
              <a:rPr lang="en-US" altLang="ja-JP"/>
              <a:t>s initially consider simplified TCP sender:</a:t>
            </a:r>
          </a:p>
          <a:p>
            <a:pPr lvl="1"/>
            <a:r>
              <a:rPr lang="en-US" altLang="zh-TW"/>
              <a:t>ignore duplicate acks</a:t>
            </a:r>
          </a:p>
          <a:p>
            <a:pPr lvl="1"/>
            <a:r>
              <a:rPr lang="en-US" altLang="zh-TW"/>
              <a:t>ignore flow control, congestion control</a:t>
            </a:r>
          </a:p>
        </p:txBody>
      </p:sp>
      <p:pic>
        <p:nvPicPr>
          <p:cNvPr id="137223" name="Picture 5" descr="underline_base">
            <a:extLst>
              <a:ext uri="{FF2B5EF4-FFF2-40B4-BE49-F238E27FC236}">
                <a16:creationId xmlns:a16="http://schemas.microsoft.com/office/drawing/2014/main" id="{FE9DD66F-1F57-43DD-8E2C-FF65032760E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913" y="996950"/>
            <a:ext cx="5942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Footer Placeholder 5">
            <a:extLst>
              <a:ext uri="{FF2B5EF4-FFF2-40B4-BE49-F238E27FC236}">
                <a16:creationId xmlns:a16="http://schemas.microsoft.com/office/drawing/2014/main" id="{FC1D51D2-BB42-485D-9F7A-3888251D4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39267" name="Slide Number Placeholder 6">
            <a:extLst>
              <a:ext uri="{FF2B5EF4-FFF2-40B4-BE49-F238E27FC236}">
                <a16:creationId xmlns:a16="http://schemas.microsoft.com/office/drawing/2014/main" id="{5F606D34-4594-499D-92CC-80EA52A8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3213FB79-ECAD-4DE7-9636-D9E09DFF149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39268" name="Picture 29" descr="underline_base">
            <a:extLst>
              <a:ext uri="{FF2B5EF4-FFF2-40B4-BE49-F238E27FC236}">
                <a16:creationId xmlns:a16="http://schemas.microsoft.com/office/drawing/2014/main" id="{F60D5DCD-97CB-4DA1-BFDA-65E20C72DF0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38" y="898525"/>
            <a:ext cx="5027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269" name="Rectangle 2">
            <a:extLst>
              <a:ext uri="{FF2B5EF4-FFF2-40B4-BE49-F238E27FC236}">
                <a16:creationId xmlns:a16="http://schemas.microsoft.com/office/drawing/2014/main" id="{724EF625-1D8F-482C-B780-3BA52241FF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4650" y="187325"/>
            <a:ext cx="7734300" cy="898525"/>
          </a:xfrm>
        </p:spPr>
        <p:txBody>
          <a:bodyPr/>
          <a:lstStyle/>
          <a:p>
            <a:r>
              <a:rPr lang="en-US" altLang="zh-TW"/>
              <a:t>TCP sender </a:t>
            </a:r>
            <a:r>
              <a:rPr lang="en-US" altLang="zh-TW" sz="3200"/>
              <a:t>(simplified)</a:t>
            </a:r>
            <a:endParaRPr lang="en-US" altLang="zh-TW"/>
          </a:p>
        </p:txBody>
      </p:sp>
      <p:grpSp>
        <p:nvGrpSpPr>
          <p:cNvPr id="139270" name="群組 27">
            <a:extLst>
              <a:ext uri="{FF2B5EF4-FFF2-40B4-BE49-F238E27FC236}">
                <a16:creationId xmlns:a16="http://schemas.microsoft.com/office/drawing/2014/main" id="{02649877-AC3C-4687-933D-AD1CA5BCC4DC}"/>
              </a:ext>
            </a:extLst>
          </p:cNvPr>
          <p:cNvGrpSpPr>
            <a:grpSpLocks/>
          </p:cNvGrpSpPr>
          <p:nvPr/>
        </p:nvGrpSpPr>
        <p:grpSpPr bwMode="auto">
          <a:xfrm>
            <a:off x="314325" y="1333500"/>
            <a:ext cx="8542338" cy="5360988"/>
            <a:chOff x="314325" y="1333500"/>
            <a:chExt cx="8542338" cy="5360988"/>
          </a:xfrm>
        </p:grpSpPr>
        <p:sp>
          <p:nvSpPr>
            <p:cNvPr id="139271" name="Oval 7">
              <a:extLst>
                <a:ext uri="{FF2B5EF4-FFF2-40B4-BE49-F238E27FC236}">
                  <a16:creationId xmlns:a16="http://schemas.microsoft.com/office/drawing/2014/main" id="{C7D0B91D-BAF2-45E1-9CC2-29F3FDCF13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7188" y="2730500"/>
              <a:ext cx="1071562" cy="971550"/>
            </a:xfrm>
            <a:prstGeom prst="ellipse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39272" name="Oval 6">
              <a:extLst>
                <a:ext uri="{FF2B5EF4-FFF2-40B4-BE49-F238E27FC236}">
                  <a16:creationId xmlns:a16="http://schemas.microsoft.com/office/drawing/2014/main" id="{86EC2F46-3CC7-4F93-92E2-27E0F47891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2575" y="2778125"/>
              <a:ext cx="1071563" cy="97155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39273" name="Text Box 5">
              <a:extLst>
                <a:ext uri="{FF2B5EF4-FFF2-40B4-BE49-F238E27FC236}">
                  <a16:creationId xmlns:a16="http://schemas.microsoft.com/office/drawing/2014/main" id="{8F81F224-AC4C-43B2-9FCD-C42B1148E3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9738" y="2781300"/>
              <a:ext cx="742950" cy="9159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wait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for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event</a:t>
              </a:r>
            </a:p>
          </p:txBody>
        </p:sp>
        <p:sp>
          <p:nvSpPr>
            <p:cNvPr id="139274" name="Line 8">
              <a:extLst>
                <a:ext uri="{FF2B5EF4-FFF2-40B4-BE49-F238E27FC236}">
                  <a16:creationId xmlns:a16="http://schemas.microsoft.com/office/drawing/2014/main" id="{9E75594F-9285-4794-9531-20417A33E6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5788" y="2247900"/>
              <a:ext cx="1071562" cy="6889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39275" name="Text Box 9">
              <a:extLst>
                <a:ext uri="{FF2B5EF4-FFF2-40B4-BE49-F238E27FC236}">
                  <a16:creationId xmlns:a16="http://schemas.microsoft.com/office/drawing/2014/main" id="{D78E16B6-E9E2-4D0A-A5C0-861AFF9A62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325" y="2874963"/>
              <a:ext cx="2546350" cy="517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NextSeqNum = InitialSeqNum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SendBase = InitialSeqNum</a:t>
              </a:r>
            </a:p>
          </p:txBody>
        </p:sp>
        <p:sp>
          <p:nvSpPr>
            <p:cNvPr id="139276" name="Line 10">
              <a:extLst>
                <a:ext uri="{FF2B5EF4-FFF2-40B4-BE49-F238E27FC236}">
                  <a16:creationId xmlns:a16="http://schemas.microsoft.com/office/drawing/2014/main" id="{7BA9D88C-A956-404E-AEEE-B7DED43384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7513" y="2889250"/>
              <a:ext cx="217963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39277" name="Text Box 11">
              <a:extLst>
                <a:ext uri="{FF2B5EF4-FFF2-40B4-BE49-F238E27FC236}">
                  <a16:creationId xmlns:a16="http://schemas.microsoft.com/office/drawing/2014/main" id="{F58E52AE-D216-41B9-86F2-214F60943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7463" y="2571750"/>
              <a:ext cx="341312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Symbol" panose="05050102010706020507" pitchFamily="18" charset="2"/>
                </a:rPr>
                <a:t>L</a:t>
              </a:r>
            </a:p>
          </p:txBody>
        </p:sp>
        <p:grpSp>
          <p:nvGrpSpPr>
            <p:cNvPr id="139278" name="Group 23">
              <a:extLst>
                <a:ext uri="{FF2B5EF4-FFF2-40B4-BE49-F238E27FC236}">
                  <a16:creationId xmlns:a16="http://schemas.microsoft.com/office/drawing/2014/main" id="{EC684684-8B8A-4319-B0BA-FD5F3D3434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5338" y="1333500"/>
              <a:ext cx="4251325" cy="1928813"/>
              <a:chOff x="3003" y="1263"/>
              <a:chExt cx="2678" cy="1215"/>
            </a:xfrm>
          </p:grpSpPr>
          <p:sp>
            <p:nvSpPr>
              <p:cNvPr id="139290" name="Text Box 12">
                <a:extLst>
                  <a:ext uri="{FF2B5EF4-FFF2-40B4-BE49-F238E27FC236}">
                    <a16:creationId xmlns:a16="http://schemas.microsoft.com/office/drawing/2014/main" id="{AF055937-0DE6-4FEF-A8AE-DA6D65F069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19" y="1456"/>
                <a:ext cx="2662" cy="10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5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create segment, seq. #: NextSeqNum</a:t>
                </a:r>
              </a:p>
              <a:p>
                <a:pPr>
                  <a:lnSpc>
                    <a:spcPct val="105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pass segment to IP (i.e., </a:t>
                </a:r>
                <a:r>
                  <a:rPr lang="ja-JP" altLang="en-US" sz="1600">
                    <a:latin typeface="Tahoma" panose="020B0604030504040204" pitchFamily="34" charset="0"/>
                  </a:rPr>
                  <a:t>“</a:t>
                </a:r>
                <a:r>
                  <a:rPr lang="en-US" altLang="ja-JP" sz="1600">
                    <a:latin typeface="Tahoma" panose="020B0604030504040204" pitchFamily="34" charset="0"/>
                  </a:rPr>
                  <a:t>send</a:t>
                </a:r>
                <a:r>
                  <a:rPr lang="ja-JP" altLang="en-US" sz="1600">
                    <a:latin typeface="Tahoma" panose="020B0604030504040204" pitchFamily="34" charset="0"/>
                  </a:rPr>
                  <a:t>”</a:t>
                </a:r>
                <a:r>
                  <a:rPr lang="en-US" altLang="ja-JP" sz="1600">
                    <a:latin typeface="Tahoma" panose="020B0604030504040204" pitchFamily="34" charset="0"/>
                  </a:rPr>
                  <a:t>)</a:t>
                </a:r>
              </a:p>
              <a:p>
                <a:pPr>
                  <a:lnSpc>
                    <a:spcPct val="105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NextSeqNum = NextSeqNum + length(data) </a:t>
                </a:r>
              </a:p>
              <a:p>
                <a:pPr>
                  <a:lnSpc>
                    <a:spcPct val="105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if (timer currently not running)</a:t>
                </a:r>
              </a:p>
              <a:p>
                <a:pPr>
                  <a:lnSpc>
                    <a:spcPct val="105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    start timer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                 </a:t>
                </a:r>
              </a:p>
            </p:txBody>
          </p:sp>
          <p:sp>
            <p:nvSpPr>
              <p:cNvPr id="139291" name="Text Box 13">
                <a:extLst>
                  <a:ext uri="{FF2B5EF4-FFF2-40B4-BE49-F238E27FC236}">
                    <a16:creationId xmlns:a16="http://schemas.microsoft.com/office/drawing/2014/main" id="{00762736-C93C-487F-A082-391F50F62F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03" y="1263"/>
                <a:ext cx="2204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data received from application above</a:t>
                </a:r>
              </a:p>
            </p:txBody>
          </p:sp>
          <p:sp>
            <p:nvSpPr>
              <p:cNvPr id="139292" name="Line 15">
                <a:extLst>
                  <a:ext uri="{FF2B5EF4-FFF2-40B4-BE49-F238E27FC236}">
                    <a16:creationId xmlns:a16="http://schemas.microsoft.com/office/drawing/2014/main" id="{9B37C78A-B941-4AB0-86FC-2306E09F17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1" y="1490"/>
                <a:ext cx="1743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39279" name="Group 20">
              <a:extLst>
                <a:ext uri="{FF2B5EF4-FFF2-40B4-BE49-F238E27FC236}">
                  <a16:creationId xmlns:a16="http://schemas.microsoft.com/office/drawing/2014/main" id="{10710692-9F21-4FE1-BB0B-24DDF37214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05363" y="3406775"/>
              <a:ext cx="3298825" cy="1147763"/>
              <a:chOff x="1270" y="3518"/>
              <a:chExt cx="2078" cy="723"/>
            </a:xfrm>
          </p:grpSpPr>
          <p:sp>
            <p:nvSpPr>
              <p:cNvPr id="139287" name="Text Box 16">
                <a:extLst>
                  <a:ext uri="{FF2B5EF4-FFF2-40B4-BE49-F238E27FC236}">
                    <a16:creationId xmlns:a16="http://schemas.microsoft.com/office/drawing/2014/main" id="{7EC79F80-73BE-4042-99B7-EAF2CFA7DE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75" y="3721"/>
                <a:ext cx="2073" cy="5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retransmit not-yet-acked segment         	with smallest seq. #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start timer</a:t>
                </a:r>
              </a:p>
            </p:txBody>
          </p:sp>
          <p:sp>
            <p:nvSpPr>
              <p:cNvPr id="139288" name="Text Box 17">
                <a:extLst>
                  <a:ext uri="{FF2B5EF4-FFF2-40B4-BE49-F238E27FC236}">
                    <a16:creationId xmlns:a16="http://schemas.microsoft.com/office/drawing/2014/main" id="{DF9F2E3A-2E29-4DC7-B9A6-37CFFBA038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70" y="3518"/>
                <a:ext cx="547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timeout</a:t>
                </a:r>
              </a:p>
            </p:txBody>
          </p:sp>
          <p:sp>
            <p:nvSpPr>
              <p:cNvPr id="139289" name="Line 18">
                <a:extLst>
                  <a:ext uri="{FF2B5EF4-FFF2-40B4-BE49-F238E27FC236}">
                    <a16:creationId xmlns:a16="http://schemas.microsoft.com/office/drawing/2014/main" id="{7F476D85-9241-49A3-BA71-477BBA6FC6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42" y="3741"/>
                <a:ext cx="188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39280" name="Group 24">
              <a:extLst>
                <a:ext uri="{FF2B5EF4-FFF2-40B4-BE49-F238E27FC236}">
                  <a16:creationId xmlns:a16="http://schemas.microsoft.com/office/drawing/2014/main" id="{FE9FFC23-95C9-4AFA-B5E0-482526309C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2500" y="4513263"/>
              <a:ext cx="4703763" cy="2181225"/>
              <a:chOff x="678" y="2592"/>
              <a:chExt cx="2963" cy="1374"/>
            </a:xfrm>
          </p:grpSpPr>
          <p:sp>
            <p:nvSpPr>
              <p:cNvPr id="139284" name="Text Box 3">
                <a:extLst>
                  <a:ext uri="{FF2B5EF4-FFF2-40B4-BE49-F238E27FC236}">
                    <a16:creationId xmlns:a16="http://schemas.microsoft.com/office/drawing/2014/main" id="{AC122E3C-6C92-4570-8850-3F494C0C754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8" y="2830"/>
                <a:ext cx="2963" cy="11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if (y &gt; SendBase) { 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    SendBase = y 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    /* SendBase–1: last cumulatively ACKed byte */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    if (there are currently not-yet-acked segments)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         start timer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       else stop timer 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Arial" panose="020B0604020202020204" pitchFamily="34" charset="0"/>
                  </a:rPr>
                  <a:t>     } </a:t>
                </a:r>
              </a:p>
            </p:txBody>
          </p:sp>
          <p:sp>
            <p:nvSpPr>
              <p:cNvPr id="139285" name="Text Box 21">
                <a:extLst>
                  <a:ext uri="{FF2B5EF4-FFF2-40B4-BE49-F238E27FC236}">
                    <a16:creationId xmlns:a16="http://schemas.microsoft.com/office/drawing/2014/main" id="{8BEC6615-C523-4C5A-9D2C-589594B682D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5" y="2592"/>
                <a:ext cx="220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ACK received, with ACK field value y </a:t>
                </a:r>
              </a:p>
            </p:txBody>
          </p:sp>
          <p:sp>
            <p:nvSpPr>
              <p:cNvPr id="139286" name="Line 22">
                <a:extLst>
                  <a:ext uri="{FF2B5EF4-FFF2-40B4-BE49-F238E27FC236}">
                    <a16:creationId xmlns:a16="http://schemas.microsoft.com/office/drawing/2014/main" id="{113B5B2B-C6B5-46D9-AADF-8F01C7C88C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8" y="2815"/>
                <a:ext cx="207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39281" name="Freeform 26">
              <a:extLst>
                <a:ext uri="{FF2B5EF4-FFF2-40B4-BE49-F238E27FC236}">
                  <a16:creationId xmlns:a16="http://schemas.microsoft.com/office/drawing/2014/main" id="{0F0629A4-D2D3-4C1A-B1F5-A20182B6C9F2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9663" y="1644650"/>
              <a:ext cx="1254125" cy="1258888"/>
            </a:xfrm>
            <a:custGeom>
              <a:avLst/>
              <a:gdLst>
                <a:gd name="T0" fmla="*/ 2147483646 w 1052"/>
                <a:gd name="T1" fmla="*/ 2147483646 h 990"/>
                <a:gd name="T2" fmla="*/ 2147483646 w 1052"/>
                <a:gd name="T3" fmla="*/ 2147483646 h 990"/>
                <a:gd name="T4" fmla="*/ 2147483646 w 1052"/>
                <a:gd name="T5" fmla="*/ 2147483646 h 990"/>
                <a:gd name="T6" fmla="*/ 0 60000 65536"/>
                <a:gd name="T7" fmla="*/ 0 60000 65536"/>
                <a:gd name="T8" fmla="*/ 0 60000 65536"/>
                <a:gd name="T9" fmla="*/ 0 w 1052"/>
                <a:gd name="T10" fmla="*/ 0 h 990"/>
                <a:gd name="T11" fmla="*/ 1052 w 1052"/>
                <a:gd name="T12" fmla="*/ 990 h 99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52" h="990">
                  <a:moveTo>
                    <a:pt x="26" y="825"/>
                  </a:moveTo>
                  <a:cubicBezTo>
                    <a:pt x="0" y="569"/>
                    <a:pt x="98" y="0"/>
                    <a:pt x="575" y="386"/>
                  </a:cubicBezTo>
                  <a:cubicBezTo>
                    <a:pt x="1052" y="772"/>
                    <a:pt x="404" y="968"/>
                    <a:pt x="208" y="990"/>
                  </a:cubicBez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39282" name="Freeform 27">
              <a:extLst>
                <a:ext uri="{FF2B5EF4-FFF2-40B4-BE49-F238E27FC236}">
                  <a16:creationId xmlns:a16="http://schemas.microsoft.com/office/drawing/2014/main" id="{40A1DC58-456F-4D00-9627-C635437E073E}"/>
                </a:ext>
              </a:extLst>
            </p:cNvPr>
            <p:cNvSpPr>
              <a:spLocks/>
            </p:cNvSpPr>
            <p:nvPr/>
          </p:nvSpPr>
          <p:spPr bwMode="auto">
            <a:xfrm rot="4468137">
              <a:off x="3972719" y="3117057"/>
              <a:ext cx="1254125" cy="1258887"/>
            </a:xfrm>
            <a:custGeom>
              <a:avLst/>
              <a:gdLst>
                <a:gd name="T0" fmla="*/ 2147483646 w 1052"/>
                <a:gd name="T1" fmla="*/ 2147483646 h 990"/>
                <a:gd name="T2" fmla="*/ 2147483646 w 1052"/>
                <a:gd name="T3" fmla="*/ 2147483646 h 990"/>
                <a:gd name="T4" fmla="*/ 2147483646 w 1052"/>
                <a:gd name="T5" fmla="*/ 2147483646 h 990"/>
                <a:gd name="T6" fmla="*/ 0 60000 65536"/>
                <a:gd name="T7" fmla="*/ 0 60000 65536"/>
                <a:gd name="T8" fmla="*/ 0 60000 65536"/>
                <a:gd name="T9" fmla="*/ 0 w 1052"/>
                <a:gd name="T10" fmla="*/ 0 h 990"/>
                <a:gd name="T11" fmla="*/ 1052 w 1052"/>
                <a:gd name="T12" fmla="*/ 990 h 99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52" h="990">
                  <a:moveTo>
                    <a:pt x="26" y="825"/>
                  </a:moveTo>
                  <a:cubicBezTo>
                    <a:pt x="0" y="569"/>
                    <a:pt x="98" y="0"/>
                    <a:pt x="575" y="386"/>
                  </a:cubicBezTo>
                  <a:cubicBezTo>
                    <a:pt x="1052" y="772"/>
                    <a:pt x="404" y="968"/>
                    <a:pt x="208" y="990"/>
                  </a:cubicBez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39283" name="Freeform 28">
              <a:extLst>
                <a:ext uri="{FF2B5EF4-FFF2-40B4-BE49-F238E27FC236}">
                  <a16:creationId xmlns:a16="http://schemas.microsoft.com/office/drawing/2014/main" id="{578D3EFD-2F05-42D8-A7EF-9A10FD2F66D7}"/>
                </a:ext>
              </a:extLst>
            </p:cNvPr>
            <p:cNvSpPr>
              <a:spLocks/>
            </p:cNvSpPr>
            <p:nvPr/>
          </p:nvSpPr>
          <p:spPr bwMode="auto">
            <a:xfrm rot="10674503">
              <a:off x="1914525" y="3616325"/>
              <a:ext cx="1254125" cy="1258888"/>
            </a:xfrm>
            <a:custGeom>
              <a:avLst/>
              <a:gdLst>
                <a:gd name="T0" fmla="*/ 2147483646 w 1052"/>
                <a:gd name="T1" fmla="*/ 2147483646 h 990"/>
                <a:gd name="T2" fmla="*/ 2147483646 w 1052"/>
                <a:gd name="T3" fmla="*/ 2147483646 h 990"/>
                <a:gd name="T4" fmla="*/ 2147483646 w 1052"/>
                <a:gd name="T5" fmla="*/ 2147483646 h 990"/>
                <a:gd name="T6" fmla="*/ 0 60000 65536"/>
                <a:gd name="T7" fmla="*/ 0 60000 65536"/>
                <a:gd name="T8" fmla="*/ 0 60000 65536"/>
                <a:gd name="T9" fmla="*/ 0 w 1052"/>
                <a:gd name="T10" fmla="*/ 0 h 990"/>
                <a:gd name="T11" fmla="*/ 1052 w 1052"/>
                <a:gd name="T12" fmla="*/ 990 h 99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52" h="990">
                  <a:moveTo>
                    <a:pt x="26" y="825"/>
                  </a:moveTo>
                  <a:cubicBezTo>
                    <a:pt x="0" y="569"/>
                    <a:pt x="98" y="0"/>
                    <a:pt x="575" y="386"/>
                  </a:cubicBezTo>
                  <a:cubicBezTo>
                    <a:pt x="1052" y="772"/>
                    <a:pt x="404" y="968"/>
                    <a:pt x="208" y="990"/>
                  </a:cubicBez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Footer Placeholder 5">
            <a:extLst>
              <a:ext uri="{FF2B5EF4-FFF2-40B4-BE49-F238E27FC236}">
                <a16:creationId xmlns:a16="http://schemas.microsoft.com/office/drawing/2014/main" id="{A64DDE7C-2A7D-4CE4-A18F-60A820798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40291" name="Slide Number Placeholder 6">
            <a:extLst>
              <a:ext uri="{FF2B5EF4-FFF2-40B4-BE49-F238E27FC236}">
                <a16:creationId xmlns:a16="http://schemas.microsoft.com/office/drawing/2014/main" id="{3D0A9B4D-6751-4DA5-BED8-FD2F7E431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76B4F0B-5F03-4322-8050-CBEDA8348C0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67588" name="Rectangle 2">
            <a:extLst>
              <a:ext uri="{FF2B5EF4-FFF2-40B4-BE49-F238E27FC236}">
                <a16:creationId xmlns:a16="http://schemas.microsoft.com/office/drawing/2014/main" id="{2A61F4B3-A053-4EBF-BBFD-EBDD9580C0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153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sender events:</a:t>
            </a:r>
          </a:p>
        </p:txBody>
      </p:sp>
      <p:sp>
        <p:nvSpPr>
          <p:cNvPr id="140293" name="Rectangle 3">
            <a:extLst>
              <a:ext uri="{FF2B5EF4-FFF2-40B4-BE49-F238E27FC236}">
                <a16:creationId xmlns:a16="http://schemas.microsoft.com/office/drawing/2014/main" id="{22676814-1AF5-4C6D-BBE6-77FF5A13BBF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166813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data rcvd from app:</a:t>
            </a:r>
          </a:p>
          <a:p>
            <a:r>
              <a:rPr lang="en-US" altLang="zh-TW" dirty="0"/>
              <a:t>create segment with seq #</a:t>
            </a:r>
          </a:p>
          <a:p>
            <a:pPr lvl="1"/>
            <a:r>
              <a:rPr lang="en-US" altLang="zh-TW" dirty="0"/>
              <a:t>seq # is byte-stream number of first data byte in  segment</a:t>
            </a:r>
          </a:p>
          <a:p>
            <a:r>
              <a:rPr lang="en-US" altLang="zh-TW" dirty="0"/>
              <a:t>start </a:t>
            </a:r>
            <a:r>
              <a:rPr lang="en-US" altLang="zh-TW" dirty="0">
                <a:solidFill>
                  <a:srgbClr val="0070C0"/>
                </a:solidFill>
              </a:rPr>
              <a:t>timer</a:t>
            </a:r>
            <a:r>
              <a:rPr lang="en-US" altLang="zh-TW" dirty="0"/>
              <a:t> if not already running </a:t>
            </a:r>
          </a:p>
          <a:p>
            <a:pPr lvl="1"/>
            <a:r>
              <a:rPr lang="en-US" altLang="zh-TW" dirty="0"/>
              <a:t>think of timer as </a:t>
            </a:r>
            <a:r>
              <a:rPr lang="en-US" altLang="zh-TW" dirty="0">
                <a:solidFill>
                  <a:srgbClr val="0070C0"/>
                </a:solidFill>
              </a:rPr>
              <a:t>for oldest </a:t>
            </a:r>
            <a:r>
              <a:rPr lang="en-US" altLang="zh-TW" dirty="0" err="1">
                <a:solidFill>
                  <a:srgbClr val="0070C0"/>
                </a:solidFill>
              </a:rPr>
              <a:t>unacked</a:t>
            </a:r>
            <a:r>
              <a:rPr lang="en-US" altLang="zh-TW" dirty="0">
                <a:solidFill>
                  <a:srgbClr val="0070C0"/>
                </a:solidFill>
              </a:rPr>
              <a:t> segment</a:t>
            </a:r>
          </a:p>
          <a:p>
            <a:pPr lvl="1"/>
            <a:r>
              <a:rPr lang="en-US" altLang="zh-TW" dirty="0"/>
              <a:t>expiration interval: </a:t>
            </a:r>
            <a:r>
              <a:rPr lang="en-US" altLang="zh-TW" sz="2000" b="1" dirty="0" err="1">
                <a:solidFill>
                  <a:srgbClr val="0070C0"/>
                </a:solidFill>
                <a:latin typeface="Courier New" panose="02070309020205020404" pitchFamily="49" charset="0"/>
              </a:rPr>
              <a:t>TimeOutInterval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endParaRPr lang="en-US" altLang="zh-TW" dirty="0"/>
          </a:p>
        </p:txBody>
      </p:sp>
      <p:pic>
        <p:nvPicPr>
          <p:cNvPr id="140294" name="Picture 5" descr="underline_base">
            <a:extLst>
              <a:ext uri="{FF2B5EF4-FFF2-40B4-BE49-F238E27FC236}">
                <a16:creationId xmlns:a16="http://schemas.microsoft.com/office/drawing/2014/main" id="{72E2688E-A532-4B6B-8AF2-60415D7EDE5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808038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0295" name="Picture 2">
            <a:extLst>
              <a:ext uri="{FF2B5EF4-FFF2-40B4-BE49-F238E27FC236}">
                <a16:creationId xmlns:a16="http://schemas.microsoft.com/office/drawing/2014/main" id="{E577813A-8006-4EE0-BA0A-2941460E2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2595563"/>
            <a:ext cx="5003800" cy="1814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Footer Placeholder 5">
            <a:extLst>
              <a:ext uri="{FF2B5EF4-FFF2-40B4-BE49-F238E27FC236}">
                <a16:creationId xmlns:a16="http://schemas.microsoft.com/office/drawing/2014/main" id="{9F98BBB4-694F-4A23-B31E-AD1B9956E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41315" name="Slide Number Placeholder 6">
            <a:extLst>
              <a:ext uri="{FF2B5EF4-FFF2-40B4-BE49-F238E27FC236}">
                <a16:creationId xmlns:a16="http://schemas.microsoft.com/office/drawing/2014/main" id="{484FF465-080F-4F5C-B759-AEE6E9A3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8E16722E-20EF-47CB-B156-7713CC89784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67588" name="Rectangle 2">
            <a:extLst>
              <a:ext uri="{FF2B5EF4-FFF2-40B4-BE49-F238E27FC236}">
                <a16:creationId xmlns:a16="http://schemas.microsoft.com/office/drawing/2014/main" id="{119CA5CF-1520-48A4-81E6-B3EE281EB5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153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sender events:</a:t>
            </a:r>
          </a:p>
        </p:txBody>
      </p:sp>
      <p:sp>
        <p:nvSpPr>
          <p:cNvPr id="141317" name="Rectangle 4">
            <a:extLst>
              <a:ext uri="{FF2B5EF4-FFF2-40B4-BE49-F238E27FC236}">
                <a16:creationId xmlns:a16="http://schemas.microsoft.com/office/drawing/2014/main" id="{ACCAD4DC-581E-4238-ADA6-6F902D88766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41338" y="1108075"/>
            <a:ext cx="38100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timeout:</a:t>
            </a:r>
          </a:p>
          <a:p>
            <a:r>
              <a:rPr lang="en-US" altLang="zh-TW" dirty="0">
                <a:solidFill>
                  <a:srgbClr val="0070C0"/>
                </a:solidFill>
              </a:rPr>
              <a:t>retransmit segment that caused timeout</a:t>
            </a:r>
          </a:p>
          <a:p>
            <a:r>
              <a:rPr lang="en-US" altLang="zh-TW" dirty="0"/>
              <a:t>restart timer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/>
              <a:t> </a:t>
            </a:r>
            <a:r>
              <a:rPr lang="en-US" altLang="zh-TW" i="1" dirty="0">
                <a:solidFill>
                  <a:srgbClr val="CC0000"/>
                </a:solidFill>
              </a:rPr>
              <a:t>ack rcvd:</a:t>
            </a:r>
          </a:p>
          <a:p>
            <a:r>
              <a:rPr lang="en-US" altLang="zh-TW" dirty="0"/>
              <a:t>if ack acknowledges previously </a:t>
            </a:r>
            <a:r>
              <a:rPr lang="en-US" altLang="zh-TW" dirty="0" err="1"/>
              <a:t>unacked</a:t>
            </a:r>
            <a:r>
              <a:rPr lang="en-US" altLang="zh-TW" dirty="0"/>
              <a:t> segments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</a:rPr>
              <a:t>update what is known to be </a:t>
            </a:r>
            <a:r>
              <a:rPr lang="en-US" altLang="zh-TW" dirty="0" err="1">
                <a:solidFill>
                  <a:srgbClr val="0070C0"/>
                </a:solidFill>
              </a:rPr>
              <a:t>ACKed</a:t>
            </a:r>
            <a:endParaRPr lang="en-US" altLang="zh-TW" dirty="0">
              <a:solidFill>
                <a:srgbClr val="0070C0"/>
              </a:solidFill>
            </a:endParaRPr>
          </a:p>
          <a:p>
            <a:pPr lvl="1"/>
            <a:r>
              <a:rPr lang="en-US" altLang="zh-TW" dirty="0"/>
              <a:t>start timer if there are  still </a:t>
            </a:r>
            <a:r>
              <a:rPr lang="en-US" altLang="zh-TW" dirty="0" err="1"/>
              <a:t>unacked</a:t>
            </a:r>
            <a:r>
              <a:rPr lang="en-US" altLang="zh-TW" dirty="0"/>
              <a:t> segments</a:t>
            </a:r>
          </a:p>
          <a:p>
            <a:pPr lvl="1">
              <a:buFont typeface="Wingdings" panose="05000000000000000000" pitchFamily="2" charset="2"/>
              <a:buNone/>
            </a:pPr>
            <a:endParaRPr lang="en-US" altLang="zh-TW" dirty="0"/>
          </a:p>
        </p:txBody>
      </p:sp>
      <p:pic>
        <p:nvPicPr>
          <p:cNvPr id="141318" name="Picture 5" descr="underline_base">
            <a:extLst>
              <a:ext uri="{FF2B5EF4-FFF2-40B4-BE49-F238E27FC236}">
                <a16:creationId xmlns:a16="http://schemas.microsoft.com/office/drawing/2014/main" id="{63706822-2B12-4858-B721-E5C0696A013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808038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1319" name="Picture 8">
            <a:extLst>
              <a:ext uri="{FF2B5EF4-FFF2-40B4-BE49-F238E27FC236}">
                <a16:creationId xmlns:a16="http://schemas.microsoft.com/office/drawing/2014/main" id="{F8F2FDA9-B781-4E40-8406-05390EA7E4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825" y="2097088"/>
            <a:ext cx="4913313" cy="2268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Footer Placeholder 3">
            <a:extLst>
              <a:ext uri="{FF2B5EF4-FFF2-40B4-BE49-F238E27FC236}">
                <a16:creationId xmlns:a16="http://schemas.microsoft.com/office/drawing/2014/main" id="{1D6572DA-4EC9-4BD2-8CF2-9D14C16A6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43363" name="Slide Number Placeholder 4">
            <a:extLst>
              <a:ext uri="{FF2B5EF4-FFF2-40B4-BE49-F238E27FC236}">
                <a16:creationId xmlns:a16="http://schemas.microsoft.com/office/drawing/2014/main" id="{CB1AF4E8-3EFE-4596-98D1-CD7AAA558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755165D-4AFB-4644-B39F-A87136ACDFDF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43364" name="Rectangle 7">
            <a:extLst>
              <a:ext uri="{FF2B5EF4-FFF2-40B4-BE49-F238E27FC236}">
                <a16:creationId xmlns:a16="http://schemas.microsoft.com/office/drawing/2014/main" id="{015DFA6E-53AC-4016-B8EC-89CD1E09A5E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6250" y="238125"/>
            <a:ext cx="7772400" cy="904875"/>
          </a:xfrm>
        </p:spPr>
        <p:txBody>
          <a:bodyPr/>
          <a:lstStyle/>
          <a:p>
            <a:r>
              <a:rPr lang="en-US" altLang="zh-TW" sz="4000"/>
              <a:t>TCP: retransmission scenarios</a:t>
            </a:r>
            <a:endParaRPr lang="en-US" altLang="zh-TW"/>
          </a:p>
        </p:txBody>
      </p:sp>
      <p:sp>
        <p:nvSpPr>
          <p:cNvPr id="143365" name="Text Box 105">
            <a:extLst>
              <a:ext uri="{FF2B5EF4-FFF2-40B4-BE49-F238E27FC236}">
                <a16:creationId xmlns:a16="http://schemas.microsoft.com/office/drawing/2014/main" id="{DAFF4B57-604D-4C80-96EF-572DAD0F72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2700" y="5946775"/>
            <a:ext cx="192246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lost ACK scenario</a:t>
            </a:r>
            <a:endParaRPr lang="en-US" altLang="zh-TW" sz="1000">
              <a:latin typeface="Tahoma" panose="020B0604030504040204" pitchFamily="34" charset="0"/>
            </a:endParaRPr>
          </a:p>
        </p:txBody>
      </p:sp>
      <p:sp>
        <p:nvSpPr>
          <p:cNvPr id="143366" name="Line 99">
            <a:extLst>
              <a:ext uri="{FF2B5EF4-FFF2-40B4-BE49-F238E27FC236}">
                <a16:creationId xmlns:a16="http://schemas.microsoft.com/office/drawing/2014/main" id="{DF34A008-2A8D-40EE-9BD7-4C8E7BC3CF7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5213" y="4184650"/>
            <a:ext cx="2351087" cy="506413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3367" name="Line 100">
            <a:extLst>
              <a:ext uri="{FF2B5EF4-FFF2-40B4-BE49-F238E27FC236}">
                <a16:creationId xmlns:a16="http://schemas.microsoft.com/office/drawing/2014/main" id="{CAC33EEE-EE8D-4F9F-B6A6-E48FE3A03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1077913" y="2416175"/>
            <a:ext cx="2346325" cy="5715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3368" name="Line 104">
            <a:extLst>
              <a:ext uri="{FF2B5EF4-FFF2-40B4-BE49-F238E27FC236}">
                <a16:creationId xmlns:a16="http://schemas.microsoft.com/office/drawing/2014/main" id="{89B466C9-3217-4C93-BFD5-2B68D9A10F1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14550" y="3078163"/>
            <a:ext cx="1273175" cy="427037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3369" name="Text Box 107">
            <a:extLst>
              <a:ext uri="{FF2B5EF4-FFF2-40B4-BE49-F238E27FC236}">
                <a16:creationId xmlns:a16="http://schemas.microsoft.com/office/drawing/2014/main" id="{A4E54E82-1C70-4504-9B64-229D44A1D6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6250" y="1257300"/>
            <a:ext cx="7731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Host B</a:t>
            </a:r>
          </a:p>
        </p:txBody>
      </p:sp>
      <p:sp>
        <p:nvSpPr>
          <p:cNvPr id="143370" name="Text Box 111">
            <a:extLst>
              <a:ext uri="{FF2B5EF4-FFF2-40B4-BE49-F238E27FC236}">
                <a16:creationId xmlns:a16="http://schemas.microsoft.com/office/drawing/2014/main" id="{6B5BCEEB-816D-4020-8851-2B69DF7959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274763"/>
            <a:ext cx="776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Host A</a:t>
            </a:r>
          </a:p>
        </p:txBody>
      </p:sp>
      <p:sp>
        <p:nvSpPr>
          <p:cNvPr id="143371" name="Rectangle 112">
            <a:extLst>
              <a:ext uri="{FF2B5EF4-FFF2-40B4-BE49-F238E27FC236}">
                <a16:creationId xmlns:a16="http://schemas.microsoft.com/office/drawing/2014/main" id="{BFB95FAD-F805-4EEE-B644-F458059B6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1175" y="2497138"/>
            <a:ext cx="869950" cy="4016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3372" name="Text Box 113">
            <a:extLst>
              <a:ext uri="{FF2B5EF4-FFF2-40B4-BE49-F238E27FC236}">
                <a16:creationId xmlns:a16="http://schemas.microsoft.com/office/drawing/2014/main" id="{C7229D51-804A-4F31-B209-FC05A2549B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2375" y="2549525"/>
            <a:ext cx="20859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Seq=92, 8 bytes of data</a:t>
            </a:r>
          </a:p>
        </p:txBody>
      </p:sp>
      <p:sp>
        <p:nvSpPr>
          <p:cNvPr id="143373" name="Rectangle 114">
            <a:extLst>
              <a:ext uri="{FF2B5EF4-FFF2-40B4-BE49-F238E27FC236}">
                <a16:creationId xmlns:a16="http://schemas.microsoft.com/office/drawing/2014/main" id="{96A5943D-9C69-409D-9BC4-DED54F7BA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500" y="3163888"/>
            <a:ext cx="747713" cy="2460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3374" name="Text Box 115">
            <a:extLst>
              <a:ext uri="{FF2B5EF4-FFF2-40B4-BE49-F238E27FC236}">
                <a16:creationId xmlns:a16="http://schemas.microsoft.com/office/drawing/2014/main" id="{64E4AF25-EF1D-4768-B917-232B78EC7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0125" y="3119438"/>
            <a:ext cx="9493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ACK=100</a:t>
            </a:r>
            <a:endParaRPr lang="en-US" altLang="zh-TW" sz="1000">
              <a:latin typeface="Times New Roman" panose="02020603050405020304" pitchFamily="18" charset="0"/>
            </a:endParaRPr>
          </a:p>
        </p:txBody>
      </p:sp>
      <p:sp>
        <p:nvSpPr>
          <p:cNvPr id="143375" name="Line 118">
            <a:extLst>
              <a:ext uri="{FF2B5EF4-FFF2-40B4-BE49-F238E27FC236}">
                <a16:creationId xmlns:a16="http://schemas.microsoft.com/office/drawing/2014/main" id="{384D81A8-74EE-470C-83A0-7FBA0F9B138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7275" y="2174875"/>
            <a:ext cx="0" cy="3525838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43376" name="Line 119">
            <a:extLst>
              <a:ext uri="{FF2B5EF4-FFF2-40B4-BE49-F238E27FC236}">
                <a16:creationId xmlns:a16="http://schemas.microsoft.com/office/drawing/2014/main" id="{CBEA55FC-91C6-4ACF-87A0-DABF7C2D8B0C}"/>
              </a:ext>
            </a:extLst>
          </p:cNvPr>
          <p:cNvSpPr>
            <a:spLocks noChangeShapeType="1"/>
          </p:cNvSpPr>
          <p:nvPr/>
        </p:nvSpPr>
        <p:spPr bwMode="auto">
          <a:xfrm>
            <a:off x="3484563" y="2170113"/>
            <a:ext cx="0" cy="3538537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43377" name="Rectangle 122">
            <a:extLst>
              <a:ext uri="{FF2B5EF4-FFF2-40B4-BE49-F238E27FC236}">
                <a16:creationId xmlns:a16="http://schemas.microsoft.com/office/drawing/2014/main" id="{E4B76164-0B6C-480D-8B61-B153E7F0DC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4813" y="4178300"/>
            <a:ext cx="989012" cy="4302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3378" name="Text Box 123">
            <a:extLst>
              <a:ext uri="{FF2B5EF4-FFF2-40B4-BE49-F238E27FC236}">
                <a16:creationId xmlns:a16="http://schemas.microsoft.com/office/drawing/2014/main" id="{6B7BBAC3-9151-4199-AA6D-DFE0D0EBA5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1263" y="4259263"/>
            <a:ext cx="20859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Seq=92, 8 bytes of data</a:t>
            </a:r>
          </a:p>
        </p:txBody>
      </p:sp>
      <p:sp>
        <p:nvSpPr>
          <p:cNvPr id="143379" name="Text Box 124">
            <a:extLst>
              <a:ext uri="{FF2B5EF4-FFF2-40B4-BE49-F238E27FC236}">
                <a16:creationId xmlns:a16="http://schemas.microsoft.com/office/drawing/2014/main" id="{070E3679-17E8-4704-8CFC-450E9EFA66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3413" y="3309938"/>
            <a:ext cx="3587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solidFill>
                  <a:srgbClr val="FF0000"/>
                </a:solidFill>
                <a:latin typeface="Tahoma" panose="020B0604030504040204" pitchFamily="34" charset="0"/>
              </a:rPr>
              <a:t>X</a:t>
            </a:r>
          </a:p>
        </p:txBody>
      </p:sp>
      <p:sp>
        <p:nvSpPr>
          <p:cNvPr id="143380" name="Text Box 126">
            <a:extLst>
              <a:ext uri="{FF2B5EF4-FFF2-40B4-BE49-F238E27FC236}">
                <a16:creationId xmlns:a16="http://schemas.microsoft.com/office/drawing/2014/main" id="{3D23F723-E825-46EA-AE3E-0AFD40DFD70E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684213" y="2963863"/>
            <a:ext cx="396875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timeout</a:t>
            </a:r>
          </a:p>
        </p:txBody>
      </p:sp>
      <p:sp>
        <p:nvSpPr>
          <p:cNvPr id="143381" name="Line 127">
            <a:extLst>
              <a:ext uri="{FF2B5EF4-FFF2-40B4-BE49-F238E27FC236}">
                <a16:creationId xmlns:a16="http://schemas.microsoft.com/office/drawing/2014/main" id="{F96463BC-2801-4605-8658-4959F1C08E2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54100" y="4776788"/>
            <a:ext cx="2338388" cy="782637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3382" name="Rectangle 128">
            <a:extLst>
              <a:ext uri="{FF2B5EF4-FFF2-40B4-BE49-F238E27FC236}">
                <a16:creationId xmlns:a16="http://schemas.microsoft.com/office/drawing/2014/main" id="{052D7E92-941D-460C-918F-04DCBD6CC8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7538" y="5033963"/>
            <a:ext cx="747712" cy="2460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3383" name="Text Box 129">
            <a:extLst>
              <a:ext uri="{FF2B5EF4-FFF2-40B4-BE49-F238E27FC236}">
                <a16:creationId xmlns:a16="http://schemas.microsoft.com/office/drawing/2014/main" id="{B23669D8-C1E0-4591-9C2D-9AF7A5889A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4989513"/>
            <a:ext cx="9493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ACK=100</a:t>
            </a:r>
            <a:endParaRPr lang="en-US" altLang="zh-TW" sz="1000">
              <a:latin typeface="Times New Roman" panose="02020603050405020304" pitchFamily="18" charset="0"/>
            </a:endParaRPr>
          </a:p>
        </p:txBody>
      </p:sp>
      <p:grpSp>
        <p:nvGrpSpPr>
          <p:cNvPr id="143384" name="Group 134">
            <a:extLst>
              <a:ext uri="{FF2B5EF4-FFF2-40B4-BE49-F238E27FC236}">
                <a16:creationId xmlns:a16="http://schemas.microsoft.com/office/drawing/2014/main" id="{E525A849-AC9C-4307-8848-5E1B22D334E2}"/>
              </a:ext>
            </a:extLst>
          </p:cNvPr>
          <p:cNvGrpSpPr>
            <a:grpSpLocks/>
          </p:cNvGrpSpPr>
          <p:nvPr/>
        </p:nvGrpSpPr>
        <p:grpSpPr bwMode="auto">
          <a:xfrm>
            <a:off x="825500" y="2420938"/>
            <a:ext cx="104775" cy="508000"/>
            <a:chOff x="3099" y="1749"/>
            <a:chExt cx="66" cy="320"/>
          </a:xfrm>
        </p:grpSpPr>
        <p:sp>
          <p:nvSpPr>
            <p:cNvPr id="143438" name="Line 132">
              <a:extLst>
                <a:ext uri="{FF2B5EF4-FFF2-40B4-BE49-F238E27FC236}">
                  <a16:creationId xmlns:a16="http://schemas.microsoft.com/office/drawing/2014/main" id="{BA64280B-2560-4C31-AFB4-E42B25FA0C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29" y="1749"/>
              <a:ext cx="0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43439" name="Line 133">
              <a:extLst>
                <a:ext uri="{FF2B5EF4-FFF2-40B4-BE49-F238E27FC236}">
                  <a16:creationId xmlns:a16="http://schemas.microsoft.com/office/drawing/2014/main" id="{56C92A6F-E2FD-4F98-AC6C-39506734A6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99" y="1752"/>
              <a:ext cx="6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43385" name="Group 135">
            <a:extLst>
              <a:ext uri="{FF2B5EF4-FFF2-40B4-BE49-F238E27FC236}">
                <a16:creationId xmlns:a16="http://schemas.microsoft.com/office/drawing/2014/main" id="{C39AD96D-FBE1-4CBC-9CEB-9FF842FBFB0C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820738" y="3663950"/>
            <a:ext cx="104775" cy="508000"/>
            <a:chOff x="3099" y="1749"/>
            <a:chExt cx="66" cy="320"/>
          </a:xfrm>
        </p:grpSpPr>
        <p:sp>
          <p:nvSpPr>
            <p:cNvPr id="143436" name="Line 136">
              <a:extLst>
                <a:ext uri="{FF2B5EF4-FFF2-40B4-BE49-F238E27FC236}">
                  <a16:creationId xmlns:a16="http://schemas.microsoft.com/office/drawing/2014/main" id="{F0CCAE2E-53C9-4472-A1F5-442C65A462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32" y="1752"/>
              <a:ext cx="0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43437" name="Line 137">
              <a:extLst>
                <a:ext uri="{FF2B5EF4-FFF2-40B4-BE49-F238E27FC236}">
                  <a16:creationId xmlns:a16="http://schemas.microsoft.com/office/drawing/2014/main" id="{829AF055-9F02-4BAE-8573-F6A33136E7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02" y="1755"/>
              <a:ext cx="6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36218" name="Text Box 172">
            <a:extLst>
              <a:ext uri="{FF2B5EF4-FFF2-40B4-BE49-F238E27FC236}">
                <a16:creationId xmlns:a16="http://schemas.microsoft.com/office/drawing/2014/main" id="{92A26CE8-9826-459C-8CD6-8F7BB8961A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5188" y="5953125"/>
            <a:ext cx="20732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premature timeout</a:t>
            </a:r>
            <a:endParaRPr lang="en-US" altLang="zh-TW" sz="1000">
              <a:latin typeface="Tahoma" panose="020B0604030504040204" pitchFamily="34" charset="0"/>
            </a:endParaRPr>
          </a:p>
        </p:txBody>
      </p:sp>
      <p:sp>
        <p:nvSpPr>
          <p:cNvPr id="136219" name="Line 173">
            <a:extLst>
              <a:ext uri="{FF2B5EF4-FFF2-40B4-BE49-F238E27FC236}">
                <a16:creationId xmlns:a16="http://schemas.microsoft.com/office/drawing/2014/main" id="{F8959C20-A74B-47A8-A552-0E6137637A37}"/>
              </a:ext>
            </a:extLst>
          </p:cNvPr>
          <p:cNvSpPr>
            <a:spLocks noChangeShapeType="1"/>
          </p:cNvSpPr>
          <p:nvPr/>
        </p:nvSpPr>
        <p:spPr bwMode="auto">
          <a:xfrm>
            <a:off x="5781675" y="4191000"/>
            <a:ext cx="2441575" cy="665163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6220" name="Line 174">
            <a:extLst>
              <a:ext uri="{FF2B5EF4-FFF2-40B4-BE49-F238E27FC236}">
                <a16:creationId xmlns:a16="http://schemas.microsoft.com/office/drawing/2014/main" id="{237FB1F5-43C7-43D0-8412-91C8F4D7D0F6}"/>
              </a:ext>
            </a:extLst>
          </p:cNvPr>
          <p:cNvSpPr>
            <a:spLocks noChangeShapeType="1"/>
          </p:cNvSpPr>
          <p:nvPr/>
        </p:nvSpPr>
        <p:spPr bwMode="auto">
          <a:xfrm>
            <a:off x="5815013" y="2422525"/>
            <a:ext cx="2346325" cy="5715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6221" name="Line 175">
            <a:extLst>
              <a:ext uri="{FF2B5EF4-FFF2-40B4-BE49-F238E27FC236}">
                <a16:creationId xmlns:a16="http://schemas.microsoft.com/office/drawing/2014/main" id="{3335E096-2484-492D-9C2A-C87F25389FE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89613" y="3084513"/>
            <a:ext cx="2335212" cy="1589087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6222" name="Text Box 177">
            <a:extLst>
              <a:ext uri="{FF2B5EF4-FFF2-40B4-BE49-F238E27FC236}">
                <a16:creationId xmlns:a16="http://schemas.microsoft.com/office/drawing/2014/main" id="{7EC4BBE8-4E67-4814-9446-368162AC3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53350" y="1263650"/>
            <a:ext cx="7731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Host B</a:t>
            </a:r>
          </a:p>
        </p:txBody>
      </p:sp>
      <p:sp>
        <p:nvSpPr>
          <p:cNvPr id="136223" name="Text Box 181">
            <a:extLst>
              <a:ext uri="{FF2B5EF4-FFF2-40B4-BE49-F238E27FC236}">
                <a16:creationId xmlns:a16="http://schemas.microsoft.com/office/drawing/2014/main" id="{17DB8848-A2A7-481C-942C-EA924AC0A7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9725" y="1281113"/>
            <a:ext cx="776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Host A</a:t>
            </a:r>
          </a:p>
        </p:txBody>
      </p:sp>
      <p:sp>
        <p:nvSpPr>
          <p:cNvPr id="136224" name="Rectangle 182">
            <a:extLst>
              <a:ext uri="{FF2B5EF4-FFF2-40B4-BE49-F238E27FC236}">
                <a16:creationId xmlns:a16="http://schemas.microsoft.com/office/drawing/2014/main" id="{AC31EE89-E3CC-4C88-9DCF-20A47BA58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275" y="2503488"/>
            <a:ext cx="869950" cy="4016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36225" name="Text Box 183">
            <a:extLst>
              <a:ext uri="{FF2B5EF4-FFF2-40B4-BE49-F238E27FC236}">
                <a16:creationId xmlns:a16="http://schemas.microsoft.com/office/drawing/2014/main" id="{1FB6B6E0-DBB2-453A-8A38-705229E065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9475" y="2555875"/>
            <a:ext cx="20859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Seq=92, 8 bytes of data</a:t>
            </a:r>
          </a:p>
        </p:txBody>
      </p:sp>
      <p:grpSp>
        <p:nvGrpSpPr>
          <p:cNvPr id="136226" name="Group 202">
            <a:extLst>
              <a:ext uri="{FF2B5EF4-FFF2-40B4-BE49-F238E27FC236}">
                <a16:creationId xmlns:a16="http://schemas.microsoft.com/office/drawing/2014/main" id="{915DCD18-5AAB-4C84-8676-F5FF4B9FF87C}"/>
              </a:ext>
            </a:extLst>
          </p:cNvPr>
          <p:cNvGrpSpPr>
            <a:grpSpLocks/>
          </p:cNvGrpSpPr>
          <p:nvPr/>
        </p:nvGrpSpPr>
        <p:grpSpPr bwMode="auto">
          <a:xfrm>
            <a:off x="6691313" y="3576638"/>
            <a:ext cx="949325" cy="304800"/>
            <a:chOff x="4215" y="2253"/>
            <a:chExt cx="598" cy="192"/>
          </a:xfrm>
        </p:grpSpPr>
        <p:sp>
          <p:nvSpPr>
            <p:cNvPr id="143434" name="Rectangle 184">
              <a:extLst>
                <a:ext uri="{FF2B5EF4-FFF2-40B4-BE49-F238E27FC236}">
                  <a16:creationId xmlns:a16="http://schemas.microsoft.com/office/drawing/2014/main" id="{21B63DCC-8A61-459B-A44B-58F733C4A2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" y="2274"/>
              <a:ext cx="471" cy="1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3435" name="Text Box 185">
              <a:extLst>
                <a:ext uri="{FF2B5EF4-FFF2-40B4-BE49-F238E27FC236}">
                  <a16:creationId xmlns:a16="http://schemas.microsoft.com/office/drawing/2014/main" id="{1FE42EF2-B6C4-42F8-BF1E-451E5A3184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5" y="2253"/>
              <a:ext cx="5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ACK=100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</p:grpSp>
      <p:sp>
        <p:nvSpPr>
          <p:cNvPr id="136227" name="Line 186">
            <a:extLst>
              <a:ext uri="{FF2B5EF4-FFF2-40B4-BE49-F238E27FC236}">
                <a16:creationId xmlns:a16="http://schemas.microsoft.com/office/drawing/2014/main" id="{D31FF525-3F4B-44B4-A237-3DAAFBB44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4375" y="2181225"/>
            <a:ext cx="0" cy="3525838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36228" name="Line 187">
            <a:extLst>
              <a:ext uri="{FF2B5EF4-FFF2-40B4-BE49-F238E27FC236}">
                <a16:creationId xmlns:a16="http://schemas.microsoft.com/office/drawing/2014/main" id="{3315F64C-9B2A-4B56-BC21-BB81634C88B8}"/>
              </a:ext>
            </a:extLst>
          </p:cNvPr>
          <p:cNvSpPr>
            <a:spLocks noChangeShapeType="1"/>
          </p:cNvSpPr>
          <p:nvPr/>
        </p:nvSpPr>
        <p:spPr bwMode="auto">
          <a:xfrm>
            <a:off x="8199438" y="2176463"/>
            <a:ext cx="0" cy="3538537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36229" name="Rectangle 188">
            <a:extLst>
              <a:ext uri="{FF2B5EF4-FFF2-40B4-BE49-F238E27FC236}">
                <a16:creationId xmlns:a16="http://schemas.microsoft.com/office/drawing/2014/main" id="{FEE6262C-4DDB-4C41-A500-848D9FAE62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7200" y="4308475"/>
            <a:ext cx="1057275" cy="5080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36230" name="Text Box 189">
            <a:extLst>
              <a:ext uri="{FF2B5EF4-FFF2-40B4-BE49-F238E27FC236}">
                <a16:creationId xmlns:a16="http://schemas.microsoft.com/office/drawing/2014/main" id="{4B6CCF80-6054-450F-9327-1D0310B5DD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27825" y="4341813"/>
            <a:ext cx="121285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Seq=92,  8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bytes of data</a:t>
            </a:r>
          </a:p>
        </p:txBody>
      </p:sp>
      <p:sp>
        <p:nvSpPr>
          <p:cNvPr id="136231" name="Text Box 191">
            <a:extLst>
              <a:ext uri="{FF2B5EF4-FFF2-40B4-BE49-F238E27FC236}">
                <a16:creationId xmlns:a16="http://schemas.microsoft.com/office/drawing/2014/main" id="{34269A3A-2BCD-4A26-8BB1-410A601632CD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5421313" y="2970213"/>
            <a:ext cx="396875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timeout</a:t>
            </a:r>
          </a:p>
        </p:txBody>
      </p:sp>
      <p:sp>
        <p:nvSpPr>
          <p:cNvPr id="136232" name="Line 192">
            <a:extLst>
              <a:ext uri="{FF2B5EF4-FFF2-40B4-BE49-F238E27FC236}">
                <a16:creationId xmlns:a16="http://schemas.microsoft.com/office/drawing/2014/main" id="{BEE3A040-0B00-4A70-880E-FEF039D4469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13425" y="4894263"/>
            <a:ext cx="2338388" cy="782637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6233" name="Rectangle 193">
            <a:extLst>
              <a:ext uri="{FF2B5EF4-FFF2-40B4-BE49-F238E27FC236}">
                <a16:creationId xmlns:a16="http://schemas.microsoft.com/office/drawing/2014/main" id="{FAFA03FB-5F68-4E15-A39C-14920C7A5B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6863" y="5151438"/>
            <a:ext cx="747712" cy="2460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36234" name="Text Box 194">
            <a:extLst>
              <a:ext uri="{FF2B5EF4-FFF2-40B4-BE49-F238E27FC236}">
                <a16:creationId xmlns:a16="http://schemas.microsoft.com/office/drawing/2014/main" id="{B3622A7C-63E2-4DB5-8D83-F9C1BC28B3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7488" y="5106988"/>
            <a:ext cx="9493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ACK=120</a:t>
            </a:r>
            <a:endParaRPr lang="en-US" altLang="zh-TW" sz="1000">
              <a:latin typeface="Times New Roman" panose="02020603050405020304" pitchFamily="18" charset="0"/>
            </a:endParaRPr>
          </a:p>
        </p:txBody>
      </p:sp>
      <p:grpSp>
        <p:nvGrpSpPr>
          <p:cNvPr id="136235" name="Group 195">
            <a:extLst>
              <a:ext uri="{FF2B5EF4-FFF2-40B4-BE49-F238E27FC236}">
                <a16:creationId xmlns:a16="http://schemas.microsoft.com/office/drawing/2014/main" id="{977D88B4-F63A-46FB-B85C-4D807BE3C4BC}"/>
              </a:ext>
            </a:extLst>
          </p:cNvPr>
          <p:cNvGrpSpPr>
            <a:grpSpLocks/>
          </p:cNvGrpSpPr>
          <p:nvPr/>
        </p:nvGrpSpPr>
        <p:grpSpPr bwMode="auto">
          <a:xfrm>
            <a:off x="5562600" y="2427288"/>
            <a:ext cx="104775" cy="508000"/>
            <a:chOff x="3099" y="1749"/>
            <a:chExt cx="66" cy="320"/>
          </a:xfrm>
        </p:grpSpPr>
        <p:sp>
          <p:nvSpPr>
            <p:cNvPr id="143432" name="Line 196">
              <a:extLst>
                <a:ext uri="{FF2B5EF4-FFF2-40B4-BE49-F238E27FC236}">
                  <a16:creationId xmlns:a16="http://schemas.microsoft.com/office/drawing/2014/main" id="{5B773870-378A-45AD-9C6E-1AE54DD23F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29" y="1749"/>
              <a:ext cx="0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43433" name="Line 197">
              <a:extLst>
                <a:ext uri="{FF2B5EF4-FFF2-40B4-BE49-F238E27FC236}">
                  <a16:creationId xmlns:a16="http://schemas.microsoft.com/office/drawing/2014/main" id="{6FD3AA12-E1CE-4D9B-8A3E-B2ECC33203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99" y="1752"/>
              <a:ext cx="6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6236" name="Group 198">
            <a:extLst>
              <a:ext uri="{FF2B5EF4-FFF2-40B4-BE49-F238E27FC236}">
                <a16:creationId xmlns:a16="http://schemas.microsoft.com/office/drawing/2014/main" id="{4457EB04-D1E4-4543-8665-4EB828A1BC30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5557838" y="3670300"/>
            <a:ext cx="104775" cy="508000"/>
            <a:chOff x="3099" y="1749"/>
            <a:chExt cx="66" cy="320"/>
          </a:xfrm>
        </p:grpSpPr>
        <p:sp>
          <p:nvSpPr>
            <p:cNvPr id="143430" name="Line 199">
              <a:extLst>
                <a:ext uri="{FF2B5EF4-FFF2-40B4-BE49-F238E27FC236}">
                  <a16:creationId xmlns:a16="http://schemas.microsoft.com/office/drawing/2014/main" id="{44DB627A-9F82-425E-9435-485FA21F23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33" y="1752"/>
              <a:ext cx="0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43431" name="Line 200">
              <a:extLst>
                <a:ext uri="{FF2B5EF4-FFF2-40B4-BE49-F238E27FC236}">
                  <a16:creationId xmlns:a16="http://schemas.microsoft.com/office/drawing/2014/main" id="{3921B1DD-08DA-4EBA-BABD-5C1D84D668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03" y="1755"/>
              <a:ext cx="6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6237" name="Group 206">
            <a:extLst>
              <a:ext uri="{FF2B5EF4-FFF2-40B4-BE49-F238E27FC236}">
                <a16:creationId xmlns:a16="http://schemas.microsoft.com/office/drawing/2014/main" id="{1EBD2DAD-33E0-4F9E-B9D8-B50068AED6FC}"/>
              </a:ext>
            </a:extLst>
          </p:cNvPr>
          <p:cNvGrpSpPr>
            <a:grpSpLocks/>
          </p:cNvGrpSpPr>
          <p:nvPr/>
        </p:nvGrpSpPr>
        <p:grpSpPr bwMode="auto">
          <a:xfrm>
            <a:off x="5800725" y="2808288"/>
            <a:ext cx="2346325" cy="571500"/>
            <a:chOff x="3759" y="1622"/>
            <a:chExt cx="1478" cy="360"/>
          </a:xfrm>
        </p:grpSpPr>
        <p:sp>
          <p:nvSpPr>
            <p:cNvPr id="143427" name="Line 203">
              <a:extLst>
                <a:ext uri="{FF2B5EF4-FFF2-40B4-BE49-F238E27FC236}">
                  <a16:creationId xmlns:a16="http://schemas.microsoft.com/office/drawing/2014/main" id="{30C9B541-CCFC-43B5-8108-3899FCDAF5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9" y="1622"/>
              <a:ext cx="1478" cy="36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43428" name="Rectangle 204">
              <a:extLst>
                <a:ext uri="{FF2B5EF4-FFF2-40B4-BE49-F238E27FC236}">
                  <a16:creationId xmlns:a16="http://schemas.microsoft.com/office/drawing/2014/main" id="{1E3D75F9-7816-4F7A-80F4-D5FF23110A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2" y="1673"/>
              <a:ext cx="548" cy="2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3429" name="Text Box 205">
              <a:extLst>
                <a:ext uri="{FF2B5EF4-FFF2-40B4-BE49-F238E27FC236}">
                  <a16:creationId xmlns:a16="http://schemas.microsoft.com/office/drawing/2014/main" id="{7C0991BB-51AA-4E03-85F1-3439959D5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0" y="1706"/>
              <a:ext cx="1437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latin typeface="Tahoma" panose="020B0604030504040204" pitchFamily="34" charset="0"/>
                </a:rPr>
                <a:t>Seq=100, 20 bytes of data</a:t>
              </a:r>
            </a:p>
          </p:txBody>
        </p:sp>
      </p:grpSp>
      <p:sp>
        <p:nvSpPr>
          <p:cNvPr id="136238" name="Line 207">
            <a:extLst>
              <a:ext uri="{FF2B5EF4-FFF2-40B4-BE49-F238E27FC236}">
                <a16:creationId xmlns:a16="http://schemas.microsoft.com/office/drawing/2014/main" id="{CFEBA866-2E91-45D2-84F5-4F48D198FDC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94375" y="3440113"/>
            <a:ext cx="2335213" cy="1589087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36239" name="Group 208">
            <a:extLst>
              <a:ext uri="{FF2B5EF4-FFF2-40B4-BE49-F238E27FC236}">
                <a16:creationId xmlns:a16="http://schemas.microsoft.com/office/drawing/2014/main" id="{CFCBFC96-B03F-41FE-B8C3-C45335E658F4}"/>
              </a:ext>
            </a:extLst>
          </p:cNvPr>
          <p:cNvGrpSpPr>
            <a:grpSpLocks/>
          </p:cNvGrpSpPr>
          <p:nvPr/>
        </p:nvGrpSpPr>
        <p:grpSpPr bwMode="auto">
          <a:xfrm>
            <a:off x="6931025" y="3852863"/>
            <a:ext cx="949325" cy="304800"/>
            <a:chOff x="4215" y="2253"/>
            <a:chExt cx="598" cy="192"/>
          </a:xfrm>
        </p:grpSpPr>
        <p:sp>
          <p:nvSpPr>
            <p:cNvPr id="143425" name="Rectangle 209">
              <a:extLst>
                <a:ext uri="{FF2B5EF4-FFF2-40B4-BE49-F238E27FC236}">
                  <a16:creationId xmlns:a16="http://schemas.microsoft.com/office/drawing/2014/main" id="{3EE11E81-E892-4678-9FED-B83376CE5A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" y="2274"/>
              <a:ext cx="471" cy="1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3426" name="Text Box 210">
              <a:extLst>
                <a:ext uri="{FF2B5EF4-FFF2-40B4-BE49-F238E27FC236}">
                  <a16:creationId xmlns:a16="http://schemas.microsoft.com/office/drawing/2014/main" id="{5F7063D8-818A-43A7-A3FF-6F1CBFD5BE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5" y="2253"/>
              <a:ext cx="5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ACK=120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</p:grpSp>
      <p:sp>
        <p:nvSpPr>
          <p:cNvPr id="136240" name="Text Box 211">
            <a:extLst>
              <a:ext uri="{FF2B5EF4-FFF2-40B4-BE49-F238E27FC236}">
                <a16:creationId xmlns:a16="http://schemas.microsoft.com/office/drawing/2014/main" id="{BD19387D-0F80-4BD9-9AE5-FE030D5294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538" y="4495800"/>
            <a:ext cx="13636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SendBase=100</a:t>
            </a:r>
          </a:p>
        </p:txBody>
      </p:sp>
      <p:sp>
        <p:nvSpPr>
          <p:cNvPr id="136241" name="Text Box 212">
            <a:extLst>
              <a:ext uri="{FF2B5EF4-FFF2-40B4-BE49-F238E27FC236}">
                <a16:creationId xmlns:a16="http://schemas.microsoft.com/office/drawing/2014/main" id="{3B49C6B8-A2DB-4615-A9C7-CCA02E6FC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6588" y="4837113"/>
            <a:ext cx="13636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SendBase=120</a:t>
            </a:r>
          </a:p>
        </p:txBody>
      </p:sp>
      <p:sp>
        <p:nvSpPr>
          <p:cNvPr id="136242" name="Text Box 213">
            <a:extLst>
              <a:ext uri="{FF2B5EF4-FFF2-40B4-BE49-F238E27FC236}">
                <a16:creationId xmlns:a16="http://schemas.microsoft.com/office/drawing/2014/main" id="{73DD0691-76AE-4842-B4A7-B8076A4A84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65638" y="5511800"/>
            <a:ext cx="13636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SendBase=120</a:t>
            </a:r>
          </a:p>
        </p:txBody>
      </p:sp>
      <p:sp>
        <p:nvSpPr>
          <p:cNvPr id="136243" name="Text Box 214">
            <a:extLst>
              <a:ext uri="{FF2B5EF4-FFF2-40B4-BE49-F238E27FC236}">
                <a16:creationId xmlns:a16="http://schemas.microsoft.com/office/drawing/2014/main" id="{A5A87DC3-7624-46EF-B0B2-4C9FC5445D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2625" y="2266950"/>
            <a:ext cx="1266825" cy="3048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SendBase=92</a:t>
            </a:r>
          </a:p>
        </p:txBody>
      </p:sp>
      <p:pic>
        <p:nvPicPr>
          <p:cNvPr id="143412" name="Picture 218" descr="underline_base">
            <a:extLst>
              <a:ext uri="{FF2B5EF4-FFF2-40B4-BE49-F238E27FC236}">
                <a16:creationId xmlns:a16="http://schemas.microsoft.com/office/drawing/2014/main" id="{C6A08269-3CFB-4843-BBC1-1F709721F4F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838" y="912813"/>
            <a:ext cx="6399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6245" name="Group 219">
            <a:extLst>
              <a:ext uri="{FF2B5EF4-FFF2-40B4-BE49-F238E27FC236}">
                <a16:creationId xmlns:a16="http://schemas.microsoft.com/office/drawing/2014/main" id="{5C0339F5-0112-4939-B752-4D1D9A9B5279}"/>
              </a:ext>
            </a:extLst>
          </p:cNvPr>
          <p:cNvGrpSpPr>
            <a:grpSpLocks/>
          </p:cNvGrpSpPr>
          <p:nvPr/>
        </p:nvGrpSpPr>
        <p:grpSpPr bwMode="auto">
          <a:xfrm>
            <a:off x="5372100" y="1543050"/>
            <a:ext cx="630238" cy="533400"/>
            <a:chOff x="-44" y="1473"/>
            <a:chExt cx="981" cy="1105"/>
          </a:xfrm>
        </p:grpSpPr>
        <p:pic>
          <p:nvPicPr>
            <p:cNvPr id="143423" name="Picture 220" descr="desktop_computer_stylized_medium">
              <a:extLst>
                <a:ext uri="{FF2B5EF4-FFF2-40B4-BE49-F238E27FC236}">
                  <a16:creationId xmlns:a16="http://schemas.microsoft.com/office/drawing/2014/main" id="{96BE94D1-6CD7-4D9D-AF26-EEC3B3754A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424" name="Freeform 221">
              <a:extLst>
                <a:ext uri="{FF2B5EF4-FFF2-40B4-BE49-F238E27FC236}">
                  <a16:creationId xmlns:a16="http://schemas.microsoft.com/office/drawing/2014/main" id="{708EC1DB-579D-4FF1-8179-384AC6B0E8A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6246" name="Group 225">
            <a:extLst>
              <a:ext uri="{FF2B5EF4-FFF2-40B4-BE49-F238E27FC236}">
                <a16:creationId xmlns:a16="http://schemas.microsoft.com/office/drawing/2014/main" id="{0A56BFEC-9826-4428-A46E-6FAED8EAADB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39088" y="1549400"/>
            <a:ext cx="631825" cy="622300"/>
            <a:chOff x="-44" y="1473"/>
            <a:chExt cx="981" cy="1105"/>
          </a:xfrm>
        </p:grpSpPr>
        <p:pic>
          <p:nvPicPr>
            <p:cNvPr id="143421" name="Picture 226" descr="desktop_computer_stylized_medium">
              <a:extLst>
                <a:ext uri="{FF2B5EF4-FFF2-40B4-BE49-F238E27FC236}">
                  <a16:creationId xmlns:a16="http://schemas.microsoft.com/office/drawing/2014/main" id="{ECFBA4C9-A12E-418B-B51F-8D9070458E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422" name="Freeform 227">
              <a:extLst>
                <a:ext uri="{FF2B5EF4-FFF2-40B4-BE49-F238E27FC236}">
                  <a16:creationId xmlns:a16="http://schemas.microsoft.com/office/drawing/2014/main" id="{9BC74D14-FED3-40ED-84E0-3A1C7EF5801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43415" name="Group 228">
            <a:extLst>
              <a:ext uri="{FF2B5EF4-FFF2-40B4-BE49-F238E27FC236}">
                <a16:creationId xmlns:a16="http://schemas.microsoft.com/office/drawing/2014/main" id="{A850C01E-8365-478D-A987-1E9F8944D5E9}"/>
              </a:ext>
            </a:extLst>
          </p:cNvPr>
          <p:cNvGrpSpPr>
            <a:grpSpLocks/>
          </p:cNvGrpSpPr>
          <p:nvPr/>
        </p:nvGrpSpPr>
        <p:grpSpPr bwMode="auto">
          <a:xfrm>
            <a:off x="647700" y="1547813"/>
            <a:ext cx="630238" cy="533400"/>
            <a:chOff x="-44" y="1473"/>
            <a:chExt cx="981" cy="1105"/>
          </a:xfrm>
        </p:grpSpPr>
        <p:pic>
          <p:nvPicPr>
            <p:cNvPr id="143419" name="Picture 229" descr="desktop_computer_stylized_medium">
              <a:extLst>
                <a:ext uri="{FF2B5EF4-FFF2-40B4-BE49-F238E27FC236}">
                  <a16:creationId xmlns:a16="http://schemas.microsoft.com/office/drawing/2014/main" id="{452064A2-4418-47CC-A5AB-2E5EDE3492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420" name="Freeform 230">
              <a:extLst>
                <a:ext uri="{FF2B5EF4-FFF2-40B4-BE49-F238E27FC236}">
                  <a16:creationId xmlns:a16="http://schemas.microsoft.com/office/drawing/2014/main" id="{72FA5CBE-3B9E-458F-92D3-9506C879E5D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43416" name="Group 231">
            <a:extLst>
              <a:ext uri="{FF2B5EF4-FFF2-40B4-BE49-F238E27FC236}">
                <a16:creationId xmlns:a16="http://schemas.microsoft.com/office/drawing/2014/main" id="{01D0B202-1ED2-4AE5-BFB7-D39BF1FA487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3225800" y="1531938"/>
            <a:ext cx="709613" cy="600075"/>
            <a:chOff x="-44" y="1473"/>
            <a:chExt cx="981" cy="1105"/>
          </a:xfrm>
        </p:grpSpPr>
        <p:pic>
          <p:nvPicPr>
            <p:cNvPr id="143417" name="Picture 232" descr="desktop_computer_stylized_medium">
              <a:extLst>
                <a:ext uri="{FF2B5EF4-FFF2-40B4-BE49-F238E27FC236}">
                  <a16:creationId xmlns:a16="http://schemas.microsoft.com/office/drawing/2014/main" id="{B567F30A-8CC4-4443-895A-2C5234FF77C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418" name="Freeform 233">
              <a:extLst>
                <a:ext uri="{FF2B5EF4-FFF2-40B4-BE49-F238E27FC236}">
                  <a16:creationId xmlns:a16="http://schemas.microsoft.com/office/drawing/2014/main" id="{428E6B41-D5BC-43C0-A1DE-D3E38EBC9AC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218" grpId="0"/>
      <p:bldP spid="136222" grpId="0"/>
      <p:bldP spid="136223" grpId="0"/>
      <p:bldP spid="136224" grpId="0" animBg="1"/>
      <p:bldP spid="136225" grpId="0"/>
      <p:bldP spid="136229" grpId="0" animBg="1"/>
      <p:bldP spid="136230" grpId="0"/>
      <p:bldP spid="136231" grpId="0"/>
      <p:bldP spid="136233" grpId="0" animBg="1"/>
      <p:bldP spid="136234" grpId="0"/>
      <p:bldP spid="136240" grpId="0"/>
      <p:bldP spid="136241" grpId="0"/>
      <p:bldP spid="136242" grpId="0"/>
      <p:bldP spid="13624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Footer Placeholder 3">
            <a:extLst>
              <a:ext uri="{FF2B5EF4-FFF2-40B4-BE49-F238E27FC236}">
                <a16:creationId xmlns:a16="http://schemas.microsoft.com/office/drawing/2014/main" id="{CA00B4BD-2266-4B41-AF66-20E595CA6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45411" name="Slide Number Placeholder 4">
            <a:extLst>
              <a:ext uri="{FF2B5EF4-FFF2-40B4-BE49-F238E27FC236}">
                <a16:creationId xmlns:a16="http://schemas.microsoft.com/office/drawing/2014/main" id="{D9320230-1766-474B-A4EA-A19AEC16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2D8FB25-83A1-4A48-9DAE-6413D3CBB4B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45412" name="Rectangle 2">
            <a:extLst>
              <a:ext uri="{FF2B5EF4-FFF2-40B4-BE49-F238E27FC236}">
                <a16:creationId xmlns:a16="http://schemas.microsoft.com/office/drawing/2014/main" id="{FB30C0AE-61CC-48AA-8A90-16E39FCB46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6250" y="238125"/>
            <a:ext cx="7772400" cy="904875"/>
          </a:xfrm>
        </p:spPr>
        <p:txBody>
          <a:bodyPr/>
          <a:lstStyle/>
          <a:p>
            <a:r>
              <a:rPr lang="en-US" altLang="zh-TW" sz="4000"/>
              <a:t>TCP: retransmission scenarios</a:t>
            </a:r>
            <a:endParaRPr lang="en-US" altLang="zh-TW"/>
          </a:p>
        </p:txBody>
      </p:sp>
      <p:sp>
        <p:nvSpPr>
          <p:cNvPr id="145413" name="Text Box 22">
            <a:extLst>
              <a:ext uri="{FF2B5EF4-FFF2-40B4-BE49-F238E27FC236}">
                <a16:creationId xmlns:a16="http://schemas.microsoft.com/office/drawing/2014/main" id="{AF875CCC-C2BB-4C02-A0C7-2D3704EB3F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8975" y="3468688"/>
            <a:ext cx="3587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b="1">
                <a:solidFill>
                  <a:srgbClr val="FF0000"/>
                </a:solidFill>
                <a:latin typeface="Tahoma" panose="020B0604030504040204" pitchFamily="34" charset="0"/>
              </a:rPr>
              <a:t>X</a:t>
            </a:r>
          </a:p>
        </p:txBody>
      </p:sp>
      <p:sp>
        <p:nvSpPr>
          <p:cNvPr id="145414" name="Text Box 34">
            <a:extLst>
              <a:ext uri="{FF2B5EF4-FFF2-40B4-BE49-F238E27FC236}">
                <a16:creationId xmlns:a16="http://schemas.microsoft.com/office/drawing/2014/main" id="{D5AD2617-F609-4F82-8E29-568404370F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9888" y="5975350"/>
            <a:ext cx="17510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cumulative ACK</a:t>
            </a:r>
            <a:endParaRPr lang="en-US" altLang="zh-TW" sz="1000">
              <a:latin typeface="Tahoma" panose="020B0604030504040204" pitchFamily="34" charset="0"/>
            </a:endParaRPr>
          </a:p>
        </p:txBody>
      </p:sp>
      <p:sp>
        <p:nvSpPr>
          <p:cNvPr id="145415" name="Line 35">
            <a:extLst>
              <a:ext uri="{FF2B5EF4-FFF2-40B4-BE49-F238E27FC236}">
                <a16:creationId xmlns:a16="http://schemas.microsoft.com/office/drawing/2014/main" id="{06D2CE54-DE27-462B-9045-1725620C870F}"/>
              </a:ext>
            </a:extLst>
          </p:cNvPr>
          <p:cNvSpPr>
            <a:spLocks noChangeShapeType="1"/>
          </p:cNvSpPr>
          <p:nvPr/>
        </p:nvSpPr>
        <p:spPr bwMode="auto">
          <a:xfrm>
            <a:off x="1368425" y="4540250"/>
            <a:ext cx="2441575" cy="665163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5416" name="Line 36">
            <a:extLst>
              <a:ext uri="{FF2B5EF4-FFF2-40B4-BE49-F238E27FC236}">
                <a16:creationId xmlns:a16="http://schemas.microsoft.com/office/drawing/2014/main" id="{29937DF5-DE88-47FB-92E9-5C207307B01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44613" y="2444750"/>
            <a:ext cx="2346325" cy="5715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5417" name="Line 37">
            <a:extLst>
              <a:ext uri="{FF2B5EF4-FFF2-40B4-BE49-F238E27FC236}">
                <a16:creationId xmlns:a16="http://schemas.microsoft.com/office/drawing/2014/main" id="{041300D6-4111-4923-AE5F-2D9E5B05B3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22500" y="3106738"/>
            <a:ext cx="1431925" cy="573087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5418" name="Text Box 39">
            <a:extLst>
              <a:ext uri="{FF2B5EF4-FFF2-40B4-BE49-F238E27FC236}">
                <a16:creationId xmlns:a16="http://schemas.microsoft.com/office/drawing/2014/main" id="{A94C1752-C96B-4100-B679-470DAF56D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0250" y="1273175"/>
            <a:ext cx="7731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Host B</a:t>
            </a:r>
          </a:p>
        </p:txBody>
      </p:sp>
      <p:sp>
        <p:nvSpPr>
          <p:cNvPr id="145419" name="Text Box 43">
            <a:extLst>
              <a:ext uri="{FF2B5EF4-FFF2-40B4-BE49-F238E27FC236}">
                <a16:creationId xmlns:a16="http://schemas.microsoft.com/office/drawing/2014/main" id="{CD69EEBE-C725-4025-8CBC-F80464FD5F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325" y="1303338"/>
            <a:ext cx="7762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Host A</a:t>
            </a:r>
          </a:p>
        </p:txBody>
      </p:sp>
      <p:sp>
        <p:nvSpPr>
          <p:cNvPr id="145420" name="Rectangle 44">
            <a:extLst>
              <a:ext uri="{FF2B5EF4-FFF2-40B4-BE49-F238E27FC236}">
                <a16:creationId xmlns:a16="http://schemas.microsoft.com/office/drawing/2014/main" id="{75108643-9233-41E2-AF55-E9B052DA9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7875" y="2525713"/>
            <a:ext cx="869950" cy="4016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5421" name="Text Box 45">
            <a:extLst>
              <a:ext uri="{FF2B5EF4-FFF2-40B4-BE49-F238E27FC236}">
                <a16:creationId xmlns:a16="http://schemas.microsoft.com/office/drawing/2014/main" id="{570ABD69-F3F8-4C6E-A607-44D8FC888D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9075" y="2578100"/>
            <a:ext cx="20859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Seq=92, 8 bytes of data</a:t>
            </a:r>
          </a:p>
        </p:txBody>
      </p:sp>
      <p:grpSp>
        <p:nvGrpSpPr>
          <p:cNvPr id="145422" name="Group 46">
            <a:extLst>
              <a:ext uri="{FF2B5EF4-FFF2-40B4-BE49-F238E27FC236}">
                <a16:creationId xmlns:a16="http://schemas.microsoft.com/office/drawing/2014/main" id="{E94BE0A5-A32E-4740-AE88-65751A152158}"/>
              </a:ext>
            </a:extLst>
          </p:cNvPr>
          <p:cNvGrpSpPr>
            <a:grpSpLocks/>
          </p:cNvGrpSpPr>
          <p:nvPr/>
        </p:nvGrpSpPr>
        <p:grpSpPr bwMode="auto">
          <a:xfrm>
            <a:off x="2244725" y="3306763"/>
            <a:ext cx="949325" cy="304800"/>
            <a:chOff x="4215" y="2253"/>
            <a:chExt cx="598" cy="192"/>
          </a:xfrm>
        </p:grpSpPr>
        <p:sp>
          <p:nvSpPr>
            <p:cNvPr id="145451" name="Rectangle 47">
              <a:extLst>
                <a:ext uri="{FF2B5EF4-FFF2-40B4-BE49-F238E27FC236}">
                  <a16:creationId xmlns:a16="http://schemas.microsoft.com/office/drawing/2014/main" id="{64239AC5-EEC4-4A7D-9E67-CCDB8CB620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" y="2274"/>
              <a:ext cx="471" cy="1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5452" name="Text Box 48">
              <a:extLst>
                <a:ext uri="{FF2B5EF4-FFF2-40B4-BE49-F238E27FC236}">
                  <a16:creationId xmlns:a16="http://schemas.microsoft.com/office/drawing/2014/main" id="{BFEA4B21-A5B5-4A29-9D78-04F8B5B728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5" y="2253"/>
              <a:ext cx="5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ACK=100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</p:grpSp>
      <p:sp>
        <p:nvSpPr>
          <p:cNvPr id="145423" name="Line 49">
            <a:extLst>
              <a:ext uri="{FF2B5EF4-FFF2-40B4-BE49-F238E27FC236}">
                <a16:creationId xmlns:a16="http://schemas.microsoft.com/office/drawing/2014/main" id="{04E1DC4F-5607-4050-97B8-281EA1CA41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3975" y="2203450"/>
            <a:ext cx="0" cy="3525838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45424" name="Line 50">
            <a:extLst>
              <a:ext uri="{FF2B5EF4-FFF2-40B4-BE49-F238E27FC236}">
                <a16:creationId xmlns:a16="http://schemas.microsoft.com/office/drawing/2014/main" id="{7F973DF9-0DB5-4863-9234-C9C5C91A187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29038" y="2198688"/>
            <a:ext cx="0" cy="3538537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45425" name="Rectangle 51">
            <a:extLst>
              <a:ext uri="{FF2B5EF4-FFF2-40B4-BE49-F238E27FC236}">
                <a16:creationId xmlns:a16="http://schemas.microsoft.com/office/drawing/2014/main" id="{F9601947-EF3B-4629-991F-84DF338D3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5338" y="4613275"/>
            <a:ext cx="933450" cy="5080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5426" name="Text Box 52">
            <a:extLst>
              <a:ext uri="{FF2B5EF4-FFF2-40B4-BE49-F238E27FC236}">
                <a16:creationId xmlns:a16="http://schemas.microsoft.com/office/drawing/2014/main" id="{2F9BBB75-D6F0-4822-8C5B-29B135A9FB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9850" y="4700588"/>
            <a:ext cx="265271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Seq=120,  15 bytes of data</a:t>
            </a:r>
          </a:p>
        </p:txBody>
      </p:sp>
      <p:sp>
        <p:nvSpPr>
          <p:cNvPr id="145427" name="Rectangle 55">
            <a:extLst>
              <a:ext uri="{FF2B5EF4-FFF2-40B4-BE49-F238E27FC236}">
                <a16:creationId xmlns:a16="http://schemas.microsoft.com/office/drawing/2014/main" id="{E550109F-1563-4D20-8DC1-812EE5D955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6463" y="5173663"/>
            <a:ext cx="747712" cy="2460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grpSp>
        <p:nvGrpSpPr>
          <p:cNvPr id="145428" name="Group 75">
            <a:extLst>
              <a:ext uri="{FF2B5EF4-FFF2-40B4-BE49-F238E27FC236}">
                <a16:creationId xmlns:a16="http://schemas.microsoft.com/office/drawing/2014/main" id="{C71C51B4-28DA-4734-B96B-35EF9CFFDBED}"/>
              </a:ext>
            </a:extLst>
          </p:cNvPr>
          <p:cNvGrpSpPr>
            <a:grpSpLocks/>
          </p:cNvGrpSpPr>
          <p:nvPr/>
        </p:nvGrpSpPr>
        <p:grpSpPr bwMode="auto">
          <a:xfrm>
            <a:off x="949325" y="2449513"/>
            <a:ext cx="396875" cy="2406650"/>
            <a:chOff x="3414" y="1529"/>
            <a:chExt cx="250" cy="1103"/>
          </a:xfrm>
        </p:grpSpPr>
        <p:sp>
          <p:nvSpPr>
            <p:cNvPr id="145444" name="Text Box 53">
              <a:extLst>
                <a:ext uri="{FF2B5EF4-FFF2-40B4-BE49-F238E27FC236}">
                  <a16:creationId xmlns:a16="http://schemas.microsoft.com/office/drawing/2014/main" id="{3226C581-743F-4080-8157-3EB5F61680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800000">
              <a:off x="3414" y="1931"/>
              <a:ext cx="250" cy="3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timeout</a:t>
              </a:r>
            </a:p>
          </p:txBody>
        </p:sp>
        <p:grpSp>
          <p:nvGrpSpPr>
            <p:cNvPr id="145445" name="Group 57">
              <a:extLst>
                <a:ext uri="{FF2B5EF4-FFF2-40B4-BE49-F238E27FC236}">
                  <a16:creationId xmlns:a16="http://schemas.microsoft.com/office/drawing/2014/main" id="{C549069D-F84A-44AE-89EC-8D01695851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4" y="1529"/>
              <a:ext cx="66" cy="320"/>
              <a:chOff x="3099" y="1749"/>
              <a:chExt cx="66" cy="320"/>
            </a:xfrm>
          </p:grpSpPr>
          <p:sp>
            <p:nvSpPr>
              <p:cNvPr id="145449" name="Line 58">
                <a:extLst>
                  <a:ext uri="{FF2B5EF4-FFF2-40B4-BE49-F238E27FC236}">
                    <a16:creationId xmlns:a16="http://schemas.microsoft.com/office/drawing/2014/main" id="{D00276F2-8B64-4D39-BDD7-26A0605EF1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29" y="1749"/>
                <a:ext cx="0" cy="3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45450" name="Line 59">
                <a:extLst>
                  <a:ext uri="{FF2B5EF4-FFF2-40B4-BE49-F238E27FC236}">
                    <a16:creationId xmlns:a16="http://schemas.microsoft.com/office/drawing/2014/main" id="{905795BE-4595-4A6A-ABB7-FF5B50FEF2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" y="1752"/>
                <a:ext cx="6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45446" name="Group 60">
              <a:extLst>
                <a:ext uri="{FF2B5EF4-FFF2-40B4-BE49-F238E27FC236}">
                  <a16:creationId xmlns:a16="http://schemas.microsoft.com/office/drawing/2014/main" id="{1A1E66B1-F1C0-4267-BE04-CAFE87B0732E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3501" y="2312"/>
              <a:ext cx="66" cy="320"/>
              <a:chOff x="3099" y="1749"/>
              <a:chExt cx="66" cy="320"/>
            </a:xfrm>
          </p:grpSpPr>
          <p:sp>
            <p:nvSpPr>
              <p:cNvPr id="145447" name="Line 61">
                <a:extLst>
                  <a:ext uri="{FF2B5EF4-FFF2-40B4-BE49-F238E27FC236}">
                    <a16:creationId xmlns:a16="http://schemas.microsoft.com/office/drawing/2014/main" id="{A82CB80F-CB21-4447-A19A-C7A5B76479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2" y="1750"/>
                <a:ext cx="0" cy="3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45448" name="Line 62">
                <a:extLst>
                  <a:ext uri="{FF2B5EF4-FFF2-40B4-BE49-F238E27FC236}">
                    <a16:creationId xmlns:a16="http://schemas.microsoft.com/office/drawing/2014/main" id="{517A9FF5-D453-4F0E-B8F5-55742CB378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02" y="1755"/>
                <a:ext cx="6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grpSp>
        <p:nvGrpSpPr>
          <p:cNvPr id="145429" name="Group 63">
            <a:extLst>
              <a:ext uri="{FF2B5EF4-FFF2-40B4-BE49-F238E27FC236}">
                <a16:creationId xmlns:a16="http://schemas.microsoft.com/office/drawing/2014/main" id="{1CDD2687-A2B2-4C3D-972A-FE0D14B84145}"/>
              </a:ext>
            </a:extLst>
          </p:cNvPr>
          <p:cNvGrpSpPr>
            <a:grpSpLocks/>
          </p:cNvGrpSpPr>
          <p:nvPr/>
        </p:nvGrpSpPr>
        <p:grpSpPr bwMode="auto">
          <a:xfrm>
            <a:off x="1330325" y="2830513"/>
            <a:ext cx="2346325" cy="571500"/>
            <a:chOff x="3759" y="1622"/>
            <a:chExt cx="1478" cy="360"/>
          </a:xfrm>
        </p:grpSpPr>
        <p:sp>
          <p:nvSpPr>
            <p:cNvPr id="145441" name="Line 64">
              <a:extLst>
                <a:ext uri="{FF2B5EF4-FFF2-40B4-BE49-F238E27FC236}">
                  <a16:creationId xmlns:a16="http://schemas.microsoft.com/office/drawing/2014/main" id="{E311F6F2-7CED-4AC1-B2F2-FC8C8505AD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9" y="1622"/>
              <a:ext cx="1478" cy="36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45442" name="Rectangle 65">
              <a:extLst>
                <a:ext uri="{FF2B5EF4-FFF2-40B4-BE49-F238E27FC236}">
                  <a16:creationId xmlns:a16="http://schemas.microsoft.com/office/drawing/2014/main" id="{C7ABC227-4520-4E40-8907-6E8F0C7FDF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2" y="1673"/>
              <a:ext cx="548" cy="2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5443" name="Text Box 66">
              <a:extLst>
                <a:ext uri="{FF2B5EF4-FFF2-40B4-BE49-F238E27FC236}">
                  <a16:creationId xmlns:a16="http://schemas.microsoft.com/office/drawing/2014/main" id="{0BD5EDB4-9AB6-4EE3-B2A7-D89755463F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0" y="1706"/>
              <a:ext cx="1437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Seq=100, 20 bytes of data</a:t>
              </a:r>
            </a:p>
          </p:txBody>
        </p:sp>
      </p:grpSp>
      <p:sp>
        <p:nvSpPr>
          <p:cNvPr id="145430" name="Line 67">
            <a:extLst>
              <a:ext uri="{FF2B5EF4-FFF2-40B4-BE49-F238E27FC236}">
                <a16:creationId xmlns:a16="http://schemas.microsoft.com/office/drawing/2014/main" id="{A90B426E-580D-4493-95F3-0B9B4939E7B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35088" y="3462338"/>
            <a:ext cx="2324100" cy="102552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45431" name="Group 68">
            <a:extLst>
              <a:ext uri="{FF2B5EF4-FFF2-40B4-BE49-F238E27FC236}">
                <a16:creationId xmlns:a16="http://schemas.microsoft.com/office/drawing/2014/main" id="{4A956425-F7C9-4F00-BF33-E15432E47E46}"/>
              </a:ext>
            </a:extLst>
          </p:cNvPr>
          <p:cNvGrpSpPr>
            <a:grpSpLocks/>
          </p:cNvGrpSpPr>
          <p:nvPr/>
        </p:nvGrpSpPr>
        <p:grpSpPr bwMode="auto">
          <a:xfrm>
            <a:off x="1978025" y="3863975"/>
            <a:ext cx="949325" cy="304800"/>
            <a:chOff x="4215" y="2253"/>
            <a:chExt cx="598" cy="192"/>
          </a:xfrm>
        </p:grpSpPr>
        <p:sp>
          <p:nvSpPr>
            <p:cNvPr id="145439" name="Rectangle 69">
              <a:extLst>
                <a:ext uri="{FF2B5EF4-FFF2-40B4-BE49-F238E27FC236}">
                  <a16:creationId xmlns:a16="http://schemas.microsoft.com/office/drawing/2014/main" id="{BCBC4022-D239-4005-B171-2968309AD1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" y="2274"/>
              <a:ext cx="471" cy="1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5440" name="Text Box 70">
              <a:extLst>
                <a:ext uri="{FF2B5EF4-FFF2-40B4-BE49-F238E27FC236}">
                  <a16:creationId xmlns:a16="http://schemas.microsoft.com/office/drawing/2014/main" id="{3A66ECBD-8859-4E64-AE4E-8EAA0101A1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5" y="2253"/>
              <a:ext cx="5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ACK=120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</p:grpSp>
      <p:pic>
        <p:nvPicPr>
          <p:cNvPr id="145432" name="Picture 77" descr="underline_base">
            <a:extLst>
              <a:ext uri="{FF2B5EF4-FFF2-40B4-BE49-F238E27FC236}">
                <a16:creationId xmlns:a16="http://schemas.microsoft.com/office/drawing/2014/main" id="{EFE3134E-F620-4927-A54B-C1EE4D61B9B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838" y="912813"/>
            <a:ext cx="6399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5433" name="Group 84">
            <a:extLst>
              <a:ext uri="{FF2B5EF4-FFF2-40B4-BE49-F238E27FC236}">
                <a16:creationId xmlns:a16="http://schemas.microsoft.com/office/drawing/2014/main" id="{5D80BCAA-4BC8-46E5-9F07-DA4D6F5A53A6}"/>
              </a:ext>
            </a:extLst>
          </p:cNvPr>
          <p:cNvGrpSpPr>
            <a:grpSpLocks/>
          </p:cNvGrpSpPr>
          <p:nvPr/>
        </p:nvGrpSpPr>
        <p:grpSpPr bwMode="auto">
          <a:xfrm>
            <a:off x="903288" y="1565275"/>
            <a:ext cx="630237" cy="533400"/>
            <a:chOff x="-44" y="1473"/>
            <a:chExt cx="981" cy="1105"/>
          </a:xfrm>
        </p:grpSpPr>
        <p:pic>
          <p:nvPicPr>
            <p:cNvPr id="145437" name="Picture 85" descr="desktop_computer_stylized_medium">
              <a:extLst>
                <a:ext uri="{FF2B5EF4-FFF2-40B4-BE49-F238E27FC236}">
                  <a16:creationId xmlns:a16="http://schemas.microsoft.com/office/drawing/2014/main" id="{C7C583EB-877E-47EB-9F4C-5D2222285E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5438" name="Freeform 86">
              <a:extLst>
                <a:ext uri="{FF2B5EF4-FFF2-40B4-BE49-F238E27FC236}">
                  <a16:creationId xmlns:a16="http://schemas.microsoft.com/office/drawing/2014/main" id="{D41DC40C-962C-4248-80DA-BF0F637C70F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45434" name="Group 87">
            <a:extLst>
              <a:ext uri="{FF2B5EF4-FFF2-40B4-BE49-F238E27FC236}">
                <a16:creationId xmlns:a16="http://schemas.microsoft.com/office/drawing/2014/main" id="{7D0B8A09-ECA0-4C98-B2CC-3CF3B55B862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3481388" y="1560513"/>
            <a:ext cx="674687" cy="590550"/>
            <a:chOff x="-44" y="1473"/>
            <a:chExt cx="981" cy="1105"/>
          </a:xfrm>
        </p:grpSpPr>
        <p:pic>
          <p:nvPicPr>
            <p:cNvPr id="145435" name="Picture 88" descr="desktop_computer_stylized_medium">
              <a:extLst>
                <a:ext uri="{FF2B5EF4-FFF2-40B4-BE49-F238E27FC236}">
                  <a16:creationId xmlns:a16="http://schemas.microsoft.com/office/drawing/2014/main" id="{E3A17058-DD9F-4016-A85C-DF2726F8F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5436" name="Freeform 89">
              <a:extLst>
                <a:ext uri="{FF2B5EF4-FFF2-40B4-BE49-F238E27FC236}">
                  <a16:creationId xmlns:a16="http://schemas.microsoft.com/office/drawing/2014/main" id="{6A5A806B-80B8-42D0-8351-86C5914F2F4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Footer Placeholder 5">
            <a:extLst>
              <a:ext uri="{FF2B5EF4-FFF2-40B4-BE49-F238E27FC236}">
                <a16:creationId xmlns:a16="http://schemas.microsoft.com/office/drawing/2014/main" id="{23CBFC59-03BA-4065-BD60-6D583DD28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47459" name="Slide Number Placeholder 6">
            <a:extLst>
              <a:ext uri="{FF2B5EF4-FFF2-40B4-BE49-F238E27FC236}">
                <a16:creationId xmlns:a16="http://schemas.microsoft.com/office/drawing/2014/main" id="{0F039E96-0639-4FCA-879E-E34EB11E8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C8F49FF8-A81F-44EB-A1CC-03D3040797A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72708" name="Rectangle 2">
            <a:extLst>
              <a:ext uri="{FF2B5EF4-FFF2-40B4-BE49-F238E27FC236}">
                <a16:creationId xmlns:a16="http://schemas.microsoft.com/office/drawing/2014/main" id="{2E146CF6-C278-4BAB-842E-B89C9BD081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20663"/>
            <a:ext cx="5040313" cy="906462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fast retransmit</a:t>
            </a:r>
          </a:p>
        </p:txBody>
      </p:sp>
      <p:sp>
        <p:nvSpPr>
          <p:cNvPr id="147461" name="Rectangle 3">
            <a:extLst>
              <a:ext uri="{FF2B5EF4-FFF2-40B4-BE49-F238E27FC236}">
                <a16:creationId xmlns:a16="http://schemas.microsoft.com/office/drawing/2014/main" id="{86DD89A2-54A5-49E6-8A80-70EEC9E4929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88950" y="1397000"/>
            <a:ext cx="3810000" cy="4648200"/>
          </a:xfrm>
        </p:spPr>
        <p:txBody>
          <a:bodyPr/>
          <a:lstStyle/>
          <a:p>
            <a:r>
              <a:rPr lang="en-US" altLang="zh-TW" dirty="0">
                <a:solidFill>
                  <a:srgbClr val="0070C0"/>
                </a:solidFill>
              </a:rPr>
              <a:t>Problem</a:t>
            </a:r>
            <a:r>
              <a:rPr lang="en-US" altLang="zh-TW" dirty="0"/>
              <a:t>: </a:t>
            </a:r>
            <a:r>
              <a:rPr lang="en-US" altLang="zh-TW" dirty="0">
                <a:solidFill>
                  <a:srgbClr val="C00000"/>
                </a:solidFill>
              </a:rPr>
              <a:t>time-out period often relatively long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long delay before resending lost packet</a:t>
            </a:r>
          </a:p>
          <a:p>
            <a:r>
              <a:rPr lang="en-US" altLang="zh-TW" dirty="0" err="1">
                <a:solidFill>
                  <a:srgbClr val="0070C0"/>
                </a:solidFill>
              </a:rPr>
              <a:t>Soln</a:t>
            </a:r>
            <a:r>
              <a:rPr lang="en-US" altLang="zh-TW" dirty="0"/>
              <a:t>: </a:t>
            </a:r>
            <a:r>
              <a:rPr lang="en-US" altLang="zh-TW" dirty="0">
                <a:solidFill>
                  <a:srgbClr val="C00000"/>
                </a:solidFill>
              </a:rPr>
              <a:t>detect lost segments via duplicate ACKs.</a:t>
            </a:r>
          </a:p>
          <a:p>
            <a:pPr lvl="1"/>
            <a:r>
              <a:rPr lang="en-US" altLang="zh-TW" dirty="0"/>
              <a:t>sender often sends many segments back-to-back</a:t>
            </a:r>
          </a:p>
          <a:p>
            <a:pPr lvl="1"/>
            <a:r>
              <a:rPr lang="en-US" altLang="zh-TW" dirty="0"/>
              <a:t>if segment is lost, there will likely be many duplicate ACKs.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147462" name="Rectangle 5">
            <a:extLst>
              <a:ext uri="{FF2B5EF4-FFF2-40B4-BE49-F238E27FC236}">
                <a16:creationId xmlns:a16="http://schemas.microsoft.com/office/drawing/2014/main" id="{9C6B1925-0A09-417D-800A-91FC5690EE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7588" y="2143125"/>
            <a:ext cx="3567112" cy="38131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463550" indent="-23812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if sender receives </a:t>
            </a:r>
            <a:r>
              <a:rPr lang="en-US" altLang="zh-TW" sz="2800" dirty="0">
                <a:solidFill>
                  <a:srgbClr val="FF0000"/>
                </a:solidFill>
              </a:rPr>
              <a:t>3 duplicate ACKs</a:t>
            </a:r>
            <a:r>
              <a:rPr lang="en-US" altLang="zh-TW" sz="2800" dirty="0"/>
              <a:t> for same data: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ja-JP" sz="2800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ja-JP" sz="2800" dirty="0">
                <a:solidFill>
                  <a:srgbClr val="0070C0"/>
                </a:solidFill>
                <a:cs typeface="Arial" panose="020B0604020202020204" pitchFamily="34" charset="0"/>
              </a:rPr>
              <a:t>resend </a:t>
            </a:r>
            <a:r>
              <a:rPr lang="en-US" altLang="ja-JP" sz="2800" dirty="0" err="1">
                <a:solidFill>
                  <a:srgbClr val="0070C0"/>
                </a:solidFill>
                <a:cs typeface="Arial" panose="020B0604020202020204" pitchFamily="34" charset="0"/>
              </a:rPr>
              <a:t>unacked</a:t>
            </a:r>
            <a:r>
              <a:rPr lang="en-US" altLang="ja-JP" sz="2800" dirty="0">
                <a:solidFill>
                  <a:srgbClr val="0070C0"/>
                </a:solidFill>
                <a:cs typeface="Arial" panose="020B0604020202020204" pitchFamily="34" charset="0"/>
              </a:rPr>
              <a:t> segment with smallest seq #</a:t>
            </a:r>
          </a:p>
          <a:p>
            <a:pPr lvl="1"/>
            <a:r>
              <a:rPr lang="en-US" altLang="zh-TW" sz="2400" dirty="0"/>
              <a:t>likely that </a:t>
            </a:r>
            <a:r>
              <a:rPr lang="en-US" altLang="zh-TW" sz="2400" dirty="0" err="1"/>
              <a:t>unacked</a:t>
            </a:r>
            <a:r>
              <a:rPr lang="en-US" altLang="zh-TW" sz="2400" dirty="0"/>
              <a:t> segment lost, so don</a:t>
            </a:r>
            <a:r>
              <a:rPr lang="ja-JP" altLang="en-US" sz="2400" dirty="0"/>
              <a:t>’</a:t>
            </a:r>
            <a:r>
              <a:rPr lang="en-US" altLang="ja-JP" sz="2400" dirty="0"/>
              <a:t>t wait for timeout</a:t>
            </a:r>
            <a:endParaRPr lang="en-US" altLang="zh-TW" sz="2400" dirty="0"/>
          </a:p>
        </p:txBody>
      </p:sp>
      <p:sp>
        <p:nvSpPr>
          <p:cNvPr id="147463" name="Rectangle 6">
            <a:extLst>
              <a:ext uri="{FF2B5EF4-FFF2-40B4-BE49-F238E27FC236}">
                <a16:creationId xmlns:a16="http://schemas.microsoft.com/office/drawing/2014/main" id="{D2121287-B121-48A6-BB1D-6564D91F4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388" y="1914525"/>
            <a:ext cx="3509962" cy="3681413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7464" name="Text Box 7">
            <a:extLst>
              <a:ext uri="{FF2B5EF4-FFF2-40B4-BE49-F238E27FC236}">
                <a16:creationId xmlns:a16="http://schemas.microsoft.com/office/drawing/2014/main" id="{F9B8C9BD-A95C-44CE-BD2F-B955EE8C39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3150" y="1679575"/>
            <a:ext cx="2773363" cy="457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1" dirty="0">
                <a:solidFill>
                  <a:srgbClr val="CC0000"/>
                </a:solidFill>
                <a:latin typeface="Tahoma" panose="020B0604030504040204" pitchFamily="34" charset="0"/>
              </a:rPr>
              <a:t>TCP fast retransmit</a:t>
            </a:r>
          </a:p>
        </p:txBody>
      </p:sp>
      <p:pic>
        <p:nvPicPr>
          <p:cNvPr id="147465" name="Picture 10" descr="underline_base">
            <a:extLst>
              <a:ext uri="{FF2B5EF4-FFF2-40B4-BE49-F238E27FC236}">
                <a16:creationId xmlns:a16="http://schemas.microsoft.com/office/drawing/2014/main" id="{978C7D10-EC2C-484B-8190-932D1F671DE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903288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Footer Placeholder 3">
            <a:extLst>
              <a:ext uri="{FF2B5EF4-FFF2-40B4-BE49-F238E27FC236}">
                <a16:creationId xmlns:a16="http://schemas.microsoft.com/office/drawing/2014/main" id="{0A557532-F041-45AE-A1FB-CCBEC4A9F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48483" name="Slide Number Placeholder 4">
            <a:extLst>
              <a:ext uri="{FF2B5EF4-FFF2-40B4-BE49-F238E27FC236}">
                <a16:creationId xmlns:a16="http://schemas.microsoft.com/office/drawing/2014/main" id="{4D54BFC4-95FF-49BD-A13F-4493B4D33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3F3EA3E3-DDD4-4C92-95D2-7978DE8FAA0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48484" name="Line 3">
            <a:extLst>
              <a:ext uri="{FF2B5EF4-FFF2-40B4-BE49-F238E27FC236}">
                <a16:creationId xmlns:a16="http://schemas.microsoft.com/office/drawing/2014/main" id="{45CB9EC9-D0D0-4CE2-B234-6A65000B4A3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8638" y="2319338"/>
            <a:ext cx="2533650" cy="5905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85" name="Line 9">
            <a:extLst>
              <a:ext uri="{FF2B5EF4-FFF2-40B4-BE49-F238E27FC236}">
                <a16:creationId xmlns:a16="http://schemas.microsoft.com/office/drawing/2014/main" id="{C2E4D848-7D91-458A-A47D-A474462CC32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8638" y="2547938"/>
            <a:ext cx="1757362" cy="414337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86" name="Line 10">
            <a:extLst>
              <a:ext uri="{FF2B5EF4-FFF2-40B4-BE49-F238E27FC236}">
                <a16:creationId xmlns:a16="http://schemas.microsoft.com/office/drawing/2014/main" id="{1CABFBAA-D278-4DEF-AEAE-1B3C2A66C7A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65463" y="2014538"/>
            <a:ext cx="3175" cy="3994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87" name="Line 11">
            <a:extLst>
              <a:ext uri="{FF2B5EF4-FFF2-40B4-BE49-F238E27FC236}">
                <a16:creationId xmlns:a16="http://schemas.microsoft.com/office/drawing/2014/main" id="{04674345-F63A-4C67-87D0-6857F8C495A7}"/>
              </a:ext>
            </a:extLst>
          </p:cNvPr>
          <p:cNvSpPr>
            <a:spLocks noChangeShapeType="1"/>
          </p:cNvSpPr>
          <p:nvPr/>
        </p:nvSpPr>
        <p:spPr bwMode="auto">
          <a:xfrm>
            <a:off x="5583238" y="2090738"/>
            <a:ext cx="11112" cy="3903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88" name="Line 12">
            <a:extLst>
              <a:ext uri="{FF2B5EF4-FFF2-40B4-BE49-F238E27FC236}">
                <a16:creationId xmlns:a16="http://schemas.microsoft.com/office/drawing/2014/main" id="{B5263531-324A-4F97-BD44-17FDD0FE6D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32125" y="2962275"/>
            <a:ext cx="2519363" cy="80962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89" name="Line 14">
            <a:extLst>
              <a:ext uri="{FF2B5EF4-FFF2-40B4-BE49-F238E27FC236}">
                <a16:creationId xmlns:a16="http://schemas.microsoft.com/office/drawing/2014/main" id="{64FA4273-DC0C-4460-9FA9-76B6FCB96E6B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8638" y="2776538"/>
            <a:ext cx="2533650" cy="5905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90" name="Line 15">
            <a:extLst>
              <a:ext uri="{FF2B5EF4-FFF2-40B4-BE49-F238E27FC236}">
                <a16:creationId xmlns:a16="http://schemas.microsoft.com/office/drawing/2014/main" id="{DF81681C-15E6-4BA9-9FD7-0ECA891E6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8638" y="3233738"/>
            <a:ext cx="2533650" cy="5905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91" name="Line 16">
            <a:extLst>
              <a:ext uri="{FF2B5EF4-FFF2-40B4-BE49-F238E27FC236}">
                <a16:creationId xmlns:a16="http://schemas.microsoft.com/office/drawing/2014/main" id="{166C5D55-A243-4896-BD45-957BF0734A28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8638" y="3005138"/>
            <a:ext cx="2533650" cy="5905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92" name="Line 17">
            <a:extLst>
              <a:ext uri="{FF2B5EF4-FFF2-40B4-BE49-F238E27FC236}">
                <a16:creationId xmlns:a16="http://schemas.microsoft.com/office/drawing/2014/main" id="{32CB2EC7-22C2-48DD-9788-F5846E05DBE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33713" y="3386138"/>
            <a:ext cx="2530475" cy="83026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93" name="Line 18">
            <a:extLst>
              <a:ext uri="{FF2B5EF4-FFF2-40B4-BE49-F238E27FC236}">
                <a16:creationId xmlns:a16="http://schemas.microsoft.com/office/drawing/2014/main" id="{1F906187-8C27-4F3A-A83C-105E4F37F69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68638" y="3614738"/>
            <a:ext cx="2506662" cy="88741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94" name="Line 19">
            <a:extLst>
              <a:ext uri="{FF2B5EF4-FFF2-40B4-BE49-F238E27FC236}">
                <a16:creationId xmlns:a16="http://schemas.microsoft.com/office/drawing/2014/main" id="{D7E86E8A-2C85-41AA-8BD7-6844475AABC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68638" y="3843338"/>
            <a:ext cx="2495550" cy="900112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95" name="Text Box 20">
            <a:extLst>
              <a:ext uri="{FF2B5EF4-FFF2-40B4-BE49-F238E27FC236}">
                <a16:creationId xmlns:a16="http://schemas.microsoft.com/office/drawing/2014/main" id="{1BDAB081-31A2-4FE5-BC02-BF7F32704B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1863" y="2714625"/>
            <a:ext cx="2825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FF0000"/>
                </a:solidFill>
                <a:latin typeface="Arial" panose="020B0604020202020204" pitchFamily="34" charset="0"/>
              </a:rPr>
              <a:t>X</a:t>
            </a:r>
            <a:endParaRPr lang="en-US" altLang="zh-TW" sz="1000">
              <a:latin typeface="Times New Roman" panose="02020603050405020304" pitchFamily="18" charset="0"/>
            </a:endParaRPr>
          </a:p>
        </p:txBody>
      </p:sp>
      <p:sp>
        <p:nvSpPr>
          <p:cNvPr id="148496" name="Line 24">
            <a:extLst>
              <a:ext uri="{FF2B5EF4-FFF2-40B4-BE49-F238E27FC236}">
                <a16:creationId xmlns:a16="http://schemas.microsoft.com/office/drawing/2014/main" id="{4C4A4437-587E-422F-A86F-825412193B8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4038" y="4784725"/>
            <a:ext cx="2533650" cy="5905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48497" name="Text Box 29">
            <a:extLst>
              <a:ext uri="{FF2B5EF4-FFF2-40B4-BE49-F238E27FC236}">
                <a16:creationId xmlns:a16="http://schemas.microsoft.com/office/drawing/2014/main" id="{BB82473A-3F3A-44EC-A22B-E41D41F3DC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7850" y="5986463"/>
            <a:ext cx="5095875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fast retransmit of missing segment after sender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receipt of triple duplicate ACK</a:t>
            </a:r>
            <a:endParaRPr lang="en-US" altLang="zh-TW" sz="1000">
              <a:latin typeface="Tahoma" panose="020B0604030504040204" pitchFamily="34" charset="0"/>
            </a:endParaRPr>
          </a:p>
        </p:txBody>
      </p:sp>
      <p:sp>
        <p:nvSpPr>
          <p:cNvPr id="148498" name="Text Box 34">
            <a:extLst>
              <a:ext uri="{FF2B5EF4-FFF2-40B4-BE49-F238E27FC236}">
                <a16:creationId xmlns:a16="http://schemas.microsoft.com/office/drawing/2014/main" id="{CF1CDE61-0451-4A26-8084-F5813D413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0163" y="1139825"/>
            <a:ext cx="7731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Host B</a:t>
            </a:r>
          </a:p>
        </p:txBody>
      </p:sp>
      <p:sp>
        <p:nvSpPr>
          <p:cNvPr id="148499" name="Text Box 38">
            <a:extLst>
              <a:ext uri="{FF2B5EF4-FFF2-40B4-BE49-F238E27FC236}">
                <a16:creationId xmlns:a16="http://schemas.microsoft.com/office/drawing/2014/main" id="{D8926F48-6603-4D79-8D22-1ADAF8564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6538" y="1157288"/>
            <a:ext cx="7762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Host A</a:t>
            </a:r>
          </a:p>
        </p:txBody>
      </p:sp>
      <p:sp>
        <p:nvSpPr>
          <p:cNvPr id="148500" name="Text Box 40">
            <a:extLst>
              <a:ext uri="{FF2B5EF4-FFF2-40B4-BE49-F238E27FC236}">
                <a16:creationId xmlns:a16="http://schemas.microsoft.com/office/drawing/2014/main" id="{C4C094B7-F647-460D-92A5-5C7D022E15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6275" y="2239963"/>
            <a:ext cx="2085975" cy="3048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Seq=92, 8 bytes of data</a:t>
            </a:r>
          </a:p>
        </p:txBody>
      </p:sp>
      <p:grpSp>
        <p:nvGrpSpPr>
          <p:cNvPr id="148501" name="Group 41">
            <a:extLst>
              <a:ext uri="{FF2B5EF4-FFF2-40B4-BE49-F238E27FC236}">
                <a16:creationId xmlns:a16="http://schemas.microsoft.com/office/drawing/2014/main" id="{E64AF8F5-8CD9-485B-B44E-9801EB49B587}"/>
              </a:ext>
            </a:extLst>
          </p:cNvPr>
          <p:cNvGrpSpPr>
            <a:grpSpLocks/>
          </p:cNvGrpSpPr>
          <p:nvPr/>
        </p:nvGrpSpPr>
        <p:grpSpPr bwMode="auto">
          <a:xfrm>
            <a:off x="3170238" y="3489325"/>
            <a:ext cx="949325" cy="304800"/>
            <a:chOff x="4215" y="2253"/>
            <a:chExt cx="598" cy="192"/>
          </a:xfrm>
        </p:grpSpPr>
        <p:sp>
          <p:nvSpPr>
            <p:cNvPr id="148531" name="Rectangle 42">
              <a:extLst>
                <a:ext uri="{FF2B5EF4-FFF2-40B4-BE49-F238E27FC236}">
                  <a16:creationId xmlns:a16="http://schemas.microsoft.com/office/drawing/2014/main" id="{A117D67E-E013-45B0-9FFF-14EBB112CB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" y="2274"/>
              <a:ext cx="471" cy="1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8532" name="Text Box 43">
              <a:extLst>
                <a:ext uri="{FF2B5EF4-FFF2-40B4-BE49-F238E27FC236}">
                  <a16:creationId xmlns:a16="http://schemas.microsoft.com/office/drawing/2014/main" id="{C295F270-561A-4138-A248-9B58711724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5" y="2253"/>
              <a:ext cx="5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ACK=100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48502" name="Group 78">
            <a:extLst>
              <a:ext uri="{FF2B5EF4-FFF2-40B4-BE49-F238E27FC236}">
                <a16:creationId xmlns:a16="http://schemas.microsoft.com/office/drawing/2014/main" id="{B2EBB669-490C-419B-A57C-3359D60E7FDE}"/>
              </a:ext>
            </a:extLst>
          </p:cNvPr>
          <p:cNvGrpSpPr>
            <a:grpSpLocks/>
          </p:cNvGrpSpPr>
          <p:nvPr/>
        </p:nvGrpSpPr>
        <p:grpSpPr bwMode="auto">
          <a:xfrm>
            <a:off x="2684463" y="2292350"/>
            <a:ext cx="396875" cy="3524250"/>
            <a:chOff x="397" y="868"/>
            <a:chExt cx="250" cy="2220"/>
          </a:xfrm>
        </p:grpSpPr>
        <p:sp>
          <p:nvSpPr>
            <p:cNvPr id="148524" name="Text Box 50">
              <a:extLst>
                <a:ext uri="{FF2B5EF4-FFF2-40B4-BE49-F238E27FC236}">
                  <a16:creationId xmlns:a16="http://schemas.microsoft.com/office/drawing/2014/main" id="{CDF01696-380D-434A-BC00-1E7C8AB0A0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800000">
              <a:off x="397" y="1778"/>
              <a:ext cx="250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timeout</a:t>
              </a:r>
            </a:p>
          </p:txBody>
        </p:sp>
        <p:grpSp>
          <p:nvGrpSpPr>
            <p:cNvPr id="148525" name="Group 51">
              <a:extLst>
                <a:ext uri="{FF2B5EF4-FFF2-40B4-BE49-F238E27FC236}">
                  <a16:creationId xmlns:a16="http://schemas.microsoft.com/office/drawing/2014/main" id="{5759C2CE-3780-424F-90A6-94E1E979AFC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8" y="868"/>
              <a:ext cx="66" cy="893"/>
              <a:chOff x="3099" y="1749"/>
              <a:chExt cx="66" cy="320"/>
            </a:xfrm>
          </p:grpSpPr>
          <p:sp>
            <p:nvSpPr>
              <p:cNvPr id="148529" name="Line 52">
                <a:extLst>
                  <a:ext uri="{FF2B5EF4-FFF2-40B4-BE49-F238E27FC236}">
                    <a16:creationId xmlns:a16="http://schemas.microsoft.com/office/drawing/2014/main" id="{3ADEC9B4-0A3F-42F4-9459-08BEE1FA89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29" y="1749"/>
                <a:ext cx="0" cy="3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48530" name="Line 53">
                <a:extLst>
                  <a:ext uri="{FF2B5EF4-FFF2-40B4-BE49-F238E27FC236}">
                    <a16:creationId xmlns:a16="http://schemas.microsoft.com/office/drawing/2014/main" id="{1B1AD543-5C01-4730-9C4D-53F14E2F49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" y="1752"/>
                <a:ext cx="6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48526" name="Group 54">
              <a:extLst>
                <a:ext uri="{FF2B5EF4-FFF2-40B4-BE49-F238E27FC236}">
                  <a16:creationId xmlns:a16="http://schemas.microsoft.com/office/drawing/2014/main" id="{807AD2BF-E65E-48FC-AAC0-B236F48B17A7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485" y="2224"/>
              <a:ext cx="66" cy="864"/>
              <a:chOff x="3099" y="1749"/>
              <a:chExt cx="66" cy="320"/>
            </a:xfrm>
          </p:grpSpPr>
          <p:sp>
            <p:nvSpPr>
              <p:cNvPr id="148527" name="Line 55">
                <a:extLst>
                  <a:ext uri="{FF2B5EF4-FFF2-40B4-BE49-F238E27FC236}">
                    <a16:creationId xmlns:a16="http://schemas.microsoft.com/office/drawing/2014/main" id="{8A56766C-93E7-448A-A087-DC7E5AB258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2" y="1749"/>
                <a:ext cx="0" cy="3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48528" name="Line 56">
                <a:extLst>
                  <a:ext uri="{FF2B5EF4-FFF2-40B4-BE49-F238E27FC236}">
                    <a16:creationId xmlns:a16="http://schemas.microsoft.com/office/drawing/2014/main" id="{78BE1BF5-E349-4335-916D-A16121296B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02" y="1752"/>
                <a:ext cx="6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grpSp>
        <p:nvGrpSpPr>
          <p:cNvPr id="148503" name="Group 71">
            <a:extLst>
              <a:ext uri="{FF2B5EF4-FFF2-40B4-BE49-F238E27FC236}">
                <a16:creationId xmlns:a16="http://schemas.microsoft.com/office/drawing/2014/main" id="{17A6AB95-11F1-47D3-8E00-5F8078C789F8}"/>
              </a:ext>
            </a:extLst>
          </p:cNvPr>
          <p:cNvGrpSpPr>
            <a:grpSpLocks/>
          </p:cNvGrpSpPr>
          <p:nvPr/>
        </p:nvGrpSpPr>
        <p:grpSpPr bwMode="auto">
          <a:xfrm>
            <a:off x="3181350" y="3800475"/>
            <a:ext cx="949325" cy="304800"/>
            <a:chOff x="35" y="1825"/>
            <a:chExt cx="598" cy="192"/>
          </a:xfrm>
        </p:grpSpPr>
        <p:sp>
          <p:nvSpPr>
            <p:cNvPr id="148522" name="Rectangle 66">
              <a:extLst>
                <a:ext uri="{FF2B5EF4-FFF2-40B4-BE49-F238E27FC236}">
                  <a16:creationId xmlns:a16="http://schemas.microsoft.com/office/drawing/2014/main" id="{7C617167-4823-471A-9ECB-608CDAD2AA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" y="1859"/>
              <a:ext cx="471" cy="1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8523" name="Text Box 67">
              <a:extLst>
                <a:ext uri="{FF2B5EF4-FFF2-40B4-BE49-F238E27FC236}">
                  <a16:creationId xmlns:a16="http://schemas.microsoft.com/office/drawing/2014/main" id="{1E98A720-5ED6-496D-A70E-EC808E6158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" y="1825"/>
              <a:ext cx="5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ACK=100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48504" name="Group 72">
            <a:extLst>
              <a:ext uri="{FF2B5EF4-FFF2-40B4-BE49-F238E27FC236}">
                <a16:creationId xmlns:a16="http://schemas.microsoft.com/office/drawing/2014/main" id="{8B16A55E-4E8C-4466-B60E-EA67E45AC5A2}"/>
              </a:ext>
            </a:extLst>
          </p:cNvPr>
          <p:cNvGrpSpPr>
            <a:grpSpLocks/>
          </p:cNvGrpSpPr>
          <p:nvPr/>
        </p:nvGrpSpPr>
        <p:grpSpPr bwMode="auto">
          <a:xfrm>
            <a:off x="3167063" y="4130675"/>
            <a:ext cx="949325" cy="304800"/>
            <a:chOff x="35" y="1825"/>
            <a:chExt cx="598" cy="192"/>
          </a:xfrm>
        </p:grpSpPr>
        <p:sp>
          <p:nvSpPr>
            <p:cNvPr id="148520" name="Rectangle 73">
              <a:extLst>
                <a:ext uri="{FF2B5EF4-FFF2-40B4-BE49-F238E27FC236}">
                  <a16:creationId xmlns:a16="http://schemas.microsoft.com/office/drawing/2014/main" id="{B581FD46-A625-4BB4-ABBE-C38C1B879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" y="1859"/>
              <a:ext cx="471" cy="1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8521" name="Text Box 74">
              <a:extLst>
                <a:ext uri="{FF2B5EF4-FFF2-40B4-BE49-F238E27FC236}">
                  <a16:creationId xmlns:a16="http://schemas.microsoft.com/office/drawing/2014/main" id="{0091583D-74CE-462C-8F00-16BF3CC005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" y="1825"/>
              <a:ext cx="5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ACK=100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48505" name="Group 75">
            <a:extLst>
              <a:ext uri="{FF2B5EF4-FFF2-40B4-BE49-F238E27FC236}">
                <a16:creationId xmlns:a16="http://schemas.microsoft.com/office/drawing/2014/main" id="{F5D12286-71AF-475C-A70C-40F9E3F769EA}"/>
              </a:ext>
            </a:extLst>
          </p:cNvPr>
          <p:cNvGrpSpPr>
            <a:grpSpLocks/>
          </p:cNvGrpSpPr>
          <p:nvPr/>
        </p:nvGrpSpPr>
        <p:grpSpPr bwMode="auto">
          <a:xfrm>
            <a:off x="3175000" y="4427538"/>
            <a:ext cx="949325" cy="304800"/>
            <a:chOff x="35" y="1825"/>
            <a:chExt cx="598" cy="192"/>
          </a:xfrm>
        </p:grpSpPr>
        <p:sp>
          <p:nvSpPr>
            <p:cNvPr id="148518" name="Rectangle 76">
              <a:extLst>
                <a:ext uri="{FF2B5EF4-FFF2-40B4-BE49-F238E27FC236}">
                  <a16:creationId xmlns:a16="http://schemas.microsoft.com/office/drawing/2014/main" id="{DFBAE218-A4AF-43D9-8324-DC7448DD1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" y="1859"/>
              <a:ext cx="471" cy="1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48519" name="Text Box 77">
              <a:extLst>
                <a:ext uri="{FF2B5EF4-FFF2-40B4-BE49-F238E27FC236}">
                  <a16:creationId xmlns:a16="http://schemas.microsoft.com/office/drawing/2014/main" id="{0EA4AAA4-74AC-4616-AC30-7808DCC735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" y="1825"/>
              <a:ext cx="5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ACK=100</a:t>
              </a:r>
              <a:endParaRPr lang="en-US" altLang="zh-TW" sz="1000">
                <a:latin typeface="Times New Roman" panose="02020603050405020304" pitchFamily="18" charset="0"/>
              </a:endParaRPr>
            </a:p>
          </p:txBody>
        </p:sp>
      </p:grpSp>
      <p:sp>
        <p:nvSpPr>
          <p:cNvPr id="73754" name="Rectangle 81">
            <a:extLst>
              <a:ext uri="{FF2B5EF4-FFF2-40B4-BE49-F238E27FC236}">
                <a16:creationId xmlns:a16="http://schemas.microsoft.com/office/drawing/2014/main" id="{759E5D9A-3C74-4096-8FBF-ED88B4ECC4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20663"/>
            <a:ext cx="5040313" cy="906462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fast retransmit</a:t>
            </a:r>
          </a:p>
        </p:txBody>
      </p:sp>
      <p:pic>
        <p:nvPicPr>
          <p:cNvPr id="148507" name="Picture 82" descr="underline_base">
            <a:extLst>
              <a:ext uri="{FF2B5EF4-FFF2-40B4-BE49-F238E27FC236}">
                <a16:creationId xmlns:a16="http://schemas.microsoft.com/office/drawing/2014/main" id="{01F91317-D4D8-46ED-950D-380D00FC3D7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903288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508" name="Rectangle 84">
            <a:extLst>
              <a:ext uri="{FF2B5EF4-FFF2-40B4-BE49-F238E27FC236}">
                <a16:creationId xmlns:a16="http://schemas.microsoft.com/office/drawing/2014/main" id="{A07C1E13-CFA7-4429-B257-5C82EF8C4A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4538" y="2562225"/>
            <a:ext cx="757237" cy="2254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8509" name="Text Box 83">
            <a:extLst>
              <a:ext uri="{FF2B5EF4-FFF2-40B4-BE49-F238E27FC236}">
                <a16:creationId xmlns:a16="http://schemas.microsoft.com/office/drawing/2014/main" id="{EB4C4BE6-48F5-4DA4-A3F3-253F998A41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2463" y="2506663"/>
            <a:ext cx="22812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Seq=100, 20 bytes of data</a:t>
            </a:r>
          </a:p>
        </p:txBody>
      </p:sp>
      <p:sp>
        <p:nvSpPr>
          <p:cNvPr id="148510" name="Rectangle 85">
            <a:extLst>
              <a:ext uri="{FF2B5EF4-FFF2-40B4-BE49-F238E27FC236}">
                <a16:creationId xmlns:a16="http://schemas.microsoft.com/office/drawing/2014/main" id="{EE59567E-C32A-4793-B9FD-F1A4CA5FF5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6438" y="4770438"/>
            <a:ext cx="757237" cy="2254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48511" name="Text Box 86">
            <a:extLst>
              <a:ext uri="{FF2B5EF4-FFF2-40B4-BE49-F238E27FC236}">
                <a16:creationId xmlns:a16="http://schemas.microsoft.com/office/drawing/2014/main" id="{BA3E3F7C-9BAB-488A-83C2-6A52B74E1B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54363" y="4714875"/>
            <a:ext cx="22812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Seq=100, 20 bytes of data</a:t>
            </a:r>
          </a:p>
        </p:txBody>
      </p:sp>
      <p:grpSp>
        <p:nvGrpSpPr>
          <p:cNvPr id="148512" name="Group 93">
            <a:extLst>
              <a:ext uri="{FF2B5EF4-FFF2-40B4-BE49-F238E27FC236}">
                <a16:creationId xmlns:a16="http://schemas.microsoft.com/office/drawing/2014/main" id="{15F51683-0421-42BA-8B83-249978D17D58}"/>
              </a:ext>
            </a:extLst>
          </p:cNvPr>
          <p:cNvGrpSpPr>
            <a:grpSpLocks/>
          </p:cNvGrpSpPr>
          <p:nvPr/>
        </p:nvGrpSpPr>
        <p:grpSpPr bwMode="auto">
          <a:xfrm>
            <a:off x="2686050" y="1397000"/>
            <a:ext cx="630238" cy="533400"/>
            <a:chOff x="-44" y="1473"/>
            <a:chExt cx="981" cy="1105"/>
          </a:xfrm>
        </p:grpSpPr>
        <p:pic>
          <p:nvPicPr>
            <p:cNvPr id="148516" name="Picture 94" descr="desktop_computer_stylized_medium">
              <a:extLst>
                <a:ext uri="{FF2B5EF4-FFF2-40B4-BE49-F238E27FC236}">
                  <a16:creationId xmlns:a16="http://schemas.microsoft.com/office/drawing/2014/main" id="{AD39F02D-421C-45C0-B796-DBE9D7E1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8517" name="Freeform 95">
              <a:extLst>
                <a:ext uri="{FF2B5EF4-FFF2-40B4-BE49-F238E27FC236}">
                  <a16:creationId xmlns:a16="http://schemas.microsoft.com/office/drawing/2014/main" id="{CC8B6D6E-D773-4B07-8534-A10983840E9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48513" name="Group 96">
            <a:extLst>
              <a:ext uri="{FF2B5EF4-FFF2-40B4-BE49-F238E27FC236}">
                <a16:creationId xmlns:a16="http://schemas.microsoft.com/office/drawing/2014/main" id="{00DEDF0E-B518-41DC-86A0-87EC0711176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264150" y="1423988"/>
            <a:ext cx="654050" cy="579437"/>
            <a:chOff x="-44" y="1473"/>
            <a:chExt cx="981" cy="1105"/>
          </a:xfrm>
        </p:grpSpPr>
        <p:pic>
          <p:nvPicPr>
            <p:cNvPr id="148514" name="Picture 97" descr="desktop_computer_stylized_medium">
              <a:extLst>
                <a:ext uri="{FF2B5EF4-FFF2-40B4-BE49-F238E27FC236}">
                  <a16:creationId xmlns:a16="http://schemas.microsoft.com/office/drawing/2014/main" id="{547879D1-B6D9-4BC0-9C96-718B3CB00E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8515" name="Freeform 98">
              <a:extLst>
                <a:ext uri="{FF2B5EF4-FFF2-40B4-BE49-F238E27FC236}">
                  <a16:creationId xmlns:a16="http://schemas.microsoft.com/office/drawing/2014/main" id="{556EE94A-0CB3-464A-9C1E-50B8593204E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Footer Placeholder 5">
            <a:extLst>
              <a:ext uri="{FF2B5EF4-FFF2-40B4-BE49-F238E27FC236}">
                <a16:creationId xmlns:a16="http://schemas.microsoft.com/office/drawing/2014/main" id="{F2EE6962-2230-4419-96DE-0E669F903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49507" name="Slide Number Placeholder 6">
            <a:extLst>
              <a:ext uri="{FF2B5EF4-FFF2-40B4-BE49-F238E27FC236}">
                <a16:creationId xmlns:a16="http://schemas.microsoft.com/office/drawing/2014/main" id="{28493B29-D6F6-42FB-BFAC-5D3B20DC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3A3F5693-6BD2-45B1-BA37-DBED6F8DB43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74756" name="Rectangle 2">
            <a:extLst>
              <a:ext uri="{FF2B5EF4-FFF2-40B4-BE49-F238E27FC236}">
                <a16:creationId xmlns:a16="http://schemas.microsoft.com/office/drawing/2014/main" id="{CA8E6C64-229C-4957-B715-2F0C4EA97C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74757" name="Rectangle 3">
            <a:extLst>
              <a:ext uri="{FF2B5EF4-FFF2-40B4-BE49-F238E27FC236}">
                <a16:creationId xmlns:a16="http://schemas.microsoft.com/office/drawing/2014/main" id="{051D4707-DDB9-473E-884F-7F11D01CCDC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74758" name="Rectangle 4">
            <a:extLst>
              <a:ext uri="{FF2B5EF4-FFF2-40B4-BE49-F238E27FC236}">
                <a16:creationId xmlns:a16="http://schemas.microsoft.com/office/drawing/2014/main" id="{C0D1C406-D238-4386-8D9C-CDFF02FCE65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149511" name="Picture 5" descr="underline_base">
            <a:extLst>
              <a:ext uri="{FF2B5EF4-FFF2-40B4-BE49-F238E27FC236}">
                <a16:creationId xmlns:a16="http://schemas.microsoft.com/office/drawing/2014/main" id="{6AE97108-B466-47EC-ABBF-796E2B9B7CD9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39813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Footer Placeholder 5">
            <a:extLst>
              <a:ext uri="{FF2B5EF4-FFF2-40B4-BE49-F238E27FC236}">
                <a16:creationId xmlns:a16="http://schemas.microsoft.com/office/drawing/2014/main" id="{A0085112-E9B5-4BC6-BBAC-56750B314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50531" name="Slide Number Placeholder 6">
            <a:extLst>
              <a:ext uri="{FF2B5EF4-FFF2-40B4-BE49-F238E27FC236}">
                <a16:creationId xmlns:a16="http://schemas.microsoft.com/office/drawing/2014/main" id="{9D61FCA4-101D-407B-A413-CAF9400AE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98E2850-1F60-460E-BAA5-F145E29C952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75780" name="Rectangle 2">
            <a:extLst>
              <a:ext uri="{FF2B5EF4-FFF2-40B4-BE49-F238E27FC236}">
                <a16:creationId xmlns:a16="http://schemas.microsoft.com/office/drawing/2014/main" id="{AF3E91E4-ED71-4FBB-AD5D-6CBA3BF54C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41313" y="171450"/>
            <a:ext cx="7772400" cy="97472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flow control</a:t>
            </a:r>
          </a:p>
        </p:txBody>
      </p:sp>
      <p:sp>
        <p:nvSpPr>
          <p:cNvPr id="150533" name="Rectangle 72">
            <a:extLst>
              <a:ext uri="{FF2B5EF4-FFF2-40B4-BE49-F238E27FC236}">
                <a16:creationId xmlns:a16="http://schemas.microsoft.com/office/drawing/2014/main" id="{FF3F4783-0562-4F9C-990A-F39D7C9754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855663"/>
            <a:ext cx="2524125" cy="3854450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0534" name="Freeform 32">
            <a:extLst>
              <a:ext uri="{FF2B5EF4-FFF2-40B4-BE49-F238E27FC236}">
                <a16:creationId xmlns:a16="http://schemas.microsoft.com/office/drawing/2014/main" id="{F3565BEA-24A0-4507-9042-6A6C5CE81DD2}"/>
              </a:ext>
            </a:extLst>
          </p:cNvPr>
          <p:cNvSpPr>
            <a:spLocks/>
          </p:cNvSpPr>
          <p:nvPr/>
        </p:nvSpPr>
        <p:spPr bwMode="auto">
          <a:xfrm>
            <a:off x="7851775" y="849313"/>
            <a:ext cx="581025" cy="4206875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50535" name="Rectangle 40">
            <a:extLst>
              <a:ext uri="{FF2B5EF4-FFF2-40B4-BE49-F238E27FC236}">
                <a16:creationId xmlns:a16="http://schemas.microsoft.com/office/drawing/2014/main" id="{B662ED7D-2683-47AD-929E-D36E352CF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4475" y="957263"/>
            <a:ext cx="2533650" cy="381476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0536" name="Oval 31">
            <a:extLst>
              <a:ext uri="{FF2B5EF4-FFF2-40B4-BE49-F238E27FC236}">
                <a16:creationId xmlns:a16="http://schemas.microsoft.com/office/drawing/2014/main" id="{8A0758F8-6635-48F0-A32F-B6FBFE82D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4225" y="1014413"/>
            <a:ext cx="1377950" cy="5969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application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process</a:t>
            </a:r>
          </a:p>
        </p:txBody>
      </p:sp>
      <p:grpSp>
        <p:nvGrpSpPr>
          <p:cNvPr id="150537" name="Group 47">
            <a:extLst>
              <a:ext uri="{FF2B5EF4-FFF2-40B4-BE49-F238E27FC236}">
                <a16:creationId xmlns:a16="http://schemas.microsoft.com/office/drawing/2014/main" id="{B50FC3CE-4259-4B6E-B058-6A8F5C8CFA13}"/>
              </a:ext>
            </a:extLst>
          </p:cNvPr>
          <p:cNvGrpSpPr>
            <a:grpSpLocks/>
          </p:cNvGrpSpPr>
          <p:nvPr/>
        </p:nvGrpSpPr>
        <p:grpSpPr bwMode="auto">
          <a:xfrm>
            <a:off x="5632450" y="2082800"/>
            <a:ext cx="1795463" cy="688975"/>
            <a:chOff x="1173" y="2345"/>
            <a:chExt cx="1131" cy="434"/>
          </a:xfrm>
        </p:grpSpPr>
        <p:sp>
          <p:nvSpPr>
            <p:cNvPr id="150583" name="Rectangle 44">
              <a:extLst>
                <a:ext uri="{FF2B5EF4-FFF2-40B4-BE49-F238E27FC236}">
                  <a16:creationId xmlns:a16="http://schemas.microsoft.com/office/drawing/2014/main" id="{6D38E230-44E0-4D6F-9B9A-28ACA1A54D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3" y="2345"/>
              <a:ext cx="1131" cy="434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0584" name="Text Box 46">
              <a:extLst>
                <a:ext uri="{FF2B5EF4-FFF2-40B4-BE49-F238E27FC236}">
                  <a16:creationId xmlns:a16="http://schemas.microsoft.com/office/drawing/2014/main" id="{F1CE9A24-505C-4CF8-835B-25B6130427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35" y="2368"/>
              <a:ext cx="995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Tahoma" panose="020B0604030504040204" pitchFamily="34" charset="0"/>
                </a:rPr>
                <a:t>TCP socket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Tahoma" panose="020B0604030504040204" pitchFamily="34" charset="0"/>
                </a:rPr>
                <a:t>receiver buffers</a:t>
              </a:r>
            </a:p>
          </p:txBody>
        </p:sp>
      </p:grpSp>
      <p:sp>
        <p:nvSpPr>
          <p:cNvPr id="150538" name="Oval 48">
            <a:extLst>
              <a:ext uri="{FF2B5EF4-FFF2-40B4-BE49-F238E27FC236}">
                <a16:creationId xmlns:a16="http://schemas.microsoft.com/office/drawing/2014/main" id="{95DA9BE6-A03E-4312-A25D-EEEC7DBFA5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00725" y="3106738"/>
            <a:ext cx="1562100" cy="5969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Arial" panose="020B0604020202020204" pitchFamily="34" charset="0"/>
            </a:endParaRPr>
          </a:p>
        </p:txBody>
      </p:sp>
      <p:sp>
        <p:nvSpPr>
          <p:cNvPr id="150539" name="Text Box 64">
            <a:extLst>
              <a:ext uri="{FF2B5EF4-FFF2-40B4-BE49-F238E27FC236}">
                <a16:creationId xmlns:a16="http://schemas.microsoft.com/office/drawing/2014/main" id="{EBD2D9AD-3529-42E2-BF70-A19C9C1ADB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04013" y="3130550"/>
            <a:ext cx="555625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TCP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code</a:t>
            </a:r>
          </a:p>
        </p:txBody>
      </p:sp>
      <p:sp>
        <p:nvSpPr>
          <p:cNvPr id="150540" name="Oval 65">
            <a:extLst>
              <a:ext uri="{FF2B5EF4-FFF2-40B4-BE49-F238E27FC236}">
                <a16:creationId xmlns:a16="http://schemas.microsoft.com/office/drawing/2014/main" id="{3C3B287E-6E78-4AB1-A281-458E3522E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08663" y="4092575"/>
            <a:ext cx="1562100" cy="596900"/>
          </a:xfrm>
          <a:prstGeom prst="ellipse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Arial" panose="020B0604020202020204" pitchFamily="34" charset="0"/>
            </a:endParaRPr>
          </a:p>
        </p:txBody>
      </p:sp>
      <p:sp>
        <p:nvSpPr>
          <p:cNvPr id="150541" name="Text Box 66">
            <a:extLst>
              <a:ext uri="{FF2B5EF4-FFF2-40B4-BE49-F238E27FC236}">
                <a16:creationId xmlns:a16="http://schemas.microsoft.com/office/drawing/2014/main" id="{733AA46A-F731-4C9D-A99D-BB60947945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1950" y="4116388"/>
            <a:ext cx="555625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IP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code</a:t>
            </a:r>
          </a:p>
        </p:txBody>
      </p:sp>
      <p:sp>
        <p:nvSpPr>
          <p:cNvPr id="150542" name="Freeform 61">
            <a:extLst>
              <a:ext uri="{FF2B5EF4-FFF2-40B4-BE49-F238E27FC236}">
                <a16:creationId xmlns:a16="http://schemas.microsoft.com/office/drawing/2014/main" id="{7EED0DC8-2937-491E-9241-ED696F18E6F3}"/>
              </a:ext>
            </a:extLst>
          </p:cNvPr>
          <p:cNvSpPr>
            <a:spLocks/>
          </p:cNvSpPr>
          <p:nvPr/>
        </p:nvSpPr>
        <p:spPr bwMode="auto">
          <a:xfrm>
            <a:off x="6310313" y="2649538"/>
            <a:ext cx="530225" cy="2505075"/>
          </a:xfrm>
          <a:custGeom>
            <a:avLst/>
            <a:gdLst>
              <a:gd name="T0" fmla="*/ 2147483646 w 412"/>
              <a:gd name="T1" fmla="*/ 2147483646 h 2005"/>
              <a:gd name="T2" fmla="*/ 2147483646 w 412"/>
              <a:gd name="T3" fmla="*/ 0 h 2005"/>
              <a:gd name="T4" fmla="*/ 2147483646 w 412"/>
              <a:gd name="T5" fmla="*/ 2147483646 h 2005"/>
              <a:gd name="T6" fmla="*/ 0 60000 65536"/>
              <a:gd name="T7" fmla="*/ 0 60000 65536"/>
              <a:gd name="T8" fmla="*/ 0 60000 65536"/>
              <a:gd name="T9" fmla="*/ 0 w 412"/>
              <a:gd name="T10" fmla="*/ 0 h 2005"/>
              <a:gd name="T11" fmla="*/ 412 w 412"/>
              <a:gd name="T12" fmla="*/ 2005 h 200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12" h="2005">
                <a:moveTo>
                  <a:pt x="56" y="2005"/>
                </a:moveTo>
                <a:cubicBezTo>
                  <a:pt x="80" y="1671"/>
                  <a:pt x="0" y="0"/>
                  <a:pt x="206" y="0"/>
                </a:cubicBezTo>
                <a:cubicBezTo>
                  <a:pt x="412" y="0"/>
                  <a:pt x="307" y="1587"/>
                  <a:pt x="334" y="2005"/>
                </a:cubicBezTo>
              </a:path>
            </a:pathLst>
          </a:custGeom>
          <a:noFill/>
          <a:ln w="3810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0543" name="Line 68">
            <a:extLst>
              <a:ext uri="{FF2B5EF4-FFF2-40B4-BE49-F238E27FC236}">
                <a16:creationId xmlns:a16="http://schemas.microsoft.com/office/drawing/2014/main" id="{26ADA052-5260-4061-A3C5-CB23EB424CD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18125" y="3841750"/>
            <a:ext cx="25463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0544" name="Line 69">
            <a:extLst>
              <a:ext uri="{FF2B5EF4-FFF2-40B4-BE49-F238E27FC236}">
                <a16:creationId xmlns:a16="http://schemas.microsoft.com/office/drawing/2014/main" id="{BEFE0DF5-DBE2-4836-B137-672098605BF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30825" y="1990725"/>
            <a:ext cx="25463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150545" name="Group 56">
            <a:extLst>
              <a:ext uri="{FF2B5EF4-FFF2-40B4-BE49-F238E27FC236}">
                <a16:creationId xmlns:a16="http://schemas.microsoft.com/office/drawing/2014/main" id="{83BE3932-07B6-4A43-ACEE-6B25B57105E2}"/>
              </a:ext>
            </a:extLst>
          </p:cNvPr>
          <p:cNvGrpSpPr>
            <a:grpSpLocks/>
          </p:cNvGrpSpPr>
          <p:nvPr/>
        </p:nvGrpSpPr>
        <p:grpSpPr bwMode="auto">
          <a:xfrm>
            <a:off x="6307138" y="1874838"/>
            <a:ext cx="533400" cy="206375"/>
            <a:chOff x="2003" y="1816"/>
            <a:chExt cx="336" cy="130"/>
          </a:xfrm>
        </p:grpSpPr>
        <p:sp>
          <p:nvSpPr>
            <p:cNvPr id="150579" name="Rectangle 16">
              <a:extLst>
                <a:ext uri="{FF2B5EF4-FFF2-40B4-BE49-F238E27FC236}">
                  <a16:creationId xmlns:a16="http://schemas.microsoft.com/office/drawing/2014/main" id="{B1DD82ED-8C35-4C60-AEB6-3C8ED3FF68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3" y="1816"/>
              <a:ext cx="336" cy="13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0580" name="Rectangle 17">
              <a:extLst>
                <a:ext uri="{FF2B5EF4-FFF2-40B4-BE49-F238E27FC236}">
                  <a16:creationId xmlns:a16="http://schemas.microsoft.com/office/drawing/2014/main" id="{7CCE9390-ED9D-4723-AD39-6E5DEB9799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5" y="1833"/>
              <a:ext cx="110" cy="9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0581" name="Rectangle 18">
              <a:extLst>
                <a:ext uri="{FF2B5EF4-FFF2-40B4-BE49-F238E27FC236}">
                  <a16:creationId xmlns:a16="http://schemas.microsoft.com/office/drawing/2014/main" id="{587D633F-B673-4693-B573-BE5BC9F178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9" y="1891"/>
              <a:ext cx="29" cy="3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0582" name="Rectangle 19">
              <a:extLst>
                <a:ext uri="{FF2B5EF4-FFF2-40B4-BE49-F238E27FC236}">
                  <a16:creationId xmlns:a16="http://schemas.microsoft.com/office/drawing/2014/main" id="{545EEB70-F2E3-4097-85DC-5F1ED8EE7A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8" y="1892"/>
              <a:ext cx="29" cy="3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50546" name="Freeform 63">
            <a:extLst>
              <a:ext uri="{FF2B5EF4-FFF2-40B4-BE49-F238E27FC236}">
                <a16:creationId xmlns:a16="http://schemas.microsoft.com/office/drawing/2014/main" id="{88B8EDA7-B268-4668-B924-7BE7394F8B1B}"/>
              </a:ext>
            </a:extLst>
          </p:cNvPr>
          <p:cNvSpPr>
            <a:spLocks/>
          </p:cNvSpPr>
          <p:nvPr/>
        </p:nvSpPr>
        <p:spPr bwMode="auto">
          <a:xfrm rot="10800000">
            <a:off x="6299200" y="1544638"/>
            <a:ext cx="530225" cy="595312"/>
          </a:xfrm>
          <a:custGeom>
            <a:avLst/>
            <a:gdLst>
              <a:gd name="T0" fmla="*/ 2147483646 w 412"/>
              <a:gd name="T1" fmla="*/ 2147483646 h 2005"/>
              <a:gd name="T2" fmla="*/ 2147483646 w 412"/>
              <a:gd name="T3" fmla="*/ 0 h 2005"/>
              <a:gd name="T4" fmla="*/ 2147483646 w 412"/>
              <a:gd name="T5" fmla="*/ 2147483646 h 2005"/>
              <a:gd name="T6" fmla="*/ 0 60000 65536"/>
              <a:gd name="T7" fmla="*/ 0 60000 65536"/>
              <a:gd name="T8" fmla="*/ 0 60000 65536"/>
              <a:gd name="T9" fmla="*/ 0 w 412"/>
              <a:gd name="T10" fmla="*/ 0 h 2005"/>
              <a:gd name="T11" fmla="*/ 412 w 412"/>
              <a:gd name="T12" fmla="*/ 2005 h 200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12" h="2005">
                <a:moveTo>
                  <a:pt x="56" y="2005"/>
                </a:moveTo>
                <a:cubicBezTo>
                  <a:pt x="80" y="1671"/>
                  <a:pt x="0" y="0"/>
                  <a:pt x="206" y="0"/>
                </a:cubicBezTo>
                <a:cubicBezTo>
                  <a:pt x="412" y="0"/>
                  <a:pt x="307" y="1587"/>
                  <a:pt x="334" y="2005"/>
                </a:cubicBezTo>
              </a:path>
            </a:pathLst>
          </a:custGeom>
          <a:noFill/>
          <a:ln w="38100" cap="flat" cmpd="sng">
            <a:solidFill>
              <a:srgbClr val="CC0000"/>
            </a:solidFill>
            <a:prstDash val="solid"/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150547" name="Group 77">
            <a:extLst>
              <a:ext uri="{FF2B5EF4-FFF2-40B4-BE49-F238E27FC236}">
                <a16:creationId xmlns:a16="http://schemas.microsoft.com/office/drawing/2014/main" id="{EF0882E2-E855-4E71-B708-EA41ADF07945}"/>
              </a:ext>
            </a:extLst>
          </p:cNvPr>
          <p:cNvGrpSpPr>
            <a:grpSpLocks/>
          </p:cNvGrpSpPr>
          <p:nvPr/>
        </p:nvGrpSpPr>
        <p:grpSpPr bwMode="auto">
          <a:xfrm>
            <a:off x="5489575" y="4827588"/>
            <a:ext cx="1006475" cy="211137"/>
            <a:chOff x="314" y="1591"/>
            <a:chExt cx="634" cy="133"/>
          </a:xfrm>
        </p:grpSpPr>
        <p:sp>
          <p:nvSpPr>
            <p:cNvPr id="150576" name="Rectangle 74">
              <a:extLst>
                <a:ext uri="{FF2B5EF4-FFF2-40B4-BE49-F238E27FC236}">
                  <a16:creationId xmlns:a16="http://schemas.microsoft.com/office/drawing/2014/main" id="{13FCC215-E317-425A-8424-B0389BC4DE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" y="1591"/>
              <a:ext cx="634" cy="13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0577" name="Line 75">
              <a:extLst>
                <a:ext uri="{FF2B5EF4-FFF2-40B4-BE49-F238E27FC236}">
                  <a16:creationId xmlns:a16="http://schemas.microsoft.com/office/drawing/2014/main" id="{6D59C1FD-6B1E-4396-919A-880D9C6987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" y="1594"/>
              <a:ext cx="0" cy="13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0578" name="Line 76">
              <a:extLst>
                <a:ext uri="{FF2B5EF4-FFF2-40B4-BE49-F238E27FC236}">
                  <a16:creationId xmlns:a16="http://schemas.microsoft.com/office/drawing/2014/main" id="{41A53586-C363-4E5D-AC99-A15055F68E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4" y="1594"/>
              <a:ext cx="0" cy="13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50548" name="Rectangle 80">
            <a:extLst>
              <a:ext uri="{FF2B5EF4-FFF2-40B4-BE49-F238E27FC236}">
                <a16:creationId xmlns:a16="http://schemas.microsoft.com/office/drawing/2014/main" id="{467CDAF9-1AE8-4B9D-B687-C122C24AF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8638" y="3892550"/>
            <a:ext cx="876300" cy="2095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0549" name="Rectangle 86">
            <a:extLst>
              <a:ext uri="{FF2B5EF4-FFF2-40B4-BE49-F238E27FC236}">
                <a16:creationId xmlns:a16="http://schemas.microsoft.com/office/drawing/2014/main" id="{103642DD-5E57-4E08-8BCD-53DB918D00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800" y="2851150"/>
            <a:ext cx="720725" cy="20955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0550" name="Rectangle 91">
            <a:extLst>
              <a:ext uri="{FF2B5EF4-FFF2-40B4-BE49-F238E27FC236}">
                <a16:creationId xmlns:a16="http://schemas.microsoft.com/office/drawing/2014/main" id="{0C90EBB3-AA92-4266-8866-EB0819F4AC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3738" y="3892550"/>
            <a:ext cx="720725" cy="20955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0551" name="Rectangle 92">
            <a:extLst>
              <a:ext uri="{FF2B5EF4-FFF2-40B4-BE49-F238E27FC236}">
                <a16:creationId xmlns:a16="http://schemas.microsoft.com/office/drawing/2014/main" id="{3DEA03AC-7E18-49DF-9434-3605DB639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8975" y="4824413"/>
            <a:ext cx="733425" cy="212725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grpSp>
        <p:nvGrpSpPr>
          <p:cNvPr id="150552" name="Group 99">
            <a:extLst>
              <a:ext uri="{FF2B5EF4-FFF2-40B4-BE49-F238E27FC236}">
                <a16:creationId xmlns:a16="http://schemas.microsoft.com/office/drawing/2014/main" id="{0684AF0D-4A19-4B8E-BD85-79C0CFA92E06}"/>
              </a:ext>
            </a:extLst>
          </p:cNvPr>
          <p:cNvGrpSpPr>
            <a:grpSpLocks/>
          </p:cNvGrpSpPr>
          <p:nvPr/>
        </p:nvGrpSpPr>
        <p:grpSpPr bwMode="auto">
          <a:xfrm>
            <a:off x="8002588" y="1657350"/>
            <a:ext cx="1146175" cy="703263"/>
            <a:chOff x="638" y="1651"/>
            <a:chExt cx="722" cy="443"/>
          </a:xfrm>
        </p:grpSpPr>
        <p:sp>
          <p:nvSpPr>
            <p:cNvPr id="150573" name="Text Box 95">
              <a:extLst>
                <a:ext uri="{FF2B5EF4-FFF2-40B4-BE49-F238E27FC236}">
                  <a16:creationId xmlns:a16="http://schemas.microsoft.com/office/drawing/2014/main" id="{180FC327-1D23-487D-80F7-9D4BD23D97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8" y="1651"/>
              <a:ext cx="7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application</a:t>
              </a:r>
            </a:p>
          </p:txBody>
        </p:sp>
        <p:sp>
          <p:nvSpPr>
            <p:cNvPr id="150574" name="Text Box 96">
              <a:extLst>
                <a:ext uri="{FF2B5EF4-FFF2-40B4-BE49-F238E27FC236}">
                  <a16:creationId xmlns:a16="http://schemas.microsoft.com/office/drawing/2014/main" id="{BE535B84-80E4-4D89-8970-37326FCB48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7" y="1882"/>
              <a:ext cx="27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OS</a:t>
              </a:r>
            </a:p>
          </p:txBody>
        </p:sp>
        <p:sp>
          <p:nvSpPr>
            <p:cNvPr id="150575" name="Line 98">
              <a:extLst>
                <a:ext uri="{FF2B5EF4-FFF2-40B4-BE49-F238E27FC236}">
                  <a16:creationId xmlns:a16="http://schemas.microsoft.com/office/drawing/2014/main" id="{CE48A49D-5AA0-40C1-947D-D6C1BA6656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1" y="1870"/>
              <a:ext cx="54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50553" name="Text Box 103">
            <a:extLst>
              <a:ext uri="{FF2B5EF4-FFF2-40B4-BE49-F238E27FC236}">
                <a16:creationId xmlns:a16="http://schemas.microsoft.com/office/drawing/2014/main" id="{38E2EBAA-DC7E-47A0-9AD4-E84AF2BAFC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05425" y="5637213"/>
            <a:ext cx="27146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Tahoma" panose="020B0604030504040204" pitchFamily="34" charset="0"/>
              </a:rPr>
              <a:t>receiver protocol stack</a:t>
            </a:r>
          </a:p>
        </p:txBody>
      </p:sp>
      <p:sp>
        <p:nvSpPr>
          <p:cNvPr id="150554" name="Text Box 104">
            <a:extLst>
              <a:ext uri="{FF2B5EF4-FFF2-40B4-BE49-F238E27FC236}">
                <a16:creationId xmlns:a16="http://schemas.microsoft.com/office/drawing/2014/main" id="{DCB50B73-F68F-4365-A602-D79EEE4D2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4538" y="1314450"/>
            <a:ext cx="3192462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application may 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remove data from 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TCP socket buffers …. </a:t>
            </a:r>
          </a:p>
        </p:txBody>
      </p:sp>
      <p:sp>
        <p:nvSpPr>
          <p:cNvPr id="150555" name="Line 105">
            <a:extLst>
              <a:ext uri="{FF2B5EF4-FFF2-40B4-BE49-F238E27FC236}">
                <a16:creationId xmlns:a16="http://schemas.microsoft.com/office/drawing/2014/main" id="{28C873E8-800B-4EF7-BB02-4010A486F59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24463" y="1730375"/>
            <a:ext cx="1041400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0556" name="Text Box 106">
            <a:extLst>
              <a:ext uri="{FF2B5EF4-FFF2-40B4-BE49-F238E27FC236}">
                <a16:creationId xmlns:a16="http://schemas.microsoft.com/office/drawing/2014/main" id="{EBDFD66A-9079-4D94-B829-08C3CF6305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8800" y="2525713"/>
            <a:ext cx="2081213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… slower than TCP 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receiver is delivering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(sender is sending)</a:t>
            </a:r>
          </a:p>
        </p:txBody>
      </p:sp>
      <p:sp>
        <p:nvSpPr>
          <p:cNvPr id="150557" name="Line 108">
            <a:extLst>
              <a:ext uri="{FF2B5EF4-FFF2-40B4-BE49-F238E27FC236}">
                <a16:creationId xmlns:a16="http://schemas.microsoft.com/office/drawing/2014/main" id="{A153B88C-6911-4BAF-9CA1-8387370377DC}"/>
              </a:ext>
            </a:extLst>
          </p:cNvPr>
          <p:cNvSpPr>
            <a:spLocks noChangeShapeType="1"/>
          </p:cNvSpPr>
          <p:nvPr/>
        </p:nvSpPr>
        <p:spPr bwMode="auto">
          <a:xfrm>
            <a:off x="5145088" y="2935288"/>
            <a:ext cx="544512" cy="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0558" name="Line 115">
            <a:extLst>
              <a:ext uri="{FF2B5EF4-FFF2-40B4-BE49-F238E27FC236}">
                <a16:creationId xmlns:a16="http://schemas.microsoft.com/office/drawing/2014/main" id="{9881A348-A014-4D20-9CA7-5BA4E5B6731C}"/>
              </a:ext>
            </a:extLst>
          </p:cNvPr>
          <p:cNvSpPr>
            <a:spLocks noChangeShapeType="1"/>
          </p:cNvSpPr>
          <p:nvPr/>
        </p:nvSpPr>
        <p:spPr bwMode="auto">
          <a:xfrm>
            <a:off x="6383338" y="5189538"/>
            <a:ext cx="0" cy="349250"/>
          </a:xfrm>
          <a:prstGeom prst="line">
            <a:avLst/>
          </a:prstGeom>
          <a:noFill/>
          <a:ln w="28575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0559" name="Text Box 116">
            <a:extLst>
              <a:ext uri="{FF2B5EF4-FFF2-40B4-BE49-F238E27FC236}">
                <a16:creationId xmlns:a16="http://schemas.microsoft.com/office/drawing/2014/main" id="{0DEFB2DF-D1C7-4BF3-A83E-6D4D0EEF84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1138" y="5249863"/>
            <a:ext cx="11334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from sender</a:t>
            </a:r>
          </a:p>
        </p:txBody>
      </p:sp>
      <p:grpSp>
        <p:nvGrpSpPr>
          <p:cNvPr id="6" name="Group 123">
            <a:extLst>
              <a:ext uri="{FF2B5EF4-FFF2-40B4-BE49-F238E27FC236}">
                <a16:creationId xmlns:a16="http://schemas.microsoft.com/office/drawing/2014/main" id="{32298930-1F4E-4CD9-8E27-AD0C0448AE5F}"/>
              </a:ext>
            </a:extLst>
          </p:cNvPr>
          <p:cNvGrpSpPr>
            <a:grpSpLocks/>
          </p:cNvGrpSpPr>
          <p:nvPr/>
        </p:nvGrpSpPr>
        <p:grpSpPr bwMode="auto">
          <a:xfrm>
            <a:off x="363538" y="4194175"/>
            <a:ext cx="5395912" cy="1755775"/>
            <a:chOff x="221" y="2091"/>
            <a:chExt cx="3399" cy="1106"/>
          </a:xfrm>
        </p:grpSpPr>
        <p:sp>
          <p:nvSpPr>
            <p:cNvPr id="150566" name="Line 82">
              <a:extLst>
                <a:ext uri="{FF2B5EF4-FFF2-40B4-BE49-F238E27FC236}">
                  <a16:creationId xmlns:a16="http://schemas.microsoft.com/office/drawing/2014/main" id="{4BEDA2A1-B535-4894-A9CA-D6573210EE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20" y="2455"/>
              <a:ext cx="0" cy="13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0567" name="Rectangle 110">
              <a:extLst>
                <a:ext uri="{FF2B5EF4-FFF2-40B4-BE49-F238E27FC236}">
                  <a16:creationId xmlns:a16="http://schemas.microsoft.com/office/drawing/2014/main" id="{25A79035-AE38-4D79-932D-8D2E92AD2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" y="2219"/>
              <a:ext cx="2295" cy="97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0568" name="Text Box 111">
              <a:extLst>
                <a:ext uri="{FF2B5EF4-FFF2-40B4-BE49-F238E27FC236}">
                  <a16:creationId xmlns:a16="http://schemas.microsoft.com/office/drawing/2014/main" id="{B74D25CD-27C1-4F44-B511-5894691BA2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9" y="2315"/>
              <a:ext cx="2263" cy="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dirty="0"/>
                <a:t>receiver controls sender, so </a:t>
              </a:r>
              <a:r>
                <a:rPr lang="en-US" altLang="zh-TW" sz="2000" dirty="0">
                  <a:solidFill>
                    <a:srgbClr val="0070C0"/>
                  </a:solidFill>
                </a:rPr>
                <a:t>sender won</a:t>
              </a:r>
              <a:r>
                <a:rPr lang="ja-JP" altLang="en-US" sz="2000" dirty="0">
                  <a:solidFill>
                    <a:srgbClr val="0070C0"/>
                  </a:solidFill>
                </a:rPr>
                <a:t>’</a:t>
              </a:r>
              <a:r>
                <a:rPr lang="en-US" altLang="ja-JP" sz="2000" dirty="0">
                  <a:solidFill>
                    <a:srgbClr val="0070C0"/>
                  </a:solidFill>
                </a:rPr>
                <a:t>t overflow receiver</a:t>
              </a:r>
              <a:r>
                <a:rPr lang="ja-JP" altLang="en-US" sz="2000" dirty="0">
                  <a:solidFill>
                    <a:srgbClr val="0070C0"/>
                  </a:solidFill>
                </a:rPr>
                <a:t>’</a:t>
              </a:r>
              <a:r>
                <a:rPr lang="en-US" altLang="ja-JP" sz="2000" dirty="0">
                  <a:solidFill>
                    <a:srgbClr val="0070C0"/>
                  </a:solidFill>
                </a:rPr>
                <a:t>s buffer</a:t>
              </a:r>
              <a:r>
                <a:rPr lang="en-US" altLang="ja-JP" sz="2000" dirty="0"/>
                <a:t> by transmitting too much, too fast</a:t>
              </a:r>
              <a:endParaRPr lang="en-US" altLang="zh-TW" sz="1000" dirty="0"/>
            </a:p>
          </p:txBody>
        </p:sp>
        <p:grpSp>
          <p:nvGrpSpPr>
            <p:cNvPr id="150569" name="Group 112">
              <a:extLst>
                <a:ext uri="{FF2B5EF4-FFF2-40B4-BE49-F238E27FC236}">
                  <a16:creationId xmlns:a16="http://schemas.microsoft.com/office/drawing/2014/main" id="{440B9EF2-29A7-474B-9575-C257FDF6883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0" y="2091"/>
              <a:ext cx="1217" cy="327"/>
              <a:chOff x="3486" y="272"/>
              <a:chExt cx="1134" cy="327"/>
            </a:xfrm>
          </p:grpSpPr>
          <p:sp>
            <p:nvSpPr>
              <p:cNvPr id="150571" name="Rectangle 113">
                <a:extLst>
                  <a:ext uri="{FF2B5EF4-FFF2-40B4-BE49-F238E27FC236}">
                    <a16:creationId xmlns:a16="http://schemas.microsoft.com/office/drawing/2014/main" id="{B060087B-6B4F-4C95-AC61-B94841FDC1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86" y="330"/>
                <a:ext cx="1134" cy="22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0572" name="Text Box 114">
                <a:extLst>
                  <a:ext uri="{FF2B5EF4-FFF2-40B4-BE49-F238E27FC236}">
                    <a16:creationId xmlns:a16="http://schemas.microsoft.com/office/drawing/2014/main" id="{AECDF26B-360A-42CA-8245-54DC5DEEB56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39" y="272"/>
                <a:ext cx="1011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800" i="1">
                    <a:solidFill>
                      <a:srgbClr val="CC0000"/>
                    </a:solidFill>
                  </a:rPr>
                  <a:t>flow control</a:t>
                </a:r>
              </a:p>
            </p:txBody>
          </p:sp>
        </p:grpSp>
        <p:sp>
          <p:nvSpPr>
            <p:cNvPr id="150570" name="Line 117">
              <a:extLst>
                <a:ext uri="{FF2B5EF4-FFF2-40B4-BE49-F238E27FC236}">
                  <a16:creationId xmlns:a16="http://schemas.microsoft.com/office/drawing/2014/main" id="{618FAA83-3F7C-4B98-A2F4-A8ED8832C7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5" y="2578"/>
              <a:ext cx="0" cy="29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50561" name="Line 118">
            <a:extLst>
              <a:ext uri="{FF2B5EF4-FFF2-40B4-BE49-F238E27FC236}">
                <a16:creationId xmlns:a16="http://schemas.microsoft.com/office/drawing/2014/main" id="{F407A6A2-78FC-49FD-8475-674F352E9DB3}"/>
              </a:ext>
            </a:extLst>
          </p:cNvPr>
          <p:cNvSpPr>
            <a:spLocks noChangeShapeType="1"/>
          </p:cNvSpPr>
          <p:nvPr/>
        </p:nvSpPr>
        <p:spPr bwMode="auto">
          <a:xfrm>
            <a:off x="7847013" y="4767263"/>
            <a:ext cx="0" cy="4635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pic>
        <p:nvPicPr>
          <p:cNvPr id="150562" name="Picture 120" descr="underline_base">
            <a:extLst>
              <a:ext uri="{FF2B5EF4-FFF2-40B4-BE49-F238E27FC236}">
                <a16:creationId xmlns:a16="http://schemas.microsoft.com/office/drawing/2014/main" id="{B41AD6A9-EB09-402B-A1DA-DF7E3811E84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893763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0563" name="Group 124">
            <a:extLst>
              <a:ext uri="{FF2B5EF4-FFF2-40B4-BE49-F238E27FC236}">
                <a16:creationId xmlns:a16="http://schemas.microsoft.com/office/drawing/2014/main" id="{B128A875-4919-4A75-BE8B-F864798EDF2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085138" y="4360863"/>
            <a:ext cx="869950" cy="906462"/>
            <a:chOff x="-44" y="1473"/>
            <a:chExt cx="981" cy="1105"/>
          </a:xfrm>
        </p:grpSpPr>
        <p:pic>
          <p:nvPicPr>
            <p:cNvPr id="150564" name="Picture 125" descr="desktop_computer_stylized_medium">
              <a:extLst>
                <a:ext uri="{FF2B5EF4-FFF2-40B4-BE49-F238E27FC236}">
                  <a16:creationId xmlns:a16="http://schemas.microsoft.com/office/drawing/2014/main" id="{08C36C97-AC22-4FF0-B4BF-F426669DB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0565" name="Freeform 126">
              <a:extLst>
                <a:ext uri="{FF2B5EF4-FFF2-40B4-BE49-F238E27FC236}">
                  <a16:creationId xmlns:a16="http://schemas.microsoft.com/office/drawing/2014/main" id="{6D50736C-DABA-4B21-BE7B-48DF02B12D1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556" grpId="0"/>
      <p:bldP spid="15055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Footer Placeholder 5">
            <a:extLst>
              <a:ext uri="{FF2B5EF4-FFF2-40B4-BE49-F238E27FC236}">
                <a16:creationId xmlns:a16="http://schemas.microsoft.com/office/drawing/2014/main" id="{8B3C38E7-A5D3-49DF-A2AB-B171DE22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51555" name="Slide Number Placeholder 6">
            <a:extLst>
              <a:ext uri="{FF2B5EF4-FFF2-40B4-BE49-F238E27FC236}">
                <a16:creationId xmlns:a16="http://schemas.microsoft.com/office/drawing/2014/main" id="{22CD2F59-BC3B-4894-BCDD-8041776D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84A940D1-614D-4F84-8E7C-88B02580225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76804" name="Rectangle 2">
            <a:extLst>
              <a:ext uri="{FF2B5EF4-FFF2-40B4-BE49-F238E27FC236}">
                <a16:creationId xmlns:a16="http://schemas.microsoft.com/office/drawing/2014/main" id="{FB136682-EDB2-407E-BBC4-038F9BCE30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41313" y="171450"/>
            <a:ext cx="7772400" cy="97472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flow control</a:t>
            </a:r>
          </a:p>
        </p:txBody>
      </p:sp>
      <p:pic>
        <p:nvPicPr>
          <p:cNvPr id="151557" name="Picture 51" descr="underline_base">
            <a:extLst>
              <a:ext uri="{FF2B5EF4-FFF2-40B4-BE49-F238E27FC236}">
                <a16:creationId xmlns:a16="http://schemas.microsoft.com/office/drawing/2014/main" id="{84B52DAB-82CC-4DFB-A9D0-5FB066EAF14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893763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1558" name="Group 72">
            <a:extLst>
              <a:ext uri="{FF2B5EF4-FFF2-40B4-BE49-F238E27FC236}">
                <a16:creationId xmlns:a16="http://schemas.microsoft.com/office/drawing/2014/main" id="{0AF8F92D-EEE4-4532-A828-E2D3F46D332D}"/>
              </a:ext>
            </a:extLst>
          </p:cNvPr>
          <p:cNvGrpSpPr>
            <a:grpSpLocks/>
          </p:cNvGrpSpPr>
          <p:nvPr/>
        </p:nvGrpSpPr>
        <p:grpSpPr bwMode="auto">
          <a:xfrm>
            <a:off x="5995988" y="2230438"/>
            <a:ext cx="2578100" cy="2155825"/>
            <a:chOff x="512" y="1294"/>
            <a:chExt cx="1888" cy="1358"/>
          </a:xfrm>
        </p:grpSpPr>
        <p:grpSp>
          <p:nvGrpSpPr>
            <p:cNvPr id="151572" name="Group 17">
              <a:extLst>
                <a:ext uri="{FF2B5EF4-FFF2-40B4-BE49-F238E27FC236}">
                  <a16:creationId xmlns:a16="http://schemas.microsoft.com/office/drawing/2014/main" id="{C06DCB5B-B9CC-48AF-8EBF-76A023A359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32" y="1410"/>
              <a:ext cx="336" cy="130"/>
              <a:chOff x="2003" y="1816"/>
              <a:chExt cx="336" cy="130"/>
            </a:xfrm>
          </p:grpSpPr>
          <p:sp>
            <p:nvSpPr>
              <p:cNvPr id="151581" name="Rectangle 18">
                <a:extLst>
                  <a:ext uri="{FF2B5EF4-FFF2-40B4-BE49-F238E27FC236}">
                    <a16:creationId xmlns:a16="http://schemas.microsoft.com/office/drawing/2014/main" id="{609E2F72-DE7C-4C6A-8AE7-55D27A6175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03" y="1816"/>
                <a:ext cx="336" cy="130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1582" name="Rectangle 19">
                <a:extLst>
                  <a:ext uri="{FF2B5EF4-FFF2-40B4-BE49-F238E27FC236}">
                    <a16:creationId xmlns:a16="http://schemas.microsoft.com/office/drawing/2014/main" id="{5009A4CC-5AE0-464C-B72F-E877A85BF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05" y="1833"/>
                <a:ext cx="108" cy="9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1583" name="Rectangle 20">
                <a:extLst>
                  <a:ext uri="{FF2B5EF4-FFF2-40B4-BE49-F238E27FC236}">
                    <a16:creationId xmlns:a16="http://schemas.microsoft.com/office/drawing/2014/main" id="{9E300431-5AB3-4CD4-88CF-A20A256000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8" y="1891"/>
                <a:ext cx="28" cy="35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1584" name="Rectangle 21">
                <a:extLst>
                  <a:ext uri="{FF2B5EF4-FFF2-40B4-BE49-F238E27FC236}">
                    <a16:creationId xmlns:a16="http://schemas.microsoft.com/office/drawing/2014/main" id="{50A033F5-611A-425A-8B38-E9037AF10B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6" y="1892"/>
                <a:ext cx="29" cy="35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1573" name="Rectangle 52">
              <a:extLst>
                <a:ext uri="{FF2B5EF4-FFF2-40B4-BE49-F238E27FC236}">
                  <a16:creationId xmlns:a16="http://schemas.microsoft.com/office/drawing/2014/main" id="{B97EDFF2-E24B-48C2-A9C6-C2716AD0DD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6" y="1522"/>
              <a:ext cx="1871" cy="896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1574" name="Line 53">
              <a:extLst>
                <a:ext uri="{FF2B5EF4-FFF2-40B4-BE49-F238E27FC236}">
                  <a16:creationId xmlns:a16="http://schemas.microsoft.com/office/drawing/2014/main" id="{5B09A0A4-8A84-4AA5-94DF-FE5C93F084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" y="1863"/>
              <a:ext cx="188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1575" name="AutoShape 54">
              <a:extLst>
                <a:ext uri="{FF2B5EF4-FFF2-40B4-BE49-F238E27FC236}">
                  <a16:creationId xmlns:a16="http://schemas.microsoft.com/office/drawing/2014/main" id="{55233CA9-0E60-4F40-96A6-22351E4749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0" y="1294"/>
              <a:ext cx="157" cy="288"/>
            </a:xfrm>
            <a:prstGeom prst="upArrow">
              <a:avLst>
                <a:gd name="adj1" fmla="val 50000"/>
                <a:gd name="adj2" fmla="val 45860"/>
              </a:avLst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1576" name="Rectangle 55" descr="Dark upward diagonal">
              <a:extLst>
                <a:ext uri="{FF2B5EF4-FFF2-40B4-BE49-F238E27FC236}">
                  <a16:creationId xmlns:a16="http://schemas.microsoft.com/office/drawing/2014/main" id="{130C554B-B85A-49AA-9700-5EA791DFC3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" y="1856"/>
              <a:ext cx="1848" cy="555"/>
            </a:xfrm>
            <a:prstGeom prst="rect">
              <a:avLst/>
            </a:prstGeom>
            <a:blipFill dpi="0" rotWithShape="0">
              <a:blip r:embed="rId4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1577" name="AutoShape 56">
              <a:extLst>
                <a:ext uri="{FF2B5EF4-FFF2-40B4-BE49-F238E27FC236}">
                  <a16:creationId xmlns:a16="http://schemas.microsoft.com/office/drawing/2014/main" id="{DF7BBCD7-9E27-4546-A1D0-61E810F370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2" y="2364"/>
              <a:ext cx="157" cy="288"/>
            </a:xfrm>
            <a:prstGeom prst="upArrow">
              <a:avLst>
                <a:gd name="adj1" fmla="val 50000"/>
                <a:gd name="adj2" fmla="val 45860"/>
              </a:avLst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1578" name="Text Box 57">
              <a:extLst>
                <a:ext uri="{FF2B5EF4-FFF2-40B4-BE49-F238E27FC236}">
                  <a16:creationId xmlns:a16="http://schemas.microsoft.com/office/drawing/2014/main" id="{7713019F-484C-4BAB-B362-6A196A94E3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4" y="1568"/>
              <a:ext cx="124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Tahoma" panose="020B0604030504040204" pitchFamily="34" charset="0"/>
                </a:rPr>
                <a:t>buffered data</a:t>
              </a:r>
            </a:p>
          </p:txBody>
        </p:sp>
        <p:sp>
          <p:nvSpPr>
            <p:cNvPr id="151579" name="Line 58">
              <a:extLst>
                <a:ext uri="{FF2B5EF4-FFF2-40B4-BE49-F238E27FC236}">
                  <a16:creationId xmlns:a16="http://schemas.microsoft.com/office/drawing/2014/main" id="{90822208-689E-42C8-A5C7-6AE0544D69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2" y="1857"/>
              <a:ext cx="1878" cy="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1580" name="Text Box 59">
              <a:extLst>
                <a:ext uri="{FF2B5EF4-FFF2-40B4-BE49-F238E27FC236}">
                  <a16:creationId xmlns:a16="http://schemas.microsoft.com/office/drawing/2014/main" id="{9CA7AEAE-30A0-4C50-AD21-9768E95BA0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3" y="2020"/>
              <a:ext cx="15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Tahoma" panose="020B0604030504040204" pitchFamily="34" charset="0"/>
                </a:rPr>
                <a:t>free buffer space</a:t>
              </a:r>
            </a:p>
          </p:txBody>
        </p:sp>
      </p:grpSp>
      <p:sp>
        <p:nvSpPr>
          <p:cNvPr id="151559" name="Text Box 62">
            <a:extLst>
              <a:ext uri="{FF2B5EF4-FFF2-40B4-BE49-F238E27FC236}">
                <a16:creationId xmlns:a16="http://schemas.microsoft.com/office/drawing/2014/main" id="{6DDFF2FB-EE09-453E-8ED0-A2F22300B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8575" y="3375025"/>
            <a:ext cx="6731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rwnd</a:t>
            </a:r>
            <a:endParaRPr lang="en-US" altLang="zh-TW" sz="1600" b="1" dirty="0">
              <a:solidFill>
                <a:srgbClr val="FF0000"/>
              </a:solidFill>
              <a:latin typeface="Courier New" panose="02070309020205020404" pitchFamily="49" charset="0"/>
            </a:endParaRPr>
          </a:p>
        </p:txBody>
      </p:sp>
      <p:sp>
        <p:nvSpPr>
          <p:cNvPr id="151560" name="Line 64">
            <a:extLst>
              <a:ext uri="{FF2B5EF4-FFF2-40B4-BE49-F238E27FC236}">
                <a16:creationId xmlns:a16="http://schemas.microsoft.com/office/drawing/2014/main" id="{83996415-2284-40B3-9ED0-4175EE1CC754}"/>
              </a:ext>
            </a:extLst>
          </p:cNvPr>
          <p:cNvSpPr>
            <a:spLocks noChangeShapeType="1"/>
          </p:cNvSpPr>
          <p:nvPr/>
        </p:nvSpPr>
        <p:spPr bwMode="auto">
          <a:xfrm>
            <a:off x="5619750" y="3108325"/>
            <a:ext cx="0" cy="322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1561" name="Line 65">
            <a:extLst>
              <a:ext uri="{FF2B5EF4-FFF2-40B4-BE49-F238E27FC236}">
                <a16:creationId xmlns:a16="http://schemas.microsoft.com/office/drawing/2014/main" id="{CE5233FC-E0D6-471F-8B3A-D9193158856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19750" y="3633788"/>
            <a:ext cx="0" cy="322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1562" name="Line 66">
            <a:extLst>
              <a:ext uri="{FF2B5EF4-FFF2-40B4-BE49-F238E27FC236}">
                <a16:creationId xmlns:a16="http://schemas.microsoft.com/office/drawing/2014/main" id="{2BEE6A49-07EE-4BFA-86A3-03E4850AE52F}"/>
              </a:ext>
            </a:extLst>
          </p:cNvPr>
          <p:cNvSpPr>
            <a:spLocks noChangeShapeType="1"/>
          </p:cNvSpPr>
          <p:nvPr/>
        </p:nvSpPr>
        <p:spPr bwMode="auto">
          <a:xfrm>
            <a:off x="5465763" y="3965575"/>
            <a:ext cx="4762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1563" name="Line 67">
            <a:extLst>
              <a:ext uri="{FF2B5EF4-FFF2-40B4-BE49-F238E27FC236}">
                <a16:creationId xmlns:a16="http://schemas.microsoft.com/office/drawing/2014/main" id="{20D244E3-6762-4E04-A51E-15FF6701FB07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4975" y="3097213"/>
            <a:ext cx="1968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1564" name="Line 68">
            <a:extLst>
              <a:ext uri="{FF2B5EF4-FFF2-40B4-BE49-F238E27FC236}">
                <a16:creationId xmlns:a16="http://schemas.microsoft.com/office/drawing/2014/main" id="{17E4FAED-D7FE-4EEF-8838-F2A08EF7D05E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7988" y="2571750"/>
            <a:ext cx="4762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1565" name="Line 69">
            <a:extLst>
              <a:ext uri="{FF2B5EF4-FFF2-40B4-BE49-F238E27FC236}">
                <a16:creationId xmlns:a16="http://schemas.microsoft.com/office/drawing/2014/main" id="{DF9643EA-2CCC-4D0A-B569-05CD62509B82}"/>
              </a:ext>
            </a:extLst>
          </p:cNvPr>
          <p:cNvSpPr>
            <a:spLocks noChangeShapeType="1"/>
          </p:cNvSpPr>
          <p:nvPr/>
        </p:nvSpPr>
        <p:spPr bwMode="auto">
          <a:xfrm>
            <a:off x="5876925" y="2576513"/>
            <a:ext cx="0" cy="177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1566" name="Line 70">
            <a:extLst>
              <a:ext uri="{FF2B5EF4-FFF2-40B4-BE49-F238E27FC236}">
                <a16:creationId xmlns:a16="http://schemas.microsoft.com/office/drawing/2014/main" id="{1C5B8A6A-6255-4BD6-80AB-44ABA58B83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75338" y="3000375"/>
            <a:ext cx="0" cy="9540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1567" name="Text Box 71">
            <a:extLst>
              <a:ext uri="{FF2B5EF4-FFF2-40B4-BE49-F238E27FC236}">
                <a16:creationId xmlns:a16="http://schemas.microsoft.com/office/drawing/2014/main" id="{941D7B3C-26BD-48A8-B773-1088481862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2813" y="2736850"/>
            <a:ext cx="12842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dirty="0" err="1">
                <a:solidFill>
                  <a:srgbClr val="7030A0"/>
                </a:solidFill>
                <a:latin typeface="Courier New" panose="02070309020205020404" pitchFamily="49" charset="0"/>
              </a:rPr>
              <a:t>RcvBuffer</a:t>
            </a:r>
            <a:endParaRPr lang="en-US" altLang="zh-TW" sz="1600" b="1" dirty="0">
              <a:solidFill>
                <a:srgbClr val="7030A0"/>
              </a:solidFill>
              <a:latin typeface="Courier New" panose="02070309020205020404" pitchFamily="49" charset="0"/>
            </a:endParaRPr>
          </a:p>
        </p:txBody>
      </p:sp>
      <p:sp>
        <p:nvSpPr>
          <p:cNvPr id="151568" name="Text Box 73">
            <a:extLst>
              <a:ext uri="{FF2B5EF4-FFF2-40B4-BE49-F238E27FC236}">
                <a16:creationId xmlns:a16="http://schemas.microsoft.com/office/drawing/2014/main" id="{E1C294F4-DD85-4957-B4AF-460EA23382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3150" y="4365625"/>
            <a:ext cx="22209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latin typeface="Tahoma" panose="020B0604030504040204" pitchFamily="34" charset="0"/>
              </a:rPr>
              <a:t>TCP segment payloads</a:t>
            </a:r>
          </a:p>
        </p:txBody>
      </p:sp>
      <p:sp>
        <p:nvSpPr>
          <p:cNvPr id="151569" name="Text Box 74">
            <a:extLst>
              <a:ext uri="{FF2B5EF4-FFF2-40B4-BE49-F238E27FC236}">
                <a16:creationId xmlns:a16="http://schemas.microsoft.com/office/drawing/2014/main" id="{057CAC03-F490-4696-8C99-D811F51491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6175" y="1865313"/>
            <a:ext cx="21304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latin typeface="Tahoma" panose="020B0604030504040204" pitchFamily="34" charset="0"/>
              </a:rPr>
              <a:t>to application process</a:t>
            </a:r>
          </a:p>
        </p:txBody>
      </p:sp>
      <p:sp>
        <p:nvSpPr>
          <p:cNvPr id="151570" name="Rectangle 75">
            <a:extLst>
              <a:ext uri="{FF2B5EF4-FFF2-40B4-BE49-F238E27FC236}">
                <a16:creationId xmlns:a16="http://schemas.microsoft.com/office/drawing/2014/main" id="{95880547-D72B-41E8-A738-67355677F7E7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93713" y="1549400"/>
            <a:ext cx="4054475" cy="4906963"/>
          </a:xfrm>
        </p:spPr>
        <p:txBody>
          <a:bodyPr/>
          <a:lstStyle/>
          <a:p>
            <a:r>
              <a:rPr lang="en-US" altLang="zh-TW" sz="2400" b="1" dirty="0" err="1">
                <a:solidFill>
                  <a:srgbClr val="7030A0"/>
                </a:solidFill>
                <a:latin typeface="Courier New" panose="02070309020205020404" pitchFamily="49" charset="0"/>
              </a:rPr>
              <a:t>RcvBuffer</a:t>
            </a:r>
            <a:r>
              <a:rPr lang="en-US" altLang="zh-TW" sz="2400" b="1" dirty="0">
                <a:latin typeface="Courier New" panose="02070309020205020404" pitchFamily="49" charset="0"/>
              </a:rPr>
              <a:t> </a:t>
            </a:r>
            <a:r>
              <a:rPr lang="en-US" altLang="zh-TW" sz="2400" dirty="0"/>
              <a:t>size set via socket options (typical default is 4096 bytes)</a:t>
            </a:r>
          </a:p>
          <a:p>
            <a:pPr lvl="1"/>
            <a:r>
              <a:rPr lang="en-US" altLang="zh-TW" sz="2000" dirty="0"/>
              <a:t>many operating systems </a:t>
            </a:r>
            <a:r>
              <a:rPr lang="en-US" altLang="zh-TW" sz="2000" dirty="0" err="1"/>
              <a:t>autoadjust</a:t>
            </a:r>
            <a:r>
              <a:rPr lang="en-US" altLang="zh-TW" sz="2000" dirty="0"/>
              <a:t> </a:t>
            </a:r>
            <a:r>
              <a:rPr lang="en-US" altLang="zh-TW" sz="2000" b="1" dirty="0" err="1">
                <a:latin typeface="Courier New" panose="02070309020205020404" pitchFamily="49" charset="0"/>
              </a:rPr>
              <a:t>RcvBuffer</a:t>
            </a:r>
            <a:endParaRPr lang="en-US" altLang="zh-TW" sz="2000" dirty="0"/>
          </a:p>
          <a:p>
            <a:r>
              <a:rPr lang="en-US" altLang="zh-TW" sz="2400" dirty="0"/>
              <a:t>receiver </a:t>
            </a:r>
            <a:r>
              <a:rPr lang="ja-JP" altLang="en-US" sz="2400" dirty="0"/>
              <a:t>“</a:t>
            </a:r>
            <a:r>
              <a:rPr lang="en-US" altLang="ja-JP" sz="2400" dirty="0"/>
              <a:t>advertises</a:t>
            </a:r>
            <a:r>
              <a:rPr lang="ja-JP" altLang="en-US" sz="2400" dirty="0"/>
              <a:t>”</a:t>
            </a:r>
            <a:r>
              <a:rPr lang="en-US" altLang="ja-JP" sz="2400" dirty="0"/>
              <a:t> free buffer space by including </a:t>
            </a:r>
            <a:r>
              <a:rPr lang="en-US" altLang="ja-JP" sz="24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rwnd</a:t>
            </a:r>
            <a:r>
              <a:rPr lang="en-US" altLang="ja-JP" sz="2400" dirty="0"/>
              <a:t> value in </a:t>
            </a:r>
            <a:r>
              <a:rPr lang="en-US" altLang="ja-JP" sz="2400" dirty="0">
                <a:solidFill>
                  <a:srgbClr val="0070C0"/>
                </a:solidFill>
              </a:rPr>
              <a:t>TCP header </a:t>
            </a:r>
            <a:r>
              <a:rPr lang="en-US" altLang="ja-JP" sz="2400" dirty="0"/>
              <a:t>of receiver-to-sender segments:</a:t>
            </a:r>
          </a:p>
          <a:p>
            <a:pPr marL="0" indent="0">
              <a:buNone/>
            </a:pPr>
            <a:r>
              <a:rPr lang="en-US" altLang="zh-TW" sz="2400" dirty="0">
                <a:solidFill>
                  <a:srgbClr val="0070C0"/>
                </a:solidFill>
              </a:rPr>
              <a:t>=&gt; sender limits amount of </a:t>
            </a:r>
            <a:r>
              <a:rPr lang="en-US" altLang="zh-TW" sz="2400" dirty="0" err="1">
                <a:solidFill>
                  <a:srgbClr val="0070C0"/>
                </a:solidFill>
              </a:rPr>
              <a:t>unacked</a:t>
            </a:r>
            <a:r>
              <a:rPr lang="en-US" altLang="zh-TW" sz="2400" dirty="0">
                <a:solidFill>
                  <a:srgbClr val="0070C0"/>
                </a:solidFill>
              </a:rPr>
              <a:t> (</a:t>
            </a:r>
            <a:r>
              <a:rPr lang="ja-JP" altLang="en-US" sz="2400" dirty="0">
                <a:solidFill>
                  <a:srgbClr val="0070C0"/>
                </a:solidFill>
              </a:rPr>
              <a:t>“</a:t>
            </a:r>
            <a:r>
              <a:rPr lang="en-US" altLang="ja-JP" sz="2400" dirty="0">
                <a:solidFill>
                  <a:srgbClr val="0070C0"/>
                </a:solidFill>
              </a:rPr>
              <a:t>in-flight</a:t>
            </a:r>
            <a:r>
              <a:rPr lang="ja-JP" altLang="en-US" sz="2400" dirty="0">
                <a:solidFill>
                  <a:srgbClr val="0070C0"/>
                </a:solidFill>
              </a:rPr>
              <a:t>”</a:t>
            </a:r>
            <a:r>
              <a:rPr lang="en-US" altLang="ja-JP" sz="2400" dirty="0">
                <a:solidFill>
                  <a:srgbClr val="0070C0"/>
                </a:solidFill>
              </a:rPr>
              <a:t>) data to receiver</a:t>
            </a:r>
            <a:r>
              <a:rPr lang="ja-JP" altLang="en-US" sz="2400" dirty="0">
                <a:solidFill>
                  <a:srgbClr val="0070C0"/>
                </a:solidFill>
              </a:rPr>
              <a:t>’</a:t>
            </a:r>
            <a:r>
              <a:rPr lang="en-US" altLang="ja-JP" sz="2400" dirty="0">
                <a:solidFill>
                  <a:srgbClr val="0070C0"/>
                </a:solidFill>
              </a:rPr>
              <a:t>s </a:t>
            </a:r>
            <a:r>
              <a:rPr lang="en-US" altLang="ja-JP" sz="2400" b="1" dirty="0" err="1">
                <a:solidFill>
                  <a:srgbClr val="0070C0"/>
                </a:solidFill>
                <a:latin typeface="Courier New" panose="02070309020205020404" pitchFamily="49" charset="0"/>
              </a:rPr>
              <a:t>rwnd</a:t>
            </a:r>
            <a:r>
              <a:rPr lang="en-US" altLang="ja-JP" sz="2400" b="1" dirty="0">
                <a:solidFill>
                  <a:srgbClr val="0070C0"/>
                </a:solidFill>
                <a:latin typeface="Courier New" panose="02070309020205020404" pitchFamily="49" charset="0"/>
              </a:rPr>
              <a:t> </a:t>
            </a:r>
            <a:r>
              <a:rPr lang="en-US" altLang="ja-JP" sz="2400" dirty="0">
                <a:solidFill>
                  <a:srgbClr val="0070C0"/>
                </a:solidFill>
              </a:rPr>
              <a:t>value </a:t>
            </a:r>
          </a:p>
          <a:p>
            <a:pPr marL="0" indent="0">
              <a:buNone/>
            </a:pPr>
            <a:r>
              <a:rPr lang="en-US" altLang="zh-TW" sz="2400" dirty="0"/>
              <a:t>=&gt; guarantees receive buffer will not overflow</a:t>
            </a:r>
          </a:p>
        </p:txBody>
      </p:sp>
      <p:sp>
        <p:nvSpPr>
          <p:cNvPr id="151571" name="Text Box 76">
            <a:extLst>
              <a:ext uri="{FF2B5EF4-FFF2-40B4-BE49-F238E27FC236}">
                <a16:creationId xmlns:a16="http://schemas.microsoft.com/office/drawing/2014/main" id="{1139452C-A01D-446F-B594-A9908ED28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37238" y="5018088"/>
            <a:ext cx="2695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>
                <a:latin typeface="Tahoma" panose="020B0604030504040204" pitchFamily="34" charset="0"/>
              </a:rPr>
              <a:t>receiver-side buffering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Footer Placeholder 5">
            <a:extLst>
              <a:ext uri="{FF2B5EF4-FFF2-40B4-BE49-F238E27FC236}">
                <a16:creationId xmlns:a16="http://schemas.microsoft.com/office/drawing/2014/main" id="{1A31E989-8972-4807-8BB6-2C3F0521A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52579" name="Slide Number Placeholder 6">
            <a:extLst>
              <a:ext uri="{FF2B5EF4-FFF2-40B4-BE49-F238E27FC236}">
                <a16:creationId xmlns:a16="http://schemas.microsoft.com/office/drawing/2014/main" id="{C509D073-3A88-42C4-BB90-AEC0C43CD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9E63B0BA-43B9-4BEC-999B-037A3EA2807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77828" name="Rectangle 2">
            <a:extLst>
              <a:ext uri="{FF2B5EF4-FFF2-40B4-BE49-F238E27FC236}">
                <a16:creationId xmlns:a16="http://schemas.microsoft.com/office/drawing/2014/main" id="{3004468B-86B1-473D-BD85-2CF9DC1170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77829" name="Rectangle 3">
            <a:extLst>
              <a:ext uri="{FF2B5EF4-FFF2-40B4-BE49-F238E27FC236}">
                <a16:creationId xmlns:a16="http://schemas.microsoft.com/office/drawing/2014/main" id="{12636FFC-2449-4A49-9B0C-D1F248E6D13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77830" name="Rectangle 4">
            <a:extLst>
              <a:ext uri="{FF2B5EF4-FFF2-40B4-BE49-F238E27FC236}">
                <a16:creationId xmlns:a16="http://schemas.microsoft.com/office/drawing/2014/main" id="{BC23B3A4-2712-4C36-BB30-A64F8F30BB2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152583" name="Picture 5" descr="underline_base">
            <a:extLst>
              <a:ext uri="{FF2B5EF4-FFF2-40B4-BE49-F238E27FC236}">
                <a16:creationId xmlns:a16="http://schemas.microsoft.com/office/drawing/2014/main" id="{0C4A4CB8-3C5D-40EA-B1DD-7187D51E211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39813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Footer Placeholder 4">
            <a:extLst>
              <a:ext uri="{FF2B5EF4-FFF2-40B4-BE49-F238E27FC236}">
                <a16:creationId xmlns:a16="http://schemas.microsoft.com/office/drawing/2014/main" id="{67371382-4FD8-4896-A38B-C2C52DDCE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53603" name="Slide Number Placeholder 5">
            <a:extLst>
              <a:ext uri="{FF2B5EF4-FFF2-40B4-BE49-F238E27FC236}">
                <a16:creationId xmlns:a16="http://schemas.microsoft.com/office/drawing/2014/main" id="{475CCB9D-9423-467B-A2A7-B73953D8C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5AE93CEF-D1C8-4232-AFAE-BB7020A4B9B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53604" name="Picture 88" descr="underline_base">
            <a:extLst>
              <a:ext uri="{FF2B5EF4-FFF2-40B4-BE49-F238E27FC236}">
                <a16:creationId xmlns:a16="http://schemas.microsoft.com/office/drawing/2014/main" id="{3EBC8F57-F97F-4E6C-A547-E92D8A36633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675" y="833438"/>
            <a:ext cx="5027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05" name="Rectangle 62">
            <a:extLst>
              <a:ext uri="{FF2B5EF4-FFF2-40B4-BE49-F238E27FC236}">
                <a16:creationId xmlns:a16="http://schemas.microsoft.com/office/drawing/2014/main" id="{9C1737C2-CF0A-4444-8072-0974EDCAC1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9363" y="2936875"/>
            <a:ext cx="2279650" cy="2414588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3606" name="Rectangle 45">
            <a:extLst>
              <a:ext uri="{FF2B5EF4-FFF2-40B4-BE49-F238E27FC236}">
                <a16:creationId xmlns:a16="http://schemas.microsoft.com/office/drawing/2014/main" id="{B89FE21E-AB54-405E-8FEA-3B26214639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9675" y="2990850"/>
            <a:ext cx="2270125" cy="24717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3607" name="Rectangle 2">
            <a:extLst>
              <a:ext uri="{FF2B5EF4-FFF2-40B4-BE49-F238E27FC236}">
                <a16:creationId xmlns:a16="http://schemas.microsoft.com/office/drawing/2014/main" id="{AA0B23A4-09F2-41DB-8C06-1235D2E6BE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11175" y="193675"/>
            <a:ext cx="7772400" cy="911225"/>
          </a:xfrm>
        </p:spPr>
        <p:txBody>
          <a:bodyPr/>
          <a:lstStyle/>
          <a:p>
            <a:r>
              <a:rPr lang="en-US" altLang="zh-TW" sz="3600"/>
              <a:t>Connection Management</a:t>
            </a:r>
            <a:endParaRPr lang="en-US" altLang="zh-TW"/>
          </a:p>
        </p:txBody>
      </p:sp>
      <p:sp>
        <p:nvSpPr>
          <p:cNvPr id="153608" name="Rectangle 5">
            <a:extLst>
              <a:ext uri="{FF2B5EF4-FFF2-40B4-BE49-F238E27FC236}">
                <a16:creationId xmlns:a16="http://schemas.microsoft.com/office/drawing/2014/main" id="{A8600950-BE78-49CA-B772-D382886CAFEE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660400" y="1073150"/>
            <a:ext cx="8335963" cy="218757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800"/>
              <a:t>before exchanging data, sender/receiver </a:t>
            </a:r>
            <a:r>
              <a:rPr lang="ja-JP" altLang="en-US" sz="2800"/>
              <a:t>“</a:t>
            </a:r>
            <a:r>
              <a:rPr lang="en-US" altLang="ja-JP" sz="2800">
                <a:solidFill>
                  <a:srgbClr val="FF0000"/>
                </a:solidFill>
              </a:rPr>
              <a:t>handshake</a:t>
            </a:r>
            <a:r>
              <a:rPr lang="ja-JP" altLang="en-US" sz="2800"/>
              <a:t>”</a:t>
            </a:r>
            <a:r>
              <a:rPr lang="en-US" altLang="ja-JP" sz="2800"/>
              <a:t>:</a:t>
            </a:r>
          </a:p>
          <a:p>
            <a:r>
              <a:rPr lang="en-US" altLang="zh-TW" sz="2400"/>
              <a:t>agree to </a:t>
            </a:r>
            <a:r>
              <a:rPr lang="en-US" altLang="zh-TW" sz="2400">
                <a:solidFill>
                  <a:srgbClr val="0070C0"/>
                </a:solidFill>
              </a:rPr>
              <a:t>establish connection</a:t>
            </a:r>
            <a:r>
              <a:rPr lang="en-US" altLang="zh-TW" sz="2400"/>
              <a:t> (each knowing the other willing to establish connection)</a:t>
            </a:r>
          </a:p>
          <a:p>
            <a:r>
              <a:rPr lang="en-US" altLang="zh-TW" sz="2400"/>
              <a:t>agree on connection </a:t>
            </a:r>
            <a:r>
              <a:rPr lang="en-US" altLang="zh-TW" sz="2400">
                <a:solidFill>
                  <a:srgbClr val="0070C0"/>
                </a:solidFill>
              </a:rPr>
              <a:t>parameters</a:t>
            </a:r>
          </a:p>
        </p:txBody>
      </p:sp>
      <p:sp>
        <p:nvSpPr>
          <p:cNvPr id="153609" name="Line 55">
            <a:extLst>
              <a:ext uri="{FF2B5EF4-FFF2-40B4-BE49-F238E27FC236}">
                <a16:creationId xmlns:a16="http://schemas.microsoft.com/office/drawing/2014/main" id="{0D411E54-32B5-447E-91B0-AEDBFD4722B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9675" y="3432175"/>
            <a:ext cx="22701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3610" name="Text Box 6">
            <a:extLst>
              <a:ext uri="{FF2B5EF4-FFF2-40B4-BE49-F238E27FC236}">
                <a16:creationId xmlns:a16="http://schemas.microsoft.com/office/drawing/2014/main" id="{6D7F1320-577B-47BA-9182-B2AFD913E7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3963" y="3544888"/>
            <a:ext cx="2335212" cy="158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23018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connection state: ESTAB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connection variables: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 # client-to-server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         server-to-client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 b="1">
                <a:latin typeface="Courier New" panose="02070309020205020404" pitchFamily="49" charset="0"/>
              </a:rPr>
              <a:t>rcvBuffer</a:t>
            </a:r>
            <a:r>
              <a:rPr lang="en-US" altLang="zh-TW" sz="1400">
                <a:latin typeface="Tahoma" panose="020B0604030504040204" pitchFamily="34" charset="0"/>
              </a:rPr>
              <a:t> size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   at server,client 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           </a:t>
            </a:r>
          </a:p>
        </p:txBody>
      </p:sp>
      <p:grpSp>
        <p:nvGrpSpPr>
          <p:cNvPr id="153611" name="Group 46">
            <a:extLst>
              <a:ext uri="{FF2B5EF4-FFF2-40B4-BE49-F238E27FC236}">
                <a16:creationId xmlns:a16="http://schemas.microsoft.com/office/drawing/2014/main" id="{086FC213-6803-4009-8ABF-769DC2A39ECB}"/>
              </a:ext>
            </a:extLst>
          </p:cNvPr>
          <p:cNvGrpSpPr>
            <a:grpSpLocks/>
          </p:cNvGrpSpPr>
          <p:nvPr/>
        </p:nvGrpSpPr>
        <p:grpSpPr bwMode="auto">
          <a:xfrm>
            <a:off x="2157413" y="3346450"/>
            <a:ext cx="438150" cy="206375"/>
            <a:chOff x="344" y="1846"/>
            <a:chExt cx="336" cy="130"/>
          </a:xfrm>
        </p:grpSpPr>
        <p:sp>
          <p:nvSpPr>
            <p:cNvPr id="153673" name="Rectangle 47">
              <a:extLst>
                <a:ext uri="{FF2B5EF4-FFF2-40B4-BE49-F238E27FC236}">
                  <a16:creationId xmlns:a16="http://schemas.microsoft.com/office/drawing/2014/main" id="{FDBEA3D9-85C5-49B2-B2E6-FF6397B0E7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" y="1846"/>
              <a:ext cx="336" cy="13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74" name="Rectangle 48">
              <a:extLst>
                <a:ext uri="{FF2B5EF4-FFF2-40B4-BE49-F238E27FC236}">
                  <a16:creationId xmlns:a16="http://schemas.microsoft.com/office/drawing/2014/main" id="{2B8EA49A-527A-4F4A-8AE8-C6A2F61D77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" y="1863"/>
              <a:ext cx="112" cy="9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75" name="Rectangle 49">
              <a:extLst>
                <a:ext uri="{FF2B5EF4-FFF2-40B4-BE49-F238E27FC236}">
                  <a16:creationId xmlns:a16="http://schemas.microsoft.com/office/drawing/2014/main" id="{0A87F6CB-3ACA-4F43-9E91-E967EC6C22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8" y="1921"/>
              <a:ext cx="29" cy="3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76" name="Rectangle 50">
              <a:extLst>
                <a:ext uri="{FF2B5EF4-FFF2-40B4-BE49-F238E27FC236}">
                  <a16:creationId xmlns:a16="http://schemas.microsoft.com/office/drawing/2014/main" id="{BF5EDC37-A8BD-429A-84AA-122169AE5F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" y="1922"/>
              <a:ext cx="29" cy="3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53612" name="Text Box 54">
            <a:extLst>
              <a:ext uri="{FF2B5EF4-FFF2-40B4-BE49-F238E27FC236}">
                <a16:creationId xmlns:a16="http://schemas.microsoft.com/office/drawing/2014/main" id="{2AF42DBD-6BFF-403B-93F2-CBCF39FBBC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113" y="3048000"/>
            <a:ext cx="11461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153613" name="Line 56">
            <a:extLst>
              <a:ext uri="{FF2B5EF4-FFF2-40B4-BE49-F238E27FC236}">
                <a16:creationId xmlns:a16="http://schemas.microsoft.com/office/drawing/2014/main" id="{04AC878B-154F-4FC8-8506-9DA72E5FF13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6025" y="4927600"/>
            <a:ext cx="2268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3614" name="Text Box 57">
            <a:extLst>
              <a:ext uri="{FF2B5EF4-FFF2-40B4-BE49-F238E27FC236}">
                <a16:creationId xmlns:a16="http://schemas.microsoft.com/office/drawing/2014/main" id="{29E5DEA2-02A0-4E5C-B67F-BE04D2E1E5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4995863"/>
            <a:ext cx="9080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153615" name="Rectangle 58">
            <a:extLst>
              <a:ext uri="{FF2B5EF4-FFF2-40B4-BE49-F238E27FC236}">
                <a16:creationId xmlns:a16="http://schemas.microsoft.com/office/drawing/2014/main" id="{B7C5AE4D-B4F6-428A-9117-B82A9EB1DF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1100" y="5349875"/>
            <a:ext cx="2335213" cy="1809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3616" name="Line 59">
            <a:extLst>
              <a:ext uri="{FF2B5EF4-FFF2-40B4-BE49-F238E27FC236}">
                <a16:creationId xmlns:a16="http://schemas.microsoft.com/office/drawing/2014/main" id="{C9CD014F-C5FD-4688-97F4-527DEC65965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9675" y="5338763"/>
            <a:ext cx="0" cy="23653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3617" name="Line 60">
            <a:extLst>
              <a:ext uri="{FF2B5EF4-FFF2-40B4-BE49-F238E27FC236}">
                <a16:creationId xmlns:a16="http://schemas.microsoft.com/office/drawing/2014/main" id="{4FE30AD4-696B-48AA-9B06-7A25A23563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3450" y="5310188"/>
            <a:ext cx="0" cy="23653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3618" name="Freeform 8">
            <a:extLst>
              <a:ext uri="{FF2B5EF4-FFF2-40B4-BE49-F238E27FC236}">
                <a16:creationId xmlns:a16="http://schemas.microsoft.com/office/drawing/2014/main" id="{E8462833-B0C2-499C-92BB-7B238DA81CF2}"/>
              </a:ext>
            </a:extLst>
          </p:cNvPr>
          <p:cNvSpPr>
            <a:spLocks/>
          </p:cNvSpPr>
          <p:nvPr/>
        </p:nvSpPr>
        <p:spPr bwMode="auto">
          <a:xfrm flipH="1">
            <a:off x="736600" y="2994025"/>
            <a:ext cx="468313" cy="2490788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53619" name="Rectangle 63">
            <a:extLst>
              <a:ext uri="{FF2B5EF4-FFF2-40B4-BE49-F238E27FC236}">
                <a16:creationId xmlns:a16="http://schemas.microsoft.com/office/drawing/2014/main" id="{EE7D3E44-9C79-4552-8795-0FC0537657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1488" y="2943225"/>
            <a:ext cx="2279650" cy="2414588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3620" name="Rectangle 64">
            <a:extLst>
              <a:ext uri="{FF2B5EF4-FFF2-40B4-BE49-F238E27FC236}">
                <a16:creationId xmlns:a16="http://schemas.microsoft.com/office/drawing/2014/main" id="{A3731AF1-C786-413E-8109-C361C18094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2997200"/>
            <a:ext cx="2270125" cy="24717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3621" name="Line 65">
            <a:extLst>
              <a:ext uri="{FF2B5EF4-FFF2-40B4-BE49-F238E27FC236}">
                <a16:creationId xmlns:a16="http://schemas.microsoft.com/office/drawing/2014/main" id="{E551DD72-AEAD-4C80-9B71-A8719EE49F16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1800" y="3438525"/>
            <a:ext cx="22701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3622" name="Text Box 66">
            <a:extLst>
              <a:ext uri="{FF2B5EF4-FFF2-40B4-BE49-F238E27FC236}">
                <a16:creationId xmlns:a16="http://schemas.microsoft.com/office/drawing/2014/main" id="{DF4EF382-EE83-4128-BBA7-D0039B203C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6088" y="3551238"/>
            <a:ext cx="2335212" cy="158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23018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connection state: ESTAB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connection Variables: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seq # client-to-server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          server-to-client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 b="1">
                <a:latin typeface="Courier New" panose="02070309020205020404" pitchFamily="49" charset="0"/>
              </a:rPr>
              <a:t>rcvBuffer</a:t>
            </a:r>
            <a:r>
              <a:rPr lang="en-US" altLang="zh-TW" sz="1400">
                <a:latin typeface="Tahoma" panose="020B0604030504040204" pitchFamily="34" charset="0"/>
              </a:rPr>
              <a:t> size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   at server,client 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           </a:t>
            </a:r>
          </a:p>
        </p:txBody>
      </p:sp>
      <p:grpSp>
        <p:nvGrpSpPr>
          <p:cNvPr id="153623" name="Group 67">
            <a:extLst>
              <a:ext uri="{FF2B5EF4-FFF2-40B4-BE49-F238E27FC236}">
                <a16:creationId xmlns:a16="http://schemas.microsoft.com/office/drawing/2014/main" id="{0221C093-BA3D-4BB6-8659-2EC961E0874D}"/>
              </a:ext>
            </a:extLst>
          </p:cNvPr>
          <p:cNvGrpSpPr>
            <a:grpSpLocks/>
          </p:cNvGrpSpPr>
          <p:nvPr/>
        </p:nvGrpSpPr>
        <p:grpSpPr bwMode="auto">
          <a:xfrm>
            <a:off x="6459538" y="3352800"/>
            <a:ext cx="438150" cy="206375"/>
            <a:chOff x="344" y="1846"/>
            <a:chExt cx="336" cy="130"/>
          </a:xfrm>
        </p:grpSpPr>
        <p:sp>
          <p:nvSpPr>
            <p:cNvPr id="153669" name="Rectangle 68">
              <a:extLst>
                <a:ext uri="{FF2B5EF4-FFF2-40B4-BE49-F238E27FC236}">
                  <a16:creationId xmlns:a16="http://schemas.microsoft.com/office/drawing/2014/main" id="{272CD465-1491-45A1-8235-FB3EF88E25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" y="1846"/>
              <a:ext cx="336" cy="130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70" name="Rectangle 69">
              <a:extLst>
                <a:ext uri="{FF2B5EF4-FFF2-40B4-BE49-F238E27FC236}">
                  <a16:creationId xmlns:a16="http://schemas.microsoft.com/office/drawing/2014/main" id="{682D103D-C793-44B1-BF95-942DD41E3D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" y="1863"/>
              <a:ext cx="112" cy="9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71" name="Rectangle 70">
              <a:extLst>
                <a:ext uri="{FF2B5EF4-FFF2-40B4-BE49-F238E27FC236}">
                  <a16:creationId xmlns:a16="http://schemas.microsoft.com/office/drawing/2014/main" id="{6DA2F93B-8CEF-4454-AD67-910AB0517E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8" y="1921"/>
              <a:ext cx="29" cy="3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72" name="Rectangle 71">
              <a:extLst>
                <a:ext uri="{FF2B5EF4-FFF2-40B4-BE49-F238E27FC236}">
                  <a16:creationId xmlns:a16="http://schemas.microsoft.com/office/drawing/2014/main" id="{AD4566E8-FC33-452E-95F7-BC9007F96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" y="1922"/>
              <a:ext cx="29" cy="3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53624" name="Text Box 72">
            <a:extLst>
              <a:ext uri="{FF2B5EF4-FFF2-40B4-BE49-F238E27FC236}">
                <a16:creationId xmlns:a16="http://schemas.microsoft.com/office/drawing/2014/main" id="{B05BFC7D-21E1-4A6A-9C6C-D326DBC48B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238" y="3054350"/>
            <a:ext cx="11461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application</a:t>
            </a:r>
          </a:p>
        </p:txBody>
      </p:sp>
      <p:sp>
        <p:nvSpPr>
          <p:cNvPr id="153625" name="Line 73">
            <a:extLst>
              <a:ext uri="{FF2B5EF4-FFF2-40B4-BE49-F238E27FC236}">
                <a16:creationId xmlns:a16="http://schemas.microsoft.com/office/drawing/2014/main" id="{20CB4772-C251-447D-87E9-842207B54108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8150" y="4933950"/>
            <a:ext cx="2268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3626" name="Text Box 74">
            <a:extLst>
              <a:ext uri="{FF2B5EF4-FFF2-40B4-BE49-F238E27FC236}">
                <a16:creationId xmlns:a16="http://schemas.microsoft.com/office/drawing/2014/main" id="{70527D5C-B1A9-4EC9-BA94-348E47A3DB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0525" y="5002213"/>
            <a:ext cx="9080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network</a:t>
            </a:r>
          </a:p>
        </p:txBody>
      </p:sp>
      <p:sp>
        <p:nvSpPr>
          <p:cNvPr id="153627" name="Rectangle 75">
            <a:extLst>
              <a:ext uri="{FF2B5EF4-FFF2-40B4-BE49-F238E27FC236}">
                <a16:creationId xmlns:a16="http://schemas.microsoft.com/office/drawing/2014/main" id="{4387461D-05CA-408F-B735-A55114281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3225" y="5356225"/>
            <a:ext cx="2335213" cy="1809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53628" name="Line 76">
            <a:extLst>
              <a:ext uri="{FF2B5EF4-FFF2-40B4-BE49-F238E27FC236}">
                <a16:creationId xmlns:a16="http://schemas.microsoft.com/office/drawing/2014/main" id="{4C94D020-C009-42CF-9C8B-7AF3A0406BA3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1800" y="5345113"/>
            <a:ext cx="0" cy="23653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3629" name="Line 77">
            <a:extLst>
              <a:ext uri="{FF2B5EF4-FFF2-40B4-BE49-F238E27FC236}">
                <a16:creationId xmlns:a16="http://schemas.microsoft.com/office/drawing/2014/main" id="{FAD42EC5-BD86-43C1-831A-722A229ABDC9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5575" y="5316538"/>
            <a:ext cx="0" cy="23653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3630" name="Freeform 78">
            <a:extLst>
              <a:ext uri="{FF2B5EF4-FFF2-40B4-BE49-F238E27FC236}">
                <a16:creationId xmlns:a16="http://schemas.microsoft.com/office/drawing/2014/main" id="{C7579537-EBCD-42E0-A591-710F5A3E8F7C}"/>
              </a:ext>
            </a:extLst>
          </p:cNvPr>
          <p:cNvSpPr>
            <a:spLocks/>
          </p:cNvSpPr>
          <p:nvPr/>
        </p:nvSpPr>
        <p:spPr bwMode="auto">
          <a:xfrm>
            <a:off x="7793038" y="2933700"/>
            <a:ext cx="468312" cy="2490788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53631" name="Text Box 83">
            <a:extLst>
              <a:ext uri="{FF2B5EF4-FFF2-40B4-BE49-F238E27FC236}">
                <a16:creationId xmlns:a16="http://schemas.microsoft.com/office/drawing/2014/main" id="{D8D248ED-193A-430E-83B5-0B012A13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7438" y="5815013"/>
            <a:ext cx="2894012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317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b="1">
                <a:latin typeface="Courier New" panose="02070309020205020404" pitchFamily="49" charset="0"/>
              </a:rPr>
              <a:t>Socket clientSocket = 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b="1">
                <a:latin typeface="Courier New" panose="02070309020205020404" pitchFamily="49" charset="0"/>
              </a:rPr>
              <a:t>  newSocket("hostname","port number");</a:t>
            </a:r>
          </a:p>
        </p:txBody>
      </p:sp>
      <p:sp>
        <p:nvSpPr>
          <p:cNvPr id="153632" name="Text Box 85">
            <a:extLst>
              <a:ext uri="{FF2B5EF4-FFF2-40B4-BE49-F238E27FC236}">
                <a16:creationId xmlns:a16="http://schemas.microsoft.com/office/drawing/2014/main" id="{735C3F6D-98F7-474C-A2A8-3744905614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87975" y="5829300"/>
            <a:ext cx="28940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317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b="1">
                <a:latin typeface="Courier New" panose="02070309020205020404" pitchFamily="49" charset="0"/>
              </a:rPr>
              <a:t>Socket connectionSocket = welcomeSocket.accept();</a:t>
            </a:r>
          </a:p>
        </p:txBody>
      </p:sp>
      <p:grpSp>
        <p:nvGrpSpPr>
          <p:cNvPr id="153633" name="Group 89">
            <a:extLst>
              <a:ext uri="{FF2B5EF4-FFF2-40B4-BE49-F238E27FC236}">
                <a16:creationId xmlns:a16="http://schemas.microsoft.com/office/drawing/2014/main" id="{244F2221-BF03-4D18-AA2B-19D2DAA19FFA}"/>
              </a:ext>
            </a:extLst>
          </p:cNvPr>
          <p:cNvGrpSpPr>
            <a:grpSpLocks/>
          </p:cNvGrpSpPr>
          <p:nvPr/>
        </p:nvGrpSpPr>
        <p:grpSpPr bwMode="auto">
          <a:xfrm>
            <a:off x="260350" y="5026025"/>
            <a:ext cx="698500" cy="612775"/>
            <a:chOff x="-44" y="1473"/>
            <a:chExt cx="981" cy="1105"/>
          </a:xfrm>
        </p:grpSpPr>
        <p:pic>
          <p:nvPicPr>
            <p:cNvPr id="153667" name="Picture 90" descr="desktop_computer_stylized_medium">
              <a:extLst>
                <a:ext uri="{FF2B5EF4-FFF2-40B4-BE49-F238E27FC236}">
                  <a16:creationId xmlns:a16="http://schemas.microsoft.com/office/drawing/2014/main" id="{8C3AF1D6-FF83-437B-95CD-7204B7C82B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3668" name="Freeform 91">
              <a:extLst>
                <a:ext uri="{FF2B5EF4-FFF2-40B4-BE49-F238E27FC236}">
                  <a16:creationId xmlns:a16="http://schemas.microsoft.com/office/drawing/2014/main" id="{7009F3AF-8D3E-40F9-A4B4-90B60D1C302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53634" name="Group 92">
            <a:extLst>
              <a:ext uri="{FF2B5EF4-FFF2-40B4-BE49-F238E27FC236}">
                <a16:creationId xmlns:a16="http://schemas.microsoft.com/office/drawing/2014/main" id="{36B04B6A-DD53-4D68-9BBC-EF9C695EBF4B}"/>
              </a:ext>
            </a:extLst>
          </p:cNvPr>
          <p:cNvGrpSpPr>
            <a:grpSpLocks/>
          </p:cNvGrpSpPr>
          <p:nvPr/>
        </p:nvGrpSpPr>
        <p:grpSpPr bwMode="auto">
          <a:xfrm>
            <a:off x="8075613" y="4924425"/>
            <a:ext cx="415925" cy="627063"/>
            <a:chOff x="4140" y="429"/>
            <a:chExt cx="1425" cy="2396"/>
          </a:xfrm>
        </p:grpSpPr>
        <p:sp>
          <p:nvSpPr>
            <p:cNvPr id="153635" name="Freeform 93">
              <a:extLst>
                <a:ext uri="{FF2B5EF4-FFF2-40B4-BE49-F238E27FC236}">
                  <a16:creationId xmlns:a16="http://schemas.microsoft.com/office/drawing/2014/main" id="{56482C73-12FE-48A1-8787-9E67404949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3636" name="Rectangle 94">
              <a:extLst>
                <a:ext uri="{FF2B5EF4-FFF2-40B4-BE49-F238E27FC236}">
                  <a16:creationId xmlns:a16="http://schemas.microsoft.com/office/drawing/2014/main" id="{943B0EA0-6231-4996-BEEE-9C01CDB912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" y="429"/>
              <a:ext cx="1050" cy="2287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37" name="Freeform 95">
              <a:extLst>
                <a:ext uri="{FF2B5EF4-FFF2-40B4-BE49-F238E27FC236}">
                  <a16:creationId xmlns:a16="http://schemas.microsoft.com/office/drawing/2014/main" id="{BA9C3D14-7951-4071-A378-E210AF63E7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3638" name="Freeform 96">
              <a:extLst>
                <a:ext uri="{FF2B5EF4-FFF2-40B4-BE49-F238E27FC236}">
                  <a16:creationId xmlns:a16="http://schemas.microsoft.com/office/drawing/2014/main" id="{61BFDF6E-E0F5-48DC-B4B7-E5342FFA8A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3639" name="Rectangle 97">
              <a:extLst>
                <a:ext uri="{FF2B5EF4-FFF2-40B4-BE49-F238E27FC236}">
                  <a16:creationId xmlns:a16="http://schemas.microsoft.com/office/drawing/2014/main" id="{1124E3BE-C23B-4224-B9BB-B1D944AD2D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6"/>
              <a:ext cx="598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53640" name="Group 98">
              <a:extLst>
                <a:ext uri="{FF2B5EF4-FFF2-40B4-BE49-F238E27FC236}">
                  <a16:creationId xmlns:a16="http://schemas.microsoft.com/office/drawing/2014/main" id="{D57777BE-26B8-475F-B047-8C245CF19B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53665" name="AutoShape 99">
                <a:extLst>
                  <a:ext uri="{FF2B5EF4-FFF2-40B4-BE49-F238E27FC236}">
                    <a16:creationId xmlns:a16="http://schemas.microsoft.com/office/drawing/2014/main" id="{2801BD97-4B08-4EBE-AACB-5DF05D95CF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6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3666" name="AutoShape 100">
                <a:extLst>
                  <a:ext uri="{FF2B5EF4-FFF2-40B4-BE49-F238E27FC236}">
                    <a16:creationId xmlns:a16="http://schemas.microsoft.com/office/drawing/2014/main" id="{B4BE437B-F52B-4B1B-B6D7-2F46A95852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3"/>
                <a:ext cx="692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3641" name="Rectangle 101">
              <a:extLst>
                <a:ext uri="{FF2B5EF4-FFF2-40B4-BE49-F238E27FC236}">
                  <a16:creationId xmlns:a16="http://schemas.microsoft.com/office/drawing/2014/main" id="{42A0DA0F-52B4-488C-89EC-F61C5D63E1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2" y="1017"/>
              <a:ext cx="598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53642" name="Group 102">
              <a:extLst>
                <a:ext uri="{FF2B5EF4-FFF2-40B4-BE49-F238E27FC236}">
                  <a16:creationId xmlns:a16="http://schemas.microsoft.com/office/drawing/2014/main" id="{A407632A-4C78-4766-BC52-0855A6F4E2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53663" name="AutoShape 103">
                <a:extLst>
                  <a:ext uri="{FF2B5EF4-FFF2-40B4-BE49-F238E27FC236}">
                    <a16:creationId xmlns:a16="http://schemas.microsoft.com/office/drawing/2014/main" id="{8BB1E5A5-0E65-4EFB-A395-A543E2B524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19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3664" name="AutoShape 104">
                <a:extLst>
                  <a:ext uri="{FF2B5EF4-FFF2-40B4-BE49-F238E27FC236}">
                    <a16:creationId xmlns:a16="http://schemas.microsoft.com/office/drawing/2014/main" id="{44A2A690-6212-4609-8D8E-6F3D752F0C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79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3643" name="Rectangle 105">
              <a:extLst>
                <a:ext uri="{FF2B5EF4-FFF2-40B4-BE49-F238E27FC236}">
                  <a16:creationId xmlns:a16="http://schemas.microsoft.com/office/drawing/2014/main" id="{518E72B4-BAE8-4659-87C9-65EC73B304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6" y="1357"/>
              <a:ext cx="598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44" name="Rectangle 106">
              <a:extLst>
                <a:ext uri="{FF2B5EF4-FFF2-40B4-BE49-F238E27FC236}">
                  <a16:creationId xmlns:a16="http://schemas.microsoft.com/office/drawing/2014/main" id="{8B77795B-2B7C-4D29-AE1E-2A88A29BC7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8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53645" name="Group 107">
              <a:extLst>
                <a:ext uri="{FF2B5EF4-FFF2-40B4-BE49-F238E27FC236}">
                  <a16:creationId xmlns:a16="http://schemas.microsoft.com/office/drawing/2014/main" id="{BFF3710B-C339-4456-AE8C-5D1F0D449B3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53661" name="AutoShape 108">
                <a:extLst>
                  <a:ext uri="{FF2B5EF4-FFF2-40B4-BE49-F238E27FC236}">
                    <a16:creationId xmlns:a16="http://schemas.microsoft.com/office/drawing/2014/main" id="{C46B71A9-6D17-4A75-BF35-86BB98DA3A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76"/>
                <a:ext cx="725" cy="123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3662" name="AutoShape 109">
                <a:extLst>
                  <a:ext uri="{FF2B5EF4-FFF2-40B4-BE49-F238E27FC236}">
                    <a16:creationId xmlns:a16="http://schemas.microsoft.com/office/drawing/2014/main" id="{FF25510A-5A96-4578-8502-172700C1B2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8"/>
                <a:ext cx="691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3646" name="Freeform 110">
              <a:extLst>
                <a:ext uri="{FF2B5EF4-FFF2-40B4-BE49-F238E27FC236}">
                  <a16:creationId xmlns:a16="http://schemas.microsoft.com/office/drawing/2014/main" id="{E64580DC-02E6-49AD-B54F-484EF781390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3647" name="Group 111">
              <a:extLst>
                <a:ext uri="{FF2B5EF4-FFF2-40B4-BE49-F238E27FC236}">
                  <a16:creationId xmlns:a16="http://schemas.microsoft.com/office/drawing/2014/main" id="{2AF0C178-BC27-404A-84BA-36D58B227E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53659" name="AutoShape 112">
                <a:extLst>
                  <a:ext uri="{FF2B5EF4-FFF2-40B4-BE49-F238E27FC236}">
                    <a16:creationId xmlns:a16="http://schemas.microsoft.com/office/drawing/2014/main" id="{FC3B2D60-CEA5-49BD-BE20-F521DFF9EB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25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3660" name="AutoShape 113">
                <a:extLst>
                  <a:ext uri="{FF2B5EF4-FFF2-40B4-BE49-F238E27FC236}">
                    <a16:creationId xmlns:a16="http://schemas.microsoft.com/office/drawing/2014/main" id="{2802C196-12ED-4873-819D-A3E268618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1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3648" name="Rectangle 114">
              <a:extLst>
                <a:ext uri="{FF2B5EF4-FFF2-40B4-BE49-F238E27FC236}">
                  <a16:creationId xmlns:a16="http://schemas.microsoft.com/office/drawing/2014/main" id="{1D173639-A3CA-457F-BDFA-18BA51F336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49" name="Freeform 115">
              <a:extLst>
                <a:ext uri="{FF2B5EF4-FFF2-40B4-BE49-F238E27FC236}">
                  <a16:creationId xmlns:a16="http://schemas.microsoft.com/office/drawing/2014/main" id="{F1715ED1-8E3F-4191-B467-42DE02F9C4F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3650" name="Freeform 116">
              <a:extLst>
                <a:ext uri="{FF2B5EF4-FFF2-40B4-BE49-F238E27FC236}">
                  <a16:creationId xmlns:a16="http://schemas.microsoft.com/office/drawing/2014/main" id="{E4AE3ADD-B302-4331-A380-908B90132E8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3651" name="Oval 117">
              <a:extLst>
                <a:ext uri="{FF2B5EF4-FFF2-40B4-BE49-F238E27FC236}">
                  <a16:creationId xmlns:a16="http://schemas.microsoft.com/office/drawing/2014/main" id="{CB26F9D6-E746-4D4A-A4BF-0F10958165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3"/>
              <a:ext cx="49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52" name="Freeform 118">
              <a:extLst>
                <a:ext uri="{FF2B5EF4-FFF2-40B4-BE49-F238E27FC236}">
                  <a16:creationId xmlns:a16="http://schemas.microsoft.com/office/drawing/2014/main" id="{DA875409-1E5A-42E5-A6C1-DED0202385A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3653" name="AutoShape 119">
              <a:extLst>
                <a:ext uri="{FF2B5EF4-FFF2-40B4-BE49-F238E27FC236}">
                  <a16:creationId xmlns:a16="http://schemas.microsoft.com/office/drawing/2014/main" id="{0DEAF3C9-D25B-47F3-8BEF-A3C1AD29E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197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54" name="AutoShape 120">
              <a:extLst>
                <a:ext uri="{FF2B5EF4-FFF2-40B4-BE49-F238E27FC236}">
                  <a16:creationId xmlns:a16="http://schemas.microsoft.com/office/drawing/2014/main" id="{DB51AB1B-A192-4487-96DB-78F52CB926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" y="2710"/>
              <a:ext cx="1071" cy="85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55" name="Oval 121">
              <a:extLst>
                <a:ext uri="{FF2B5EF4-FFF2-40B4-BE49-F238E27FC236}">
                  <a16:creationId xmlns:a16="http://schemas.microsoft.com/office/drawing/2014/main" id="{D3406BFE-2F60-4C3A-ABDB-4442371260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8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56" name="Oval 122">
              <a:extLst>
                <a:ext uri="{FF2B5EF4-FFF2-40B4-BE49-F238E27FC236}">
                  <a16:creationId xmlns:a16="http://schemas.microsoft.com/office/drawing/2014/main" id="{1A85B771-4B15-47F9-BB41-B23E385E7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8" y="2382"/>
              <a:ext cx="158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3657" name="Oval 123">
              <a:extLst>
                <a:ext uri="{FF2B5EF4-FFF2-40B4-BE49-F238E27FC236}">
                  <a16:creationId xmlns:a16="http://schemas.microsoft.com/office/drawing/2014/main" id="{915ABF79-53FB-44E6-9A0A-05EE09DA86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2" y="2382"/>
              <a:ext cx="158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3658" name="Rectangle 124">
              <a:extLst>
                <a:ext uri="{FF2B5EF4-FFF2-40B4-BE49-F238E27FC236}">
                  <a16:creationId xmlns:a16="http://schemas.microsoft.com/office/drawing/2014/main" id="{65B698DA-AA08-4CCE-A791-9B48F8F614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5" y="1836"/>
              <a:ext cx="82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Footer Placeholder 5">
            <a:extLst>
              <a:ext uri="{FF2B5EF4-FFF2-40B4-BE49-F238E27FC236}">
                <a16:creationId xmlns:a16="http://schemas.microsoft.com/office/drawing/2014/main" id="{001660CB-9436-4442-BA56-CA8D5B50F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55651" name="Slide Number Placeholder 6">
            <a:extLst>
              <a:ext uri="{FF2B5EF4-FFF2-40B4-BE49-F238E27FC236}">
                <a16:creationId xmlns:a16="http://schemas.microsoft.com/office/drawing/2014/main" id="{71EDD55D-9B9F-4210-AB78-E36AE5B7D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4A471CEB-81DA-406F-A05D-B26AF1330F3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55652" name="Picture 80" descr="underline_base">
            <a:extLst>
              <a:ext uri="{FF2B5EF4-FFF2-40B4-BE49-F238E27FC236}">
                <a16:creationId xmlns:a16="http://schemas.microsoft.com/office/drawing/2014/main" id="{202C4250-2385-4530-9C39-DAFD25B2B65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779463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5653" name="Rectangle 3">
            <a:extLst>
              <a:ext uri="{FF2B5EF4-FFF2-40B4-BE49-F238E27FC236}">
                <a16:creationId xmlns:a16="http://schemas.microsoft.com/office/drawing/2014/main" id="{56C4C1CE-3299-4CB1-BD94-17DE835171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63" y="166688"/>
            <a:ext cx="5356225" cy="849312"/>
          </a:xfrm>
        </p:spPr>
        <p:txBody>
          <a:bodyPr/>
          <a:lstStyle/>
          <a:p>
            <a:r>
              <a:rPr lang="en-US" altLang="zh-TW" sz="3600"/>
              <a:t>TCP 3-way handshake</a:t>
            </a:r>
            <a:endParaRPr lang="en-US" altLang="zh-TW"/>
          </a:p>
        </p:txBody>
      </p:sp>
      <p:sp>
        <p:nvSpPr>
          <p:cNvPr id="155654" name="Line 5">
            <a:extLst>
              <a:ext uri="{FF2B5EF4-FFF2-40B4-BE49-F238E27FC236}">
                <a16:creationId xmlns:a16="http://schemas.microsoft.com/office/drawing/2014/main" id="{71566E74-4AFD-4789-B3B4-BAEAFE6F5A8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82950" y="2314575"/>
            <a:ext cx="1588" cy="2470150"/>
          </a:xfrm>
          <a:prstGeom prst="line">
            <a:avLst/>
          </a:prstGeom>
          <a:noFill/>
          <a:ln w="9525">
            <a:solidFill>
              <a:srgbClr val="77777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2" name="Group 102">
            <a:extLst>
              <a:ext uri="{FF2B5EF4-FFF2-40B4-BE49-F238E27FC236}">
                <a16:creationId xmlns:a16="http://schemas.microsoft.com/office/drawing/2014/main" id="{0CE10971-0002-4645-8AFB-045B23E662E2}"/>
              </a:ext>
            </a:extLst>
          </p:cNvPr>
          <p:cNvGrpSpPr>
            <a:grpSpLocks/>
          </p:cNvGrpSpPr>
          <p:nvPr/>
        </p:nvGrpSpPr>
        <p:grpSpPr bwMode="auto">
          <a:xfrm>
            <a:off x="1296988" y="2241550"/>
            <a:ext cx="4494212" cy="955675"/>
            <a:chOff x="810" y="1363"/>
            <a:chExt cx="2831" cy="602"/>
          </a:xfrm>
        </p:grpSpPr>
        <p:sp>
          <p:nvSpPr>
            <p:cNvPr id="155720" name="Line 10">
              <a:extLst>
                <a:ext uri="{FF2B5EF4-FFF2-40B4-BE49-F238E27FC236}">
                  <a16:creationId xmlns:a16="http://schemas.microsoft.com/office/drawing/2014/main" id="{A4DB760E-B337-416E-A7D0-8471131FA0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2" y="1502"/>
              <a:ext cx="1579" cy="463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5721" name="Rectangle 12">
              <a:extLst>
                <a:ext uri="{FF2B5EF4-FFF2-40B4-BE49-F238E27FC236}">
                  <a16:creationId xmlns:a16="http://schemas.microsoft.com/office/drawing/2014/main" id="{D175264A-A5B0-4888-9055-18020431E0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8" y="1565"/>
              <a:ext cx="590" cy="2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5722" name="Text Box 13">
              <a:extLst>
                <a:ext uri="{FF2B5EF4-FFF2-40B4-BE49-F238E27FC236}">
                  <a16:creationId xmlns:a16="http://schemas.microsoft.com/office/drawing/2014/main" id="{F21C3F62-5659-459F-BD0A-F49A66D40C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0" y="1624"/>
              <a:ext cx="109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70C0"/>
                  </a:solidFill>
                  <a:latin typeface="Tahoma" panose="020B0604030504040204" pitchFamily="34" charset="0"/>
                </a:rPr>
                <a:t>SYNbit=1</a:t>
              </a:r>
              <a:r>
                <a:rPr lang="en-US" altLang="zh-TW" sz="1600">
                  <a:latin typeface="Tahoma" panose="020B0604030504040204" pitchFamily="34" charset="0"/>
                </a:rPr>
                <a:t>, </a:t>
              </a:r>
              <a:r>
                <a:rPr lang="en-US" altLang="zh-TW" sz="1600">
                  <a:solidFill>
                    <a:srgbClr val="FF0000"/>
                  </a:solidFill>
                  <a:latin typeface="Tahoma" panose="020B0604030504040204" pitchFamily="34" charset="0"/>
                </a:rPr>
                <a:t>Seq=x</a:t>
              </a:r>
            </a:p>
          </p:txBody>
        </p:sp>
        <p:sp>
          <p:nvSpPr>
            <p:cNvPr id="155723" name="Text Box 21">
              <a:extLst>
                <a:ext uri="{FF2B5EF4-FFF2-40B4-BE49-F238E27FC236}">
                  <a16:creationId xmlns:a16="http://schemas.microsoft.com/office/drawing/2014/main" id="{B6F83628-5FD6-497D-AED7-C695323A7B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0" y="1363"/>
              <a:ext cx="123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choose </a:t>
              </a:r>
              <a:r>
                <a:rPr lang="en-US" altLang="zh-TW" sz="1400">
                  <a:solidFill>
                    <a:srgbClr val="FF0000"/>
                  </a:solidFill>
                  <a:latin typeface="Tahoma" panose="020B0604030504040204" pitchFamily="34" charset="0"/>
                </a:rPr>
                <a:t>init seq num, x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send TCP SYN msg</a:t>
              </a:r>
            </a:p>
          </p:txBody>
        </p:sp>
      </p:grpSp>
      <p:sp>
        <p:nvSpPr>
          <p:cNvPr id="155656" name="Line 22">
            <a:extLst>
              <a:ext uri="{FF2B5EF4-FFF2-40B4-BE49-F238E27FC236}">
                <a16:creationId xmlns:a16="http://schemas.microsoft.com/office/drawing/2014/main" id="{D16A65E1-AE78-4374-95A0-C351002132C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72163" y="2384425"/>
            <a:ext cx="1587" cy="3417888"/>
          </a:xfrm>
          <a:prstGeom prst="line">
            <a:avLst/>
          </a:prstGeom>
          <a:noFill/>
          <a:ln w="9525">
            <a:solidFill>
              <a:srgbClr val="77777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94332" name="Text Box 92">
            <a:extLst>
              <a:ext uri="{FF2B5EF4-FFF2-40B4-BE49-F238E27FC236}">
                <a16:creationId xmlns:a16="http://schemas.microsoft.com/office/drawing/2014/main" id="{D7C0EDD5-C407-46CF-9D13-AA7DB6C9B5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8150" y="5222875"/>
            <a:ext cx="7715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CC0000"/>
                </a:solidFill>
                <a:latin typeface="Tahoma" panose="020B0604030504040204" pitchFamily="34" charset="0"/>
              </a:rPr>
              <a:t>ESTAB</a:t>
            </a:r>
          </a:p>
        </p:txBody>
      </p:sp>
      <p:grpSp>
        <p:nvGrpSpPr>
          <p:cNvPr id="3" name="Group 109">
            <a:extLst>
              <a:ext uri="{FF2B5EF4-FFF2-40B4-BE49-F238E27FC236}">
                <a16:creationId xmlns:a16="http://schemas.microsoft.com/office/drawing/2014/main" id="{566BCFD5-C27B-4841-BF2F-0CE815588F2C}"/>
              </a:ext>
            </a:extLst>
          </p:cNvPr>
          <p:cNvGrpSpPr>
            <a:grpSpLocks/>
          </p:cNvGrpSpPr>
          <p:nvPr/>
        </p:nvGrpSpPr>
        <p:grpSpPr bwMode="auto">
          <a:xfrm>
            <a:off x="3281363" y="2911475"/>
            <a:ext cx="4519612" cy="1425575"/>
            <a:chOff x="2060" y="1785"/>
            <a:chExt cx="2847" cy="898"/>
          </a:xfrm>
        </p:grpSpPr>
        <p:sp>
          <p:nvSpPr>
            <p:cNvPr id="155716" name="Line 11">
              <a:extLst>
                <a:ext uri="{FF2B5EF4-FFF2-40B4-BE49-F238E27FC236}">
                  <a16:creationId xmlns:a16="http://schemas.microsoft.com/office/drawing/2014/main" id="{9C2C7022-572F-4DD1-B627-AF698AB165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60" y="2031"/>
              <a:ext cx="1580" cy="652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5717" name="Rectangle 14">
              <a:extLst>
                <a:ext uri="{FF2B5EF4-FFF2-40B4-BE49-F238E27FC236}">
                  <a16:creationId xmlns:a16="http://schemas.microsoft.com/office/drawing/2014/main" id="{D4BA145A-DFBF-4772-816C-C24FAA74A7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81" y="2206"/>
              <a:ext cx="896" cy="3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5718" name="Text Box 83">
              <a:extLst>
                <a:ext uri="{FF2B5EF4-FFF2-40B4-BE49-F238E27FC236}">
                  <a16:creationId xmlns:a16="http://schemas.microsoft.com/office/drawing/2014/main" id="{27D6E362-1C2F-475B-A395-F8243E131C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59" y="2169"/>
              <a:ext cx="1534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70C0"/>
                  </a:solidFill>
                  <a:latin typeface="Tahoma" panose="020B0604030504040204" pitchFamily="34" charset="0"/>
                </a:rPr>
                <a:t>SYNbit=1</a:t>
              </a:r>
              <a:r>
                <a:rPr lang="en-US" altLang="zh-TW" sz="1600">
                  <a:latin typeface="Tahoma" panose="020B0604030504040204" pitchFamily="34" charset="0"/>
                </a:rPr>
                <a:t>, </a:t>
              </a:r>
              <a:r>
                <a:rPr lang="en-US" altLang="zh-TW" sz="1600">
                  <a:solidFill>
                    <a:srgbClr val="7030A0"/>
                  </a:solidFill>
                  <a:latin typeface="Tahoma" panose="020B0604030504040204" pitchFamily="34" charset="0"/>
                </a:rPr>
                <a:t>Seq=y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ACKbit=1; ACKnum=x+1</a:t>
              </a:r>
            </a:p>
          </p:txBody>
        </p:sp>
        <p:sp>
          <p:nvSpPr>
            <p:cNvPr id="155719" name="Text Box 93">
              <a:extLst>
                <a:ext uri="{FF2B5EF4-FFF2-40B4-BE49-F238E27FC236}">
                  <a16:creationId xmlns:a16="http://schemas.microsoft.com/office/drawing/2014/main" id="{C55109DF-FE6C-43C9-9406-F98A6B9F61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76" y="1785"/>
              <a:ext cx="1231" cy="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choose </a:t>
              </a:r>
              <a:r>
                <a:rPr lang="en-US" altLang="zh-TW" sz="1400">
                  <a:solidFill>
                    <a:srgbClr val="7030A0"/>
                  </a:solidFill>
                  <a:latin typeface="Tahoma" panose="020B0604030504040204" pitchFamily="34" charset="0"/>
                </a:rPr>
                <a:t>init seq num, y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send TCP SYNACK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msg, acking SYN</a:t>
              </a:r>
            </a:p>
          </p:txBody>
        </p:sp>
      </p:grpSp>
      <p:grpSp>
        <p:nvGrpSpPr>
          <p:cNvPr id="4" name="Group 110">
            <a:extLst>
              <a:ext uri="{FF2B5EF4-FFF2-40B4-BE49-F238E27FC236}">
                <a16:creationId xmlns:a16="http://schemas.microsoft.com/office/drawing/2014/main" id="{77B5781E-8243-4288-AD3F-41F43A6417CA}"/>
              </a:ext>
            </a:extLst>
          </p:cNvPr>
          <p:cNvGrpSpPr>
            <a:grpSpLocks/>
          </p:cNvGrpSpPr>
          <p:nvPr/>
        </p:nvGrpSpPr>
        <p:grpSpPr bwMode="auto">
          <a:xfrm>
            <a:off x="998538" y="4010025"/>
            <a:ext cx="6630987" cy="1373188"/>
            <a:chOff x="622" y="2477"/>
            <a:chExt cx="4177" cy="865"/>
          </a:xfrm>
        </p:grpSpPr>
        <p:sp>
          <p:nvSpPr>
            <p:cNvPr id="155711" name="Line 84">
              <a:extLst>
                <a:ext uri="{FF2B5EF4-FFF2-40B4-BE49-F238E27FC236}">
                  <a16:creationId xmlns:a16="http://schemas.microsoft.com/office/drawing/2014/main" id="{FCD7970A-8071-4DF3-A589-B0C0CCE0F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3" y="2728"/>
              <a:ext cx="1579" cy="463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5712" name="Rectangle 89">
              <a:extLst>
                <a:ext uri="{FF2B5EF4-FFF2-40B4-BE49-F238E27FC236}">
                  <a16:creationId xmlns:a16="http://schemas.microsoft.com/office/drawing/2014/main" id="{CB194F2D-F8E7-4F61-A303-FBF313778C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86" y="2806"/>
              <a:ext cx="775" cy="2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5713" name="Text Box 90">
              <a:extLst>
                <a:ext uri="{FF2B5EF4-FFF2-40B4-BE49-F238E27FC236}">
                  <a16:creationId xmlns:a16="http://schemas.microsoft.com/office/drawing/2014/main" id="{02EB3DC7-BA4F-4366-A4E9-0544E85EF1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38" y="2759"/>
              <a:ext cx="1543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70C0"/>
                  </a:solidFill>
                  <a:latin typeface="Tahoma" panose="020B0604030504040204" pitchFamily="34" charset="0"/>
                </a:rPr>
                <a:t>SYNbit=0</a:t>
              </a:r>
              <a:r>
                <a:rPr lang="en-US" altLang="zh-TW" sz="1600">
                  <a:latin typeface="Tahoma" panose="020B0604030504040204" pitchFamily="34" charset="0"/>
                </a:rPr>
                <a:t>,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ACKbit=1, ACKnum=y+1</a:t>
              </a:r>
            </a:p>
          </p:txBody>
        </p:sp>
        <p:sp>
          <p:nvSpPr>
            <p:cNvPr id="155714" name="Text Box 94">
              <a:extLst>
                <a:ext uri="{FF2B5EF4-FFF2-40B4-BE49-F238E27FC236}">
                  <a16:creationId xmlns:a16="http://schemas.microsoft.com/office/drawing/2014/main" id="{301AB28D-F568-48AF-9723-6341DB2D32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" y="2477"/>
              <a:ext cx="1422" cy="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received SYNACK(x) 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indicates server is live;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send ACK for SYNACK;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this segment may contain 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client-to-server data</a:t>
              </a:r>
            </a:p>
          </p:txBody>
        </p:sp>
        <p:sp>
          <p:nvSpPr>
            <p:cNvPr id="155715" name="Text Box 95">
              <a:extLst>
                <a:ext uri="{FF2B5EF4-FFF2-40B4-BE49-F238E27FC236}">
                  <a16:creationId xmlns:a16="http://schemas.microsoft.com/office/drawing/2014/main" id="{DA95B0A1-6EA2-4355-8522-460317B02E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0" y="3042"/>
              <a:ext cx="1159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latin typeface="Tahoma" panose="020B0604030504040204" pitchFamily="34" charset="0"/>
                </a:rPr>
                <a:t>received ACK(y) 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latin typeface="Tahoma" panose="020B0604030504040204" pitchFamily="34" charset="0"/>
                </a:rPr>
                <a:t>indicates client is live</a:t>
              </a:r>
            </a:p>
          </p:txBody>
        </p:sp>
      </p:grpSp>
      <p:grpSp>
        <p:nvGrpSpPr>
          <p:cNvPr id="5" name="Group 105">
            <a:extLst>
              <a:ext uri="{FF2B5EF4-FFF2-40B4-BE49-F238E27FC236}">
                <a16:creationId xmlns:a16="http://schemas.microsoft.com/office/drawing/2014/main" id="{2AE15642-B05E-47BA-9497-CDA34B95D791}"/>
              </a:ext>
            </a:extLst>
          </p:cNvPr>
          <p:cNvGrpSpPr>
            <a:grpSpLocks/>
          </p:cNvGrpSpPr>
          <p:nvPr/>
        </p:nvGrpSpPr>
        <p:grpSpPr bwMode="auto">
          <a:xfrm>
            <a:off x="300038" y="2279650"/>
            <a:ext cx="1030287" cy="700088"/>
            <a:chOff x="182" y="1387"/>
            <a:chExt cx="649" cy="441"/>
          </a:xfrm>
        </p:grpSpPr>
        <p:sp>
          <p:nvSpPr>
            <p:cNvPr id="155709" name="Text Box 91">
              <a:extLst>
                <a:ext uri="{FF2B5EF4-FFF2-40B4-BE49-F238E27FC236}">
                  <a16:creationId xmlns:a16="http://schemas.microsoft.com/office/drawing/2014/main" id="{5EE07FE8-D7B1-406B-BB64-9D8BAE9E29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" y="1616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SYNSENT</a:t>
              </a:r>
            </a:p>
          </p:txBody>
        </p:sp>
        <p:sp>
          <p:nvSpPr>
            <p:cNvPr id="155710" name="Line 103">
              <a:extLst>
                <a:ext uri="{FF2B5EF4-FFF2-40B4-BE49-F238E27FC236}">
                  <a16:creationId xmlns:a16="http://schemas.microsoft.com/office/drawing/2014/main" id="{4533DCF6-DBE1-4A78-8FCE-EEDCECB1FE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2" y="1387"/>
              <a:ext cx="0" cy="27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6" name="Group 111">
            <a:extLst>
              <a:ext uri="{FF2B5EF4-FFF2-40B4-BE49-F238E27FC236}">
                <a16:creationId xmlns:a16="http://schemas.microsoft.com/office/drawing/2014/main" id="{E6926289-32DC-490F-BDE6-5EAD5FAF82A2}"/>
              </a:ext>
            </a:extLst>
          </p:cNvPr>
          <p:cNvGrpSpPr>
            <a:grpSpLocks/>
          </p:cNvGrpSpPr>
          <p:nvPr/>
        </p:nvGrpSpPr>
        <p:grpSpPr bwMode="auto">
          <a:xfrm>
            <a:off x="301625" y="2940050"/>
            <a:ext cx="771525" cy="1622425"/>
            <a:chOff x="183" y="1803"/>
            <a:chExt cx="486" cy="1022"/>
          </a:xfrm>
        </p:grpSpPr>
        <p:sp>
          <p:nvSpPr>
            <p:cNvPr id="155707" name="Text Box 16">
              <a:extLst>
                <a:ext uri="{FF2B5EF4-FFF2-40B4-BE49-F238E27FC236}">
                  <a16:creationId xmlns:a16="http://schemas.microsoft.com/office/drawing/2014/main" id="{48060EFC-AF3A-45B1-B1BC-B2EB0E2DBF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" y="2613"/>
              <a:ext cx="4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Tahoma" panose="020B0604030504040204" pitchFamily="34" charset="0"/>
                </a:rPr>
                <a:t>ESTAB</a:t>
              </a:r>
            </a:p>
          </p:txBody>
        </p:sp>
        <p:sp>
          <p:nvSpPr>
            <p:cNvPr id="155708" name="Line 104">
              <a:extLst>
                <a:ext uri="{FF2B5EF4-FFF2-40B4-BE49-F238E27FC236}">
                  <a16:creationId xmlns:a16="http://schemas.microsoft.com/office/drawing/2014/main" id="{EA3E0B6D-38AB-489C-959E-3514B7C0A3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" y="1803"/>
              <a:ext cx="0" cy="7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7" name="Group 108">
            <a:extLst>
              <a:ext uri="{FF2B5EF4-FFF2-40B4-BE49-F238E27FC236}">
                <a16:creationId xmlns:a16="http://schemas.microsoft.com/office/drawing/2014/main" id="{308002CD-C649-4BCB-A760-0FBDC8C8ADA7}"/>
              </a:ext>
            </a:extLst>
          </p:cNvPr>
          <p:cNvGrpSpPr>
            <a:grpSpLocks/>
          </p:cNvGrpSpPr>
          <p:nvPr/>
        </p:nvGrpSpPr>
        <p:grpSpPr bwMode="auto">
          <a:xfrm>
            <a:off x="7754938" y="2335213"/>
            <a:ext cx="1119187" cy="1192212"/>
            <a:chOff x="4878" y="1422"/>
            <a:chExt cx="705" cy="751"/>
          </a:xfrm>
        </p:grpSpPr>
        <p:sp>
          <p:nvSpPr>
            <p:cNvPr id="155705" name="Text Box 99">
              <a:extLst>
                <a:ext uri="{FF2B5EF4-FFF2-40B4-BE49-F238E27FC236}">
                  <a16:creationId xmlns:a16="http://schemas.microsoft.com/office/drawing/2014/main" id="{B6FE38CA-7257-46F1-BE10-6BB434F4FD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78" y="1961"/>
              <a:ext cx="70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SYN RCVD</a:t>
              </a:r>
            </a:p>
          </p:txBody>
        </p:sp>
        <p:sp>
          <p:nvSpPr>
            <p:cNvPr id="155706" name="Line 106">
              <a:extLst>
                <a:ext uri="{FF2B5EF4-FFF2-40B4-BE49-F238E27FC236}">
                  <a16:creationId xmlns:a16="http://schemas.microsoft.com/office/drawing/2014/main" id="{BAD87810-8F35-4DF2-A725-7F94E5C73D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39" y="1422"/>
              <a:ext cx="0" cy="56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394347" name="Line 107">
            <a:extLst>
              <a:ext uri="{FF2B5EF4-FFF2-40B4-BE49-F238E27FC236}">
                <a16:creationId xmlns:a16="http://schemas.microsoft.com/office/drawing/2014/main" id="{C91F6D27-300D-4554-ABA2-E1ED46461222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9313" y="3536950"/>
            <a:ext cx="0" cy="17049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155664" name="Group 113">
            <a:extLst>
              <a:ext uri="{FF2B5EF4-FFF2-40B4-BE49-F238E27FC236}">
                <a16:creationId xmlns:a16="http://schemas.microsoft.com/office/drawing/2014/main" id="{63C2239C-6508-4A4A-95AC-92512B565211}"/>
              </a:ext>
            </a:extLst>
          </p:cNvPr>
          <p:cNvGrpSpPr>
            <a:grpSpLocks/>
          </p:cNvGrpSpPr>
          <p:nvPr/>
        </p:nvGrpSpPr>
        <p:grpSpPr bwMode="auto">
          <a:xfrm>
            <a:off x="306388" y="1590675"/>
            <a:ext cx="8551862" cy="736600"/>
            <a:chOff x="193" y="1002"/>
            <a:chExt cx="5387" cy="464"/>
          </a:xfrm>
        </p:grpSpPr>
        <p:sp>
          <p:nvSpPr>
            <p:cNvPr id="155665" name="Text Box 114">
              <a:extLst>
                <a:ext uri="{FF2B5EF4-FFF2-40B4-BE49-F238E27FC236}">
                  <a16:creationId xmlns:a16="http://schemas.microsoft.com/office/drawing/2014/main" id="{FD865C50-8BAD-4688-92F2-C03115927C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5" y="1002"/>
              <a:ext cx="731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solidFill>
                    <a:srgbClr val="000099"/>
                  </a:solidFill>
                  <a:latin typeface="Tahoma" panose="020B0604030504040204" pitchFamily="34" charset="0"/>
                </a:rPr>
                <a:t>client state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600" i="1">
                <a:solidFill>
                  <a:srgbClr val="000099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55666" name="Text Box 115">
              <a:extLst>
                <a:ext uri="{FF2B5EF4-FFF2-40B4-BE49-F238E27FC236}">
                  <a16:creationId xmlns:a16="http://schemas.microsoft.com/office/drawing/2014/main" id="{9F8A592E-605E-4FD5-98D8-DC69DFEAA1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3" y="1243"/>
              <a:ext cx="53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LISTEN</a:t>
              </a:r>
            </a:p>
          </p:txBody>
        </p:sp>
        <p:sp>
          <p:nvSpPr>
            <p:cNvPr id="155667" name="Text Box 116">
              <a:extLst>
                <a:ext uri="{FF2B5EF4-FFF2-40B4-BE49-F238E27FC236}">
                  <a16:creationId xmlns:a16="http://schemas.microsoft.com/office/drawing/2014/main" id="{AACA8359-3E33-4AFB-8EF3-BD7A3D42B8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00" y="1013"/>
              <a:ext cx="780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solidFill>
                    <a:srgbClr val="000099"/>
                  </a:solidFill>
                  <a:latin typeface="Tahoma" panose="020B0604030504040204" pitchFamily="34" charset="0"/>
                </a:rPr>
                <a:t>server state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600" i="1">
                <a:solidFill>
                  <a:srgbClr val="000099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55668" name="Text Box 117">
              <a:extLst>
                <a:ext uri="{FF2B5EF4-FFF2-40B4-BE49-F238E27FC236}">
                  <a16:creationId xmlns:a16="http://schemas.microsoft.com/office/drawing/2014/main" id="{A5F3D81F-0C1D-45B8-A3A6-8FDAD67F87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8" y="1254"/>
              <a:ext cx="53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LISTEN</a:t>
              </a:r>
            </a:p>
          </p:txBody>
        </p:sp>
        <p:grpSp>
          <p:nvGrpSpPr>
            <p:cNvPr id="155669" name="Group 118">
              <a:extLst>
                <a:ext uri="{FF2B5EF4-FFF2-40B4-BE49-F238E27FC236}">
                  <a16:creationId xmlns:a16="http://schemas.microsoft.com/office/drawing/2014/main" id="{EB846DD7-9E9F-4F4B-920C-AE15C9070B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14" y="1049"/>
              <a:ext cx="405" cy="378"/>
              <a:chOff x="-44" y="1473"/>
              <a:chExt cx="981" cy="1105"/>
            </a:xfrm>
          </p:grpSpPr>
          <p:pic>
            <p:nvPicPr>
              <p:cNvPr id="155703" name="Picture 119" descr="desktop_computer_stylized_medium">
                <a:extLst>
                  <a:ext uri="{FF2B5EF4-FFF2-40B4-BE49-F238E27FC236}">
                    <a16:creationId xmlns:a16="http://schemas.microsoft.com/office/drawing/2014/main" id="{669B27F4-2530-49EA-AA81-24DEB93A4BC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704" name="Freeform 120">
                <a:extLst>
                  <a:ext uri="{FF2B5EF4-FFF2-40B4-BE49-F238E27FC236}">
                    <a16:creationId xmlns:a16="http://schemas.microsoft.com/office/drawing/2014/main" id="{AE357226-1F3E-482C-923D-3107A173CCA2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36298130 w 356"/>
                  <a:gd name="T3" fmla="*/ 4810829 h 368"/>
                  <a:gd name="T4" fmla="*/ 43059907 w 356"/>
                  <a:gd name="T5" fmla="*/ 100260457 h 368"/>
                  <a:gd name="T6" fmla="*/ 9489792 w 356"/>
                  <a:gd name="T7" fmla="*/ 125386632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55670" name="Group 121">
              <a:extLst>
                <a:ext uri="{FF2B5EF4-FFF2-40B4-BE49-F238E27FC236}">
                  <a16:creationId xmlns:a16="http://schemas.microsoft.com/office/drawing/2014/main" id="{5C6AA44C-727B-4EDF-926E-C28D747B3A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72" y="1051"/>
              <a:ext cx="212" cy="323"/>
              <a:chOff x="4140" y="429"/>
              <a:chExt cx="1425" cy="2396"/>
            </a:xfrm>
          </p:grpSpPr>
          <p:sp>
            <p:nvSpPr>
              <p:cNvPr id="155671" name="Freeform 122">
                <a:extLst>
                  <a:ext uri="{FF2B5EF4-FFF2-40B4-BE49-F238E27FC236}">
                    <a16:creationId xmlns:a16="http://schemas.microsoft.com/office/drawing/2014/main" id="{9AEFF2AA-BB48-4709-9D00-D21419AE99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2 w 354"/>
                  <a:gd name="T3" fmla="*/ 3 h 2742"/>
                  <a:gd name="T4" fmla="*/ 2 w 354"/>
                  <a:gd name="T5" fmla="*/ 3 h 2742"/>
                  <a:gd name="T6" fmla="*/ 0 w 354"/>
                  <a:gd name="T7" fmla="*/ 3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72" name="Rectangle 123">
                <a:extLst>
                  <a:ext uri="{FF2B5EF4-FFF2-40B4-BE49-F238E27FC236}">
                    <a16:creationId xmlns:a16="http://schemas.microsoft.com/office/drawing/2014/main" id="{393EBD0E-4CBB-4D4F-9B86-E707657CEF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7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5673" name="Freeform 124">
                <a:extLst>
                  <a:ext uri="{FF2B5EF4-FFF2-40B4-BE49-F238E27FC236}">
                    <a16:creationId xmlns:a16="http://schemas.microsoft.com/office/drawing/2014/main" id="{62446E30-AEC9-4566-B4D8-19E23FC58F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3 h 2537"/>
                  <a:gd name="T4" fmla="*/ 2 w 211"/>
                  <a:gd name="T5" fmla="*/ 3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74" name="Freeform 125">
                <a:extLst>
                  <a:ext uri="{FF2B5EF4-FFF2-40B4-BE49-F238E27FC236}">
                    <a16:creationId xmlns:a16="http://schemas.microsoft.com/office/drawing/2014/main" id="{E3D58C3A-3A46-4B16-8F57-A143B9C12F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3 h 226"/>
                  <a:gd name="T4" fmla="*/ 2 w 328"/>
                  <a:gd name="T5" fmla="*/ 3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75" name="Rectangle 126">
                <a:extLst>
                  <a:ext uri="{FF2B5EF4-FFF2-40B4-BE49-F238E27FC236}">
                    <a16:creationId xmlns:a16="http://schemas.microsoft.com/office/drawing/2014/main" id="{BB84ECE6-A123-4795-9F8F-9F4728362A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6"/>
                <a:ext cx="592" cy="45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155676" name="Group 127">
                <a:extLst>
                  <a:ext uri="{FF2B5EF4-FFF2-40B4-BE49-F238E27FC236}">
                    <a16:creationId xmlns:a16="http://schemas.microsoft.com/office/drawing/2014/main" id="{2910D495-F97E-4D90-AB6B-190DBDD21AA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55701" name="AutoShape 128">
                  <a:extLst>
                    <a:ext uri="{FF2B5EF4-FFF2-40B4-BE49-F238E27FC236}">
                      <a16:creationId xmlns:a16="http://schemas.microsoft.com/office/drawing/2014/main" id="{83D8BB27-4F41-4581-BA75-28739EE6A9B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6"/>
                  <a:ext cx="721" cy="142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702" name="AutoShape 129">
                  <a:extLst>
                    <a:ext uri="{FF2B5EF4-FFF2-40B4-BE49-F238E27FC236}">
                      <a16:creationId xmlns:a16="http://schemas.microsoft.com/office/drawing/2014/main" id="{79F8E8B4-1558-4748-8F74-FD98E94C33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1"/>
                  <a:ext cx="688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55677" name="Rectangle 130">
                <a:extLst>
                  <a:ext uri="{FF2B5EF4-FFF2-40B4-BE49-F238E27FC236}">
                    <a16:creationId xmlns:a16="http://schemas.microsoft.com/office/drawing/2014/main" id="{2F7421D6-FFB8-4383-B58B-98BCB1858B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1" y="1022"/>
                <a:ext cx="598" cy="45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155678" name="Group 131">
                <a:extLst>
                  <a:ext uri="{FF2B5EF4-FFF2-40B4-BE49-F238E27FC236}">
                    <a16:creationId xmlns:a16="http://schemas.microsoft.com/office/drawing/2014/main" id="{D5D4AF5C-C08D-44E7-B3A0-B55552C4DA2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55699" name="AutoShape 132">
                  <a:extLst>
                    <a:ext uri="{FF2B5EF4-FFF2-40B4-BE49-F238E27FC236}">
                      <a16:creationId xmlns:a16="http://schemas.microsoft.com/office/drawing/2014/main" id="{D12CC902-3F98-43A3-9AE8-F9E5EF2CE2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7"/>
                  <a:ext cx="730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700" name="AutoShape 133">
                  <a:extLst>
                    <a:ext uri="{FF2B5EF4-FFF2-40B4-BE49-F238E27FC236}">
                      <a16:creationId xmlns:a16="http://schemas.microsoft.com/office/drawing/2014/main" id="{DA4A48D4-5CB0-40D8-B0C7-F11FEE8A32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2"/>
                  <a:ext cx="696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55679" name="Rectangle 134">
                <a:extLst>
                  <a:ext uri="{FF2B5EF4-FFF2-40B4-BE49-F238E27FC236}">
                    <a16:creationId xmlns:a16="http://schemas.microsoft.com/office/drawing/2014/main" id="{1453B801-F1DB-45E0-B3CD-50CCF099B1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1356"/>
                <a:ext cx="598" cy="45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5680" name="Rectangle 135">
                <a:extLst>
                  <a:ext uri="{FF2B5EF4-FFF2-40B4-BE49-F238E27FC236}">
                    <a16:creationId xmlns:a16="http://schemas.microsoft.com/office/drawing/2014/main" id="{655A5979-2842-40DC-8639-09292B1B1B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7" y="1653"/>
                <a:ext cx="598" cy="52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grpSp>
            <p:nvGrpSpPr>
              <p:cNvPr id="155681" name="Group 136">
                <a:extLst>
                  <a:ext uri="{FF2B5EF4-FFF2-40B4-BE49-F238E27FC236}">
                    <a16:creationId xmlns:a16="http://schemas.microsoft.com/office/drawing/2014/main" id="{1D2F92D6-C39A-4AA5-979F-7EE0E7EF89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55697" name="AutoShape 137">
                  <a:extLst>
                    <a:ext uri="{FF2B5EF4-FFF2-40B4-BE49-F238E27FC236}">
                      <a16:creationId xmlns:a16="http://schemas.microsoft.com/office/drawing/2014/main" id="{C09E8123-5686-485F-8509-54B27606635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71"/>
                  <a:ext cx="720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698" name="AutoShape 138">
                  <a:extLst>
                    <a:ext uri="{FF2B5EF4-FFF2-40B4-BE49-F238E27FC236}">
                      <a16:creationId xmlns:a16="http://schemas.microsoft.com/office/drawing/2014/main" id="{94FD48F2-160E-40DF-B864-9BBDE18123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5" y="2585"/>
                  <a:ext cx="687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55682" name="Freeform 139">
                <a:extLst>
                  <a:ext uri="{FF2B5EF4-FFF2-40B4-BE49-F238E27FC236}">
                    <a16:creationId xmlns:a16="http://schemas.microsoft.com/office/drawing/2014/main" id="{506BA166-8A07-423E-9B59-905794F6E7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 w 328"/>
                  <a:gd name="T3" fmla="*/ 2 h 226"/>
                  <a:gd name="T4" fmla="*/ 2 w 328"/>
                  <a:gd name="T5" fmla="*/ 2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5683" name="Group 140">
                <a:extLst>
                  <a:ext uri="{FF2B5EF4-FFF2-40B4-BE49-F238E27FC236}">
                    <a16:creationId xmlns:a16="http://schemas.microsoft.com/office/drawing/2014/main" id="{C0C89D7D-46F0-4384-8B16-918672B4EB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55695" name="AutoShape 141">
                  <a:extLst>
                    <a:ext uri="{FF2B5EF4-FFF2-40B4-BE49-F238E27FC236}">
                      <a16:creationId xmlns:a16="http://schemas.microsoft.com/office/drawing/2014/main" id="{C44DDC6E-CD56-4A73-80B9-C60745B8AE3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8"/>
                  <a:ext cx="728" cy="141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696" name="AutoShape 142">
                  <a:extLst>
                    <a:ext uri="{FF2B5EF4-FFF2-40B4-BE49-F238E27FC236}">
                      <a16:creationId xmlns:a16="http://schemas.microsoft.com/office/drawing/2014/main" id="{DB51F907-5E31-4767-9883-7390E6E8D6B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2"/>
                  <a:ext cx="695" cy="111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55684" name="Rectangle 143">
                <a:extLst>
                  <a:ext uri="{FF2B5EF4-FFF2-40B4-BE49-F238E27FC236}">
                    <a16:creationId xmlns:a16="http://schemas.microsoft.com/office/drawing/2014/main" id="{D68CC13F-EEBA-44B4-B84D-DD1A66957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9" y="429"/>
                <a:ext cx="67" cy="2292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5685" name="Freeform 144">
                <a:extLst>
                  <a:ext uri="{FF2B5EF4-FFF2-40B4-BE49-F238E27FC236}">
                    <a16:creationId xmlns:a16="http://schemas.microsoft.com/office/drawing/2014/main" id="{1FD10A93-087A-45AD-A137-51664B0698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 w 296"/>
                  <a:gd name="T3" fmla="*/ 2 h 256"/>
                  <a:gd name="T4" fmla="*/ 2 w 296"/>
                  <a:gd name="T5" fmla="*/ 2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86" name="Freeform 145">
                <a:extLst>
                  <a:ext uri="{FF2B5EF4-FFF2-40B4-BE49-F238E27FC236}">
                    <a16:creationId xmlns:a16="http://schemas.microsoft.com/office/drawing/2014/main" id="{07F2E75F-6453-498C-BE85-D8CC06476C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 w 304"/>
                  <a:gd name="T3" fmla="*/ 2 h 288"/>
                  <a:gd name="T4" fmla="*/ 2 w 304"/>
                  <a:gd name="T5" fmla="*/ 2 h 288"/>
                  <a:gd name="T6" fmla="*/ 2 w 304"/>
                  <a:gd name="T7" fmla="*/ 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87" name="Oval 146">
                <a:extLst>
                  <a:ext uri="{FF2B5EF4-FFF2-40B4-BE49-F238E27FC236}">
                    <a16:creationId xmlns:a16="http://schemas.microsoft.com/office/drawing/2014/main" id="{4DB903BC-23FE-4B96-A155-BFBA05E449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8" y="2610"/>
                <a:ext cx="47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5688" name="Freeform 147">
                <a:extLst>
                  <a:ext uri="{FF2B5EF4-FFF2-40B4-BE49-F238E27FC236}">
                    <a16:creationId xmlns:a16="http://schemas.microsoft.com/office/drawing/2014/main" id="{A6BAD983-A762-4269-8365-F7E78CA10A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3 h 240"/>
                  <a:gd name="T4" fmla="*/ 2 w 306"/>
                  <a:gd name="T5" fmla="*/ 3 h 240"/>
                  <a:gd name="T6" fmla="*/ 2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89" name="AutoShape 148">
                <a:extLst>
                  <a:ext uri="{FF2B5EF4-FFF2-40B4-BE49-F238E27FC236}">
                    <a16:creationId xmlns:a16="http://schemas.microsoft.com/office/drawing/2014/main" id="{702D284C-D906-4948-9D00-015354B154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7"/>
                <a:ext cx="1196" cy="148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5690" name="AutoShape 149">
                <a:extLst>
                  <a:ext uri="{FF2B5EF4-FFF2-40B4-BE49-F238E27FC236}">
                    <a16:creationId xmlns:a16="http://schemas.microsoft.com/office/drawing/2014/main" id="{3B94B0C6-981F-48E1-917D-29F8C6930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7" y="2714"/>
                <a:ext cx="1069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5691" name="Oval 150">
                <a:extLst>
                  <a:ext uri="{FF2B5EF4-FFF2-40B4-BE49-F238E27FC236}">
                    <a16:creationId xmlns:a16="http://schemas.microsoft.com/office/drawing/2014/main" id="{78432E1E-FC37-417D-8FF1-9DC256CD6A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8" y="2380"/>
                <a:ext cx="155" cy="14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5692" name="Oval 151">
                <a:extLst>
                  <a:ext uri="{FF2B5EF4-FFF2-40B4-BE49-F238E27FC236}">
                    <a16:creationId xmlns:a16="http://schemas.microsoft.com/office/drawing/2014/main" id="{FE35746D-6C38-430A-A60C-5A2F40C396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3" y="2387"/>
                <a:ext cx="161" cy="141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693" name="Oval 152">
                <a:extLst>
                  <a:ext uri="{FF2B5EF4-FFF2-40B4-BE49-F238E27FC236}">
                    <a16:creationId xmlns:a16="http://schemas.microsoft.com/office/drawing/2014/main" id="{57E6BDD4-38A3-4996-A2F3-E87A5903FD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5" cy="141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5694" name="Rectangle 153">
                <a:extLst>
                  <a:ext uri="{FF2B5EF4-FFF2-40B4-BE49-F238E27FC236}">
                    <a16:creationId xmlns:a16="http://schemas.microsoft.com/office/drawing/2014/main" id="{F6A46BD5-60B6-4E94-9A91-09671511A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1" y="1838"/>
                <a:ext cx="87" cy="757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394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94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433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Footer Placeholder 5">
            <a:extLst>
              <a:ext uri="{FF2B5EF4-FFF2-40B4-BE49-F238E27FC236}">
                <a16:creationId xmlns:a16="http://schemas.microsoft.com/office/drawing/2014/main" id="{2B4CFCFE-B336-4345-AD09-25CC7F5A0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57699" name="Slide Number Placeholder 6">
            <a:extLst>
              <a:ext uri="{FF2B5EF4-FFF2-40B4-BE49-F238E27FC236}">
                <a16:creationId xmlns:a16="http://schemas.microsoft.com/office/drawing/2014/main" id="{A04A33D0-71B1-400F-834D-E9F44A0F7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FCBDCDC2-CB24-4120-9A66-86CDE0A4D5F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57700" name="Rectangle 3">
            <a:extLst>
              <a:ext uri="{FF2B5EF4-FFF2-40B4-BE49-F238E27FC236}">
                <a16:creationId xmlns:a16="http://schemas.microsoft.com/office/drawing/2014/main" id="{CDC99526-C63D-4DAE-A051-A64D0A0ABA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63" y="166688"/>
            <a:ext cx="5356225" cy="849312"/>
          </a:xfrm>
        </p:spPr>
        <p:txBody>
          <a:bodyPr/>
          <a:lstStyle/>
          <a:p>
            <a:r>
              <a:rPr lang="en-US" altLang="zh-TW" sz="3600"/>
              <a:t>TCP 3-way handshake: FSM</a:t>
            </a:r>
            <a:endParaRPr lang="en-US" altLang="zh-TW"/>
          </a:p>
        </p:txBody>
      </p:sp>
      <p:pic>
        <p:nvPicPr>
          <p:cNvPr id="157701" name="Picture 40" descr="underline_base">
            <a:extLst>
              <a:ext uri="{FF2B5EF4-FFF2-40B4-BE49-F238E27FC236}">
                <a16:creationId xmlns:a16="http://schemas.microsoft.com/office/drawing/2014/main" id="{F64965C3-6EB5-4320-B782-C5CD9E94DB9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827088"/>
            <a:ext cx="5942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7702" name="Group 47">
            <a:extLst>
              <a:ext uri="{FF2B5EF4-FFF2-40B4-BE49-F238E27FC236}">
                <a16:creationId xmlns:a16="http://schemas.microsoft.com/office/drawing/2014/main" id="{8F1A9595-0480-4115-AB3C-F9AC804F6C27}"/>
              </a:ext>
            </a:extLst>
          </p:cNvPr>
          <p:cNvGrpSpPr>
            <a:grpSpLocks/>
          </p:cNvGrpSpPr>
          <p:nvPr/>
        </p:nvGrpSpPr>
        <p:grpSpPr bwMode="auto">
          <a:xfrm>
            <a:off x="3690938" y="1246188"/>
            <a:ext cx="876300" cy="827087"/>
            <a:chOff x="1778" y="1720"/>
            <a:chExt cx="722" cy="642"/>
          </a:xfrm>
        </p:grpSpPr>
        <p:sp>
          <p:nvSpPr>
            <p:cNvPr id="157740" name="Oval 41">
              <a:extLst>
                <a:ext uri="{FF2B5EF4-FFF2-40B4-BE49-F238E27FC236}">
                  <a16:creationId xmlns:a16="http://schemas.microsoft.com/office/drawing/2014/main" id="{3FDF547F-BCD8-4DA1-8CE9-DA780B3E44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5" y="1720"/>
              <a:ext cx="675" cy="612"/>
            </a:xfrm>
            <a:prstGeom prst="ellipse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7741" name="Oval 42">
              <a:extLst>
                <a:ext uri="{FF2B5EF4-FFF2-40B4-BE49-F238E27FC236}">
                  <a16:creationId xmlns:a16="http://schemas.microsoft.com/office/drawing/2014/main" id="{74C5B95D-EC48-4556-BD59-F11BAF9914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8" y="1750"/>
              <a:ext cx="675" cy="61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57703" name="Text Box 43">
            <a:extLst>
              <a:ext uri="{FF2B5EF4-FFF2-40B4-BE49-F238E27FC236}">
                <a16:creationId xmlns:a16="http://schemas.microsoft.com/office/drawing/2014/main" id="{93BB7EF1-66E3-4F87-9BDD-B0526989C7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6175" y="1466850"/>
            <a:ext cx="844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closed</a:t>
            </a:r>
          </a:p>
        </p:txBody>
      </p:sp>
      <p:sp>
        <p:nvSpPr>
          <p:cNvPr id="157704" name="Text Box 46">
            <a:extLst>
              <a:ext uri="{FF2B5EF4-FFF2-40B4-BE49-F238E27FC236}">
                <a16:creationId xmlns:a16="http://schemas.microsoft.com/office/drawing/2014/main" id="{8D7031D7-97A0-4D1F-8131-A022C29F3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97275" y="2498725"/>
            <a:ext cx="3413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Symbol" panose="05050102010706020507" pitchFamily="18" charset="2"/>
              </a:rPr>
              <a:t>L</a:t>
            </a:r>
          </a:p>
        </p:txBody>
      </p:sp>
      <p:grpSp>
        <p:nvGrpSpPr>
          <p:cNvPr id="157705" name="Group 48">
            <a:extLst>
              <a:ext uri="{FF2B5EF4-FFF2-40B4-BE49-F238E27FC236}">
                <a16:creationId xmlns:a16="http://schemas.microsoft.com/office/drawing/2014/main" id="{0C7E5289-D945-45BE-9542-91D9E5BA7A50}"/>
              </a:ext>
            </a:extLst>
          </p:cNvPr>
          <p:cNvGrpSpPr>
            <a:grpSpLocks/>
          </p:cNvGrpSpPr>
          <p:nvPr/>
        </p:nvGrpSpPr>
        <p:grpSpPr bwMode="auto">
          <a:xfrm>
            <a:off x="3652838" y="3175000"/>
            <a:ext cx="876300" cy="827088"/>
            <a:chOff x="1778" y="1720"/>
            <a:chExt cx="722" cy="642"/>
          </a:xfrm>
        </p:grpSpPr>
        <p:sp>
          <p:nvSpPr>
            <p:cNvPr id="157738" name="Oval 49">
              <a:extLst>
                <a:ext uri="{FF2B5EF4-FFF2-40B4-BE49-F238E27FC236}">
                  <a16:creationId xmlns:a16="http://schemas.microsoft.com/office/drawing/2014/main" id="{F222DD25-B8A0-4CB5-97E6-2945E8AC1F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5" y="1720"/>
              <a:ext cx="675" cy="612"/>
            </a:xfrm>
            <a:prstGeom prst="ellipse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7739" name="Oval 50">
              <a:extLst>
                <a:ext uri="{FF2B5EF4-FFF2-40B4-BE49-F238E27FC236}">
                  <a16:creationId xmlns:a16="http://schemas.microsoft.com/office/drawing/2014/main" id="{4F3A0274-4DA4-46C8-8031-13987463D9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8" y="1750"/>
              <a:ext cx="675" cy="61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57706" name="Text Box 51">
            <a:extLst>
              <a:ext uri="{FF2B5EF4-FFF2-40B4-BE49-F238E27FC236}">
                <a16:creationId xmlns:a16="http://schemas.microsoft.com/office/drawing/2014/main" id="{01AB9A86-B568-42F1-AC48-C64070FE1C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3395663"/>
            <a:ext cx="717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listen</a:t>
            </a:r>
          </a:p>
        </p:txBody>
      </p:sp>
      <p:grpSp>
        <p:nvGrpSpPr>
          <p:cNvPr id="157707" name="Group 52">
            <a:extLst>
              <a:ext uri="{FF2B5EF4-FFF2-40B4-BE49-F238E27FC236}">
                <a16:creationId xmlns:a16="http://schemas.microsoft.com/office/drawing/2014/main" id="{E738FB65-F666-4206-8EF1-68033FD763C1}"/>
              </a:ext>
            </a:extLst>
          </p:cNvPr>
          <p:cNvGrpSpPr>
            <a:grpSpLocks/>
          </p:cNvGrpSpPr>
          <p:nvPr/>
        </p:nvGrpSpPr>
        <p:grpSpPr bwMode="auto">
          <a:xfrm>
            <a:off x="1643063" y="4227513"/>
            <a:ext cx="876300" cy="827087"/>
            <a:chOff x="1778" y="1720"/>
            <a:chExt cx="722" cy="642"/>
          </a:xfrm>
        </p:grpSpPr>
        <p:sp>
          <p:nvSpPr>
            <p:cNvPr id="157736" name="Oval 53">
              <a:extLst>
                <a:ext uri="{FF2B5EF4-FFF2-40B4-BE49-F238E27FC236}">
                  <a16:creationId xmlns:a16="http://schemas.microsoft.com/office/drawing/2014/main" id="{8138F353-0B35-499B-B805-CD8E65FF1B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5" y="1720"/>
              <a:ext cx="675" cy="612"/>
            </a:xfrm>
            <a:prstGeom prst="ellipse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7737" name="Oval 54">
              <a:extLst>
                <a:ext uri="{FF2B5EF4-FFF2-40B4-BE49-F238E27FC236}">
                  <a16:creationId xmlns:a16="http://schemas.microsoft.com/office/drawing/2014/main" id="{04364B7C-1D15-4656-9AD0-37AF43CCC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8" y="1750"/>
              <a:ext cx="675" cy="61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57708" name="Text Box 55">
            <a:extLst>
              <a:ext uri="{FF2B5EF4-FFF2-40B4-BE49-F238E27FC236}">
                <a16:creationId xmlns:a16="http://schemas.microsoft.com/office/drawing/2014/main" id="{A8A71B1A-C452-460D-BF6C-A6B00EA74C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550" y="4425950"/>
            <a:ext cx="654050" cy="53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SYN</a:t>
            </a:r>
          </a:p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rcvd</a:t>
            </a:r>
          </a:p>
        </p:txBody>
      </p:sp>
      <p:grpSp>
        <p:nvGrpSpPr>
          <p:cNvPr id="157709" name="Group 56">
            <a:extLst>
              <a:ext uri="{FF2B5EF4-FFF2-40B4-BE49-F238E27FC236}">
                <a16:creationId xmlns:a16="http://schemas.microsoft.com/office/drawing/2014/main" id="{B4BC0221-8A5B-4A61-B843-11441D7FB5AE}"/>
              </a:ext>
            </a:extLst>
          </p:cNvPr>
          <p:cNvGrpSpPr>
            <a:grpSpLocks/>
          </p:cNvGrpSpPr>
          <p:nvPr/>
        </p:nvGrpSpPr>
        <p:grpSpPr bwMode="auto">
          <a:xfrm>
            <a:off x="5119688" y="4189413"/>
            <a:ext cx="876300" cy="827087"/>
            <a:chOff x="1778" y="1720"/>
            <a:chExt cx="722" cy="642"/>
          </a:xfrm>
        </p:grpSpPr>
        <p:sp>
          <p:nvSpPr>
            <p:cNvPr id="157734" name="Oval 57">
              <a:extLst>
                <a:ext uri="{FF2B5EF4-FFF2-40B4-BE49-F238E27FC236}">
                  <a16:creationId xmlns:a16="http://schemas.microsoft.com/office/drawing/2014/main" id="{1A563BA0-B452-43D9-943F-104317313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5" y="1720"/>
              <a:ext cx="675" cy="612"/>
            </a:xfrm>
            <a:prstGeom prst="ellipse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7735" name="Oval 58">
              <a:extLst>
                <a:ext uri="{FF2B5EF4-FFF2-40B4-BE49-F238E27FC236}">
                  <a16:creationId xmlns:a16="http://schemas.microsoft.com/office/drawing/2014/main" id="{6FD67E6C-A9D8-462D-9548-9270DBE9D1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8" y="1750"/>
              <a:ext cx="675" cy="61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57710" name="Text Box 59">
            <a:extLst>
              <a:ext uri="{FF2B5EF4-FFF2-40B4-BE49-F238E27FC236}">
                <a16:creationId xmlns:a16="http://schemas.microsoft.com/office/drawing/2014/main" id="{93C8EE42-5FBF-4946-9CAD-0DA3B94C85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0175" y="4387850"/>
            <a:ext cx="654050" cy="53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SYN</a:t>
            </a:r>
          </a:p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sent</a:t>
            </a:r>
          </a:p>
        </p:txBody>
      </p:sp>
      <p:grpSp>
        <p:nvGrpSpPr>
          <p:cNvPr id="157711" name="Group 60">
            <a:extLst>
              <a:ext uri="{FF2B5EF4-FFF2-40B4-BE49-F238E27FC236}">
                <a16:creationId xmlns:a16="http://schemas.microsoft.com/office/drawing/2014/main" id="{73B3AA39-3D57-4CCB-8AF1-0E79281BC849}"/>
              </a:ext>
            </a:extLst>
          </p:cNvPr>
          <p:cNvGrpSpPr>
            <a:grpSpLocks/>
          </p:cNvGrpSpPr>
          <p:nvPr/>
        </p:nvGrpSpPr>
        <p:grpSpPr bwMode="auto">
          <a:xfrm>
            <a:off x="3686175" y="5060950"/>
            <a:ext cx="876300" cy="827088"/>
            <a:chOff x="1778" y="1720"/>
            <a:chExt cx="722" cy="642"/>
          </a:xfrm>
        </p:grpSpPr>
        <p:sp>
          <p:nvSpPr>
            <p:cNvPr id="157732" name="Oval 61">
              <a:extLst>
                <a:ext uri="{FF2B5EF4-FFF2-40B4-BE49-F238E27FC236}">
                  <a16:creationId xmlns:a16="http://schemas.microsoft.com/office/drawing/2014/main" id="{DDB097B4-A061-4FE6-82F1-489B73D97D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5" y="1720"/>
              <a:ext cx="675" cy="612"/>
            </a:xfrm>
            <a:prstGeom prst="ellipse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7733" name="Oval 62">
              <a:extLst>
                <a:ext uri="{FF2B5EF4-FFF2-40B4-BE49-F238E27FC236}">
                  <a16:creationId xmlns:a16="http://schemas.microsoft.com/office/drawing/2014/main" id="{7312E341-78E7-4266-83A4-A08BA00261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8" y="1750"/>
              <a:ext cx="675" cy="61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  <p:sp>
        <p:nvSpPr>
          <p:cNvPr id="157712" name="Text Box 63">
            <a:extLst>
              <a:ext uri="{FF2B5EF4-FFF2-40B4-BE49-F238E27FC236}">
                <a16:creationId xmlns:a16="http://schemas.microsoft.com/office/drawing/2014/main" id="{00D4EE07-AA79-478F-A422-B5E51CF62F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48075" y="5348288"/>
            <a:ext cx="933450" cy="31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ESTAB</a:t>
            </a:r>
          </a:p>
        </p:txBody>
      </p:sp>
      <p:sp>
        <p:nvSpPr>
          <p:cNvPr id="157713" name="Text Box 66">
            <a:extLst>
              <a:ext uri="{FF2B5EF4-FFF2-40B4-BE49-F238E27FC236}">
                <a16:creationId xmlns:a16="http://schemas.microsoft.com/office/drawing/2014/main" id="{09EDC9F4-6036-4519-A10A-C2D502F4D3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6088" y="2687638"/>
            <a:ext cx="2894012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317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b="1">
                <a:latin typeface="Courier New" panose="02070309020205020404" pitchFamily="49" charset="0"/>
              </a:rPr>
              <a:t>Socket clientSocket =  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b="1">
                <a:latin typeface="Courier New" panose="02070309020205020404" pitchFamily="49" charset="0"/>
              </a:rPr>
              <a:t>  newSocket("hostname","port number");</a:t>
            </a:r>
          </a:p>
        </p:txBody>
      </p:sp>
      <p:sp>
        <p:nvSpPr>
          <p:cNvPr id="157714" name="Line 67">
            <a:extLst>
              <a:ext uri="{FF2B5EF4-FFF2-40B4-BE49-F238E27FC236}">
                <a16:creationId xmlns:a16="http://schemas.microsoft.com/office/drawing/2014/main" id="{5D1176CC-82FF-48C3-B80F-A2297E24DB09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6263" y="3317875"/>
            <a:ext cx="25288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15" name="Text Box 68">
            <a:extLst>
              <a:ext uri="{FF2B5EF4-FFF2-40B4-BE49-F238E27FC236}">
                <a16:creationId xmlns:a16="http://schemas.microsoft.com/office/drawing/2014/main" id="{6C1E5AD0-F9D3-440E-8372-A5804002FB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1338" y="3351213"/>
            <a:ext cx="12620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SYN(seq=x)</a:t>
            </a:r>
          </a:p>
        </p:txBody>
      </p:sp>
      <p:sp>
        <p:nvSpPr>
          <p:cNvPr id="157716" name="Freeform 69">
            <a:extLst>
              <a:ext uri="{FF2B5EF4-FFF2-40B4-BE49-F238E27FC236}">
                <a16:creationId xmlns:a16="http://schemas.microsoft.com/office/drawing/2014/main" id="{00E8461D-F551-4D0A-9591-CED644EA514D}"/>
              </a:ext>
            </a:extLst>
          </p:cNvPr>
          <p:cNvSpPr>
            <a:spLocks/>
          </p:cNvSpPr>
          <p:nvPr/>
        </p:nvSpPr>
        <p:spPr bwMode="auto">
          <a:xfrm>
            <a:off x="4583113" y="1727200"/>
            <a:ext cx="914400" cy="2384425"/>
          </a:xfrm>
          <a:custGeom>
            <a:avLst/>
            <a:gdLst>
              <a:gd name="T0" fmla="*/ 0 w 576"/>
              <a:gd name="T1" fmla="*/ 0 h 1138"/>
              <a:gd name="T2" fmla="*/ 2147483646 w 576"/>
              <a:gd name="T3" fmla="*/ 0 h 1138"/>
              <a:gd name="T4" fmla="*/ 2147483646 w 576"/>
              <a:gd name="T5" fmla="*/ 2147483646 h 1138"/>
              <a:gd name="T6" fmla="*/ 0 60000 65536"/>
              <a:gd name="T7" fmla="*/ 0 60000 65536"/>
              <a:gd name="T8" fmla="*/ 0 60000 65536"/>
              <a:gd name="T9" fmla="*/ 0 w 576"/>
              <a:gd name="T10" fmla="*/ 0 h 1138"/>
              <a:gd name="T11" fmla="*/ 576 w 576"/>
              <a:gd name="T12" fmla="*/ 1138 h 113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6" h="1138">
                <a:moveTo>
                  <a:pt x="0" y="0"/>
                </a:moveTo>
                <a:lnTo>
                  <a:pt x="576" y="0"/>
                </a:lnTo>
                <a:lnTo>
                  <a:pt x="576" y="1138"/>
                </a:ln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17" name="Line 70">
            <a:extLst>
              <a:ext uri="{FF2B5EF4-FFF2-40B4-BE49-F238E27FC236}">
                <a16:creationId xmlns:a16="http://schemas.microsoft.com/office/drawing/2014/main" id="{8A38AC5F-273B-4D45-920C-9EEE776C783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75113" y="2133600"/>
            <a:ext cx="0" cy="1016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18" name="Text Box 71">
            <a:extLst>
              <a:ext uri="{FF2B5EF4-FFF2-40B4-BE49-F238E27FC236}">
                <a16:creationId xmlns:a16="http://schemas.microsoft.com/office/drawing/2014/main" id="{2B5F26B3-387D-4A4A-BF22-A9602D57CF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074863"/>
            <a:ext cx="25781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317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b="1">
                <a:latin typeface="Courier New" panose="02070309020205020404" pitchFamily="49" charset="0"/>
              </a:rPr>
              <a:t>Socket connectionSocket = welcomeSocket.accept();</a:t>
            </a:r>
          </a:p>
        </p:txBody>
      </p:sp>
      <p:sp>
        <p:nvSpPr>
          <p:cNvPr id="157719" name="Line 72">
            <a:extLst>
              <a:ext uri="{FF2B5EF4-FFF2-40B4-BE49-F238E27FC236}">
                <a16:creationId xmlns:a16="http://schemas.microsoft.com/office/drawing/2014/main" id="{57F64670-D09C-456C-B067-580AE0FE01B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2775" y="2522538"/>
            <a:ext cx="1965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20" name="Freeform 73">
            <a:extLst>
              <a:ext uri="{FF2B5EF4-FFF2-40B4-BE49-F238E27FC236}">
                <a16:creationId xmlns:a16="http://schemas.microsoft.com/office/drawing/2014/main" id="{05178261-2FBD-4B23-AAF0-D5A4A0E98320}"/>
              </a:ext>
            </a:extLst>
          </p:cNvPr>
          <p:cNvSpPr>
            <a:spLocks/>
          </p:cNvSpPr>
          <p:nvPr/>
        </p:nvSpPr>
        <p:spPr bwMode="auto">
          <a:xfrm>
            <a:off x="2051050" y="3836988"/>
            <a:ext cx="1579563" cy="373062"/>
          </a:xfrm>
          <a:custGeom>
            <a:avLst/>
            <a:gdLst>
              <a:gd name="T0" fmla="*/ 2147483646 w 1123"/>
              <a:gd name="T1" fmla="*/ 0 h 235"/>
              <a:gd name="T2" fmla="*/ 0 w 1123"/>
              <a:gd name="T3" fmla="*/ 0 h 235"/>
              <a:gd name="T4" fmla="*/ 0 w 1123"/>
              <a:gd name="T5" fmla="*/ 2147483646 h 235"/>
              <a:gd name="T6" fmla="*/ 0 60000 65536"/>
              <a:gd name="T7" fmla="*/ 0 60000 65536"/>
              <a:gd name="T8" fmla="*/ 0 60000 65536"/>
              <a:gd name="T9" fmla="*/ 0 w 1123"/>
              <a:gd name="T10" fmla="*/ 0 h 235"/>
              <a:gd name="T11" fmla="*/ 1123 w 1123"/>
              <a:gd name="T12" fmla="*/ 235 h 23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23" h="235">
                <a:moveTo>
                  <a:pt x="1123" y="0"/>
                </a:moveTo>
                <a:lnTo>
                  <a:pt x="0" y="0"/>
                </a:lnTo>
                <a:lnTo>
                  <a:pt x="0" y="235"/>
                </a:ln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21" name="Text Box 74">
            <a:extLst>
              <a:ext uri="{FF2B5EF4-FFF2-40B4-BE49-F238E27FC236}">
                <a16:creationId xmlns:a16="http://schemas.microsoft.com/office/drawing/2014/main" id="{AB5A1503-4390-4C87-A33E-08D3C60E6D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938" y="2838450"/>
            <a:ext cx="8048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SYN(x)</a:t>
            </a:r>
          </a:p>
        </p:txBody>
      </p:sp>
      <p:sp>
        <p:nvSpPr>
          <p:cNvPr id="157722" name="Line 75">
            <a:extLst>
              <a:ext uri="{FF2B5EF4-FFF2-40B4-BE49-F238E27FC236}">
                <a16:creationId xmlns:a16="http://schemas.microsoft.com/office/drawing/2014/main" id="{36FEF699-5C3B-409F-B673-1138BADCDBC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46188" y="3136900"/>
            <a:ext cx="1965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23" name="Text Box 76">
            <a:extLst>
              <a:ext uri="{FF2B5EF4-FFF2-40B4-BE49-F238E27FC236}">
                <a16:creationId xmlns:a16="http://schemas.microsoft.com/office/drawing/2014/main" id="{984CFF1F-FF98-4162-BC99-1137F2D502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0275" y="2989263"/>
            <a:ext cx="2606675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ahoma" panose="020B0604030504040204" pitchFamily="34" charset="0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SYNACK(seq=y,ACKnum=x+1)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create new socket for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communication back to client</a:t>
            </a:r>
          </a:p>
        </p:txBody>
      </p:sp>
      <p:sp>
        <p:nvSpPr>
          <p:cNvPr id="157724" name="Freeform 77">
            <a:extLst>
              <a:ext uri="{FF2B5EF4-FFF2-40B4-BE49-F238E27FC236}">
                <a16:creationId xmlns:a16="http://schemas.microsoft.com/office/drawing/2014/main" id="{02152FDE-217D-4399-BB3B-59958440D503}"/>
              </a:ext>
            </a:extLst>
          </p:cNvPr>
          <p:cNvSpPr>
            <a:spLocks/>
          </p:cNvSpPr>
          <p:nvPr/>
        </p:nvSpPr>
        <p:spPr bwMode="auto">
          <a:xfrm flipV="1">
            <a:off x="2046288" y="5076825"/>
            <a:ext cx="1579562" cy="373063"/>
          </a:xfrm>
          <a:custGeom>
            <a:avLst/>
            <a:gdLst>
              <a:gd name="T0" fmla="*/ 2147483646 w 1123"/>
              <a:gd name="T1" fmla="*/ 0 h 235"/>
              <a:gd name="T2" fmla="*/ 0 w 1123"/>
              <a:gd name="T3" fmla="*/ 0 h 235"/>
              <a:gd name="T4" fmla="*/ 0 w 1123"/>
              <a:gd name="T5" fmla="*/ 2147483646 h 235"/>
              <a:gd name="T6" fmla="*/ 0 60000 65536"/>
              <a:gd name="T7" fmla="*/ 0 60000 65536"/>
              <a:gd name="T8" fmla="*/ 0 60000 65536"/>
              <a:gd name="T9" fmla="*/ 0 w 1123"/>
              <a:gd name="T10" fmla="*/ 0 h 235"/>
              <a:gd name="T11" fmla="*/ 1123 w 1123"/>
              <a:gd name="T12" fmla="*/ 235 h 23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23" h="235">
                <a:moveTo>
                  <a:pt x="1123" y="0"/>
                </a:moveTo>
                <a:lnTo>
                  <a:pt x="0" y="0"/>
                </a:lnTo>
                <a:lnTo>
                  <a:pt x="0" y="235"/>
                </a:ln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25" name="Freeform 78">
            <a:extLst>
              <a:ext uri="{FF2B5EF4-FFF2-40B4-BE49-F238E27FC236}">
                <a16:creationId xmlns:a16="http://schemas.microsoft.com/office/drawing/2014/main" id="{625F8456-9F35-4DE6-89C1-DCEBF8CF48EB}"/>
              </a:ext>
            </a:extLst>
          </p:cNvPr>
          <p:cNvSpPr>
            <a:spLocks/>
          </p:cNvSpPr>
          <p:nvPr/>
        </p:nvSpPr>
        <p:spPr bwMode="auto">
          <a:xfrm flipH="1" flipV="1">
            <a:off x="4613275" y="5094288"/>
            <a:ext cx="947738" cy="373062"/>
          </a:xfrm>
          <a:custGeom>
            <a:avLst/>
            <a:gdLst>
              <a:gd name="T0" fmla="*/ 2147483646 w 1123"/>
              <a:gd name="T1" fmla="*/ 0 h 235"/>
              <a:gd name="T2" fmla="*/ 0 w 1123"/>
              <a:gd name="T3" fmla="*/ 0 h 235"/>
              <a:gd name="T4" fmla="*/ 0 w 1123"/>
              <a:gd name="T5" fmla="*/ 2147483646 h 235"/>
              <a:gd name="T6" fmla="*/ 0 60000 65536"/>
              <a:gd name="T7" fmla="*/ 0 60000 65536"/>
              <a:gd name="T8" fmla="*/ 0 60000 65536"/>
              <a:gd name="T9" fmla="*/ 0 w 1123"/>
              <a:gd name="T10" fmla="*/ 0 h 235"/>
              <a:gd name="T11" fmla="*/ 1123 w 1123"/>
              <a:gd name="T12" fmla="*/ 235 h 23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23" h="235">
                <a:moveTo>
                  <a:pt x="1123" y="0"/>
                </a:moveTo>
                <a:lnTo>
                  <a:pt x="0" y="0"/>
                </a:lnTo>
                <a:lnTo>
                  <a:pt x="0" y="235"/>
                </a:ln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26" name="Text Box 79">
            <a:extLst>
              <a:ext uri="{FF2B5EF4-FFF2-40B4-BE49-F238E27FC236}">
                <a16:creationId xmlns:a16="http://schemas.microsoft.com/office/drawing/2014/main" id="{5064CEC4-549B-4EB1-9C63-3A212D44E3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8638" y="4970463"/>
            <a:ext cx="2606675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ahoma" panose="020B0604030504040204" pitchFamily="34" charset="0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SYNACK(seq=y,ACKnum=x+1)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ahoma" panose="020B0604030504040204" pitchFamily="34" charset="0"/>
            </a:endParaRPr>
          </a:p>
        </p:txBody>
      </p:sp>
      <p:sp>
        <p:nvSpPr>
          <p:cNvPr id="157727" name="Line 80">
            <a:extLst>
              <a:ext uri="{FF2B5EF4-FFF2-40B4-BE49-F238E27FC236}">
                <a16:creationId xmlns:a16="http://schemas.microsoft.com/office/drawing/2014/main" id="{9265A2FC-191C-4E90-B3FA-4B36A6B90BA9}"/>
              </a:ext>
            </a:extLst>
          </p:cNvPr>
          <p:cNvSpPr>
            <a:spLocks noChangeShapeType="1"/>
          </p:cNvSpPr>
          <p:nvPr/>
        </p:nvSpPr>
        <p:spPr bwMode="auto">
          <a:xfrm>
            <a:off x="5718175" y="5435600"/>
            <a:ext cx="25288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28" name="Text Box 81">
            <a:extLst>
              <a:ext uri="{FF2B5EF4-FFF2-40B4-BE49-F238E27FC236}">
                <a16:creationId xmlns:a16="http://schemas.microsoft.com/office/drawing/2014/main" id="{5BF0461B-68E6-460A-AC37-5FDEC7FC61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8213" y="5248275"/>
            <a:ext cx="1744662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ahoma" panose="020B0604030504040204" pitchFamily="34" charset="0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ACK(ACKnum=y+1)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ahoma" panose="020B0604030504040204" pitchFamily="34" charset="0"/>
            </a:endParaRPr>
          </a:p>
        </p:txBody>
      </p:sp>
      <p:sp>
        <p:nvSpPr>
          <p:cNvPr id="157729" name="Line 82">
            <a:extLst>
              <a:ext uri="{FF2B5EF4-FFF2-40B4-BE49-F238E27FC236}">
                <a16:creationId xmlns:a16="http://schemas.microsoft.com/office/drawing/2014/main" id="{3B14C085-ECFA-40E3-AEB6-C0A7E19787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9313" y="5822950"/>
            <a:ext cx="1965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7730" name="Text Box 83">
            <a:extLst>
              <a:ext uri="{FF2B5EF4-FFF2-40B4-BE49-F238E27FC236}">
                <a16:creationId xmlns:a16="http://schemas.microsoft.com/office/drawing/2014/main" id="{F7D8F4C0-C96E-4D51-9484-8EA3BF462F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9638" y="5356225"/>
            <a:ext cx="1744662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ahoma" panose="020B0604030504040204" pitchFamily="34" charset="0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ACK(ACKnum=y+1)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Tahoma" panose="020B0604030504040204" pitchFamily="34" charset="0"/>
            </a:endParaRPr>
          </a:p>
        </p:txBody>
      </p:sp>
      <p:sp>
        <p:nvSpPr>
          <p:cNvPr id="157731" name="Text Box 84">
            <a:extLst>
              <a:ext uri="{FF2B5EF4-FFF2-40B4-BE49-F238E27FC236}">
                <a16:creationId xmlns:a16="http://schemas.microsoft.com/office/drawing/2014/main" id="{741A43D4-FF7F-43C1-AF33-67B8BD9179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0513" y="5788025"/>
            <a:ext cx="341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Symbol" panose="05050102010706020507" pitchFamily="18" charset="2"/>
              </a:rPr>
              <a:t>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Footer Placeholder 5">
            <a:extLst>
              <a:ext uri="{FF2B5EF4-FFF2-40B4-BE49-F238E27FC236}">
                <a16:creationId xmlns:a16="http://schemas.microsoft.com/office/drawing/2014/main" id="{6FBAD6B7-FEF1-4935-A475-1759CA51A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58723" name="Slide Number Placeholder 6">
            <a:extLst>
              <a:ext uri="{FF2B5EF4-FFF2-40B4-BE49-F238E27FC236}">
                <a16:creationId xmlns:a16="http://schemas.microsoft.com/office/drawing/2014/main" id="{6DBD9FB4-9A77-4BDF-9987-80945BE0C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9F5E819E-2C62-4BC0-B7DB-3F82AE848CB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58724" name="Picture 2" descr="underline_base">
            <a:extLst>
              <a:ext uri="{FF2B5EF4-FFF2-40B4-BE49-F238E27FC236}">
                <a16:creationId xmlns:a16="http://schemas.microsoft.com/office/drawing/2014/main" id="{D09618B8-A07D-42E7-803F-F34D7B111E3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25" y="838200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3973" name="Rectangle 45">
            <a:extLst>
              <a:ext uri="{FF2B5EF4-FFF2-40B4-BE49-F238E27FC236}">
                <a16:creationId xmlns:a16="http://schemas.microsoft.com/office/drawing/2014/main" id="{5817318D-ECF4-4A5C-A634-8250B921BB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33388" y="241300"/>
            <a:ext cx="7772400" cy="72707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TCP: closing a connection</a:t>
            </a:r>
          </a:p>
        </p:txBody>
      </p:sp>
      <p:sp>
        <p:nvSpPr>
          <p:cNvPr id="158726" name="Rectangle 47">
            <a:extLst>
              <a:ext uri="{FF2B5EF4-FFF2-40B4-BE49-F238E27FC236}">
                <a16:creationId xmlns:a16="http://schemas.microsoft.com/office/drawing/2014/main" id="{96283252-499A-49A0-83B9-76B530F46F92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0" y="1328738"/>
            <a:ext cx="5530850" cy="4648200"/>
          </a:xfrm>
        </p:spPr>
        <p:txBody>
          <a:bodyPr/>
          <a:lstStyle/>
          <a:p>
            <a:r>
              <a:rPr lang="en-US" altLang="zh-TW" dirty="0">
                <a:solidFill>
                  <a:srgbClr val="0070C0"/>
                </a:solidFill>
              </a:rPr>
              <a:t>Client &amp; server </a:t>
            </a:r>
            <a:r>
              <a:rPr lang="en-US" altLang="zh-TW" i="1" dirty="0">
                <a:solidFill>
                  <a:srgbClr val="0070C0"/>
                </a:solidFill>
              </a:rPr>
              <a:t>each</a:t>
            </a:r>
            <a:r>
              <a:rPr lang="en-US" altLang="zh-TW" dirty="0">
                <a:solidFill>
                  <a:srgbClr val="0070C0"/>
                </a:solidFill>
              </a:rPr>
              <a:t> closes their side of connection</a:t>
            </a:r>
          </a:p>
          <a:p>
            <a:pPr marL="914400" lvl="1" indent="-457200">
              <a:buFont typeface="Gill Sans MT" panose="020B0502020104020203" pitchFamily="34" charset="0"/>
              <a:buAutoNum type="arabicPeriod"/>
            </a:pPr>
            <a:r>
              <a:rPr lang="en-US" altLang="zh-TW" dirty="0"/>
              <a:t>send TCP segment with </a:t>
            </a:r>
            <a:r>
              <a:rPr lang="en-US" altLang="zh-TW" dirty="0">
                <a:solidFill>
                  <a:srgbClr val="0070C0"/>
                </a:solidFill>
              </a:rPr>
              <a:t>FIN bit = 1</a:t>
            </a:r>
          </a:p>
          <a:p>
            <a:pPr marL="914400" lvl="1" indent="-457200">
              <a:buFont typeface="Gill Sans MT" panose="020B0502020104020203" pitchFamily="34" charset="0"/>
              <a:buAutoNum type="arabicPeriod"/>
            </a:pPr>
            <a:r>
              <a:rPr lang="en-US" altLang="zh-TW" dirty="0"/>
              <a:t>respond to received FIN with</a:t>
            </a:r>
            <a:r>
              <a:rPr lang="en-US" altLang="zh-TW" dirty="0">
                <a:solidFill>
                  <a:srgbClr val="0070C0"/>
                </a:solidFill>
              </a:rPr>
              <a:t> ACK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zh-TW" dirty="0"/>
              <a:t>on receiving FIN, ACK can be combined with own FIN</a:t>
            </a:r>
          </a:p>
          <a:p>
            <a:r>
              <a:rPr lang="en-US" altLang="zh-TW" dirty="0">
                <a:solidFill>
                  <a:srgbClr val="0070C0"/>
                </a:solidFill>
              </a:rPr>
              <a:t>TIME_WAIT </a:t>
            </a:r>
            <a:r>
              <a:rPr lang="en-US" altLang="zh-TW" dirty="0"/>
              <a:t>state lets the TCP client resend the final acknowledgment in case the ACK is lost.</a:t>
            </a:r>
          </a:p>
        </p:txBody>
      </p:sp>
      <p:pic>
        <p:nvPicPr>
          <p:cNvPr id="158727" name="Picture 7">
            <a:extLst>
              <a:ext uri="{FF2B5EF4-FFF2-40B4-BE49-F238E27FC236}">
                <a16:creationId xmlns:a16="http://schemas.microsoft.com/office/drawing/2014/main" id="{DA019058-E132-4500-B665-A53AFD407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7988" y="1436688"/>
            <a:ext cx="3513137" cy="3932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Footer Placeholder 5">
            <a:extLst>
              <a:ext uri="{FF2B5EF4-FFF2-40B4-BE49-F238E27FC236}">
                <a16:creationId xmlns:a16="http://schemas.microsoft.com/office/drawing/2014/main" id="{EA49CFBF-22F5-4A3F-9D80-CB8DB6F0A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59747" name="Slide Number Placeholder 6">
            <a:extLst>
              <a:ext uri="{FF2B5EF4-FFF2-40B4-BE49-F238E27FC236}">
                <a16:creationId xmlns:a16="http://schemas.microsoft.com/office/drawing/2014/main" id="{30B6F2EC-F154-4B4C-B6E5-E67EEAEB7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C82DC01E-B2ED-4FFE-B4BD-0AA628B53BB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59748" name="Picture 63" descr="underline_base">
            <a:extLst>
              <a:ext uri="{FF2B5EF4-FFF2-40B4-BE49-F238E27FC236}">
                <a16:creationId xmlns:a16="http://schemas.microsoft.com/office/drawing/2014/main" id="{3A0EA3DE-2645-463F-B09A-E8414C06DD3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25" y="838200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9749" name="Line 4">
            <a:extLst>
              <a:ext uri="{FF2B5EF4-FFF2-40B4-BE49-F238E27FC236}">
                <a16:creationId xmlns:a16="http://schemas.microsoft.com/office/drawing/2014/main" id="{8B671CD6-97FA-4E3E-A591-65FEA1F20F2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71863" y="2081213"/>
            <a:ext cx="1587" cy="3948112"/>
          </a:xfrm>
          <a:prstGeom prst="line">
            <a:avLst/>
          </a:prstGeom>
          <a:noFill/>
          <a:ln w="9525">
            <a:solidFill>
              <a:srgbClr val="77777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59750" name="Line 10">
            <a:extLst>
              <a:ext uri="{FF2B5EF4-FFF2-40B4-BE49-F238E27FC236}">
                <a16:creationId xmlns:a16="http://schemas.microsoft.com/office/drawing/2014/main" id="{39691674-2413-4C35-ACB9-5BC09B8AF7D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61075" y="2151063"/>
            <a:ext cx="1588" cy="3417887"/>
          </a:xfrm>
          <a:prstGeom prst="line">
            <a:avLst/>
          </a:prstGeom>
          <a:noFill/>
          <a:ln w="9525">
            <a:solidFill>
              <a:srgbClr val="77777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2" name="Group 74">
            <a:extLst>
              <a:ext uri="{FF2B5EF4-FFF2-40B4-BE49-F238E27FC236}">
                <a16:creationId xmlns:a16="http://schemas.microsoft.com/office/drawing/2014/main" id="{0C1B1514-DBFB-4C67-BED6-0845B5ED04D6}"/>
              </a:ext>
            </a:extLst>
          </p:cNvPr>
          <p:cNvGrpSpPr>
            <a:grpSpLocks/>
          </p:cNvGrpSpPr>
          <p:nvPr/>
        </p:nvGrpSpPr>
        <p:grpSpPr bwMode="auto">
          <a:xfrm>
            <a:off x="544513" y="2762250"/>
            <a:ext cx="1335087" cy="854075"/>
            <a:chOff x="343" y="1740"/>
            <a:chExt cx="841" cy="538"/>
          </a:xfrm>
        </p:grpSpPr>
        <p:sp>
          <p:nvSpPr>
            <p:cNvPr id="159837" name="Text Box 34">
              <a:extLst>
                <a:ext uri="{FF2B5EF4-FFF2-40B4-BE49-F238E27FC236}">
                  <a16:creationId xmlns:a16="http://schemas.microsoft.com/office/drawing/2014/main" id="{13E254E5-6699-484F-BCBE-E61C734B9C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" y="2066"/>
              <a:ext cx="84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FIN_WAIT_2</a:t>
              </a:r>
            </a:p>
          </p:txBody>
        </p:sp>
        <p:sp>
          <p:nvSpPr>
            <p:cNvPr id="159838" name="Line 35">
              <a:extLst>
                <a:ext uri="{FF2B5EF4-FFF2-40B4-BE49-F238E27FC236}">
                  <a16:creationId xmlns:a16="http://schemas.microsoft.com/office/drawing/2014/main" id="{93C8E21C-44B9-4BC1-BA24-AA90805B83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" y="1740"/>
              <a:ext cx="0" cy="3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" name="Group 73">
            <a:extLst>
              <a:ext uri="{FF2B5EF4-FFF2-40B4-BE49-F238E27FC236}">
                <a16:creationId xmlns:a16="http://schemas.microsoft.com/office/drawing/2014/main" id="{F61539D7-8087-40ED-BD09-120825A767C6}"/>
              </a:ext>
            </a:extLst>
          </p:cNvPr>
          <p:cNvGrpSpPr>
            <a:grpSpLocks/>
          </p:cNvGrpSpPr>
          <p:nvPr/>
        </p:nvGrpSpPr>
        <p:grpSpPr bwMode="auto">
          <a:xfrm>
            <a:off x="7175500" y="2101850"/>
            <a:ext cx="1390650" cy="960438"/>
            <a:chOff x="4520" y="1324"/>
            <a:chExt cx="876" cy="605"/>
          </a:xfrm>
        </p:grpSpPr>
        <p:sp>
          <p:nvSpPr>
            <p:cNvPr id="159835" name="Text Box 37">
              <a:extLst>
                <a:ext uri="{FF2B5EF4-FFF2-40B4-BE49-F238E27FC236}">
                  <a16:creationId xmlns:a16="http://schemas.microsoft.com/office/drawing/2014/main" id="{924C70F8-380C-4D54-A45C-FC31963FFA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0" y="1717"/>
              <a:ext cx="87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CLOSE_WAIT</a:t>
              </a:r>
            </a:p>
          </p:txBody>
        </p:sp>
        <p:sp>
          <p:nvSpPr>
            <p:cNvPr id="159836" name="Line 38">
              <a:extLst>
                <a:ext uri="{FF2B5EF4-FFF2-40B4-BE49-F238E27FC236}">
                  <a16:creationId xmlns:a16="http://schemas.microsoft.com/office/drawing/2014/main" id="{2288B536-BB9A-4AC7-B9AC-7955F2BB89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71" y="1324"/>
              <a:ext cx="0" cy="4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" name="Group 75">
            <a:extLst>
              <a:ext uri="{FF2B5EF4-FFF2-40B4-BE49-F238E27FC236}">
                <a16:creationId xmlns:a16="http://schemas.microsoft.com/office/drawing/2014/main" id="{9F503D87-F6E2-4166-BD52-77522ADA6B02}"/>
              </a:ext>
            </a:extLst>
          </p:cNvPr>
          <p:cNvGrpSpPr>
            <a:grpSpLocks/>
          </p:cNvGrpSpPr>
          <p:nvPr/>
        </p:nvGrpSpPr>
        <p:grpSpPr bwMode="auto">
          <a:xfrm>
            <a:off x="3513138" y="3870325"/>
            <a:ext cx="2495550" cy="579438"/>
            <a:chOff x="2213" y="2438"/>
            <a:chExt cx="1572" cy="365"/>
          </a:xfrm>
        </p:grpSpPr>
        <p:sp>
          <p:nvSpPr>
            <p:cNvPr id="159832" name="Line 41">
              <a:extLst>
                <a:ext uri="{FF2B5EF4-FFF2-40B4-BE49-F238E27FC236}">
                  <a16:creationId xmlns:a16="http://schemas.microsoft.com/office/drawing/2014/main" id="{CC7D9583-857F-49C5-B1F5-3E247A7708D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13" y="2483"/>
              <a:ext cx="1572" cy="32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9833" name="Rectangle 42">
              <a:extLst>
                <a:ext uri="{FF2B5EF4-FFF2-40B4-BE49-F238E27FC236}">
                  <a16:creationId xmlns:a16="http://schemas.microsoft.com/office/drawing/2014/main" id="{3E077795-4157-439D-8758-DD7FFA7FF6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9" y="2438"/>
              <a:ext cx="590" cy="3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834" name="Text Box 43">
              <a:extLst>
                <a:ext uri="{FF2B5EF4-FFF2-40B4-BE49-F238E27FC236}">
                  <a16:creationId xmlns:a16="http://schemas.microsoft.com/office/drawing/2014/main" id="{602B59F6-9984-4D5F-81A4-007E3C969F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50" y="2562"/>
              <a:ext cx="106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 err="1">
                  <a:solidFill>
                    <a:srgbClr val="FF0000"/>
                  </a:solidFill>
                  <a:latin typeface="Tahoma" panose="020B0604030504040204" pitchFamily="34" charset="0"/>
                </a:rPr>
                <a:t>FINbit</a:t>
              </a:r>
              <a:r>
                <a:rPr lang="en-US" altLang="zh-TW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=1</a:t>
              </a:r>
              <a:r>
                <a:rPr lang="en-US" altLang="zh-TW" sz="1600" dirty="0">
                  <a:latin typeface="Tahoma" panose="020B0604030504040204" pitchFamily="34" charset="0"/>
                </a:rPr>
                <a:t>, seq=y</a:t>
              </a:r>
            </a:p>
          </p:txBody>
        </p:sp>
      </p:grpSp>
      <p:grpSp>
        <p:nvGrpSpPr>
          <p:cNvPr id="5" name="Group 80">
            <a:extLst>
              <a:ext uri="{FF2B5EF4-FFF2-40B4-BE49-F238E27FC236}">
                <a16:creationId xmlns:a16="http://schemas.microsoft.com/office/drawing/2014/main" id="{9921C6D3-A8EB-4308-894B-DD329853BDFD}"/>
              </a:ext>
            </a:extLst>
          </p:cNvPr>
          <p:cNvGrpSpPr>
            <a:grpSpLocks/>
          </p:cNvGrpSpPr>
          <p:nvPr/>
        </p:nvGrpSpPr>
        <p:grpSpPr bwMode="auto">
          <a:xfrm>
            <a:off x="3543300" y="4578350"/>
            <a:ext cx="2508250" cy="582613"/>
            <a:chOff x="2232" y="2884"/>
            <a:chExt cx="1580" cy="367"/>
          </a:xfrm>
        </p:grpSpPr>
        <p:sp>
          <p:nvSpPr>
            <p:cNvPr id="159829" name="Line 44">
              <a:extLst>
                <a:ext uri="{FF2B5EF4-FFF2-40B4-BE49-F238E27FC236}">
                  <a16:creationId xmlns:a16="http://schemas.microsoft.com/office/drawing/2014/main" id="{0B4099B8-5143-4267-9011-7908C559AB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32" y="2884"/>
              <a:ext cx="1580" cy="36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9830" name="Rectangle 46">
              <a:extLst>
                <a:ext uri="{FF2B5EF4-FFF2-40B4-BE49-F238E27FC236}">
                  <a16:creationId xmlns:a16="http://schemas.microsoft.com/office/drawing/2014/main" id="{339E27BD-C47E-49C4-82C0-B1273153C1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2995"/>
              <a:ext cx="896" cy="2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831" name="Text Box 47">
              <a:extLst>
                <a:ext uri="{FF2B5EF4-FFF2-40B4-BE49-F238E27FC236}">
                  <a16:creationId xmlns:a16="http://schemas.microsoft.com/office/drawing/2014/main" id="{1BC5BC51-6A41-4257-9F2D-B93D5FF408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8" y="2958"/>
              <a:ext cx="154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 err="1">
                  <a:solidFill>
                    <a:srgbClr val="0070C0"/>
                  </a:solidFill>
                  <a:latin typeface="Tahoma" panose="020B0604030504040204" pitchFamily="34" charset="0"/>
                </a:rPr>
                <a:t>ACKbit</a:t>
              </a:r>
              <a:r>
                <a:rPr lang="en-US" altLang="zh-TW" sz="1600" dirty="0">
                  <a:solidFill>
                    <a:srgbClr val="0070C0"/>
                  </a:solidFill>
                  <a:latin typeface="Tahoma" panose="020B0604030504040204" pitchFamily="34" charset="0"/>
                </a:rPr>
                <a:t>=1</a:t>
              </a:r>
              <a:r>
                <a:rPr lang="en-US" altLang="zh-TW" sz="1600" dirty="0">
                  <a:latin typeface="Tahoma" panose="020B0604030504040204" pitchFamily="34" charset="0"/>
                </a:rPr>
                <a:t>; </a:t>
              </a:r>
              <a:r>
                <a:rPr lang="en-US" altLang="zh-TW" sz="1600" dirty="0" err="1">
                  <a:latin typeface="Tahoma" panose="020B0604030504040204" pitchFamily="34" charset="0"/>
                </a:rPr>
                <a:t>ACKnum</a:t>
              </a:r>
              <a:r>
                <a:rPr lang="en-US" altLang="zh-TW" sz="1600" dirty="0">
                  <a:latin typeface="Tahoma" panose="020B0604030504040204" pitchFamily="34" charset="0"/>
                </a:rPr>
                <a:t>=y+1</a:t>
              </a:r>
            </a:p>
          </p:txBody>
        </p:sp>
      </p:grpSp>
      <p:grpSp>
        <p:nvGrpSpPr>
          <p:cNvPr id="6" name="Group 72">
            <a:extLst>
              <a:ext uri="{FF2B5EF4-FFF2-40B4-BE49-F238E27FC236}">
                <a16:creationId xmlns:a16="http://schemas.microsoft.com/office/drawing/2014/main" id="{CE67BB6E-B29E-4289-86C8-32DF46E79EB2}"/>
              </a:ext>
            </a:extLst>
          </p:cNvPr>
          <p:cNvGrpSpPr>
            <a:grpSpLocks/>
          </p:cNvGrpSpPr>
          <p:nvPr/>
        </p:nvGrpSpPr>
        <p:grpSpPr bwMode="auto">
          <a:xfrm>
            <a:off x="2090738" y="2901950"/>
            <a:ext cx="4930775" cy="854075"/>
            <a:chOff x="1317" y="1828"/>
            <a:chExt cx="3106" cy="538"/>
          </a:xfrm>
        </p:grpSpPr>
        <p:sp>
          <p:nvSpPr>
            <p:cNvPr id="159824" name="Line 13">
              <a:extLst>
                <a:ext uri="{FF2B5EF4-FFF2-40B4-BE49-F238E27FC236}">
                  <a16:creationId xmlns:a16="http://schemas.microsoft.com/office/drawing/2014/main" id="{0DAFF889-180A-4A6A-B4B5-3E4AD4BED8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86" y="1828"/>
              <a:ext cx="1580" cy="36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9825" name="Rectangle 14">
              <a:extLst>
                <a:ext uri="{FF2B5EF4-FFF2-40B4-BE49-F238E27FC236}">
                  <a16:creationId xmlns:a16="http://schemas.microsoft.com/office/drawing/2014/main" id="{B9DF5CCC-BBF8-45FD-B8ED-65BDE8192F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7" y="1912"/>
              <a:ext cx="896" cy="2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826" name="Text Box 15">
              <a:extLst>
                <a:ext uri="{FF2B5EF4-FFF2-40B4-BE49-F238E27FC236}">
                  <a16:creationId xmlns:a16="http://schemas.microsoft.com/office/drawing/2014/main" id="{FDD01CF6-BF22-4A8B-8525-FA09BC243A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0" y="1875"/>
              <a:ext cx="15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 err="1">
                  <a:solidFill>
                    <a:srgbClr val="0070C0"/>
                  </a:solidFill>
                  <a:latin typeface="Tahoma" panose="020B0604030504040204" pitchFamily="34" charset="0"/>
                </a:rPr>
                <a:t>ACKbit</a:t>
              </a:r>
              <a:r>
                <a:rPr lang="en-US" altLang="zh-TW" sz="1600" dirty="0">
                  <a:solidFill>
                    <a:srgbClr val="0070C0"/>
                  </a:solidFill>
                  <a:latin typeface="Tahoma" panose="020B0604030504040204" pitchFamily="34" charset="0"/>
                </a:rPr>
                <a:t>=1</a:t>
              </a:r>
              <a:r>
                <a:rPr lang="en-US" altLang="zh-TW" sz="1600" dirty="0">
                  <a:latin typeface="Tahoma" panose="020B0604030504040204" pitchFamily="34" charset="0"/>
                </a:rPr>
                <a:t>; </a:t>
              </a:r>
              <a:r>
                <a:rPr lang="en-US" altLang="zh-TW" sz="1600" dirty="0" err="1">
                  <a:latin typeface="Tahoma" panose="020B0604030504040204" pitchFamily="34" charset="0"/>
                </a:rPr>
                <a:t>ACKnum</a:t>
              </a:r>
              <a:r>
                <a:rPr lang="en-US" altLang="zh-TW" sz="1600" dirty="0">
                  <a:latin typeface="Tahoma" panose="020B0604030504040204" pitchFamily="34" charset="0"/>
                </a:rPr>
                <a:t>=x+1</a:t>
              </a:r>
            </a:p>
          </p:txBody>
        </p:sp>
        <p:sp>
          <p:nvSpPr>
            <p:cNvPr id="159827" name="Text Box 21">
              <a:extLst>
                <a:ext uri="{FF2B5EF4-FFF2-40B4-BE49-F238E27FC236}">
                  <a16:creationId xmlns:a16="http://schemas.microsoft.com/office/drawing/2014/main" id="{77424A92-3AA1-449C-802D-59E5CE1D91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7" y="2066"/>
              <a:ext cx="867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 wait for server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close</a:t>
              </a:r>
            </a:p>
          </p:txBody>
        </p:sp>
        <p:sp>
          <p:nvSpPr>
            <p:cNvPr id="159828" name="Text Box 49">
              <a:extLst>
                <a:ext uri="{FF2B5EF4-FFF2-40B4-BE49-F238E27FC236}">
                  <a16:creationId xmlns:a16="http://schemas.microsoft.com/office/drawing/2014/main" id="{D030F7CB-DA82-41F8-A5CF-8A2205A87B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22" y="1979"/>
              <a:ext cx="601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can still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send data</a:t>
              </a:r>
            </a:p>
          </p:txBody>
        </p:sp>
      </p:grpSp>
      <p:grpSp>
        <p:nvGrpSpPr>
          <p:cNvPr id="7" name="Group 78">
            <a:extLst>
              <a:ext uri="{FF2B5EF4-FFF2-40B4-BE49-F238E27FC236}">
                <a16:creationId xmlns:a16="http://schemas.microsoft.com/office/drawing/2014/main" id="{177F96C0-3CB3-436A-986B-B2601CDEDD17}"/>
              </a:ext>
            </a:extLst>
          </p:cNvPr>
          <p:cNvGrpSpPr>
            <a:grpSpLocks/>
          </p:cNvGrpSpPr>
          <p:nvPr/>
        </p:nvGrpSpPr>
        <p:grpSpPr bwMode="auto">
          <a:xfrm>
            <a:off x="6059488" y="3032125"/>
            <a:ext cx="2501900" cy="1735138"/>
            <a:chOff x="3817" y="1910"/>
            <a:chExt cx="1576" cy="1093"/>
          </a:xfrm>
        </p:grpSpPr>
        <p:sp>
          <p:nvSpPr>
            <p:cNvPr id="159820" name="Text Box 50">
              <a:extLst>
                <a:ext uri="{FF2B5EF4-FFF2-40B4-BE49-F238E27FC236}">
                  <a16:creationId xmlns:a16="http://schemas.microsoft.com/office/drawing/2014/main" id="{D909C2A1-A1AA-416D-A10F-EF362D15CF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7" y="2703"/>
              <a:ext cx="792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can no longer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send data</a:t>
              </a:r>
            </a:p>
          </p:txBody>
        </p:sp>
        <p:grpSp>
          <p:nvGrpSpPr>
            <p:cNvPr id="159821" name="Group 76">
              <a:extLst>
                <a:ext uri="{FF2B5EF4-FFF2-40B4-BE49-F238E27FC236}">
                  <a16:creationId xmlns:a16="http://schemas.microsoft.com/office/drawing/2014/main" id="{918D894F-7772-4867-B66D-C087EACD61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1" y="1910"/>
              <a:ext cx="702" cy="723"/>
              <a:chOff x="4691" y="1910"/>
              <a:chExt cx="702" cy="723"/>
            </a:xfrm>
          </p:grpSpPr>
          <p:sp>
            <p:nvSpPr>
              <p:cNvPr id="159822" name="Line 39">
                <a:extLst>
                  <a:ext uri="{FF2B5EF4-FFF2-40B4-BE49-F238E27FC236}">
                    <a16:creationId xmlns:a16="http://schemas.microsoft.com/office/drawing/2014/main" id="{BD4BBF30-F658-4B19-9936-D85ECA2D955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67" y="1910"/>
                <a:ext cx="0" cy="5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59823" name="Text Box 55">
                <a:extLst>
                  <a:ext uri="{FF2B5EF4-FFF2-40B4-BE49-F238E27FC236}">
                    <a16:creationId xmlns:a16="http://schemas.microsoft.com/office/drawing/2014/main" id="{559FCF65-CCBB-4306-A896-967B2800822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91" y="2421"/>
                <a:ext cx="70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latin typeface="Tahoma" panose="020B0604030504040204" pitchFamily="34" charset="0"/>
                  </a:rPr>
                  <a:t>LAST_ACK</a:t>
                </a:r>
              </a:p>
            </p:txBody>
          </p:sp>
        </p:grpSp>
      </p:grpSp>
      <p:grpSp>
        <p:nvGrpSpPr>
          <p:cNvPr id="9" name="Group 82">
            <a:extLst>
              <a:ext uri="{FF2B5EF4-FFF2-40B4-BE49-F238E27FC236}">
                <a16:creationId xmlns:a16="http://schemas.microsoft.com/office/drawing/2014/main" id="{71E74A05-D5D5-4DE9-8FF3-3C3363E74B8A}"/>
              </a:ext>
            </a:extLst>
          </p:cNvPr>
          <p:cNvGrpSpPr>
            <a:grpSpLocks/>
          </p:cNvGrpSpPr>
          <p:nvPr/>
        </p:nvGrpSpPr>
        <p:grpSpPr bwMode="auto">
          <a:xfrm>
            <a:off x="7642225" y="4213225"/>
            <a:ext cx="917575" cy="1223963"/>
            <a:chOff x="4814" y="2654"/>
            <a:chExt cx="578" cy="771"/>
          </a:xfrm>
        </p:grpSpPr>
        <p:sp>
          <p:nvSpPr>
            <p:cNvPr id="159818" name="Text Box 11">
              <a:extLst>
                <a:ext uri="{FF2B5EF4-FFF2-40B4-BE49-F238E27FC236}">
                  <a16:creationId xmlns:a16="http://schemas.microsoft.com/office/drawing/2014/main" id="{5FED551E-74EF-48DD-846E-485FDCD671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14" y="3213"/>
              <a:ext cx="57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CLOSED</a:t>
              </a:r>
            </a:p>
          </p:txBody>
        </p:sp>
        <p:sp>
          <p:nvSpPr>
            <p:cNvPr id="159819" name="Line 57">
              <a:extLst>
                <a:ext uri="{FF2B5EF4-FFF2-40B4-BE49-F238E27FC236}">
                  <a16:creationId xmlns:a16="http://schemas.microsoft.com/office/drawing/2014/main" id="{34219D7B-A6A7-46BA-BC8C-59B1895955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73" y="265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" name="Group 77">
            <a:extLst>
              <a:ext uri="{FF2B5EF4-FFF2-40B4-BE49-F238E27FC236}">
                <a16:creationId xmlns:a16="http://schemas.microsoft.com/office/drawing/2014/main" id="{E9FBC41C-3AE2-4826-96E6-8D0EA39B226D}"/>
              </a:ext>
            </a:extLst>
          </p:cNvPr>
          <p:cNvGrpSpPr>
            <a:grpSpLocks/>
          </p:cNvGrpSpPr>
          <p:nvPr/>
        </p:nvGrpSpPr>
        <p:grpSpPr bwMode="auto">
          <a:xfrm>
            <a:off x="650875" y="3605213"/>
            <a:ext cx="1268413" cy="1046162"/>
            <a:chOff x="410" y="2271"/>
            <a:chExt cx="799" cy="659"/>
          </a:xfrm>
        </p:grpSpPr>
        <p:sp>
          <p:nvSpPr>
            <p:cNvPr id="159816" name="Text Box 58">
              <a:extLst>
                <a:ext uri="{FF2B5EF4-FFF2-40B4-BE49-F238E27FC236}">
                  <a16:creationId xmlns:a16="http://schemas.microsoft.com/office/drawing/2014/main" id="{2AAF4D64-64C3-4D9F-836F-3C912B88C4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0" y="2717"/>
              <a:ext cx="79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TIME_WAIT</a:t>
              </a:r>
            </a:p>
          </p:txBody>
        </p:sp>
        <p:sp>
          <p:nvSpPr>
            <p:cNvPr id="159817" name="Line 60">
              <a:extLst>
                <a:ext uri="{FF2B5EF4-FFF2-40B4-BE49-F238E27FC236}">
                  <a16:creationId xmlns:a16="http://schemas.microsoft.com/office/drawing/2014/main" id="{4F193FEB-0F75-41DF-9127-9631622285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8" y="2271"/>
              <a:ext cx="0" cy="48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1" name="Group 81">
            <a:extLst>
              <a:ext uri="{FF2B5EF4-FFF2-40B4-BE49-F238E27FC236}">
                <a16:creationId xmlns:a16="http://schemas.microsoft.com/office/drawing/2014/main" id="{B935B35D-5F50-4403-B3E0-CC6CFEF63F88}"/>
              </a:ext>
            </a:extLst>
          </p:cNvPr>
          <p:cNvGrpSpPr>
            <a:grpSpLocks/>
          </p:cNvGrpSpPr>
          <p:nvPr/>
        </p:nvGrpSpPr>
        <p:grpSpPr bwMode="auto">
          <a:xfrm>
            <a:off x="674688" y="4486275"/>
            <a:ext cx="2743200" cy="1768475"/>
            <a:chOff x="425" y="2826"/>
            <a:chExt cx="1728" cy="1114"/>
          </a:xfrm>
        </p:grpSpPr>
        <p:sp>
          <p:nvSpPr>
            <p:cNvPr id="159810" name="Line 52">
              <a:extLst>
                <a:ext uri="{FF2B5EF4-FFF2-40B4-BE49-F238E27FC236}">
                  <a16:creationId xmlns:a16="http://schemas.microsoft.com/office/drawing/2014/main" id="{BA6CD1F3-88AA-4198-9586-497F9E30F6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0" y="2833"/>
              <a:ext cx="7" cy="10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9811" name="Text Box 51">
              <a:extLst>
                <a:ext uri="{FF2B5EF4-FFF2-40B4-BE49-F238E27FC236}">
                  <a16:creationId xmlns:a16="http://schemas.microsoft.com/office/drawing/2014/main" id="{49E718F3-5F2D-4650-8B34-65E99105A3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16" y="3093"/>
              <a:ext cx="937" cy="4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 timed wait 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for 2*max 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Tahoma" panose="020B0604030504040204" pitchFamily="34" charset="0"/>
                </a:rPr>
                <a:t>segment lifetime</a:t>
              </a:r>
            </a:p>
          </p:txBody>
        </p:sp>
        <p:sp>
          <p:nvSpPr>
            <p:cNvPr id="159812" name="Line 53">
              <a:extLst>
                <a:ext uri="{FF2B5EF4-FFF2-40B4-BE49-F238E27FC236}">
                  <a16:creationId xmlns:a16="http://schemas.microsoft.com/office/drawing/2014/main" id="{6DE27166-C942-4F64-90DF-3A835104B1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42" y="2826"/>
              <a:ext cx="14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9813" name="Line 54">
              <a:extLst>
                <a:ext uri="{FF2B5EF4-FFF2-40B4-BE49-F238E27FC236}">
                  <a16:creationId xmlns:a16="http://schemas.microsoft.com/office/drawing/2014/main" id="{B35E04C7-D58A-4EF7-BF1B-1E1FF951EF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59" y="3889"/>
              <a:ext cx="14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9814" name="Text Box 59">
              <a:extLst>
                <a:ext uri="{FF2B5EF4-FFF2-40B4-BE49-F238E27FC236}">
                  <a16:creationId xmlns:a16="http://schemas.microsoft.com/office/drawing/2014/main" id="{77DC9C84-642D-4EFA-A978-54F059A5F4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5" y="3728"/>
              <a:ext cx="57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CLOSED</a:t>
              </a:r>
            </a:p>
          </p:txBody>
        </p:sp>
        <p:sp>
          <p:nvSpPr>
            <p:cNvPr id="159815" name="Line 61">
              <a:extLst>
                <a:ext uri="{FF2B5EF4-FFF2-40B4-BE49-F238E27FC236}">
                  <a16:creationId xmlns:a16="http://schemas.microsoft.com/office/drawing/2014/main" id="{663D13B8-ACDC-4602-BFBF-DBA4DCE838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1" y="2918"/>
              <a:ext cx="0" cy="83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85008" name="Rectangle 62">
            <a:extLst>
              <a:ext uri="{FF2B5EF4-FFF2-40B4-BE49-F238E27FC236}">
                <a16:creationId xmlns:a16="http://schemas.microsoft.com/office/drawing/2014/main" id="{D665EE89-900A-42EA-8D3B-7710E2DAB4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33388" y="241300"/>
            <a:ext cx="8129587" cy="72707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TCP: closing a connection (cont’d)</a:t>
            </a:r>
          </a:p>
        </p:txBody>
      </p:sp>
      <p:grpSp>
        <p:nvGrpSpPr>
          <p:cNvPr id="12" name="Group 71">
            <a:extLst>
              <a:ext uri="{FF2B5EF4-FFF2-40B4-BE49-F238E27FC236}">
                <a16:creationId xmlns:a16="http://schemas.microsoft.com/office/drawing/2014/main" id="{A8D08966-8A5E-4D1C-A208-0663A5D0B2E0}"/>
              </a:ext>
            </a:extLst>
          </p:cNvPr>
          <p:cNvGrpSpPr>
            <a:grpSpLocks/>
          </p:cNvGrpSpPr>
          <p:nvPr/>
        </p:nvGrpSpPr>
        <p:grpSpPr bwMode="auto">
          <a:xfrm>
            <a:off x="550863" y="2046288"/>
            <a:ext cx="1335087" cy="700087"/>
            <a:chOff x="347" y="1289"/>
            <a:chExt cx="841" cy="441"/>
          </a:xfrm>
        </p:grpSpPr>
        <p:sp>
          <p:nvSpPr>
            <p:cNvPr id="159808" name="Text Box 31">
              <a:extLst>
                <a:ext uri="{FF2B5EF4-FFF2-40B4-BE49-F238E27FC236}">
                  <a16:creationId xmlns:a16="http://schemas.microsoft.com/office/drawing/2014/main" id="{B6DDF61E-8FFF-48AF-B0A6-530E438F05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" y="1518"/>
              <a:ext cx="84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Tahoma" panose="020B0604030504040204" pitchFamily="34" charset="0"/>
                </a:rPr>
                <a:t>FIN_WAIT_1</a:t>
              </a:r>
            </a:p>
          </p:txBody>
        </p:sp>
        <p:sp>
          <p:nvSpPr>
            <p:cNvPr id="159809" name="Line 32">
              <a:extLst>
                <a:ext uri="{FF2B5EF4-FFF2-40B4-BE49-F238E27FC236}">
                  <a16:creationId xmlns:a16="http://schemas.microsoft.com/office/drawing/2014/main" id="{FDFFB22E-03AA-4BD3-A3EA-7E1F8B978E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0" y="1289"/>
              <a:ext cx="0" cy="27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" name="Group 70">
            <a:extLst>
              <a:ext uri="{FF2B5EF4-FFF2-40B4-BE49-F238E27FC236}">
                <a16:creationId xmlns:a16="http://schemas.microsoft.com/office/drawing/2014/main" id="{492B3062-4710-4008-9BB0-479ACBE78569}"/>
              </a:ext>
            </a:extLst>
          </p:cNvPr>
          <p:cNvGrpSpPr>
            <a:grpSpLocks/>
          </p:cNvGrpSpPr>
          <p:nvPr/>
        </p:nvGrpSpPr>
        <p:grpSpPr bwMode="auto">
          <a:xfrm>
            <a:off x="1204913" y="2100263"/>
            <a:ext cx="4775200" cy="1014412"/>
            <a:chOff x="759" y="1323"/>
            <a:chExt cx="3008" cy="639"/>
          </a:xfrm>
        </p:grpSpPr>
        <p:sp>
          <p:nvSpPr>
            <p:cNvPr id="159803" name="Line 6">
              <a:extLst>
                <a:ext uri="{FF2B5EF4-FFF2-40B4-BE49-F238E27FC236}">
                  <a16:creationId xmlns:a16="http://schemas.microsoft.com/office/drawing/2014/main" id="{CBA8F85C-9763-4AC2-8D71-598C0C6D7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95" y="1442"/>
              <a:ext cx="1572" cy="32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59804" name="Rectangle 7">
              <a:extLst>
                <a:ext uri="{FF2B5EF4-FFF2-40B4-BE49-F238E27FC236}">
                  <a16:creationId xmlns:a16="http://schemas.microsoft.com/office/drawing/2014/main" id="{7757FE42-A31B-4D33-B93E-84811FEAD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4" y="1369"/>
              <a:ext cx="590" cy="3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805" name="Text Box 8">
              <a:extLst>
                <a:ext uri="{FF2B5EF4-FFF2-40B4-BE49-F238E27FC236}">
                  <a16:creationId xmlns:a16="http://schemas.microsoft.com/office/drawing/2014/main" id="{47B8D968-04BA-45C9-A981-575E53F087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0" y="1493"/>
              <a:ext cx="105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 err="1">
                  <a:solidFill>
                    <a:srgbClr val="FF0000"/>
                  </a:solidFill>
                  <a:latin typeface="Tahoma" panose="020B0604030504040204" pitchFamily="34" charset="0"/>
                </a:rPr>
                <a:t>FINbit</a:t>
              </a:r>
              <a:r>
                <a:rPr lang="en-US" altLang="zh-TW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=1</a:t>
              </a:r>
              <a:r>
                <a:rPr lang="en-US" altLang="zh-TW" sz="1600" dirty="0">
                  <a:latin typeface="Tahoma" panose="020B0604030504040204" pitchFamily="34" charset="0"/>
                </a:rPr>
                <a:t>, seq=x</a:t>
              </a:r>
            </a:p>
          </p:txBody>
        </p:sp>
        <p:sp>
          <p:nvSpPr>
            <p:cNvPr id="159806" name="Text Box 9">
              <a:extLst>
                <a:ext uri="{FF2B5EF4-FFF2-40B4-BE49-F238E27FC236}">
                  <a16:creationId xmlns:a16="http://schemas.microsoft.com/office/drawing/2014/main" id="{D49F40FA-3623-4417-9C83-41D2C9A0E4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09" y="1541"/>
              <a:ext cx="913" cy="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solidFill>
                    <a:srgbClr val="0070C0"/>
                  </a:solidFill>
                  <a:latin typeface="Tahoma" panose="020B0604030504040204" pitchFamily="34" charset="0"/>
                </a:rPr>
                <a:t>can no longer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solidFill>
                    <a:srgbClr val="0070C0"/>
                  </a:solidFill>
                  <a:latin typeface="Tahoma" panose="020B0604030504040204" pitchFamily="34" charset="0"/>
                </a:rPr>
                <a:t>send but can</a:t>
              </a:r>
            </a:p>
            <a:p>
              <a:pPr algn="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dirty="0">
                  <a:solidFill>
                    <a:srgbClr val="0070C0"/>
                  </a:solidFill>
                  <a:latin typeface="Tahoma" panose="020B0604030504040204" pitchFamily="34" charset="0"/>
                </a:rPr>
                <a:t> receive data</a:t>
              </a:r>
            </a:p>
          </p:txBody>
        </p:sp>
        <p:sp>
          <p:nvSpPr>
            <p:cNvPr id="159807" name="Text Box 67">
              <a:extLst>
                <a:ext uri="{FF2B5EF4-FFF2-40B4-BE49-F238E27FC236}">
                  <a16:creationId xmlns:a16="http://schemas.microsoft.com/office/drawing/2014/main" id="{1D41C21E-5346-42D8-8B27-08393AF987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9" y="1323"/>
              <a:ext cx="14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Courier New" panose="02070309020205020404" pitchFamily="49" charset="0"/>
                </a:rPr>
                <a:t>clientSocket.close()</a:t>
              </a:r>
            </a:p>
          </p:txBody>
        </p:sp>
      </p:grpSp>
      <p:sp>
        <p:nvSpPr>
          <p:cNvPr id="159763" name="Text Box 84">
            <a:extLst>
              <a:ext uri="{FF2B5EF4-FFF2-40B4-BE49-F238E27FC236}">
                <a16:creationId xmlns:a16="http://schemas.microsoft.com/office/drawing/2014/main" id="{FA62CC48-3BBA-40CE-9F1F-9897997704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8475" y="1368425"/>
            <a:ext cx="1160463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0099"/>
                </a:solidFill>
                <a:latin typeface="Tahoma" panose="020B0604030504040204" pitchFamily="34" charset="0"/>
              </a:rPr>
              <a:t>client state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600" i="1">
              <a:solidFill>
                <a:srgbClr val="000099"/>
              </a:solidFill>
              <a:latin typeface="Tahoma" panose="020B0604030504040204" pitchFamily="34" charset="0"/>
            </a:endParaRPr>
          </a:p>
        </p:txBody>
      </p:sp>
      <p:sp>
        <p:nvSpPr>
          <p:cNvPr id="159764" name="Text Box 85">
            <a:extLst>
              <a:ext uri="{FF2B5EF4-FFF2-40B4-BE49-F238E27FC236}">
                <a16:creationId xmlns:a16="http://schemas.microsoft.com/office/drawing/2014/main" id="{86AC0681-BEF6-4C72-A2F0-5A0A8933FF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3300" y="1385888"/>
            <a:ext cx="123825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0099"/>
                </a:solidFill>
                <a:latin typeface="Tahoma" panose="020B0604030504040204" pitchFamily="34" charset="0"/>
              </a:rPr>
              <a:t>server state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600" i="1">
              <a:solidFill>
                <a:srgbClr val="000099"/>
              </a:solidFill>
              <a:latin typeface="Tahoma" panose="020B0604030504040204" pitchFamily="34" charset="0"/>
            </a:endParaRPr>
          </a:p>
        </p:txBody>
      </p:sp>
      <p:sp>
        <p:nvSpPr>
          <p:cNvPr id="159765" name="Text Box 86">
            <a:extLst>
              <a:ext uri="{FF2B5EF4-FFF2-40B4-BE49-F238E27FC236}">
                <a16:creationId xmlns:a16="http://schemas.microsoft.com/office/drawing/2014/main" id="{85A62D32-4FF0-4382-B7D3-ABF1C6AD18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225" y="1768475"/>
            <a:ext cx="7715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ESTAB</a:t>
            </a:r>
          </a:p>
        </p:txBody>
      </p:sp>
      <p:sp>
        <p:nvSpPr>
          <p:cNvPr id="159766" name="Text Box 87">
            <a:extLst>
              <a:ext uri="{FF2B5EF4-FFF2-40B4-BE49-F238E27FC236}">
                <a16:creationId xmlns:a16="http://schemas.microsoft.com/office/drawing/2014/main" id="{0C64DCF3-1AFF-454F-9F73-9F65A3E16C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751013"/>
            <a:ext cx="7715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ESTAB</a:t>
            </a:r>
          </a:p>
        </p:txBody>
      </p:sp>
      <p:grpSp>
        <p:nvGrpSpPr>
          <p:cNvPr id="159767" name="Group 88">
            <a:extLst>
              <a:ext uri="{FF2B5EF4-FFF2-40B4-BE49-F238E27FC236}">
                <a16:creationId xmlns:a16="http://schemas.microsoft.com/office/drawing/2014/main" id="{AACAF67A-53C1-4760-9881-44DB3A9EBC47}"/>
              </a:ext>
            </a:extLst>
          </p:cNvPr>
          <p:cNvGrpSpPr>
            <a:grpSpLocks/>
          </p:cNvGrpSpPr>
          <p:nvPr/>
        </p:nvGrpSpPr>
        <p:grpSpPr bwMode="auto">
          <a:xfrm>
            <a:off x="3140075" y="1443038"/>
            <a:ext cx="642938" cy="600075"/>
            <a:chOff x="-44" y="1473"/>
            <a:chExt cx="981" cy="1105"/>
          </a:xfrm>
        </p:grpSpPr>
        <p:pic>
          <p:nvPicPr>
            <p:cNvPr id="159801" name="Picture 89" descr="desktop_computer_stylized_medium">
              <a:extLst>
                <a:ext uri="{FF2B5EF4-FFF2-40B4-BE49-F238E27FC236}">
                  <a16:creationId xmlns:a16="http://schemas.microsoft.com/office/drawing/2014/main" id="{5C3DC20B-738A-4345-A381-C16AAC97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9802" name="Freeform 90">
              <a:extLst>
                <a:ext uri="{FF2B5EF4-FFF2-40B4-BE49-F238E27FC236}">
                  <a16:creationId xmlns:a16="http://schemas.microsoft.com/office/drawing/2014/main" id="{5DF4EF6B-598C-498E-A7E2-F6B509E26BD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59768" name="Group 91">
            <a:extLst>
              <a:ext uri="{FF2B5EF4-FFF2-40B4-BE49-F238E27FC236}">
                <a16:creationId xmlns:a16="http://schemas.microsoft.com/office/drawing/2014/main" id="{EBF644E2-38E8-4529-8E1B-2CE0A01B6575}"/>
              </a:ext>
            </a:extLst>
          </p:cNvPr>
          <p:cNvGrpSpPr>
            <a:grpSpLocks/>
          </p:cNvGrpSpPr>
          <p:nvPr/>
        </p:nvGrpSpPr>
        <p:grpSpPr bwMode="auto">
          <a:xfrm>
            <a:off x="5772150" y="1446213"/>
            <a:ext cx="336550" cy="512762"/>
            <a:chOff x="4140" y="429"/>
            <a:chExt cx="1425" cy="2396"/>
          </a:xfrm>
        </p:grpSpPr>
        <p:sp>
          <p:nvSpPr>
            <p:cNvPr id="159769" name="Freeform 92">
              <a:extLst>
                <a:ext uri="{FF2B5EF4-FFF2-40B4-BE49-F238E27FC236}">
                  <a16:creationId xmlns:a16="http://schemas.microsoft.com/office/drawing/2014/main" id="{A3CF8F3B-059A-4A91-AE94-863474FA40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9770" name="Rectangle 93">
              <a:extLst>
                <a:ext uri="{FF2B5EF4-FFF2-40B4-BE49-F238E27FC236}">
                  <a16:creationId xmlns:a16="http://schemas.microsoft.com/office/drawing/2014/main" id="{6C35FFB1-0662-4B9C-ADC2-FD778A1B8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7" y="429"/>
              <a:ext cx="1049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771" name="Freeform 94">
              <a:extLst>
                <a:ext uri="{FF2B5EF4-FFF2-40B4-BE49-F238E27FC236}">
                  <a16:creationId xmlns:a16="http://schemas.microsoft.com/office/drawing/2014/main" id="{45A6D85C-4194-4C5B-B42E-BE54EB1AE8D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9772" name="Freeform 95">
              <a:extLst>
                <a:ext uri="{FF2B5EF4-FFF2-40B4-BE49-F238E27FC236}">
                  <a16:creationId xmlns:a16="http://schemas.microsoft.com/office/drawing/2014/main" id="{FDE90DCB-1C2A-4FFD-ADBF-0C9B823E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9773" name="Rectangle 96">
              <a:extLst>
                <a:ext uri="{FF2B5EF4-FFF2-40B4-BE49-F238E27FC236}">
                  <a16:creationId xmlns:a16="http://schemas.microsoft.com/office/drawing/2014/main" id="{84754E9F-1063-4617-A4E9-D7C8F1C77B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6"/>
              <a:ext cx="592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59774" name="Group 97">
              <a:extLst>
                <a:ext uri="{FF2B5EF4-FFF2-40B4-BE49-F238E27FC236}">
                  <a16:creationId xmlns:a16="http://schemas.microsoft.com/office/drawing/2014/main" id="{128EBB5C-ABD7-46DB-9CA8-5FC2D1231B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59799" name="AutoShape 98">
                <a:extLst>
                  <a:ext uri="{FF2B5EF4-FFF2-40B4-BE49-F238E27FC236}">
                    <a16:creationId xmlns:a16="http://schemas.microsoft.com/office/drawing/2014/main" id="{BC1747AC-3CEB-4C30-A211-D4320BE825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6"/>
                <a:ext cx="721" cy="142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9800" name="AutoShape 99">
                <a:extLst>
                  <a:ext uri="{FF2B5EF4-FFF2-40B4-BE49-F238E27FC236}">
                    <a16:creationId xmlns:a16="http://schemas.microsoft.com/office/drawing/2014/main" id="{9F7CAD22-FDE5-46C4-A9EA-AC835CB118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1"/>
                <a:ext cx="688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9775" name="Rectangle 100">
              <a:extLst>
                <a:ext uri="{FF2B5EF4-FFF2-40B4-BE49-F238E27FC236}">
                  <a16:creationId xmlns:a16="http://schemas.microsoft.com/office/drawing/2014/main" id="{09A9455E-24E3-4919-87A6-A5A0AAAA87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1" y="1022"/>
              <a:ext cx="598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59776" name="Group 101">
              <a:extLst>
                <a:ext uri="{FF2B5EF4-FFF2-40B4-BE49-F238E27FC236}">
                  <a16:creationId xmlns:a16="http://schemas.microsoft.com/office/drawing/2014/main" id="{3DCC3264-962B-41F2-84A4-A9A2F857AB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59797" name="AutoShape 102">
                <a:extLst>
                  <a:ext uri="{FF2B5EF4-FFF2-40B4-BE49-F238E27FC236}">
                    <a16:creationId xmlns:a16="http://schemas.microsoft.com/office/drawing/2014/main" id="{B76B29E4-CEB6-49CE-A8B3-8DA5EBBC53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7"/>
                <a:ext cx="730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9798" name="AutoShape 103">
                <a:extLst>
                  <a:ext uri="{FF2B5EF4-FFF2-40B4-BE49-F238E27FC236}">
                    <a16:creationId xmlns:a16="http://schemas.microsoft.com/office/drawing/2014/main" id="{0007072D-BD07-48EE-817B-686421252A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2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9777" name="Rectangle 104">
              <a:extLst>
                <a:ext uri="{FF2B5EF4-FFF2-40B4-BE49-F238E27FC236}">
                  <a16:creationId xmlns:a16="http://schemas.microsoft.com/office/drawing/2014/main" id="{261BCE4F-D500-4E03-B2F9-6C6304709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6"/>
              <a:ext cx="598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778" name="Rectangle 105">
              <a:extLst>
                <a:ext uri="{FF2B5EF4-FFF2-40B4-BE49-F238E27FC236}">
                  <a16:creationId xmlns:a16="http://schemas.microsoft.com/office/drawing/2014/main" id="{A3FD2A29-A600-45A9-9CCE-DED7694F2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3"/>
              <a:ext cx="598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59779" name="Group 106">
              <a:extLst>
                <a:ext uri="{FF2B5EF4-FFF2-40B4-BE49-F238E27FC236}">
                  <a16:creationId xmlns:a16="http://schemas.microsoft.com/office/drawing/2014/main" id="{DDA4BE2B-B6E1-44ED-ADB7-5D120E0787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59795" name="AutoShape 107">
                <a:extLst>
                  <a:ext uri="{FF2B5EF4-FFF2-40B4-BE49-F238E27FC236}">
                    <a16:creationId xmlns:a16="http://schemas.microsoft.com/office/drawing/2014/main" id="{CB07CF9E-85B8-4950-B01A-013B2B24D3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71"/>
                <a:ext cx="720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9796" name="AutoShape 108">
                <a:extLst>
                  <a:ext uri="{FF2B5EF4-FFF2-40B4-BE49-F238E27FC236}">
                    <a16:creationId xmlns:a16="http://schemas.microsoft.com/office/drawing/2014/main" id="{78971D72-6156-4E2E-87A9-709CC60CF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5" y="2585"/>
                <a:ext cx="687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9780" name="Freeform 109">
              <a:extLst>
                <a:ext uri="{FF2B5EF4-FFF2-40B4-BE49-F238E27FC236}">
                  <a16:creationId xmlns:a16="http://schemas.microsoft.com/office/drawing/2014/main" id="{21C67750-E3E3-4FDC-B646-E6050DEB0A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9781" name="Group 110">
              <a:extLst>
                <a:ext uri="{FF2B5EF4-FFF2-40B4-BE49-F238E27FC236}">
                  <a16:creationId xmlns:a16="http://schemas.microsoft.com/office/drawing/2014/main" id="{8CDA8AB9-64A4-4408-8A70-509BB70A93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59793" name="AutoShape 111">
                <a:extLst>
                  <a:ext uri="{FF2B5EF4-FFF2-40B4-BE49-F238E27FC236}">
                    <a16:creationId xmlns:a16="http://schemas.microsoft.com/office/drawing/2014/main" id="{DC29EAF9-ABC2-4D85-89AA-B2CFEB7AD8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28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59794" name="AutoShape 112">
                <a:extLst>
                  <a:ext uri="{FF2B5EF4-FFF2-40B4-BE49-F238E27FC236}">
                    <a16:creationId xmlns:a16="http://schemas.microsoft.com/office/drawing/2014/main" id="{0F24BE96-3209-453A-B38A-EE4D8AB5C9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59782" name="Rectangle 113">
              <a:extLst>
                <a:ext uri="{FF2B5EF4-FFF2-40B4-BE49-F238E27FC236}">
                  <a16:creationId xmlns:a16="http://schemas.microsoft.com/office/drawing/2014/main" id="{FAA029AB-9730-43D2-B5AF-E9C53890DB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7" cy="2292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783" name="Freeform 114">
              <a:extLst>
                <a:ext uri="{FF2B5EF4-FFF2-40B4-BE49-F238E27FC236}">
                  <a16:creationId xmlns:a16="http://schemas.microsoft.com/office/drawing/2014/main" id="{2F37358C-84CB-4353-B7D0-3194CFB41DC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9784" name="Freeform 115">
              <a:extLst>
                <a:ext uri="{FF2B5EF4-FFF2-40B4-BE49-F238E27FC236}">
                  <a16:creationId xmlns:a16="http://schemas.microsoft.com/office/drawing/2014/main" id="{D600E777-FB16-4F24-9221-B00363C1CF1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9785" name="Oval 116">
              <a:extLst>
                <a:ext uri="{FF2B5EF4-FFF2-40B4-BE49-F238E27FC236}">
                  <a16:creationId xmlns:a16="http://schemas.microsoft.com/office/drawing/2014/main" id="{9CC61C63-D61C-476F-A794-D18923BB1A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10"/>
              <a:ext cx="47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786" name="Freeform 117">
              <a:extLst>
                <a:ext uri="{FF2B5EF4-FFF2-40B4-BE49-F238E27FC236}">
                  <a16:creationId xmlns:a16="http://schemas.microsoft.com/office/drawing/2014/main" id="{2E79D68B-65E7-4193-A64A-3CE5551F625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9787" name="AutoShape 118">
              <a:extLst>
                <a:ext uri="{FF2B5EF4-FFF2-40B4-BE49-F238E27FC236}">
                  <a16:creationId xmlns:a16="http://schemas.microsoft.com/office/drawing/2014/main" id="{2F3E279E-31D1-46E8-8F46-D65D969F6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196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788" name="AutoShape 119">
              <a:extLst>
                <a:ext uri="{FF2B5EF4-FFF2-40B4-BE49-F238E27FC236}">
                  <a16:creationId xmlns:a16="http://schemas.microsoft.com/office/drawing/2014/main" id="{06CC6B3B-742C-4702-97A7-3D0C90494F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7" y="2714"/>
              <a:ext cx="1069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789" name="Oval 120">
              <a:extLst>
                <a:ext uri="{FF2B5EF4-FFF2-40B4-BE49-F238E27FC236}">
                  <a16:creationId xmlns:a16="http://schemas.microsoft.com/office/drawing/2014/main" id="{DA81EAED-A9A0-42DC-AED5-6014275E59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0"/>
              <a:ext cx="155" cy="14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790" name="Oval 121">
              <a:extLst>
                <a:ext uri="{FF2B5EF4-FFF2-40B4-BE49-F238E27FC236}">
                  <a16:creationId xmlns:a16="http://schemas.microsoft.com/office/drawing/2014/main" id="{D4628C2C-535E-4CFE-9BCB-5C0A6C590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3" y="2387"/>
              <a:ext cx="161" cy="14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9791" name="Oval 122">
              <a:extLst>
                <a:ext uri="{FF2B5EF4-FFF2-40B4-BE49-F238E27FC236}">
                  <a16:creationId xmlns:a16="http://schemas.microsoft.com/office/drawing/2014/main" id="{9387CB85-5EF8-4398-9DCD-2D81F7185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80"/>
              <a:ext cx="155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59792" name="Rectangle 123">
              <a:extLst>
                <a:ext uri="{FF2B5EF4-FFF2-40B4-BE49-F238E27FC236}">
                  <a16:creationId xmlns:a16="http://schemas.microsoft.com/office/drawing/2014/main" id="{E5C23E99-C1ED-4C78-A478-FD0FA5EA10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" y="1838"/>
              <a:ext cx="87" cy="757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Footer Placeholder 5">
            <a:extLst>
              <a:ext uri="{FF2B5EF4-FFF2-40B4-BE49-F238E27FC236}">
                <a16:creationId xmlns:a16="http://schemas.microsoft.com/office/drawing/2014/main" id="{7955615D-D147-40A5-B8B0-DB1FD9573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0771" name="Slide Number Placeholder 6">
            <a:extLst>
              <a:ext uri="{FF2B5EF4-FFF2-40B4-BE49-F238E27FC236}">
                <a16:creationId xmlns:a16="http://schemas.microsoft.com/office/drawing/2014/main" id="{78BF0E12-5F4D-457D-AFEC-94A3B291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A976CB9E-F4DD-42EF-803C-BA8BAF8E78BF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86020" name="Rectangle 2">
            <a:extLst>
              <a:ext uri="{FF2B5EF4-FFF2-40B4-BE49-F238E27FC236}">
                <a16:creationId xmlns:a16="http://schemas.microsoft.com/office/drawing/2014/main" id="{DA1F9292-258E-4125-8F86-79BCB3C9F6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86021" name="Rectangle 3">
            <a:extLst>
              <a:ext uri="{FF2B5EF4-FFF2-40B4-BE49-F238E27FC236}">
                <a16:creationId xmlns:a16="http://schemas.microsoft.com/office/drawing/2014/main" id="{7F8B4CB2-2A5A-463C-92AB-9503E6082E8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86022" name="Rectangle 4">
            <a:extLst>
              <a:ext uri="{FF2B5EF4-FFF2-40B4-BE49-F238E27FC236}">
                <a16:creationId xmlns:a16="http://schemas.microsoft.com/office/drawing/2014/main" id="{B13426FC-3076-4FD0-AE18-D715A5CB6D9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160775" name="Picture 5" descr="underline_base">
            <a:extLst>
              <a:ext uri="{FF2B5EF4-FFF2-40B4-BE49-F238E27FC236}">
                <a16:creationId xmlns:a16="http://schemas.microsoft.com/office/drawing/2014/main" id="{88988F53-AA06-4A63-A463-0616628FB53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39813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Footer Placeholder 5">
            <a:extLst>
              <a:ext uri="{FF2B5EF4-FFF2-40B4-BE49-F238E27FC236}">
                <a16:creationId xmlns:a16="http://schemas.microsoft.com/office/drawing/2014/main" id="{C3D0BFE0-B806-45E9-8036-01B4CCE7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1795" name="Slide Number Placeholder 6">
            <a:extLst>
              <a:ext uri="{FF2B5EF4-FFF2-40B4-BE49-F238E27FC236}">
                <a16:creationId xmlns:a16="http://schemas.microsoft.com/office/drawing/2014/main" id="{ACE10DE6-A71C-4EC5-9D44-A35E5B6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93C35DD9-C19F-450A-B0E2-01DCD740784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61796" name="Rectangle 3">
            <a:extLst>
              <a:ext uri="{FF2B5EF4-FFF2-40B4-BE49-F238E27FC236}">
                <a16:creationId xmlns:a16="http://schemas.microsoft.com/office/drawing/2014/main" id="{B5758D19-2C3E-4E6A-BF29-B7444FC6205D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776287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3200" i="1">
                <a:solidFill>
                  <a:srgbClr val="CC0000"/>
                </a:solidFill>
              </a:rPr>
              <a:t>congestion</a:t>
            </a:r>
            <a:r>
              <a:rPr lang="en-US" altLang="zh-TW" sz="3200">
                <a:solidFill>
                  <a:srgbClr val="CC0000"/>
                </a:solidFill>
              </a:rPr>
              <a:t>:</a:t>
            </a:r>
            <a:endParaRPr lang="en-US" altLang="zh-TW">
              <a:solidFill>
                <a:srgbClr val="CC0000"/>
              </a:solidFill>
            </a:endParaRPr>
          </a:p>
          <a:p>
            <a:r>
              <a:rPr lang="en-US" altLang="zh-TW"/>
              <a:t>informally: </a:t>
            </a:r>
            <a:r>
              <a:rPr lang="ja-JP" altLang="en-US"/>
              <a:t>“</a:t>
            </a:r>
            <a:r>
              <a:rPr lang="en-US" altLang="ja-JP"/>
              <a:t>too many sources sending too much data too fast for </a:t>
            </a:r>
            <a:r>
              <a:rPr lang="en-US" altLang="ja-JP" i="1">
                <a:solidFill>
                  <a:srgbClr val="000099"/>
                </a:solidFill>
              </a:rPr>
              <a:t>network</a:t>
            </a:r>
            <a:r>
              <a:rPr lang="en-US" altLang="ja-JP"/>
              <a:t> to handle</a:t>
            </a:r>
            <a:r>
              <a:rPr lang="ja-JP" altLang="en-US"/>
              <a:t>”</a:t>
            </a:r>
            <a:endParaRPr lang="en-US" altLang="ja-JP"/>
          </a:p>
          <a:p>
            <a:r>
              <a:rPr lang="en-US" altLang="zh-TW"/>
              <a:t>different from flow control!</a:t>
            </a:r>
          </a:p>
          <a:p>
            <a:r>
              <a:rPr lang="en-US" altLang="zh-TW"/>
              <a:t>manifestations:</a:t>
            </a:r>
          </a:p>
          <a:p>
            <a:pPr lvl="1"/>
            <a:r>
              <a:rPr lang="en-US" altLang="zh-TW" sz="2800"/>
              <a:t>lost packets (buffer overflow at routers)</a:t>
            </a:r>
          </a:p>
          <a:p>
            <a:pPr lvl="1"/>
            <a:r>
              <a:rPr lang="en-US" altLang="zh-TW" sz="2800"/>
              <a:t>long delays (queueing in router buffers)</a:t>
            </a:r>
          </a:p>
          <a:p>
            <a:r>
              <a:rPr lang="en-US" altLang="zh-TW"/>
              <a:t>a top-10 problem!</a:t>
            </a:r>
          </a:p>
          <a:p>
            <a:endParaRPr lang="en-US" altLang="zh-TW" sz="2400"/>
          </a:p>
        </p:txBody>
      </p:sp>
      <p:pic>
        <p:nvPicPr>
          <p:cNvPr id="161797" name="Picture 4" descr="underline_base">
            <a:extLst>
              <a:ext uri="{FF2B5EF4-FFF2-40B4-BE49-F238E27FC236}">
                <a16:creationId xmlns:a16="http://schemas.microsoft.com/office/drawing/2014/main" id="{38B59842-8951-4D5C-9B92-67C26D02DE3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5" y="109220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1798" name="Rectangle 2">
            <a:extLst>
              <a:ext uri="{FF2B5EF4-FFF2-40B4-BE49-F238E27FC236}">
                <a16:creationId xmlns:a16="http://schemas.microsoft.com/office/drawing/2014/main" id="{5A9A7644-6C25-4B76-BA65-D3AEB64DB3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66738" y="352425"/>
            <a:ext cx="7772400" cy="1030288"/>
          </a:xfrm>
        </p:spPr>
        <p:txBody>
          <a:bodyPr/>
          <a:lstStyle/>
          <a:p>
            <a:r>
              <a:rPr lang="en-US" altLang="zh-TW" sz="4000"/>
              <a:t>Principles of congestion control</a:t>
            </a:r>
            <a:endParaRPr lang="en-US" altLang="zh-TW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Footer Placeholder 5">
            <a:extLst>
              <a:ext uri="{FF2B5EF4-FFF2-40B4-BE49-F238E27FC236}">
                <a16:creationId xmlns:a16="http://schemas.microsoft.com/office/drawing/2014/main" id="{C9648E43-0FEE-419F-B775-CFA9BF237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2819" name="Slide Number Placeholder 6">
            <a:extLst>
              <a:ext uri="{FF2B5EF4-FFF2-40B4-BE49-F238E27FC236}">
                <a16:creationId xmlns:a16="http://schemas.microsoft.com/office/drawing/2014/main" id="{B35E0552-7513-4995-81F7-3518055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A208EA64-2A85-44FD-8FCD-F2753916F292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91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62820" name="Freeform 9">
            <a:extLst>
              <a:ext uri="{FF2B5EF4-FFF2-40B4-BE49-F238E27FC236}">
                <a16:creationId xmlns:a16="http://schemas.microsoft.com/office/drawing/2014/main" id="{44BA9BDE-FB2E-469F-841D-3FA15D3CC6FA}"/>
              </a:ext>
            </a:extLst>
          </p:cNvPr>
          <p:cNvSpPr>
            <a:spLocks/>
          </p:cNvSpPr>
          <p:nvPr/>
        </p:nvSpPr>
        <p:spPr bwMode="auto">
          <a:xfrm flipH="1">
            <a:off x="4232275" y="1647825"/>
            <a:ext cx="250825" cy="930275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2821" name="Group 124">
            <a:extLst>
              <a:ext uri="{FF2B5EF4-FFF2-40B4-BE49-F238E27FC236}">
                <a16:creationId xmlns:a16="http://schemas.microsoft.com/office/drawing/2014/main" id="{0ABF27EF-E6D2-4E0D-BF13-8ACE2F49435F}"/>
              </a:ext>
            </a:extLst>
          </p:cNvPr>
          <p:cNvGrpSpPr>
            <a:grpSpLocks/>
          </p:cNvGrpSpPr>
          <p:nvPr/>
        </p:nvGrpSpPr>
        <p:grpSpPr bwMode="auto">
          <a:xfrm>
            <a:off x="3898900" y="2344738"/>
            <a:ext cx="525463" cy="434975"/>
            <a:chOff x="-44" y="1473"/>
            <a:chExt cx="981" cy="1105"/>
          </a:xfrm>
        </p:grpSpPr>
        <p:pic>
          <p:nvPicPr>
            <p:cNvPr id="162993" name="Picture 125" descr="desktop_computer_stylized_medium">
              <a:extLst>
                <a:ext uri="{FF2B5EF4-FFF2-40B4-BE49-F238E27FC236}">
                  <a16:creationId xmlns:a16="http://schemas.microsoft.com/office/drawing/2014/main" id="{4929CA74-1B5C-411A-A092-8D34B547D1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2994" name="Freeform 126">
              <a:extLst>
                <a:ext uri="{FF2B5EF4-FFF2-40B4-BE49-F238E27FC236}">
                  <a16:creationId xmlns:a16="http://schemas.microsoft.com/office/drawing/2014/main" id="{11A95885-E717-4212-8D51-E30FBC5F9CE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162822" name="Picture 123" descr="underline_base">
            <a:extLst>
              <a:ext uri="{FF2B5EF4-FFF2-40B4-BE49-F238E27FC236}">
                <a16:creationId xmlns:a16="http://schemas.microsoft.com/office/drawing/2014/main" id="{55801CB3-1CD0-4ED4-94D9-7A4426D38A63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2823" name="Freeform 3">
            <a:extLst>
              <a:ext uri="{FF2B5EF4-FFF2-40B4-BE49-F238E27FC236}">
                <a16:creationId xmlns:a16="http://schemas.microsoft.com/office/drawing/2014/main" id="{B9A0975F-7CFF-4425-B13E-C65839C31DBB}"/>
              </a:ext>
            </a:extLst>
          </p:cNvPr>
          <p:cNvSpPr>
            <a:spLocks/>
          </p:cNvSpPr>
          <p:nvPr/>
        </p:nvSpPr>
        <p:spPr bwMode="auto">
          <a:xfrm>
            <a:off x="8216900" y="2840038"/>
            <a:ext cx="250825" cy="930275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2824" name="Freeform 6">
            <a:extLst>
              <a:ext uri="{FF2B5EF4-FFF2-40B4-BE49-F238E27FC236}">
                <a16:creationId xmlns:a16="http://schemas.microsoft.com/office/drawing/2014/main" id="{FDD8275F-E5B5-4C48-A0F2-D9A7415D901A}"/>
              </a:ext>
            </a:extLst>
          </p:cNvPr>
          <p:cNvSpPr>
            <a:spLocks/>
          </p:cNvSpPr>
          <p:nvPr/>
        </p:nvSpPr>
        <p:spPr bwMode="auto">
          <a:xfrm>
            <a:off x="8593138" y="1858963"/>
            <a:ext cx="250825" cy="930275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2825" name="Freeform 12">
            <a:extLst>
              <a:ext uri="{FF2B5EF4-FFF2-40B4-BE49-F238E27FC236}">
                <a16:creationId xmlns:a16="http://schemas.microsoft.com/office/drawing/2014/main" id="{868A0719-7080-4C4A-A173-5B063DB5C80F}"/>
              </a:ext>
            </a:extLst>
          </p:cNvPr>
          <p:cNvSpPr>
            <a:spLocks/>
          </p:cNvSpPr>
          <p:nvPr/>
        </p:nvSpPr>
        <p:spPr bwMode="auto">
          <a:xfrm flipH="1">
            <a:off x="3357563" y="2589213"/>
            <a:ext cx="250825" cy="930275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88074" name="Rectangle 14">
            <a:extLst>
              <a:ext uri="{FF2B5EF4-FFF2-40B4-BE49-F238E27FC236}">
                <a16:creationId xmlns:a16="http://schemas.microsoft.com/office/drawing/2014/main" id="{77708A28-1ADF-4062-B65C-E882348FC6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1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sp>
        <p:nvSpPr>
          <p:cNvPr id="162827" name="Rectangle 15">
            <a:extLst>
              <a:ext uri="{FF2B5EF4-FFF2-40B4-BE49-F238E27FC236}">
                <a16:creationId xmlns:a16="http://schemas.microsoft.com/office/drawing/2014/main" id="{14F25803-6477-468D-B07F-73960A5AB88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47650" y="1514475"/>
            <a:ext cx="3152775" cy="1938338"/>
          </a:xfrm>
        </p:spPr>
        <p:txBody>
          <a:bodyPr/>
          <a:lstStyle/>
          <a:p>
            <a:r>
              <a:rPr lang="en-US" altLang="zh-TW" sz="2000" dirty="0"/>
              <a:t>two senders, two receivers</a:t>
            </a:r>
          </a:p>
          <a:p>
            <a:r>
              <a:rPr lang="en-US" altLang="zh-TW" sz="2000" dirty="0"/>
              <a:t>one router</a:t>
            </a:r>
            <a:r>
              <a:rPr lang="en-US" altLang="zh-TW" sz="2000" dirty="0">
                <a:solidFill>
                  <a:srgbClr val="FF0000"/>
                </a:solidFill>
              </a:rPr>
              <a:t>, infinite buffers</a:t>
            </a:r>
            <a:r>
              <a:rPr lang="en-US" altLang="zh-TW" sz="2000" dirty="0"/>
              <a:t> </a:t>
            </a:r>
          </a:p>
          <a:p>
            <a:pPr lvl="1"/>
            <a:r>
              <a:rPr lang="en-US" altLang="zh-TW" sz="1600" dirty="0"/>
              <a:t>output link capacity: R</a:t>
            </a:r>
          </a:p>
          <a:p>
            <a:r>
              <a:rPr lang="en-US" altLang="zh-TW" sz="2000" dirty="0"/>
              <a:t>no retransmission</a:t>
            </a:r>
          </a:p>
          <a:p>
            <a:endParaRPr lang="en-US" altLang="zh-TW" sz="2400" dirty="0"/>
          </a:p>
        </p:txBody>
      </p:sp>
      <p:sp>
        <p:nvSpPr>
          <p:cNvPr id="88076" name="Rectangle 16">
            <a:extLst>
              <a:ext uri="{FF2B5EF4-FFF2-40B4-BE49-F238E27FC236}">
                <a16:creationId xmlns:a16="http://schemas.microsoft.com/office/drawing/2014/main" id="{0689554B-6396-4BF7-95E1-A8F7BBD4052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1430338" y="5802313"/>
            <a:ext cx="3297237" cy="78422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000" dirty="0">
                <a:ea typeface="ＭＳ Ｐゴシック" charset="0"/>
                <a:cs typeface="+mn-cs"/>
              </a:rPr>
              <a:t>maximum per-connection throughput: R/2</a:t>
            </a:r>
          </a:p>
        </p:txBody>
      </p:sp>
      <p:sp>
        <p:nvSpPr>
          <p:cNvPr id="162829" name="Oval 18">
            <a:extLst>
              <a:ext uri="{FF2B5EF4-FFF2-40B4-BE49-F238E27FC236}">
                <a16:creationId xmlns:a16="http://schemas.microsoft.com/office/drawing/2014/main" id="{099B77CA-CEC3-419C-8B97-FE8233AEB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5625" y="3087688"/>
            <a:ext cx="1063625" cy="23495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2830" name="Line 19">
            <a:extLst>
              <a:ext uri="{FF2B5EF4-FFF2-40B4-BE49-F238E27FC236}">
                <a16:creationId xmlns:a16="http://schemas.microsoft.com/office/drawing/2014/main" id="{B97778F2-CAB9-4E48-B344-DD4C2AF51214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5625" y="3068638"/>
            <a:ext cx="0" cy="1460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2831" name="Line 20">
            <a:extLst>
              <a:ext uri="{FF2B5EF4-FFF2-40B4-BE49-F238E27FC236}">
                <a16:creationId xmlns:a16="http://schemas.microsoft.com/office/drawing/2014/main" id="{F62AC091-BB84-4B3A-9EF3-5954D306894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99250" y="3068638"/>
            <a:ext cx="0" cy="146050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2832" name="Rectangle 21">
            <a:extLst>
              <a:ext uri="{FF2B5EF4-FFF2-40B4-BE49-F238E27FC236}">
                <a16:creationId xmlns:a16="http://schemas.microsoft.com/office/drawing/2014/main" id="{08090126-18C0-4EA5-9F77-C5FB41D1A3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5625" y="3068638"/>
            <a:ext cx="252413" cy="14287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2833" name="Rectangle 22">
            <a:extLst>
              <a:ext uri="{FF2B5EF4-FFF2-40B4-BE49-F238E27FC236}">
                <a16:creationId xmlns:a16="http://schemas.microsoft.com/office/drawing/2014/main" id="{59CB218E-59C6-4363-930E-E1D5B49903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6988" y="3059113"/>
            <a:ext cx="322262" cy="14287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2834" name="Oval 23">
            <a:extLst>
              <a:ext uri="{FF2B5EF4-FFF2-40B4-BE49-F238E27FC236}">
                <a16:creationId xmlns:a16="http://schemas.microsoft.com/office/drawing/2014/main" id="{22E868BD-1A77-4A53-AAA3-820D82650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24513" y="2900363"/>
            <a:ext cx="1063625" cy="27305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62835" name="Group 24">
            <a:extLst>
              <a:ext uri="{FF2B5EF4-FFF2-40B4-BE49-F238E27FC236}">
                <a16:creationId xmlns:a16="http://schemas.microsoft.com/office/drawing/2014/main" id="{7ADF4717-32B4-4EC2-BAF9-8361264AF93F}"/>
              </a:ext>
            </a:extLst>
          </p:cNvPr>
          <p:cNvGrpSpPr>
            <a:grpSpLocks/>
          </p:cNvGrpSpPr>
          <p:nvPr/>
        </p:nvGrpSpPr>
        <p:grpSpPr bwMode="auto">
          <a:xfrm>
            <a:off x="5881688" y="2959100"/>
            <a:ext cx="527050" cy="160338"/>
            <a:chOff x="2848" y="848"/>
            <a:chExt cx="140" cy="98"/>
          </a:xfrm>
        </p:grpSpPr>
        <p:sp>
          <p:nvSpPr>
            <p:cNvPr id="162990" name="Line 25">
              <a:extLst>
                <a:ext uri="{FF2B5EF4-FFF2-40B4-BE49-F238E27FC236}">
                  <a16:creationId xmlns:a16="http://schemas.microsoft.com/office/drawing/2014/main" id="{02B7FE70-CE11-4A7F-B11E-C9104828FA0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2991" name="Line 26">
              <a:extLst>
                <a:ext uri="{FF2B5EF4-FFF2-40B4-BE49-F238E27FC236}">
                  <a16:creationId xmlns:a16="http://schemas.microsoft.com/office/drawing/2014/main" id="{4EFEC2A6-CD17-491C-BBA9-4B0BA43C8B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2992" name="Line 27">
              <a:extLst>
                <a:ext uri="{FF2B5EF4-FFF2-40B4-BE49-F238E27FC236}">
                  <a16:creationId xmlns:a16="http://schemas.microsoft.com/office/drawing/2014/main" id="{8C20F1CF-58E7-4583-82C9-8E3E299B99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62836" name="Group 28">
            <a:extLst>
              <a:ext uri="{FF2B5EF4-FFF2-40B4-BE49-F238E27FC236}">
                <a16:creationId xmlns:a16="http://schemas.microsoft.com/office/drawing/2014/main" id="{126387A8-62BC-4E7A-9989-38C8842E877E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5881688" y="2957513"/>
            <a:ext cx="527050" cy="158750"/>
            <a:chOff x="2848" y="848"/>
            <a:chExt cx="140" cy="98"/>
          </a:xfrm>
        </p:grpSpPr>
        <p:sp>
          <p:nvSpPr>
            <p:cNvPr id="162987" name="Line 29">
              <a:extLst>
                <a:ext uri="{FF2B5EF4-FFF2-40B4-BE49-F238E27FC236}">
                  <a16:creationId xmlns:a16="http://schemas.microsoft.com/office/drawing/2014/main" id="{EEB13911-8145-420C-B1F5-25C7D14C80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2988" name="Line 30">
              <a:extLst>
                <a:ext uri="{FF2B5EF4-FFF2-40B4-BE49-F238E27FC236}">
                  <a16:creationId xmlns:a16="http://schemas.microsoft.com/office/drawing/2014/main" id="{CACA0D18-2B50-4CA3-B7D0-8EDC5A05FA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2989" name="Line 31">
              <a:extLst>
                <a:ext uri="{FF2B5EF4-FFF2-40B4-BE49-F238E27FC236}">
                  <a16:creationId xmlns:a16="http://schemas.microsoft.com/office/drawing/2014/main" id="{DEC12479-2028-4217-A2E5-FEDD6BCDA5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62837" name="Text Box 32">
            <a:extLst>
              <a:ext uri="{FF2B5EF4-FFF2-40B4-BE49-F238E27FC236}">
                <a16:creationId xmlns:a16="http://schemas.microsoft.com/office/drawing/2014/main" id="{A0B607F8-BE20-4E1A-BF9B-18C2FED7AB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1688" y="2178050"/>
            <a:ext cx="1423987" cy="39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</a:rPr>
              <a:t>unlimited shared output link buffers</a:t>
            </a:r>
          </a:p>
        </p:txBody>
      </p:sp>
      <p:sp>
        <p:nvSpPr>
          <p:cNvPr id="162838" name="Line 33">
            <a:extLst>
              <a:ext uri="{FF2B5EF4-FFF2-40B4-BE49-F238E27FC236}">
                <a16:creationId xmlns:a16="http://schemas.microsoft.com/office/drawing/2014/main" id="{BB172139-2431-49E6-B769-AB49C53B620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19613" y="2722563"/>
            <a:ext cx="923925" cy="8667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2839" name="Line 34">
            <a:extLst>
              <a:ext uri="{FF2B5EF4-FFF2-40B4-BE49-F238E27FC236}">
                <a16:creationId xmlns:a16="http://schemas.microsoft.com/office/drawing/2014/main" id="{69014719-0BF3-4FFD-8141-A67051B28B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05388" y="2722563"/>
            <a:ext cx="438150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2840" name="Group 35">
            <a:extLst>
              <a:ext uri="{FF2B5EF4-FFF2-40B4-BE49-F238E27FC236}">
                <a16:creationId xmlns:a16="http://schemas.microsoft.com/office/drawing/2014/main" id="{15C94F0C-FFCB-486D-8776-9FFAEE737B57}"/>
              </a:ext>
            </a:extLst>
          </p:cNvPr>
          <p:cNvGrpSpPr>
            <a:grpSpLocks/>
          </p:cNvGrpSpPr>
          <p:nvPr/>
        </p:nvGrpSpPr>
        <p:grpSpPr bwMode="auto">
          <a:xfrm>
            <a:off x="4459288" y="1703388"/>
            <a:ext cx="650875" cy="904875"/>
            <a:chOff x="12762" y="10336"/>
            <a:chExt cx="1027" cy="1700"/>
          </a:xfrm>
        </p:grpSpPr>
        <p:sp>
          <p:nvSpPr>
            <p:cNvPr id="162981" name="Rectangle 36">
              <a:extLst>
                <a:ext uri="{FF2B5EF4-FFF2-40B4-BE49-F238E27FC236}">
                  <a16:creationId xmlns:a16="http://schemas.microsoft.com/office/drawing/2014/main" id="{60DE9405-FA38-4A69-937A-954FB15838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82" name="Rectangle 37">
              <a:extLst>
                <a:ext uri="{FF2B5EF4-FFF2-40B4-BE49-F238E27FC236}">
                  <a16:creationId xmlns:a16="http://schemas.microsoft.com/office/drawing/2014/main" id="{5C723E42-439B-4B8B-981E-B589CAA23F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83" name="Line 38">
              <a:extLst>
                <a:ext uri="{FF2B5EF4-FFF2-40B4-BE49-F238E27FC236}">
                  <a16:creationId xmlns:a16="http://schemas.microsoft.com/office/drawing/2014/main" id="{A65C1BC5-F6EE-4F61-A3F0-68218B29E4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84" name="Line 39">
              <a:extLst>
                <a:ext uri="{FF2B5EF4-FFF2-40B4-BE49-F238E27FC236}">
                  <a16:creationId xmlns:a16="http://schemas.microsoft.com/office/drawing/2014/main" id="{622009D6-1701-4516-8AC7-3888C2E914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85" name="Line 40">
              <a:extLst>
                <a:ext uri="{FF2B5EF4-FFF2-40B4-BE49-F238E27FC236}">
                  <a16:creationId xmlns:a16="http://schemas.microsoft.com/office/drawing/2014/main" id="{8EBB8D53-D8F2-4B6D-A4B5-72DB950528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86" name="Line 41">
              <a:extLst>
                <a:ext uri="{FF2B5EF4-FFF2-40B4-BE49-F238E27FC236}">
                  <a16:creationId xmlns:a16="http://schemas.microsoft.com/office/drawing/2014/main" id="{739E74F8-C17B-415A-BEAA-AD798A3B0B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2841" name="Text Box 42">
            <a:extLst>
              <a:ext uri="{FF2B5EF4-FFF2-40B4-BE49-F238E27FC236}">
                <a16:creationId xmlns:a16="http://schemas.microsoft.com/office/drawing/2014/main" id="{15852A7C-BAA6-4B45-9035-E997D19EDF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4600" y="1863725"/>
            <a:ext cx="633413" cy="242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Host A</a:t>
            </a:r>
            <a:endParaRPr lang="en-US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2842" name="Text Box 43">
            <a:extLst>
              <a:ext uri="{FF2B5EF4-FFF2-40B4-BE49-F238E27FC236}">
                <a16:creationId xmlns:a16="http://schemas.microsoft.com/office/drawing/2014/main" id="{8D5A30A4-79E0-47AF-ABE0-0518F4DA88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4350" y="1136650"/>
            <a:ext cx="21320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original data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: </a:t>
            </a:r>
            <a:r>
              <a:rPr lang="en-US" altLang="zh-TW" sz="2400">
                <a:solidFill>
                  <a:srgbClr val="CC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400" baseline="-25000">
                <a:solidFill>
                  <a:srgbClr val="CC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 baseline="-25000">
                <a:solidFill>
                  <a:srgbClr val="CC0000"/>
                </a:solidFill>
                <a:latin typeface="Arial" panose="020B0604020202020204" pitchFamily="34" charset="0"/>
              </a:rPr>
              <a:t> </a:t>
            </a:r>
            <a:endParaRPr lang="en-US" altLang="zh-TW" sz="16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62843" name="Line 44">
            <a:extLst>
              <a:ext uri="{FF2B5EF4-FFF2-40B4-BE49-F238E27FC236}">
                <a16:creationId xmlns:a16="http://schemas.microsoft.com/office/drawing/2014/main" id="{D8A19D39-078E-4DE5-9E1A-A1571CC9E3C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81463" y="3579813"/>
            <a:ext cx="438150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2844" name="Group 45">
            <a:extLst>
              <a:ext uri="{FF2B5EF4-FFF2-40B4-BE49-F238E27FC236}">
                <a16:creationId xmlns:a16="http://schemas.microsoft.com/office/drawing/2014/main" id="{2BC2DEA4-4144-4082-865A-A376A20E49A5}"/>
              </a:ext>
            </a:extLst>
          </p:cNvPr>
          <p:cNvGrpSpPr>
            <a:grpSpLocks/>
          </p:cNvGrpSpPr>
          <p:nvPr/>
        </p:nvGrpSpPr>
        <p:grpSpPr bwMode="auto">
          <a:xfrm>
            <a:off x="3602038" y="2598738"/>
            <a:ext cx="650875" cy="904875"/>
            <a:chOff x="12762" y="10336"/>
            <a:chExt cx="1027" cy="1700"/>
          </a:xfrm>
        </p:grpSpPr>
        <p:sp>
          <p:nvSpPr>
            <p:cNvPr id="162975" name="Rectangle 46">
              <a:extLst>
                <a:ext uri="{FF2B5EF4-FFF2-40B4-BE49-F238E27FC236}">
                  <a16:creationId xmlns:a16="http://schemas.microsoft.com/office/drawing/2014/main" id="{69D4C545-7B46-4B50-A7DB-086D9159FC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76" name="Rectangle 47">
              <a:extLst>
                <a:ext uri="{FF2B5EF4-FFF2-40B4-BE49-F238E27FC236}">
                  <a16:creationId xmlns:a16="http://schemas.microsoft.com/office/drawing/2014/main" id="{2E556DE7-7BE8-4ECE-A7D8-69C6EC1B2A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77" name="Line 48">
              <a:extLst>
                <a:ext uri="{FF2B5EF4-FFF2-40B4-BE49-F238E27FC236}">
                  <a16:creationId xmlns:a16="http://schemas.microsoft.com/office/drawing/2014/main" id="{774B7110-41B0-4EB3-A075-8637112C1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78" name="Line 49">
              <a:extLst>
                <a:ext uri="{FF2B5EF4-FFF2-40B4-BE49-F238E27FC236}">
                  <a16:creationId xmlns:a16="http://schemas.microsoft.com/office/drawing/2014/main" id="{CF4E900F-3210-42A1-8269-F6D99DACBE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79" name="Line 50">
              <a:extLst>
                <a:ext uri="{FF2B5EF4-FFF2-40B4-BE49-F238E27FC236}">
                  <a16:creationId xmlns:a16="http://schemas.microsoft.com/office/drawing/2014/main" id="{BF816BC8-4E82-472E-A450-36971C63A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80" name="Line 51">
              <a:extLst>
                <a:ext uri="{FF2B5EF4-FFF2-40B4-BE49-F238E27FC236}">
                  <a16:creationId xmlns:a16="http://schemas.microsoft.com/office/drawing/2014/main" id="{34A92BD5-754C-4E77-87E0-CA28BC4F40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2845" name="Text Box 52">
            <a:extLst>
              <a:ext uri="{FF2B5EF4-FFF2-40B4-BE49-F238E27FC236}">
                <a16:creationId xmlns:a16="http://schemas.microsoft.com/office/drawing/2014/main" id="{4D5BA6F2-AF61-4EB2-855B-3DC6F6F789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1925" y="3413125"/>
            <a:ext cx="633413" cy="242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000">
                <a:solidFill>
                  <a:srgbClr val="000000"/>
                </a:solidFill>
                <a:latin typeface="Arial" panose="020B0604020202020204" pitchFamily="34" charset="0"/>
              </a:rPr>
              <a:t>Host B</a:t>
            </a:r>
            <a:endParaRPr lang="en-US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2846" name="Line 53">
            <a:extLst>
              <a:ext uri="{FF2B5EF4-FFF2-40B4-BE49-F238E27FC236}">
                <a16:creationId xmlns:a16="http://schemas.microsoft.com/office/drawing/2014/main" id="{BB4D73E5-E434-4FBD-BC1C-1AD51864812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05388" y="3122613"/>
            <a:ext cx="609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2847" name="Line 54">
            <a:extLst>
              <a:ext uri="{FF2B5EF4-FFF2-40B4-BE49-F238E27FC236}">
                <a16:creationId xmlns:a16="http://schemas.microsoft.com/office/drawing/2014/main" id="{6D834517-D29A-4078-91D1-45679DF56BD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24638" y="3122613"/>
            <a:ext cx="609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2848" name="Line 55">
            <a:extLst>
              <a:ext uri="{FF2B5EF4-FFF2-40B4-BE49-F238E27FC236}">
                <a16:creationId xmlns:a16="http://schemas.microsoft.com/office/drawing/2014/main" id="{2ADC4D56-8E39-44A4-9E6B-6F97E624125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748463" y="2722563"/>
            <a:ext cx="923925" cy="8667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2849" name="Line 57">
            <a:extLst>
              <a:ext uri="{FF2B5EF4-FFF2-40B4-BE49-F238E27FC236}">
                <a16:creationId xmlns:a16="http://schemas.microsoft.com/office/drawing/2014/main" id="{B244FA7D-1B44-4B30-91A9-52803B249DA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42225" y="2732088"/>
            <a:ext cx="439738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2850" name="Group 58">
            <a:extLst>
              <a:ext uri="{FF2B5EF4-FFF2-40B4-BE49-F238E27FC236}">
                <a16:creationId xmlns:a16="http://schemas.microsoft.com/office/drawing/2014/main" id="{FF86CA73-70ED-401D-B4E7-698D4849EA87}"/>
              </a:ext>
            </a:extLst>
          </p:cNvPr>
          <p:cNvGrpSpPr>
            <a:grpSpLocks/>
          </p:cNvGrpSpPr>
          <p:nvPr/>
        </p:nvGrpSpPr>
        <p:grpSpPr bwMode="auto">
          <a:xfrm>
            <a:off x="7954963" y="1808163"/>
            <a:ext cx="650875" cy="904875"/>
            <a:chOff x="12762" y="10336"/>
            <a:chExt cx="1027" cy="1700"/>
          </a:xfrm>
        </p:grpSpPr>
        <p:sp>
          <p:nvSpPr>
            <p:cNvPr id="162969" name="Rectangle 59">
              <a:extLst>
                <a:ext uri="{FF2B5EF4-FFF2-40B4-BE49-F238E27FC236}">
                  <a16:creationId xmlns:a16="http://schemas.microsoft.com/office/drawing/2014/main" id="{2973BA82-CC30-4EC0-8BEA-A0A8E1B99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70" name="Rectangle 60">
              <a:extLst>
                <a:ext uri="{FF2B5EF4-FFF2-40B4-BE49-F238E27FC236}">
                  <a16:creationId xmlns:a16="http://schemas.microsoft.com/office/drawing/2014/main" id="{4E421BD6-39EA-4BAE-BC6B-3A16EFCD2D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71" name="Line 61">
              <a:extLst>
                <a:ext uri="{FF2B5EF4-FFF2-40B4-BE49-F238E27FC236}">
                  <a16:creationId xmlns:a16="http://schemas.microsoft.com/office/drawing/2014/main" id="{6C4D8591-A702-4CA4-A8DB-736032270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72" name="Line 62">
              <a:extLst>
                <a:ext uri="{FF2B5EF4-FFF2-40B4-BE49-F238E27FC236}">
                  <a16:creationId xmlns:a16="http://schemas.microsoft.com/office/drawing/2014/main" id="{4F42F76C-E2A9-4A7F-84C3-D5D2143B49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73" name="Line 63">
              <a:extLst>
                <a:ext uri="{FF2B5EF4-FFF2-40B4-BE49-F238E27FC236}">
                  <a16:creationId xmlns:a16="http://schemas.microsoft.com/office/drawing/2014/main" id="{AE6B000D-45EB-422D-9906-16CB7103EE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74" name="Line 64">
              <a:extLst>
                <a:ext uri="{FF2B5EF4-FFF2-40B4-BE49-F238E27FC236}">
                  <a16:creationId xmlns:a16="http://schemas.microsoft.com/office/drawing/2014/main" id="{0EDE03E7-9F93-4054-8D2B-2580674D2E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62851" name="Group 65">
            <a:extLst>
              <a:ext uri="{FF2B5EF4-FFF2-40B4-BE49-F238E27FC236}">
                <a16:creationId xmlns:a16="http://schemas.microsoft.com/office/drawing/2014/main" id="{89A3548E-DB6A-4D07-8405-9086ABBCB606}"/>
              </a:ext>
            </a:extLst>
          </p:cNvPr>
          <p:cNvGrpSpPr>
            <a:grpSpLocks/>
          </p:cNvGrpSpPr>
          <p:nvPr/>
        </p:nvGrpSpPr>
        <p:grpSpPr bwMode="auto">
          <a:xfrm>
            <a:off x="7573963" y="2825750"/>
            <a:ext cx="650875" cy="906463"/>
            <a:chOff x="12762" y="10336"/>
            <a:chExt cx="1027" cy="1700"/>
          </a:xfrm>
        </p:grpSpPr>
        <p:sp>
          <p:nvSpPr>
            <p:cNvPr id="162963" name="Rectangle 66">
              <a:extLst>
                <a:ext uri="{FF2B5EF4-FFF2-40B4-BE49-F238E27FC236}">
                  <a16:creationId xmlns:a16="http://schemas.microsoft.com/office/drawing/2014/main" id="{DCD0968F-8938-4C6E-A9B0-844CAB3178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64" name="Rectangle 67">
              <a:extLst>
                <a:ext uri="{FF2B5EF4-FFF2-40B4-BE49-F238E27FC236}">
                  <a16:creationId xmlns:a16="http://schemas.microsoft.com/office/drawing/2014/main" id="{B5972AC3-1BCD-40CF-8C9F-B1E01198CC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65" name="Line 68">
              <a:extLst>
                <a:ext uri="{FF2B5EF4-FFF2-40B4-BE49-F238E27FC236}">
                  <a16:creationId xmlns:a16="http://schemas.microsoft.com/office/drawing/2014/main" id="{E2E1E0E3-777C-4D26-B622-4060D692E2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66" name="Line 69">
              <a:extLst>
                <a:ext uri="{FF2B5EF4-FFF2-40B4-BE49-F238E27FC236}">
                  <a16:creationId xmlns:a16="http://schemas.microsoft.com/office/drawing/2014/main" id="{30CFC1BA-D8DC-414F-885F-93C88893F0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67" name="Line 70">
              <a:extLst>
                <a:ext uri="{FF2B5EF4-FFF2-40B4-BE49-F238E27FC236}">
                  <a16:creationId xmlns:a16="http://schemas.microsoft.com/office/drawing/2014/main" id="{5E37B341-F028-4D19-9E72-C66409D60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68" name="Line 71">
              <a:extLst>
                <a:ext uri="{FF2B5EF4-FFF2-40B4-BE49-F238E27FC236}">
                  <a16:creationId xmlns:a16="http://schemas.microsoft.com/office/drawing/2014/main" id="{C383AF9F-6BA1-4A35-A1EF-FD82138816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2852" name="Oval 72">
            <a:extLst>
              <a:ext uri="{FF2B5EF4-FFF2-40B4-BE49-F238E27FC236}">
                <a16:creationId xmlns:a16="http://schemas.microsoft.com/office/drawing/2014/main" id="{E9C80903-6402-407A-A6E8-B3E2E2419B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5838" y="1760538"/>
            <a:ext cx="92075" cy="90487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2853" name="Oval 73">
            <a:extLst>
              <a:ext uri="{FF2B5EF4-FFF2-40B4-BE49-F238E27FC236}">
                <a16:creationId xmlns:a16="http://schemas.microsoft.com/office/drawing/2014/main" id="{0F7B12A1-40C6-4842-BD5D-832931FDA1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2863" y="2636838"/>
            <a:ext cx="92075" cy="90487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2854" name="Line 74">
            <a:extLst>
              <a:ext uri="{FF2B5EF4-FFF2-40B4-BE49-F238E27FC236}">
                <a16:creationId xmlns:a16="http://schemas.microsoft.com/office/drawing/2014/main" id="{344DB071-8E69-47CA-A367-9875D2AD4F87}"/>
              </a:ext>
            </a:extLst>
          </p:cNvPr>
          <p:cNvSpPr>
            <a:spLocks noChangeShapeType="1"/>
          </p:cNvSpPr>
          <p:nvPr/>
        </p:nvSpPr>
        <p:spPr bwMode="auto">
          <a:xfrm>
            <a:off x="4370388" y="1539875"/>
            <a:ext cx="369887" cy="252413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2855" name="Text Box 75">
            <a:extLst>
              <a:ext uri="{FF2B5EF4-FFF2-40B4-BE49-F238E27FC236}">
                <a16:creationId xmlns:a16="http://schemas.microsoft.com/office/drawing/2014/main" id="{F4106CE4-86EE-4EAF-AF1B-EB5D68AFC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7838" y="1217613"/>
            <a:ext cx="1790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70C0"/>
                </a:solidFill>
                <a:latin typeface="Arial" panose="020B0604020202020204" pitchFamily="34" charset="0"/>
              </a:rPr>
              <a:t>throughput</a:t>
            </a: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:</a:t>
            </a:r>
            <a:r>
              <a:rPr lang="en-US" altLang="zh-TW" sz="2400">
                <a:solidFill>
                  <a:srgbClr val="FF0000"/>
                </a:solidFill>
                <a:latin typeface="Symbol" panose="05050102010706020507" pitchFamily="18" charset="2"/>
              </a:rPr>
              <a:t> </a:t>
            </a:r>
            <a:r>
              <a:rPr lang="en-US" altLang="zh-TW" sz="2400">
                <a:solidFill>
                  <a:srgbClr val="CC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400" baseline="-25000">
                <a:solidFill>
                  <a:srgbClr val="CC0000"/>
                </a:solidFill>
                <a:latin typeface="Arial" panose="020B0604020202020204" pitchFamily="34" charset="0"/>
              </a:rPr>
              <a:t>out</a:t>
            </a:r>
            <a:endParaRPr lang="en-US" altLang="zh-TW" sz="2400">
              <a:solidFill>
                <a:srgbClr val="CC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2856" name="Line 76">
            <a:extLst>
              <a:ext uri="{FF2B5EF4-FFF2-40B4-BE49-F238E27FC236}">
                <a16:creationId xmlns:a16="http://schemas.microsoft.com/office/drawing/2014/main" id="{51B74AAB-2CB9-4973-BC1E-56188D2558FD}"/>
              </a:ext>
            </a:extLst>
          </p:cNvPr>
          <p:cNvSpPr>
            <a:spLocks noChangeShapeType="1"/>
          </p:cNvSpPr>
          <p:nvPr/>
        </p:nvSpPr>
        <p:spPr bwMode="auto">
          <a:xfrm>
            <a:off x="7672388" y="1627188"/>
            <a:ext cx="528637" cy="2413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2857" name="Line 77">
            <a:extLst>
              <a:ext uri="{FF2B5EF4-FFF2-40B4-BE49-F238E27FC236}">
                <a16:creationId xmlns:a16="http://schemas.microsoft.com/office/drawing/2014/main" id="{D917A47B-2303-4541-A4A8-6B8CE91B23A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24613" y="2598738"/>
            <a:ext cx="333375" cy="3238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2858" name="Group 78">
            <a:extLst>
              <a:ext uri="{FF2B5EF4-FFF2-40B4-BE49-F238E27FC236}">
                <a16:creationId xmlns:a16="http://schemas.microsoft.com/office/drawing/2014/main" id="{13ACC675-F852-4BD0-B5AF-F7BDCAEEBC27}"/>
              </a:ext>
            </a:extLst>
          </p:cNvPr>
          <p:cNvGrpSpPr>
            <a:grpSpLocks/>
          </p:cNvGrpSpPr>
          <p:nvPr/>
        </p:nvGrpSpPr>
        <p:grpSpPr bwMode="auto">
          <a:xfrm>
            <a:off x="5995988" y="2989263"/>
            <a:ext cx="673100" cy="266700"/>
            <a:chOff x="10808" y="10250"/>
            <a:chExt cx="1018" cy="403"/>
          </a:xfrm>
        </p:grpSpPr>
        <p:sp>
          <p:nvSpPr>
            <p:cNvPr id="162952" name="Rectangle 79">
              <a:extLst>
                <a:ext uri="{FF2B5EF4-FFF2-40B4-BE49-F238E27FC236}">
                  <a16:creationId xmlns:a16="http://schemas.microsoft.com/office/drawing/2014/main" id="{3372FF0D-A0EA-4483-8568-EC67E7E536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2" y="10250"/>
              <a:ext cx="994" cy="403"/>
            </a:xfrm>
            <a:prstGeom prst="rect">
              <a:avLst/>
            </a:pr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53" name="Freeform 80">
              <a:extLst>
                <a:ext uri="{FF2B5EF4-FFF2-40B4-BE49-F238E27FC236}">
                  <a16:creationId xmlns:a16="http://schemas.microsoft.com/office/drawing/2014/main" id="{8F1E7C99-B60C-4FF7-8079-1F4FF9663BA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98" y="10272"/>
              <a:ext cx="610" cy="374"/>
            </a:xfrm>
            <a:custGeom>
              <a:avLst/>
              <a:gdLst>
                <a:gd name="T0" fmla="*/ 0 w 855"/>
                <a:gd name="T1" fmla="*/ 0 h 390"/>
                <a:gd name="T2" fmla="*/ 1 w 855"/>
                <a:gd name="T3" fmla="*/ 0 h 390"/>
                <a:gd name="T4" fmla="*/ 1 w 855"/>
                <a:gd name="T5" fmla="*/ 79 h 390"/>
                <a:gd name="T6" fmla="*/ 1 w 855"/>
                <a:gd name="T7" fmla="*/ 79 h 39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855"/>
                <a:gd name="T13" fmla="*/ 0 h 390"/>
                <a:gd name="T14" fmla="*/ 855 w 855"/>
                <a:gd name="T15" fmla="*/ 390 h 39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855" h="390">
                  <a:moveTo>
                    <a:pt x="0" y="0"/>
                  </a:moveTo>
                  <a:lnTo>
                    <a:pt x="855" y="0"/>
                  </a:lnTo>
                  <a:lnTo>
                    <a:pt x="855" y="390"/>
                  </a:lnTo>
                  <a:lnTo>
                    <a:pt x="45" y="390"/>
                  </a:ln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54" name="Line 81">
              <a:extLst>
                <a:ext uri="{FF2B5EF4-FFF2-40B4-BE49-F238E27FC236}">
                  <a16:creationId xmlns:a16="http://schemas.microsoft.com/office/drawing/2014/main" id="{E7DC9043-6C77-4FC3-A6B5-43EAF03EAE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808" y="10272"/>
              <a:ext cx="39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55" name="Line 82">
              <a:extLst>
                <a:ext uri="{FF2B5EF4-FFF2-40B4-BE49-F238E27FC236}">
                  <a16:creationId xmlns:a16="http://schemas.microsoft.com/office/drawing/2014/main" id="{66C77F99-F7BA-4305-91EB-5C06AAF653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830" y="10646"/>
              <a:ext cx="38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56" name="Line 83">
              <a:extLst>
                <a:ext uri="{FF2B5EF4-FFF2-40B4-BE49-F238E27FC236}">
                  <a16:creationId xmlns:a16="http://schemas.microsoft.com/office/drawing/2014/main" id="{621BFB7F-F0E8-424E-A5E4-E8356963F5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44" y="10329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57" name="Line 84">
              <a:extLst>
                <a:ext uri="{FF2B5EF4-FFF2-40B4-BE49-F238E27FC236}">
                  <a16:creationId xmlns:a16="http://schemas.microsoft.com/office/drawing/2014/main" id="{88A16BF7-A212-490F-82C9-FECC0655C2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79" y="10329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58" name="Line 85">
              <a:extLst>
                <a:ext uri="{FF2B5EF4-FFF2-40B4-BE49-F238E27FC236}">
                  <a16:creationId xmlns:a16="http://schemas.microsoft.com/office/drawing/2014/main" id="{A7A7C0E8-25E6-4CD2-9C09-AEB0D7ED13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14" y="10329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59" name="Line 86">
              <a:extLst>
                <a:ext uri="{FF2B5EF4-FFF2-40B4-BE49-F238E27FC236}">
                  <a16:creationId xmlns:a16="http://schemas.microsoft.com/office/drawing/2014/main" id="{605EA046-CB29-48AC-AD55-7484507088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49" y="1032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60" name="Line 87">
              <a:extLst>
                <a:ext uri="{FF2B5EF4-FFF2-40B4-BE49-F238E27FC236}">
                  <a16:creationId xmlns:a16="http://schemas.microsoft.com/office/drawing/2014/main" id="{350FEC9B-C617-413F-A543-DB2592AC38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84" y="10322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61" name="Line 88">
              <a:extLst>
                <a:ext uri="{FF2B5EF4-FFF2-40B4-BE49-F238E27FC236}">
                  <a16:creationId xmlns:a16="http://schemas.microsoft.com/office/drawing/2014/main" id="{E7298B4F-B589-4284-8EEC-E75DDF3B1F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18" y="10322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62" name="Line 89">
              <a:extLst>
                <a:ext uri="{FF2B5EF4-FFF2-40B4-BE49-F238E27FC236}">
                  <a16:creationId xmlns:a16="http://schemas.microsoft.com/office/drawing/2014/main" id="{66247B2B-F33E-4451-81B7-545F68AE9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909" y="10452"/>
              <a:ext cx="417" cy="0"/>
            </a:xfrm>
            <a:prstGeom prst="line">
              <a:avLst/>
            </a:prstGeom>
            <a:noFill/>
            <a:ln w="38100">
              <a:solidFill>
                <a:srgbClr val="FFFFFF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2859" name="Freeform 90">
            <a:extLst>
              <a:ext uri="{FF2B5EF4-FFF2-40B4-BE49-F238E27FC236}">
                <a16:creationId xmlns:a16="http://schemas.microsoft.com/office/drawing/2014/main" id="{CF63249D-2486-4732-AB4F-A3723D5982B0}"/>
              </a:ext>
            </a:extLst>
          </p:cNvPr>
          <p:cNvSpPr>
            <a:spLocks/>
          </p:cNvSpPr>
          <p:nvPr/>
        </p:nvSpPr>
        <p:spPr bwMode="auto">
          <a:xfrm>
            <a:off x="3900488" y="2713038"/>
            <a:ext cx="3952875" cy="952500"/>
          </a:xfrm>
          <a:custGeom>
            <a:avLst/>
            <a:gdLst>
              <a:gd name="T0" fmla="*/ 0 w 6225"/>
              <a:gd name="T1" fmla="*/ 0 h 1501"/>
              <a:gd name="T2" fmla="*/ 0 w 6225"/>
              <a:gd name="T3" fmla="*/ 2147483646 h 1501"/>
              <a:gd name="T4" fmla="*/ 2147483646 w 6225"/>
              <a:gd name="T5" fmla="*/ 2147483646 h 1501"/>
              <a:gd name="T6" fmla="*/ 2147483646 w 6225"/>
              <a:gd name="T7" fmla="*/ 2147483646 h 1501"/>
              <a:gd name="T8" fmla="*/ 2147483646 w 6225"/>
              <a:gd name="T9" fmla="*/ 2147483646 h 1501"/>
              <a:gd name="T10" fmla="*/ 2147483646 w 6225"/>
              <a:gd name="T11" fmla="*/ 2147483646 h 1501"/>
              <a:gd name="T12" fmla="*/ 2147483646 w 6225"/>
              <a:gd name="T13" fmla="*/ 2147483646 h 1501"/>
              <a:gd name="T14" fmla="*/ 2147483646 w 6225"/>
              <a:gd name="T15" fmla="*/ 2147483646 h 1501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6225"/>
              <a:gd name="T25" fmla="*/ 0 h 1501"/>
              <a:gd name="T26" fmla="*/ 6225 w 6225"/>
              <a:gd name="T27" fmla="*/ 1501 h 1501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6225" h="1501">
                <a:moveTo>
                  <a:pt x="0" y="0"/>
                </a:moveTo>
                <a:lnTo>
                  <a:pt x="0" y="1486"/>
                </a:lnTo>
                <a:lnTo>
                  <a:pt x="1005" y="1501"/>
                </a:lnTo>
                <a:lnTo>
                  <a:pt x="1860" y="706"/>
                </a:lnTo>
                <a:lnTo>
                  <a:pt x="5085" y="721"/>
                </a:lnTo>
                <a:lnTo>
                  <a:pt x="4305" y="1456"/>
                </a:lnTo>
                <a:lnTo>
                  <a:pt x="6225" y="1456"/>
                </a:lnTo>
                <a:lnTo>
                  <a:pt x="6220" y="391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2860" name="Freeform 91">
            <a:extLst>
              <a:ext uri="{FF2B5EF4-FFF2-40B4-BE49-F238E27FC236}">
                <a16:creationId xmlns:a16="http://schemas.microsoft.com/office/drawing/2014/main" id="{6D2ABEEE-C179-4351-AA7F-6C2D0E3C0ECC}"/>
              </a:ext>
            </a:extLst>
          </p:cNvPr>
          <p:cNvSpPr>
            <a:spLocks/>
          </p:cNvSpPr>
          <p:nvPr/>
        </p:nvSpPr>
        <p:spPr bwMode="auto">
          <a:xfrm>
            <a:off x="4843463" y="1808163"/>
            <a:ext cx="3429000" cy="1276350"/>
          </a:xfrm>
          <a:custGeom>
            <a:avLst/>
            <a:gdLst>
              <a:gd name="T0" fmla="*/ 0 w 2160"/>
              <a:gd name="T1" fmla="*/ 0 h 804"/>
              <a:gd name="T2" fmla="*/ 0 w 2160"/>
              <a:gd name="T3" fmla="*/ 2147483646 h 804"/>
              <a:gd name="T4" fmla="*/ 2147483646 w 2160"/>
              <a:gd name="T5" fmla="*/ 2147483646 h 804"/>
              <a:gd name="T6" fmla="*/ 2147483646 w 2160"/>
              <a:gd name="T7" fmla="*/ 2147483646 h 804"/>
              <a:gd name="T8" fmla="*/ 2147483646 w 2160"/>
              <a:gd name="T9" fmla="*/ 2147483646 h 804"/>
              <a:gd name="T10" fmla="*/ 2147483646 w 2160"/>
              <a:gd name="T11" fmla="*/ 2147483646 h 804"/>
              <a:gd name="T12" fmla="*/ 2147483646 w 2160"/>
              <a:gd name="T13" fmla="*/ 2147483646 h 804"/>
              <a:gd name="T14" fmla="*/ 2147483646 w 2160"/>
              <a:gd name="T15" fmla="*/ 2147483646 h 804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2160"/>
              <a:gd name="T25" fmla="*/ 0 h 804"/>
              <a:gd name="T26" fmla="*/ 2160 w 2160"/>
              <a:gd name="T27" fmla="*/ 804 h 804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2160" h="804">
                <a:moveTo>
                  <a:pt x="0" y="0"/>
                </a:moveTo>
                <a:lnTo>
                  <a:pt x="0" y="594"/>
                </a:lnTo>
                <a:lnTo>
                  <a:pt x="402" y="600"/>
                </a:lnTo>
                <a:lnTo>
                  <a:pt x="216" y="804"/>
                </a:lnTo>
                <a:lnTo>
                  <a:pt x="1446" y="804"/>
                </a:lnTo>
                <a:lnTo>
                  <a:pt x="1770" y="524"/>
                </a:lnTo>
                <a:lnTo>
                  <a:pt x="2160" y="516"/>
                </a:lnTo>
                <a:lnTo>
                  <a:pt x="2160" y="48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2861" name="Group 107">
            <a:extLst>
              <a:ext uri="{FF2B5EF4-FFF2-40B4-BE49-F238E27FC236}">
                <a16:creationId xmlns:a16="http://schemas.microsoft.com/office/drawing/2014/main" id="{F8B93986-B618-4CF6-B7E1-6F3CE626993E}"/>
              </a:ext>
            </a:extLst>
          </p:cNvPr>
          <p:cNvGrpSpPr>
            <a:grpSpLocks/>
          </p:cNvGrpSpPr>
          <p:nvPr/>
        </p:nvGrpSpPr>
        <p:grpSpPr bwMode="auto">
          <a:xfrm>
            <a:off x="1628775" y="4102100"/>
            <a:ext cx="2333625" cy="1701800"/>
            <a:chOff x="837" y="2465"/>
            <a:chExt cx="1470" cy="1072"/>
          </a:xfrm>
        </p:grpSpPr>
        <p:sp>
          <p:nvSpPr>
            <p:cNvPr id="162941" name="Line 94">
              <a:extLst>
                <a:ext uri="{FF2B5EF4-FFF2-40B4-BE49-F238E27FC236}">
                  <a16:creationId xmlns:a16="http://schemas.microsoft.com/office/drawing/2014/main" id="{328D492B-DB2C-44DA-BBE8-1F68092B48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1" y="2507"/>
              <a:ext cx="0" cy="80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42" name="Line 95">
              <a:extLst>
                <a:ext uri="{FF2B5EF4-FFF2-40B4-BE49-F238E27FC236}">
                  <a16:creationId xmlns:a16="http://schemas.microsoft.com/office/drawing/2014/main" id="{39B0A808-C68F-4EF6-825C-73C505B06D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35" y="3307"/>
              <a:ext cx="922" cy="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43" name="Line 96">
              <a:extLst>
                <a:ext uri="{FF2B5EF4-FFF2-40B4-BE49-F238E27FC236}">
                  <a16:creationId xmlns:a16="http://schemas.microsoft.com/office/drawing/2014/main" id="{6679AFE2-756C-455C-957C-74F0CA92A5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5" y="2595"/>
              <a:ext cx="0" cy="6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44" name="Freeform 97">
              <a:extLst>
                <a:ext uri="{FF2B5EF4-FFF2-40B4-BE49-F238E27FC236}">
                  <a16:creationId xmlns:a16="http://schemas.microsoft.com/office/drawing/2014/main" id="{A846C3ED-F9D4-4DB6-8C66-533F009AC4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37" y="2573"/>
              <a:ext cx="1170" cy="732"/>
            </a:xfrm>
            <a:custGeom>
              <a:avLst/>
              <a:gdLst>
                <a:gd name="T0" fmla="*/ 0 w 1170"/>
                <a:gd name="T1" fmla="*/ 732 h 732"/>
                <a:gd name="T2" fmla="*/ 720 w 1170"/>
                <a:gd name="T3" fmla="*/ 0 h 732"/>
                <a:gd name="T4" fmla="*/ 1170 w 1170"/>
                <a:gd name="T5" fmla="*/ 0 h 732"/>
                <a:gd name="T6" fmla="*/ 0 60000 65536"/>
                <a:gd name="T7" fmla="*/ 0 60000 65536"/>
                <a:gd name="T8" fmla="*/ 0 60000 65536"/>
                <a:gd name="T9" fmla="*/ 0 w 1170"/>
                <a:gd name="T10" fmla="*/ 0 h 732"/>
                <a:gd name="T11" fmla="*/ 1170 w 1170"/>
                <a:gd name="T12" fmla="*/ 732 h 73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70" h="732">
                  <a:moveTo>
                    <a:pt x="0" y="732"/>
                  </a:moveTo>
                  <a:lnTo>
                    <a:pt x="720" y="0"/>
                  </a:lnTo>
                  <a:lnTo>
                    <a:pt x="1170" y="0"/>
                  </a:lnTo>
                </a:path>
              </a:pathLst>
            </a:custGeom>
            <a:noFill/>
            <a:ln w="28575" cap="flat" cmpd="sng">
              <a:solidFill>
                <a:srgbClr val="CC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45" name="Line 98">
              <a:extLst>
                <a:ext uri="{FF2B5EF4-FFF2-40B4-BE49-F238E27FC236}">
                  <a16:creationId xmlns:a16="http://schemas.microsoft.com/office/drawing/2014/main" id="{8F04B25F-5F24-4AAF-A790-103EC355B3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89" y="2573"/>
              <a:ext cx="5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46" name="Line 99">
              <a:extLst>
                <a:ext uri="{FF2B5EF4-FFF2-40B4-BE49-F238E27FC236}">
                  <a16:creationId xmlns:a16="http://schemas.microsoft.com/office/drawing/2014/main" id="{DABD5B22-1579-4FFD-B24F-29B6ECF519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3311"/>
              <a:ext cx="0" cy="5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47" name="Text Box 100">
              <a:extLst>
                <a:ext uri="{FF2B5EF4-FFF2-40B4-BE49-F238E27FC236}">
                  <a16:creationId xmlns:a16="http://schemas.microsoft.com/office/drawing/2014/main" id="{DC226264-1C28-4DD4-8013-290370251D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7" y="2465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Tahoma" panose="020B0604030504040204" pitchFamily="34" charset="0"/>
                </a:rPr>
                <a:t>R/2</a:t>
              </a:r>
            </a:p>
          </p:txBody>
        </p:sp>
        <p:sp>
          <p:nvSpPr>
            <p:cNvPr id="162948" name="Text Box 101">
              <a:extLst>
                <a:ext uri="{FF2B5EF4-FFF2-40B4-BE49-F238E27FC236}">
                  <a16:creationId xmlns:a16="http://schemas.microsoft.com/office/drawing/2014/main" id="{40022FBC-2B9C-44F6-ABC3-4308CE4FF9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1" y="3333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Tahoma" panose="020B0604030504040204" pitchFamily="34" charset="0"/>
                </a:rPr>
                <a:t>R/2</a:t>
              </a:r>
            </a:p>
          </p:txBody>
        </p:sp>
        <p:sp>
          <p:nvSpPr>
            <p:cNvPr id="162949" name="Text Box 102">
              <a:extLst>
                <a:ext uri="{FF2B5EF4-FFF2-40B4-BE49-F238E27FC236}">
                  <a16:creationId xmlns:a16="http://schemas.microsoft.com/office/drawing/2014/main" id="{20DAC712-E227-4CA9-8DE3-87C7B70683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830" y="2840"/>
              <a:ext cx="34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00"/>
                  </a:solidFill>
                  <a:latin typeface="Symbol" panose="05050102010706020507" pitchFamily="18" charset="2"/>
                </a:rPr>
                <a:t>l</a:t>
              </a:r>
              <a:r>
                <a:rPr lang="en-US" altLang="zh-TW" sz="20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out</a:t>
              </a:r>
            </a:p>
          </p:txBody>
        </p:sp>
        <p:sp>
          <p:nvSpPr>
            <p:cNvPr id="162950" name="Text Box 103">
              <a:extLst>
                <a:ext uri="{FF2B5EF4-FFF2-40B4-BE49-F238E27FC236}">
                  <a16:creationId xmlns:a16="http://schemas.microsoft.com/office/drawing/2014/main" id="{AA761D28-A9C4-400C-A2E5-03FD6460C5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92" y="3287"/>
              <a:ext cx="28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00"/>
                  </a:solidFill>
                  <a:latin typeface="Symbol" panose="05050102010706020507" pitchFamily="18" charset="2"/>
                </a:rPr>
                <a:t>l</a:t>
              </a:r>
              <a:r>
                <a:rPr lang="en-US" altLang="zh-TW" sz="20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in</a:t>
              </a:r>
            </a:p>
          </p:txBody>
        </p:sp>
        <p:sp>
          <p:nvSpPr>
            <p:cNvPr id="162951" name="Line 106">
              <a:extLst>
                <a:ext uri="{FF2B5EF4-FFF2-40B4-BE49-F238E27FC236}">
                  <a16:creationId xmlns:a16="http://schemas.microsoft.com/office/drawing/2014/main" id="{4A3F3F8C-AEFF-4511-B031-90F9464932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2574"/>
              <a:ext cx="65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62862" name="Group 120">
            <a:extLst>
              <a:ext uri="{FF2B5EF4-FFF2-40B4-BE49-F238E27FC236}">
                <a16:creationId xmlns:a16="http://schemas.microsoft.com/office/drawing/2014/main" id="{29F489F7-41CB-4D76-996A-9522CB889DD5}"/>
              </a:ext>
            </a:extLst>
          </p:cNvPr>
          <p:cNvGrpSpPr>
            <a:grpSpLocks/>
          </p:cNvGrpSpPr>
          <p:nvPr/>
        </p:nvGrpSpPr>
        <p:grpSpPr bwMode="auto">
          <a:xfrm>
            <a:off x="5373688" y="4000500"/>
            <a:ext cx="1871662" cy="1804988"/>
            <a:chOff x="4188" y="2667"/>
            <a:chExt cx="1179" cy="1137"/>
          </a:xfrm>
        </p:grpSpPr>
        <p:sp>
          <p:nvSpPr>
            <p:cNvPr id="162933" name="Line 109">
              <a:extLst>
                <a:ext uri="{FF2B5EF4-FFF2-40B4-BE49-F238E27FC236}">
                  <a16:creationId xmlns:a16="http://schemas.microsoft.com/office/drawing/2014/main" id="{EFE3DF1C-88DE-4090-9638-616AF0F617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1" y="2774"/>
              <a:ext cx="0" cy="80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34" name="Line 110">
              <a:extLst>
                <a:ext uri="{FF2B5EF4-FFF2-40B4-BE49-F238E27FC236}">
                  <a16:creationId xmlns:a16="http://schemas.microsoft.com/office/drawing/2014/main" id="{E02000EB-B646-48B2-90F8-703C98C49C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45" y="3574"/>
              <a:ext cx="922" cy="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35" name="Line 111">
              <a:extLst>
                <a:ext uri="{FF2B5EF4-FFF2-40B4-BE49-F238E27FC236}">
                  <a16:creationId xmlns:a16="http://schemas.microsoft.com/office/drawing/2014/main" id="{B3861650-BC55-4B99-A308-6F39E2AE2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5" y="2862"/>
              <a:ext cx="0" cy="6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36" name="Freeform 112">
              <a:extLst>
                <a:ext uri="{FF2B5EF4-FFF2-40B4-BE49-F238E27FC236}">
                  <a16:creationId xmlns:a16="http://schemas.microsoft.com/office/drawing/2014/main" id="{98C3778A-D28B-4965-A813-55BA4C00B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4447" y="2667"/>
              <a:ext cx="723" cy="905"/>
            </a:xfrm>
            <a:custGeom>
              <a:avLst/>
              <a:gdLst>
                <a:gd name="T0" fmla="*/ 0 w 723"/>
                <a:gd name="T1" fmla="*/ 905 h 905"/>
                <a:gd name="T2" fmla="*/ 573 w 723"/>
                <a:gd name="T3" fmla="*/ 732 h 905"/>
                <a:gd name="T4" fmla="*/ 680 w 723"/>
                <a:gd name="T5" fmla="*/ 0 h 905"/>
                <a:gd name="T6" fmla="*/ 0 60000 65536"/>
                <a:gd name="T7" fmla="*/ 0 60000 65536"/>
                <a:gd name="T8" fmla="*/ 0 60000 65536"/>
                <a:gd name="T9" fmla="*/ 0 w 723"/>
                <a:gd name="T10" fmla="*/ 0 h 905"/>
                <a:gd name="T11" fmla="*/ 723 w 723"/>
                <a:gd name="T12" fmla="*/ 905 h 90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23" h="905">
                  <a:moveTo>
                    <a:pt x="0" y="905"/>
                  </a:moveTo>
                  <a:cubicBezTo>
                    <a:pt x="95" y="876"/>
                    <a:pt x="460" y="883"/>
                    <a:pt x="573" y="732"/>
                  </a:cubicBezTo>
                  <a:cubicBezTo>
                    <a:pt x="723" y="490"/>
                    <a:pt x="658" y="152"/>
                    <a:pt x="680" y="0"/>
                  </a:cubicBezTo>
                </a:path>
              </a:pathLst>
            </a:custGeom>
            <a:noFill/>
            <a:ln w="28575" cap="flat" cmpd="sng">
              <a:solidFill>
                <a:srgbClr val="CC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37" name="Line 114">
              <a:extLst>
                <a:ext uri="{FF2B5EF4-FFF2-40B4-BE49-F238E27FC236}">
                  <a16:creationId xmlns:a16="http://schemas.microsoft.com/office/drawing/2014/main" id="{36CEF6BA-77F7-44E3-B0E1-00C79E5F82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3" y="3578"/>
              <a:ext cx="0" cy="5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2938" name="Text Box 116">
              <a:extLst>
                <a:ext uri="{FF2B5EF4-FFF2-40B4-BE49-F238E27FC236}">
                  <a16:creationId xmlns:a16="http://schemas.microsoft.com/office/drawing/2014/main" id="{3DE10EF8-C7C5-41FE-B955-46160A633A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1" y="3600"/>
              <a:ext cx="29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Tahoma" panose="020B0604030504040204" pitchFamily="34" charset="0"/>
                </a:rPr>
                <a:t>R/2</a:t>
              </a:r>
            </a:p>
          </p:txBody>
        </p:sp>
        <p:sp>
          <p:nvSpPr>
            <p:cNvPr id="162939" name="Text Box 117">
              <a:extLst>
                <a:ext uri="{FF2B5EF4-FFF2-40B4-BE49-F238E27FC236}">
                  <a16:creationId xmlns:a16="http://schemas.microsoft.com/office/drawing/2014/main" id="{7B717977-CBAB-4F0A-855F-29ED73A62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4065" y="3103"/>
              <a:ext cx="49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00"/>
                  </a:solidFill>
                  <a:latin typeface="Arial" panose="020B0604020202020204" pitchFamily="34" charset="0"/>
                </a:rPr>
                <a:t>delay</a:t>
              </a:r>
              <a:endParaRPr lang="en-US" altLang="zh-TW" sz="2000" baseline="-250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2940" name="Text Box 118">
              <a:extLst>
                <a:ext uri="{FF2B5EF4-FFF2-40B4-BE49-F238E27FC236}">
                  <a16:creationId xmlns:a16="http://schemas.microsoft.com/office/drawing/2014/main" id="{0FB6C716-F2FA-418C-B979-28E58993FB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02" y="3554"/>
              <a:ext cx="28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00"/>
                  </a:solidFill>
                  <a:latin typeface="Symbol" panose="05050102010706020507" pitchFamily="18" charset="2"/>
                </a:rPr>
                <a:t>l</a:t>
              </a:r>
              <a:r>
                <a:rPr lang="en-US" altLang="zh-TW" sz="20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in</a:t>
              </a:r>
            </a:p>
          </p:txBody>
        </p:sp>
      </p:grpSp>
      <p:sp>
        <p:nvSpPr>
          <p:cNvPr id="162863" name="Rectangle 121">
            <a:extLst>
              <a:ext uri="{FF2B5EF4-FFF2-40B4-BE49-F238E27FC236}">
                <a16:creationId xmlns:a16="http://schemas.microsoft.com/office/drawing/2014/main" id="{7F18A598-AFC9-41B7-853E-546B27A649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4888" y="5786438"/>
            <a:ext cx="3603625" cy="78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zh-TW" sz="2000">
                <a:solidFill>
                  <a:srgbClr val="000000"/>
                </a:solidFill>
              </a:rPr>
              <a:t>large delays as arrival rate, </a:t>
            </a:r>
            <a:r>
              <a:rPr lang="en-US" altLang="zh-TW" sz="2000">
                <a:solidFill>
                  <a:srgbClr val="00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000000"/>
                </a:solidFill>
              </a:rPr>
              <a:t>in</a:t>
            </a:r>
            <a:r>
              <a:rPr lang="en-US" altLang="zh-TW" sz="2000">
                <a:solidFill>
                  <a:srgbClr val="000000"/>
                </a:solidFill>
              </a:rPr>
              <a:t>, approaches capacity</a:t>
            </a:r>
          </a:p>
        </p:txBody>
      </p:sp>
      <p:grpSp>
        <p:nvGrpSpPr>
          <p:cNvPr id="162864" name="Group 127">
            <a:extLst>
              <a:ext uri="{FF2B5EF4-FFF2-40B4-BE49-F238E27FC236}">
                <a16:creationId xmlns:a16="http://schemas.microsoft.com/office/drawing/2014/main" id="{20AF5E8D-7D4C-411D-8CBB-A905C207F25E}"/>
              </a:ext>
            </a:extLst>
          </p:cNvPr>
          <p:cNvGrpSpPr>
            <a:grpSpLocks/>
          </p:cNvGrpSpPr>
          <p:nvPr/>
        </p:nvGrpSpPr>
        <p:grpSpPr bwMode="auto">
          <a:xfrm>
            <a:off x="8693150" y="2430463"/>
            <a:ext cx="231775" cy="441325"/>
            <a:chOff x="4140" y="429"/>
            <a:chExt cx="1425" cy="2396"/>
          </a:xfrm>
        </p:grpSpPr>
        <p:sp>
          <p:nvSpPr>
            <p:cNvPr id="162901" name="Freeform 128">
              <a:extLst>
                <a:ext uri="{FF2B5EF4-FFF2-40B4-BE49-F238E27FC236}">
                  <a16:creationId xmlns:a16="http://schemas.microsoft.com/office/drawing/2014/main" id="{B728AD33-2644-41B6-8DD0-485CF6BCF0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02" name="Rectangle 129">
              <a:extLst>
                <a:ext uri="{FF2B5EF4-FFF2-40B4-BE49-F238E27FC236}">
                  <a16:creationId xmlns:a16="http://schemas.microsoft.com/office/drawing/2014/main" id="{18BF6644-DE86-43C3-B76F-B3DE5EEF5A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03" name="Freeform 130">
              <a:extLst>
                <a:ext uri="{FF2B5EF4-FFF2-40B4-BE49-F238E27FC236}">
                  <a16:creationId xmlns:a16="http://schemas.microsoft.com/office/drawing/2014/main" id="{E517A22C-6A37-4138-AA79-6B3CAE7FB3F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04" name="Freeform 131">
              <a:extLst>
                <a:ext uri="{FF2B5EF4-FFF2-40B4-BE49-F238E27FC236}">
                  <a16:creationId xmlns:a16="http://schemas.microsoft.com/office/drawing/2014/main" id="{D06743D8-6CCF-426D-8AAC-A2FD665F8E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05" name="Rectangle 132">
              <a:extLst>
                <a:ext uri="{FF2B5EF4-FFF2-40B4-BE49-F238E27FC236}">
                  <a16:creationId xmlns:a16="http://schemas.microsoft.com/office/drawing/2014/main" id="{559219E5-DA2B-4314-A306-48230C065B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2906" name="Group 133">
              <a:extLst>
                <a:ext uri="{FF2B5EF4-FFF2-40B4-BE49-F238E27FC236}">
                  <a16:creationId xmlns:a16="http://schemas.microsoft.com/office/drawing/2014/main" id="{169100C1-9620-4573-8F43-41367283F8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2931" name="AutoShape 134">
                <a:extLst>
                  <a:ext uri="{FF2B5EF4-FFF2-40B4-BE49-F238E27FC236}">
                    <a16:creationId xmlns:a16="http://schemas.microsoft.com/office/drawing/2014/main" id="{4223982C-E1DA-4674-B38A-F480E9CCF0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2932" name="AutoShape 135">
                <a:extLst>
                  <a:ext uri="{FF2B5EF4-FFF2-40B4-BE49-F238E27FC236}">
                    <a16:creationId xmlns:a16="http://schemas.microsoft.com/office/drawing/2014/main" id="{E5907E15-88FC-44AF-AE3E-06C978A16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2907" name="Rectangle 136">
              <a:extLst>
                <a:ext uri="{FF2B5EF4-FFF2-40B4-BE49-F238E27FC236}">
                  <a16:creationId xmlns:a16="http://schemas.microsoft.com/office/drawing/2014/main" id="{E39486E2-FCBC-47CA-A36F-1C76D3A9A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2908" name="Group 137">
              <a:extLst>
                <a:ext uri="{FF2B5EF4-FFF2-40B4-BE49-F238E27FC236}">
                  <a16:creationId xmlns:a16="http://schemas.microsoft.com/office/drawing/2014/main" id="{F28E6282-0309-4479-AD4A-BB91AF78F5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2929" name="AutoShape 138">
                <a:extLst>
                  <a:ext uri="{FF2B5EF4-FFF2-40B4-BE49-F238E27FC236}">
                    <a16:creationId xmlns:a16="http://schemas.microsoft.com/office/drawing/2014/main" id="{69D872C8-6021-4E01-BB47-1A55264159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2930" name="AutoShape 139">
                <a:extLst>
                  <a:ext uri="{FF2B5EF4-FFF2-40B4-BE49-F238E27FC236}">
                    <a16:creationId xmlns:a16="http://schemas.microsoft.com/office/drawing/2014/main" id="{77CCB967-CAA6-4FF2-9A1A-A0C2B75180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2909" name="Rectangle 140">
              <a:extLst>
                <a:ext uri="{FF2B5EF4-FFF2-40B4-BE49-F238E27FC236}">
                  <a16:creationId xmlns:a16="http://schemas.microsoft.com/office/drawing/2014/main" id="{9C03CFCB-884C-4C85-972D-0DFE49125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10" name="Rectangle 141">
              <a:extLst>
                <a:ext uri="{FF2B5EF4-FFF2-40B4-BE49-F238E27FC236}">
                  <a16:creationId xmlns:a16="http://schemas.microsoft.com/office/drawing/2014/main" id="{584D1976-33C1-4FA9-8222-8E527FEB5F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2911" name="Group 142">
              <a:extLst>
                <a:ext uri="{FF2B5EF4-FFF2-40B4-BE49-F238E27FC236}">
                  <a16:creationId xmlns:a16="http://schemas.microsoft.com/office/drawing/2014/main" id="{CD752DF5-F5D9-4A23-A138-C678657968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2927" name="AutoShape 143">
                <a:extLst>
                  <a:ext uri="{FF2B5EF4-FFF2-40B4-BE49-F238E27FC236}">
                    <a16:creationId xmlns:a16="http://schemas.microsoft.com/office/drawing/2014/main" id="{104DC153-4FB8-4552-9AB2-B89C7EE7D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2928" name="AutoShape 144">
                <a:extLst>
                  <a:ext uri="{FF2B5EF4-FFF2-40B4-BE49-F238E27FC236}">
                    <a16:creationId xmlns:a16="http://schemas.microsoft.com/office/drawing/2014/main" id="{A95DC81D-B5E8-475A-A16C-8967CCF79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2912" name="Freeform 145">
              <a:extLst>
                <a:ext uri="{FF2B5EF4-FFF2-40B4-BE49-F238E27FC236}">
                  <a16:creationId xmlns:a16="http://schemas.microsoft.com/office/drawing/2014/main" id="{91A3D95C-CFC0-40C7-A00C-FF34180914D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2913" name="Group 146">
              <a:extLst>
                <a:ext uri="{FF2B5EF4-FFF2-40B4-BE49-F238E27FC236}">
                  <a16:creationId xmlns:a16="http://schemas.microsoft.com/office/drawing/2014/main" id="{3FB69919-746F-47BA-B080-B5098766F48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2925" name="AutoShape 147">
                <a:extLst>
                  <a:ext uri="{FF2B5EF4-FFF2-40B4-BE49-F238E27FC236}">
                    <a16:creationId xmlns:a16="http://schemas.microsoft.com/office/drawing/2014/main" id="{E5984A47-57BA-4713-90E8-2209997DA3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2926" name="AutoShape 148">
                <a:extLst>
                  <a:ext uri="{FF2B5EF4-FFF2-40B4-BE49-F238E27FC236}">
                    <a16:creationId xmlns:a16="http://schemas.microsoft.com/office/drawing/2014/main" id="{F156DA8C-F635-4910-9D2A-B8F4A75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2914" name="Rectangle 149">
              <a:extLst>
                <a:ext uri="{FF2B5EF4-FFF2-40B4-BE49-F238E27FC236}">
                  <a16:creationId xmlns:a16="http://schemas.microsoft.com/office/drawing/2014/main" id="{C45121E4-7438-43ED-853E-3B7A87AD5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15" name="Freeform 150">
              <a:extLst>
                <a:ext uri="{FF2B5EF4-FFF2-40B4-BE49-F238E27FC236}">
                  <a16:creationId xmlns:a16="http://schemas.microsoft.com/office/drawing/2014/main" id="{CEE4AC8A-1353-4C11-AE76-E7C8EF17597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16" name="Freeform 151">
              <a:extLst>
                <a:ext uri="{FF2B5EF4-FFF2-40B4-BE49-F238E27FC236}">
                  <a16:creationId xmlns:a16="http://schemas.microsoft.com/office/drawing/2014/main" id="{1E44C0A8-2287-4F7F-A430-A1F80F4415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17" name="Oval 152">
              <a:extLst>
                <a:ext uri="{FF2B5EF4-FFF2-40B4-BE49-F238E27FC236}">
                  <a16:creationId xmlns:a16="http://schemas.microsoft.com/office/drawing/2014/main" id="{F2969DDF-77A4-4428-9D06-9A3029F1E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18" name="Freeform 153">
              <a:extLst>
                <a:ext uri="{FF2B5EF4-FFF2-40B4-BE49-F238E27FC236}">
                  <a16:creationId xmlns:a16="http://schemas.microsoft.com/office/drawing/2014/main" id="{AB4E9DBE-CB22-4D64-A93B-011527950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919" name="AutoShape 154">
              <a:extLst>
                <a:ext uri="{FF2B5EF4-FFF2-40B4-BE49-F238E27FC236}">
                  <a16:creationId xmlns:a16="http://schemas.microsoft.com/office/drawing/2014/main" id="{6BAB847C-5957-4CCE-93FD-87276C0FA4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20" name="AutoShape 155">
              <a:extLst>
                <a:ext uri="{FF2B5EF4-FFF2-40B4-BE49-F238E27FC236}">
                  <a16:creationId xmlns:a16="http://schemas.microsoft.com/office/drawing/2014/main" id="{0B005A86-CD1C-41E4-BBA6-177E53C457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21" name="Oval 156">
              <a:extLst>
                <a:ext uri="{FF2B5EF4-FFF2-40B4-BE49-F238E27FC236}">
                  <a16:creationId xmlns:a16="http://schemas.microsoft.com/office/drawing/2014/main" id="{9E6E5EC9-9694-4BD7-AB4F-F6AF582A35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22" name="Oval 157">
              <a:extLst>
                <a:ext uri="{FF2B5EF4-FFF2-40B4-BE49-F238E27FC236}">
                  <a16:creationId xmlns:a16="http://schemas.microsoft.com/office/drawing/2014/main" id="{880786A9-553E-4692-B1CF-F15326407C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2923" name="Oval 158">
              <a:extLst>
                <a:ext uri="{FF2B5EF4-FFF2-40B4-BE49-F238E27FC236}">
                  <a16:creationId xmlns:a16="http://schemas.microsoft.com/office/drawing/2014/main" id="{95324BCE-F49E-4518-A390-6918DC162D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924" name="Rectangle 159">
              <a:extLst>
                <a:ext uri="{FF2B5EF4-FFF2-40B4-BE49-F238E27FC236}">
                  <a16:creationId xmlns:a16="http://schemas.microsoft.com/office/drawing/2014/main" id="{A94AF6DA-83B7-44E2-8BCD-570C6F51D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2865" name="Group 160">
            <a:extLst>
              <a:ext uri="{FF2B5EF4-FFF2-40B4-BE49-F238E27FC236}">
                <a16:creationId xmlns:a16="http://schemas.microsoft.com/office/drawing/2014/main" id="{1F849A28-6219-4168-A34F-EDB67A10E208}"/>
              </a:ext>
            </a:extLst>
          </p:cNvPr>
          <p:cNvGrpSpPr>
            <a:grpSpLocks/>
          </p:cNvGrpSpPr>
          <p:nvPr/>
        </p:nvGrpSpPr>
        <p:grpSpPr bwMode="auto">
          <a:xfrm>
            <a:off x="3013075" y="3321050"/>
            <a:ext cx="525463" cy="434975"/>
            <a:chOff x="-44" y="1473"/>
            <a:chExt cx="981" cy="1105"/>
          </a:xfrm>
        </p:grpSpPr>
        <p:pic>
          <p:nvPicPr>
            <p:cNvPr id="162899" name="Picture 161" descr="desktop_computer_stylized_medium">
              <a:extLst>
                <a:ext uri="{FF2B5EF4-FFF2-40B4-BE49-F238E27FC236}">
                  <a16:creationId xmlns:a16="http://schemas.microsoft.com/office/drawing/2014/main" id="{58164129-4F1B-4613-A4C3-D3E755817D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2900" name="Freeform 162">
              <a:extLst>
                <a:ext uri="{FF2B5EF4-FFF2-40B4-BE49-F238E27FC236}">
                  <a16:creationId xmlns:a16="http://schemas.microsoft.com/office/drawing/2014/main" id="{3485DC25-D34B-4653-980E-6935A70167F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62866" name="Group 163">
            <a:extLst>
              <a:ext uri="{FF2B5EF4-FFF2-40B4-BE49-F238E27FC236}">
                <a16:creationId xmlns:a16="http://schemas.microsoft.com/office/drawing/2014/main" id="{09D9F2F1-C6E1-471A-956C-90DD739C66A4}"/>
              </a:ext>
            </a:extLst>
          </p:cNvPr>
          <p:cNvGrpSpPr>
            <a:grpSpLocks/>
          </p:cNvGrpSpPr>
          <p:nvPr/>
        </p:nvGrpSpPr>
        <p:grpSpPr bwMode="auto">
          <a:xfrm>
            <a:off x="8375650" y="3395663"/>
            <a:ext cx="231775" cy="441325"/>
            <a:chOff x="4140" y="429"/>
            <a:chExt cx="1425" cy="2396"/>
          </a:xfrm>
        </p:grpSpPr>
        <p:sp>
          <p:nvSpPr>
            <p:cNvPr id="162867" name="Freeform 164">
              <a:extLst>
                <a:ext uri="{FF2B5EF4-FFF2-40B4-BE49-F238E27FC236}">
                  <a16:creationId xmlns:a16="http://schemas.microsoft.com/office/drawing/2014/main" id="{C5F5AEC4-211B-4FC9-8626-D2FA3D335D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868" name="Rectangle 165">
              <a:extLst>
                <a:ext uri="{FF2B5EF4-FFF2-40B4-BE49-F238E27FC236}">
                  <a16:creationId xmlns:a16="http://schemas.microsoft.com/office/drawing/2014/main" id="{265E83D5-7949-4B1D-9D02-6731897AF2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869" name="Freeform 166">
              <a:extLst>
                <a:ext uri="{FF2B5EF4-FFF2-40B4-BE49-F238E27FC236}">
                  <a16:creationId xmlns:a16="http://schemas.microsoft.com/office/drawing/2014/main" id="{A3B04A23-8DB8-446E-B9E8-C26042E573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870" name="Freeform 167">
              <a:extLst>
                <a:ext uri="{FF2B5EF4-FFF2-40B4-BE49-F238E27FC236}">
                  <a16:creationId xmlns:a16="http://schemas.microsoft.com/office/drawing/2014/main" id="{0E53A682-DD36-4412-BB8B-BA0D02EAB97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871" name="Rectangle 168">
              <a:extLst>
                <a:ext uri="{FF2B5EF4-FFF2-40B4-BE49-F238E27FC236}">
                  <a16:creationId xmlns:a16="http://schemas.microsoft.com/office/drawing/2014/main" id="{DF47308D-2BAF-4D90-8A97-B59A2EBBCA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2872" name="Group 169">
              <a:extLst>
                <a:ext uri="{FF2B5EF4-FFF2-40B4-BE49-F238E27FC236}">
                  <a16:creationId xmlns:a16="http://schemas.microsoft.com/office/drawing/2014/main" id="{E8034224-910D-42DB-BAB5-8E90516AA2C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2897" name="AutoShape 170">
                <a:extLst>
                  <a:ext uri="{FF2B5EF4-FFF2-40B4-BE49-F238E27FC236}">
                    <a16:creationId xmlns:a16="http://schemas.microsoft.com/office/drawing/2014/main" id="{63214FB0-BCB5-42D1-B429-497094CBA0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2898" name="AutoShape 171">
                <a:extLst>
                  <a:ext uri="{FF2B5EF4-FFF2-40B4-BE49-F238E27FC236}">
                    <a16:creationId xmlns:a16="http://schemas.microsoft.com/office/drawing/2014/main" id="{878B5778-C323-43B1-9F72-2D801258C0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2873" name="Rectangle 172">
              <a:extLst>
                <a:ext uri="{FF2B5EF4-FFF2-40B4-BE49-F238E27FC236}">
                  <a16:creationId xmlns:a16="http://schemas.microsoft.com/office/drawing/2014/main" id="{EE66DF71-91E0-43DF-AF34-67623EE3F3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2874" name="Group 173">
              <a:extLst>
                <a:ext uri="{FF2B5EF4-FFF2-40B4-BE49-F238E27FC236}">
                  <a16:creationId xmlns:a16="http://schemas.microsoft.com/office/drawing/2014/main" id="{62335F29-03E5-4093-91B7-9F32396244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2895" name="AutoShape 174">
                <a:extLst>
                  <a:ext uri="{FF2B5EF4-FFF2-40B4-BE49-F238E27FC236}">
                    <a16:creationId xmlns:a16="http://schemas.microsoft.com/office/drawing/2014/main" id="{D34CC6DA-AA06-48E6-B28D-601ED706C0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2896" name="AutoShape 175">
                <a:extLst>
                  <a:ext uri="{FF2B5EF4-FFF2-40B4-BE49-F238E27FC236}">
                    <a16:creationId xmlns:a16="http://schemas.microsoft.com/office/drawing/2014/main" id="{A2708634-F0BA-4E82-BD01-C0F82535A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2875" name="Rectangle 176">
              <a:extLst>
                <a:ext uri="{FF2B5EF4-FFF2-40B4-BE49-F238E27FC236}">
                  <a16:creationId xmlns:a16="http://schemas.microsoft.com/office/drawing/2014/main" id="{107B50EB-4B64-41BF-ADF0-A47F88481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876" name="Rectangle 177">
              <a:extLst>
                <a:ext uri="{FF2B5EF4-FFF2-40B4-BE49-F238E27FC236}">
                  <a16:creationId xmlns:a16="http://schemas.microsoft.com/office/drawing/2014/main" id="{4CCB9881-4666-4B9A-9CF7-BD60D3F5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2877" name="Group 178">
              <a:extLst>
                <a:ext uri="{FF2B5EF4-FFF2-40B4-BE49-F238E27FC236}">
                  <a16:creationId xmlns:a16="http://schemas.microsoft.com/office/drawing/2014/main" id="{8AC634C5-0B86-4E92-A8AA-6449200409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2893" name="AutoShape 179">
                <a:extLst>
                  <a:ext uri="{FF2B5EF4-FFF2-40B4-BE49-F238E27FC236}">
                    <a16:creationId xmlns:a16="http://schemas.microsoft.com/office/drawing/2014/main" id="{E46FB8ED-7711-4B88-9190-040428420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2894" name="AutoShape 180">
                <a:extLst>
                  <a:ext uri="{FF2B5EF4-FFF2-40B4-BE49-F238E27FC236}">
                    <a16:creationId xmlns:a16="http://schemas.microsoft.com/office/drawing/2014/main" id="{4C13D688-10D9-4065-9D74-8BE457F2B4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2878" name="Freeform 181">
              <a:extLst>
                <a:ext uri="{FF2B5EF4-FFF2-40B4-BE49-F238E27FC236}">
                  <a16:creationId xmlns:a16="http://schemas.microsoft.com/office/drawing/2014/main" id="{AFF44F7C-A7F6-4F5B-857C-D1DD3374670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2879" name="Group 182">
              <a:extLst>
                <a:ext uri="{FF2B5EF4-FFF2-40B4-BE49-F238E27FC236}">
                  <a16:creationId xmlns:a16="http://schemas.microsoft.com/office/drawing/2014/main" id="{CAAC4756-0CA0-4FF7-B4BE-C8DDA3D081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2891" name="AutoShape 183">
                <a:extLst>
                  <a:ext uri="{FF2B5EF4-FFF2-40B4-BE49-F238E27FC236}">
                    <a16:creationId xmlns:a16="http://schemas.microsoft.com/office/drawing/2014/main" id="{7E131A4C-7558-4909-9047-072049A5BD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2892" name="AutoShape 184">
                <a:extLst>
                  <a:ext uri="{FF2B5EF4-FFF2-40B4-BE49-F238E27FC236}">
                    <a16:creationId xmlns:a16="http://schemas.microsoft.com/office/drawing/2014/main" id="{70A7B426-65DF-4A38-A997-929114968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2880" name="Rectangle 185">
              <a:extLst>
                <a:ext uri="{FF2B5EF4-FFF2-40B4-BE49-F238E27FC236}">
                  <a16:creationId xmlns:a16="http://schemas.microsoft.com/office/drawing/2014/main" id="{6BB588AC-DBBD-44A3-B21F-666E1F08EB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881" name="Freeform 186">
              <a:extLst>
                <a:ext uri="{FF2B5EF4-FFF2-40B4-BE49-F238E27FC236}">
                  <a16:creationId xmlns:a16="http://schemas.microsoft.com/office/drawing/2014/main" id="{7066DF4A-46E4-480E-8D97-8491783404F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882" name="Freeform 187">
              <a:extLst>
                <a:ext uri="{FF2B5EF4-FFF2-40B4-BE49-F238E27FC236}">
                  <a16:creationId xmlns:a16="http://schemas.microsoft.com/office/drawing/2014/main" id="{F1BBC6EE-B988-4AFB-B7C8-907BE5B007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883" name="Oval 188">
              <a:extLst>
                <a:ext uri="{FF2B5EF4-FFF2-40B4-BE49-F238E27FC236}">
                  <a16:creationId xmlns:a16="http://schemas.microsoft.com/office/drawing/2014/main" id="{265B381E-0D38-4E3A-81CA-B9D8E189CC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884" name="Freeform 189">
              <a:extLst>
                <a:ext uri="{FF2B5EF4-FFF2-40B4-BE49-F238E27FC236}">
                  <a16:creationId xmlns:a16="http://schemas.microsoft.com/office/drawing/2014/main" id="{FD0F6309-63E5-4F1E-B9C6-7DD95905814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2885" name="AutoShape 190">
              <a:extLst>
                <a:ext uri="{FF2B5EF4-FFF2-40B4-BE49-F238E27FC236}">
                  <a16:creationId xmlns:a16="http://schemas.microsoft.com/office/drawing/2014/main" id="{11D8401D-776B-43D4-A1BE-0AE0A33714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886" name="AutoShape 191">
              <a:extLst>
                <a:ext uri="{FF2B5EF4-FFF2-40B4-BE49-F238E27FC236}">
                  <a16:creationId xmlns:a16="http://schemas.microsoft.com/office/drawing/2014/main" id="{98E8CC9C-3D3F-499C-A544-5B219A0FE5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887" name="Oval 192">
              <a:extLst>
                <a:ext uri="{FF2B5EF4-FFF2-40B4-BE49-F238E27FC236}">
                  <a16:creationId xmlns:a16="http://schemas.microsoft.com/office/drawing/2014/main" id="{587388E1-C4DF-4A6D-AADB-7346907DA5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888" name="Oval 193">
              <a:extLst>
                <a:ext uri="{FF2B5EF4-FFF2-40B4-BE49-F238E27FC236}">
                  <a16:creationId xmlns:a16="http://schemas.microsoft.com/office/drawing/2014/main" id="{E1F34736-691D-48B9-8CA3-F33AF07A15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2889" name="Oval 194">
              <a:extLst>
                <a:ext uri="{FF2B5EF4-FFF2-40B4-BE49-F238E27FC236}">
                  <a16:creationId xmlns:a16="http://schemas.microsoft.com/office/drawing/2014/main" id="{9F5B928B-6C2E-405C-B251-3F97D654AE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2890" name="Rectangle 195">
              <a:extLst>
                <a:ext uri="{FF2B5EF4-FFF2-40B4-BE49-F238E27FC236}">
                  <a16:creationId xmlns:a16="http://schemas.microsoft.com/office/drawing/2014/main" id="{C3635D8B-A149-43E5-B791-27C43DA778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076" grpId="0" build="p"/>
      <p:bldP spid="16286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Footer Placeholder 5">
            <a:extLst>
              <a:ext uri="{FF2B5EF4-FFF2-40B4-BE49-F238E27FC236}">
                <a16:creationId xmlns:a16="http://schemas.microsoft.com/office/drawing/2014/main" id="{CBE70ABD-3990-4E36-BD9A-92C5887F0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3843" name="Slide Number Placeholder 6">
            <a:extLst>
              <a:ext uri="{FF2B5EF4-FFF2-40B4-BE49-F238E27FC236}">
                <a16:creationId xmlns:a16="http://schemas.microsoft.com/office/drawing/2014/main" id="{E9871C9A-7D58-49E9-8206-02324C4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87EE15FF-0C85-4CEA-91EA-A9E04214D6FA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92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63844" name="Freeform 247">
            <a:extLst>
              <a:ext uri="{FF2B5EF4-FFF2-40B4-BE49-F238E27FC236}">
                <a16:creationId xmlns:a16="http://schemas.microsoft.com/office/drawing/2014/main" id="{D7D5E481-283F-4834-BDF3-A0266A6E5B5E}"/>
              </a:ext>
            </a:extLst>
          </p:cNvPr>
          <p:cNvSpPr>
            <a:spLocks/>
          </p:cNvSpPr>
          <p:nvPr/>
        </p:nvSpPr>
        <p:spPr bwMode="auto">
          <a:xfrm flipH="1">
            <a:off x="2111375" y="3465513"/>
            <a:ext cx="250825" cy="1201737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163845" name="Group 322">
            <a:extLst>
              <a:ext uri="{FF2B5EF4-FFF2-40B4-BE49-F238E27FC236}">
                <a16:creationId xmlns:a16="http://schemas.microsoft.com/office/drawing/2014/main" id="{F1A7D010-9566-4EED-8398-2F6691A957AA}"/>
              </a:ext>
            </a:extLst>
          </p:cNvPr>
          <p:cNvGrpSpPr>
            <a:grpSpLocks/>
          </p:cNvGrpSpPr>
          <p:nvPr/>
        </p:nvGrpSpPr>
        <p:grpSpPr bwMode="auto">
          <a:xfrm>
            <a:off x="1716088" y="4425950"/>
            <a:ext cx="525462" cy="434975"/>
            <a:chOff x="-44" y="1473"/>
            <a:chExt cx="981" cy="1105"/>
          </a:xfrm>
        </p:grpSpPr>
        <p:pic>
          <p:nvPicPr>
            <p:cNvPr id="163998" name="Picture 323" descr="desktop_computer_stylized_medium">
              <a:extLst>
                <a:ext uri="{FF2B5EF4-FFF2-40B4-BE49-F238E27FC236}">
                  <a16:creationId xmlns:a16="http://schemas.microsoft.com/office/drawing/2014/main" id="{A5CDD93E-A503-483A-935B-41FB483EBB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3999" name="Freeform 324">
              <a:extLst>
                <a:ext uri="{FF2B5EF4-FFF2-40B4-BE49-F238E27FC236}">
                  <a16:creationId xmlns:a16="http://schemas.microsoft.com/office/drawing/2014/main" id="{B34606E0-9875-45BC-800E-DB447BB9189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63846" name="Freeform 254">
            <a:extLst>
              <a:ext uri="{FF2B5EF4-FFF2-40B4-BE49-F238E27FC236}">
                <a16:creationId xmlns:a16="http://schemas.microsoft.com/office/drawing/2014/main" id="{890C2B1D-7F68-4573-84AD-FFCE74B9816E}"/>
              </a:ext>
            </a:extLst>
          </p:cNvPr>
          <p:cNvSpPr>
            <a:spLocks/>
          </p:cNvSpPr>
          <p:nvPr/>
        </p:nvSpPr>
        <p:spPr bwMode="auto">
          <a:xfrm>
            <a:off x="6959600" y="4970463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3847" name="Freeform 243">
            <a:extLst>
              <a:ext uri="{FF2B5EF4-FFF2-40B4-BE49-F238E27FC236}">
                <a16:creationId xmlns:a16="http://schemas.microsoft.com/office/drawing/2014/main" id="{18D6DC11-A1E2-4884-91F1-DB82F2B2B8F5}"/>
              </a:ext>
            </a:extLst>
          </p:cNvPr>
          <p:cNvSpPr>
            <a:spLocks/>
          </p:cNvSpPr>
          <p:nvPr/>
        </p:nvSpPr>
        <p:spPr bwMode="auto">
          <a:xfrm flipH="1">
            <a:off x="1066800" y="4667250"/>
            <a:ext cx="250825" cy="1201738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3848" name="Rectangle 2">
            <a:extLst>
              <a:ext uri="{FF2B5EF4-FFF2-40B4-BE49-F238E27FC236}">
                <a16:creationId xmlns:a16="http://schemas.microsoft.com/office/drawing/2014/main" id="{ADE3C0DD-1B73-4429-B3C7-081E3A6DCF9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49275" y="1135063"/>
            <a:ext cx="8205788" cy="1905000"/>
          </a:xfrm>
        </p:spPr>
        <p:txBody>
          <a:bodyPr/>
          <a:lstStyle/>
          <a:p>
            <a:r>
              <a:rPr lang="en-US" altLang="zh-TW" dirty="0"/>
              <a:t>Ass 1: one router, </a:t>
            </a:r>
            <a:r>
              <a:rPr lang="en-US" altLang="zh-TW" i="1" dirty="0">
                <a:solidFill>
                  <a:srgbClr val="FF0000"/>
                </a:solidFill>
              </a:rPr>
              <a:t>finite</a:t>
            </a:r>
            <a:r>
              <a:rPr lang="en-US" altLang="zh-TW" dirty="0"/>
              <a:t> buffers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zh-TW" dirty="0">
                <a:cs typeface="Arial" panose="020B0604020202020204" pitchFamily="34" charset="0"/>
              </a:rPr>
              <a:t>packets will be dropped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TW" dirty="0"/>
          </a:p>
          <a:p>
            <a:r>
              <a:rPr lang="en-US" altLang="zh-TW" dirty="0"/>
              <a:t>Ass 2: sender </a:t>
            </a:r>
            <a:r>
              <a:rPr lang="en-US" altLang="zh-TW" dirty="0">
                <a:solidFill>
                  <a:srgbClr val="0070C0"/>
                </a:solidFill>
              </a:rPr>
              <a:t>retransmission</a:t>
            </a:r>
            <a:r>
              <a:rPr lang="en-US" altLang="zh-TW" dirty="0"/>
              <a:t> of timed-out packet</a:t>
            </a:r>
          </a:p>
          <a:p>
            <a:pPr lvl="1"/>
            <a:r>
              <a:rPr lang="en-US" altLang="zh-TW" dirty="0"/>
              <a:t>transport-layer input includes </a:t>
            </a:r>
            <a:r>
              <a:rPr lang="en-US" altLang="zh-TW" i="1" dirty="0"/>
              <a:t>retransmissions </a:t>
            </a:r>
            <a:r>
              <a:rPr lang="en-US" altLang="zh-TW" dirty="0"/>
              <a:t>:</a:t>
            </a:r>
            <a:r>
              <a:rPr lang="en-US" altLang="zh-TW" dirty="0">
                <a:latin typeface="Symbol" panose="05050102010706020507" pitchFamily="18" charset="2"/>
              </a:rPr>
              <a:t> </a:t>
            </a:r>
            <a:r>
              <a:rPr lang="en-US" altLang="zh-TW" dirty="0" err="1">
                <a:latin typeface="Symbol" panose="05050102010706020507" pitchFamily="18" charset="2"/>
              </a:rPr>
              <a:t>l</a:t>
            </a:r>
            <a:r>
              <a:rPr lang="en-US" altLang="zh-TW" baseline="-25000" dirty="0" err="1">
                <a:latin typeface="Arial" panose="020B0604020202020204" pitchFamily="34" charset="0"/>
              </a:rPr>
              <a:t>in</a:t>
            </a:r>
            <a:r>
              <a:rPr lang="en-US" altLang="zh-TW" baseline="-25000" dirty="0">
                <a:latin typeface="Arial" panose="020B0604020202020204" pitchFamily="34" charset="0"/>
              </a:rPr>
              <a:t> </a:t>
            </a:r>
            <a:r>
              <a:rPr lang="en-US" altLang="zh-TW" dirty="0">
                <a:latin typeface="Arial" panose="020B0604020202020204" pitchFamily="34" charset="0"/>
              </a:rPr>
              <a:t>   </a:t>
            </a:r>
            <a:r>
              <a:rPr lang="en-US" altLang="zh-TW" dirty="0" err="1">
                <a:latin typeface="Symbol" panose="05050102010706020507" pitchFamily="18" charset="2"/>
              </a:rPr>
              <a:t>l</a:t>
            </a:r>
            <a:r>
              <a:rPr lang="en-US" altLang="zh-TW" baseline="-25000" dirty="0" err="1">
                <a:latin typeface="Arial" panose="020B0604020202020204" pitchFamily="34" charset="0"/>
              </a:rPr>
              <a:t>in</a:t>
            </a:r>
            <a:endParaRPr lang="en-US" altLang="zh-TW" i="1" dirty="0"/>
          </a:p>
          <a:p>
            <a:endParaRPr lang="en-US" altLang="zh-TW" sz="2400" dirty="0"/>
          </a:p>
          <a:p>
            <a:endParaRPr lang="en-US" altLang="zh-TW" dirty="0"/>
          </a:p>
          <a:p>
            <a:endParaRPr lang="en-US" altLang="zh-TW" dirty="0"/>
          </a:p>
        </p:txBody>
      </p:sp>
      <p:sp>
        <p:nvSpPr>
          <p:cNvPr id="163849" name="Oval 3">
            <a:extLst>
              <a:ext uri="{FF2B5EF4-FFF2-40B4-BE49-F238E27FC236}">
                <a16:creationId xmlns:a16="http://schemas.microsoft.com/office/drawing/2014/main" id="{712791A0-8ECB-48BA-8E8E-5EC42E2E43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26063"/>
            <a:ext cx="1304925" cy="303212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3850" name="Line 4">
            <a:extLst>
              <a:ext uri="{FF2B5EF4-FFF2-40B4-BE49-F238E27FC236}">
                <a16:creationId xmlns:a16="http://schemas.microsoft.com/office/drawing/2014/main" id="{FDB5A9D1-6FC4-4109-A673-BBF461BF30BB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5713" y="5302250"/>
            <a:ext cx="0" cy="18732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51" name="Line 5">
            <a:extLst>
              <a:ext uri="{FF2B5EF4-FFF2-40B4-BE49-F238E27FC236}">
                <a16:creationId xmlns:a16="http://schemas.microsoft.com/office/drawing/2014/main" id="{7A33B6FF-D333-4327-B7F1-B7A9E72E582F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0638" y="5302250"/>
            <a:ext cx="0" cy="187325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52" name="Rectangle 6">
            <a:extLst>
              <a:ext uri="{FF2B5EF4-FFF2-40B4-BE49-F238E27FC236}">
                <a16:creationId xmlns:a16="http://schemas.microsoft.com/office/drawing/2014/main" id="{85911197-CE43-4409-9877-0295DE34A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02250"/>
            <a:ext cx="309562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3853" name="Rectangle 7">
            <a:extLst>
              <a:ext uri="{FF2B5EF4-FFF2-40B4-BE49-F238E27FC236}">
                <a16:creationId xmlns:a16="http://schemas.microsoft.com/office/drawing/2014/main" id="{FB02D411-B35C-4104-BBE1-C593CD5D17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5350" y="5289550"/>
            <a:ext cx="395288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3854" name="Oval 8">
            <a:extLst>
              <a:ext uri="{FF2B5EF4-FFF2-40B4-BE49-F238E27FC236}">
                <a16:creationId xmlns:a16="http://schemas.microsoft.com/office/drawing/2014/main" id="{8EC17370-FBF6-4B69-84D3-0CF64D126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0950" y="5103813"/>
            <a:ext cx="1306513" cy="352425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63855" name="Group 9">
            <a:extLst>
              <a:ext uri="{FF2B5EF4-FFF2-40B4-BE49-F238E27FC236}">
                <a16:creationId xmlns:a16="http://schemas.microsoft.com/office/drawing/2014/main" id="{E4F5D21D-8463-47A6-AEEA-C627EB5BADF0}"/>
              </a:ext>
            </a:extLst>
          </p:cNvPr>
          <p:cNvGrpSpPr>
            <a:grpSpLocks/>
          </p:cNvGrpSpPr>
          <p:nvPr/>
        </p:nvGrpSpPr>
        <p:grpSpPr bwMode="auto">
          <a:xfrm>
            <a:off x="4097338" y="5160963"/>
            <a:ext cx="647700" cy="206375"/>
            <a:chOff x="2848" y="848"/>
            <a:chExt cx="140" cy="98"/>
          </a:xfrm>
        </p:grpSpPr>
        <p:sp>
          <p:nvSpPr>
            <p:cNvPr id="163995" name="Line 10">
              <a:extLst>
                <a:ext uri="{FF2B5EF4-FFF2-40B4-BE49-F238E27FC236}">
                  <a16:creationId xmlns:a16="http://schemas.microsoft.com/office/drawing/2014/main" id="{3F6AABDF-1096-4A12-9877-0246E746BC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3996" name="Line 11">
              <a:extLst>
                <a:ext uri="{FF2B5EF4-FFF2-40B4-BE49-F238E27FC236}">
                  <a16:creationId xmlns:a16="http://schemas.microsoft.com/office/drawing/2014/main" id="{F4DE85A6-F97F-404A-AEFF-BCDD8325E4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3997" name="Line 12">
              <a:extLst>
                <a:ext uri="{FF2B5EF4-FFF2-40B4-BE49-F238E27FC236}">
                  <a16:creationId xmlns:a16="http://schemas.microsoft.com/office/drawing/2014/main" id="{8BF66308-9DF2-469E-A50D-B452E8E608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63856" name="Line 13">
            <a:extLst>
              <a:ext uri="{FF2B5EF4-FFF2-40B4-BE49-F238E27FC236}">
                <a16:creationId xmlns:a16="http://schemas.microsoft.com/office/drawing/2014/main" id="{D82070BC-7767-4359-B497-A2785FB04D65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7338" y="5359400"/>
            <a:ext cx="231775" cy="4763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57" name="Line 14">
            <a:extLst>
              <a:ext uri="{FF2B5EF4-FFF2-40B4-BE49-F238E27FC236}">
                <a16:creationId xmlns:a16="http://schemas.microsoft.com/office/drawing/2014/main" id="{65E96CFD-EEDC-4221-B502-460EF19CC5F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41838" y="5159375"/>
            <a:ext cx="203200" cy="0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58" name="Line 15">
            <a:extLst>
              <a:ext uri="{FF2B5EF4-FFF2-40B4-BE49-F238E27FC236}">
                <a16:creationId xmlns:a16="http://schemas.microsoft.com/office/drawing/2014/main" id="{4B4462C3-2055-4F30-8690-219504109AD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10063" y="5159375"/>
            <a:ext cx="241300" cy="200025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59" name="Text Box 16">
            <a:extLst>
              <a:ext uri="{FF2B5EF4-FFF2-40B4-BE49-F238E27FC236}">
                <a16:creationId xmlns:a16="http://schemas.microsoft.com/office/drawing/2014/main" id="{1B500212-8583-44EB-BBD3-57189581CC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8275" y="5934075"/>
            <a:ext cx="2136775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FF0000"/>
                </a:solidFill>
                <a:latin typeface="Arial" panose="020B0604020202020204" pitchFamily="34" charset="0"/>
              </a:rPr>
              <a:t>finite</a:t>
            </a:r>
            <a:r>
              <a:rPr lang="en-US" altLang="zh-TW" sz="1600" dirty="0">
                <a:solidFill>
                  <a:srgbClr val="000000"/>
                </a:solidFill>
                <a:latin typeface="Arial" panose="020B0604020202020204" pitchFamily="34" charset="0"/>
              </a:rPr>
              <a:t> shared output link buffers</a:t>
            </a:r>
            <a:endParaRPr lang="en-US" altLang="zh-TW" sz="1600" dirty="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3860" name="Line 17">
            <a:extLst>
              <a:ext uri="{FF2B5EF4-FFF2-40B4-BE49-F238E27FC236}">
                <a16:creationId xmlns:a16="http://schemas.microsoft.com/office/drawing/2014/main" id="{6B602376-A875-4637-87FC-F23D7D723D3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24113" y="4856163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61" name="Line 18">
            <a:extLst>
              <a:ext uri="{FF2B5EF4-FFF2-40B4-BE49-F238E27FC236}">
                <a16:creationId xmlns:a16="http://schemas.microsoft.com/office/drawing/2014/main" id="{F1F10CD3-AED3-4665-8961-465B0D8313C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4856163"/>
            <a:ext cx="538162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3862" name="Group 59">
            <a:extLst>
              <a:ext uri="{FF2B5EF4-FFF2-40B4-BE49-F238E27FC236}">
                <a16:creationId xmlns:a16="http://schemas.microsoft.com/office/drawing/2014/main" id="{A054AA1A-7099-479A-BE5C-B175BC23EB9A}"/>
              </a:ext>
            </a:extLst>
          </p:cNvPr>
          <p:cNvGrpSpPr>
            <a:grpSpLocks/>
          </p:cNvGrpSpPr>
          <p:nvPr/>
        </p:nvGrpSpPr>
        <p:grpSpPr bwMode="auto">
          <a:xfrm>
            <a:off x="2351088" y="3541713"/>
            <a:ext cx="798512" cy="1166812"/>
            <a:chOff x="12762" y="10336"/>
            <a:chExt cx="1027" cy="1700"/>
          </a:xfrm>
        </p:grpSpPr>
        <p:sp>
          <p:nvSpPr>
            <p:cNvPr id="163989" name="Rectangle 60">
              <a:extLst>
                <a:ext uri="{FF2B5EF4-FFF2-40B4-BE49-F238E27FC236}">
                  <a16:creationId xmlns:a16="http://schemas.microsoft.com/office/drawing/2014/main" id="{C2E34D8B-4679-4946-B28B-B39C803C1C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90" name="Rectangle 61">
              <a:extLst>
                <a:ext uri="{FF2B5EF4-FFF2-40B4-BE49-F238E27FC236}">
                  <a16:creationId xmlns:a16="http://schemas.microsoft.com/office/drawing/2014/main" id="{F7D700F9-48A9-4052-84B0-A5C43E8FCF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91" name="Line 62">
              <a:extLst>
                <a:ext uri="{FF2B5EF4-FFF2-40B4-BE49-F238E27FC236}">
                  <a16:creationId xmlns:a16="http://schemas.microsoft.com/office/drawing/2014/main" id="{4446A61F-A474-491D-AE3C-AE5A7ABDC8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92" name="Line 63">
              <a:extLst>
                <a:ext uri="{FF2B5EF4-FFF2-40B4-BE49-F238E27FC236}">
                  <a16:creationId xmlns:a16="http://schemas.microsoft.com/office/drawing/2014/main" id="{0597514C-2922-42E3-895F-42EFB989BD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93" name="Line 64">
              <a:extLst>
                <a:ext uri="{FF2B5EF4-FFF2-40B4-BE49-F238E27FC236}">
                  <a16:creationId xmlns:a16="http://schemas.microsoft.com/office/drawing/2014/main" id="{BA01E183-2BC0-4BCD-99D0-869F94E4B9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94" name="Line 65">
              <a:extLst>
                <a:ext uri="{FF2B5EF4-FFF2-40B4-BE49-F238E27FC236}">
                  <a16:creationId xmlns:a16="http://schemas.microsoft.com/office/drawing/2014/main" id="{CA1EDC8C-4CDE-481F-871F-F8F0091BA2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3863" name="Text Box 66">
            <a:extLst>
              <a:ext uri="{FF2B5EF4-FFF2-40B4-BE49-F238E27FC236}">
                <a16:creationId xmlns:a16="http://schemas.microsoft.com/office/drawing/2014/main" id="{A80362FE-9DA0-4272-AFB8-43EEA56FD8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7588" y="4654550"/>
            <a:ext cx="852487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Host 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3864" name="Text Box 67">
            <a:extLst>
              <a:ext uri="{FF2B5EF4-FFF2-40B4-BE49-F238E27FC236}">
                <a16:creationId xmlns:a16="http://schemas.microsoft.com/office/drawing/2014/main" id="{F7442DFE-13A3-4CE6-A7CE-770583102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8675" y="3427413"/>
            <a:ext cx="1881188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 err="1">
                <a:latin typeface="Symbol" panose="05050102010706020507" pitchFamily="18" charset="2"/>
              </a:rPr>
              <a:t>l</a:t>
            </a:r>
            <a:r>
              <a:rPr lang="en-US" altLang="zh-TW" sz="2000" baseline="-25000" dirty="0" err="1">
                <a:latin typeface="Arial" panose="020B0604020202020204" pitchFamily="34" charset="0"/>
              </a:rPr>
              <a:t>in</a:t>
            </a:r>
            <a:r>
              <a:rPr lang="en-US" altLang="zh-TW" sz="1600" baseline="-25000" dirty="0"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latin typeface="Arial" panose="020B0604020202020204" pitchFamily="34" charset="0"/>
              </a:rPr>
              <a:t>: original data</a:t>
            </a:r>
            <a:endParaRPr lang="en-US" altLang="zh-TW" sz="1600" dirty="0">
              <a:latin typeface="Comic Sans MS" panose="030F0702030302020204" pitchFamily="66" charset="0"/>
            </a:endParaRPr>
          </a:p>
        </p:txBody>
      </p:sp>
      <p:sp>
        <p:nvSpPr>
          <p:cNvPr id="163865" name="Line 68">
            <a:extLst>
              <a:ext uri="{FF2B5EF4-FFF2-40B4-BE49-F238E27FC236}">
                <a16:creationId xmlns:a16="http://schemas.microsoft.com/office/drawing/2014/main" id="{59FEE439-1FC0-4B2E-829E-51D24C78B9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85950" y="5961063"/>
            <a:ext cx="538163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3866" name="Group 109">
            <a:extLst>
              <a:ext uri="{FF2B5EF4-FFF2-40B4-BE49-F238E27FC236}">
                <a16:creationId xmlns:a16="http://schemas.microsoft.com/office/drawing/2014/main" id="{28DCB62D-283C-4CCE-8862-A04E586CDB3D}"/>
              </a:ext>
            </a:extLst>
          </p:cNvPr>
          <p:cNvGrpSpPr>
            <a:grpSpLocks/>
          </p:cNvGrpSpPr>
          <p:nvPr/>
        </p:nvGrpSpPr>
        <p:grpSpPr bwMode="auto">
          <a:xfrm>
            <a:off x="1298575" y="4695825"/>
            <a:ext cx="798513" cy="1166813"/>
            <a:chOff x="12762" y="10336"/>
            <a:chExt cx="1027" cy="1700"/>
          </a:xfrm>
        </p:grpSpPr>
        <p:sp>
          <p:nvSpPr>
            <p:cNvPr id="163983" name="Rectangle 110">
              <a:extLst>
                <a:ext uri="{FF2B5EF4-FFF2-40B4-BE49-F238E27FC236}">
                  <a16:creationId xmlns:a16="http://schemas.microsoft.com/office/drawing/2014/main" id="{7BC7E4E4-07C2-4627-9F8E-D70A532337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84" name="Rectangle 111">
              <a:extLst>
                <a:ext uri="{FF2B5EF4-FFF2-40B4-BE49-F238E27FC236}">
                  <a16:creationId xmlns:a16="http://schemas.microsoft.com/office/drawing/2014/main" id="{BE5B06C6-5520-461D-961E-20BFDCA18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85" name="Line 112">
              <a:extLst>
                <a:ext uri="{FF2B5EF4-FFF2-40B4-BE49-F238E27FC236}">
                  <a16:creationId xmlns:a16="http://schemas.microsoft.com/office/drawing/2014/main" id="{5DE01B34-D594-4A1B-8785-F4478D6260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86" name="Line 113">
              <a:extLst>
                <a:ext uri="{FF2B5EF4-FFF2-40B4-BE49-F238E27FC236}">
                  <a16:creationId xmlns:a16="http://schemas.microsoft.com/office/drawing/2014/main" id="{00506B28-D215-4679-8BA5-C4E4416E24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87" name="Line 114">
              <a:extLst>
                <a:ext uri="{FF2B5EF4-FFF2-40B4-BE49-F238E27FC236}">
                  <a16:creationId xmlns:a16="http://schemas.microsoft.com/office/drawing/2014/main" id="{5F6D6973-0C11-4CD9-9074-473044CC13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88" name="Line 115">
              <a:extLst>
                <a:ext uri="{FF2B5EF4-FFF2-40B4-BE49-F238E27FC236}">
                  <a16:creationId xmlns:a16="http://schemas.microsoft.com/office/drawing/2014/main" id="{4A19FB59-9588-4FA6-8ED5-5478202637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3867" name="Text Box 116">
            <a:extLst>
              <a:ext uri="{FF2B5EF4-FFF2-40B4-BE49-F238E27FC236}">
                <a16:creationId xmlns:a16="http://schemas.microsoft.com/office/drawing/2014/main" id="{BB614962-4B0B-4709-96CE-0DAA931E6E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073775"/>
            <a:ext cx="8778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Host B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3868" name="Line 117">
            <a:extLst>
              <a:ext uri="{FF2B5EF4-FFF2-40B4-BE49-F238E27FC236}">
                <a16:creationId xmlns:a16="http://schemas.microsoft.com/office/drawing/2014/main" id="{837E2003-3009-4F4A-836B-DA490BC2966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5372100"/>
            <a:ext cx="7493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69" name="Line 118">
            <a:extLst>
              <a:ext uri="{FF2B5EF4-FFF2-40B4-BE49-F238E27FC236}">
                <a16:creationId xmlns:a16="http://schemas.microsoft.com/office/drawing/2014/main" id="{328673E7-513A-45AC-A392-3FEA79C467A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10150" y="5372100"/>
            <a:ext cx="74771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70" name="Line 119">
            <a:extLst>
              <a:ext uri="{FF2B5EF4-FFF2-40B4-BE49-F238E27FC236}">
                <a16:creationId xmlns:a16="http://schemas.microsoft.com/office/drawing/2014/main" id="{669F4EDF-9B1B-44FE-AB78-68B8919493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60963" y="4856163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71" name="Line 120">
            <a:extLst>
              <a:ext uri="{FF2B5EF4-FFF2-40B4-BE49-F238E27FC236}">
                <a16:creationId xmlns:a16="http://schemas.microsoft.com/office/drawing/2014/main" id="{A764B0EE-4F0D-4391-9F23-2E17E292AFF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49850" y="5973763"/>
            <a:ext cx="67786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72" name="Line 121">
            <a:extLst>
              <a:ext uri="{FF2B5EF4-FFF2-40B4-BE49-F238E27FC236}">
                <a16:creationId xmlns:a16="http://schemas.microsoft.com/office/drawing/2014/main" id="{596AE869-D5DA-44A8-A9C9-C554CC231C1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59513" y="4868863"/>
            <a:ext cx="53975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3873" name="Group 162">
            <a:extLst>
              <a:ext uri="{FF2B5EF4-FFF2-40B4-BE49-F238E27FC236}">
                <a16:creationId xmlns:a16="http://schemas.microsoft.com/office/drawing/2014/main" id="{51C34E39-D26C-4774-9A4A-FBB40EE966F5}"/>
              </a:ext>
            </a:extLst>
          </p:cNvPr>
          <p:cNvGrpSpPr>
            <a:grpSpLocks/>
          </p:cNvGrpSpPr>
          <p:nvPr/>
        </p:nvGrpSpPr>
        <p:grpSpPr bwMode="auto">
          <a:xfrm>
            <a:off x="6643688" y="3676650"/>
            <a:ext cx="798512" cy="1166813"/>
            <a:chOff x="12762" y="10336"/>
            <a:chExt cx="1027" cy="1700"/>
          </a:xfrm>
        </p:grpSpPr>
        <p:sp>
          <p:nvSpPr>
            <p:cNvPr id="163977" name="Rectangle 163">
              <a:extLst>
                <a:ext uri="{FF2B5EF4-FFF2-40B4-BE49-F238E27FC236}">
                  <a16:creationId xmlns:a16="http://schemas.microsoft.com/office/drawing/2014/main" id="{4BADA192-C514-4BD2-85FC-DCB3D57916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78" name="Rectangle 164">
              <a:extLst>
                <a:ext uri="{FF2B5EF4-FFF2-40B4-BE49-F238E27FC236}">
                  <a16:creationId xmlns:a16="http://schemas.microsoft.com/office/drawing/2014/main" id="{CD5D580F-DF5C-4087-919F-B68E9AB55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79" name="Line 165">
              <a:extLst>
                <a:ext uri="{FF2B5EF4-FFF2-40B4-BE49-F238E27FC236}">
                  <a16:creationId xmlns:a16="http://schemas.microsoft.com/office/drawing/2014/main" id="{AA93007F-9351-430A-88EC-262575F5A6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80" name="Line 166">
              <a:extLst>
                <a:ext uri="{FF2B5EF4-FFF2-40B4-BE49-F238E27FC236}">
                  <a16:creationId xmlns:a16="http://schemas.microsoft.com/office/drawing/2014/main" id="{BC19D3B7-3A62-4181-8F63-37C9491316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81" name="Line 167">
              <a:extLst>
                <a:ext uri="{FF2B5EF4-FFF2-40B4-BE49-F238E27FC236}">
                  <a16:creationId xmlns:a16="http://schemas.microsoft.com/office/drawing/2014/main" id="{37777905-6CC1-4DD3-8625-572774C374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82" name="Line 168">
              <a:extLst>
                <a:ext uri="{FF2B5EF4-FFF2-40B4-BE49-F238E27FC236}">
                  <a16:creationId xmlns:a16="http://schemas.microsoft.com/office/drawing/2014/main" id="{3EFA7AFA-53A3-4CB7-86F5-D325583A22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63874" name="Group 209">
            <a:extLst>
              <a:ext uri="{FF2B5EF4-FFF2-40B4-BE49-F238E27FC236}">
                <a16:creationId xmlns:a16="http://schemas.microsoft.com/office/drawing/2014/main" id="{4EF1BBA4-4E65-4C52-A4E7-C686D7A7F626}"/>
              </a:ext>
            </a:extLst>
          </p:cNvPr>
          <p:cNvGrpSpPr>
            <a:grpSpLocks/>
          </p:cNvGrpSpPr>
          <p:nvPr/>
        </p:nvGrpSpPr>
        <p:grpSpPr bwMode="auto">
          <a:xfrm>
            <a:off x="6175375" y="4989513"/>
            <a:ext cx="798513" cy="1168400"/>
            <a:chOff x="12762" y="10336"/>
            <a:chExt cx="1027" cy="1700"/>
          </a:xfrm>
        </p:grpSpPr>
        <p:sp>
          <p:nvSpPr>
            <p:cNvPr id="163971" name="Rectangle 210">
              <a:extLst>
                <a:ext uri="{FF2B5EF4-FFF2-40B4-BE49-F238E27FC236}">
                  <a16:creationId xmlns:a16="http://schemas.microsoft.com/office/drawing/2014/main" id="{13EAD5A9-8184-4148-9785-B4AE25A66F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72" name="Rectangle 211">
              <a:extLst>
                <a:ext uri="{FF2B5EF4-FFF2-40B4-BE49-F238E27FC236}">
                  <a16:creationId xmlns:a16="http://schemas.microsoft.com/office/drawing/2014/main" id="{67F00ADD-B664-4F26-BDA0-2E92A86E9B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73" name="Line 212">
              <a:extLst>
                <a:ext uri="{FF2B5EF4-FFF2-40B4-BE49-F238E27FC236}">
                  <a16:creationId xmlns:a16="http://schemas.microsoft.com/office/drawing/2014/main" id="{2361EC88-6536-46F9-8772-C2F2C32602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74" name="Line 213">
              <a:extLst>
                <a:ext uri="{FF2B5EF4-FFF2-40B4-BE49-F238E27FC236}">
                  <a16:creationId xmlns:a16="http://schemas.microsoft.com/office/drawing/2014/main" id="{1BFEF2F8-057C-44EB-B6A1-9686B797F1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75" name="Line 214">
              <a:extLst>
                <a:ext uri="{FF2B5EF4-FFF2-40B4-BE49-F238E27FC236}">
                  <a16:creationId xmlns:a16="http://schemas.microsoft.com/office/drawing/2014/main" id="{EACB965A-330A-4F24-94F4-E0B9943853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76" name="Line 215">
              <a:extLst>
                <a:ext uri="{FF2B5EF4-FFF2-40B4-BE49-F238E27FC236}">
                  <a16:creationId xmlns:a16="http://schemas.microsoft.com/office/drawing/2014/main" id="{F1BF20F3-1FC4-464B-BA7F-38616B6EC0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3875" name="Oval 216">
            <a:extLst>
              <a:ext uri="{FF2B5EF4-FFF2-40B4-BE49-F238E27FC236}">
                <a16:creationId xmlns:a16="http://schemas.microsoft.com/office/drawing/2014/main" id="{860EA327-E8C6-40BD-AA5B-637CAF02C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616325"/>
            <a:ext cx="112712" cy="115888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3876" name="Oval 217">
            <a:extLst>
              <a:ext uri="{FF2B5EF4-FFF2-40B4-BE49-F238E27FC236}">
                <a16:creationId xmlns:a16="http://schemas.microsoft.com/office/drawing/2014/main" id="{8D647461-929A-43E5-BEA5-31C23D41D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4963" y="4745038"/>
            <a:ext cx="114300" cy="117475"/>
          </a:xfrm>
          <a:prstGeom prst="ellipse">
            <a:avLst/>
          </a:prstGeom>
          <a:solidFill>
            <a:srgbClr val="808080"/>
          </a:solidFill>
          <a:ln w="9525">
            <a:solidFill>
              <a:srgbClr val="80808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3877" name="Text Box 218">
            <a:extLst>
              <a:ext uri="{FF2B5EF4-FFF2-40B4-BE49-F238E27FC236}">
                <a16:creationId xmlns:a16="http://schemas.microsoft.com/office/drawing/2014/main" id="{BA5FEC6B-EAE4-4D20-9A7D-9A3F55D50C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3488" y="3629025"/>
            <a:ext cx="590550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out</a:t>
            </a:r>
            <a:endParaRPr lang="en-US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3878" name="Line 219">
            <a:extLst>
              <a:ext uri="{FF2B5EF4-FFF2-40B4-BE49-F238E27FC236}">
                <a16:creationId xmlns:a16="http://schemas.microsoft.com/office/drawing/2014/main" id="{2D37AD43-F9FF-4863-A4D1-BC042AA15DB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592638" y="5580063"/>
            <a:ext cx="7937" cy="4079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3879" name="Group 220">
            <a:extLst>
              <a:ext uri="{FF2B5EF4-FFF2-40B4-BE49-F238E27FC236}">
                <a16:creationId xmlns:a16="http://schemas.microsoft.com/office/drawing/2014/main" id="{34740E2D-1440-4DC1-AA83-43E3734869B1}"/>
              </a:ext>
            </a:extLst>
          </p:cNvPr>
          <p:cNvGrpSpPr>
            <a:grpSpLocks/>
          </p:cNvGrpSpPr>
          <p:nvPr/>
        </p:nvGrpSpPr>
        <p:grpSpPr bwMode="auto">
          <a:xfrm>
            <a:off x="4587875" y="5211763"/>
            <a:ext cx="385763" cy="319087"/>
            <a:chOff x="11283" y="10423"/>
            <a:chExt cx="475" cy="374"/>
          </a:xfrm>
        </p:grpSpPr>
        <p:sp>
          <p:nvSpPr>
            <p:cNvPr id="163964" name="Rectangle 221">
              <a:extLst>
                <a:ext uri="{FF2B5EF4-FFF2-40B4-BE49-F238E27FC236}">
                  <a16:creationId xmlns:a16="http://schemas.microsoft.com/office/drawing/2014/main" id="{B150571D-DE1A-4D10-8025-1977BD920A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65" name="Line 222">
              <a:extLst>
                <a:ext uri="{FF2B5EF4-FFF2-40B4-BE49-F238E27FC236}">
                  <a16:creationId xmlns:a16="http://schemas.microsoft.com/office/drawing/2014/main" id="{91694769-B29D-42ED-B775-DE01256044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66" name="Line 223">
              <a:extLst>
                <a:ext uri="{FF2B5EF4-FFF2-40B4-BE49-F238E27FC236}">
                  <a16:creationId xmlns:a16="http://schemas.microsoft.com/office/drawing/2014/main" id="{AC296E58-0F79-4AEE-B6BF-8D9E52BB04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67" name="Line 224">
              <a:extLst>
                <a:ext uri="{FF2B5EF4-FFF2-40B4-BE49-F238E27FC236}">
                  <a16:creationId xmlns:a16="http://schemas.microsoft.com/office/drawing/2014/main" id="{EC14A7E4-2DD3-4D67-942F-4AF2E57D78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68" name="Line 225">
              <a:extLst>
                <a:ext uri="{FF2B5EF4-FFF2-40B4-BE49-F238E27FC236}">
                  <a16:creationId xmlns:a16="http://schemas.microsoft.com/office/drawing/2014/main" id="{1F365576-9FCA-4285-B2AC-C0E67F1126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69" name="Line 226">
              <a:extLst>
                <a:ext uri="{FF2B5EF4-FFF2-40B4-BE49-F238E27FC236}">
                  <a16:creationId xmlns:a16="http://schemas.microsoft.com/office/drawing/2014/main" id="{4F73CEAC-D7B8-4C48-A178-37CE453FD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70" name="Line 227">
              <a:extLst>
                <a:ext uri="{FF2B5EF4-FFF2-40B4-BE49-F238E27FC236}">
                  <a16:creationId xmlns:a16="http://schemas.microsoft.com/office/drawing/2014/main" id="{4126E368-8A3F-4306-80C2-3498E15D1E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3880" name="Line 228">
            <a:extLst>
              <a:ext uri="{FF2B5EF4-FFF2-40B4-BE49-F238E27FC236}">
                <a16:creationId xmlns:a16="http://schemas.microsoft.com/office/drawing/2014/main" id="{E47F01C0-C8D3-4DF6-909F-A1D3FA6292E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45050" y="3995738"/>
            <a:ext cx="339725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81" name="Freeform 229">
            <a:extLst>
              <a:ext uri="{FF2B5EF4-FFF2-40B4-BE49-F238E27FC236}">
                <a16:creationId xmlns:a16="http://schemas.microsoft.com/office/drawing/2014/main" id="{4E4F7C5A-1FF8-4127-93C5-ACC2DD177A1C}"/>
              </a:ext>
            </a:extLst>
          </p:cNvPr>
          <p:cNvSpPr>
            <a:spLocks/>
          </p:cNvSpPr>
          <p:nvPr/>
        </p:nvSpPr>
        <p:spPr bwMode="auto">
          <a:xfrm>
            <a:off x="1663700" y="4843463"/>
            <a:ext cx="4854575" cy="1228725"/>
          </a:xfrm>
          <a:custGeom>
            <a:avLst/>
            <a:gdLst>
              <a:gd name="T0" fmla="*/ 0 w 6225"/>
              <a:gd name="T1" fmla="*/ 0 h 1501"/>
              <a:gd name="T2" fmla="*/ 0 w 6225"/>
              <a:gd name="T3" fmla="*/ 2147483646 h 1501"/>
              <a:gd name="T4" fmla="*/ 2147483646 w 6225"/>
              <a:gd name="T5" fmla="*/ 2147483646 h 1501"/>
              <a:gd name="T6" fmla="*/ 2147483646 w 6225"/>
              <a:gd name="T7" fmla="*/ 2147483646 h 1501"/>
              <a:gd name="T8" fmla="*/ 2147483646 w 6225"/>
              <a:gd name="T9" fmla="*/ 2147483646 h 1501"/>
              <a:gd name="T10" fmla="*/ 2147483646 w 6225"/>
              <a:gd name="T11" fmla="*/ 2147483646 h 1501"/>
              <a:gd name="T12" fmla="*/ 2147483646 w 6225"/>
              <a:gd name="T13" fmla="*/ 2147483646 h 1501"/>
              <a:gd name="T14" fmla="*/ 2147483646 w 6225"/>
              <a:gd name="T15" fmla="*/ 2147483646 h 1501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6225"/>
              <a:gd name="T25" fmla="*/ 0 h 1501"/>
              <a:gd name="T26" fmla="*/ 6225 w 6225"/>
              <a:gd name="T27" fmla="*/ 1501 h 1501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6225" h="1501">
                <a:moveTo>
                  <a:pt x="0" y="0"/>
                </a:moveTo>
                <a:lnTo>
                  <a:pt x="0" y="1486"/>
                </a:lnTo>
                <a:lnTo>
                  <a:pt x="1005" y="1501"/>
                </a:lnTo>
                <a:lnTo>
                  <a:pt x="1860" y="706"/>
                </a:lnTo>
                <a:lnTo>
                  <a:pt x="5085" y="721"/>
                </a:lnTo>
                <a:lnTo>
                  <a:pt x="4305" y="1456"/>
                </a:lnTo>
                <a:lnTo>
                  <a:pt x="6225" y="1456"/>
                </a:lnTo>
                <a:lnTo>
                  <a:pt x="6220" y="391"/>
                </a:lnTo>
              </a:path>
            </a:pathLst>
          </a:custGeom>
          <a:noFill/>
          <a:ln w="38100" cmpd="sng">
            <a:solidFill>
              <a:srgbClr val="80808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82" name="Freeform 230">
            <a:extLst>
              <a:ext uri="{FF2B5EF4-FFF2-40B4-BE49-F238E27FC236}">
                <a16:creationId xmlns:a16="http://schemas.microsoft.com/office/drawing/2014/main" id="{EE779C16-C026-4B2C-819B-5DD1DEA9299B}"/>
              </a:ext>
            </a:extLst>
          </p:cNvPr>
          <p:cNvSpPr>
            <a:spLocks/>
          </p:cNvSpPr>
          <p:nvPr/>
        </p:nvSpPr>
        <p:spPr bwMode="auto">
          <a:xfrm>
            <a:off x="2822575" y="3676650"/>
            <a:ext cx="4210050" cy="1646238"/>
          </a:xfrm>
          <a:custGeom>
            <a:avLst/>
            <a:gdLst>
              <a:gd name="T0" fmla="*/ 0 w 5400"/>
              <a:gd name="T1" fmla="*/ 0 h 2010"/>
              <a:gd name="T2" fmla="*/ 0 w 5400"/>
              <a:gd name="T3" fmla="*/ 2147483646 h 2010"/>
              <a:gd name="T4" fmla="*/ 2147483646 w 5400"/>
              <a:gd name="T5" fmla="*/ 2147483646 h 2010"/>
              <a:gd name="T6" fmla="*/ 2147483646 w 5400"/>
              <a:gd name="T7" fmla="*/ 2147483646 h 2010"/>
              <a:gd name="T8" fmla="*/ 2147483646 w 5400"/>
              <a:gd name="T9" fmla="*/ 2147483646 h 2010"/>
              <a:gd name="T10" fmla="*/ 2147483646 w 5400"/>
              <a:gd name="T11" fmla="*/ 2147483646 h 2010"/>
              <a:gd name="T12" fmla="*/ 2147483646 w 5400"/>
              <a:gd name="T13" fmla="*/ 2147483646 h 2010"/>
              <a:gd name="T14" fmla="*/ 2147483646 w 5400"/>
              <a:gd name="T15" fmla="*/ 2147483646 h 201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400"/>
              <a:gd name="T25" fmla="*/ 0 h 2010"/>
              <a:gd name="T26" fmla="*/ 5400 w 5400"/>
              <a:gd name="T27" fmla="*/ 2010 h 201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400" h="2010">
                <a:moveTo>
                  <a:pt x="0" y="0"/>
                </a:moveTo>
                <a:lnTo>
                  <a:pt x="0" y="1485"/>
                </a:lnTo>
                <a:lnTo>
                  <a:pt x="1005" y="1500"/>
                </a:lnTo>
                <a:lnTo>
                  <a:pt x="540" y="2010"/>
                </a:lnTo>
                <a:lnTo>
                  <a:pt x="3615" y="2010"/>
                </a:lnTo>
                <a:lnTo>
                  <a:pt x="4350" y="1275"/>
                </a:lnTo>
                <a:lnTo>
                  <a:pt x="5400" y="1290"/>
                </a:lnTo>
                <a:lnTo>
                  <a:pt x="5400" y="120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83" name="Oval 231">
            <a:extLst>
              <a:ext uri="{FF2B5EF4-FFF2-40B4-BE49-F238E27FC236}">
                <a16:creationId xmlns:a16="http://schemas.microsoft.com/office/drawing/2014/main" id="{DABDD440-88B5-4EE2-ADB2-78103E3CAC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849688"/>
            <a:ext cx="112712" cy="115887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3884" name="Text Box 232">
            <a:extLst>
              <a:ext uri="{FF2B5EF4-FFF2-40B4-BE49-F238E27FC236}">
                <a16:creationId xmlns:a16="http://schemas.microsoft.com/office/drawing/2014/main" id="{43415673-3DEB-45E9-8A7F-C47306EBD9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1200" y="3756025"/>
            <a:ext cx="2349500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 err="1">
                <a:latin typeface="Symbol" panose="05050102010706020507" pitchFamily="18" charset="2"/>
              </a:rPr>
              <a:t>l</a:t>
            </a:r>
            <a:r>
              <a:rPr lang="en-US" altLang="zh-TW" sz="2000" dirty="0" err="1">
                <a:latin typeface="Arial" panose="020B0604020202020204" pitchFamily="34" charset="0"/>
              </a:rPr>
              <a:t>'</a:t>
            </a:r>
            <a:r>
              <a:rPr lang="en-US" altLang="zh-TW" sz="2000" baseline="-25000" dirty="0" err="1">
                <a:latin typeface="Arial" panose="020B0604020202020204" pitchFamily="34" charset="0"/>
              </a:rPr>
              <a:t>in</a:t>
            </a:r>
            <a:r>
              <a:rPr lang="en-US" altLang="zh-TW" sz="1600" dirty="0">
                <a:latin typeface="Arial" panose="020B0604020202020204" pitchFamily="34" charset="0"/>
              </a:rPr>
              <a:t>:</a:t>
            </a:r>
            <a:r>
              <a:rPr lang="en-US" altLang="zh-TW" sz="1400" dirty="0"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latin typeface="Arial" panose="020B0604020202020204" pitchFamily="34" charset="0"/>
              </a:rPr>
              <a:t>original data, </a:t>
            </a:r>
            <a:r>
              <a:rPr lang="en-US" altLang="zh-TW" sz="1600" i="1" dirty="0">
                <a:latin typeface="Arial" panose="020B0604020202020204" pitchFamily="34" charset="0"/>
              </a:rPr>
              <a:t>plus</a:t>
            </a:r>
            <a:r>
              <a:rPr lang="en-US" altLang="zh-TW" sz="1600" dirty="0"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0070C0"/>
                </a:solidFill>
                <a:latin typeface="Arial" panose="020B0604020202020204" pitchFamily="34" charset="0"/>
              </a:rPr>
              <a:t>retransmitted</a:t>
            </a:r>
            <a:r>
              <a:rPr lang="en-US" altLang="zh-TW" sz="1600" dirty="0">
                <a:latin typeface="Arial" panose="020B0604020202020204" pitchFamily="34" charset="0"/>
              </a:rPr>
              <a:t> data</a:t>
            </a:r>
            <a:endParaRPr lang="en-US" altLang="zh-TW" sz="1600" dirty="0">
              <a:latin typeface="Comic Sans MS" panose="030F0702030302020204" pitchFamily="66" charset="0"/>
            </a:endParaRPr>
          </a:p>
        </p:txBody>
      </p:sp>
      <p:sp>
        <p:nvSpPr>
          <p:cNvPr id="163885" name="Line 233">
            <a:extLst>
              <a:ext uri="{FF2B5EF4-FFF2-40B4-BE49-F238E27FC236}">
                <a16:creationId xmlns:a16="http://schemas.microsoft.com/office/drawing/2014/main" id="{9B04027F-FEBE-461E-947F-0E221288B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9888" y="3916363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3886" name="Line 234">
            <a:extLst>
              <a:ext uri="{FF2B5EF4-FFF2-40B4-BE49-F238E27FC236}">
                <a16:creationId xmlns:a16="http://schemas.microsoft.com/office/drawing/2014/main" id="{DA7A116C-7CFC-4DCA-9C47-ECF8119CEFB6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3683000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3887" name="Line 235">
            <a:extLst>
              <a:ext uri="{FF2B5EF4-FFF2-40B4-BE49-F238E27FC236}">
                <a16:creationId xmlns:a16="http://schemas.microsoft.com/office/drawing/2014/main" id="{678F5EF2-CC3F-4045-81FD-1D8786778E9A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763" y="3835400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3888" name="Text Box 236">
            <a:extLst>
              <a:ext uri="{FF2B5EF4-FFF2-40B4-BE49-F238E27FC236}">
                <a16:creationId xmlns:a16="http://schemas.microsoft.com/office/drawing/2014/main" id="{45475F36-6AA0-4B57-B541-CDF318A1F8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6491" y="2307112"/>
            <a:ext cx="23018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ja-JP" altLang="en-US" sz="2000" i="1">
                <a:solidFill>
                  <a:srgbClr val="000000"/>
                </a:solidFill>
                <a:latin typeface="Comic Sans MS" panose="030F0702030302020204" pitchFamily="66" charset="0"/>
              </a:rPr>
              <a:t>‘</a:t>
            </a:r>
            <a:endParaRPr lang="en-US" altLang="zh-TW" sz="2000" i="1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grpSp>
        <p:nvGrpSpPr>
          <p:cNvPr id="163889" name="Group 237">
            <a:extLst>
              <a:ext uri="{FF2B5EF4-FFF2-40B4-BE49-F238E27FC236}">
                <a16:creationId xmlns:a16="http://schemas.microsoft.com/office/drawing/2014/main" id="{14959A41-97C7-4F0A-94EB-AD539CE5AB28}"/>
              </a:ext>
            </a:extLst>
          </p:cNvPr>
          <p:cNvGrpSpPr>
            <a:grpSpLocks/>
          </p:cNvGrpSpPr>
          <p:nvPr/>
        </p:nvGrpSpPr>
        <p:grpSpPr bwMode="auto">
          <a:xfrm>
            <a:off x="7398741" y="2516981"/>
            <a:ext cx="160337" cy="142875"/>
            <a:chOff x="174" y="3986"/>
            <a:chExt cx="51" cy="62"/>
          </a:xfrm>
        </p:grpSpPr>
        <p:sp>
          <p:nvSpPr>
            <p:cNvPr id="163962" name="Freeform 238">
              <a:extLst>
                <a:ext uri="{FF2B5EF4-FFF2-40B4-BE49-F238E27FC236}">
                  <a16:creationId xmlns:a16="http://schemas.microsoft.com/office/drawing/2014/main" id="{9C0107DC-164B-48DD-9E82-B1AFAE27ACA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" y="3986"/>
              <a:ext cx="49" cy="48"/>
            </a:xfrm>
            <a:custGeom>
              <a:avLst/>
              <a:gdLst>
                <a:gd name="T0" fmla="*/ 0 w 49"/>
                <a:gd name="T1" fmla="*/ 0 h 62"/>
                <a:gd name="T2" fmla="*/ 49 w 49"/>
                <a:gd name="T3" fmla="*/ 2 h 62"/>
                <a:gd name="T4" fmla="*/ 4 w 49"/>
                <a:gd name="T5" fmla="*/ 2 h 62"/>
                <a:gd name="T6" fmla="*/ 0 60000 65536"/>
                <a:gd name="T7" fmla="*/ 0 60000 65536"/>
                <a:gd name="T8" fmla="*/ 0 60000 65536"/>
                <a:gd name="T9" fmla="*/ 0 w 49"/>
                <a:gd name="T10" fmla="*/ 0 h 62"/>
                <a:gd name="T11" fmla="*/ 49 w 49"/>
                <a:gd name="T12" fmla="*/ 62 h 6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9" h="62">
                  <a:moveTo>
                    <a:pt x="0" y="0"/>
                  </a:moveTo>
                  <a:lnTo>
                    <a:pt x="49" y="32"/>
                  </a:lnTo>
                  <a:lnTo>
                    <a:pt x="4" y="62"/>
                  </a:lnTo>
                </a:path>
              </a:pathLst>
            </a:custGeom>
            <a:solidFill>
              <a:schemeClr val="bg1"/>
            </a:solidFill>
            <a:ln w="19050" cap="flat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3963" name="Line 239">
              <a:extLst>
                <a:ext uri="{FF2B5EF4-FFF2-40B4-BE49-F238E27FC236}">
                  <a16:creationId xmlns:a16="http://schemas.microsoft.com/office/drawing/2014/main" id="{7B5DFE5F-2CA7-4352-AF6B-D01BEBA0EC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4" y="4048"/>
              <a:ext cx="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163890" name="Picture 240" descr="underline_base">
            <a:extLst>
              <a:ext uri="{FF2B5EF4-FFF2-40B4-BE49-F238E27FC236}">
                <a16:creationId xmlns:a16="http://schemas.microsoft.com/office/drawing/2014/main" id="{552032F0-262E-48DC-B5DE-7FB83EF4491C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9139" name="Rectangle 241">
            <a:extLst>
              <a:ext uri="{FF2B5EF4-FFF2-40B4-BE49-F238E27FC236}">
                <a16:creationId xmlns:a16="http://schemas.microsoft.com/office/drawing/2014/main" id="{F9C6EEB6-6143-48E1-BA4B-E7E19355F0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2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sp>
        <p:nvSpPr>
          <p:cNvPr id="163892" name="Freeform 250">
            <a:extLst>
              <a:ext uri="{FF2B5EF4-FFF2-40B4-BE49-F238E27FC236}">
                <a16:creationId xmlns:a16="http://schemas.microsoft.com/office/drawing/2014/main" id="{67FD2E12-4FBA-49D4-8333-4FF97D1A8175}"/>
              </a:ext>
            </a:extLst>
          </p:cNvPr>
          <p:cNvSpPr>
            <a:spLocks/>
          </p:cNvSpPr>
          <p:nvPr/>
        </p:nvSpPr>
        <p:spPr bwMode="auto">
          <a:xfrm>
            <a:off x="7416800" y="3665538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163893" name="Group 256">
            <a:extLst>
              <a:ext uri="{FF2B5EF4-FFF2-40B4-BE49-F238E27FC236}">
                <a16:creationId xmlns:a16="http://schemas.microsoft.com/office/drawing/2014/main" id="{20132682-62E7-4A2D-BC0F-290A96E8DA64}"/>
              </a:ext>
            </a:extLst>
          </p:cNvPr>
          <p:cNvGrpSpPr>
            <a:grpSpLocks/>
          </p:cNvGrpSpPr>
          <p:nvPr/>
        </p:nvGrpSpPr>
        <p:grpSpPr bwMode="auto">
          <a:xfrm>
            <a:off x="7553325" y="4564063"/>
            <a:ext cx="231775" cy="441325"/>
            <a:chOff x="4140" y="429"/>
            <a:chExt cx="1425" cy="2396"/>
          </a:xfrm>
        </p:grpSpPr>
        <p:sp>
          <p:nvSpPr>
            <p:cNvPr id="163930" name="Freeform 257">
              <a:extLst>
                <a:ext uri="{FF2B5EF4-FFF2-40B4-BE49-F238E27FC236}">
                  <a16:creationId xmlns:a16="http://schemas.microsoft.com/office/drawing/2014/main" id="{5F6121F6-7F22-4267-9E30-A52D7C1429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31" name="Rectangle 258">
              <a:extLst>
                <a:ext uri="{FF2B5EF4-FFF2-40B4-BE49-F238E27FC236}">
                  <a16:creationId xmlns:a16="http://schemas.microsoft.com/office/drawing/2014/main" id="{8BE7A4F2-A379-4553-AEF5-1689DFE998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32" name="Freeform 259">
              <a:extLst>
                <a:ext uri="{FF2B5EF4-FFF2-40B4-BE49-F238E27FC236}">
                  <a16:creationId xmlns:a16="http://schemas.microsoft.com/office/drawing/2014/main" id="{EFBCB6CA-5250-45BC-8971-CDFE185CF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33" name="Freeform 260">
              <a:extLst>
                <a:ext uri="{FF2B5EF4-FFF2-40B4-BE49-F238E27FC236}">
                  <a16:creationId xmlns:a16="http://schemas.microsoft.com/office/drawing/2014/main" id="{8BB229E4-BBB8-48B6-83A6-B3896B5CDA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34" name="Rectangle 261">
              <a:extLst>
                <a:ext uri="{FF2B5EF4-FFF2-40B4-BE49-F238E27FC236}">
                  <a16:creationId xmlns:a16="http://schemas.microsoft.com/office/drawing/2014/main" id="{FF0AEDAE-3A36-4FD2-9916-4A95DD0884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3935" name="Group 262">
              <a:extLst>
                <a:ext uri="{FF2B5EF4-FFF2-40B4-BE49-F238E27FC236}">
                  <a16:creationId xmlns:a16="http://schemas.microsoft.com/office/drawing/2014/main" id="{40464A20-A5AD-4DBC-9850-C070933A68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3960" name="AutoShape 263">
                <a:extLst>
                  <a:ext uri="{FF2B5EF4-FFF2-40B4-BE49-F238E27FC236}">
                    <a16:creationId xmlns:a16="http://schemas.microsoft.com/office/drawing/2014/main" id="{413A721A-9577-4437-A592-DE04AD7808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3961" name="AutoShape 264">
                <a:extLst>
                  <a:ext uri="{FF2B5EF4-FFF2-40B4-BE49-F238E27FC236}">
                    <a16:creationId xmlns:a16="http://schemas.microsoft.com/office/drawing/2014/main" id="{A83C4ADC-D011-46D8-AD00-4A35B72AE7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3936" name="Rectangle 265">
              <a:extLst>
                <a:ext uri="{FF2B5EF4-FFF2-40B4-BE49-F238E27FC236}">
                  <a16:creationId xmlns:a16="http://schemas.microsoft.com/office/drawing/2014/main" id="{C03270CB-A017-4C14-A25A-43401B553A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3937" name="Group 266">
              <a:extLst>
                <a:ext uri="{FF2B5EF4-FFF2-40B4-BE49-F238E27FC236}">
                  <a16:creationId xmlns:a16="http://schemas.microsoft.com/office/drawing/2014/main" id="{A0C8F14B-A1A6-46CD-A057-7E60BC489E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3958" name="AutoShape 267">
                <a:extLst>
                  <a:ext uri="{FF2B5EF4-FFF2-40B4-BE49-F238E27FC236}">
                    <a16:creationId xmlns:a16="http://schemas.microsoft.com/office/drawing/2014/main" id="{8A674A31-6341-42B6-93E5-F8138CE2F3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3959" name="AutoShape 268">
                <a:extLst>
                  <a:ext uri="{FF2B5EF4-FFF2-40B4-BE49-F238E27FC236}">
                    <a16:creationId xmlns:a16="http://schemas.microsoft.com/office/drawing/2014/main" id="{1167F8A6-5434-489A-9DE4-9C7F164C96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3938" name="Rectangle 269">
              <a:extLst>
                <a:ext uri="{FF2B5EF4-FFF2-40B4-BE49-F238E27FC236}">
                  <a16:creationId xmlns:a16="http://schemas.microsoft.com/office/drawing/2014/main" id="{FA7F406D-B4F6-440A-A08A-6C30F77F27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39" name="Rectangle 270">
              <a:extLst>
                <a:ext uri="{FF2B5EF4-FFF2-40B4-BE49-F238E27FC236}">
                  <a16:creationId xmlns:a16="http://schemas.microsoft.com/office/drawing/2014/main" id="{64C47390-77D8-489F-9E74-66D7B06AD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3940" name="Group 271">
              <a:extLst>
                <a:ext uri="{FF2B5EF4-FFF2-40B4-BE49-F238E27FC236}">
                  <a16:creationId xmlns:a16="http://schemas.microsoft.com/office/drawing/2014/main" id="{2F7394A6-A845-4DCD-92ED-3D9214EA72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3956" name="AutoShape 272">
                <a:extLst>
                  <a:ext uri="{FF2B5EF4-FFF2-40B4-BE49-F238E27FC236}">
                    <a16:creationId xmlns:a16="http://schemas.microsoft.com/office/drawing/2014/main" id="{A3FE6DBD-88CD-4FA0-B292-FCC6B8359B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3957" name="AutoShape 273">
                <a:extLst>
                  <a:ext uri="{FF2B5EF4-FFF2-40B4-BE49-F238E27FC236}">
                    <a16:creationId xmlns:a16="http://schemas.microsoft.com/office/drawing/2014/main" id="{9BA6364A-E474-4097-90EF-6476F2D57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3941" name="Freeform 274">
              <a:extLst>
                <a:ext uri="{FF2B5EF4-FFF2-40B4-BE49-F238E27FC236}">
                  <a16:creationId xmlns:a16="http://schemas.microsoft.com/office/drawing/2014/main" id="{F61247C0-0CDC-44FB-947A-58693806548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3942" name="Group 275">
              <a:extLst>
                <a:ext uri="{FF2B5EF4-FFF2-40B4-BE49-F238E27FC236}">
                  <a16:creationId xmlns:a16="http://schemas.microsoft.com/office/drawing/2014/main" id="{F86993EE-AE67-4342-B6F4-4F3C8D44AA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3954" name="AutoShape 276">
                <a:extLst>
                  <a:ext uri="{FF2B5EF4-FFF2-40B4-BE49-F238E27FC236}">
                    <a16:creationId xmlns:a16="http://schemas.microsoft.com/office/drawing/2014/main" id="{2B743117-45CE-4F4A-A768-88C9B19FDE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3955" name="AutoShape 277">
                <a:extLst>
                  <a:ext uri="{FF2B5EF4-FFF2-40B4-BE49-F238E27FC236}">
                    <a16:creationId xmlns:a16="http://schemas.microsoft.com/office/drawing/2014/main" id="{1BFD4E97-C8C1-4F06-9A12-2854DE0078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3943" name="Rectangle 278">
              <a:extLst>
                <a:ext uri="{FF2B5EF4-FFF2-40B4-BE49-F238E27FC236}">
                  <a16:creationId xmlns:a16="http://schemas.microsoft.com/office/drawing/2014/main" id="{B653BBFF-D800-4C6B-8EB9-ECB88A638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44" name="Freeform 279">
              <a:extLst>
                <a:ext uri="{FF2B5EF4-FFF2-40B4-BE49-F238E27FC236}">
                  <a16:creationId xmlns:a16="http://schemas.microsoft.com/office/drawing/2014/main" id="{4CC4E786-653B-47EC-AA80-FD09E2FC58F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45" name="Freeform 280">
              <a:extLst>
                <a:ext uri="{FF2B5EF4-FFF2-40B4-BE49-F238E27FC236}">
                  <a16:creationId xmlns:a16="http://schemas.microsoft.com/office/drawing/2014/main" id="{1B5A4340-FAB7-4E12-A472-4DD1CF929C6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46" name="Oval 281">
              <a:extLst>
                <a:ext uri="{FF2B5EF4-FFF2-40B4-BE49-F238E27FC236}">
                  <a16:creationId xmlns:a16="http://schemas.microsoft.com/office/drawing/2014/main" id="{F514F3B2-8D88-4F46-BBAD-94D10101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47" name="Freeform 282">
              <a:extLst>
                <a:ext uri="{FF2B5EF4-FFF2-40B4-BE49-F238E27FC236}">
                  <a16:creationId xmlns:a16="http://schemas.microsoft.com/office/drawing/2014/main" id="{BB7D64C0-BFEB-4377-A099-C9343BF6FF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48" name="AutoShape 283">
              <a:extLst>
                <a:ext uri="{FF2B5EF4-FFF2-40B4-BE49-F238E27FC236}">
                  <a16:creationId xmlns:a16="http://schemas.microsoft.com/office/drawing/2014/main" id="{D9FD8ED2-AC12-4BF5-B55F-A45354C22E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49" name="AutoShape 284">
              <a:extLst>
                <a:ext uri="{FF2B5EF4-FFF2-40B4-BE49-F238E27FC236}">
                  <a16:creationId xmlns:a16="http://schemas.microsoft.com/office/drawing/2014/main" id="{F077F2B2-5474-48C5-BA93-9D317D981C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50" name="Oval 285">
              <a:extLst>
                <a:ext uri="{FF2B5EF4-FFF2-40B4-BE49-F238E27FC236}">
                  <a16:creationId xmlns:a16="http://schemas.microsoft.com/office/drawing/2014/main" id="{2F049704-A13E-4A68-B0E1-9080459255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51" name="Oval 286">
              <a:extLst>
                <a:ext uri="{FF2B5EF4-FFF2-40B4-BE49-F238E27FC236}">
                  <a16:creationId xmlns:a16="http://schemas.microsoft.com/office/drawing/2014/main" id="{8313EF32-9A21-4E13-A4EB-BA0170C8B9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3952" name="Oval 287">
              <a:extLst>
                <a:ext uri="{FF2B5EF4-FFF2-40B4-BE49-F238E27FC236}">
                  <a16:creationId xmlns:a16="http://schemas.microsoft.com/office/drawing/2014/main" id="{8331CD63-40BB-4AE5-9C89-C894BB0EEE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53" name="Rectangle 288">
              <a:extLst>
                <a:ext uri="{FF2B5EF4-FFF2-40B4-BE49-F238E27FC236}">
                  <a16:creationId xmlns:a16="http://schemas.microsoft.com/office/drawing/2014/main" id="{CCF4C020-F51E-4EB1-A97D-8FC01CAA64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3894" name="Group 289">
            <a:extLst>
              <a:ext uri="{FF2B5EF4-FFF2-40B4-BE49-F238E27FC236}">
                <a16:creationId xmlns:a16="http://schemas.microsoft.com/office/drawing/2014/main" id="{7395C31B-1067-453C-96C7-F98AC791B80A}"/>
              </a:ext>
            </a:extLst>
          </p:cNvPr>
          <p:cNvGrpSpPr>
            <a:grpSpLocks/>
          </p:cNvGrpSpPr>
          <p:nvPr/>
        </p:nvGrpSpPr>
        <p:grpSpPr bwMode="auto">
          <a:xfrm>
            <a:off x="7135813" y="5867400"/>
            <a:ext cx="231775" cy="441325"/>
            <a:chOff x="4140" y="429"/>
            <a:chExt cx="1425" cy="2396"/>
          </a:xfrm>
        </p:grpSpPr>
        <p:sp>
          <p:nvSpPr>
            <p:cNvPr id="163898" name="Freeform 290">
              <a:extLst>
                <a:ext uri="{FF2B5EF4-FFF2-40B4-BE49-F238E27FC236}">
                  <a16:creationId xmlns:a16="http://schemas.microsoft.com/office/drawing/2014/main" id="{2B286FDE-B66D-4CE4-AB37-A205D81E108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899" name="Rectangle 291">
              <a:extLst>
                <a:ext uri="{FF2B5EF4-FFF2-40B4-BE49-F238E27FC236}">
                  <a16:creationId xmlns:a16="http://schemas.microsoft.com/office/drawing/2014/main" id="{79DB8983-78E7-4595-8968-4FE4FE4AF5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00" name="Freeform 292">
              <a:extLst>
                <a:ext uri="{FF2B5EF4-FFF2-40B4-BE49-F238E27FC236}">
                  <a16:creationId xmlns:a16="http://schemas.microsoft.com/office/drawing/2014/main" id="{7860473F-54AB-4350-A2AB-7B0539D60F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01" name="Freeform 293">
              <a:extLst>
                <a:ext uri="{FF2B5EF4-FFF2-40B4-BE49-F238E27FC236}">
                  <a16:creationId xmlns:a16="http://schemas.microsoft.com/office/drawing/2014/main" id="{241DFCB7-1E67-4CC9-8C05-0AC07C0656C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02" name="Rectangle 294">
              <a:extLst>
                <a:ext uri="{FF2B5EF4-FFF2-40B4-BE49-F238E27FC236}">
                  <a16:creationId xmlns:a16="http://schemas.microsoft.com/office/drawing/2014/main" id="{380587CC-CAD7-4A9E-B4B3-26CEC5345F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3903" name="Group 295">
              <a:extLst>
                <a:ext uri="{FF2B5EF4-FFF2-40B4-BE49-F238E27FC236}">
                  <a16:creationId xmlns:a16="http://schemas.microsoft.com/office/drawing/2014/main" id="{D871FFA3-D2D9-485E-B85D-E6360585CA3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3928" name="AutoShape 296">
                <a:extLst>
                  <a:ext uri="{FF2B5EF4-FFF2-40B4-BE49-F238E27FC236}">
                    <a16:creationId xmlns:a16="http://schemas.microsoft.com/office/drawing/2014/main" id="{529B9BA4-6258-4598-98F7-DB772A1515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3929" name="AutoShape 297">
                <a:extLst>
                  <a:ext uri="{FF2B5EF4-FFF2-40B4-BE49-F238E27FC236}">
                    <a16:creationId xmlns:a16="http://schemas.microsoft.com/office/drawing/2014/main" id="{821B2CF4-9FD7-4F93-A129-39077D8C12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3904" name="Rectangle 298">
              <a:extLst>
                <a:ext uri="{FF2B5EF4-FFF2-40B4-BE49-F238E27FC236}">
                  <a16:creationId xmlns:a16="http://schemas.microsoft.com/office/drawing/2014/main" id="{DCA2E1D1-3C90-4FFD-B053-30F384E876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3905" name="Group 299">
              <a:extLst>
                <a:ext uri="{FF2B5EF4-FFF2-40B4-BE49-F238E27FC236}">
                  <a16:creationId xmlns:a16="http://schemas.microsoft.com/office/drawing/2014/main" id="{A0E32E85-BE4A-440D-9F80-7434088487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3926" name="AutoShape 300">
                <a:extLst>
                  <a:ext uri="{FF2B5EF4-FFF2-40B4-BE49-F238E27FC236}">
                    <a16:creationId xmlns:a16="http://schemas.microsoft.com/office/drawing/2014/main" id="{25CFD68C-0441-4119-83E8-77DAAFE38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3927" name="AutoShape 301">
                <a:extLst>
                  <a:ext uri="{FF2B5EF4-FFF2-40B4-BE49-F238E27FC236}">
                    <a16:creationId xmlns:a16="http://schemas.microsoft.com/office/drawing/2014/main" id="{9E5FAC76-0087-4B42-88FC-E173B5DBFA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3906" name="Rectangle 302">
              <a:extLst>
                <a:ext uri="{FF2B5EF4-FFF2-40B4-BE49-F238E27FC236}">
                  <a16:creationId xmlns:a16="http://schemas.microsoft.com/office/drawing/2014/main" id="{2CD6BCDC-EF00-414F-8E58-76FD96042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07" name="Rectangle 303">
              <a:extLst>
                <a:ext uri="{FF2B5EF4-FFF2-40B4-BE49-F238E27FC236}">
                  <a16:creationId xmlns:a16="http://schemas.microsoft.com/office/drawing/2014/main" id="{1683B1DB-693B-4F9A-AD01-E49FB3B1DF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3908" name="Group 304">
              <a:extLst>
                <a:ext uri="{FF2B5EF4-FFF2-40B4-BE49-F238E27FC236}">
                  <a16:creationId xmlns:a16="http://schemas.microsoft.com/office/drawing/2014/main" id="{6DB98734-89B9-4AA3-AFF7-4E0BD98894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3924" name="AutoShape 305">
                <a:extLst>
                  <a:ext uri="{FF2B5EF4-FFF2-40B4-BE49-F238E27FC236}">
                    <a16:creationId xmlns:a16="http://schemas.microsoft.com/office/drawing/2014/main" id="{814555DA-47AD-4919-8A8E-7A338DB752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3925" name="AutoShape 306">
                <a:extLst>
                  <a:ext uri="{FF2B5EF4-FFF2-40B4-BE49-F238E27FC236}">
                    <a16:creationId xmlns:a16="http://schemas.microsoft.com/office/drawing/2014/main" id="{5D178864-A86E-4E7A-BAF4-2A18314B8B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3909" name="Freeform 307">
              <a:extLst>
                <a:ext uri="{FF2B5EF4-FFF2-40B4-BE49-F238E27FC236}">
                  <a16:creationId xmlns:a16="http://schemas.microsoft.com/office/drawing/2014/main" id="{053CD670-864A-4ADB-92C2-823CFDEBE26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3910" name="Group 308">
              <a:extLst>
                <a:ext uri="{FF2B5EF4-FFF2-40B4-BE49-F238E27FC236}">
                  <a16:creationId xmlns:a16="http://schemas.microsoft.com/office/drawing/2014/main" id="{A1D18EAC-BDE2-4B09-87F9-6FB7B82E6DA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3922" name="AutoShape 309">
                <a:extLst>
                  <a:ext uri="{FF2B5EF4-FFF2-40B4-BE49-F238E27FC236}">
                    <a16:creationId xmlns:a16="http://schemas.microsoft.com/office/drawing/2014/main" id="{46F9B351-1B91-4064-A0E6-70100C84FD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3923" name="AutoShape 310">
                <a:extLst>
                  <a:ext uri="{FF2B5EF4-FFF2-40B4-BE49-F238E27FC236}">
                    <a16:creationId xmlns:a16="http://schemas.microsoft.com/office/drawing/2014/main" id="{57D23ABD-CBA4-430E-8E94-9BC2DCE125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3911" name="Rectangle 311">
              <a:extLst>
                <a:ext uri="{FF2B5EF4-FFF2-40B4-BE49-F238E27FC236}">
                  <a16:creationId xmlns:a16="http://schemas.microsoft.com/office/drawing/2014/main" id="{C43D256D-73B2-433C-BA61-6413C760BB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12" name="Freeform 312">
              <a:extLst>
                <a:ext uri="{FF2B5EF4-FFF2-40B4-BE49-F238E27FC236}">
                  <a16:creationId xmlns:a16="http://schemas.microsoft.com/office/drawing/2014/main" id="{ADDB1EE5-2839-439A-8D68-C9E900DB93B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13" name="Freeform 313">
              <a:extLst>
                <a:ext uri="{FF2B5EF4-FFF2-40B4-BE49-F238E27FC236}">
                  <a16:creationId xmlns:a16="http://schemas.microsoft.com/office/drawing/2014/main" id="{23168056-456B-48D5-A96D-88B2934835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14" name="Oval 314">
              <a:extLst>
                <a:ext uri="{FF2B5EF4-FFF2-40B4-BE49-F238E27FC236}">
                  <a16:creationId xmlns:a16="http://schemas.microsoft.com/office/drawing/2014/main" id="{94FEC6D7-1C61-4D12-A9EE-E4AB360A1A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15" name="Freeform 315">
              <a:extLst>
                <a:ext uri="{FF2B5EF4-FFF2-40B4-BE49-F238E27FC236}">
                  <a16:creationId xmlns:a16="http://schemas.microsoft.com/office/drawing/2014/main" id="{7CF5C26E-A3B7-4EA2-AC4A-5C8A07C1D9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16" name="AutoShape 316">
              <a:extLst>
                <a:ext uri="{FF2B5EF4-FFF2-40B4-BE49-F238E27FC236}">
                  <a16:creationId xmlns:a16="http://schemas.microsoft.com/office/drawing/2014/main" id="{E75A28CD-6CC3-47DC-9E9A-BC3DC060F6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17" name="AutoShape 317">
              <a:extLst>
                <a:ext uri="{FF2B5EF4-FFF2-40B4-BE49-F238E27FC236}">
                  <a16:creationId xmlns:a16="http://schemas.microsoft.com/office/drawing/2014/main" id="{FAD15729-2613-42A6-8E06-072FA2EEDC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18" name="Oval 318">
              <a:extLst>
                <a:ext uri="{FF2B5EF4-FFF2-40B4-BE49-F238E27FC236}">
                  <a16:creationId xmlns:a16="http://schemas.microsoft.com/office/drawing/2014/main" id="{2A9ED1B2-A759-4270-B5F2-9E79D6820C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19" name="Oval 319">
              <a:extLst>
                <a:ext uri="{FF2B5EF4-FFF2-40B4-BE49-F238E27FC236}">
                  <a16:creationId xmlns:a16="http://schemas.microsoft.com/office/drawing/2014/main" id="{578B37F3-A22F-4F6B-A766-690986220E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3920" name="Oval 320">
              <a:extLst>
                <a:ext uri="{FF2B5EF4-FFF2-40B4-BE49-F238E27FC236}">
                  <a16:creationId xmlns:a16="http://schemas.microsoft.com/office/drawing/2014/main" id="{BF054BDE-68D2-4B0D-BFF2-FE8042E71C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3921" name="Rectangle 321">
              <a:extLst>
                <a:ext uri="{FF2B5EF4-FFF2-40B4-BE49-F238E27FC236}">
                  <a16:creationId xmlns:a16="http://schemas.microsoft.com/office/drawing/2014/main" id="{C3A955E6-96DE-45F4-92BC-EC6333C9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3895" name="Group 325">
            <a:extLst>
              <a:ext uri="{FF2B5EF4-FFF2-40B4-BE49-F238E27FC236}">
                <a16:creationId xmlns:a16="http://schemas.microsoft.com/office/drawing/2014/main" id="{965BB407-D5DC-4CF2-9DB9-043C9E1E1187}"/>
              </a:ext>
            </a:extLst>
          </p:cNvPr>
          <p:cNvGrpSpPr>
            <a:grpSpLocks/>
          </p:cNvGrpSpPr>
          <p:nvPr/>
        </p:nvGrpSpPr>
        <p:grpSpPr bwMode="auto">
          <a:xfrm>
            <a:off x="661988" y="5594350"/>
            <a:ext cx="525462" cy="434975"/>
            <a:chOff x="-44" y="1473"/>
            <a:chExt cx="981" cy="1105"/>
          </a:xfrm>
        </p:grpSpPr>
        <p:pic>
          <p:nvPicPr>
            <p:cNvPr id="163896" name="Picture 326" descr="desktop_computer_stylized_medium">
              <a:extLst>
                <a:ext uri="{FF2B5EF4-FFF2-40B4-BE49-F238E27FC236}">
                  <a16:creationId xmlns:a16="http://schemas.microsoft.com/office/drawing/2014/main" id="{8BD62E16-C928-4EA6-BB84-0C1555F889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3897" name="Freeform 327">
              <a:extLst>
                <a:ext uri="{FF2B5EF4-FFF2-40B4-BE49-F238E27FC236}">
                  <a16:creationId xmlns:a16="http://schemas.microsoft.com/office/drawing/2014/main" id="{78112C8A-62AF-4CB7-B149-2FDF0786C6A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Footer Placeholder 5">
            <a:extLst>
              <a:ext uri="{FF2B5EF4-FFF2-40B4-BE49-F238E27FC236}">
                <a16:creationId xmlns:a16="http://schemas.microsoft.com/office/drawing/2014/main" id="{C18DA37F-1044-4F9D-99C4-C55E81538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4867" name="Slide Number Placeholder 6">
            <a:extLst>
              <a:ext uri="{FF2B5EF4-FFF2-40B4-BE49-F238E27FC236}">
                <a16:creationId xmlns:a16="http://schemas.microsoft.com/office/drawing/2014/main" id="{942737D1-329B-4F31-A1D3-8C95DDB57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E10EC446-84A2-47B0-9B38-38AEA6791F09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93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64868" name="Freeform 305">
            <a:extLst>
              <a:ext uri="{FF2B5EF4-FFF2-40B4-BE49-F238E27FC236}">
                <a16:creationId xmlns:a16="http://schemas.microsoft.com/office/drawing/2014/main" id="{BA09E009-0A2B-4251-BEDB-77067736E372}"/>
              </a:ext>
            </a:extLst>
          </p:cNvPr>
          <p:cNvSpPr>
            <a:spLocks/>
          </p:cNvSpPr>
          <p:nvPr/>
        </p:nvSpPr>
        <p:spPr bwMode="auto">
          <a:xfrm flipH="1">
            <a:off x="2111375" y="3465513"/>
            <a:ext cx="250825" cy="1201737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164869" name="Group 380">
            <a:extLst>
              <a:ext uri="{FF2B5EF4-FFF2-40B4-BE49-F238E27FC236}">
                <a16:creationId xmlns:a16="http://schemas.microsoft.com/office/drawing/2014/main" id="{F626FE5B-EBD8-41AA-BDE4-D917D25B5632}"/>
              </a:ext>
            </a:extLst>
          </p:cNvPr>
          <p:cNvGrpSpPr>
            <a:grpSpLocks/>
          </p:cNvGrpSpPr>
          <p:nvPr/>
        </p:nvGrpSpPr>
        <p:grpSpPr bwMode="auto">
          <a:xfrm>
            <a:off x="1716088" y="4425950"/>
            <a:ext cx="525462" cy="434975"/>
            <a:chOff x="-44" y="1473"/>
            <a:chExt cx="981" cy="1105"/>
          </a:xfrm>
        </p:grpSpPr>
        <p:pic>
          <p:nvPicPr>
            <p:cNvPr id="165023" name="Picture 381" descr="desktop_computer_stylized_medium">
              <a:extLst>
                <a:ext uri="{FF2B5EF4-FFF2-40B4-BE49-F238E27FC236}">
                  <a16:creationId xmlns:a16="http://schemas.microsoft.com/office/drawing/2014/main" id="{FF308EF6-952B-4B52-975C-E45044F38F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5024" name="Freeform 382">
              <a:extLst>
                <a:ext uri="{FF2B5EF4-FFF2-40B4-BE49-F238E27FC236}">
                  <a16:creationId xmlns:a16="http://schemas.microsoft.com/office/drawing/2014/main" id="{F64F5061-A197-4678-B43C-90DC7094C47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64870" name="Freeform 376">
            <a:extLst>
              <a:ext uri="{FF2B5EF4-FFF2-40B4-BE49-F238E27FC236}">
                <a16:creationId xmlns:a16="http://schemas.microsoft.com/office/drawing/2014/main" id="{F88D8523-4517-4286-8A8A-A64BE6122123}"/>
              </a:ext>
            </a:extLst>
          </p:cNvPr>
          <p:cNvSpPr>
            <a:spLocks/>
          </p:cNvSpPr>
          <p:nvPr/>
        </p:nvSpPr>
        <p:spPr bwMode="auto">
          <a:xfrm>
            <a:off x="6959600" y="4970463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4871" name="Freeform 302">
            <a:extLst>
              <a:ext uri="{FF2B5EF4-FFF2-40B4-BE49-F238E27FC236}">
                <a16:creationId xmlns:a16="http://schemas.microsoft.com/office/drawing/2014/main" id="{063C2C35-D9A4-4271-959F-6E19E271E8CF}"/>
              </a:ext>
            </a:extLst>
          </p:cNvPr>
          <p:cNvSpPr>
            <a:spLocks/>
          </p:cNvSpPr>
          <p:nvPr/>
        </p:nvSpPr>
        <p:spPr bwMode="auto">
          <a:xfrm flipH="1">
            <a:off x="1066800" y="4667250"/>
            <a:ext cx="250825" cy="1201738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4872" name="Freeform 299">
            <a:extLst>
              <a:ext uri="{FF2B5EF4-FFF2-40B4-BE49-F238E27FC236}">
                <a16:creationId xmlns:a16="http://schemas.microsoft.com/office/drawing/2014/main" id="{0DFA5EC5-4A97-4F07-9591-B1717BF6E4CE}"/>
              </a:ext>
            </a:extLst>
          </p:cNvPr>
          <p:cNvSpPr>
            <a:spLocks/>
          </p:cNvSpPr>
          <p:nvPr/>
        </p:nvSpPr>
        <p:spPr bwMode="auto">
          <a:xfrm>
            <a:off x="7416800" y="3665538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4873" name="Rectangle 3">
            <a:extLst>
              <a:ext uri="{FF2B5EF4-FFF2-40B4-BE49-F238E27FC236}">
                <a16:creationId xmlns:a16="http://schemas.microsoft.com/office/drawing/2014/main" id="{F46295F3-F77A-4699-82F8-924BE58156B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739775" y="1387475"/>
            <a:ext cx="3743325" cy="1430338"/>
          </a:xfrm>
        </p:spPr>
        <p:txBody>
          <a:bodyPr/>
          <a:lstStyle/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TW" sz="2400">
                <a:solidFill>
                  <a:srgbClr val="000099"/>
                </a:solidFill>
              </a:rPr>
              <a:t>idealization: perfect knowledge</a:t>
            </a:r>
          </a:p>
          <a:p>
            <a:pPr>
              <a:lnSpc>
                <a:spcPct val="80000"/>
              </a:lnSpc>
            </a:pPr>
            <a:r>
              <a:rPr lang="en-US" altLang="zh-TW" sz="2400"/>
              <a:t>sender sends only when router buffers available </a:t>
            </a:r>
          </a:p>
          <a:p>
            <a:pPr>
              <a:lnSpc>
                <a:spcPct val="80000"/>
              </a:lnSpc>
            </a:pPr>
            <a:endParaRPr lang="en-US" altLang="zh-TW" sz="2400"/>
          </a:p>
          <a:p>
            <a:endParaRPr lang="en-US" altLang="zh-TW"/>
          </a:p>
        </p:txBody>
      </p:sp>
      <p:sp>
        <p:nvSpPr>
          <p:cNvPr id="164874" name="Oval 4">
            <a:extLst>
              <a:ext uri="{FF2B5EF4-FFF2-40B4-BE49-F238E27FC236}">
                <a16:creationId xmlns:a16="http://schemas.microsoft.com/office/drawing/2014/main" id="{132F43C2-88AD-4DAF-B32C-B560FD5B1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26063"/>
            <a:ext cx="1304925" cy="303212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4875" name="Line 5">
            <a:extLst>
              <a:ext uri="{FF2B5EF4-FFF2-40B4-BE49-F238E27FC236}">
                <a16:creationId xmlns:a16="http://schemas.microsoft.com/office/drawing/2014/main" id="{3D848B80-FD09-4541-B479-16C6135AAB5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5713" y="5302250"/>
            <a:ext cx="0" cy="18732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4876" name="Line 6">
            <a:extLst>
              <a:ext uri="{FF2B5EF4-FFF2-40B4-BE49-F238E27FC236}">
                <a16:creationId xmlns:a16="http://schemas.microsoft.com/office/drawing/2014/main" id="{342A5639-7426-41C9-93C3-E9A5D904E089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0638" y="5302250"/>
            <a:ext cx="0" cy="187325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4877" name="Rectangle 7">
            <a:extLst>
              <a:ext uri="{FF2B5EF4-FFF2-40B4-BE49-F238E27FC236}">
                <a16:creationId xmlns:a16="http://schemas.microsoft.com/office/drawing/2014/main" id="{3880AF26-DE03-4EC8-BD5C-C30E981F9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02250"/>
            <a:ext cx="309562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4878" name="Rectangle 8">
            <a:extLst>
              <a:ext uri="{FF2B5EF4-FFF2-40B4-BE49-F238E27FC236}">
                <a16:creationId xmlns:a16="http://schemas.microsoft.com/office/drawing/2014/main" id="{064E0826-2EB0-4535-A44D-B9CA943B2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5350" y="5289550"/>
            <a:ext cx="395288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4879" name="Oval 9">
            <a:extLst>
              <a:ext uri="{FF2B5EF4-FFF2-40B4-BE49-F238E27FC236}">
                <a16:creationId xmlns:a16="http://schemas.microsoft.com/office/drawing/2014/main" id="{4BA0225A-2E64-4177-85C4-85E888237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0950" y="5103813"/>
            <a:ext cx="1306513" cy="352425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64880" name="Group 10">
            <a:extLst>
              <a:ext uri="{FF2B5EF4-FFF2-40B4-BE49-F238E27FC236}">
                <a16:creationId xmlns:a16="http://schemas.microsoft.com/office/drawing/2014/main" id="{AD32FC5C-4AB6-4715-831C-980E8332589B}"/>
              </a:ext>
            </a:extLst>
          </p:cNvPr>
          <p:cNvGrpSpPr>
            <a:grpSpLocks/>
          </p:cNvGrpSpPr>
          <p:nvPr/>
        </p:nvGrpSpPr>
        <p:grpSpPr bwMode="auto">
          <a:xfrm>
            <a:off x="4097338" y="5160963"/>
            <a:ext cx="647700" cy="206375"/>
            <a:chOff x="2848" y="848"/>
            <a:chExt cx="140" cy="98"/>
          </a:xfrm>
        </p:grpSpPr>
        <p:sp>
          <p:nvSpPr>
            <p:cNvPr id="165020" name="Line 11">
              <a:extLst>
                <a:ext uri="{FF2B5EF4-FFF2-40B4-BE49-F238E27FC236}">
                  <a16:creationId xmlns:a16="http://schemas.microsoft.com/office/drawing/2014/main" id="{744E73BA-1311-4ECA-83F5-88D5139888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5021" name="Line 12">
              <a:extLst>
                <a:ext uri="{FF2B5EF4-FFF2-40B4-BE49-F238E27FC236}">
                  <a16:creationId xmlns:a16="http://schemas.microsoft.com/office/drawing/2014/main" id="{D1BD65CB-EA25-4E5A-A798-7971C58044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5022" name="Line 13">
              <a:extLst>
                <a:ext uri="{FF2B5EF4-FFF2-40B4-BE49-F238E27FC236}">
                  <a16:creationId xmlns:a16="http://schemas.microsoft.com/office/drawing/2014/main" id="{AA4E03D1-F1F0-4048-8B0D-060CA62DC4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64881" name="Line 14">
            <a:extLst>
              <a:ext uri="{FF2B5EF4-FFF2-40B4-BE49-F238E27FC236}">
                <a16:creationId xmlns:a16="http://schemas.microsoft.com/office/drawing/2014/main" id="{27F281D1-B9FF-40B3-AA00-C1A6210DE89E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7338" y="5359400"/>
            <a:ext cx="231775" cy="4763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4882" name="Line 15">
            <a:extLst>
              <a:ext uri="{FF2B5EF4-FFF2-40B4-BE49-F238E27FC236}">
                <a16:creationId xmlns:a16="http://schemas.microsoft.com/office/drawing/2014/main" id="{AAB50049-0DBE-4A67-8A66-241F3A7FFDA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41838" y="5159375"/>
            <a:ext cx="203200" cy="0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4883" name="Line 16">
            <a:extLst>
              <a:ext uri="{FF2B5EF4-FFF2-40B4-BE49-F238E27FC236}">
                <a16:creationId xmlns:a16="http://schemas.microsoft.com/office/drawing/2014/main" id="{290E9DA8-2392-434B-9F66-2FCE32F1E4C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10063" y="5159375"/>
            <a:ext cx="241300" cy="200025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4884" name="Text Box 17">
            <a:extLst>
              <a:ext uri="{FF2B5EF4-FFF2-40B4-BE49-F238E27FC236}">
                <a16:creationId xmlns:a16="http://schemas.microsoft.com/office/drawing/2014/main" id="{63F66897-8EA8-4FE9-A0BB-458C8574D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8275" y="5934075"/>
            <a:ext cx="2136775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finite shared output link buffers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4885" name="Line 18">
            <a:extLst>
              <a:ext uri="{FF2B5EF4-FFF2-40B4-BE49-F238E27FC236}">
                <a16:creationId xmlns:a16="http://schemas.microsoft.com/office/drawing/2014/main" id="{D4B24A0E-9738-4944-B809-5A6725C85CA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24113" y="4856163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4886" name="Line 19">
            <a:extLst>
              <a:ext uri="{FF2B5EF4-FFF2-40B4-BE49-F238E27FC236}">
                <a16:creationId xmlns:a16="http://schemas.microsoft.com/office/drawing/2014/main" id="{B0BB2E7D-1E97-4953-8623-5F5267F48E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4856163"/>
            <a:ext cx="538162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4887" name="Group 60">
            <a:extLst>
              <a:ext uri="{FF2B5EF4-FFF2-40B4-BE49-F238E27FC236}">
                <a16:creationId xmlns:a16="http://schemas.microsoft.com/office/drawing/2014/main" id="{6E2FA829-65FD-4BD7-960A-CAA10BFE2478}"/>
              </a:ext>
            </a:extLst>
          </p:cNvPr>
          <p:cNvGrpSpPr>
            <a:grpSpLocks/>
          </p:cNvGrpSpPr>
          <p:nvPr/>
        </p:nvGrpSpPr>
        <p:grpSpPr bwMode="auto">
          <a:xfrm>
            <a:off x="2351088" y="3541713"/>
            <a:ext cx="798512" cy="1166812"/>
            <a:chOff x="12762" y="10336"/>
            <a:chExt cx="1027" cy="1700"/>
          </a:xfrm>
        </p:grpSpPr>
        <p:sp>
          <p:nvSpPr>
            <p:cNvPr id="165014" name="Rectangle 61">
              <a:extLst>
                <a:ext uri="{FF2B5EF4-FFF2-40B4-BE49-F238E27FC236}">
                  <a16:creationId xmlns:a16="http://schemas.microsoft.com/office/drawing/2014/main" id="{3AD4D4C7-9136-48DF-B0D4-CCABB5529C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015" name="Rectangle 62">
              <a:extLst>
                <a:ext uri="{FF2B5EF4-FFF2-40B4-BE49-F238E27FC236}">
                  <a16:creationId xmlns:a16="http://schemas.microsoft.com/office/drawing/2014/main" id="{291C75A3-56C3-407D-90AB-45294FB19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016" name="Line 63">
              <a:extLst>
                <a:ext uri="{FF2B5EF4-FFF2-40B4-BE49-F238E27FC236}">
                  <a16:creationId xmlns:a16="http://schemas.microsoft.com/office/drawing/2014/main" id="{16DC1D5F-7718-429A-ACFD-D034F0829E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17" name="Line 64">
              <a:extLst>
                <a:ext uri="{FF2B5EF4-FFF2-40B4-BE49-F238E27FC236}">
                  <a16:creationId xmlns:a16="http://schemas.microsoft.com/office/drawing/2014/main" id="{64E70C42-4A7D-459E-A046-57F9888792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18" name="Line 65">
              <a:extLst>
                <a:ext uri="{FF2B5EF4-FFF2-40B4-BE49-F238E27FC236}">
                  <a16:creationId xmlns:a16="http://schemas.microsoft.com/office/drawing/2014/main" id="{0A1E22C9-0075-4E81-A9EE-00061BA8CA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19" name="Line 66">
              <a:extLst>
                <a:ext uri="{FF2B5EF4-FFF2-40B4-BE49-F238E27FC236}">
                  <a16:creationId xmlns:a16="http://schemas.microsoft.com/office/drawing/2014/main" id="{B6DF66D9-6E91-4A4B-80A4-540B4ED4B6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4888" name="Text Box 68">
            <a:extLst>
              <a:ext uri="{FF2B5EF4-FFF2-40B4-BE49-F238E27FC236}">
                <a16:creationId xmlns:a16="http://schemas.microsoft.com/office/drawing/2014/main" id="{28A07EF6-F9A8-4F39-982A-4749E5358F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8675" y="3427413"/>
            <a:ext cx="1881188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 baseline="-2500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: original data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4889" name="Line 69">
            <a:extLst>
              <a:ext uri="{FF2B5EF4-FFF2-40B4-BE49-F238E27FC236}">
                <a16:creationId xmlns:a16="http://schemas.microsoft.com/office/drawing/2014/main" id="{DB7058A9-880A-45AC-88E1-F7F40BE85C8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85950" y="5961063"/>
            <a:ext cx="538163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4890" name="Group 110">
            <a:extLst>
              <a:ext uri="{FF2B5EF4-FFF2-40B4-BE49-F238E27FC236}">
                <a16:creationId xmlns:a16="http://schemas.microsoft.com/office/drawing/2014/main" id="{CE53BBE1-0413-493B-B0D7-7B148F710DCA}"/>
              </a:ext>
            </a:extLst>
          </p:cNvPr>
          <p:cNvGrpSpPr>
            <a:grpSpLocks/>
          </p:cNvGrpSpPr>
          <p:nvPr/>
        </p:nvGrpSpPr>
        <p:grpSpPr bwMode="auto">
          <a:xfrm>
            <a:off x="1298575" y="4695825"/>
            <a:ext cx="798513" cy="1166813"/>
            <a:chOff x="12762" y="10336"/>
            <a:chExt cx="1027" cy="1700"/>
          </a:xfrm>
        </p:grpSpPr>
        <p:sp>
          <p:nvSpPr>
            <p:cNvPr id="165008" name="Rectangle 111">
              <a:extLst>
                <a:ext uri="{FF2B5EF4-FFF2-40B4-BE49-F238E27FC236}">
                  <a16:creationId xmlns:a16="http://schemas.microsoft.com/office/drawing/2014/main" id="{CD3899EB-822A-401A-BDB3-95A71F84D9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009" name="Rectangle 112">
              <a:extLst>
                <a:ext uri="{FF2B5EF4-FFF2-40B4-BE49-F238E27FC236}">
                  <a16:creationId xmlns:a16="http://schemas.microsoft.com/office/drawing/2014/main" id="{C9ED1E66-1E7C-46CC-9457-446C444383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010" name="Line 113">
              <a:extLst>
                <a:ext uri="{FF2B5EF4-FFF2-40B4-BE49-F238E27FC236}">
                  <a16:creationId xmlns:a16="http://schemas.microsoft.com/office/drawing/2014/main" id="{39FFC5EB-4872-4756-8A95-9C8FC00C0F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11" name="Line 114">
              <a:extLst>
                <a:ext uri="{FF2B5EF4-FFF2-40B4-BE49-F238E27FC236}">
                  <a16:creationId xmlns:a16="http://schemas.microsoft.com/office/drawing/2014/main" id="{C95F7673-8A60-4421-BEBC-D00B625607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12" name="Line 115">
              <a:extLst>
                <a:ext uri="{FF2B5EF4-FFF2-40B4-BE49-F238E27FC236}">
                  <a16:creationId xmlns:a16="http://schemas.microsoft.com/office/drawing/2014/main" id="{49A02957-0D92-4E0E-B715-F2C8A7653E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13" name="Line 116">
              <a:extLst>
                <a:ext uri="{FF2B5EF4-FFF2-40B4-BE49-F238E27FC236}">
                  <a16:creationId xmlns:a16="http://schemas.microsoft.com/office/drawing/2014/main" id="{CBC7C5A7-7A2E-431D-9481-BDDD4DAF5C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4891" name="Line 118">
            <a:extLst>
              <a:ext uri="{FF2B5EF4-FFF2-40B4-BE49-F238E27FC236}">
                <a16:creationId xmlns:a16="http://schemas.microsoft.com/office/drawing/2014/main" id="{DBBAA3EA-DE91-4467-95AA-1618ABC75F1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5372100"/>
            <a:ext cx="7493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4892" name="Line 119">
            <a:extLst>
              <a:ext uri="{FF2B5EF4-FFF2-40B4-BE49-F238E27FC236}">
                <a16:creationId xmlns:a16="http://schemas.microsoft.com/office/drawing/2014/main" id="{BFC52709-8015-45F9-9151-FD9A3160336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10150" y="5372100"/>
            <a:ext cx="74771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4893" name="Line 120">
            <a:extLst>
              <a:ext uri="{FF2B5EF4-FFF2-40B4-BE49-F238E27FC236}">
                <a16:creationId xmlns:a16="http://schemas.microsoft.com/office/drawing/2014/main" id="{71614C95-779A-450F-B562-5FCEA1C12B9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60963" y="4856163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4894" name="Line 121">
            <a:extLst>
              <a:ext uri="{FF2B5EF4-FFF2-40B4-BE49-F238E27FC236}">
                <a16:creationId xmlns:a16="http://schemas.microsoft.com/office/drawing/2014/main" id="{B5AD3FAA-E32C-40AD-860E-9B4A7669FA7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49850" y="5973763"/>
            <a:ext cx="67786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4895" name="Line 122">
            <a:extLst>
              <a:ext uri="{FF2B5EF4-FFF2-40B4-BE49-F238E27FC236}">
                <a16:creationId xmlns:a16="http://schemas.microsoft.com/office/drawing/2014/main" id="{75AB8DEC-71C5-4EC8-9490-5A5B9C4CA5B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59513" y="4868863"/>
            <a:ext cx="53975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4896" name="Group 163">
            <a:extLst>
              <a:ext uri="{FF2B5EF4-FFF2-40B4-BE49-F238E27FC236}">
                <a16:creationId xmlns:a16="http://schemas.microsoft.com/office/drawing/2014/main" id="{C849E868-7BBB-4A89-BEF7-E5A65ADF1C8B}"/>
              </a:ext>
            </a:extLst>
          </p:cNvPr>
          <p:cNvGrpSpPr>
            <a:grpSpLocks/>
          </p:cNvGrpSpPr>
          <p:nvPr/>
        </p:nvGrpSpPr>
        <p:grpSpPr bwMode="auto">
          <a:xfrm>
            <a:off x="6643688" y="3676650"/>
            <a:ext cx="798512" cy="1166813"/>
            <a:chOff x="12762" y="10336"/>
            <a:chExt cx="1027" cy="1700"/>
          </a:xfrm>
        </p:grpSpPr>
        <p:sp>
          <p:nvSpPr>
            <p:cNvPr id="165002" name="Rectangle 164">
              <a:extLst>
                <a:ext uri="{FF2B5EF4-FFF2-40B4-BE49-F238E27FC236}">
                  <a16:creationId xmlns:a16="http://schemas.microsoft.com/office/drawing/2014/main" id="{9807A8BC-0A3F-4DF4-901A-947E984139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003" name="Rectangle 165">
              <a:extLst>
                <a:ext uri="{FF2B5EF4-FFF2-40B4-BE49-F238E27FC236}">
                  <a16:creationId xmlns:a16="http://schemas.microsoft.com/office/drawing/2014/main" id="{7E0F28E8-5D97-4DF2-A37E-73D840DDE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004" name="Line 166">
              <a:extLst>
                <a:ext uri="{FF2B5EF4-FFF2-40B4-BE49-F238E27FC236}">
                  <a16:creationId xmlns:a16="http://schemas.microsoft.com/office/drawing/2014/main" id="{FC353E8B-DDB7-4DF1-BD41-A59B8FDDE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05" name="Line 167">
              <a:extLst>
                <a:ext uri="{FF2B5EF4-FFF2-40B4-BE49-F238E27FC236}">
                  <a16:creationId xmlns:a16="http://schemas.microsoft.com/office/drawing/2014/main" id="{24939506-8AC4-4ECA-9F65-8452A97609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06" name="Line 168">
              <a:extLst>
                <a:ext uri="{FF2B5EF4-FFF2-40B4-BE49-F238E27FC236}">
                  <a16:creationId xmlns:a16="http://schemas.microsoft.com/office/drawing/2014/main" id="{2A0E3A5A-9DF2-4F12-A568-8ADF8E8DCC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07" name="Line 169">
              <a:extLst>
                <a:ext uri="{FF2B5EF4-FFF2-40B4-BE49-F238E27FC236}">
                  <a16:creationId xmlns:a16="http://schemas.microsoft.com/office/drawing/2014/main" id="{316DE3DE-DA59-441B-812B-BAE8A3A3D8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64897" name="Group 210">
            <a:extLst>
              <a:ext uri="{FF2B5EF4-FFF2-40B4-BE49-F238E27FC236}">
                <a16:creationId xmlns:a16="http://schemas.microsoft.com/office/drawing/2014/main" id="{68EB7770-D37B-409D-B16D-76F581BF6DE7}"/>
              </a:ext>
            </a:extLst>
          </p:cNvPr>
          <p:cNvGrpSpPr>
            <a:grpSpLocks/>
          </p:cNvGrpSpPr>
          <p:nvPr/>
        </p:nvGrpSpPr>
        <p:grpSpPr bwMode="auto">
          <a:xfrm>
            <a:off x="6175375" y="4989513"/>
            <a:ext cx="798513" cy="1168400"/>
            <a:chOff x="12762" y="10336"/>
            <a:chExt cx="1027" cy="1700"/>
          </a:xfrm>
        </p:grpSpPr>
        <p:sp>
          <p:nvSpPr>
            <p:cNvPr id="164996" name="Rectangle 211">
              <a:extLst>
                <a:ext uri="{FF2B5EF4-FFF2-40B4-BE49-F238E27FC236}">
                  <a16:creationId xmlns:a16="http://schemas.microsoft.com/office/drawing/2014/main" id="{C0CDB008-5724-4A2F-8B67-18D85986D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97" name="Rectangle 212">
              <a:extLst>
                <a:ext uri="{FF2B5EF4-FFF2-40B4-BE49-F238E27FC236}">
                  <a16:creationId xmlns:a16="http://schemas.microsoft.com/office/drawing/2014/main" id="{433627EB-6A70-4518-A11E-6FD37FDD9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98" name="Line 213">
              <a:extLst>
                <a:ext uri="{FF2B5EF4-FFF2-40B4-BE49-F238E27FC236}">
                  <a16:creationId xmlns:a16="http://schemas.microsoft.com/office/drawing/2014/main" id="{97BF16AE-84AC-4556-9A0D-F3561D0571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99" name="Line 214">
              <a:extLst>
                <a:ext uri="{FF2B5EF4-FFF2-40B4-BE49-F238E27FC236}">
                  <a16:creationId xmlns:a16="http://schemas.microsoft.com/office/drawing/2014/main" id="{12181F45-5727-4D38-A0EE-720C073E1F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00" name="Line 215">
              <a:extLst>
                <a:ext uri="{FF2B5EF4-FFF2-40B4-BE49-F238E27FC236}">
                  <a16:creationId xmlns:a16="http://schemas.microsoft.com/office/drawing/2014/main" id="{80F5F9AF-FA40-426F-B891-FE96A8FF85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001" name="Line 216">
              <a:extLst>
                <a:ext uri="{FF2B5EF4-FFF2-40B4-BE49-F238E27FC236}">
                  <a16:creationId xmlns:a16="http://schemas.microsoft.com/office/drawing/2014/main" id="{0140D631-4DDA-458D-9553-131AA9114C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4898" name="Oval 217">
            <a:extLst>
              <a:ext uri="{FF2B5EF4-FFF2-40B4-BE49-F238E27FC236}">
                <a16:creationId xmlns:a16="http://schemas.microsoft.com/office/drawing/2014/main" id="{FE47098A-B5A8-4478-9067-5541AAA32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616325"/>
            <a:ext cx="112712" cy="115888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4899" name="Oval 218">
            <a:extLst>
              <a:ext uri="{FF2B5EF4-FFF2-40B4-BE49-F238E27FC236}">
                <a16:creationId xmlns:a16="http://schemas.microsoft.com/office/drawing/2014/main" id="{64D36920-E551-4E9A-8A3B-2DB031890C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4963" y="4745038"/>
            <a:ext cx="114300" cy="117475"/>
          </a:xfrm>
          <a:prstGeom prst="ellipse">
            <a:avLst/>
          </a:prstGeom>
          <a:solidFill>
            <a:srgbClr val="808080"/>
          </a:solidFill>
          <a:ln w="9525">
            <a:solidFill>
              <a:srgbClr val="80808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4900" name="Text Box 219">
            <a:extLst>
              <a:ext uri="{FF2B5EF4-FFF2-40B4-BE49-F238E27FC236}">
                <a16:creationId xmlns:a16="http://schemas.microsoft.com/office/drawing/2014/main" id="{9666202A-7EEB-44FC-A8E4-71F7FD504B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3488" y="3629025"/>
            <a:ext cx="590550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out</a:t>
            </a:r>
            <a:endParaRPr lang="en-US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4901" name="Line 220">
            <a:extLst>
              <a:ext uri="{FF2B5EF4-FFF2-40B4-BE49-F238E27FC236}">
                <a16:creationId xmlns:a16="http://schemas.microsoft.com/office/drawing/2014/main" id="{2EA27FB4-CEA2-414F-A9EA-F9B95FF8F1C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592638" y="5580063"/>
            <a:ext cx="7937" cy="4079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4902" name="Group 221">
            <a:extLst>
              <a:ext uri="{FF2B5EF4-FFF2-40B4-BE49-F238E27FC236}">
                <a16:creationId xmlns:a16="http://schemas.microsoft.com/office/drawing/2014/main" id="{8F77CC79-8333-468C-B622-DD18D46EB0EA}"/>
              </a:ext>
            </a:extLst>
          </p:cNvPr>
          <p:cNvGrpSpPr>
            <a:grpSpLocks/>
          </p:cNvGrpSpPr>
          <p:nvPr/>
        </p:nvGrpSpPr>
        <p:grpSpPr bwMode="auto">
          <a:xfrm>
            <a:off x="4587875" y="5211763"/>
            <a:ext cx="385763" cy="319087"/>
            <a:chOff x="11283" y="10423"/>
            <a:chExt cx="475" cy="374"/>
          </a:xfrm>
        </p:grpSpPr>
        <p:sp>
          <p:nvSpPr>
            <p:cNvPr id="164989" name="Rectangle 222">
              <a:extLst>
                <a:ext uri="{FF2B5EF4-FFF2-40B4-BE49-F238E27FC236}">
                  <a16:creationId xmlns:a16="http://schemas.microsoft.com/office/drawing/2014/main" id="{28B3DD1D-2399-47B4-A7E9-54CE2E9357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90" name="Line 223">
              <a:extLst>
                <a:ext uri="{FF2B5EF4-FFF2-40B4-BE49-F238E27FC236}">
                  <a16:creationId xmlns:a16="http://schemas.microsoft.com/office/drawing/2014/main" id="{63A404B1-361E-48DE-837C-119D1B8392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91" name="Line 224">
              <a:extLst>
                <a:ext uri="{FF2B5EF4-FFF2-40B4-BE49-F238E27FC236}">
                  <a16:creationId xmlns:a16="http://schemas.microsoft.com/office/drawing/2014/main" id="{3C970FF3-D0BA-4CDD-B09F-76018B0685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92" name="Line 225">
              <a:extLst>
                <a:ext uri="{FF2B5EF4-FFF2-40B4-BE49-F238E27FC236}">
                  <a16:creationId xmlns:a16="http://schemas.microsoft.com/office/drawing/2014/main" id="{D837568D-7A30-40C0-B7C3-3B562F08E1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93" name="Line 226">
              <a:extLst>
                <a:ext uri="{FF2B5EF4-FFF2-40B4-BE49-F238E27FC236}">
                  <a16:creationId xmlns:a16="http://schemas.microsoft.com/office/drawing/2014/main" id="{3D8C905D-BA6C-41F3-BB35-647F571C3A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94" name="Line 227">
              <a:extLst>
                <a:ext uri="{FF2B5EF4-FFF2-40B4-BE49-F238E27FC236}">
                  <a16:creationId xmlns:a16="http://schemas.microsoft.com/office/drawing/2014/main" id="{BB3F47A6-2CD4-46FF-B008-28E5816628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95" name="Line 228">
              <a:extLst>
                <a:ext uri="{FF2B5EF4-FFF2-40B4-BE49-F238E27FC236}">
                  <a16:creationId xmlns:a16="http://schemas.microsoft.com/office/drawing/2014/main" id="{A50D3547-49A1-4F68-A9F0-062731658A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4903" name="Line 229">
            <a:extLst>
              <a:ext uri="{FF2B5EF4-FFF2-40B4-BE49-F238E27FC236}">
                <a16:creationId xmlns:a16="http://schemas.microsoft.com/office/drawing/2014/main" id="{90CB6F3D-E14C-4D86-8832-D0EB97F8260F}"/>
              </a:ext>
            </a:extLst>
          </p:cNvPr>
          <p:cNvSpPr>
            <a:spLocks noChangeShapeType="1"/>
          </p:cNvSpPr>
          <p:nvPr/>
        </p:nvSpPr>
        <p:spPr bwMode="auto">
          <a:xfrm>
            <a:off x="4845050" y="3995738"/>
            <a:ext cx="339725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4904" name="Freeform 230">
            <a:extLst>
              <a:ext uri="{FF2B5EF4-FFF2-40B4-BE49-F238E27FC236}">
                <a16:creationId xmlns:a16="http://schemas.microsoft.com/office/drawing/2014/main" id="{A9EDCFEE-DF0D-4718-B806-E8F447E20022}"/>
              </a:ext>
            </a:extLst>
          </p:cNvPr>
          <p:cNvSpPr>
            <a:spLocks/>
          </p:cNvSpPr>
          <p:nvPr/>
        </p:nvSpPr>
        <p:spPr bwMode="auto">
          <a:xfrm>
            <a:off x="1663700" y="4843463"/>
            <a:ext cx="4854575" cy="1228725"/>
          </a:xfrm>
          <a:custGeom>
            <a:avLst/>
            <a:gdLst>
              <a:gd name="T0" fmla="*/ 0 w 6225"/>
              <a:gd name="T1" fmla="*/ 0 h 1501"/>
              <a:gd name="T2" fmla="*/ 0 w 6225"/>
              <a:gd name="T3" fmla="*/ 2147483646 h 1501"/>
              <a:gd name="T4" fmla="*/ 2147483646 w 6225"/>
              <a:gd name="T5" fmla="*/ 2147483646 h 1501"/>
              <a:gd name="T6" fmla="*/ 2147483646 w 6225"/>
              <a:gd name="T7" fmla="*/ 2147483646 h 1501"/>
              <a:gd name="T8" fmla="*/ 2147483646 w 6225"/>
              <a:gd name="T9" fmla="*/ 2147483646 h 1501"/>
              <a:gd name="T10" fmla="*/ 2147483646 w 6225"/>
              <a:gd name="T11" fmla="*/ 2147483646 h 1501"/>
              <a:gd name="T12" fmla="*/ 2147483646 w 6225"/>
              <a:gd name="T13" fmla="*/ 2147483646 h 1501"/>
              <a:gd name="T14" fmla="*/ 2147483646 w 6225"/>
              <a:gd name="T15" fmla="*/ 2147483646 h 1501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6225"/>
              <a:gd name="T25" fmla="*/ 0 h 1501"/>
              <a:gd name="T26" fmla="*/ 6225 w 6225"/>
              <a:gd name="T27" fmla="*/ 1501 h 1501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6225" h="1501">
                <a:moveTo>
                  <a:pt x="0" y="0"/>
                </a:moveTo>
                <a:lnTo>
                  <a:pt x="0" y="1486"/>
                </a:lnTo>
                <a:lnTo>
                  <a:pt x="1005" y="1501"/>
                </a:lnTo>
                <a:lnTo>
                  <a:pt x="1860" y="706"/>
                </a:lnTo>
                <a:lnTo>
                  <a:pt x="5085" y="721"/>
                </a:lnTo>
                <a:lnTo>
                  <a:pt x="4305" y="1456"/>
                </a:lnTo>
                <a:lnTo>
                  <a:pt x="6225" y="1456"/>
                </a:lnTo>
                <a:lnTo>
                  <a:pt x="6220" y="391"/>
                </a:lnTo>
              </a:path>
            </a:pathLst>
          </a:custGeom>
          <a:noFill/>
          <a:ln w="38100" cmpd="sng">
            <a:solidFill>
              <a:srgbClr val="80808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4905" name="Freeform 231">
            <a:extLst>
              <a:ext uri="{FF2B5EF4-FFF2-40B4-BE49-F238E27FC236}">
                <a16:creationId xmlns:a16="http://schemas.microsoft.com/office/drawing/2014/main" id="{0A600B46-FAD6-48B4-BD7B-3E3745A35392}"/>
              </a:ext>
            </a:extLst>
          </p:cNvPr>
          <p:cNvSpPr>
            <a:spLocks/>
          </p:cNvSpPr>
          <p:nvPr/>
        </p:nvSpPr>
        <p:spPr bwMode="auto">
          <a:xfrm>
            <a:off x="2822575" y="3676650"/>
            <a:ext cx="4210050" cy="1646238"/>
          </a:xfrm>
          <a:custGeom>
            <a:avLst/>
            <a:gdLst>
              <a:gd name="T0" fmla="*/ 0 w 5400"/>
              <a:gd name="T1" fmla="*/ 0 h 2010"/>
              <a:gd name="T2" fmla="*/ 0 w 5400"/>
              <a:gd name="T3" fmla="*/ 2147483646 h 2010"/>
              <a:gd name="T4" fmla="*/ 2147483646 w 5400"/>
              <a:gd name="T5" fmla="*/ 2147483646 h 2010"/>
              <a:gd name="T6" fmla="*/ 2147483646 w 5400"/>
              <a:gd name="T7" fmla="*/ 2147483646 h 2010"/>
              <a:gd name="T8" fmla="*/ 2147483646 w 5400"/>
              <a:gd name="T9" fmla="*/ 2147483646 h 2010"/>
              <a:gd name="T10" fmla="*/ 2147483646 w 5400"/>
              <a:gd name="T11" fmla="*/ 2147483646 h 2010"/>
              <a:gd name="T12" fmla="*/ 2147483646 w 5400"/>
              <a:gd name="T13" fmla="*/ 2147483646 h 2010"/>
              <a:gd name="T14" fmla="*/ 2147483646 w 5400"/>
              <a:gd name="T15" fmla="*/ 2147483646 h 201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400"/>
              <a:gd name="T25" fmla="*/ 0 h 2010"/>
              <a:gd name="T26" fmla="*/ 5400 w 5400"/>
              <a:gd name="T27" fmla="*/ 2010 h 201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400" h="2010">
                <a:moveTo>
                  <a:pt x="0" y="0"/>
                </a:moveTo>
                <a:lnTo>
                  <a:pt x="0" y="1485"/>
                </a:lnTo>
                <a:lnTo>
                  <a:pt x="1005" y="1500"/>
                </a:lnTo>
                <a:lnTo>
                  <a:pt x="540" y="2010"/>
                </a:lnTo>
                <a:lnTo>
                  <a:pt x="3615" y="2010"/>
                </a:lnTo>
                <a:lnTo>
                  <a:pt x="4350" y="1275"/>
                </a:lnTo>
                <a:lnTo>
                  <a:pt x="5400" y="1290"/>
                </a:lnTo>
                <a:lnTo>
                  <a:pt x="5400" y="120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4906" name="Oval 232">
            <a:extLst>
              <a:ext uri="{FF2B5EF4-FFF2-40B4-BE49-F238E27FC236}">
                <a16:creationId xmlns:a16="http://schemas.microsoft.com/office/drawing/2014/main" id="{FF511E5E-373A-40D9-930D-A28059268B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849688"/>
            <a:ext cx="112712" cy="115887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4907" name="Text Box 233">
            <a:extLst>
              <a:ext uri="{FF2B5EF4-FFF2-40B4-BE49-F238E27FC236}">
                <a16:creationId xmlns:a16="http://schemas.microsoft.com/office/drawing/2014/main" id="{E638BC32-A05A-4D61-9B42-EB7946F1F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1200" y="3756025"/>
            <a:ext cx="2349500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>
                <a:solidFill>
                  <a:srgbClr val="FF0000"/>
                </a:solidFill>
                <a:latin typeface="Arial" panose="020B0604020202020204" pitchFamily="34" charset="0"/>
              </a:rPr>
              <a:t>'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:</a:t>
            </a:r>
            <a:r>
              <a:rPr lang="en-US" altLang="zh-TW" sz="140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original data, </a:t>
            </a:r>
            <a:r>
              <a:rPr lang="en-US" altLang="zh-TW" sz="1600" i="1">
                <a:solidFill>
                  <a:srgbClr val="FF0000"/>
                </a:solidFill>
                <a:latin typeface="Arial" panose="020B0604020202020204" pitchFamily="34" charset="0"/>
              </a:rPr>
              <a:t>plus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 retransmitted data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4908" name="Line 234">
            <a:extLst>
              <a:ext uri="{FF2B5EF4-FFF2-40B4-BE49-F238E27FC236}">
                <a16:creationId xmlns:a16="http://schemas.microsoft.com/office/drawing/2014/main" id="{A847E125-04C4-4C02-814E-0BCCC76472B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9888" y="3916363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4909" name="Line 235">
            <a:extLst>
              <a:ext uri="{FF2B5EF4-FFF2-40B4-BE49-F238E27FC236}">
                <a16:creationId xmlns:a16="http://schemas.microsoft.com/office/drawing/2014/main" id="{E9ABD869-1552-4E21-BDF1-ACAEB2268A03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3683000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4910" name="Line 236">
            <a:extLst>
              <a:ext uri="{FF2B5EF4-FFF2-40B4-BE49-F238E27FC236}">
                <a16:creationId xmlns:a16="http://schemas.microsoft.com/office/drawing/2014/main" id="{D20470E1-3659-4169-B9E7-05926DDC70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763" y="3835400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55569" name="Rectangle 241">
            <a:extLst>
              <a:ext uri="{FF2B5EF4-FFF2-40B4-BE49-F238E27FC236}">
                <a16:creationId xmlns:a16="http://schemas.microsoft.com/office/drawing/2014/main" id="{EE88FA1B-6E6B-45AF-B1D4-80186DCFA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1450" y="3590925"/>
            <a:ext cx="244475" cy="155575"/>
          </a:xfrm>
          <a:prstGeom prst="rect">
            <a:avLst/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355570" name="Rectangle 242">
            <a:extLst>
              <a:ext uri="{FF2B5EF4-FFF2-40B4-BE49-F238E27FC236}">
                <a16:creationId xmlns:a16="http://schemas.microsoft.com/office/drawing/2014/main" id="{3DD58C07-400D-4487-A6B9-26ADB0AC2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0" y="3824288"/>
            <a:ext cx="244475" cy="155575"/>
          </a:xfrm>
          <a:prstGeom prst="rect">
            <a:avLst/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355571" name="Text Box 243">
            <a:extLst>
              <a:ext uri="{FF2B5EF4-FFF2-40B4-BE49-F238E27FC236}">
                <a16:creationId xmlns:a16="http://schemas.microsoft.com/office/drawing/2014/main" id="{F3180947-0C63-47E6-836C-744DE8C278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7363" y="3714750"/>
            <a:ext cx="6127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6600"/>
                </a:solidFill>
                <a:latin typeface="Arial" panose="020B0604020202020204" pitchFamily="34" charset="0"/>
              </a:rPr>
              <a:t>copy</a:t>
            </a:r>
          </a:p>
        </p:txBody>
      </p:sp>
      <p:sp>
        <p:nvSpPr>
          <p:cNvPr id="355587" name="Text Box 259">
            <a:extLst>
              <a:ext uri="{FF2B5EF4-FFF2-40B4-BE49-F238E27FC236}">
                <a16:creationId xmlns:a16="http://schemas.microsoft.com/office/drawing/2014/main" id="{444EC49B-5652-4D93-B553-33DBEBAB3A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2688" y="4783138"/>
            <a:ext cx="17684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6600"/>
                </a:solidFill>
                <a:latin typeface="Arial" panose="020B0604020202020204" pitchFamily="34" charset="0"/>
              </a:rPr>
              <a:t>free buffer space!</a:t>
            </a:r>
          </a:p>
        </p:txBody>
      </p:sp>
      <p:pic>
        <p:nvPicPr>
          <p:cNvPr id="164915" name="Picture 293" descr="underline_base">
            <a:extLst>
              <a:ext uri="{FF2B5EF4-FFF2-40B4-BE49-F238E27FC236}">
                <a16:creationId xmlns:a16="http://schemas.microsoft.com/office/drawing/2014/main" id="{C3853AEF-13E2-4B43-B6F2-6F2659D914CD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0165" name="Rectangle 294">
            <a:extLst>
              <a:ext uri="{FF2B5EF4-FFF2-40B4-BE49-F238E27FC236}">
                <a16:creationId xmlns:a16="http://schemas.microsoft.com/office/drawing/2014/main" id="{D6B8D2F9-2A69-47D6-B7D0-905FCBB7BC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2a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sp>
        <p:nvSpPr>
          <p:cNvPr id="164917" name="Text Box 308">
            <a:extLst>
              <a:ext uri="{FF2B5EF4-FFF2-40B4-BE49-F238E27FC236}">
                <a16:creationId xmlns:a16="http://schemas.microsoft.com/office/drawing/2014/main" id="{582AA0C9-8A98-45CB-A98B-AC2A974C17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073775"/>
            <a:ext cx="8778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Host B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4918" name="Text Box 309">
            <a:extLst>
              <a:ext uri="{FF2B5EF4-FFF2-40B4-BE49-F238E27FC236}">
                <a16:creationId xmlns:a16="http://schemas.microsoft.com/office/drawing/2014/main" id="{FD0D00E9-05F4-4891-A95D-C9F0DDA43C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8700" y="4705350"/>
            <a:ext cx="8524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grpSp>
        <p:nvGrpSpPr>
          <p:cNvPr id="164919" name="Group 310">
            <a:extLst>
              <a:ext uri="{FF2B5EF4-FFF2-40B4-BE49-F238E27FC236}">
                <a16:creationId xmlns:a16="http://schemas.microsoft.com/office/drawing/2014/main" id="{3B59B59A-FEA7-40D8-B33A-6F0353A49865}"/>
              </a:ext>
            </a:extLst>
          </p:cNvPr>
          <p:cNvGrpSpPr>
            <a:grpSpLocks/>
          </p:cNvGrpSpPr>
          <p:nvPr/>
        </p:nvGrpSpPr>
        <p:grpSpPr bwMode="auto">
          <a:xfrm>
            <a:off x="7553325" y="4564063"/>
            <a:ext cx="231775" cy="441325"/>
            <a:chOff x="4140" y="429"/>
            <a:chExt cx="1425" cy="2396"/>
          </a:xfrm>
        </p:grpSpPr>
        <p:sp>
          <p:nvSpPr>
            <p:cNvPr id="164957" name="Freeform 311">
              <a:extLst>
                <a:ext uri="{FF2B5EF4-FFF2-40B4-BE49-F238E27FC236}">
                  <a16:creationId xmlns:a16="http://schemas.microsoft.com/office/drawing/2014/main" id="{8576E53D-E6A1-4E18-9888-5CE9AFEB62A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58" name="Rectangle 312">
              <a:extLst>
                <a:ext uri="{FF2B5EF4-FFF2-40B4-BE49-F238E27FC236}">
                  <a16:creationId xmlns:a16="http://schemas.microsoft.com/office/drawing/2014/main" id="{E3F26A65-A82F-4C2A-9A2A-9E0564382D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59" name="Freeform 313">
              <a:extLst>
                <a:ext uri="{FF2B5EF4-FFF2-40B4-BE49-F238E27FC236}">
                  <a16:creationId xmlns:a16="http://schemas.microsoft.com/office/drawing/2014/main" id="{A513C8D2-40D8-4ADB-8375-EA05130E3C6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60" name="Freeform 314">
              <a:extLst>
                <a:ext uri="{FF2B5EF4-FFF2-40B4-BE49-F238E27FC236}">
                  <a16:creationId xmlns:a16="http://schemas.microsoft.com/office/drawing/2014/main" id="{1645EB8F-CD58-43E8-8645-C7655C4A20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61" name="Rectangle 315">
              <a:extLst>
                <a:ext uri="{FF2B5EF4-FFF2-40B4-BE49-F238E27FC236}">
                  <a16:creationId xmlns:a16="http://schemas.microsoft.com/office/drawing/2014/main" id="{C087531D-8FE5-49D5-BABE-D659427A69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4962" name="Group 316">
              <a:extLst>
                <a:ext uri="{FF2B5EF4-FFF2-40B4-BE49-F238E27FC236}">
                  <a16:creationId xmlns:a16="http://schemas.microsoft.com/office/drawing/2014/main" id="{58786DEA-AA94-4EDA-976F-39380A90D9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4987" name="AutoShape 317">
                <a:extLst>
                  <a:ext uri="{FF2B5EF4-FFF2-40B4-BE49-F238E27FC236}">
                    <a16:creationId xmlns:a16="http://schemas.microsoft.com/office/drawing/2014/main" id="{B12296C9-F9B9-4AE2-A850-DF0E32C8FF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4988" name="AutoShape 318">
                <a:extLst>
                  <a:ext uri="{FF2B5EF4-FFF2-40B4-BE49-F238E27FC236}">
                    <a16:creationId xmlns:a16="http://schemas.microsoft.com/office/drawing/2014/main" id="{1EBB10FC-B3FD-46A9-B417-0EF963FF7C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963" name="Rectangle 319">
              <a:extLst>
                <a:ext uri="{FF2B5EF4-FFF2-40B4-BE49-F238E27FC236}">
                  <a16:creationId xmlns:a16="http://schemas.microsoft.com/office/drawing/2014/main" id="{727D28EE-784B-46A0-87A8-3E63592846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4964" name="Group 320">
              <a:extLst>
                <a:ext uri="{FF2B5EF4-FFF2-40B4-BE49-F238E27FC236}">
                  <a16:creationId xmlns:a16="http://schemas.microsoft.com/office/drawing/2014/main" id="{86CE85A7-B874-481C-82F7-A37EAA9CC1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4985" name="AutoShape 321">
                <a:extLst>
                  <a:ext uri="{FF2B5EF4-FFF2-40B4-BE49-F238E27FC236}">
                    <a16:creationId xmlns:a16="http://schemas.microsoft.com/office/drawing/2014/main" id="{D8B328B2-2688-4289-A12C-97CAC9AA71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4986" name="AutoShape 322">
                <a:extLst>
                  <a:ext uri="{FF2B5EF4-FFF2-40B4-BE49-F238E27FC236}">
                    <a16:creationId xmlns:a16="http://schemas.microsoft.com/office/drawing/2014/main" id="{30C21590-E808-40B1-B976-9C49298AE5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965" name="Rectangle 323">
              <a:extLst>
                <a:ext uri="{FF2B5EF4-FFF2-40B4-BE49-F238E27FC236}">
                  <a16:creationId xmlns:a16="http://schemas.microsoft.com/office/drawing/2014/main" id="{242C026E-4E0B-4560-9892-0954BF36D0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66" name="Rectangle 324">
              <a:extLst>
                <a:ext uri="{FF2B5EF4-FFF2-40B4-BE49-F238E27FC236}">
                  <a16:creationId xmlns:a16="http://schemas.microsoft.com/office/drawing/2014/main" id="{031CB57A-B7D1-42F1-BF68-E46229F309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4967" name="Group 325">
              <a:extLst>
                <a:ext uri="{FF2B5EF4-FFF2-40B4-BE49-F238E27FC236}">
                  <a16:creationId xmlns:a16="http://schemas.microsoft.com/office/drawing/2014/main" id="{BAD53E3A-6B66-4686-B56B-6687A42736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4983" name="AutoShape 326">
                <a:extLst>
                  <a:ext uri="{FF2B5EF4-FFF2-40B4-BE49-F238E27FC236}">
                    <a16:creationId xmlns:a16="http://schemas.microsoft.com/office/drawing/2014/main" id="{210C5DFC-9369-49BC-B796-19895436C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4984" name="AutoShape 327">
                <a:extLst>
                  <a:ext uri="{FF2B5EF4-FFF2-40B4-BE49-F238E27FC236}">
                    <a16:creationId xmlns:a16="http://schemas.microsoft.com/office/drawing/2014/main" id="{AD9A36FF-20AE-487A-A0CD-5CF3BA83A2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968" name="Freeform 328">
              <a:extLst>
                <a:ext uri="{FF2B5EF4-FFF2-40B4-BE49-F238E27FC236}">
                  <a16:creationId xmlns:a16="http://schemas.microsoft.com/office/drawing/2014/main" id="{F48D8510-93DA-4060-B33A-CBE9AFD87CB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4969" name="Group 329">
              <a:extLst>
                <a:ext uri="{FF2B5EF4-FFF2-40B4-BE49-F238E27FC236}">
                  <a16:creationId xmlns:a16="http://schemas.microsoft.com/office/drawing/2014/main" id="{E6A56FD2-345E-407A-BC64-914E10D555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4981" name="AutoShape 330">
                <a:extLst>
                  <a:ext uri="{FF2B5EF4-FFF2-40B4-BE49-F238E27FC236}">
                    <a16:creationId xmlns:a16="http://schemas.microsoft.com/office/drawing/2014/main" id="{6DA80CC2-39EA-4010-B79C-5E2E0121E8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4982" name="AutoShape 331">
                <a:extLst>
                  <a:ext uri="{FF2B5EF4-FFF2-40B4-BE49-F238E27FC236}">
                    <a16:creationId xmlns:a16="http://schemas.microsoft.com/office/drawing/2014/main" id="{EE5B22AF-8254-472B-A5D6-14C768A3AD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970" name="Rectangle 332">
              <a:extLst>
                <a:ext uri="{FF2B5EF4-FFF2-40B4-BE49-F238E27FC236}">
                  <a16:creationId xmlns:a16="http://schemas.microsoft.com/office/drawing/2014/main" id="{19CE2368-054E-4F38-93E2-DEE68000F5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71" name="Freeform 333">
              <a:extLst>
                <a:ext uri="{FF2B5EF4-FFF2-40B4-BE49-F238E27FC236}">
                  <a16:creationId xmlns:a16="http://schemas.microsoft.com/office/drawing/2014/main" id="{B4280C91-76F3-4D02-A016-91EB78D26C4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72" name="Freeform 334">
              <a:extLst>
                <a:ext uri="{FF2B5EF4-FFF2-40B4-BE49-F238E27FC236}">
                  <a16:creationId xmlns:a16="http://schemas.microsoft.com/office/drawing/2014/main" id="{8F119890-A79A-4D59-91A9-6AA92262CD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73" name="Oval 335">
              <a:extLst>
                <a:ext uri="{FF2B5EF4-FFF2-40B4-BE49-F238E27FC236}">
                  <a16:creationId xmlns:a16="http://schemas.microsoft.com/office/drawing/2014/main" id="{E3E83D1D-A37A-4E84-AB0B-BBE924302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74" name="Freeform 336">
              <a:extLst>
                <a:ext uri="{FF2B5EF4-FFF2-40B4-BE49-F238E27FC236}">
                  <a16:creationId xmlns:a16="http://schemas.microsoft.com/office/drawing/2014/main" id="{21C82340-54EF-4E04-AE7D-9408646D7F5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75" name="AutoShape 337">
              <a:extLst>
                <a:ext uri="{FF2B5EF4-FFF2-40B4-BE49-F238E27FC236}">
                  <a16:creationId xmlns:a16="http://schemas.microsoft.com/office/drawing/2014/main" id="{17952FF6-6319-4DE6-9933-E9DF4D5F37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76" name="AutoShape 338">
              <a:extLst>
                <a:ext uri="{FF2B5EF4-FFF2-40B4-BE49-F238E27FC236}">
                  <a16:creationId xmlns:a16="http://schemas.microsoft.com/office/drawing/2014/main" id="{EAA4869C-B1CD-4AB2-9D70-F65EAC726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77" name="Oval 339">
              <a:extLst>
                <a:ext uri="{FF2B5EF4-FFF2-40B4-BE49-F238E27FC236}">
                  <a16:creationId xmlns:a16="http://schemas.microsoft.com/office/drawing/2014/main" id="{BEF2CB11-0F4E-49B1-827C-813A21ABEC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78" name="Oval 340">
              <a:extLst>
                <a:ext uri="{FF2B5EF4-FFF2-40B4-BE49-F238E27FC236}">
                  <a16:creationId xmlns:a16="http://schemas.microsoft.com/office/drawing/2014/main" id="{36099CC7-2A59-42EC-8225-D53FA5AAC7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4979" name="Oval 341">
              <a:extLst>
                <a:ext uri="{FF2B5EF4-FFF2-40B4-BE49-F238E27FC236}">
                  <a16:creationId xmlns:a16="http://schemas.microsoft.com/office/drawing/2014/main" id="{59D2EF51-7F6E-4115-AFE8-BBA9007234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80" name="Rectangle 342">
              <a:extLst>
                <a:ext uri="{FF2B5EF4-FFF2-40B4-BE49-F238E27FC236}">
                  <a16:creationId xmlns:a16="http://schemas.microsoft.com/office/drawing/2014/main" id="{15615EB1-48D8-4C50-B25F-6195721EA9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4920" name="Group 343">
            <a:extLst>
              <a:ext uri="{FF2B5EF4-FFF2-40B4-BE49-F238E27FC236}">
                <a16:creationId xmlns:a16="http://schemas.microsoft.com/office/drawing/2014/main" id="{6AF821E5-35F5-4755-BDD0-ABCE34CC3E98}"/>
              </a:ext>
            </a:extLst>
          </p:cNvPr>
          <p:cNvGrpSpPr>
            <a:grpSpLocks/>
          </p:cNvGrpSpPr>
          <p:nvPr/>
        </p:nvGrpSpPr>
        <p:grpSpPr bwMode="auto">
          <a:xfrm>
            <a:off x="7135813" y="5867400"/>
            <a:ext cx="231775" cy="441325"/>
            <a:chOff x="4140" y="429"/>
            <a:chExt cx="1425" cy="2396"/>
          </a:xfrm>
        </p:grpSpPr>
        <p:sp>
          <p:nvSpPr>
            <p:cNvPr id="164925" name="Freeform 344">
              <a:extLst>
                <a:ext uri="{FF2B5EF4-FFF2-40B4-BE49-F238E27FC236}">
                  <a16:creationId xmlns:a16="http://schemas.microsoft.com/office/drawing/2014/main" id="{B05B3A5C-DCAC-46D3-9DD8-4730C2A45C9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26" name="Rectangle 345">
              <a:extLst>
                <a:ext uri="{FF2B5EF4-FFF2-40B4-BE49-F238E27FC236}">
                  <a16:creationId xmlns:a16="http://schemas.microsoft.com/office/drawing/2014/main" id="{25184765-B7CF-4814-8A01-34520E682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27" name="Freeform 346">
              <a:extLst>
                <a:ext uri="{FF2B5EF4-FFF2-40B4-BE49-F238E27FC236}">
                  <a16:creationId xmlns:a16="http://schemas.microsoft.com/office/drawing/2014/main" id="{314019C6-9041-4658-A507-6E44E86585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28" name="Freeform 347">
              <a:extLst>
                <a:ext uri="{FF2B5EF4-FFF2-40B4-BE49-F238E27FC236}">
                  <a16:creationId xmlns:a16="http://schemas.microsoft.com/office/drawing/2014/main" id="{989E243B-AD7B-4185-8F7A-394A4488523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29" name="Rectangle 348">
              <a:extLst>
                <a:ext uri="{FF2B5EF4-FFF2-40B4-BE49-F238E27FC236}">
                  <a16:creationId xmlns:a16="http://schemas.microsoft.com/office/drawing/2014/main" id="{0A22AFDD-4731-4EF8-BFA6-00A6DC87DC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4930" name="Group 349">
              <a:extLst>
                <a:ext uri="{FF2B5EF4-FFF2-40B4-BE49-F238E27FC236}">
                  <a16:creationId xmlns:a16="http://schemas.microsoft.com/office/drawing/2014/main" id="{CDD2FD0F-1688-4B7B-8F6A-D698EA3276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4955" name="AutoShape 350">
                <a:extLst>
                  <a:ext uri="{FF2B5EF4-FFF2-40B4-BE49-F238E27FC236}">
                    <a16:creationId xmlns:a16="http://schemas.microsoft.com/office/drawing/2014/main" id="{E41857B2-AB7E-44CF-9585-A3EF3B64A7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4956" name="AutoShape 351">
                <a:extLst>
                  <a:ext uri="{FF2B5EF4-FFF2-40B4-BE49-F238E27FC236}">
                    <a16:creationId xmlns:a16="http://schemas.microsoft.com/office/drawing/2014/main" id="{D1685004-6B7C-4444-B5D9-4C3E017BFB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931" name="Rectangle 352">
              <a:extLst>
                <a:ext uri="{FF2B5EF4-FFF2-40B4-BE49-F238E27FC236}">
                  <a16:creationId xmlns:a16="http://schemas.microsoft.com/office/drawing/2014/main" id="{CAF2BF2E-9AD8-4171-8057-1BA9DDE427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4932" name="Group 353">
              <a:extLst>
                <a:ext uri="{FF2B5EF4-FFF2-40B4-BE49-F238E27FC236}">
                  <a16:creationId xmlns:a16="http://schemas.microsoft.com/office/drawing/2014/main" id="{178A782E-A120-4A7C-81F2-28A7DAF7DB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4953" name="AutoShape 354">
                <a:extLst>
                  <a:ext uri="{FF2B5EF4-FFF2-40B4-BE49-F238E27FC236}">
                    <a16:creationId xmlns:a16="http://schemas.microsoft.com/office/drawing/2014/main" id="{04641502-DA69-4CC9-8686-8AC9DF66C3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4954" name="AutoShape 355">
                <a:extLst>
                  <a:ext uri="{FF2B5EF4-FFF2-40B4-BE49-F238E27FC236}">
                    <a16:creationId xmlns:a16="http://schemas.microsoft.com/office/drawing/2014/main" id="{8EB29C63-E2EE-4129-8B45-4E56725346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933" name="Rectangle 356">
              <a:extLst>
                <a:ext uri="{FF2B5EF4-FFF2-40B4-BE49-F238E27FC236}">
                  <a16:creationId xmlns:a16="http://schemas.microsoft.com/office/drawing/2014/main" id="{98FE0F75-BBB0-4901-ADD4-C7F9BB1525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34" name="Rectangle 357">
              <a:extLst>
                <a:ext uri="{FF2B5EF4-FFF2-40B4-BE49-F238E27FC236}">
                  <a16:creationId xmlns:a16="http://schemas.microsoft.com/office/drawing/2014/main" id="{DF5440CD-B487-4DB9-A368-B9B898F1E2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4935" name="Group 358">
              <a:extLst>
                <a:ext uri="{FF2B5EF4-FFF2-40B4-BE49-F238E27FC236}">
                  <a16:creationId xmlns:a16="http://schemas.microsoft.com/office/drawing/2014/main" id="{32788DE5-9487-4F0D-BD57-53404A45D6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4951" name="AutoShape 359">
                <a:extLst>
                  <a:ext uri="{FF2B5EF4-FFF2-40B4-BE49-F238E27FC236}">
                    <a16:creationId xmlns:a16="http://schemas.microsoft.com/office/drawing/2014/main" id="{F4986BA5-CC07-4E35-A1B2-151A1A65D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4952" name="AutoShape 360">
                <a:extLst>
                  <a:ext uri="{FF2B5EF4-FFF2-40B4-BE49-F238E27FC236}">
                    <a16:creationId xmlns:a16="http://schemas.microsoft.com/office/drawing/2014/main" id="{B2DEE159-01B4-4D6E-BF94-A11A80F0B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936" name="Freeform 361">
              <a:extLst>
                <a:ext uri="{FF2B5EF4-FFF2-40B4-BE49-F238E27FC236}">
                  <a16:creationId xmlns:a16="http://schemas.microsoft.com/office/drawing/2014/main" id="{73BA0459-534E-4518-A110-B7CAAA46D94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4937" name="Group 362">
              <a:extLst>
                <a:ext uri="{FF2B5EF4-FFF2-40B4-BE49-F238E27FC236}">
                  <a16:creationId xmlns:a16="http://schemas.microsoft.com/office/drawing/2014/main" id="{61FE3CC1-690B-4881-B0D7-FF2CA02A15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4949" name="AutoShape 363">
                <a:extLst>
                  <a:ext uri="{FF2B5EF4-FFF2-40B4-BE49-F238E27FC236}">
                    <a16:creationId xmlns:a16="http://schemas.microsoft.com/office/drawing/2014/main" id="{24C91177-ED31-471B-BADE-17EADAB2F1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4950" name="AutoShape 364">
                <a:extLst>
                  <a:ext uri="{FF2B5EF4-FFF2-40B4-BE49-F238E27FC236}">
                    <a16:creationId xmlns:a16="http://schemas.microsoft.com/office/drawing/2014/main" id="{2C9A832E-AAB9-4A04-9B0C-2CF2EEC28A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4938" name="Rectangle 365">
              <a:extLst>
                <a:ext uri="{FF2B5EF4-FFF2-40B4-BE49-F238E27FC236}">
                  <a16:creationId xmlns:a16="http://schemas.microsoft.com/office/drawing/2014/main" id="{E7B0417E-827B-44F0-9EE5-69F22F0E12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39" name="Freeform 366">
              <a:extLst>
                <a:ext uri="{FF2B5EF4-FFF2-40B4-BE49-F238E27FC236}">
                  <a16:creationId xmlns:a16="http://schemas.microsoft.com/office/drawing/2014/main" id="{E9D1379A-E6DA-4298-80F0-506A2F065C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40" name="Freeform 367">
              <a:extLst>
                <a:ext uri="{FF2B5EF4-FFF2-40B4-BE49-F238E27FC236}">
                  <a16:creationId xmlns:a16="http://schemas.microsoft.com/office/drawing/2014/main" id="{3C5C3937-8F16-4DD7-AA9E-355652C700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41" name="Oval 368">
              <a:extLst>
                <a:ext uri="{FF2B5EF4-FFF2-40B4-BE49-F238E27FC236}">
                  <a16:creationId xmlns:a16="http://schemas.microsoft.com/office/drawing/2014/main" id="{06E90912-A19D-4E01-8BA5-300C33112B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42" name="Freeform 369">
              <a:extLst>
                <a:ext uri="{FF2B5EF4-FFF2-40B4-BE49-F238E27FC236}">
                  <a16:creationId xmlns:a16="http://schemas.microsoft.com/office/drawing/2014/main" id="{D7234831-2A6B-4A9A-BC66-938D050344D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4943" name="AutoShape 370">
              <a:extLst>
                <a:ext uri="{FF2B5EF4-FFF2-40B4-BE49-F238E27FC236}">
                  <a16:creationId xmlns:a16="http://schemas.microsoft.com/office/drawing/2014/main" id="{904390D3-7B9D-4CF3-91BA-B721B5DD51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44" name="AutoShape 371">
              <a:extLst>
                <a:ext uri="{FF2B5EF4-FFF2-40B4-BE49-F238E27FC236}">
                  <a16:creationId xmlns:a16="http://schemas.microsoft.com/office/drawing/2014/main" id="{03995EE6-DB00-4702-AEA1-CD92CA41D4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45" name="Oval 372">
              <a:extLst>
                <a:ext uri="{FF2B5EF4-FFF2-40B4-BE49-F238E27FC236}">
                  <a16:creationId xmlns:a16="http://schemas.microsoft.com/office/drawing/2014/main" id="{2744CB10-4AC9-4563-BA4D-A652714D06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46" name="Oval 373">
              <a:extLst>
                <a:ext uri="{FF2B5EF4-FFF2-40B4-BE49-F238E27FC236}">
                  <a16:creationId xmlns:a16="http://schemas.microsoft.com/office/drawing/2014/main" id="{A62B9932-E5B9-4D55-8F97-BF990AC994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4947" name="Oval 374">
              <a:extLst>
                <a:ext uri="{FF2B5EF4-FFF2-40B4-BE49-F238E27FC236}">
                  <a16:creationId xmlns:a16="http://schemas.microsoft.com/office/drawing/2014/main" id="{5D3A0D0F-2C00-42C5-A692-E3588EAC9A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4948" name="Rectangle 375">
              <a:extLst>
                <a:ext uri="{FF2B5EF4-FFF2-40B4-BE49-F238E27FC236}">
                  <a16:creationId xmlns:a16="http://schemas.microsoft.com/office/drawing/2014/main" id="{AA96F98C-90BC-4A38-9719-C11245CD71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4921" name="Group 377">
            <a:extLst>
              <a:ext uri="{FF2B5EF4-FFF2-40B4-BE49-F238E27FC236}">
                <a16:creationId xmlns:a16="http://schemas.microsoft.com/office/drawing/2014/main" id="{CA333BDC-2A9A-4586-92D5-93427D7C888E}"/>
              </a:ext>
            </a:extLst>
          </p:cNvPr>
          <p:cNvGrpSpPr>
            <a:grpSpLocks/>
          </p:cNvGrpSpPr>
          <p:nvPr/>
        </p:nvGrpSpPr>
        <p:grpSpPr bwMode="auto">
          <a:xfrm>
            <a:off x="661988" y="5605463"/>
            <a:ext cx="525462" cy="434975"/>
            <a:chOff x="-44" y="1473"/>
            <a:chExt cx="981" cy="1105"/>
          </a:xfrm>
        </p:grpSpPr>
        <p:pic>
          <p:nvPicPr>
            <p:cNvPr id="164923" name="Picture 378" descr="desktop_computer_stylized_medium">
              <a:extLst>
                <a:ext uri="{FF2B5EF4-FFF2-40B4-BE49-F238E27FC236}">
                  <a16:creationId xmlns:a16="http://schemas.microsoft.com/office/drawing/2014/main" id="{500A9789-4388-42B8-9365-5703665651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924" name="Freeform 379">
              <a:extLst>
                <a:ext uri="{FF2B5EF4-FFF2-40B4-BE49-F238E27FC236}">
                  <a16:creationId xmlns:a16="http://schemas.microsoft.com/office/drawing/2014/main" id="{8684578A-4917-494C-9EA0-15057C83845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164922" name="Picture 2">
            <a:extLst>
              <a:ext uri="{FF2B5EF4-FFF2-40B4-BE49-F238E27FC236}">
                <a16:creationId xmlns:a16="http://schemas.microsoft.com/office/drawing/2014/main" id="{1E958891-D66C-4E08-AF32-AF41B5B285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8225" y="1217613"/>
            <a:ext cx="2190750" cy="203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555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7 0.00255 L -5.55556E-7 0.0354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3555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6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3555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555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9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0.03542 L 0.0007 0.17802 L 0.08681 0.17894 L 0.04723 0.24191 L 0.19584 0.24191 " pathEditMode="relative" ptsTypes="AAAAA">
                                      <p:cBhvr>
                                        <p:cTn id="20" dur="2000" fill="hold"/>
                                        <p:tgtEl>
                                          <p:spTgt spid="3555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2" dur="500"/>
                                        <p:tgtEl>
                                          <p:spTgt spid="3555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5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555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5500"/>
                            </p:stCondLst>
                            <p:childTnLst>
                              <p:par>
                                <p:cTn id="29" presetID="0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583 0.2419 L 0.23889 0.24214 " pathEditMode="relative" ptsTypes="AA">
                                      <p:cBhvr>
                                        <p:cTn id="30" dur="3000" fill="hold"/>
                                        <p:tgtEl>
                                          <p:spTgt spid="3555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8500"/>
                            </p:stCondLst>
                            <p:childTnLst>
                              <p:par>
                                <p:cTn id="32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3" dur="500"/>
                                        <p:tgtEl>
                                          <p:spTgt spid="3555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5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9000"/>
                            </p:stCondLst>
                            <p:childTnLst>
                              <p:par>
                                <p:cTn id="36" presetID="0" presetClass="path" presetSubtype="0" accel="50000" decel="5000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3888 0.24213 L 0.30624 0.24213 L 0.37083 0.15324 L 0.46041 0.15324 L 0.45902 0.01343 " pathEditMode="relative" ptsTypes="AAAAA">
                                      <p:cBhvr>
                                        <p:cTn id="37" dur="2000" fill="hold"/>
                                        <p:tgtEl>
                                          <p:spTgt spid="3555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11000"/>
                            </p:stCondLst>
                            <p:childTnLst>
                              <p:par>
                                <p:cTn id="39" presetID="9" presetClass="exit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0" dur="500"/>
                                        <p:tgtEl>
                                          <p:spTgt spid="3555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5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3" dur="500"/>
                                        <p:tgtEl>
                                          <p:spTgt spid="355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5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5569" grpId="0" animBg="1"/>
      <p:bldP spid="355569" grpId="1" animBg="1"/>
      <p:bldP spid="355569" grpId="2" animBg="1"/>
      <p:bldP spid="355569" grpId="3" animBg="1"/>
      <p:bldP spid="355569" grpId="4" animBg="1"/>
      <p:bldP spid="355569" grpId="5" animBg="1"/>
      <p:bldP spid="355570" grpId="0" animBg="1"/>
      <p:bldP spid="355570" grpId="1" animBg="1"/>
      <p:bldP spid="355571" grpId="0"/>
      <p:bldP spid="355571" grpId="1"/>
      <p:bldP spid="355587" grpId="0"/>
      <p:bldP spid="355587" grpId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Footer Placeholder 5">
            <a:extLst>
              <a:ext uri="{FF2B5EF4-FFF2-40B4-BE49-F238E27FC236}">
                <a16:creationId xmlns:a16="http://schemas.microsoft.com/office/drawing/2014/main" id="{9AE0B9A3-BFE7-4DD3-B20E-9E00E354C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5891" name="Slide Number Placeholder 6">
            <a:extLst>
              <a:ext uri="{FF2B5EF4-FFF2-40B4-BE49-F238E27FC236}">
                <a16:creationId xmlns:a16="http://schemas.microsoft.com/office/drawing/2014/main" id="{043F531D-C9FA-4717-8CE0-67B6AB009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500EE02B-757A-4B37-9862-AF9ED3FC86E5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94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65892" name="Freeform 249">
            <a:extLst>
              <a:ext uri="{FF2B5EF4-FFF2-40B4-BE49-F238E27FC236}">
                <a16:creationId xmlns:a16="http://schemas.microsoft.com/office/drawing/2014/main" id="{84315547-DF4E-4641-B790-922C50CFB437}"/>
              </a:ext>
            </a:extLst>
          </p:cNvPr>
          <p:cNvSpPr>
            <a:spLocks/>
          </p:cNvSpPr>
          <p:nvPr/>
        </p:nvSpPr>
        <p:spPr bwMode="auto">
          <a:xfrm flipH="1">
            <a:off x="2111375" y="3465513"/>
            <a:ext cx="250825" cy="1201737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165893" name="Group 328">
            <a:extLst>
              <a:ext uri="{FF2B5EF4-FFF2-40B4-BE49-F238E27FC236}">
                <a16:creationId xmlns:a16="http://schemas.microsoft.com/office/drawing/2014/main" id="{AC3BEF99-F8CA-4DF3-A315-AE2447B45E2C}"/>
              </a:ext>
            </a:extLst>
          </p:cNvPr>
          <p:cNvGrpSpPr>
            <a:grpSpLocks/>
          </p:cNvGrpSpPr>
          <p:nvPr/>
        </p:nvGrpSpPr>
        <p:grpSpPr bwMode="auto">
          <a:xfrm>
            <a:off x="1716088" y="4425950"/>
            <a:ext cx="525462" cy="434975"/>
            <a:chOff x="-44" y="1473"/>
            <a:chExt cx="981" cy="1105"/>
          </a:xfrm>
        </p:grpSpPr>
        <p:pic>
          <p:nvPicPr>
            <p:cNvPr id="166045" name="Picture 329" descr="desktop_computer_stylized_medium">
              <a:extLst>
                <a:ext uri="{FF2B5EF4-FFF2-40B4-BE49-F238E27FC236}">
                  <a16:creationId xmlns:a16="http://schemas.microsoft.com/office/drawing/2014/main" id="{7C48154C-42C0-4C80-BC65-BD8EBD3BD0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6046" name="Freeform 330">
              <a:extLst>
                <a:ext uri="{FF2B5EF4-FFF2-40B4-BE49-F238E27FC236}">
                  <a16:creationId xmlns:a16="http://schemas.microsoft.com/office/drawing/2014/main" id="{930A19CA-D3B6-4F4E-A7EC-8A85D07B93A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402434" name="Picture 2" descr="garbage_can">
            <a:extLst>
              <a:ext uri="{FF2B5EF4-FFF2-40B4-BE49-F238E27FC236}">
                <a16:creationId xmlns:a16="http://schemas.microsoft.com/office/drawing/2014/main" id="{89FF8F31-C1F0-498E-9651-4DC5DC061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9913" y="5775325"/>
            <a:ext cx="487362" cy="649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5895" name="Oval 3">
            <a:extLst>
              <a:ext uri="{FF2B5EF4-FFF2-40B4-BE49-F238E27FC236}">
                <a16:creationId xmlns:a16="http://schemas.microsoft.com/office/drawing/2014/main" id="{9CD91E59-D005-4FA7-8946-8D9A06D29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48288"/>
            <a:ext cx="1304925" cy="303212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5896" name="Line 4">
            <a:extLst>
              <a:ext uri="{FF2B5EF4-FFF2-40B4-BE49-F238E27FC236}">
                <a16:creationId xmlns:a16="http://schemas.microsoft.com/office/drawing/2014/main" id="{D014BAAC-91CE-4116-88E0-4A814F15A4E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5713" y="5324475"/>
            <a:ext cx="0" cy="18732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5897" name="Line 5">
            <a:extLst>
              <a:ext uri="{FF2B5EF4-FFF2-40B4-BE49-F238E27FC236}">
                <a16:creationId xmlns:a16="http://schemas.microsoft.com/office/drawing/2014/main" id="{0074EC98-4107-499A-A203-38DDFE268267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0638" y="5324475"/>
            <a:ext cx="0" cy="187325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5898" name="Rectangle 6">
            <a:extLst>
              <a:ext uri="{FF2B5EF4-FFF2-40B4-BE49-F238E27FC236}">
                <a16:creationId xmlns:a16="http://schemas.microsoft.com/office/drawing/2014/main" id="{CE1C229E-36E3-432C-8F3E-AB07D7BD08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24475"/>
            <a:ext cx="309562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5899" name="Rectangle 7">
            <a:extLst>
              <a:ext uri="{FF2B5EF4-FFF2-40B4-BE49-F238E27FC236}">
                <a16:creationId xmlns:a16="http://schemas.microsoft.com/office/drawing/2014/main" id="{85F2EC5C-5030-4EF0-8DD4-5CBDAAA74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5350" y="5311775"/>
            <a:ext cx="395288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5900" name="Oval 8">
            <a:extLst>
              <a:ext uri="{FF2B5EF4-FFF2-40B4-BE49-F238E27FC236}">
                <a16:creationId xmlns:a16="http://schemas.microsoft.com/office/drawing/2014/main" id="{8EEAEEA2-C009-479B-8A65-ADF479EC48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0950" y="5126038"/>
            <a:ext cx="1306513" cy="352425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65901" name="Group 9">
            <a:extLst>
              <a:ext uri="{FF2B5EF4-FFF2-40B4-BE49-F238E27FC236}">
                <a16:creationId xmlns:a16="http://schemas.microsoft.com/office/drawing/2014/main" id="{1E28D06C-FDED-402C-987F-77CCA3D1B424}"/>
              </a:ext>
            </a:extLst>
          </p:cNvPr>
          <p:cNvGrpSpPr>
            <a:grpSpLocks/>
          </p:cNvGrpSpPr>
          <p:nvPr/>
        </p:nvGrpSpPr>
        <p:grpSpPr bwMode="auto">
          <a:xfrm>
            <a:off x="4097338" y="5183188"/>
            <a:ext cx="647700" cy="206375"/>
            <a:chOff x="2848" y="848"/>
            <a:chExt cx="140" cy="98"/>
          </a:xfrm>
        </p:grpSpPr>
        <p:sp>
          <p:nvSpPr>
            <p:cNvPr id="166042" name="Line 10">
              <a:extLst>
                <a:ext uri="{FF2B5EF4-FFF2-40B4-BE49-F238E27FC236}">
                  <a16:creationId xmlns:a16="http://schemas.microsoft.com/office/drawing/2014/main" id="{8559BA61-086D-41A6-9764-C12D02AFC1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6043" name="Line 11">
              <a:extLst>
                <a:ext uri="{FF2B5EF4-FFF2-40B4-BE49-F238E27FC236}">
                  <a16:creationId xmlns:a16="http://schemas.microsoft.com/office/drawing/2014/main" id="{F728275F-97C9-4CE8-B4D3-AFE3F1893C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6044" name="Line 12">
              <a:extLst>
                <a:ext uri="{FF2B5EF4-FFF2-40B4-BE49-F238E27FC236}">
                  <a16:creationId xmlns:a16="http://schemas.microsoft.com/office/drawing/2014/main" id="{5743879D-AA9B-46A6-B7DF-2965EB5C60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65902" name="Line 13">
            <a:extLst>
              <a:ext uri="{FF2B5EF4-FFF2-40B4-BE49-F238E27FC236}">
                <a16:creationId xmlns:a16="http://schemas.microsoft.com/office/drawing/2014/main" id="{1C23CDEC-9396-4162-9D90-27CC21F1CD88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7338" y="5381625"/>
            <a:ext cx="231775" cy="4763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5903" name="Line 14">
            <a:extLst>
              <a:ext uri="{FF2B5EF4-FFF2-40B4-BE49-F238E27FC236}">
                <a16:creationId xmlns:a16="http://schemas.microsoft.com/office/drawing/2014/main" id="{172FE431-907D-4E7B-9CC9-08C5C722A0F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41838" y="5181600"/>
            <a:ext cx="203200" cy="0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5904" name="Line 15">
            <a:extLst>
              <a:ext uri="{FF2B5EF4-FFF2-40B4-BE49-F238E27FC236}">
                <a16:creationId xmlns:a16="http://schemas.microsoft.com/office/drawing/2014/main" id="{CD757A3E-859E-4177-AB59-8EA21A87CFB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10063" y="5181600"/>
            <a:ext cx="241300" cy="200025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5905" name="Line 16">
            <a:extLst>
              <a:ext uri="{FF2B5EF4-FFF2-40B4-BE49-F238E27FC236}">
                <a16:creationId xmlns:a16="http://schemas.microsoft.com/office/drawing/2014/main" id="{7FBC665F-8784-4448-A4F1-1EE3DA2C5DB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24113" y="4878388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5906" name="Line 17">
            <a:extLst>
              <a:ext uri="{FF2B5EF4-FFF2-40B4-BE49-F238E27FC236}">
                <a16:creationId xmlns:a16="http://schemas.microsoft.com/office/drawing/2014/main" id="{F2D73DDB-3E62-455E-BCEF-E6BAE8B14D1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4878388"/>
            <a:ext cx="538162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5907" name="Group 58">
            <a:extLst>
              <a:ext uri="{FF2B5EF4-FFF2-40B4-BE49-F238E27FC236}">
                <a16:creationId xmlns:a16="http://schemas.microsoft.com/office/drawing/2014/main" id="{59F60656-D1CC-404C-9952-DB56C9253BD7}"/>
              </a:ext>
            </a:extLst>
          </p:cNvPr>
          <p:cNvGrpSpPr>
            <a:grpSpLocks/>
          </p:cNvGrpSpPr>
          <p:nvPr/>
        </p:nvGrpSpPr>
        <p:grpSpPr bwMode="auto">
          <a:xfrm>
            <a:off x="2351088" y="3563938"/>
            <a:ext cx="798512" cy="1166812"/>
            <a:chOff x="12762" y="10336"/>
            <a:chExt cx="1027" cy="1700"/>
          </a:xfrm>
        </p:grpSpPr>
        <p:sp>
          <p:nvSpPr>
            <p:cNvPr id="166036" name="Rectangle 59">
              <a:extLst>
                <a:ext uri="{FF2B5EF4-FFF2-40B4-BE49-F238E27FC236}">
                  <a16:creationId xmlns:a16="http://schemas.microsoft.com/office/drawing/2014/main" id="{31ABA6E7-A523-45E2-A0EE-2C89A1A6E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37" name="Rectangle 60">
              <a:extLst>
                <a:ext uri="{FF2B5EF4-FFF2-40B4-BE49-F238E27FC236}">
                  <a16:creationId xmlns:a16="http://schemas.microsoft.com/office/drawing/2014/main" id="{030ED060-F455-4282-9392-EC6F1A2D7A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38" name="Line 61">
              <a:extLst>
                <a:ext uri="{FF2B5EF4-FFF2-40B4-BE49-F238E27FC236}">
                  <a16:creationId xmlns:a16="http://schemas.microsoft.com/office/drawing/2014/main" id="{4F6C0B80-CE58-4E25-A860-E6CEEB27D0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39" name="Line 62">
              <a:extLst>
                <a:ext uri="{FF2B5EF4-FFF2-40B4-BE49-F238E27FC236}">
                  <a16:creationId xmlns:a16="http://schemas.microsoft.com/office/drawing/2014/main" id="{382FECB4-8F3C-4B0F-B523-6641C764AF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40" name="Line 63">
              <a:extLst>
                <a:ext uri="{FF2B5EF4-FFF2-40B4-BE49-F238E27FC236}">
                  <a16:creationId xmlns:a16="http://schemas.microsoft.com/office/drawing/2014/main" id="{B9100936-CCF3-4693-AF52-FE0AC0A9B1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41" name="Line 64">
              <a:extLst>
                <a:ext uri="{FF2B5EF4-FFF2-40B4-BE49-F238E27FC236}">
                  <a16:creationId xmlns:a16="http://schemas.microsoft.com/office/drawing/2014/main" id="{2107ED3B-0EDB-40FA-994B-D6B30955B1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5908" name="Text Box 66">
            <a:extLst>
              <a:ext uri="{FF2B5EF4-FFF2-40B4-BE49-F238E27FC236}">
                <a16:creationId xmlns:a16="http://schemas.microsoft.com/office/drawing/2014/main" id="{57D329A3-DBA6-46BC-9B0E-C949C6D71B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8675" y="3449638"/>
            <a:ext cx="1881188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 baseline="-2500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: original data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5909" name="Line 67">
            <a:extLst>
              <a:ext uri="{FF2B5EF4-FFF2-40B4-BE49-F238E27FC236}">
                <a16:creationId xmlns:a16="http://schemas.microsoft.com/office/drawing/2014/main" id="{8DF212EB-03E9-4A22-95BD-F87587C37B5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85950" y="5983288"/>
            <a:ext cx="538163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5910" name="Group 108">
            <a:extLst>
              <a:ext uri="{FF2B5EF4-FFF2-40B4-BE49-F238E27FC236}">
                <a16:creationId xmlns:a16="http://schemas.microsoft.com/office/drawing/2014/main" id="{99704C49-FDB2-42AC-920D-ECD628FB8F44}"/>
              </a:ext>
            </a:extLst>
          </p:cNvPr>
          <p:cNvGrpSpPr>
            <a:grpSpLocks/>
          </p:cNvGrpSpPr>
          <p:nvPr/>
        </p:nvGrpSpPr>
        <p:grpSpPr bwMode="auto">
          <a:xfrm>
            <a:off x="1298575" y="4718050"/>
            <a:ext cx="798513" cy="1166813"/>
            <a:chOff x="12762" y="10336"/>
            <a:chExt cx="1027" cy="1700"/>
          </a:xfrm>
        </p:grpSpPr>
        <p:sp>
          <p:nvSpPr>
            <p:cNvPr id="166030" name="Rectangle 109">
              <a:extLst>
                <a:ext uri="{FF2B5EF4-FFF2-40B4-BE49-F238E27FC236}">
                  <a16:creationId xmlns:a16="http://schemas.microsoft.com/office/drawing/2014/main" id="{535B7F22-6F93-4C8C-BD4F-C18254862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31" name="Rectangle 110">
              <a:extLst>
                <a:ext uri="{FF2B5EF4-FFF2-40B4-BE49-F238E27FC236}">
                  <a16:creationId xmlns:a16="http://schemas.microsoft.com/office/drawing/2014/main" id="{CB05BE77-F398-44F0-A264-9EB4FE9CA7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32" name="Line 111">
              <a:extLst>
                <a:ext uri="{FF2B5EF4-FFF2-40B4-BE49-F238E27FC236}">
                  <a16:creationId xmlns:a16="http://schemas.microsoft.com/office/drawing/2014/main" id="{4BD2AFF2-0482-4EA3-B9D6-85C1296850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33" name="Line 112">
              <a:extLst>
                <a:ext uri="{FF2B5EF4-FFF2-40B4-BE49-F238E27FC236}">
                  <a16:creationId xmlns:a16="http://schemas.microsoft.com/office/drawing/2014/main" id="{F055E8B2-E412-4388-AF9A-9DCD0A4651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34" name="Line 113">
              <a:extLst>
                <a:ext uri="{FF2B5EF4-FFF2-40B4-BE49-F238E27FC236}">
                  <a16:creationId xmlns:a16="http://schemas.microsoft.com/office/drawing/2014/main" id="{0DBFBD9C-F944-4B38-A340-1E06C0C530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35" name="Line 114">
              <a:extLst>
                <a:ext uri="{FF2B5EF4-FFF2-40B4-BE49-F238E27FC236}">
                  <a16:creationId xmlns:a16="http://schemas.microsoft.com/office/drawing/2014/main" id="{47DA3563-6B1F-4044-AC67-61D8A28CCF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5911" name="Line 116">
            <a:extLst>
              <a:ext uri="{FF2B5EF4-FFF2-40B4-BE49-F238E27FC236}">
                <a16:creationId xmlns:a16="http://schemas.microsoft.com/office/drawing/2014/main" id="{4A8A1055-3797-4F34-A625-756D0085C28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5394325"/>
            <a:ext cx="7493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5912" name="Line 117">
            <a:extLst>
              <a:ext uri="{FF2B5EF4-FFF2-40B4-BE49-F238E27FC236}">
                <a16:creationId xmlns:a16="http://schemas.microsoft.com/office/drawing/2014/main" id="{F3E364D5-72CB-4F5F-B6CC-F6C4F6EB3A3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10150" y="5394325"/>
            <a:ext cx="74771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5913" name="Line 118">
            <a:extLst>
              <a:ext uri="{FF2B5EF4-FFF2-40B4-BE49-F238E27FC236}">
                <a16:creationId xmlns:a16="http://schemas.microsoft.com/office/drawing/2014/main" id="{408300DE-8B94-43C4-8A37-DC519B79E9D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60963" y="4878388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5914" name="Line 119">
            <a:extLst>
              <a:ext uri="{FF2B5EF4-FFF2-40B4-BE49-F238E27FC236}">
                <a16:creationId xmlns:a16="http://schemas.microsoft.com/office/drawing/2014/main" id="{EA241AF1-7075-4D4A-AA21-8703758EEE6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49850" y="5995988"/>
            <a:ext cx="67786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5915" name="Line 120">
            <a:extLst>
              <a:ext uri="{FF2B5EF4-FFF2-40B4-BE49-F238E27FC236}">
                <a16:creationId xmlns:a16="http://schemas.microsoft.com/office/drawing/2014/main" id="{07273A77-97E6-4336-8DB5-53250BA34E7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59513" y="4891088"/>
            <a:ext cx="53975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5916" name="Group 161">
            <a:extLst>
              <a:ext uri="{FF2B5EF4-FFF2-40B4-BE49-F238E27FC236}">
                <a16:creationId xmlns:a16="http://schemas.microsoft.com/office/drawing/2014/main" id="{535F07AD-7338-4B55-8EE3-A5EAE5281245}"/>
              </a:ext>
            </a:extLst>
          </p:cNvPr>
          <p:cNvGrpSpPr>
            <a:grpSpLocks/>
          </p:cNvGrpSpPr>
          <p:nvPr/>
        </p:nvGrpSpPr>
        <p:grpSpPr bwMode="auto">
          <a:xfrm>
            <a:off x="6643688" y="3698875"/>
            <a:ext cx="798512" cy="1166813"/>
            <a:chOff x="12762" y="10336"/>
            <a:chExt cx="1027" cy="1700"/>
          </a:xfrm>
        </p:grpSpPr>
        <p:sp>
          <p:nvSpPr>
            <p:cNvPr id="166024" name="Rectangle 162">
              <a:extLst>
                <a:ext uri="{FF2B5EF4-FFF2-40B4-BE49-F238E27FC236}">
                  <a16:creationId xmlns:a16="http://schemas.microsoft.com/office/drawing/2014/main" id="{C340CBF7-CBFE-422E-9384-F305B7FFFB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25" name="Rectangle 163">
              <a:extLst>
                <a:ext uri="{FF2B5EF4-FFF2-40B4-BE49-F238E27FC236}">
                  <a16:creationId xmlns:a16="http://schemas.microsoft.com/office/drawing/2014/main" id="{6473D88E-1A23-415D-9C13-B3CBB13B1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26" name="Line 164">
              <a:extLst>
                <a:ext uri="{FF2B5EF4-FFF2-40B4-BE49-F238E27FC236}">
                  <a16:creationId xmlns:a16="http://schemas.microsoft.com/office/drawing/2014/main" id="{4B206A74-6A40-4789-9904-0C76D0728E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27" name="Line 165">
              <a:extLst>
                <a:ext uri="{FF2B5EF4-FFF2-40B4-BE49-F238E27FC236}">
                  <a16:creationId xmlns:a16="http://schemas.microsoft.com/office/drawing/2014/main" id="{C3187EFC-3A0D-4858-BC8F-1480C68291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28" name="Line 166">
              <a:extLst>
                <a:ext uri="{FF2B5EF4-FFF2-40B4-BE49-F238E27FC236}">
                  <a16:creationId xmlns:a16="http://schemas.microsoft.com/office/drawing/2014/main" id="{EE808499-BFDA-47C2-AF3D-D8E661DC14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29" name="Line 167">
              <a:extLst>
                <a:ext uri="{FF2B5EF4-FFF2-40B4-BE49-F238E27FC236}">
                  <a16:creationId xmlns:a16="http://schemas.microsoft.com/office/drawing/2014/main" id="{D74168DC-E9C2-46A4-864C-89EE20C0E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65917" name="Group 208">
            <a:extLst>
              <a:ext uri="{FF2B5EF4-FFF2-40B4-BE49-F238E27FC236}">
                <a16:creationId xmlns:a16="http://schemas.microsoft.com/office/drawing/2014/main" id="{216F3A34-D937-421E-8611-0D6115B9B9EF}"/>
              </a:ext>
            </a:extLst>
          </p:cNvPr>
          <p:cNvGrpSpPr>
            <a:grpSpLocks/>
          </p:cNvGrpSpPr>
          <p:nvPr/>
        </p:nvGrpSpPr>
        <p:grpSpPr bwMode="auto">
          <a:xfrm>
            <a:off x="6175375" y="5011738"/>
            <a:ext cx="798513" cy="1168400"/>
            <a:chOff x="12762" y="10336"/>
            <a:chExt cx="1027" cy="1700"/>
          </a:xfrm>
        </p:grpSpPr>
        <p:sp>
          <p:nvSpPr>
            <p:cNvPr id="166018" name="Rectangle 209">
              <a:extLst>
                <a:ext uri="{FF2B5EF4-FFF2-40B4-BE49-F238E27FC236}">
                  <a16:creationId xmlns:a16="http://schemas.microsoft.com/office/drawing/2014/main" id="{E2E69E59-D1ED-47B5-BDB9-AA628D23A8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19" name="Rectangle 210">
              <a:extLst>
                <a:ext uri="{FF2B5EF4-FFF2-40B4-BE49-F238E27FC236}">
                  <a16:creationId xmlns:a16="http://schemas.microsoft.com/office/drawing/2014/main" id="{30602340-EC44-4B01-BE98-79DD0FC85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20" name="Line 211">
              <a:extLst>
                <a:ext uri="{FF2B5EF4-FFF2-40B4-BE49-F238E27FC236}">
                  <a16:creationId xmlns:a16="http://schemas.microsoft.com/office/drawing/2014/main" id="{CF216287-0252-4641-88C3-D26992B784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21" name="Line 212">
              <a:extLst>
                <a:ext uri="{FF2B5EF4-FFF2-40B4-BE49-F238E27FC236}">
                  <a16:creationId xmlns:a16="http://schemas.microsoft.com/office/drawing/2014/main" id="{8153717A-D643-4786-BC7F-E02D245A39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22" name="Line 213">
              <a:extLst>
                <a:ext uri="{FF2B5EF4-FFF2-40B4-BE49-F238E27FC236}">
                  <a16:creationId xmlns:a16="http://schemas.microsoft.com/office/drawing/2014/main" id="{5537D434-B478-4115-AB23-9C67503CF6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23" name="Line 214">
              <a:extLst>
                <a:ext uri="{FF2B5EF4-FFF2-40B4-BE49-F238E27FC236}">
                  <a16:creationId xmlns:a16="http://schemas.microsoft.com/office/drawing/2014/main" id="{2B6FA6C7-7564-45F6-825C-D7FD64FB1A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5918" name="Oval 215">
            <a:extLst>
              <a:ext uri="{FF2B5EF4-FFF2-40B4-BE49-F238E27FC236}">
                <a16:creationId xmlns:a16="http://schemas.microsoft.com/office/drawing/2014/main" id="{B642B184-3F7D-40DF-9BA4-1567D29FF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638550"/>
            <a:ext cx="112712" cy="115888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5919" name="Oval 216">
            <a:extLst>
              <a:ext uri="{FF2B5EF4-FFF2-40B4-BE49-F238E27FC236}">
                <a16:creationId xmlns:a16="http://schemas.microsoft.com/office/drawing/2014/main" id="{21706445-5A25-44DD-9C20-5F15E641F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4963" y="4767263"/>
            <a:ext cx="114300" cy="117475"/>
          </a:xfrm>
          <a:prstGeom prst="ellipse">
            <a:avLst/>
          </a:prstGeom>
          <a:solidFill>
            <a:srgbClr val="808080"/>
          </a:solidFill>
          <a:ln w="9525">
            <a:solidFill>
              <a:srgbClr val="80808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5920" name="Text Box 217">
            <a:extLst>
              <a:ext uri="{FF2B5EF4-FFF2-40B4-BE49-F238E27FC236}">
                <a16:creationId xmlns:a16="http://schemas.microsoft.com/office/drawing/2014/main" id="{7D1127B2-08AA-49FA-9998-5F59476F8F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3488" y="3651250"/>
            <a:ext cx="590550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out</a:t>
            </a:r>
            <a:endParaRPr lang="en-US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grpSp>
        <p:nvGrpSpPr>
          <p:cNvPr id="165921" name="Group 218">
            <a:extLst>
              <a:ext uri="{FF2B5EF4-FFF2-40B4-BE49-F238E27FC236}">
                <a16:creationId xmlns:a16="http://schemas.microsoft.com/office/drawing/2014/main" id="{48C84807-14B6-443E-A813-DB9FE2E9295B}"/>
              </a:ext>
            </a:extLst>
          </p:cNvPr>
          <p:cNvGrpSpPr>
            <a:grpSpLocks/>
          </p:cNvGrpSpPr>
          <p:nvPr/>
        </p:nvGrpSpPr>
        <p:grpSpPr bwMode="auto">
          <a:xfrm>
            <a:off x="4587875" y="5233988"/>
            <a:ext cx="385763" cy="319087"/>
            <a:chOff x="11283" y="10423"/>
            <a:chExt cx="475" cy="374"/>
          </a:xfrm>
        </p:grpSpPr>
        <p:sp>
          <p:nvSpPr>
            <p:cNvPr id="166011" name="Rectangle 219">
              <a:extLst>
                <a:ext uri="{FF2B5EF4-FFF2-40B4-BE49-F238E27FC236}">
                  <a16:creationId xmlns:a16="http://schemas.microsoft.com/office/drawing/2014/main" id="{BCA1F37F-1449-4232-9CFC-30113D776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12" name="Line 220">
              <a:extLst>
                <a:ext uri="{FF2B5EF4-FFF2-40B4-BE49-F238E27FC236}">
                  <a16:creationId xmlns:a16="http://schemas.microsoft.com/office/drawing/2014/main" id="{DED8F1AE-4ADB-4222-8A5E-E32C55D466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13" name="Line 221">
              <a:extLst>
                <a:ext uri="{FF2B5EF4-FFF2-40B4-BE49-F238E27FC236}">
                  <a16:creationId xmlns:a16="http://schemas.microsoft.com/office/drawing/2014/main" id="{E7BD2C8D-8FEB-49F5-B6B0-B5283004F2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14" name="Line 222">
              <a:extLst>
                <a:ext uri="{FF2B5EF4-FFF2-40B4-BE49-F238E27FC236}">
                  <a16:creationId xmlns:a16="http://schemas.microsoft.com/office/drawing/2014/main" id="{1E682991-3B53-4C47-82A3-756F74D276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15" name="Line 223">
              <a:extLst>
                <a:ext uri="{FF2B5EF4-FFF2-40B4-BE49-F238E27FC236}">
                  <a16:creationId xmlns:a16="http://schemas.microsoft.com/office/drawing/2014/main" id="{92564973-30F5-4585-AD28-061F1410C4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16" name="Line 224">
              <a:extLst>
                <a:ext uri="{FF2B5EF4-FFF2-40B4-BE49-F238E27FC236}">
                  <a16:creationId xmlns:a16="http://schemas.microsoft.com/office/drawing/2014/main" id="{6AD383C0-4184-4872-AF75-B00BC85EA3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017" name="Line 225">
              <a:extLst>
                <a:ext uri="{FF2B5EF4-FFF2-40B4-BE49-F238E27FC236}">
                  <a16:creationId xmlns:a16="http://schemas.microsoft.com/office/drawing/2014/main" id="{A40547D2-0ECC-4252-A20F-5BE5A134A9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5922" name="Line 226">
            <a:extLst>
              <a:ext uri="{FF2B5EF4-FFF2-40B4-BE49-F238E27FC236}">
                <a16:creationId xmlns:a16="http://schemas.microsoft.com/office/drawing/2014/main" id="{27910A20-7664-4068-AA74-3EA81B43F5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845050" y="4017963"/>
            <a:ext cx="339725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5923" name="Freeform 227">
            <a:extLst>
              <a:ext uri="{FF2B5EF4-FFF2-40B4-BE49-F238E27FC236}">
                <a16:creationId xmlns:a16="http://schemas.microsoft.com/office/drawing/2014/main" id="{BE06B037-425C-490B-8D12-D0970829E960}"/>
              </a:ext>
            </a:extLst>
          </p:cNvPr>
          <p:cNvSpPr>
            <a:spLocks/>
          </p:cNvSpPr>
          <p:nvPr/>
        </p:nvSpPr>
        <p:spPr bwMode="auto">
          <a:xfrm>
            <a:off x="1663700" y="4865688"/>
            <a:ext cx="4854575" cy="1228725"/>
          </a:xfrm>
          <a:custGeom>
            <a:avLst/>
            <a:gdLst>
              <a:gd name="T0" fmla="*/ 0 w 6225"/>
              <a:gd name="T1" fmla="*/ 0 h 1501"/>
              <a:gd name="T2" fmla="*/ 0 w 6225"/>
              <a:gd name="T3" fmla="*/ 2147483646 h 1501"/>
              <a:gd name="T4" fmla="*/ 2147483646 w 6225"/>
              <a:gd name="T5" fmla="*/ 2147483646 h 1501"/>
              <a:gd name="T6" fmla="*/ 2147483646 w 6225"/>
              <a:gd name="T7" fmla="*/ 2147483646 h 1501"/>
              <a:gd name="T8" fmla="*/ 2147483646 w 6225"/>
              <a:gd name="T9" fmla="*/ 2147483646 h 1501"/>
              <a:gd name="T10" fmla="*/ 2147483646 w 6225"/>
              <a:gd name="T11" fmla="*/ 2147483646 h 1501"/>
              <a:gd name="T12" fmla="*/ 2147483646 w 6225"/>
              <a:gd name="T13" fmla="*/ 2147483646 h 1501"/>
              <a:gd name="T14" fmla="*/ 2147483646 w 6225"/>
              <a:gd name="T15" fmla="*/ 2147483646 h 1501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6225"/>
              <a:gd name="T25" fmla="*/ 0 h 1501"/>
              <a:gd name="T26" fmla="*/ 6225 w 6225"/>
              <a:gd name="T27" fmla="*/ 1501 h 1501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6225" h="1501">
                <a:moveTo>
                  <a:pt x="0" y="0"/>
                </a:moveTo>
                <a:lnTo>
                  <a:pt x="0" y="1486"/>
                </a:lnTo>
                <a:lnTo>
                  <a:pt x="1005" y="1501"/>
                </a:lnTo>
                <a:lnTo>
                  <a:pt x="1860" y="706"/>
                </a:lnTo>
                <a:lnTo>
                  <a:pt x="5085" y="721"/>
                </a:lnTo>
                <a:lnTo>
                  <a:pt x="4305" y="1456"/>
                </a:lnTo>
                <a:lnTo>
                  <a:pt x="6225" y="1456"/>
                </a:lnTo>
                <a:lnTo>
                  <a:pt x="6220" y="391"/>
                </a:lnTo>
              </a:path>
            </a:pathLst>
          </a:custGeom>
          <a:noFill/>
          <a:ln w="38100" cmpd="sng">
            <a:solidFill>
              <a:srgbClr val="80808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5924" name="Freeform 228">
            <a:extLst>
              <a:ext uri="{FF2B5EF4-FFF2-40B4-BE49-F238E27FC236}">
                <a16:creationId xmlns:a16="http://schemas.microsoft.com/office/drawing/2014/main" id="{13A1A3BE-8B2D-4CCE-A50C-B2F2CB6C0ED5}"/>
              </a:ext>
            </a:extLst>
          </p:cNvPr>
          <p:cNvSpPr>
            <a:spLocks/>
          </p:cNvSpPr>
          <p:nvPr/>
        </p:nvSpPr>
        <p:spPr bwMode="auto">
          <a:xfrm>
            <a:off x="2822575" y="3698875"/>
            <a:ext cx="4210050" cy="1646238"/>
          </a:xfrm>
          <a:custGeom>
            <a:avLst/>
            <a:gdLst>
              <a:gd name="T0" fmla="*/ 0 w 5400"/>
              <a:gd name="T1" fmla="*/ 0 h 2010"/>
              <a:gd name="T2" fmla="*/ 0 w 5400"/>
              <a:gd name="T3" fmla="*/ 2147483646 h 2010"/>
              <a:gd name="T4" fmla="*/ 2147483646 w 5400"/>
              <a:gd name="T5" fmla="*/ 2147483646 h 2010"/>
              <a:gd name="T6" fmla="*/ 2147483646 w 5400"/>
              <a:gd name="T7" fmla="*/ 2147483646 h 2010"/>
              <a:gd name="T8" fmla="*/ 2147483646 w 5400"/>
              <a:gd name="T9" fmla="*/ 2147483646 h 2010"/>
              <a:gd name="T10" fmla="*/ 2147483646 w 5400"/>
              <a:gd name="T11" fmla="*/ 2147483646 h 2010"/>
              <a:gd name="T12" fmla="*/ 2147483646 w 5400"/>
              <a:gd name="T13" fmla="*/ 2147483646 h 2010"/>
              <a:gd name="T14" fmla="*/ 2147483646 w 5400"/>
              <a:gd name="T15" fmla="*/ 2147483646 h 201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400"/>
              <a:gd name="T25" fmla="*/ 0 h 2010"/>
              <a:gd name="T26" fmla="*/ 5400 w 5400"/>
              <a:gd name="T27" fmla="*/ 2010 h 201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400" h="2010">
                <a:moveTo>
                  <a:pt x="0" y="0"/>
                </a:moveTo>
                <a:lnTo>
                  <a:pt x="0" y="1485"/>
                </a:lnTo>
                <a:lnTo>
                  <a:pt x="1005" y="1500"/>
                </a:lnTo>
                <a:lnTo>
                  <a:pt x="540" y="2010"/>
                </a:lnTo>
                <a:lnTo>
                  <a:pt x="3615" y="2010"/>
                </a:lnTo>
                <a:lnTo>
                  <a:pt x="4350" y="1275"/>
                </a:lnTo>
                <a:lnTo>
                  <a:pt x="5400" y="1290"/>
                </a:lnTo>
                <a:lnTo>
                  <a:pt x="5400" y="120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5925" name="Oval 229">
            <a:extLst>
              <a:ext uri="{FF2B5EF4-FFF2-40B4-BE49-F238E27FC236}">
                <a16:creationId xmlns:a16="http://schemas.microsoft.com/office/drawing/2014/main" id="{EDC035F8-5D10-44B4-8C14-1A0890770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871913"/>
            <a:ext cx="112712" cy="115887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5926" name="Text Box 230">
            <a:extLst>
              <a:ext uri="{FF2B5EF4-FFF2-40B4-BE49-F238E27FC236}">
                <a16:creationId xmlns:a16="http://schemas.microsoft.com/office/drawing/2014/main" id="{C7045A1F-4977-4C7A-B548-56912AABD9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1200" y="3778250"/>
            <a:ext cx="2349500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>
                <a:solidFill>
                  <a:srgbClr val="FF0000"/>
                </a:solidFill>
                <a:latin typeface="Arial" panose="020B0604020202020204" pitchFamily="34" charset="0"/>
              </a:rPr>
              <a:t>'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:</a:t>
            </a:r>
            <a:r>
              <a:rPr lang="en-US" altLang="zh-TW" sz="140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original data, </a:t>
            </a:r>
            <a:r>
              <a:rPr lang="en-US" altLang="zh-TW" sz="1600" i="1">
                <a:solidFill>
                  <a:srgbClr val="FF0000"/>
                </a:solidFill>
                <a:latin typeface="Arial" panose="020B0604020202020204" pitchFamily="34" charset="0"/>
              </a:rPr>
              <a:t>plus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 retransmitted data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5927" name="Line 231">
            <a:extLst>
              <a:ext uri="{FF2B5EF4-FFF2-40B4-BE49-F238E27FC236}">
                <a16:creationId xmlns:a16="http://schemas.microsoft.com/office/drawing/2014/main" id="{026292E6-D941-4159-8DA4-181A42FDD670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9888" y="3938588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5928" name="Line 232">
            <a:extLst>
              <a:ext uri="{FF2B5EF4-FFF2-40B4-BE49-F238E27FC236}">
                <a16:creationId xmlns:a16="http://schemas.microsoft.com/office/drawing/2014/main" id="{73A76D56-9881-4D3A-8418-A6AAE6D360E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3705225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5929" name="Line 233">
            <a:extLst>
              <a:ext uri="{FF2B5EF4-FFF2-40B4-BE49-F238E27FC236}">
                <a16:creationId xmlns:a16="http://schemas.microsoft.com/office/drawing/2014/main" id="{8F11512A-2E1F-497D-B59C-6F4C55761D37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763" y="3857625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02666" name="Rectangle 234">
            <a:extLst>
              <a:ext uri="{FF2B5EF4-FFF2-40B4-BE49-F238E27FC236}">
                <a16:creationId xmlns:a16="http://schemas.microsoft.com/office/drawing/2014/main" id="{52566FEF-17E2-4A6A-8BD1-1C6642EA7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1450" y="3613150"/>
            <a:ext cx="244475" cy="155575"/>
          </a:xfrm>
          <a:prstGeom prst="rect">
            <a:avLst/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402667" name="Rectangle 235">
            <a:extLst>
              <a:ext uri="{FF2B5EF4-FFF2-40B4-BE49-F238E27FC236}">
                <a16:creationId xmlns:a16="http://schemas.microsoft.com/office/drawing/2014/main" id="{7A6F9635-393D-48B7-AD29-CB63C08A1D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0" y="3846513"/>
            <a:ext cx="244475" cy="155575"/>
          </a:xfrm>
          <a:prstGeom prst="rect">
            <a:avLst/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402668" name="Text Box 236">
            <a:extLst>
              <a:ext uri="{FF2B5EF4-FFF2-40B4-BE49-F238E27FC236}">
                <a16:creationId xmlns:a16="http://schemas.microsoft.com/office/drawing/2014/main" id="{06238B1A-A03F-4175-8119-D9F5B2ED8A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7363" y="3736975"/>
            <a:ext cx="6127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6600"/>
                </a:solidFill>
                <a:latin typeface="Arial" panose="020B0604020202020204" pitchFamily="34" charset="0"/>
              </a:rPr>
              <a:t>copy</a:t>
            </a:r>
          </a:p>
        </p:txBody>
      </p:sp>
      <p:sp>
        <p:nvSpPr>
          <p:cNvPr id="402669" name="Text Box 237">
            <a:extLst>
              <a:ext uri="{FF2B5EF4-FFF2-40B4-BE49-F238E27FC236}">
                <a16:creationId xmlns:a16="http://schemas.microsoft.com/office/drawing/2014/main" id="{E7C42A29-EE34-450B-AFA6-E9B1F7F0B6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6188" y="4805363"/>
            <a:ext cx="16430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6600"/>
                </a:solidFill>
                <a:latin typeface="Arial" panose="020B0604020202020204" pitchFamily="34" charset="0"/>
              </a:rPr>
              <a:t>no buffer space!</a:t>
            </a:r>
          </a:p>
        </p:txBody>
      </p:sp>
      <p:sp>
        <p:nvSpPr>
          <p:cNvPr id="165934" name="Rectangle 238">
            <a:extLst>
              <a:ext uri="{FF2B5EF4-FFF2-40B4-BE49-F238E27FC236}">
                <a16:creationId xmlns:a16="http://schemas.microsoft.com/office/drawing/2014/main" id="{CBD9AB64-CB4C-44A4-A883-63BDB92A89F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19088" y="1116013"/>
            <a:ext cx="6488112" cy="1916112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000099"/>
                </a:solidFill>
              </a:rPr>
              <a:t>Idealization: </a:t>
            </a:r>
            <a:r>
              <a:rPr lang="en-US" altLang="zh-TW" i="1">
                <a:solidFill>
                  <a:srgbClr val="CC0000"/>
                </a:solidFill>
              </a:rPr>
              <a:t>known loss</a:t>
            </a:r>
            <a:r>
              <a:rPr lang="en-US" altLang="zh-TW" sz="2400"/>
              <a:t> packets can be lost, dropped at router due  to full buffers</a:t>
            </a:r>
          </a:p>
          <a:p>
            <a:r>
              <a:rPr lang="en-US" altLang="zh-TW" sz="2400"/>
              <a:t>sender only resends if packet </a:t>
            </a:r>
            <a:r>
              <a:rPr lang="en-US" altLang="zh-TW" sz="2400" i="1"/>
              <a:t>known</a:t>
            </a:r>
            <a:r>
              <a:rPr lang="en-US" altLang="zh-TW" sz="2400"/>
              <a:t> to be lost</a:t>
            </a:r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</p:txBody>
      </p:sp>
      <p:pic>
        <p:nvPicPr>
          <p:cNvPr id="165935" name="Picture 243" descr="underline_base">
            <a:extLst>
              <a:ext uri="{FF2B5EF4-FFF2-40B4-BE49-F238E27FC236}">
                <a16:creationId xmlns:a16="http://schemas.microsoft.com/office/drawing/2014/main" id="{A4F68CAE-F1FA-4372-B33F-9B9F5CF9EBA9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1184" name="Rectangle 244">
            <a:extLst>
              <a:ext uri="{FF2B5EF4-FFF2-40B4-BE49-F238E27FC236}">
                <a16:creationId xmlns:a16="http://schemas.microsoft.com/office/drawing/2014/main" id="{00BCFD97-72A9-4578-9CEA-A37C7AFD100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2b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sp>
        <p:nvSpPr>
          <p:cNvPr id="165937" name="Freeform 246">
            <a:extLst>
              <a:ext uri="{FF2B5EF4-FFF2-40B4-BE49-F238E27FC236}">
                <a16:creationId xmlns:a16="http://schemas.microsoft.com/office/drawing/2014/main" id="{D4AA2503-9541-4839-BEC3-469DA73BF9E2}"/>
              </a:ext>
            </a:extLst>
          </p:cNvPr>
          <p:cNvSpPr>
            <a:spLocks/>
          </p:cNvSpPr>
          <p:nvPr/>
        </p:nvSpPr>
        <p:spPr bwMode="auto">
          <a:xfrm flipH="1">
            <a:off x="1066800" y="4667250"/>
            <a:ext cx="250825" cy="1201738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5938" name="Freeform 252">
            <a:extLst>
              <a:ext uri="{FF2B5EF4-FFF2-40B4-BE49-F238E27FC236}">
                <a16:creationId xmlns:a16="http://schemas.microsoft.com/office/drawing/2014/main" id="{71872044-3452-4B7F-BADE-960C87BD378B}"/>
              </a:ext>
            </a:extLst>
          </p:cNvPr>
          <p:cNvSpPr>
            <a:spLocks/>
          </p:cNvSpPr>
          <p:nvPr/>
        </p:nvSpPr>
        <p:spPr bwMode="auto">
          <a:xfrm>
            <a:off x="7416800" y="3665538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5939" name="Freeform 255">
            <a:extLst>
              <a:ext uri="{FF2B5EF4-FFF2-40B4-BE49-F238E27FC236}">
                <a16:creationId xmlns:a16="http://schemas.microsoft.com/office/drawing/2014/main" id="{E2721163-C6BE-4CBA-ADD3-EBF52DC30A73}"/>
              </a:ext>
            </a:extLst>
          </p:cNvPr>
          <p:cNvSpPr>
            <a:spLocks/>
          </p:cNvSpPr>
          <p:nvPr/>
        </p:nvSpPr>
        <p:spPr bwMode="auto">
          <a:xfrm>
            <a:off x="6937375" y="4981575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5940" name="Text Box 257">
            <a:extLst>
              <a:ext uri="{FF2B5EF4-FFF2-40B4-BE49-F238E27FC236}">
                <a16:creationId xmlns:a16="http://schemas.microsoft.com/office/drawing/2014/main" id="{27C20B74-79A0-4102-B39D-9E514308B2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8700" y="4705350"/>
            <a:ext cx="8524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5941" name="Text Box 258">
            <a:extLst>
              <a:ext uri="{FF2B5EF4-FFF2-40B4-BE49-F238E27FC236}">
                <a16:creationId xmlns:a16="http://schemas.microsoft.com/office/drawing/2014/main" id="{A6E989E6-07DD-4864-A680-F2690A104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073775"/>
            <a:ext cx="8778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Host B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grpSp>
        <p:nvGrpSpPr>
          <p:cNvPr id="165942" name="Group 259">
            <a:extLst>
              <a:ext uri="{FF2B5EF4-FFF2-40B4-BE49-F238E27FC236}">
                <a16:creationId xmlns:a16="http://schemas.microsoft.com/office/drawing/2014/main" id="{9435536D-6F8C-4D0D-B236-35744177F9C9}"/>
              </a:ext>
            </a:extLst>
          </p:cNvPr>
          <p:cNvGrpSpPr>
            <a:grpSpLocks/>
          </p:cNvGrpSpPr>
          <p:nvPr/>
        </p:nvGrpSpPr>
        <p:grpSpPr bwMode="auto">
          <a:xfrm>
            <a:off x="7553325" y="4564063"/>
            <a:ext cx="231775" cy="441325"/>
            <a:chOff x="4140" y="429"/>
            <a:chExt cx="1425" cy="2396"/>
          </a:xfrm>
        </p:grpSpPr>
        <p:sp>
          <p:nvSpPr>
            <p:cNvPr id="165979" name="Freeform 260">
              <a:extLst>
                <a:ext uri="{FF2B5EF4-FFF2-40B4-BE49-F238E27FC236}">
                  <a16:creationId xmlns:a16="http://schemas.microsoft.com/office/drawing/2014/main" id="{3FC7D0AD-8683-4A6A-8581-75D86F090F6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80" name="Rectangle 261">
              <a:extLst>
                <a:ext uri="{FF2B5EF4-FFF2-40B4-BE49-F238E27FC236}">
                  <a16:creationId xmlns:a16="http://schemas.microsoft.com/office/drawing/2014/main" id="{F1867677-43B4-4EB5-AF14-E465AB5E7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81" name="Freeform 262">
              <a:extLst>
                <a:ext uri="{FF2B5EF4-FFF2-40B4-BE49-F238E27FC236}">
                  <a16:creationId xmlns:a16="http://schemas.microsoft.com/office/drawing/2014/main" id="{CE759AFD-C111-4C16-9FA2-AC31A12F4C7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82" name="Freeform 263">
              <a:extLst>
                <a:ext uri="{FF2B5EF4-FFF2-40B4-BE49-F238E27FC236}">
                  <a16:creationId xmlns:a16="http://schemas.microsoft.com/office/drawing/2014/main" id="{47972C93-D230-4FD5-AB57-174E98BDC48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83" name="Rectangle 264">
              <a:extLst>
                <a:ext uri="{FF2B5EF4-FFF2-40B4-BE49-F238E27FC236}">
                  <a16:creationId xmlns:a16="http://schemas.microsoft.com/office/drawing/2014/main" id="{0A9AAAA6-6D7F-4FEE-AAE2-52F704B09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5984" name="Group 265">
              <a:extLst>
                <a:ext uri="{FF2B5EF4-FFF2-40B4-BE49-F238E27FC236}">
                  <a16:creationId xmlns:a16="http://schemas.microsoft.com/office/drawing/2014/main" id="{74BCBB71-CF8A-40F3-BFD1-0026178331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6009" name="AutoShape 266">
                <a:extLst>
                  <a:ext uri="{FF2B5EF4-FFF2-40B4-BE49-F238E27FC236}">
                    <a16:creationId xmlns:a16="http://schemas.microsoft.com/office/drawing/2014/main" id="{C8A2603C-F04C-4A36-83C5-9E943E999A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6010" name="AutoShape 267">
                <a:extLst>
                  <a:ext uri="{FF2B5EF4-FFF2-40B4-BE49-F238E27FC236}">
                    <a16:creationId xmlns:a16="http://schemas.microsoft.com/office/drawing/2014/main" id="{A96B9EC7-D6B2-4129-9B18-42BBE89B9D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5985" name="Rectangle 268">
              <a:extLst>
                <a:ext uri="{FF2B5EF4-FFF2-40B4-BE49-F238E27FC236}">
                  <a16:creationId xmlns:a16="http://schemas.microsoft.com/office/drawing/2014/main" id="{30446479-686A-4AAE-AB52-050434F4E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5986" name="Group 269">
              <a:extLst>
                <a:ext uri="{FF2B5EF4-FFF2-40B4-BE49-F238E27FC236}">
                  <a16:creationId xmlns:a16="http://schemas.microsoft.com/office/drawing/2014/main" id="{F6953B67-63CE-4A56-BC59-8EF9245713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6007" name="AutoShape 270">
                <a:extLst>
                  <a:ext uri="{FF2B5EF4-FFF2-40B4-BE49-F238E27FC236}">
                    <a16:creationId xmlns:a16="http://schemas.microsoft.com/office/drawing/2014/main" id="{3DED75CE-BE02-4763-A8A0-EE37D50A5A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6008" name="AutoShape 271">
                <a:extLst>
                  <a:ext uri="{FF2B5EF4-FFF2-40B4-BE49-F238E27FC236}">
                    <a16:creationId xmlns:a16="http://schemas.microsoft.com/office/drawing/2014/main" id="{9468BB81-0ABE-4871-92C4-008147FB5D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5987" name="Rectangle 272">
              <a:extLst>
                <a:ext uri="{FF2B5EF4-FFF2-40B4-BE49-F238E27FC236}">
                  <a16:creationId xmlns:a16="http://schemas.microsoft.com/office/drawing/2014/main" id="{DA47D329-57A0-4409-9AE3-800911F18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88" name="Rectangle 273">
              <a:extLst>
                <a:ext uri="{FF2B5EF4-FFF2-40B4-BE49-F238E27FC236}">
                  <a16:creationId xmlns:a16="http://schemas.microsoft.com/office/drawing/2014/main" id="{2C0761BE-14A0-4A06-B89D-9EE6ED9407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5989" name="Group 274">
              <a:extLst>
                <a:ext uri="{FF2B5EF4-FFF2-40B4-BE49-F238E27FC236}">
                  <a16:creationId xmlns:a16="http://schemas.microsoft.com/office/drawing/2014/main" id="{F98B2BBD-6576-4C02-AB23-6BA7B8E031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6005" name="AutoShape 275">
                <a:extLst>
                  <a:ext uri="{FF2B5EF4-FFF2-40B4-BE49-F238E27FC236}">
                    <a16:creationId xmlns:a16="http://schemas.microsoft.com/office/drawing/2014/main" id="{7C833E33-B099-4057-B4CA-38329293B9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6006" name="AutoShape 276">
                <a:extLst>
                  <a:ext uri="{FF2B5EF4-FFF2-40B4-BE49-F238E27FC236}">
                    <a16:creationId xmlns:a16="http://schemas.microsoft.com/office/drawing/2014/main" id="{70C89526-EBFD-4E8D-AA44-E609A1BA25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5990" name="Freeform 277">
              <a:extLst>
                <a:ext uri="{FF2B5EF4-FFF2-40B4-BE49-F238E27FC236}">
                  <a16:creationId xmlns:a16="http://schemas.microsoft.com/office/drawing/2014/main" id="{5B836482-C799-422D-B566-0705C0CF68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5991" name="Group 278">
              <a:extLst>
                <a:ext uri="{FF2B5EF4-FFF2-40B4-BE49-F238E27FC236}">
                  <a16:creationId xmlns:a16="http://schemas.microsoft.com/office/drawing/2014/main" id="{731E6DC9-4792-4ADC-9C5E-47FE89BBD1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6003" name="AutoShape 279">
                <a:extLst>
                  <a:ext uri="{FF2B5EF4-FFF2-40B4-BE49-F238E27FC236}">
                    <a16:creationId xmlns:a16="http://schemas.microsoft.com/office/drawing/2014/main" id="{D4B873FE-E863-4A42-89B7-D782ACF92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6004" name="AutoShape 280">
                <a:extLst>
                  <a:ext uri="{FF2B5EF4-FFF2-40B4-BE49-F238E27FC236}">
                    <a16:creationId xmlns:a16="http://schemas.microsoft.com/office/drawing/2014/main" id="{2B4BAEAE-9121-4079-8493-F0F82D4DD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5992" name="Rectangle 281">
              <a:extLst>
                <a:ext uri="{FF2B5EF4-FFF2-40B4-BE49-F238E27FC236}">
                  <a16:creationId xmlns:a16="http://schemas.microsoft.com/office/drawing/2014/main" id="{93D75A0C-8AE1-4137-BA24-0119F9BE34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93" name="Freeform 282">
              <a:extLst>
                <a:ext uri="{FF2B5EF4-FFF2-40B4-BE49-F238E27FC236}">
                  <a16:creationId xmlns:a16="http://schemas.microsoft.com/office/drawing/2014/main" id="{5920BEF1-EF04-452B-B7E3-9A5D5E05A03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94" name="Freeform 283">
              <a:extLst>
                <a:ext uri="{FF2B5EF4-FFF2-40B4-BE49-F238E27FC236}">
                  <a16:creationId xmlns:a16="http://schemas.microsoft.com/office/drawing/2014/main" id="{A363DF4D-B002-4D93-BFB9-A186C600D2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95" name="Oval 284">
              <a:extLst>
                <a:ext uri="{FF2B5EF4-FFF2-40B4-BE49-F238E27FC236}">
                  <a16:creationId xmlns:a16="http://schemas.microsoft.com/office/drawing/2014/main" id="{D785AB91-EEAD-40EF-B8D6-181B831316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96" name="Freeform 285">
              <a:extLst>
                <a:ext uri="{FF2B5EF4-FFF2-40B4-BE49-F238E27FC236}">
                  <a16:creationId xmlns:a16="http://schemas.microsoft.com/office/drawing/2014/main" id="{50543C2A-C813-4DCD-8BB9-7D6E114E21F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97" name="AutoShape 286">
              <a:extLst>
                <a:ext uri="{FF2B5EF4-FFF2-40B4-BE49-F238E27FC236}">
                  <a16:creationId xmlns:a16="http://schemas.microsoft.com/office/drawing/2014/main" id="{3A0EA342-707F-47DC-BCA3-239AC22526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98" name="AutoShape 287">
              <a:extLst>
                <a:ext uri="{FF2B5EF4-FFF2-40B4-BE49-F238E27FC236}">
                  <a16:creationId xmlns:a16="http://schemas.microsoft.com/office/drawing/2014/main" id="{C1D55DDC-0418-4929-A1F7-BF80D85A56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99" name="Oval 288">
              <a:extLst>
                <a:ext uri="{FF2B5EF4-FFF2-40B4-BE49-F238E27FC236}">
                  <a16:creationId xmlns:a16="http://schemas.microsoft.com/office/drawing/2014/main" id="{A043783B-230A-436F-9A6A-3CD9C558E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00" name="Oval 289">
              <a:extLst>
                <a:ext uri="{FF2B5EF4-FFF2-40B4-BE49-F238E27FC236}">
                  <a16:creationId xmlns:a16="http://schemas.microsoft.com/office/drawing/2014/main" id="{B2A0FDBF-8387-464E-8FBE-7FED647CB4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6001" name="Oval 290">
              <a:extLst>
                <a:ext uri="{FF2B5EF4-FFF2-40B4-BE49-F238E27FC236}">
                  <a16:creationId xmlns:a16="http://schemas.microsoft.com/office/drawing/2014/main" id="{FBD8DC16-2B5D-4C16-B67C-51FA6E6063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002" name="Rectangle 291">
              <a:extLst>
                <a:ext uri="{FF2B5EF4-FFF2-40B4-BE49-F238E27FC236}">
                  <a16:creationId xmlns:a16="http://schemas.microsoft.com/office/drawing/2014/main" id="{DF4190F2-39BA-4B4D-8104-1851C43B67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5943" name="Group 292">
            <a:extLst>
              <a:ext uri="{FF2B5EF4-FFF2-40B4-BE49-F238E27FC236}">
                <a16:creationId xmlns:a16="http://schemas.microsoft.com/office/drawing/2014/main" id="{FFC7A0A6-7A8E-4028-A24C-BB0E10095B20}"/>
              </a:ext>
            </a:extLst>
          </p:cNvPr>
          <p:cNvGrpSpPr>
            <a:grpSpLocks/>
          </p:cNvGrpSpPr>
          <p:nvPr/>
        </p:nvGrpSpPr>
        <p:grpSpPr bwMode="auto">
          <a:xfrm>
            <a:off x="7135813" y="5867400"/>
            <a:ext cx="231775" cy="441325"/>
            <a:chOff x="4140" y="429"/>
            <a:chExt cx="1425" cy="2396"/>
          </a:xfrm>
        </p:grpSpPr>
        <p:sp>
          <p:nvSpPr>
            <p:cNvPr id="165947" name="Freeform 293">
              <a:extLst>
                <a:ext uri="{FF2B5EF4-FFF2-40B4-BE49-F238E27FC236}">
                  <a16:creationId xmlns:a16="http://schemas.microsoft.com/office/drawing/2014/main" id="{32303D30-F0E4-4A6A-B4A1-51700D38982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48" name="Rectangle 294">
              <a:extLst>
                <a:ext uri="{FF2B5EF4-FFF2-40B4-BE49-F238E27FC236}">
                  <a16:creationId xmlns:a16="http://schemas.microsoft.com/office/drawing/2014/main" id="{7E4FA03F-6782-450E-ADAB-BAF67EDE57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49" name="Freeform 295">
              <a:extLst>
                <a:ext uri="{FF2B5EF4-FFF2-40B4-BE49-F238E27FC236}">
                  <a16:creationId xmlns:a16="http://schemas.microsoft.com/office/drawing/2014/main" id="{24AE816B-6C7C-4D01-98D8-D439F26BD39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50" name="Freeform 296">
              <a:extLst>
                <a:ext uri="{FF2B5EF4-FFF2-40B4-BE49-F238E27FC236}">
                  <a16:creationId xmlns:a16="http://schemas.microsoft.com/office/drawing/2014/main" id="{76B53CED-1DC0-4AE9-AA67-E88BFD7D5E5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51" name="Rectangle 297">
              <a:extLst>
                <a:ext uri="{FF2B5EF4-FFF2-40B4-BE49-F238E27FC236}">
                  <a16:creationId xmlns:a16="http://schemas.microsoft.com/office/drawing/2014/main" id="{C8D39D90-0B25-435B-902E-56B4B373C1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5952" name="Group 298">
              <a:extLst>
                <a:ext uri="{FF2B5EF4-FFF2-40B4-BE49-F238E27FC236}">
                  <a16:creationId xmlns:a16="http://schemas.microsoft.com/office/drawing/2014/main" id="{0E982834-F85D-4FD6-A8AC-C13E791846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5977" name="AutoShape 299">
                <a:extLst>
                  <a:ext uri="{FF2B5EF4-FFF2-40B4-BE49-F238E27FC236}">
                    <a16:creationId xmlns:a16="http://schemas.microsoft.com/office/drawing/2014/main" id="{5A7E7F30-0A4E-4ABC-8A55-48DA71AEB4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5978" name="AutoShape 300">
                <a:extLst>
                  <a:ext uri="{FF2B5EF4-FFF2-40B4-BE49-F238E27FC236}">
                    <a16:creationId xmlns:a16="http://schemas.microsoft.com/office/drawing/2014/main" id="{7868733C-2EE9-4B5B-9D1A-C5005E40C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5953" name="Rectangle 301">
              <a:extLst>
                <a:ext uri="{FF2B5EF4-FFF2-40B4-BE49-F238E27FC236}">
                  <a16:creationId xmlns:a16="http://schemas.microsoft.com/office/drawing/2014/main" id="{3C3F0BAB-5C6D-400B-BE85-1158FF1048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5954" name="Group 302">
              <a:extLst>
                <a:ext uri="{FF2B5EF4-FFF2-40B4-BE49-F238E27FC236}">
                  <a16:creationId xmlns:a16="http://schemas.microsoft.com/office/drawing/2014/main" id="{B385B8CE-CD60-4DBA-A9E0-0C5FFFCDA6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5975" name="AutoShape 303">
                <a:extLst>
                  <a:ext uri="{FF2B5EF4-FFF2-40B4-BE49-F238E27FC236}">
                    <a16:creationId xmlns:a16="http://schemas.microsoft.com/office/drawing/2014/main" id="{219B2A0C-B1D2-4BB0-86FB-E99D1CA94F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5976" name="AutoShape 304">
                <a:extLst>
                  <a:ext uri="{FF2B5EF4-FFF2-40B4-BE49-F238E27FC236}">
                    <a16:creationId xmlns:a16="http://schemas.microsoft.com/office/drawing/2014/main" id="{95A99E3A-DE78-4AA5-9D9F-A7F23399A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5955" name="Rectangle 305">
              <a:extLst>
                <a:ext uri="{FF2B5EF4-FFF2-40B4-BE49-F238E27FC236}">
                  <a16:creationId xmlns:a16="http://schemas.microsoft.com/office/drawing/2014/main" id="{6A8ABD95-D294-4E86-AD28-314393E0E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56" name="Rectangle 306">
              <a:extLst>
                <a:ext uri="{FF2B5EF4-FFF2-40B4-BE49-F238E27FC236}">
                  <a16:creationId xmlns:a16="http://schemas.microsoft.com/office/drawing/2014/main" id="{A98E1CDE-9AAB-4EF6-9A62-47BC4CA4D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5957" name="Group 307">
              <a:extLst>
                <a:ext uri="{FF2B5EF4-FFF2-40B4-BE49-F238E27FC236}">
                  <a16:creationId xmlns:a16="http://schemas.microsoft.com/office/drawing/2014/main" id="{6062542A-BCB2-4FE7-B907-2A2C83D485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5973" name="AutoShape 308">
                <a:extLst>
                  <a:ext uri="{FF2B5EF4-FFF2-40B4-BE49-F238E27FC236}">
                    <a16:creationId xmlns:a16="http://schemas.microsoft.com/office/drawing/2014/main" id="{9EE327AE-3EDB-4887-89FA-955C03E10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5974" name="AutoShape 309">
                <a:extLst>
                  <a:ext uri="{FF2B5EF4-FFF2-40B4-BE49-F238E27FC236}">
                    <a16:creationId xmlns:a16="http://schemas.microsoft.com/office/drawing/2014/main" id="{4C387E97-752C-4CFB-BF34-7E7AE0D640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5958" name="Freeform 310">
              <a:extLst>
                <a:ext uri="{FF2B5EF4-FFF2-40B4-BE49-F238E27FC236}">
                  <a16:creationId xmlns:a16="http://schemas.microsoft.com/office/drawing/2014/main" id="{5F2A2F50-58B9-441A-9011-8B4755EFCF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5959" name="Group 311">
              <a:extLst>
                <a:ext uri="{FF2B5EF4-FFF2-40B4-BE49-F238E27FC236}">
                  <a16:creationId xmlns:a16="http://schemas.microsoft.com/office/drawing/2014/main" id="{66B087AA-0A3A-427E-8550-E98FF8D16B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5971" name="AutoShape 312">
                <a:extLst>
                  <a:ext uri="{FF2B5EF4-FFF2-40B4-BE49-F238E27FC236}">
                    <a16:creationId xmlns:a16="http://schemas.microsoft.com/office/drawing/2014/main" id="{3BF80620-ACA0-4168-93AC-F9B158E8DE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5972" name="AutoShape 313">
                <a:extLst>
                  <a:ext uri="{FF2B5EF4-FFF2-40B4-BE49-F238E27FC236}">
                    <a16:creationId xmlns:a16="http://schemas.microsoft.com/office/drawing/2014/main" id="{01B1D4D1-38D4-403A-ADC4-CD01F681F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5960" name="Rectangle 314">
              <a:extLst>
                <a:ext uri="{FF2B5EF4-FFF2-40B4-BE49-F238E27FC236}">
                  <a16:creationId xmlns:a16="http://schemas.microsoft.com/office/drawing/2014/main" id="{3CA27CD9-2F0F-4812-AF07-684F9A6AF3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61" name="Freeform 315">
              <a:extLst>
                <a:ext uri="{FF2B5EF4-FFF2-40B4-BE49-F238E27FC236}">
                  <a16:creationId xmlns:a16="http://schemas.microsoft.com/office/drawing/2014/main" id="{B2F40EA7-2F07-44D3-902B-151D4ACB640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62" name="Freeform 316">
              <a:extLst>
                <a:ext uri="{FF2B5EF4-FFF2-40B4-BE49-F238E27FC236}">
                  <a16:creationId xmlns:a16="http://schemas.microsoft.com/office/drawing/2014/main" id="{36AB1B16-A286-4EBE-B4C4-358B5DC5E37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63" name="Oval 317">
              <a:extLst>
                <a:ext uri="{FF2B5EF4-FFF2-40B4-BE49-F238E27FC236}">
                  <a16:creationId xmlns:a16="http://schemas.microsoft.com/office/drawing/2014/main" id="{9CC6AC0D-7ED9-4036-BA15-04E42AE88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64" name="Freeform 318">
              <a:extLst>
                <a:ext uri="{FF2B5EF4-FFF2-40B4-BE49-F238E27FC236}">
                  <a16:creationId xmlns:a16="http://schemas.microsoft.com/office/drawing/2014/main" id="{64815CBE-5CE4-406C-B96D-C817F4D58E0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5965" name="AutoShape 319">
              <a:extLst>
                <a:ext uri="{FF2B5EF4-FFF2-40B4-BE49-F238E27FC236}">
                  <a16:creationId xmlns:a16="http://schemas.microsoft.com/office/drawing/2014/main" id="{E7966588-428A-40EA-9C7E-C41D8EFA51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66" name="AutoShape 320">
              <a:extLst>
                <a:ext uri="{FF2B5EF4-FFF2-40B4-BE49-F238E27FC236}">
                  <a16:creationId xmlns:a16="http://schemas.microsoft.com/office/drawing/2014/main" id="{A982C060-5694-43F2-B801-6FA529A0C2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67" name="Oval 321">
              <a:extLst>
                <a:ext uri="{FF2B5EF4-FFF2-40B4-BE49-F238E27FC236}">
                  <a16:creationId xmlns:a16="http://schemas.microsoft.com/office/drawing/2014/main" id="{3D06130E-9378-4B0D-A49F-7CA7300C4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68" name="Oval 322">
              <a:extLst>
                <a:ext uri="{FF2B5EF4-FFF2-40B4-BE49-F238E27FC236}">
                  <a16:creationId xmlns:a16="http://schemas.microsoft.com/office/drawing/2014/main" id="{38A4BFAA-09BD-420E-811D-D9A6A158BB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5969" name="Oval 323">
              <a:extLst>
                <a:ext uri="{FF2B5EF4-FFF2-40B4-BE49-F238E27FC236}">
                  <a16:creationId xmlns:a16="http://schemas.microsoft.com/office/drawing/2014/main" id="{05160A26-5BE1-487F-AF3D-C00416A427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5970" name="Rectangle 324">
              <a:extLst>
                <a:ext uri="{FF2B5EF4-FFF2-40B4-BE49-F238E27FC236}">
                  <a16:creationId xmlns:a16="http://schemas.microsoft.com/office/drawing/2014/main" id="{BC756D3F-22CB-4517-96F6-79AC79CB3A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5944" name="Group 325">
            <a:extLst>
              <a:ext uri="{FF2B5EF4-FFF2-40B4-BE49-F238E27FC236}">
                <a16:creationId xmlns:a16="http://schemas.microsoft.com/office/drawing/2014/main" id="{AF24F4CE-89A0-4768-B1EB-AC432558485A}"/>
              </a:ext>
            </a:extLst>
          </p:cNvPr>
          <p:cNvGrpSpPr>
            <a:grpSpLocks/>
          </p:cNvGrpSpPr>
          <p:nvPr/>
        </p:nvGrpSpPr>
        <p:grpSpPr bwMode="auto">
          <a:xfrm>
            <a:off x="661988" y="5605463"/>
            <a:ext cx="525462" cy="434975"/>
            <a:chOff x="-44" y="1473"/>
            <a:chExt cx="981" cy="1105"/>
          </a:xfrm>
        </p:grpSpPr>
        <p:pic>
          <p:nvPicPr>
            <p:cNvPr id="165945" name="Picture 326" descr="desktop_computer_stylized_medium">
              <a:extLst>
                <a:ext uri="{FF2B5EF4-FFF2-40B4-BE49-F238E27FC236}">
                  <a16:creationId xmlns:a16="http://schemas.microsoft.com/office/drawing/2014/main" id="{8D9DDCC7-9306-47B4-859B-7EF65B7538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5946" name="Freeform 327">
              <a:extLst>
                <a:ext uri="{FF2B5EF4-FFF2-40B4-BE49-F238E27FC236}">
                  <a16:creationId xmlns:a16="http://schemas.microsoft.com/office/drawing/2014/main" id="{FC08CAA5-85ED-419E-BDFA-298B3A11050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026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7 0.00255 L -5.55556E-7 0.0354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4026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6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4026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02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9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0.03542 L 0.0007 0.17802 L 0.08681 0.17894 L 0.04723 0.24191 L 0.19584 0.24191 " pathEditMode="relative" ptsTypes="AAAAA">
                                      <p:cBhvr>
                                        <p:cTn id="20" dur="2000" fill="hold"/>
                                        <p:tgtEl>
                                          <p:spTgt spid="4026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2" dur="500"/>
                                        <p:tgtEl>
                                          <p:spTgt spid="4026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2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026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5500"/>
                            </p:stCondLst>
                            <p:childTnLst>
                              <p:par>
                                <p:cTn id="2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02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33" presetID="0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583 0.2419 L 0.19808 0.35139 " pathEditMode="relative" ptsTypes="AA">
                                      <p:cBhvr>
                                        <p:cTn id="34" dur="2000" fill="hold"/>
                                        <p:tgtEl>
                                          <p:spTgt spid="4026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6" dur="500"/>
                                        <p:tgtEl>
                                          <p:spTgt spid="4026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2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8000"/>
                            </p:stCondLst>
                            <p:childTnLst>
                              <p:par>
                                <p:cTn id="39" presetID="9" presetClass="exit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0" dur="500"/>
                                        <p:tgtEl>
                                          <p:spTgt spid="4026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2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2666" grpId="0" animBg="1"/>
      <p:bldP spid="402666" grpId="1" animBg="1"/>
      <p:bldP spid="402666" grpId="2" animBg="1"/>
      <p:bldP spid="402666" grpId="3" animBg="1"/>
      <p:bldP spid="402666" grpId="4" animBg="1"/>
      <p:bldP spid="402667" grpId="0" animBg="1"/>
      <p:bldP spid="402668" grpId="0"/>
      <p:bldP spid="402668" grpId="1"/>
      <p:bldP spid="402669" grpId="0"/>
      <p:bldP spid="402669" grpId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Footer Placeholder 5">
            <a:extLst>
              <a:ext uri="{FF2B5EF4-FFF2-40B4-BE49-F238E27FC236}">
                <a16:creationId xmlns:a16="http://schemas.microsoft.com/office/drawing/2014/main" id="{E6C93152-00D6-447F-A9B2-7AFBF9E80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6915" name="Slide Number Placeholder 6">
            <a:extLst>
              <a:ext uri="{FF2B5EF4-FFF2-40B4-BE49-F238E27FC236}">
                <a16:creationId xmlns:a16="http://schemas.microsoft.com/office/drawing/2014/main" id="{AA23DE43-CB4E-4400-B664-022BBC9A6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853EF08C-B35E-42CC-9449-0C13378AEC81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95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66916" name="Freeform 270">
            <a:extLst>
              <a:ext uri="{FF2B5EF4-FFF2-40B4-BE49-F238E27FC236}">
                <a16:creationId xmlns:a16="http://schemas.microsoft.com/office/drawing/2014/main" id="{1AF825F6-3751-497F-B292-842602F4998C}"/>
              </a:ext>
            </a:extLst>
          </p:cNvPr>
          <p:cNvSpPr>
            <a:spLocks/>
          </p:cNvSpPr>
          <p:nvPr/>
        </p:nvSpPr>
        <p:spPr bwMode="auto">
          <a:xfrm flipH="1">
            <a:off x="2111375" y="3465513"/>
            <a:ext cx="250825" cy="1201737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166917" name="Group 350">
            <a:extLst>
              <a:ext uri="{FF2B5EF4-FFF2-40B4-BE49-F238E27FC236}">
                <a16:creationId xmlns:a16="http://schemas.microsoft.com/office/drawing/2014/main" id="{C4E08482-A9D4-427B-9301-379D8A3489C4}"/>
              </a:ext>
            </a:extLst>
          </p:cNvPr>
          <p:cNvGrpSpPr>
            <a:grpSpLocks/>
          </p:cNvGrpSpPr>
          <p:nvPr/>
        </p:nvGrpSpPr>
        <p:grpSpPr bwMode="auto">
          <a:xfrm>
            <a:off x="1716088" y="4425950"/>
            <a:ext cx="525462" cy="434975"/>
            <a:chOff x="-44" y="1473"/>
            <a:chExt cx="981" cy="1105"/>
          </a:xfrm>
        </p:grpSpPr>
        <p:pic>
          <p:nvPicPr>
            <p:cNvPr id="167069" name="Picture 351" descr="desktop_computer_stylized_medium">
              <a:extLst>
                <a:ext uri="{FF2B5EF4-FFF2-40B4-BE49-F238E27FC236}">
                  <a16:creationId xmlns:a16="http://schemas.microsoft.com/office/drawing/2014/main" id="{B38C1B43-F6FD-4A0D-AE2D-7FB90A2E90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7070" name="Freeform 352">
              <a:extLst>
                <a:ext uri="{FF2B5EF4-FFF2-40B4-BE49-F238E27FC236}">
                  <a16:creationId xmlns:a16="http://schemas.microsoft.com/office/drawing/2014/main" id="{F99D3C99-7F3A-4511-AA1F-4F4A83DC8C9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166918" name="Picture 2" descr="garbage_can">
            <a:extLst>
              <a:ext uri="{FF2B5EF4-FFF2-40B4-BE49-F238E27FC236}">
                <a16:creationId xmlns:a16="http://schemas.microsoft.com/office/drawing/2014/main" id="{B975F1DB-F487-471C-BB55-57861803DF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9913" y="5775325"/>
            <a:ext cx="487362" cy="649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6919" name="Oval 4">
            <a:extLst>
              <a:ext uri="{FF2B5EF4-FFF2-40B4-BE49-F238E27FC236}">
                <a16:creationId xmlns:a16="http://schemas.microsoft.com/office/drawing/2014/main" id="{3B4442A9-5B6E-4A0B-9502-9D40633D66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48288"/>
            <a:ext cx="1304925" cy="303212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6920" name="Line 5">
            <a:extLst>
              <a:ext uri="{FF2B5EF4-FFF2-40B4-BE49-F238E27FC236}">
                <a16:creationId xmlns:a16="http://schemas.microsoft.com/office/drawing/2014/main" id="{95294BA5-AB89-45A9-88A2-28C9C905F95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5713" y="5324475"/>
            <a:ext cx="0" cy="18732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6921" name="Line 6">
            <a:extLst>
              <a:ext uri="{FF2B5EF4-FFF2-40B4-BE49-F238E27FC236}">
                <a16:creationId xmlns:a16="http://schemas.microsoft.com/office/drawing/2014/main" id="{0927F8DC-F736-4640-BC16-53AF0E2F9C35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0638" y="5324475"/>
            <a:ext cx="0" cy="187325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6922" name="Rectangle 7">
            <a:extLst>
              <a:ext uri="{FF2B5EF4-FFF2-40B4-BE49-F238E27FC236}">
                <a16:creationId xmlns:a16="http://schemas.microsoft.com/office/drawing/2014/main" id="{C6FD043E-440B-431E-98FC-F2DD41730E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24475"/>
            <a:ext cx="309562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6923" name="Rectangle 8">
            <a:extLst>
              <a:ext uri="{FF2B5EF4-FFF2-40B4-BE49-F238E27FC236}">
                <a16:creationId xmlns:a16="http://schemas.microsoft.com/office/drawing/2014/main" id="{5CFFE4C3-EED6-49E2-A293-FF3C07841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5350" y="5311775"/>
            <a:ext cx="395288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6924" name="Oval 9">
            <a:extLst>
              <a:ext uri="{FF2B5EF4-FFF2-40B4-BE49-F238E27FC236}">
                <a16:creationId xmlns:a16="http://schemas.microsoft.com/office/drawing/2014/main" id="{21229F8B-7BCF-4D7C-B288-AFD9076BE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0950" y="5126038"/>
            <a:ext cx="1306513" cy="352425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66925" name="Group 10">
            <a:extLst>
              <a:ext uri="{FF2B5EF4-FFF2-40B4-BE49-F238E27FC236}">
                <a16:creationId xmlns:a16="http://schemas.microsoft.com/office/drawing/2014/main" id="{CBB79397-0559-45A5-9469-220973A95E9C}"/>
              </a:ext>
            </a:extLst>
          </p:cNvPr>
          <p:cNvGrpSpPr>
            <a:grpSpLocks/>
          </p:cNvGrpSpPr>
          <p:nvPr/>
        </p:nvGrpSpPr>
        <p:grpSpPr bwMode="auto">
          <a:xfrm>
            <a:off x="4097338" y="5183188"/>
            <a:ext cx="647700" cy="206375"/>
            <a:chOff x="2848" y="848"/>
            <a:chExt cx="140" cy="98"/>
          </a:xfrm>
        </p:grpSpPr>
        <p:sp>
          <p:nvSpPr>
            <p:cNvPr id="167066" name="Line 11">
              <a:extLst>
                <a:ext uri="{FF2B5EF4-FFF2-40B4-BE49-F238E27FC236}">
                  <a16:creationId xmlns:a16="http://schemas.microsoft.com/office/drawing/2014/main" id="{2412537F-667E-4145-AE62-EAA6C229BC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7067" name="Line 12">
              <a:extLst>
                <a:ext uri="{FF2B5EF4-FFF2-40B4-BE49-F238E27FC236}">
                  <a16:creationId xmlns:a16="http://schemas.microsoft.com/office/drawing/2014/main" id="{9F2D25BE-6251-4693-B35A-3074A5B18E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7068" name="Line 13">
              <a:extLst>
                <a:ext uri="{FF2B5EF4-FFF2-40B4-BE49-F238E27FC236}">
                  <a16:creationId xmlns:a16="http://schemas.microsoft.com/office/drawing/2014/main" id="{A5C27D11-4352-4E47-9C53-054CFEB9EA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66926" name="Line 14">
            <a:extLst>
              <a:ext uri="{FF2B5EF4-FFF2-40B4-BE49-F238E27FC236}">
                <a16:creationId xmlns:a16="http://schemas.microsoft.com/office/drawing/2014/main" id="{DA3C5CCC-C30E-41A6-B113-DA200067657F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7338" y="5381625"/>
            <a:ext cx="231775" cy="4763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6927" name="Line 15">
            <a:extLst>
              <a:ext uri="{FF2B5EF4-FFF2-40B4-BE49-F238E27FC236}">
                <a16:creationId xmlns:a16="http://schemas.microsoft.com/office/drawing/2014/main" id="{2F5E2AD0-6EA2-48C2-816C-099DD8585AD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41838" y="5181600"/>
            <a:ext cx="203200" cy="0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6928" name="Line 16">
            <a:extLst>
              <a:ext uri="{FF2B5EF4-FFF2-40B4-BE49-F238E27FC236}">
                <a16:creationId xmlns:a16="http://schemas.microsoft.com/office/drawing/2014/main" id="{50130C3A-48B5-4F17-BA3C-305498DC0FB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10063" y="5181600"/>
            <a:ext cx="241300" cy="200025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6929" name="Line 17">
            <a:extLst>
              <a:ext uri="{FF2B5EF4-FFF2-40B4-BE49-F238E27FC236}">
                <a16:creationId xmlns:a16="http://schemas.microsoft.com/office/drawing/2014/main" id="{53C5702B-576E-4288-91B9-A601B259275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24113" y="4878388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6930" name="Line 18">
            <a:extLst>
              <a:ext uri="{FF2B5EF4-FFF2-40B4-BE49-F238E27FC236}">
                <a16:creationId xmlns:a16="http://schemas.microsoft.com/office/drawing/2014/main" id="{F546AD58-F80E-4B63-8E9A-2DE24441BD3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4878388"/>
            <a:ext cx="538162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6931" name="Group 59">
            <a:extLst>
              <a:ext uri="{FF2B5EF4-FFF2-40B4-BE49-F238E27FC236}">
                <a16:creationId xmlns:a16="http://schemas.microsoft.com/office/drawing/2014/main" id="{557AE524-3B88-47E9-9D5C-5A46EBE69F65}"/>
              </a:ext>
            </a:extLst>
          </p:cNvPr>
          <p:cNvGrpSpPr>
            <a:grpSpLocks/>
          </p:cNvGrpSpPr>
          <p:nvPr/>
        </p:nvGrpSpPr>
        <p:grpSpPr bwMode="auto">
          <a:xfrm>
            <a:off x="2351088" y="3563938"/>
            <a:ext cx="798512" cy="1166812"/>
            <a:chOff x="12762" y="10336"/>
            <a:chExt cx="1027" cy="1700"/>
          </a:xfrm>
        </p:grpSpPr>
        <p:sp>
          <p:nvSpPr>
            <p:cNvPr id="167060" name="Rectangle 60">
              <a:extLst>
                <a:ext uri="{FF2B5EF4-FFF2-40B4-BE49-F238E27FC236}">
                  <a16:creationId xmlns:a16="http://schemas.microsoft.com/office/drawing/2014/main" id="{CD0F9790-A558-4F6D-96CE-B4BCCCF8B4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61" name="Rectangle 61">
              <a:extLst>
                <a:ext uri="{FF2B5EF4-FFF2-40B4-BE49-F238E27FC236}">
                  <a16:creationId xmlns:a16="http://schemas.microsoft.com/office/drawing/2014/main" id="{D2B2CDB7-E6B9-482B-90F3-065FC347CF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62" name="Line 62">
              <a:extLst>
                <a:ext uri="{FF2B5EF4-FFF2-40B4-BE49-F238E27FC236}">
                  <a16:creationId xmlns:a16="http://schemas.microsoft.com/office/drawing/2014/main" id="{C06523BA-2062-4E7B-8974-15388FBD41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63" name="Line 63">
              <a:extLst>
                <a:ext uri="{FF2B5EF4-FFF2-40B4-BE49-F238E27FC236}">
                  <a16:creationId xmlns:a16="http://schemas.microsoft.com/office/drawing/2014/main" id="{61385ADD-E33B-4EA9-81EA-C286E16620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64" name="Line 64">
              <a:extLst>
                <a:ext uri="{FF2B5EF4-FFF2-40B4-BE49-F238E27FC236}">
                  <a16:creationId xmlns:a16="http://schemas.microsoft.com/office/drawing/2014/main" id="{035D8140-674D-439A-A95F-4DB469FF70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65" name="Line 65">
              <a:extLst>
                <a:ext uri="{FF2B5EF4-FFF2-40B4-BE49-F238E27FC236}">
                  <a16:creationId xmlns:a16="http://schemas.microsoft.com/office/drawing/2014/main" id="{5D3E0214-84C4-4D01-8A00-0119F0AE5E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6932" name="Text Box 67">
            <a:extLst>
              <a:ext uri="{FF2B5EF4-FFF2-40B4-BE49-F238E27FC236}">
                <a16:creationId xmlns:a16="http://schemas.microsoft.com/office/drawing/2014/main" id="{9AD2BFB4-45C8-427E-AA32-B33470DD42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8675" y="3449638"/>
            <a:ext cx="1881188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 baseline="-2500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: original data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6933" name="Line 68">
            <a:extLst>
              <a:ext uri="{FF2B5EF4-FFF2-40B4-BE49-F238E27FC236}">
                <a16:creationId xmlns:a16="http://schemas.microsoft.com/office/drawing/2014/main" id="{B1C3FABB-7F4E-44C6-8864-D048567C94C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85950" y="5983288"/>
            <a:ext cx="538163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6934" name="Group 109">
            <a:extLst>
              <a:ext uri="{FF2B5EF4-FFF2-40B4-BE49-F238E27FC236}">
                <a16:creationId xmlns:a16="http://schemas.microsoft.com/office/drawing/2014/main" id="{6DF7DF42-1B92-4131-B287-FBD7858F00BB}"/>
              </a:ext>
            </a:extLst>
          </p:cNvPr>
          <p:cNvGrpSpPr>
            <a:grpSpLocks/>
          </p:cNvGrpSpPr>
          <p:nvPr/>
        </p:nvGrpSpPr>
        <p:grpSpPr bwMode="auto">
          <a:xfrm>
            <a:off x="1298575" y="4718050"/>
            <a:ext cx="798513" cy="1166813"/>
            <a:chOff x="12762" y="10336"/>
            <a:chExt cx="1027" cy="1700"/>
          </a:xfrm>
        </p:grpSpPr>
        <p:sp>
          <p:nvSpPr>
            <p:cNvPr id="167054" name="Rectangle 110">
              <a:extLst>
                <a:ext uri="{FF2B5EF4-FFF2-40B4-BE49-F238E27FC236}">
                  <a16:creationId xmlns:a16="http://schemas.microsoft.com/office/drawing/2014/main" id="{4F871D97-172A-47C3-83D0-F0625EE43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55" name="Rectangle 111">
              <a:extLst>
                <a:ext uri="{FF2B5EF4-FFF2-40B4-BE49-F238E27FC236}">
                  <a16:creationId xmlns:a16="http://schemas.microsoft.com/office/drawing/2014/main" id="{207B505D-5BC6-4858-9934-4C883FA4EC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56" name="Line 112">
              <a:extLst>
                <a:ext uri="{FF2B5EF4-FFF2-40B4-BE49-F238E27FC236}">
                  <a16:creationId xmlns:a16="http://schemas.microsoft.com/office/drawing/2014/main" id="{5BEBD706-CB8A-4677-B356-6F3702152B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57" name="Line 113">
              <a:extLst>
                <a:ext uri="{FF2B5EF4-FFF2-40B4-BE49-F238E27FC236}">
                  <a16:creationId xmlns:a16="http://schemas.microsoft.com/office/drawing/2014/main" id="{83E1E667-1D8A-47D4-AE27-32D80B1384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58" name="Line 114">
              <a:extLst>
                <a:ext uri="{FF2B5EF4-FFF2-40B4-BE49-F238E27FC236}">
                  <a16:creationId xmlns:a16="http://schemas.microsoft.com/office/drawing/2014/main" id="{F5CE028B-42A1-4F7F-B74A-2671E49C0A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59" name="Line 115">
              <a:extLst>
                <a:ext uri="{FF2B5EF4-FFF2-40B4-BE49-F238E27FC236}">
                  <a16:creationId xmlns:a16="http://schemas.microsoft.com/office/drawing/2014/main" id="{599F28E6-D775-4380-81C4-13F14D0BF1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6935" name="Line 117">
            <a:extLst>
              <a:ext uri="{FF2B5EF4-FFF2-40B4-BE49-F238E27FC236}">
                <a16:creationId xmlns:a16="http://schemas.microsoft.com/office/drawing/2014/main" id="{995F6D95-1716-43F3-B9C7-5EB3C06575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5394325"/>
            <a:ext cx="7493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6936" name="Line 118">
            <a:extLst>
              <a:ext uri="{FF2B5EF4-FFF2-40B4-BE49-F238E27FC236}">
                <a16:creationId xmlns:a16="http://schemas.microsoft.com/office/drawing/2014/main" id="{7FDE7204-7A56-4F64-89EC-4663203C0B9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10150" y="5394325"/>
            <a:ext cx="74771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6937" name="Line 119">
            <a:extLst>
              <a:ext uri="{FF2B5EF4-FFF2-40B4-BE49-F238E27FC236}">
                <a16:creationId xmlns:a16="http://schemas.microsoft.com/office/drawing/2014/main" id="{DB829B20-94C4-4866-B8A5-9C10678B5D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60963" y="4878388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6938" name="Line 120">
            <a:extLst>
              <a:ext uri="{FF2B5EF4-FFF2-40B4-BE49-F238E27FC236}">
                <a16:creationId xmlns:a16="http://schemas.microsoft.com/office/drawing/2014/main" id="{CA78BBAF-27F7-4135-A8B7-A41B1DCD5DA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49850" y="5995988"/>
            <a:ext cx="67786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6939" name="Line 121">
            <a:extLst>
              <a:ext uri="{FF2B5EF4-FFF2-40B4-BE49-F238E27FC236}">
                <a16:creationId xmlns:a16="http://schemas.microsoft.com/office/drawing/2014/main" id="{9FF4B9FF-D196-41BE-9FA4-C6F0EB0C1A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59513" y="4891088"/>
            <a:ext cx="53975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6940" name="Group 162">
            <a:extLst>
              <a:ext uri="{FF2B5EF4-FFF2-40B4-BE49-F238E27FC236}">
                <a16:creationId xmlns:a16="http://schemas.microsoft.com/office/drawing/2014/main" id="{EAECBA91-3B15-4449-92F5-E578B51D2AEC}"/>
              </a:ext>
            </a:extLst>
          </p:cNvPr>
          <p:cNvGrpSpPr>
            <a:grpSpLocks/>
          </p:cNvGrpSpPr>
          <p:nvPr/>
        </p:nvGrpSpPr>
        <p:grpSpPr bwMode="auto">
          <a:xfrm>
            <a:off x="6643688" y="3698875"/>
            <a:ext cx="798512" cy="1166813"/>
            <a:chOff x="12762" y="10336"/>
            <a:chExt cx="1027" cy="1700"/>
          </a:xfrm>
        </p:grpSpPr>
        <p:sp>
          <p:nvSpPr>
            <p:cNvPr id="167048" name="Rectangle 163">
              <a:extLst>
                <a:ext uri="{FF2B5EF4-FFF2-40B4-BE49-F238E27FC236}">
                  <a16:creationId xmlns:a16="http://schemas.microsoft.com/office/drawing/2014/main" id="{244A66F3-7B8C-42DD-8BBB-8A396DF06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49" name="Rectangle 164">
              <a:extLst>
                <a:ext uri="{FF2B5EF4-FFF2-40B4-BE49-F238E27FC236}">
                  <a16:creationId xmlns:a16="http://schemas.microsoft.com/office/drawing/2014/main" id="{E222E5D8-FC2E-411E-83CA-5F80C5CCFF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50" name="Line 165">
              <a:extLst>
                <a:ext uri="{FF2B5EF4-FFF2-40B4-BE49-F238E27FC236}">
                  <a16:creationId xmlns:a16="http://schemas.microsoft.com/office/drawing/2014/main" id="{314A2D95-3AC4-46AD-8C0B-AF5016C286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51" name="Line 166">
              <a:extLst>
                <a:ext uri="{FF2B5EF4-FFF2-40B4-BE49-F238E27FC236}">
                  <a16:creationId xmlns:a16="http://schemas.microsoft.com/office/drawing/2014/main" id="{1D9928CA-CBB1-45D8-BDC8-E756794A73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52" name="Line 167">
              <a:extLst>
                <a:ext uri="{FF2B5EF4-FFF2-40B4-BE49-F238E27FC236}">
                  <a16:creationId xmlns:a16="http://schemas.microsoft.com/office/drawing/2014/main" id="{CBA003B4-C968-4E98-874D-438D1DF4FC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53" name="Line 168">
              <a:extLst>
                <a:ext uri="{FF2B5EF4-FFF2-40B4-BE49-F238E27FC236}">
                  <a16:creationId xmlns:a16="http://schemas.microsoft.com/office/drawing/2014/main" id="{E1F08B05-BA95-4762-B189-1AA086326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66941" name="Group 209">
            <a:extLst>
              <a:ext uri="{FF2B5EF4-FFF2-40B4-BE49-F238E27FC236}">
                <a16:creationId xmlns:a16="http://schemas.microsoft.com/office/drawing/2014/main" id="{954CC205-0EAE-4045-BA06-230042037B4C}"/>
              </a:ext>
            </a:extLst>
          </p:cNvPr>
          <p:cNvGrpSpPr>
            <a:grpSpLocks/>
          </p:cNvGrpSpPr>
          <p:nvPr/>
        </p:nvGrpSpPr>
        <p:grpSpPr bwMode="auto">
          <a:xfrm>
            <a:off x="6175375" y="5011738"/>
            <a:ext cx="798513" cy="1168400"/>
            <a:chOff x="12762" y="10336"/>
            <a:chExt cx="1027" cy="1700"/>
          </a:xfrm>
        </p:grpSpPr>
        <p:sp>
          <p:nvSpPr>
            <p:cNvPr id="167042" name="Rectangle 210">
              <a:extLst>
                <a:ext uri="{FF2B5EF4-FFF2-40B4-BE49-F238E27FC236}">
                  <a16:creationId xmlns:a16="http://schemas.microsoft.com/office/drawing/2014/main" id="{06FDB01B-9051-4503-914C-20750471C2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43" name="Rectangle 211">
              <a:extLst>
                <a:ext uri="{FF2B5EF4-FFF2-40B4-BE49-F238E27FC236}">
                  <a16:creationId xmlns:a16="http://schemas.microsoft.com/office/drawing/2014/main" id="{9D10531A-3D0B-4808-955D-23E40FB13E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44" name="Line 212">
              <a:extLst>
                <a:ext uri="{FF2B5EF4-FFF2-40B4-BE49-F238E27FC236}">
                  <a16:creationId xmlns:a16="http://schemas.microsoft.com/office/drawing/2014/main" id="{797F0AD0-EE21-46FD-8BA0-C7F2DB6542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45" name="Line 213">
              <a:extLst>
                <a:ext uri="{FF2B5EF4-FFF2-40B4-BE49-F238E27FC236}">
                  <a16:creationId xmlns:a16="http://schemas.microsoft.com/office/drawing/2014/main" id="{745D7987-67CD-446A-931C-418D0C3304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46" name="Line 214">
              <a:extLst>
                <a:ext uri="{FF2B5EF4-FFF2-40B4-BE49-F238E27FC236}">
                  <a16:creationId xmlns:a16="http://schemas.microsoft.com/office/drawing/2014/main" id="{041D66D1-5DF7-4AD5-8D31-373C7378BC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47" name="Line 215">
              <a:extLst>
                <a:ext uri="{FF2B5EF4-FFF2-40B4-BE49-F238E27FC236}">
                  <a16:creationId xmlns:a16="http://schemas.microsoft.com/office/drawing/2014/main" id="{14D2149A-7A45-4A3D-8684-BC62047A88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6942" name="Oval 216">
            <a:extLst>
              <a:ext uri="{FF2B5EF4-FFF2-40B4-BE49-F238E27FC236}">
                <a16:creationId xmlns:a16="http://schemas.microsoft.com/office/drawing/2014/main" id="{B2C6B352-3C39-45BE-9871-B4A0B8E20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638550"/>
            <a:ext cx="112712" cy="115888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6943" name="Oval 217">
            <a:extLst>
              <a:ext uri="{FF2B5EF4-FFF2-40B4-BE49-F238E27FC236}">
                <a16:creationId xmlns:a16="http://schemas.microsoft.com/office/drawing/2014/main" id="{4C87CF7F-6B5B-498D-BC18-A1066493E6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4963" y="4767263"/>
            <a:ext cx="114300" cy="117475"/>
          </a:xfrm>
          <a:prstGeom prst="ellipse">
            <a:avLst/>
          </a:prstGeom>
          <a:solidFill>
            <a:srgbClr val="808080"/>
          </a:solidFill>
          <a:ln w="9525">
            <a:solidFill>
              <a:srgbClr val="80808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6944" name="Text Box 218">
            <a:extLst>
              <a:ext uri="{FF2B5EF4-FFF2-40B4-BE49-F238E27FC236}">
                <a16:creationId xmlns:a16="http://schemas.microsoft.com/office/drawing/2014/main" id="{AD76E0B2-3F6E-4022-B0D9-57E7C561BA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3488" y="3651250"/>
            <a:ext cx="590550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out</a:t>
            </a:r>
            <a:endParaRPr lang="en-US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grpSp>
        <p:nvGrpSpPr>
          <p:cNvPr id="166945" name="Group 219">
            <a:extLst>
              <a:ext uri="{FF2B5EF4-FFF2-40B4-BE49-F238E27FC236}">
                <a16:creationId xmlns:a16="http://schemas.microsoft.com/office/drawing/2014/main" id="{E7C1593B-1A45-4E97-A6F2-65F7F9C22E5B}"/>
              </a:ext>
            </a:extLst>
          </p:cNvPr>
          <p:cNvGrpSpPr>
            <a:grpSpLocks/>
          </p:cNvGrpSpPr>
          <p:nvPr/>
        </p:nvGrpSpPr>
        <p:grpSpPr bwMode="auto">
          <a:xfrm>
            <a:off x="4587875" y="5233988"/>
            <a:ext cx="385763" cy="319087"/>
            <a:chOff x="11283" y="10423"/>
            <a:chExt cx="475" cy="374"/>
          </a:xfrm>
        </p:grpSpPr>
        <p:sp>
          <p:nvSpPr>
            <p:cNvPr id="167035" name="Rectangle 220">
              <a:extLst>
                <a:ext uri="{FF2B5EF4-FFF2-40B4-BE49-F238E27FC236}">
                  <a16:creationId xmlns:a16="http://schemas.microsoft.com/office/drawing/2014/main" id="{3475459B-D80D-4D71-A2CE-49BE9DA472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36" name="Line 221">
              <a:extLst>
                <a:ext uri="{FF2B5EF4-FFF2-40B4-BE49-F238E27FC236}">
                  <a16:creationId xmlns:a16="http://schemas.microsoft.com/office/drawing/2014/main" id="{68305C7C-6360-44D9-9612-1361D66A4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37" name="Line 222">
              <a:extLst>
                <a:ext uri="{FF2B5EF4-FFF2-40B4-BE49-F238E27FC236}">
                  <a16:creationId xmlns:a16="http://schemas.microsoft.com/office/drawing/2014/main" id="{BC46835A-4793-4B12-9479-E62BBCDFC4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38" name="Line 223">
              <a:extLst>
                <a:ext uri="{FF2B5EF4-FFF2-40B4-BE49-F238E27FC236}">
                  <a16:creationId xmlns:a16="http://schemas.microsoft.com/office/drawing/2014/main" id="{4661A025-C7A7-42A0-8454-AF8525137C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39" name="Line 224">
              <a:extLst>
                <a:ext uri="{FF2B5EF4-FFF2-40B4-BE49-F238E27FC236}">
                  <a16:creationId xmlns:a16="http://schemas.microsoft.com/office/drawing/2014/main" id="{365282E0-A644-40D4-856A-01DD8299A9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40" name="Line 225">
              <a:extLst>
                <a:ext uri="{FF2B5EF4-FFF2-40B4-BE49-F238E27FC236}">
                  <a16:creationId xmlns:a16="http://schemas.microsoft.com/office/drawing/2014/main" id="{8509283A-0ABD-42C9-B72F-0B835C9492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41" name="Line 226">
              <a:extLst>
                <a:ext uri="{FF2B5EF4-FFF2-40B4-BE49-F238E27FC236}">
                  <a16:creationId xmlns:a16="http://schemas.microsoft.com/office/drawing/2014/main" id="{9BD87569-B947-4505-83CC-39EFB09107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6946" name="Line 227">
            <a:extLst>
              <a:ext uri="{FF2B5EF4-FFF2-40B4-BE49-F238E27FC236}">
                <a16:creationId xmlns:a16="http://schemas.microsoft.com/office/drawing/2014/main" id="{A034255C-158A-40ED-AB0D-36D7623FBB2A}"/>
              </a:ext>
            </a:extLst>
          </p:cNvPr>
          <p:cNvSpPr>
            <a:spLocks noChangeShapeType="1"/>
          </p:cNvSpPr>
          <p:nvPr/>
        </p:nvSpPr>
        <p:spPr bwMode="auto">
          <a:xfrm>
            <a:off x="4845050" y="4017963"/>
            <a:ext cx="339725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6947" name="Freeform 228">
            <a:extLst>
              <a:ext uri="{FF2B5EF4-FFF2-40B4-BE49-F238E27FC236}">
                <a16:creationId xmlns:a16="http://schemas.microsoft.com/office/drawing/2014/main" id="{7AD9C7AA-462F-497C-8E52-7B714C33443E}"/>
              </a:ext>
            </a:extLst>
          </p:cNvPr>
          <p:cNvSpPr>
            <a:spLocks/>
          </p:cNvSpPr>
          <p:nvPr/>
        </p:nvSpPr>
        <p:spPr bwMode="auto">
          <a:xfrm>
            <a:off x="1663700" y="4865688"/>
            <a:ext cx="4854575" cy="1228725"/>
          </a:xfrm>
          <a:custGeom>
            <a:avLst/>
            <a:gdLst>
              <a:gd name="T0" fmla="*/ 0 w 6225"/>
              <a:gd name="T1" fmla="*/ 0 h 1501"/>
              <a:gd name="T2" fmla="*/ 0 w 6225"/>
              <a:gd name="T3" fmla="*/ 2147483646 h 1501"/>
              <a:gd name="T4" fmla="*/ 2147483646 w 6225"/>
              <a:gd name="T5" fmla="*/ 2147483646 h 1501"/>
              <a:gd name="T6" fmla="*/ 2147483646 w 6225"/>
              <a:gd name="T7" fmla="*/ 2147483646 h 1501"/>
              <a:gd name="T8" fmla="*/ 2147483646 w 6225"/>
              <a:gd name="T9" fmla="*/ 2147483646 h 1501"/>
              <a:gd name="T10" fmla="*/ 2147483646 w 6225"/>
              <a:gd name="T11" fmla="*/ 2147483646 h 1501"/>
              <a:gd name="T12" fmla="*/ 2147483646 w 6225"/>
              <a:gd name="T13" fmla="*/ 2147483646 h 1501"/>
              <a:gd name="T14" fmla="*/ 2147483646 w 6225"/>
              <a:gd name="T15" fmla="*/ 2147483646 h 1501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6225"/>
              <a:gd name="T25" fmla="*/ 0 h 1501"/>
              <a:gd name="T26" fmla="*/ 6225 w 6225"/>
              <a:gd name="T27" fmla="*/ 1501 h 1501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6225" h="1501">
                <a:moveTo>
                  <a:pt x="0" y="0"/>
                </a:moveTo>
                <a:lnTo>
                  <a:pt x="0" y="1486"/>
                </a:lnTo>
                <a:lnTo>
                  <a:pt x="1005" y="1501"/>
                </a:lnTo>
                <a:lnTo>
                  <a:pt x="1860" y="706"/>
                </a:lnTo>
                <a:lnTo>
                  <a:pt x="5085" y="721"/>
                </a:lnTo>
                <a:lnTo>
                  <a:pt x="4305" y="1456"/>
                </a:lnTo>
                <a:lnTo>
                  <a:pt x="6225" y="1456"/>
                </a:lnTo>
                <a:lnTo>
                  <a:pt x="6220" y="391"/>
                </a:lnTo>
              </a:path>
            </a:pathLst>
          </a:custGeom>
          <a:noFill/>
          <a:ln w="38100" cmpd="sng">
            <a:solidFill>
              <a:srgbClr val="80808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6948" name="Freeform 229">
            <a:extLst>
              <a:ext uri="{FF2B5EF4-FFF2-40B4-BE49-F238E27FC236}">
                <a16:creationId xmlns:a16="http://schemas.microsoft.com/office/drawing/2014/main" id="{561D73CB-CBDD-4D82-A102-651AC14D6E96}"/>
              </a:ext>
            </a:extLst>
          </p:cNvPr>
          <p:cNvSpPr>
            <a:spLocks/>
          </p:cNvSpPr>
          <p:nvPr/>
        </p:nvSpPr>
        <p:spPr bwMode="auto">
          <a:xfrm>
            <a:off x="2822575" y="3698875"/>
            <a:ext cx="4210050" cy="1646238"/>
          </a:xfrm>
          <a:custGeom>
            <a:avLst/>
            <a:gdLst>
              <a:gd name="T0" fmla="*/ 0 w 5400"/>
              <a:gd name="T1" fmla="*/ 0 h 2010"/>
              <a:gd name="T2" fmla="*/ 0 w 5400"/>
              <a:gd name="T3" fmla="*/ 2147483646 h 2010"/>
              <a:gd name="T4" fmla="*/ 2147483646 w 5400"/>
              <a:gd name="T5" fmla="*/ 2147483646 h 2010"/>
              <a:gd name="T6" fmla="*/ 2147483646 w 5400"/>
              <a:gd name="T7" fmla="*/ 2147483646 h 2010"/>
              <a:gd name="T8" fmla="*/ 2147483646 w 5400"/>
              <a:gd name="T9" fmla="*/ 2147483646 h 2010"/>
              <a:gd name="T10" fmla="*/ 2147483646 w 5400"/>
              <a:gd name="T11" fmla="*/ 2147483646 h 2010"/>
              <a:gd name="T12" fmla="*/ 2147483646 w 5400"/>
              <a:gd name="T13" fmla="*/ 2147483646 h 2010"/>
              <a:gd name="T14" fmla="*/ 2147483646 w 5400"/>
              <a:gd name="T15" fmla="*/ 2147483646 h 201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400"/>
              <a:gd name="T25" fmla="*/ 0 h 2010"/>
              <a:gd name="T26" fmla="*/ 5400 w 5400"/>
              <a:gd name="T27" fmla="*/ 2010 h 201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400" h="2010">
                <a:moveTo>
                  <a:pt x="0" y="0"/>
                </a:moveTo>
                <a:lnTo>
                  <a:pt x="0" y="1485"/>
                </a:lnTo>
                <a:lnTo>
                  <a:pt x="1005" y="1500"/>
                </a:lnTo>
                <a:lnTo>
                  <a:pt x="540" y="2010"/>
                </a:lnTo>
                <a:lnTo>
                  <a:pt x="3615" y="2010"/>
                </a:lnTo>
                <a:lnTo>
                  <a:pt x="4350" y="1275"/>
                </a:lnTo>
                <a:lnTo>
                  <a:pt x="5400" y="1290"/>
                </a:lnTo>
                <a:lnTo>
                  <a:pt x="5400" y="120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6949" name="Oval 230">
            <a:extLst>
              <a:ext uri="{FF2B5EF4-FFF2-40B4-BE49-F238E27FC236}">
                <a16:creationId xmlns:a16="http://schemas.microsoft.com/office/drawing/2014/main" id="{C3341BD0-9255-49FE-B3C4-68A206A7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871913"/>
            <a:ext cx="112712" cy="115887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6950" name="Text Box 231">
            <a:extLst>
              <a:ext uri="{FF2B5EF4-FFF2-40B4-BE49-F238E27FC236}">
                <a16:creationId xmlns:a16="http://schemas.microsoft.com/office/drawing/2014/main" id="{2089F49A-FD3C-4DAA-B1A4-E7440A3F64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1200" y="3778250"/>
            <a:ext cx="2349500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>
                <a:solidFill>
                  <a:srgbClr val="FF0000"/>
                </a:solidFill>
                <a:latin typeface="Arial" panose="020B0604020202020204" pitchFamily="34" charset="0"/>
              </a:rPr>
              <a:t>'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:</a:t>
            </a:r>
            <a:r>
              <a:rPr lang="en-US" altLang="zh-TW" sz="140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original data, </a:t>
            </a:r>
            <a:r>
              <a:rPr lang="en-US" altLang="zh-TW" sz="1600" i="1">
                <a:solidFill>
                  <a:srgbClr val="FF0000"/>
                </a:solidFill>
                <a:latin typeface="Arial" panose="020B0604020202020204" pitchFamily="34" charset="0"/>
              </a:rPr>
              <a:t>plus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 retransmitted data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6951" name="Line 232">
            <a:extLst>
              <a:ext uri="{FF2B5EF4-FFF2-40B4-BE49-F238E27FC236}">
                <a16:creationId xmlns:a16="http://schemas.microsoft.com/office/drawing/2014/main" id="{FC6E274D-C2E3-4ABC-97F0-7955F25DD76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9888" y="3938588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6952" name="Line 233">
            <a:extLst>
              <a:ext uri="{FF2B5EF4-FFF2-40B4-BE49-F238E27FC236}">
                <a16:creationId xmlns:a16="http://schemas.microsoft.com/office/drawing/2014/main" id="{86F3F1E0-BA6C-4452-87D8-94523B3D7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3705225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6953" name="Line 234">
            <a:extLst>
              <a:ext uri="{FF2B5EF4-FFF2-40B4-BE49-F238E27FC236}">
                <a16:creationId xmlns:a16="http://schemas.microsoft.com/office/drawing/2014/main" id="{047BDFEE-5DAB-4252-8047-85458E865E6C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763" y="3857625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403691" name="Rectangle 235">
            <a:extLst>
              <a:ext uri="{FF2B5EF4-FFF2-40B4-BE49-F238E27FC236}">
                <a16:creationId xmlns:a16="http://schemas.microsoft.com/office/drawing/2014/main" id="{5335FE43-63DE-4D0A-A9E0-E6CF6AACA4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0" y="3846513"/>
            <a:ext cx="244475" cy="155575"/>
          </a:xfrm>
          <a:prstGeom prst="rect">
            <a:avLst/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403692" name="Text Box 236">
            <a:extLst>
              <a:ext uri="{FF2B5EF4-FFF2-40B4-BE49-F238E27FC236}">
                <a16:creationId xmlns:a16="http://schemas.microsoft.com/office/drawing/2014/main" id="{25816A58-C37D-446E-B291-ED7226E9E5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5863" y="4805363"/>
            <a:ext cx="17684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6600"/>
                </a:solidFill>
                <a:latin typeface="Arial" panose="020B0604020202020204" pitchFamily="34" charset="0"/>
              </a:rPr>
              <a:t>free buffer space!</a:t>
            </a:r>
          </a:p>
        </p:txBody>
      </p:sp>
      <p:sp>
        <p:nvSpPr>
          <p:cNvPr id="403693" name="Rectangle 237">
            <a:extLst>
              <a:ext uri="{FF2B5EF4-FFF2-40B4-BE49-F238E27FC236}">
                <a16:creationId xmlns:a16="http://schemas.microsoft.com/office/drawing/2014/main" id="{FE36D5B2-136A-406E-AE0E-8A30F4373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0" y="3844925"/>
            <a:ext cx="244475" cy="155575"/>
          </a:xfrm>
          <a:prstGeom prst="rect">
            <a:avLst/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66957" name="Picture 260" descr="underline_base">
            <a:extLst>
              <a:ext uri="{FF2B5EF4-FFF2-40B4-BE49-F238E27FC236}">
                <a16:creationId xmlns:a16="http://schemas.microsoft.com/office/drawing/2014/main" id="{F9A13EC7-24B3-4769-8647-80C09C2A0C47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206" name="Rectangle 261">
            <a:extLst>
              <a:ext uri="{FF2B5EF4-FFF2-40B4-BE49-F238E27FC236}">
                <a16:creationId xmlns:a16="http://schemas.microsoft.com/office/drawing/2014/main" id="{1166A891-9DE8-4326-8A4C-91E70F3D49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2b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sp>
        <p:nvSpPr>
          <p:cNvPr id="166959" name="Rectangle 264">
            <a:extLst>
              <a:ext uri="{FF2B5EF4-FFF2-40B4-BE49-F238E27FC236}">
                <a16:creationId xmlns:a16="http://schemas.microsoft.com/office/drawing/2014/main" id="{85DF3402-CD07-4FC9-942B-5F662561E9E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61938" y="1133475"/>
            <a:ext cx="6256337" cy="1916113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000099"/>
                </a:solidFill>
              </a:rPr>
              <a:t>Idealization: </a:t>
            </a:r>
            <a:r>
              <a:rPr lang="en-US" altLang="zh-TW" i="1" dirty="0">
                <a:solidFill>
                  <a:srgbClr val="CC0000"/>
                </a:solidFill>
              </a:rPr>
              <a:t>known loss</a:t>
            </a:r>
            <a:r>
              <a:rPr lang="en-US" altLang="zh-TW" sz="2400" dirty="0"/>
              <a:t> packets can be lost, dropped at router due  to full buffers</a:t>
            </a:r>
          </a:p>
          <a:p>
            <a:r>
              <a:rPr lang="en-US" altLang="zh-TW" sz="2400" dirty="0"/>
              <a:t>sender only resends if packet </a:t>
            </a:r>
            <a:r>
              <a:rPr lang="en-US" altLang="zh-TW" sz="2400" i="1" dirty="0"/>
              <a:t>known</a:t>
            </a:r>
            <a:r>
              <a:rPr lang="en-US" altLang="zh-TW" sz="2400" dirty="0"/>
              <a:t> to be lost</a:t>
            </a:r>
          </a:p>
          <a:p>
            <a:r>
              <a:rPr lang="en-US" altLang="zh-TW" sz="2400" dirty="0"/>
              <a:t>out of R/2 units of data transmitted:</a:t>
            </a:r>
          </a:p>
          <a:p>
            <a:pPr lvl="1"/>
            <a:r>
              <a:rPr lang="en-US" altLang="zh-TW" sz="2000" dirty="0"/>
              <a:t>R/3 bytes/sec are original data </a:t>
            </a:r>
          </a:p>
          <a:p>
            <a:pPr lvl="1"/>
            <a:r>
              <a:rPr lang="en-US" altLang="zh-TW" sz="2000" dirty="0"/>
              <a:t>R/6 bytes/sec are retransmitted data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  <p:sp>
        <p:nvSpPr>
          <p:cNvPr id="166960" name="Freeform 267">
            <a:extLst>
              <a:ext uri="{FF2B5EF4-FFF2-40B4-BE49-F238E27FC236}">
                <a16:creationId xmlns:a16="http://schemas.microsoft.com/office/drawing/2014/main" id="{3F976D55-06B8-470B-B035-2B96B98F76E2}"/>
              </a:ext>
            </a:extLst>
          </p:cNvPr>
          <p:cNvSpPr>
            <a:spLocks/>
          </p:cNvSpPr>
          <p:nvPr/>
        </p:nvSpPr>
        <p:spPr bwMode="auto">
          <a:xfrm flipH="1">
            <a:off x="1066800" y="4667250"/>
            <a:ext cx="250825" cy="1201738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6961" name="Freeform 273">
            <a:extLst>
              <a:ext uri="{FF2B5EF4-FFF2-40B4-BE49-F238E27FC236}">
                <a16:creationId xmlns:a16="http://schemas.microsoft.com/office/drawing/2014/main" id="{D0231142-63BB-43CF-81E9-88BC36D3C82B}"/>
              </a:ext>
            </a:extLst>
          </p:cNvPr>
          <p:cNvSpPr>
            <a:spLocks/>
          </p:cNvSpPr>
          <p:nvPr/>
        </p:nvSpPr>
        <p:spPr bwMode="auto">
          <a:xfrm>
            <a:off x="7416800" y="3665538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6962" name="Freeform 276">
            <a:extLst>
              <a:ext uri="{FF2B5EF4-FFF2-40B4-BE49-F238E27FC236}">
                <a16:creationId xmlns:a16="http://schemas.microsoft.com/office/drawing/2014/main" id="{83E1AD0C-0839-42C9-8B1D-8494D5A362A8}"/>
              </a:ext>
            </a:extLst>
          </p:cNvPr>
          <p:cNvSpPr>
            <a:spLocks/>
          </p:cNvSpPr>
          <p:nvPr/>
        </p:nvSpPr>
        <p:spPr bwMode="auto">
          <a:xfrm>
            <a:off x="6948488" y="4981575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6963" name="Text Box 278">
            <a:extLst>
              <a:ext uri="{FF2B5EF4-FFF2-40B4-BE49-F238E27FC236}">
                <a16:creationId xmlns:a16="http://schemas.microsoft.com/office/drawing/2014/main" id="{842170DE-A364-4A1A-900A-B15AB6851F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8700" y="4705350"/>
            <a:ext cx="8524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6964" name="Text Box 279">
            <a:extLst>
              <a:ext uri="{FF2B5EF4-FFF2-40B4-BE49-F238E27FC236}">
                <a16:creationId xmlns:a16="http://schemas.microsoft.com/office/drawing/2014/main" id="{3F7B03A1-58AD-4F6A-AC0D-758A7460FD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073775"/>
            <a:ext cx="8778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Host B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grpSp>
        <p:nvGrpSpPr>
          <p:cNvPr id="166965" name="Group 281">
            <a:extLst>
              <a:ext uri="{FF2B5EF4-FFF2-40B4-BE49-F238E27FC236}">
                <a16:creationId xmlns:a16="http://schemas.microsoft.com/office/drawing/2014/main" id="{14991001-1FF8-465A-8222-C8C0A78AF8BC}"/>
              </a:ext>
            </a:extLst>
          </p:cNvPr>
          <p:cNvGrpSpPr>
            <a:grpSpLocks/>
          </p:cNvGrpSpPr>
          <p:nvPr/>
        </p:nvGrpSpPr>
        <p:grpSpPr bwMode="auto">
          <a:xfrm>
            <a:off x="7553325" y="4564063"/>
            <a:ext cx="231775" cy="441325"/>
            <a:chOff x="4140" y="429"/>
            <a:chExt cx="1425" cy="2396"/>
          </a:xfrm>
        </p:grpSpPr>
        <p:sp>
          <p:nvSpPr>
            <p:cNvPr id="167003" name="Freeform 282">
              <a:extLst>
                <a:ext uri="{FF2B5EF4-FFF2-40B4-BE49-F238E27FC236}">
                  <a16:creationId xmlns:a16="http://schemas.microsoft.com/office/drawing/2014/main" id="{0A4A829B-6973-4A2A-838B-A609ED44FBF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04" name="Rectangle 283">
              <a:extLst>
                <a:ext uri="{FF2B5EF4-FFF2-40B4-BE49-F238E27FC236}">
                  <a16:creationId xmlns:a16="http://schemas.microsoft.com/office/drawing/2014/main" id="{A408007D-F864-4AB8-9042-B232386193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05" name="Freeform 284">
              <a:extLst>
                <a:ext uri="{FF2B5EF4-FFF2-40B4-BE49-F238E27FC236}">
                  <a16:creationId xmlns:a16="http://schemas.microsoft.com/office/drawing/2014/main" id="{444F1557-793D-413A-8F52-A6C0183AE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06" name="Freeform 285">
              <a:extLst>
                <a:ext uri="{FF2B5EF4-FFF2-40B4-BE49-F238E27FC236}">
                  <a16:creationId xmlns:a16="http://schemas.microsoft.com/office/drawing/2014/main" id="{7BE14B91-A6D4-4B97-AF30-D1BE7FB4EDB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07" name="Rectangle 286">
              <a:extLst>
                <a:ext uri="{FF2B5EF4-FFF2-40B4-BE49-F238E27FC236}">
                  <a16:creationId xmlns:a16="http://schemas.microsoft.com/office/drawing/2014/main" id="{E67BC086-7789-405B-BC72-285FE5D663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7008" name="Group 287">
              <a:extLst>
                <a:ext uri="{FF2B5EF4-FFF2-40B4-BE49-F238E27FC236}">
                  <a16:creationId xmlns:a16="http://schemas.microsoft.com/office/drawing/2014/main" id="{E27BDE9D-D74C-4C00-BFF3-5B86670B8A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7033" name="AutoShape 288">
                <a:extLst>
                  <a:ext uri="{FF2B5EF4-FFF2-40B4-BE49-F238E27FC236}">
                    <a16:creationId xmlns:a16="http://schemas.microsoft.com/office/drawing/2014/main" id="{96339A45-E3C1-4830-81A7-DBA9E9FAB7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7034" name="AutoShape 289">
                <a:extLst>
                  <a:ext uri="{FF2B5EF4-FFF2-40B4-BE49-F238E27FC236}">
                    <a16:creationId xmlns:a16="http://schemas.microsoft.com/office/drawing/2014/main" id="{EEE6C057-216C-4803-945E-3BE274744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7009" name="Rectangle 290">
              <a:extLst>
                <a:ext uri="{FF2B5EF4-FFF2-40B4-BE49-F238E27FC236}">
                  <a16:creationId xmlns:a16="http://schemas.microsoft.com/office/drawing/2014/main" id="{EECD184D-2E72-44A3-BACF-DFC80A4086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7010" name="Group 291">
              <a:extLst>
                <a:ext uri="{FF2B5EF4-FFF2-40B4-BE49-F238E27FC236}">
                  <a16:creationId xmlns:a16="http://schemas.microsoft.com/office/drawing/2014/main" id="{4824CA9F-491B-428E-93AD-9E38A5D923D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7031" name="AutoShape 292">
                <a:extLst>
                  <a:ext uri="{FF2B5EF4-FFF2-40B4-BE49-F238E27FC236}">
                    <a16:creationId xmlns:a16="http://schemas.microsoft.com/office/drawing/2014/main" id="{FA971253-DF6A-46F5-9563-BD80FF3572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7032" name="AutoShape 293">
                <a:extLst>
                  <a:ext uri="{FF2B5EF4-FFF2-40B4-BE49-F238E27FC236}">
                    <a16:creationId xmlns:a16="http://schemas.microsoft.com/office/drawing/2014/main" id="{F452A7B6-D5AA-492C-B7C3-491C2A1B41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7011" name="Rectangle 294">
              <a:extLst>
                <a:ext uri="{FF2B5EF4-FFF2-40B4-BE49-F238E27FC236}">
                  <a16:creationId xmlns:a16="http://schemas.microsoft.com/office/drawing/2014/main" id="{5B5F5EBE-FF42-454B-B0AA-EBF6BB482F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12" name="Rectangle 295">
              <a:extLst>
                <a:ext uri="{FF2B5EF4-FFF2-40B4-BE49-F238E27FC236}">
                  <a16:creationId xmlns:a16="http://schemas.microsoft.com/office/drawing/2014/main" id="{DF70E7CD-4AE2-4681-A887-0FE3224EB7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7013" name="Group 296">
              <a:extLst>
                <a:ext uri="{FF2B5EF4-FFF2-40B4-BE49-F238E27FC236}">
                  <a16:creationId xmlns:a16="http://schemas.microsoft.com/office/drawing/2014/main" id="{5DED9ECF-EF2E-4066-BE0A-B247F22156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7029" name="AutoShape 297">
                <a:extLst>
                  <a:ext uri="{FF2B5EF4-FFF2-40B4-BE49-F238E27FC236}">
                    <a16:creationId xmlns:a16="http://schemas.microsoft.com/office/drawing/2014/main" id="{BC701672-A55E-4E0B-9F72-21B5B57885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7030" name="AutoShape 298">
                <a:extLst>
                  <a:ext uri="{FF2B5EF4-FFF2-40B4-BE49-F238E27FC236}">
                    <a16:creationId xmlns:a16="http://schemas.microsoft.com/office/drawing/2014/main" id="{D6083B0F-8CB6-4D21-9176-8CE25BCDCC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7014" name="Freeform 299">
              <a:extLst>
                <a:ext uri="{FF2B5EF4-FFF2-40B4-BE49-F238E27FC236}">
                  <a16:creationId xmlns:a16="http://schemas.microsoft.com/office/drawing/2014/main" id="{72B26863-5E08-4872-B51A-80E7C26465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7015" name="Group 300">
              <a:extLst>
                <a:ext uri="{FF2B5EF4-FFF2-40B4-BE49-F238E27FC236}">
                  <a16:creationId xmlns:a16="http://schemas.microsoft.com/office/drawing/2014/main" id="{3CE03E5D-39B5-4997-B3E1-B5B10FC6AE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7027" name="AutoShape 301">
                <a:extLst>
                  <a:ext uri="{FF2B5EF4-FFF2-40B4-BE49-F238E27FC236}">
                    <a16:creationId xmlns:a16="http://schemas.microsoft.com/office/drawing/2014/main" id="{B9517772-2465-460B-B0A3-416BCCD60C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7028" name="AutoShape 302">
                <a:extLst>
                  <a:ext uri="{FF2B5EF4-FFF2-40B4-BE49-F238E27FC236}">
                    <a16:creationId xmlns:a16="http://schemas.microsoft.com/office/drawing/2014/main" id="{2903AEE1-B8F9-40AD-AC1C-C85D578C4E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7016" name="Rectangle 303">
              <a:extLst>
                <a:ext uri="{FF2B5EF4-FFF2-40B4-BE49-F238E27FC236}">
                  <a16:creationId xmlns:a16="http://schemas.microsoft.com/office/drawing/2014/main" id="{520D478F-5C3C-43DF-AF20-C76857232A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17" name="Freeform 304">
              <a:extLst>
                <a:ext uri="{FF2B5EF4-FFF2-40B4-BE49-F238E27FC236}">
                  <a16:creationId xmlns:a16="http://schemas.microsoft.com/office/drawing/2014/main" id="{88AC164B-A58A-4BC4-A1A4-62F4611E52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18" name="Freeform 305">
              <a:extLst>
                <a:ext uri="{FF2B5EF4-FFF2-40B4-BE49-F238E27FC236}">
                  <a16:creationId xmlns:a16="http://schemas.microsoft.com/office/drawing/2014/main" id="{D71DEDEA-2724-4049-8D57-7F5AB791321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19" name="Oval 306">
              <a:extLst>
                <a:ext uri="{FF2B5EF4-FFF2-40B4-BE49-F238E27FC236}">
                  <a16:creationId xmlns:a16="http://schemas.microsoft.com/office/drawing/2014/main" id="{406F60EE-50B6-4DAE-8B27-118B74C8F4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20" name="Freeform 307">
              <a:extLst>
                <a:ext uri="{FF2B5EF4-FFF2-40B4-BE49-F238E27FC236}">
                  <a16:creationId xmlns:a16="http://schemas.microsoft.com/office/drawing/2014/main" id="{6EFCA968-F362-4FC4-B224-2B0537B01B4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021" name="AutoShape 308">
              <a:extLst>
                <a:ext uri="{FF2B5EF4-FFF2-40B4-BE49-F238E27FC236}">
                  <a16:creationId xmlns:a16="http://schemas.microsoft.com/office/drawing/2014/main" id="{B40A096C-9F73-48E2-A24B-0970006DC4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22" name="AutoShape 309">
              <a:extLst>
                <a:ext uri="{FF2B5EF4-FFF2-40B4-BE49-F238E27FC236}">
                  <a16:creationId xmlns:a16="http://schemas.microsoft.com/office/drawing/2014/main" id="{DE8817D6-41EC-4B21-BB3F-3070824C4B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23" name="Oval 310">
              <a:extLst>
                <a:ext uri="{FF2B5EF4-FFF2-40B4-BE49-F238E27FC236}">
                  <a16:creationId xmlns:a16="http://schemas.microsoft.com/office/drawing/2014/main" id="{F3BDB048-1A0C-4384-9E31-34AE377BC2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24" name="Oval 311">
              <a:extLst>
                <a:ext uri="{FF2B5EF4-FFF2-40B4-BE49-F238E27FC236}">
                  <a16:creationId xmlns:a16="http://schemas.microsoft.com/office/drawing/2014/main" id="{9E136A36-8CD6-49FF-8E67-58222860AA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025" name="Oval 312">
              <a:extLst>
                <a:ext uri="{FF2B5EF4-FFF2-40B4-BE49-F238E27FC236}">
                  <a16:creationId xmlns:a16="http://schemas.microsoft.com/office/drawing/2014/main" id="{1CD5D9C0-12F1-4BD5-855E-8F3501051A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026" name="Rectangle 313">
              <a:extLst>
                <a:ext uri="{FF2B5EF4-FFF2-40B4-BE49-F238E27FC236}">
                  <a16:creationId xmlns:a16="http://schemas.microsoft.com/office/drawing/2014/main" id="{3C3DDCF9-C5B3-4430-A91A-15CED785AD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6966" name="Group 314">
            <a:extLst>
              <a:ext uri="{FF2B5EF4-FFF2-40B4-BE49-F238E27FC236}">
                <a16:creationId xmlns:a16="http://schemas.microsoft.com/office/drawing/2014/main" id="{EECBC745-FBFF-489D-AD00-98C693189A97}"/>
              </a:ext>
            </a:extLst>
          </p:cNvPr>
          <p:cNvGrpSpPr>
            <a:grpSpLocks/>
          </p:cNvGrpSpPr>
          <p:nvPr/>
        </p:nvGrpSpPr>
        <p:grpSpPr bwMode="auto">
          <a:xfrm>
            <a:off x="7135813" y="5867400"/>
            <a:ext cx="231775" cy="441325"/>
            <a:chOff x="4140" y="429"/>
            <a:chExt cx="1425" cy="2396"/>
          </a:xfrm>
        </p:grpSpPr>
        <p:sp>
          <p:nvSpPr>
            <p:cNvPr id="166971" name="Freeform 315">
              <a:extLst>
                <a:ext uri="{FF2B5EF4-FFF2-40B4-BE49-F238E27FC236}">
                  <a16:creationId xmlns:a16="http://schemas.microsoft.com/office/drawing/2014/main" id="{351B96EA-5FF7-473E-A94B-F0C7A37B65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972" name="Rectangle 316">
              <a:extLst>
                <a:ext uri="{FF2B5EF4-FFF2-40B4-BE49-F238E27FC236}">
                  <a16:creationId xmlns:a16="http://schemas.microsoft.com/office/drawing/2014/main" id="{CD4717E8-CD02-4F05-8C53-C484FDE1BA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973" name="Freeform 317">
              <a:extLst>
                <a:ext uri="{FF2B5EF4-FFF2-40B4-BE49-F238E27FC236}">
                  <a16:creationId xmlns:a16="http://schemas.microsoft.com/office/drawing/2014/main" id="{C6735508-2A78-4FB5-B692-24DD9290D4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974" name="Freeform 318">
              <a:extLst>
                <a:ext uri="{FF2B5EF4-FFF2-40B4-BE49-F238E27FC236}">
                  <a16:creationId xmlns:a16="http://schemas.microsoft.com/office/drawing/2014/main" id="{68835C57-89B6-4DCF-9018-8EAE5CE722B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975" name="Rectangle 319">
              <a:extLst>
                <a:ext uri="{FF2B5EF4-FFF2-40B4-BE49-F238E27FC236}">
                  <a16:creationId xmlns:a16="http://schemas.microsoft.com/office/drawing/2014/main" id="{3017E124-5A6A-490E-8FFE-37F4CD41EC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6976" name="Group 320">
              <a:extLst>
                <a:ext uri="{FF2B5EF4-FFF2-40B4-BE49-F238E27FC236}">
                  <a16:creationId xmlns:a16="http://schemas.microsoft.com/office/drawing/2014/main" id="{817B01D3-94D8-4756-B95A-9F6CCA0A4B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7001" name="AutoShape 321">
                <a:extLst>
                  <a:ext uri="{FF2B5EF4-FFF2-40B4-BE49-F238E27FC236}">
                    <a16:creationId xmlns:a16="http://schemas.microsoft.com/office/drawing/2014/main" id="{506E1BB6-F6CA-4DD4-BD50-0690E15AAA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7002" name="AutoShape 322">
                <a:extLst>
                  <a:ext uri="{FF2B5EF4-FFF2-40B4-BE49-F238E27FC236}">
                    <a16:creationId xmlns:a16="http://schemas.microsoft.com/office/drawing/2014/main" id="{F4191424-5B3F-4819-A220-5EA8C4362E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6977" name="Rectangle 323">
              <a:extLst>
                <a:ext uri="{FF2B5EF4-FFF2-40B4-BE49-F238E27FC236}">
                  <a16:creationId xmlns:a16="http://schemas.microsoft.com/office/drawing/2014/main" id="{7991D441-6523-45B0-90A6-6D018232D0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6978" name="Group 324">
              <a:extLst>
                <a:ext uri="{FF2B5EF4-FFF2-40B4-BE49-F238E27FC236}">
                  <a16:creationId xmlns:a16="http://schemas.microsoft.com/office/drawing/2014/main" id="{26CD3E18-70F8-4B04-B351-B6982ACD77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6999" name="AutoShape 325">
                <a:extLst>
                  <a:ext uri="{FF2B5EF4-FFF2-40B4-BE49-F238E27FC236}">
                    <a16:creationId xmlns:a16="http://schemas.microsoft.com/office/drawing/2014/main" id="{9E490E25-2ECD-4D27-B7C6-CFCC1EBEBE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7000" name="AutoShape 326">
                <a:extLst>
                  <a:ext uri="{FF2B5EF4-FFF2-40B4-BE49-F238E27FC236}">
                    <a16:creationId xmlns:a16="http://schemas.microsoft.com/office/drawing/2014/main" id="{1A27A11B-8156-4179-B1E2-287C501A8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6979" name="Rectangle 327">
              <a:extLst>
                <a:ext uri="{FF2B5EF4-FFF2-40B4-BE49-F238E27FC236}">
                  <a16:creationId xmlns:a16="http://schemas.microsoft.com/office/drawing/2014/main" id="{E97C7DBD-67C4-405A-B035-E13789D293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980" name="Rectangle 328">
              <a:extLst>
                <a:ext uri="{FF2B5EF4-FFF2-40B4-BE49-F238E27FC236}">
                  <a16:creationId xmlns:a16="http://schemas.microsoft.com/office/drawing/2014/main" id="{234FC07D-35EF-4876-9D9D-321781F246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6981" name="Group 329">
              <a:extLst>
                <a:ext uri="{FF2B5EF4-FFF2-40B4-BE49-F238E27FC236}">
                  <a16:creationId xmlns:a16="http://schemas.microsoft.com/office/drawing/2014/main" id="{80F4969B-2DFA-4863-8CE2-F061970ECD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6997" name="AutoShape 330">
                <a:extLst>
                  <a:ext uri="{FF2B5EF4-FFF2-40B4-BE49-F238E27FC236}">
                    <a16:creationId xmlns:a16="http://schemas.microsoft.com/office/drawing/2014/main" id="{55187277-1017-4618-8D6E-57DFDBB2D7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6998" name="AutoShape 331">
                <a:extLst>
                  <a:ext uri="{FF2B5EF4-FFF2-40B4-BE49-F238E27FC236}">
                    <a16:creationId xmlns:a16="http://schemas.microsoft.com/office/drawing/2014/main" id="{768168FD-2C0B-4841-8293-EE03FBE0F6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6982" name="Freeform 332">
              <a:extLst>
                <a:ext uri="{FF2B5EF4-FFF2-40B4-BE49-F238E27FC236}">
                  <a16:creationId xmlns:a16="http://schemas.microsoft.com/office/drawing/2014/main" id="{9AA07062-7D64-4F8A-BA10-01ECB8BABA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6983" name="Group 333">
              <a:extLst>
                <a:ext uri="{FF2B5EF4-FFF2-40B4-BE49-F238E27FC236}">
                  <a16:creationId xmlns:a16="http://schemas.microsoft.com/office/drawing/2014/main" id="{EE7A4A9F-CEBA-4B32-920A-9B8DCE807A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6995" name="AutoShape 334">
                <a:extLst>
                  <a:ext uri="{FF2B5EF4-FFF2-40B4-BE49-F238E27FC236}">
                    <a16:creationId xmlns:a16="http://schemas.microsoft.com/office/drawing/2014/main" id="{464CA5C1-97E8-402F-9454-AB7605E3A5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6996" name="AutoShape 335">
                <a:extLst>
                  <a:ext uri="{FF2B5EF4-FFF2-40B4-BE49-F238E27FC236}">
                    <a16:creationId xmlns:a16="http://schemas.microsoft.com/office/drawing/2014/main" id="{FCE54FCF-6B25-41B1-B883-0053435B8B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6984" name="Rectangle 336">
              <a:extLst>
                <a:ext uri="{FF2B5EF4-FFF2-40B4-BE49-F238E27FC236}">
                  <a16:creationId xmlns:a16="http://schemas.microsoft.com/office/drawing/2014/main" id="{E03E8826-61D7-4CD5-9248-1D6FC97987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985" name="Freeform 337">
              <a:extLst>
                <a:ext uri="{FF2B5EF4-FFF2-40B4-BE49-F238E27FC236}">
                  <a16:creationId xmlns:a16="http://schemas.microsoft.com/office/drawing/2014/main" id="{AFB22D67-EE61-4887-B55D-5A549DC0CFB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986" name="Freeform 338">
              <a:extLst>
                <a:ext uri="{FF2B5EF4-FFF2-40B4-BE49-F238E27FC236}">
                  <a16:creationId xmlns:a16="http://schemas.microsoft.com/office/drawing/2014/main" id="{4AF1613D-5D7A-4EDF-BC52-73F18B46B50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987" name="Oval 339">
              <a:extLst>
                <a:ext uri="{FF2B5EF4-FFF2-40B4-BE49-F238E27FC236}">
                  <a16:creationId xmlns:a16="http://schemas.microsoft.com/office/drawing/2014/main" id="{8CEF40C3-49B6-46B9-A4F2-329094CB94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988" name="Freeform 340">
              <a:extLst>
                <a:ext uri="{FF2B5EF4-FFF2-40B4-BE49-F238E27FC236}">
                  <a16:creationId xmlns:a16="http://schemas.microsoft.com/office/drawing/2014/main" id="{1AB73B1F-B9A2-4A0B-86A9-496B2B9CD32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6989" name="AutoShape 341">
              <a:extLst>
                <a:ext uri="{FF2B5EF4-FFF2-40B4-BE49-F238E27FC236}">
                  <a16:creationId xmlns:a16="http://schemas.microsoft.com/office/drawing/2014/main" id="{C0B47EA7-CCA8-4FBA-BDFA-515015BA82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990" name="AutoShape 342">
              <a:extLst>
                <a:ext uri="{FF2B5EF4-FFF2-40B4-BE49-F238E27FC236}">
                  <a16:creationId xmlns:a16="http://schemas.microsoft.com/office/drawing/2014/main" id="{5FF7249E-CAD0-4D9F-922C-A0EFD0DBF7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991" name="Oval 343">
              <a:extLst>
                <a:ext uri="{FF2B5EF4-FFF2-40B4-BE49-F238E27FC236}">
                  <a16:creationId xmlns:a16="http://schemas.microsoft.com/office/drawing/2014/main" id="{6ADE029F-2B48-4017-80E1-493FC63104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992" name="Oval 344">
              <a:extLst>
                <a:ext uri="{FF2B5EF4-FFF2-40B4-BE49-F238E27FC236}">
                  <a16:creationId xmlns:a16="http://schemas.microsoft.com/office/drawing/2014/main" id="{FE515491-CBA7-4794-8A7F-6B28438565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6993" name="Oval 345">
              <a:extLst>
                <a:ext uri="{FF2B5EF4-FFF2-40B4-BE49-F238E27FC236}">
                  <a16:creationId xmlns:a16="http://schemas.microsoft.com/office/drawing/2014/main" id="{40A20B60-3CE4-4DD5-906A-7716DFA3AA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6994" name="Rectangle 346">
              <a:extLst>
                <a:ext uri="{FF2B5EF4-FFF2-40B4-BE49-F238E27FC236}">
                  <a16:creationId xmlns:a16="http://schemas.microsoft.com/office/drawing/2014/main" id="{3C664ED6-D308-41F5-A022-41B9914377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6967" name="Group 347">
            <a:extLst>
              <a:ext uri="{FF2B5EF4-FFF2-40B4-BE49-F238E27FC236}">
                <a16:creationId xmlns:a16="http://schemas.microsoft.com/office/drawing/2014/main" id="{E36D2B88-2B58-4223-B389-57C0821C4C42}"/>
              </a:ext>
            </a:extLst>
          </p:cNvPr>
          <p:cNvGrpSpPr>
            <a:grpSpLocks/>
          </p:cNvGrpSpPr>
          <p:nvPr/>
        </p:nvGrpSpPr>
        <p:grpSpPr bwMode="auto">
          <a:xfrm>
            <a:off x="661988" y="5605463"/>
            <a:ext cx="525462" cy="434975"/>
            <a:chOff x="-44" y="1473"/>
            <a:chExt cx="981" cy="1105"/>
          </a:xfrm>
        </p:grpSpPr>
        <p:pic>
          <p:nvPicPr>
            <p:cNvPr id="166969" name="Picture 348" descr="desktop_computer_stylized_medium">
              <a:extLst>
                <a:ext uri="{FF2B5EF4-FFF2-40B4-BE49-F238E27FC236}">
                  <a16:creationId xmlns:a16="http://schemas.microsoft.com/office/drawing/2014/main" id="{B997D109-E9EF-4738-8E50-61F4B3A42A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6970" name="Freeform 349">
              <a:extLst>
                <a:ext uri="{FF2B5EF4-FFF2-40B4-BE49-F238E27FC236}">
                  <a16:creationId xmlns:a16="http://schemas.microsoft.com/office/drawing/2014/main" id="{A7B8D16B-1616-4537-A513-0DCABCA7343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166968" name="Picture 2">
            <a:extLst>
              <a:ext uri="{FF2B5EF4-FFF2-40B4-BE49-F238E27FC236}">
                <a16:creationId xmlns:a16="http://schemas.microsoft.com/office/drawing/2014/main" id="{F86FEA4C-8D8E-4D9A-899E-9C0A5FAA10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6363" y="1050925"/>
            <a:ext cx="2465387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4.44444E-6 L 0.03333 4.44444E-6 L 0.03333 0.14583 L 0.1191 0.14583 L 0.07969 0.20625 L 0.22622 0.20625 " pathEditMode="relative" ptsTypes="AAAAAA">
                                      <p:cBhvr>
                                        <p:cTn id="6" dur="2000" fill="hold"/>
                                        <p:tgtEl>
                                          <p:spTgt spid="4036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03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12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2622 0.20625 L 0.275 0.20648 " pathEditMode="relative" ptsTypes="AA">
                                      <p:cBhvr>
                                        <p:cTn id="13" dur="3000" fill="hold"/>
                                        <p:tgtEl>
                                          <p:spTgt spid="4036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5500"/>
                            </p:stCondLst>
                            <p:childTnLst>
                              <p:par>
                                <p:cTn id="15" presetID="9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6" dur="500"/>
                                        <p:tgtEl>
                                          <p:spTgt spid="4036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3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19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75 0.20649 L 0.34289 0.20649 L 0.40834 0.11598 L 0.49775 0.12084 L 0.49775 -0.0111 " pathEditMode="relative" ptsTypes="AAAAA">
                                      <p:cBhvr>
                                        <p:cTn id="20" dur="2000" fill="hold"/>
                                        <p:tgtEl>
                                          <p:spTgt spid="4036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8000"/>
                            </p:stCondLst>
                            <p:childTnLst>
                              <p:par>
                                <p:cTn id="22" presetID="9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4036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3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6" dur="500"/>
                                        <p:tgtEl>
                                          <p:spTgt spid="4036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3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3691" grpId="0" animBg="1"/>
      <p:bldP spid="403691" grpId="1" animBg="1"/>
      <p:bldP spid="403691" grpId="2" animBg="1"/>
      <p:bldP spid="403691" grpId="3" animBg="1"/>
      <p:bldP spid="403692" grpId="0"/>
      <p:bldP spid="40369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Footer Placeholder 5">
            <a:extLst>
              <a:ext uri="{FF2B5EF4-FFF2-40B4-BE49-F238E27FC236}">
                <a16:creationId xmlns:a16="http://schemas.microsoft.com/office/drawing/2014/main" id="{1B5A482D-D74B-4D84-9307-B4B52DE5D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7939" name="Slide Number Placeholder 6">
            <a:extLst>
              <a:ext uri="{FF2B5EF4-FFF2-40B4-BE49-F238E27FC236}">
                <a16:creationId xmlns:a16="http://schemas.microsoft.com/office/drawing/2014/main" id="{3C8ED894-FF1E-4498-B1C9-4F94E45CC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F1DDD996-B348-40B6-AE74-EB5E8AD53A50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96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67940" name="Freeform 273">
            <a:extLst>
              <a:ext uri="{FF2B5EF4-FFF2-40B4-BE49-F238E27FC236}">
                <a16:creationId xmlns:a16="http://schemas.microsoft.com/office/drawing/2014/main" id="{7D44B1DD-0A46-427D-93E9-F10F247E7AAE}"/>
              </a:ext>
            </a:extLst>
          </p:cNvPr>
          <p:cNvSpPr>
            <a:spLocks/>
          </p:cNvSpPr>
          <p:nvPr/>
        </p:nvSpPr>
        <p:spPr bwMode="auto">
          <a:xfrm flipH="1">
            <a:off x="2111375" y="3465513"/>
            <a:ext cx="250825" cy="1201737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grpSp>
        <p:nvGrpSpPr>
          <p:cNvPr id="167941" name="Group 357">
            <a:extLst>
              <a:ext uri="{FF2B5EF4-FFF2-40B4-BE49-F238E27FC236}">
                <a16:creationId xmlns:a16="http://schemas.microsoft.com/office/drawing/2014/main" id="{3E74D3F4-E0C2-4991-803D-4249B696A0E3}"/>
              </a:ext>
            </a:extLst>
          </p:cNvPr>
          <p:cNvGrpSpPr>
            <a:grpSpLocks/>
          </p:cNvGrpSpPr>
          <p:nvPr/>
        </p:nvGrpSpPr>
        <p:grpSpPr bwMode="auto">
          <a:xfrm>
            <a:off x="1716088" y="4425950"/>
            <a:ext cx="525462" cy="434975"/>
            <a:chOff x="-44" y="1473"/>
            <a:chExt cx="981" cy="1105"/>
          </a:xfrm>
        </p:grpSpPr>
        <p:pic>
          <p:nvPicPr>
            <p:cNvPr id="168099" name="Picture 358" descr="desktop_computer_stylized_medium">
              <a:extLst>
                <a:ext uri="{FF2B5EF4-FFF2-40B4-BE49-F238E27FC236}">
                  <a16:creationId xmlns:a16="http://schemas.microsoft.com/office/drawing/2014/main" id="{DC30A0FC-EC61-40CC-AAC4-6F92207427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8100" name="Freeform 359">
              <a:extLst>
                <a:ext uri="{FF2B5EF4-FFF2-40B4-BE49-F238E27FC236}">
                  <a16:creationId xmlns:a16="http://schemas.microsoft.com/office/drawing/2014/main" id="{424B0A99-F608-4453-AC83-54D4DBD2103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67942" name="Oval 3">
            <a:extLst>
              <a:ext uri="{FF2B5EF4-FFF2-40B4-BE49-F238E27FC236}">
                <a16:creationId xmlns:a16="http://schemas.microsoft.com/office/drawing/2014/main" id="{4989EECC-5B6E-4093-8EE1-99EC856105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48288"/>
            <a:ext cx="1304925" cy="303212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7943" name="Line 4">
            <a:extLst>
              <a:ext uri="{FF2B5EF4-FFF2-40B4-BE49-F238E27FC236}">
                <a16:creationId xmlns:a16="http://schemas.microsoft.com/office/drawing/2014/main" id="{7DE515B3-1E56-4151-B989-3B31DD1CA04F}"/>
              </a:ext>
            </a:extLst>
          </p:cNvPr>
          <p:cNvSpPr>
            <a:spLocks noChangeShapeType="1"/>
          </p:cNvSpPr>
          <p:nvPr/>
        </p:nvSpPr>
        <p:spPr bwMode="auto">
          <a:xfrm>
            <a:off x="3795713" y="5324475"/>
            <a:ext cx="0" cy="18732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7944" name="Line 5">
            <a:extLst>
              <a:ext uri="{FF2B5EF4-FFF2-40B4-BE49-F238E27FC236}">
                <a16:creationId xmlns:a16="http://schemas.microsoft.com/office/drawing/2014/main" id="{621E71E2-9B69-4B01-BA2F-5F978C77BABE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0638" y="5324475"/>
            <a:ext cx="0" cy="187325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7945" name="Rectangle 6">
            <a:extLst>
              <a:ext uri="{FF2B5EF4-FFF2-40B4-BE49-F238E27FC236}">
                <a16:creationId xmlns:a16="http://schemas.microsoft.com/office/drawing/2014/main" id="{B71FAF02-F84F-465F-AE00-6D786CFF1D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5713" y="5324475"/>
            <a:ext cx="309562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7946" name="Rectangle 7">
            <a:extLst>
              <a:ext uri="{FF2B5EF4-FFF2-40B4-BE49-F238E27FC236}">
                <a16:creationId xmlns:a16="http://schemas.microsoft.com/office/drawing/2014/main" id="{D2A54702-843E-438D-9C1C-7E15580D4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5350" y="5311775"/>
            <a:ext cx="395288" cy="184150"/>
          </a:xfrm>
          <a:prstGeom prst="rect">
            <a:avLst/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7947" name="Oval 8">
            <a:extLst>
              <a:ext uri="{FF2B5EF4-FFF2-40B4-BE49-F238E27FC236}">
                <a16:creationId xmlns:a16="http://schemas.microsoft.com/office/drawing/2014/main" id="{78295607-C365-4F51-92FE-593A1FCF51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0950" y="5126038"/>
            <a:ext cx="1306513" cy="352425"/>
          </a:xfrm>
          <a:prstGeom prst="ellipse">
            <a:avLst/>
          </a:prstGeom>
          <a:solidFill>
            <a:srgbClr val="80808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67948" name="Group 9">
            <a:extLst>
              <a:ext uri="{FF2B5EF4-FFF2-40B4-BE49-F238E27FC236}">
                <a16:creationId xmlns:a16="http://schemas.microsoft.com/office/drawing/2014/main" id="{FE387787-1349-4E4F-A297-E84B59E8F52B}"/>
              </a:ext>
            </a:extLst>
          </p:cNvPr>
          <p:cNvGrpSpPr>
            <a:grpSpLocks/>
          </p:cNvGrpSpPr>
          <p:nvPr/>
        </p:nvGrpSpPr>
        <p:grpSpPr bwMode="auto">
          <a:xfrm>
            <a:off x="4097338" y="5183188"/>
            <a:ext cx="647700" cy="206375"/>
            <a:chOff x="2848" y="848"/>
            <a:chExt cx="140" cy="98"/>
          </a:xfrm>
        </p:grpSpPr>
        <p:sp>
          <p:nvSpPr>
            <p:cNvPr id="168096" name="Line 10">
              <a:extLst>
                <a:ext uri="{FF2B5EF4-FFF2-40B4-BE49-F238E27FC236}">
                  <a16:creationId xmlns:a16="http://schemas.microsoft.com/office/drawing/2014/main" id="{43541B37-979A-43CC-BF2B-E16E685BFD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8097" name="Line 11">
              <a:extLst>
                <a:ext uri="{FF2B5EF4-FFF2-40B4-BE49-F238E27FC236}">
                  <a16:creationId xmlns:a16="http://schemas.microsoft.com/office/drawing/2014/main" id="{50FE3A45-5E53-44C8-8657-AE42A7A391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8098" name="Line 12">
              <a:extLst>
                <a:ext uri="{FF2B5EF4-FFF2-40B4-BE49-F238E27FC236}">
                  <a16:creationId xmlns:a16="http://schemas.microsoft.com/office/drawing/2014/main" id="{7531F345-1736-44B4-83F2-1A6D7884F9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67949" name="Line 13">
            <a:extLst>
              <a:ext uri="{FF2B5EF4-FFF2-40B4-BE49-F238E27FC236}">
                <a16:creationId xmlns:a16="http://schemas.microsoft.com/office/drawing/2014/main" id="{522BF841-761E-4845-8179-AA0D43D409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7338" y="5381625"/>
            <a:ext cx="231775" cy="4763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7950" name="Line 14">
            <a:extLst>
              <a:ext uri="{FF2B5EF4-FFF2-40B4-BE49-F238E27FC236}">
                <a16:creationId xmlns:a16="http://schemas.microsoft.com/office/drawing/2014/main" id="{9D710026-901A-4B2B-AF14-C23A1A3D727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41838" y="5181600"/>
            <a:ext cx="203200" cy="0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7951" name="Line 15">
            <a:extLst>
              <a:ext uri="{FF2B5EF4-FFF2-40B4-BE49-F238E27FC236}">
                <a16:creationId xmlns:a16="http://schemas.microsoft.com/office/drawing/2014/main" id="{F08348C5-B6CA-49D1-9260-15484E5988D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10063" y="5181600"/>
            <a:ext cx="241300" cy="200025"/>
          </a:xfrm>
          <a:prstGeom prst="line">
            <a:avLst/>
          </a:prstGeom>
          <a:noFill/>
          <a:ln w="28575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7952" name="Line 16">
            <a:extLst>
              <a:ext uri="{FF2B5EF4-FFF2-40B4-BE49-F238E27FC236}">
                <a16:creationId xmlns:a16="http://schemas.microsoft.com/office/drawing/2014/main" id="{FD7997F3-D187-4D04-A8DB-B5CD3E18F7A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24113" y="4878388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7953" name="Line 17">
            <a:extLst>
              <a:ext uri="{FF2B5EF4-FFF2-40B4-BE49-F238E27FC236}">
                <a16:creationId xmlns:a16="http://schemas.microsoft.com/office/drawing/2014/main" id="{DA6729FC-99EB-4EE1-AE38-7D4141CA1DE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4878388"/>
            <a:ext cx="538162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7954" name="Group 58">
            <a:extLst>
              <a:ext uri="{FF2B5EF4-FFF2-40B4-BE49-F238E27FC236}">
                <a16:creationId xmlns:a16="http://schemas.microsoft.com/office/drawing/2014/main" id="{AE7645AA-ED18-418B-B97A-BD26DA4B3C06}"/>
              </a:ext>
            </a:extLst>
          </p:cNvPr>
          <p:cNvGrpSpPr>
            <a:grpSpLocks/>
          </p:cNvGrpSpPr>
          <p:nvPr/>
        </p:nvGrpSpPr>
        <p:grpSpPr bwMode="auto">
          <a:xfrm>
            <a:off x="2351088" y="3563938"/>
            <a:ext cx="798512" cy="1166812"/>
            <a:chOff x="12762" y="10336"/>
            <a:chExt cx="1027" cy="1700"/>
          </a:xfrm>
        </p:grpSpPr>
        <p:sp>
          <p:nvSpPr>
            <p:cNvPr id="168090" name="Rectangle 59">
              <a:extLst>
                <a:ext uri="{FF2B5EF4-FFF2-40B4-BE49-F238E27FC236}">
                  <a16:creationId xmlns:a16="http://schemas.microsoft.com/office/drawing/2014/main" id="{9FF31141-7E9D-427E-BE0B-3F0D783F84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91" name="Rectangle 60">
              <a:extLst>
                <a:ext uri="{FF2B5EF4-FFF2-40B4-BE49-F238E27FC236}">
                  <a16:creationId xmlns:a16="http://schemas.microsoft.com/office/drawing/2014/main" id="{58815A98-415B-4C97-BEAE-5003738DF1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92" name="Line 61">
              <a:extLst>
                <a:ext uri="{FF2B5EF4-FFF2-40B4-BE49-F238E27FC236}">
                  <a16:creationId xmlns:a16="http://schemas.microsoft.com/office/drawing/2014/main" id="{77040DFD-F26E-4F58-9DD2-25372BEEAA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93" name="Line 62">
              <a:extLst>
                <a:ext uri="{FF2B5EF4-FFF2-40B4-BE49-F238E27FC236}">
                  <a16:creationId xmlns:a16="http://schemas.microsoft.com/office/drawing/2014/main" id="{EEFE5485-7762-4F99-B134-9A313B215E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94" name="Line 63">
              <a:extLst>
                <a:ext uri="{FF2B5EF4-FFF2-40B4-BE49-F238E27FC236}">
                  <a16:creationId xmlns:a16="http://schemas.microsoft.com/office/drawing/2014/main" id="{CB7D1D43-6DF0-4D6D-811C-B562F5DF4E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95" name="Line 64">
              <a:extLst>
                <a:ext uri="{FF2B5EF4-FFF2-40B4-BE49-F238E27FC236}">
                  <a16:creationId xmlns:a16="http://schemas.microsoft.com/office/drawing/2014/main" id="{8DCA2DAC-FD84-47D9-AF38-05D1069469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7955" name="Text Box 65">
            <a:extLst>
              <a:ext uri="{FF2B5EF4-FFF2-40B4-BE49-F238E27FC236}">
                <a16:creationId xmlns:a16="http://schemas.microsoft.com/office/drawing/2014/main" id="{354E1A2D-B41D-44ED-833B-563285ED58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8700" y="4705350"/>
            <a:ext cx="8524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7956" name="Text Box 66">
            <a:extLst>
              <a:ext uri="{FF2B5EF4-FFF2-40B4-BE49-F238E27FC236}">
                <a16:creationId xmlns:a16="http://schemas.microsoft.com/office/drawing/2014/main" id="{E3FF19E6-D2D4-4FB9-BC75-1CF960080B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68760" y="3449638"/>
            <a:ext cx="1881188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 err="1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 dirty="0" err="1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endParaRPr lang="en-US" altLang="zh-TW" sz="1600" dirty="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7957" name="Line 67">
            <a:extLst>
              <a:ext uri="{FF2B5EF4-FFF2-40B4-BE49-F238E27FC236}">
                <a16:creationId xmlns:a16="http://schemas.microsoft.com/office/drawing/2014/main" id="{D6EC80F6-6961-4A17-9FB5-4DC391DB517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85950" y="5983288"/>
            <a:ext cx="538163" cy="15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7958" name="Group 108">
            <a:extLst>
              <a:ext uri="{FF2B5EF4-FFF2-40B4-BE49-F238E27FC236}">
                <a16:creationId xmlns:a16="http://schemas.microsoft.com/office/drawing/2014/main" id="{FA0FB69F-D781-42A9-9C36-D33E6B8AE2B1}"/>
              </a:ext>
            </a:extLst>
          </p:cNvPr>
          <p:cNvGrpSpPr>
            <a:grpSpLocks/>
          </p:cNvGrpSpPr>
          <p:nvPr/>
        </p:nvGrpSpPr>
        <p:grpSpPr bwMode="auto">
          <a:xfrm>
            <a:off x="1298575" y="4718050"/>
            <a:ext cx="798513" cy="1166813"/>
            <a:chOff x="12762" y="10336"/>
            <a:chExt cx="1027" cy="1700"/>
          </a:xfrm>
        </p:grpSpPr>
        <p:sp>
          <p:nvSpPr>
            <p:cNvPr id="168084" name="Rectangle 109">
              <a:extLst>
                <a:ext uri="{FF2B5EF4-FFF2-40B4-BE49-F238E27FC236}">
                  <a16:creationId xmlns:a16="http://schemas.microsoft.com/office/drawing/2014/main" id="{B9B22936-B89D-42ED-9979-FE0A892155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85" name="Rectangle 110">
              <a:extLst>
                <a:ext uri="{FF2B5EF4-FFF2-40B4-BE49-F238E27FC236}">
                  <a16:creationId xmlns:a16="http://schemas.microsoft.com/office/drawing/2014/main" id="{86F4459F-1D4F-4481-A617-EEC4926AD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86" name="Line 111">
              <a:extLst>
                <a:ext uri="{FF2B5EF4-FFF2-40B4-BE49-F238E27FC236}">
                  <a16:creationId xmlns:a16="http://schemas.microsoft.com/office/drawing/2014/main" id="{1F24B75F-0222-4173-A84F-6C26D9345F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87" name="Line 112">
              <a:extLst>
                <a:ext uri="{FF2B5EF4-FFF2-40B4-BE49-F238E27FC236}">
                  <a16:creationId xmlns:a16="http://schemas.microsoft.com/office/drawing/2014/main" id="{398FE21D-3526-4AB2-B964-4A1B5D0E2D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88" name="Line 113">
              <a:extLst>
                <a:ext uri="{FF2B5EF4-FFF2-40B4-BE49-F238E27FC236}">
                  <a16:creationId xmlns:a16="http://schemas.microsoft.com/office/drawing/2014/main" id="{74A9E621-8912-40EF-A840-7B6B7C07D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89" name="Line 114">
              <a:extLst>
                <a:ext uri="{FF2B5EF4-FFF2-40B4-BE49-F238E27FC236}">
                  <a16:creationId xmlns:a16="http://schemas.microsoft.com/office/drawing/2014/main" id="{FF5579B3-0958-40CC-BCCC-E9C6B04415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7959" name="Line 116">
            <a:extLst>
              <a:ext uri="{FF2B5EF4-FFF2-40B4-BE49-F238E27FC236}">
                <a16:creationId xmlns:a16="http://schemas.microsoft.com/office/drawing/2014/main" id="{39CFB701-789E-4FA7-8113-8A2B0FC1C31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21013" y="5394325"/>
            <a:ext cx="7493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7960" name="Line 117">
            <a:extLst>
              <a:ext uri="{FF2B5EF4-FFF2-40B4-BE49-F238E27FC236}">
                <a16:creationId xmlns:a16="http://schemas.microsoft.com/office/drawing/2014/main" id="{2A205FCF-EF9B-46E7-870F-3638C7EF0A4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10150" y="5394325"/>
            <a:ext cx="74771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7961" name="Line 118">
            <a:extLst>
              <a:ext uri="{FF2B5EF4-FFF2-40B4-BE49-F238E27FC236}">
                <a16:creationId xmlns:a16="http://schemas.microsoft.com/office/drawing/2014/main" id="{F65BED33-9C57-4C64-8245-E6764FA9D43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60963" y="4878388"/>
            <a:ext cx="1135062" cy="1117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7962" name="Line 119">
            <a:extLst>
              <a:ext uri="{FF2B5EF4-FFF2-40B4-BE49-F238E27FC236}">
                <a16:creationId xmlns:a16="http://schemas.microsoft.com/office/drawing/2014/main" id="{E6019467-4975-4191-AEDF-6D6995C47FA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49850" y="5995988"/>
            <a:ext cx="677863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7963" name="Line 120">
            <a:extLst>
              <a:ext uri="{FF2B5EF4-FFF2-40B4-BE49-F238E27FC236}">
                <a16:creationId xmlns:a16="http://schemas.microsoft.com/office/drawing/2014/main" id="{A38F1D60-40D2-4178-8F31-E0C0B54F4E0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59513" y="4891088"/>
            <a:ext cx="53975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7964" name="Group 161">
            <a:extLst>
              <a:ext uri="{FF2B5EF4-FFF2-40B4-BE49-F238E27FC236}">
                <a16:creationId xmlns:a16="http://schemas.microsoft.com/office/drawing/2014/main" id="{396A5BFC-7A1E-4BDB-BE4F-BFA46802F6D5}"/>
              </a:ext>
            </a:extLst>
          </p:cNvPr>
          <p:cNvGrpSpPr>
            <a:grpSpLocks/>
          </p:cNvGrpSpPr>
          <p:nvPr/>
        </p:nvGrpSpPr>
        <p:grpSpPr bwMode="auto">
          <a:xfrm>
            <a:off x="6643688" y="3698875"/>
            <a:ext cx="798512" cy="1166813"/>
            <a:chOff x="12762" y="10336"/>
            <a:chExt cx="1027" cy="1700"/>
          </a:xfrm>
        </p:grpSpPr>
        <p:sp>
          <p:nvSpPr>
            <p:cNvPr id="168078" name="Rectangle 162">
              <a:extLst>
                <a:ext uri="{FF2B5EF4-FFF2-40B4-BE49-F238E27FC236}">
                  <a16:creationId xmlns:a16="http://schemas.microsoft.com/office/drawing/2014/main" id="{95AAAF47-D9BB-4A9B-8C4A-7F12EC5755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79" name="Rectangle 163">
              <a:extLst>
                <a:ext uri="{FF2B5EF4-FFF2-40B4-BE49-F238E27FC236}">
                  <a16:creationId xmlns:a16="http://schemas.microsoft.com/office/drawing/2014/main" id="{24204702-B770-4235-97CC-D655EED6A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80" name="Line 164">
              <a:extLst>
                <a:ext uri="{FF2B5EF4-FFF2-40B4-BE49-F238E27FC236}">
                  <a16:creationId xmlns:a16="http://schemas.microsoft.com/office/drawing/2014/main" id="{84ED62F4-7EE3-44DE-A5B6-9FDA90D0D0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81" name="Line 165">
              <a:extLst>
                <a:ext uri="{FF2B5EF4-FFF2-40B4-BE49-F238E27FC236}">
                  <a16:creationId xmlns:a16="http://schemas.microsoft.com/office/drawing/2014/main" id="{9B3163A0-3261-4F4C-A969-8A80FA234A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82" name="Line 166">
              <a:extLst>
                <a:ext uri="{FF2B5EF4-FFF2-40B4-BE49-F238E27FC236}">
                  <a16:creationId xmlns:a16="http://schemas.microsoft.com/office/drawing/2014/main" id="{A275C36E-8546-4B24-BE28-7E8DA1320D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83" name="Line 167">
              <a:extLst>
                <a:ext uri="{FF2B5EF4-FFF2-40B4-BE49-F238E27FC236}">
                  <a16:creationId xmlns:a16="http://schemas.microsoft.com/office/drawing/2014/main" id="{107437D4-71D5-46AB-9733-068CA01ECF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67965" name="Group 208">
            <a:extLst>
              <a:ext uri="{FF2B5EF4-FFF2-40B4-BE49-F238E27FC236}">
                <a16:creationId xmlns:a16="http://schemas.microsoft.com/office/drawing/2014/main" id="{C3ED56EA-A805-4D5F-BE74-42759C11906D}"/>
              </a:ext>
            </a:extLst>
          </p:cNvPr>
          <p:cNvGrpSpPr>
            <a:grpSpLocks/>
          </p:cNvGrpSpPr>
          <p:nvPr/>
        </p:nvGrpSpPr>
        <p:grpSpPr bwMode="auto">
          <a:xfrm>
            <a:off x="6175375" y="5011738"/>
            <a:ext cx="798513" cy="1168400"/>
            <a:chOff x="12762" y="10336"/>
            <a:chExt cx="1027" cy="1700"/>
          </a:xfrm>
        </p:grpSpPr>
        <p:sp>
          <p:nvSpPr>
            <p:cNvPr id="168072" name="Rectangle 209">
              <a:extLst>
                <a:ext uri="{FF2B5EF4-FFF2-40B4-BE49-F238E27FC236}">
                  <a16:creationId xmlns:a16="http://schemas.microsoft.com/office/drawing/2014/main" id="{603CF384-9452-45E8-8394-6ABD868273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73" name="Rectangle 210">
              <a:extLst>
                <a:ext uri="{FF2B5EF4-FFF2-40B4-BE49-F238E27FC236}">
                  <a16:creationId xmlns:a16="http://schemas.microsoft.com/office/drawing/2014/main" id="{8CF384A8-4C5F-42BF-B363-8E53C25E00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74" name="Line 211">
              <a:extLst>
                <a:ext uri="{FF2B5EF4-FFF2-40B4-BE49-F238E27FC236}">
                  <a16:creationId xmlns:a16="http://schemas.microsoft.com/office/drawing/2014/main" id="{4AB83B55-D027-4BBF-B45F-A1082334B0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75" name="Line 212">
              <a:extLst>
                <a:ext uri="{FF2B5EF4-FFF2-40B4-BE49-F238E27FC236}">
                  <a16:creationId xmlns:a16="http://schemas.microsoft.com/office/drawing/2014/main" id="{8D84A74B-B160-40C6-AD16-A900019799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76" name="Line 213">
              <a:extLst>
                <a:ext uri="{FF2B5EF4-FFF2-40B4-BE49-F238E27FC236}">
                  <a16:creationId xmlns:a16="http://schemas.microsoft.com/office/drawing/2014/main" id="{426F1B28-A4CF-4D00-A69C-3464DEF8A5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77" name="Line 214">
              <a:extLst>
                <a:ext uri="{FF2B5EF4-FFF2-40B4-BE49-F238E27FC236}">
                  <a16:creationId xmlns:a16="http://schemas.microsoft.com/office/drawing/2014/main" id="{96869AC2-7CC3-4910-BDDF-59FDE46DBF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7966" name="Oval 215">
            <a:extLst>
              <a:ext uri="{FF2B5EF4-FFF2-40B4-BE49-F238E27FC236}">
                <a16:creationId xmlns:a16="http://schemas.microsoft.com/office/drawing/2014/main" id="{61124554-A5DF-4EB0-9040-79A877E27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638550"/>
            <a:ext cx="112712" cy="115888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7967" name="Oval 216">
            <a:extLst>
              <a:ext uri="{FF2B5EF4-FFF2-40B4-BE49-F238E27FC236}">
                <a16:creationId xmlns:a16="http://schemas.microsoft.com/office/drawing/2014/main" id="{42FFDD66-F45B-46C8-9492-5A291973A4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4963" y="4767263"/>
            <a:ext cx="114300" cy="117475"/>
          </a:xfrm>
          <a:prstGeom prst="ellipse">
            <a:avLst/>
          </a:prstGeom>
          <a:solidFill>
            <a:srgbClr val="808080"/>
          </a:solidFill>
          <a:ln w="9525">
            <a:solidFill>
              <a:srgbClr val="80808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7968" name="Text Box 217">
            <a:extLst>
              <a:ext uri="{FF2B5EF4-FFF2-40B4-BE49-F238E27FC236}">
                <a16:creationId xmlns:a16="http://schemas.microsoft.com/office/drawing/2014/main" id="{72D71FEC-AC01-4A30-9E99-97E5CC548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3488" y="3651250"/>
            <a:ext cx="590550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out</a:t>
            </a:r>
            <a:endParaRPr lang="en-US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grpSp>
        <p:nvGrpSpPr>
          <p:cNvPr id="167969" name="Group 218">
            <a:extLst>
              <a:ext uri="{FF2B5EF4-FFF2-40B4-BE49-F238E27FC236}">
                <a16:creationId xmlns:a16="http://schemas.microsoft.com/office/drawing/2014/main" id="{F8260EE2-32A7-4CD8-858D-27E9D5455867}"/>
              </a:ext>
            </a:extLst>
          </p:cNvPr>
          <p:cNvGrpSpPr>
            <a:grpSpLocks/>
          </p:cNvGrpSpPr>
          <p:nvPr/>
        </p:nvGrpSpPr>
        <p:grpSpPr bwMode="auto">
          <a:xfrm>
            <a:off x="4587875" y="5233988"/>
            <a:ext cx="385763" cy="319087"/>
            <a:chOff x="11283" y="10423"/>
            <a:chExt cx="475" cy="374"/>
          </a:xfrm>
        </p:grpSpPr>
        <p:sp>
          <p:nvSpPr>
            <p:cNvPr id="168065" name="Rectangle 219">
              <a:extLst>
                <a:ext uri="{FF2B5EF4-FFF2-40B4-BE49-F238E27FC236}">
                  <a16:creationId xmlns:a16="http://schemas.microsoft.com/office/drawing/2014/main" id="{C7D504BA-59F9-427B-98CA-16F4EA9B2F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66" name="Line 220">
              <a:extLst>
                <a:ext uri="{FF2B5EF4-FFF2-40B4-BE49-F238E27FC236}">
                  <a16:creationId xmlns:a16="http://schemas.microsoft.com/office/drawing/2014/main" id="{4027C85B-3134-45FE-959A-A6405C4A9A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67" name="Line 221">
              <a:extLst>
                <a:ext uri="{FF2B5EF4-FFF2-40B4-BE49-F238E27FC236}">
                  <a16:creationId xmlns:a16="http://schemas.microsoft.com/office/drawing/2014/main" id="{67139F20-469E-454C-BC8A-03DD1C0789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68" name="Line 222">
              <a:extLst>
                <a:ext uri="{FF2B5EF4-FFF2-40B4-BE49-F238E27FC236}">
                  <a16:creationId xmlns:a16="http://schemas.microsoft.com/office/drawing/2014/main" id="{70518B46-7AA0-4496-9D31-8B48FB6DFB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69" name="Line 223">
              <a:extLst>
                <a:ext uri="{FF2B5EF4-FFF2-40B4-BE49-F238E27FC236}">
                  <a16:creationId xmlns:a16="http://schemas.microsoft.com/office/drawing/2014/main" id="{C76D261E-26D5-421E-BF7F-3925A78CBA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70" name="Line 224">
              <a:extLst>
                <a:ext uri="{FF2B5EF4-FFF2-40B4-BE49-F238E27FC236}">
                  <a16:creationId xmlns:a16="http://schemas.microsoft.com/office/drawing/2014/main" id="{0267D127-C024-471E-84CA-60C7C64B4C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71" name="Line 225">
              <a:extLst>
                <a:ext uri="{FF2B5EF4-FFF2-40B4-BE49-F238E27FC236}">
                  <a16:creationId xmlns:a16="http://schemas.microsoft.com/office/drawing/2014/main" id="{EB1F8F20-2C61-44A0-A5B3-F4920D9144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7970" name="Line 226">
            <a:extLst>
              <a:ext uri="{FF2B5EF4-FFF2-40B4-BE49-F238E27FC236}">
                <a16:creationId xmlns:a16="http://schemas.microsoft.com/office/drawing/2014/main" id="{7C4E5240-9DDF-4CCE-A05B-F2906C5D89AC}"/>
              </a:ext>
            </a:extLst>
          </p:cNvPr>
          <p:cNvSpPr>
            <a:spLocks noChangeShapeType="1"/>
          </p:cNvSpPr>
          <p:nvPr/>
        </p:nvSpPr>
        <p:spPr bwMode="auto">
          <a:xfrm>
            <a:off x="4845050" y="4017963"/>
            <a:ext cx="339725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7971" name="Freeform 227">
            <a:extLst>
              <a:ext uri="{FF2B5EF4-FFF2-40B4-BE49-F238E27FC236}">
                <a16:creationId xmlns:a16="http://schemas.microsoft.com/office/drawing/2014/main" id="{4ADD6B88-36ED-482B-B261-73190C84F04A}"/>
              </a:ext>
            </a:extLst>
          </p:cNvPr>
          <p:cNvSpPr>
            <a:spLocks/>
          </p:cNvSpPr>
          <p:nvPr/>
        </p:nvSpPr>
        <p:spPr bwMode="auto">
          <a:xfrm>
            <a:off x="1663700" y="4865688"/>
            <a:ext cx="4854575" cy="1228725"/>
          </a:xfrm>
          <a:custGeom>
            <a:avLst/>
            <a:gdLst>
              <a:gd name="T0" fmla="*/ 0 w 6225"/>
              <a:gd name="T1" fmla="*/ 0 h 1501"/>
              <a:gd name="T2" fmla="*/ 0 w 6225"/>
              <a:gd name="T3" fmla="*/ 2147483646 h 1501"/>
              <a:gd name="T4" fmla="*/ 2147483646 w 6225"/>
              <a:gd name="T5" fmla="*/ 2147483646 h 1501"/>
              <a:gd name="T6" fmla="*/ 2147483646 w 6225"/>
              <a:gd name="T7" fmla="*/ 2147483646 h 1501"/>
              <a:gd name="T8" fmla="*/ 2147483646 w 6225"/>
              <a:gd name="T9" fmla="*/ 2147483646 h 1501"/>
              <a:gd name="T10" fmla="*/ 2147483646 w 6225"/>
              <a:gd name="T11" fmla="*/ 2147483646 h 1501"/>
              <a:gd name="T12" fmla="*/ 2147483646 w 6225"/>
              <a:gd name="T13" fmla="*/ 2147483646 h 1501"/>
              <a:gd name="T14" fmla="*/ 2147483646 w 6225"/>
              <a:gd name="T15" fmla="*/ 2147483646 h 1501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6225"/>
              <a:gd name="T25" fmla="*/ 0 h 1501"/>
              <a:gd name="T26" fmla="*/ 6225 w 6225"/>
              <a:gd name="T27" fmla="*/ 1501 h 1501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6225" h="1501">
                <a:moveTo>
                  <a:pt x="0" y="0"/>
                </a:moveTo>
                <a:lnTo>
                  <a:pt x="0" y="1486"/>
                </a:lnTo>
                <a:lnTo>
                  <a:pt x="1005" y="1501"/>
                </a:lnTo>
                <a:lnTo>
                  <a:pt x="1860" y="706"/>
                </a:lnTo>
                <a:lnTo>
                  <a:pt x="5085" y="721"/>
                </a:lnTo>
                <a:lnTo>
                  <a:pt x="4305" y="1456"/>
                </a:lnTo>
                <a:lnTo>
                  <a:pt x="6225" y="1456"/>
                </a:lnTo>
                <a:lnTo>
                  <a:pt x="6220" y="391"/>
                </a:lnTo>
              </a:path>
            </a:pathLst>
          </a:custGeom>
          <a:noFill/>
          <a:ln w="38100" cmpd="sng">
            <a:solidFill>
              <a:srgbClr val="80808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7972" name="Freeform 228">
            <a:extLst>
              <a:ext uri="{FF2B5EF4-FFF2-40B4-BE49-F238E27FC236}">
                <a16:creationId xmlns:a16="http://schemas.microsoft.com/office/drawing/2014/main" id="{359BDB6A-6814-4A32-B0A0-0257E9F91D63}"/>
              </a:ext>
            </a:extLst>
          </p:cNvPr>
          <p:cNvSpPr>
            <a:spLocks/>
          </p:cNvSpPr>
          <p:nvPr/>
        </p:nvSpPr>
        <p:spPr bwMode="auto">
          <a:xfrm>
            <a:off x="2822575" y="3698875"/>
            <a:ext cx="4210050" cy="1646238"/>
          </a:xfrm>
          <a:custGeom>
            <a:avLst/>
            <a:gdLst>
              <a:gd name="T0" fmla="*/ 0 w 5400"/>
              <a:gd name="T1" fmla="*/ 0 h 2010"/>
              <a:gd name="T2" fmla="*/ 0 w 5400"/>
              <a:gd name="T3" fmla="*/ 2147483646 h 2010"/>
              <a:gd name="T4" fmla="*/ 2147483646 w 5400"/>
              <a:gd name="T5" fmla="*/ 2147483646 h 2010"/>
              <a:gd name="T6" fmla="*/ 2147483646 w 5400"/>
              <a:gd name="T7" fmla="*/ 2147483646 h 2010"/>
              <a:gd name="T8" fmla="*/ 2147483646 w 5400"/>
              <a:gd name="T9" fmla="*/ 2147483646 h 2010"/>
              <a:gd name="T10" fmla="*/ 2147483646 w 5400"/>
              <a:gd name="T11" fmla="*/ 2147483646 h 2010"/>
              <a:gd name="T12" fmla="*/ 2147483646 w 5400"/>
              <a:gd name="T13" fmla="*/ 2147483646 h 2010"/>
              <a:gd name="T14" fmla="*/ 2147483646 w 5400"/>
              <a:gd name="T15" fmla="*/ 2147483646 h 201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400"/>
              <a:gd name="T25" fmla="*/ 0 h 2010"/>
              <a:gd name="T26" fmla="*/ 5400 w 5400"/>
              <a:gd name="T27" fmla="*/ 2010 h 201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400" h="2010">
                <a:moveTo>
                  <a:pt x="0" y="0"/>
                </a:moveTo>
                <a:lnTo>
                  <a:pt x="0" y="1485"/>
                </a:lnTo>
                <a:lnTo>
                  <a:pt x="1005" y="1500"/>
                </a:lnTo>
                <a:lnTo>
                  <a:pt x="540" y="2010"/>
                </a:lnTo>
                <a:lnTo>
                  <a:pt x="3615" y="2010"/>
                </a:lnTo>
                <a:lnTo>
                  <a:pt x="4350" y="1275"/>
                </a:lnTo>
                <a:lnTo>
                  <a:pt x="5400" y="1290"/>
                </a:lnTo>
                <a:lnTo>
                  <a:pt x="5400" y="120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7973" name="Oval 229">
            <a:extLst>
              <a:ext uri="{FF2B5EF4-FFF2-40B4-BE49-F238E27FC236}">
                <a16:creationId xmlns:a16="http://schemas.microsoft.com/office/drawing/2014/main" id="{35C872E3-E9DC-4FCA-9798-64252572E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3838" y="3871913"/>
            <a:ext cx="112712" cy="115887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7974" name="Text Box 230">
            <a:extLst>
              <a:ext uri="{FF2B5EF4-FFF2-40B4-BE49-F238E27FC236}">
                <a16:creationId xmlns:a16="http://schemas.microsoft.com/office/drawing/2014/main" id="{6365D286-0BB0-4120-90A2-93090219D2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1792" y="3778250"/>
            <a:ext cx="2349500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>
                <a:solidFill>
                  <a:srgbClr val="FF0000"/>
                </a:solidFill>
                <a:latin typeface="Arial" panose="020B0604020202020204" pitchFamily="34" charset="0"/>
              </a:rPr>
              <a:t>'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7975" name="Line 231">
            <a:extLst>
              <a:ext uri="{FF2B5EF4-FFF2-40B4-BE49-F238E27FC236}">
                <a16:creationId xmlns:a16="http://schemas.microsoft.com/office/drawing/2014/main" id="{D7A5B784-DDF2-48E8-87C8-AFB8F7D2136F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9888" y="3938588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7976" name="Line 232">
            <a:extLst>
              <a:ext uri="{FF2B5EF4-FFF2-40B4-BE49-F238E27FC236}">
                <a16:creationId xmlns:a16="http://schemas.microsoft.com/office/drawing/2014/main" id="{2D41D2AE-2256-4E04-A3AD-52D0CD1D685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3705225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67977" name="Line 233">
            <a:extLst>
              <a:ext uri="{FF2B5EF4-FFF2-40B4-BE49-F238E27FC236}">
                <a16:creationId xmlns:a16="http://schemas.microsoft.com/office/drawing/2014/main" id="{4187BA7C-583E-4EB7-B6A6-4C7E694B2603}"/>
              </a:ext>
            </a:extLst>
          </p:cNvPr>
          <p:cNvSpPr>
            <a:spLocks noChangeShapeType="1"/>
          </p:cNvSpPr>
          <p:nvPr/>
        </p:nvSpPr>
        <p:spPr bwMode="auto">
          <a:xfrm>
            <a:off x="7116763" y="3857625"/>
            <a:ext cx="5143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58634" name="Rectangle 234">
            <a:extLst>
              <a:ext uri="{FF2B5EF4-FFF2-40B4-BE49-F238E27FC236}">
                <a16:creationId xmlns:a16="http://schemas.microsoft.com/office/drawing/2014/main" id="{E0AEE379-CE92-4557-80FA-F91DBEB64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1450" y="3613150"/>
            <a:ext cx="244475" cy="155575"/>
          </a:xfrm>
          <a:prstGeom prst="rect">
            <a:avLst/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358635" name="Rectangle 235">
            <a:extLst>
              <a:ext uri="{FF2B5EF4-FFF2-40B4-BE49-F238E27FC236}">
                <a16:creationId xmlns:a16="http://schemas.microsoft.com/office/drawing/2014/main" id="{0CBC9623-004B-4275-9C04-920DAB8014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0" y="3846513"/>
            <a:ext cx="244475" cy="155575"/>
          </a:xfrm>
          <a:prstGeom prst="rect">
            <a:avLst/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358636" name="Text Box 236">
            <a:extLst>
              <a:ext uri="{FF2B5EF4-FFF2-40B4-BE49-F238E27FC236}">
                <a16:creationId xmlns:a16="http://schemas.microsoft.com/office/drawing/2014/main" id="{AC1F4BDD-3ECD-453E-AF99-CBA2A399FE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7363" y="3736975"/>
            <a:ext cx="6127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6600"/>
                </a:solidFill>
                <a:latin typeface="Arial" panose="020B0604020202020204" pitchFamily="34" charset="0"/>
              </a:rPr>
              <a:t>copy</a:t>
            </a:r>
          </a:p>
        </p:txBody>
      </p:sp>
      <p:sp>
        <p:nvSpPr>
          <p:cNvPr id="358637" name="Text Box 237">
            <a:extLst>
              <a:ext uri="{FF2B5EF4-FFF2-40B4-BE49-F238E27FC236}">
                <a16:creationId xmlns:a16="http://schemas.microsoft.com/office/drawing/2014/main" id="{610EC4AA-2D13-43C6-9C5E-82F35C24D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4275" y="4805363"/>
            <a:ext cx="17684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006600"/>
                </a:solidFill>
                <a:latin typeface="Arial" panose="020B0604020202020204" pitchFamily="34" charset="0"/>
              </a:rPr>
              <a:t>free buffer space!</a:t>
            </a:r>
          </a:p>
        </p:txBody>
      </p:sp>
      <p:grpSp>
        <p:nvGrpSpPr>
          <p:cNvPr id="9" name="Group 240">
            <a:extLst>
              <a:ext uri="{FF2B5EF4-FFF2-40B4-BE49-F238E27FC236}">
                <a16:creationId xmlns:a16="http://schemas.microsoft.com/office/drawing/2014/main" id="{2AB4C219-71F7-4E5C-89EE-4EE3DE500B70}"/>
              </a:ext>
            </a:extLst>
          </p:cNvPr>
          <p:cNvGrpSpPr>
            <a:grpSpLocks/>
          </p:cNvGrpSpPr>
          <p:nvPr/>
        </p:nvGrpSpPr>
        <p:grpSpPr bwMode="auto">
          <a:xfrm>
            <a:off x="1376363" y="3300413"/>
            <a:ext cx="947737" cy="869950"/>
            <a:chOff x="3283" y="2142"/>
            <a:chExt cx="597" cy="548"/>
          </a:xfrm>
        </p:grpSpPr>
        <p:grpSp>
          <p:nvGrpSpPr>
            <p:cNvPr id="168060" name="Group 241">
              <a:extLst>
                <a:ext uri="{FF2B5EF4-FFF2-40B4-BE49-F238E27FC236}">
                  <a16:creationId xmlns:a16="http://schemas.microsoft.com/office/drawing/2014/main" id="{3C0BF16D-E56F-451B-B79C-9F320A167F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3" y="2387"/>
              <a:ext cx="597" cy="303"/>
              <a:chOff x="990" y="4570"/>
              <a:chExt cx="597" cy="380"/>
            </a:xfrm>
          </p:grpSpPr>
          <p:pic>
            <p:nvPicPr>
              <p:cNvPr id="168063" name="Picture 242">
                <a:extLst>
                  <a:ext uri="{FF2B5EF4-FFF2-40B4-BE49-F238E27FC236}">
                    <a16:creationId xmlns:a16="http://schemas.microsoft.com/office/drawing/2014/main" id="{3C6CB1CE-A1B2-4F71-A142-61205E65667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90" y="4570"/>
                <a:ext cx="597" cy="3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8064" name="Rectangle 243">
                <a:extLst>
                  <a:ext uri="{FF2B5EF4-FFF2-40B4-BE49-F238E27FC236}">
                    <a16:creationId xmlns:a16="http://schemas.microsoft.com/office/drawing/2014/main" id="{F3B2057C-4C87-47F1-B14F-AE69C54335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4" y="4679"/>
                <a:ext cx="360" cy="148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61" name="Text Box 244">
              <a:extLst>
                <a:ext uri="{FF2B5EF4-FFF2-40B4-BE49-F238E27FC236}">
                  <a16:creationId xmlns:a16="http://schemas.microsoft.com/office/drawing/2014/main" id="{A0C08BF6-DE57-423E-8238-3032BA0329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3" y="2461"/>
              <a:ext cx="479" cy="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 b="1" i="1">
                  <a:solidFill>
                    <a:srgbClr val="3333CC"/>
                  </a:solidFill>
                  <a:latin typeface="Comic Sans MS" panose="030F0702030302020204" pitchFamily="66" charset="0"/>
                </a:rPr>
                <a:t>timeout</a:t>
              </a:r>
            </a:p>
          </p:txBody>
        </p:sp>
        <p:pic>
          <p:nvPicPr>
            <p:cNvPr id="168062" name="Picture 245">
              <a:extLst>
                <a:ext uri="{FF2B5EF4-FFF2-40B4-BE49-F238E27FC236}">
                  <a16:creationId xmlns:a16="http://schemas.microsoft.com/office/drawing/2014/main" id="{98A62134-D74B-4E15-BD09-E27EAC9AF9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419" y="2142"/>
              <a:ext cx="262" cy="2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67983" name="Freeform 264">
            <a:extLst>
              <a:ext uri="{FF2B5EF4-FFF2-40B4-BE49-F238E27FC236}">
                <a16:creationId xmlns:a16="http://schemas.microsoft.com/office/drawing/2014/main" id="{A6679345-CC11-4AF6-BEEF-37ABF8B50B42}"/>
              </a:ext>
            </a:extLst>
          </p:cNvPr>
          <p:cNvSpPr>
            <a:spLocks/>
          </p:cNvSpPr>
          <p:nvPr/>
        </p:nvSpPr>
        <p:spPr bwMode="auto">
          <a:xfrm>
            <a:off x="6937375" y="4981575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7984" name="Freeform 267">
            <a:extLst>
              <a:ext uri="{FF2B5EF4-FFF2-40B4-BE49-F238E27FC236}">
                <a16:creationId xmlns:a16="http://schemas.microsoft.com/office/drawing/2014/main" id="{67758CD8-BEA6-41F0-9D9A-52B5740BF292}"/>
              </a:ext>
            </a:extLst>
          </p:cNvPr>
          <p:cNvSpPr>
            <a:spLocks/>
          </p:cNvSpPr>
          <p:nvPr/>
        </p:nvSpPr>
        <p:spPr bwMode="auto">
          <a:xfrm>
            <a:off x="7416800" y="3676650"/>
            <a:ext cx="250825" cy="1212850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7985" name="Freeform 270">
            <a:extLst>
              <a:ext uri="{FF2B5EF4-FFF2-40B4-BE49-F238E27FC236}">
                <a16:creationId xmlns:a16="http://schemas.microsoft.com/office/drawing/2014/main" id="{980DF6E1-C798-4D8A-8A41-10EDE8C0A8F6}"/>
              </a:ext>
            </a:extLst>
          </p:cNvPr>
          <p:cNvSpPr>
            <a:spLocks/>
          </p:cNvSpPr>
          <p:nvPr/>
        </p:nvSpPr>
        <p:spPr bwMode="auto">
          <a:xfrm flipH="1">
            <a:off x="1066800" y="4667250"/>
            <a:ext cx="250825" cy="1201738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7986" name="Text Box 275">
            <a:extLst>
              <a:ext uri="{FF2B5EF4-FFF2-40B4-BE49-F238E27FC236}">
                <a16:creationId xmlns:a16="http://schemas.microsoft.com/office/drawing/2014/main" id="{FC5A52A2-6065-4046-9A12-DC5B86A87A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073775"/>
            <a:ext cx="8778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Host B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7987" name="Rectangle 281">
            <a:extLst>
              <a:ext uri="{FF2B5EF4-FFF2-40B4-BE49-F238E27FC236}">
                <a16:creationId xmlns:a16="http://schemas.microsoft.com/office/drawing/2014/main" id="{EC1A8781-9732-4ED1-A31F-3B9DCB0CD6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825" y="1039813"/>
            <a:ext cx="4310063" cy="191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buFont typeface="Wingdings" panose="05000000000000000000" pitchFamily="2" charset="2"/>
              <a:buNone/>
            </a:pPr>
            <a:r>
              <a:rPr lang="en-US" altLang="zh-TW" sz="2800" i="1">
                <a:solidFill>
                  <a:srgbClr val="000099"/>
                </a:solidFill>
              </a:rPr>
              <a:t>Realistic: </a:t>
            </a:r>
            <a:r>
              <a:rPr lang="en-US" altLang="zh-TW" sz="2800" i="1">
                <a:solidFill>
                  <a:srgbClr val="CC0000"/>
                </a:solidFill>
              </a:rPr>
              <a:t>duplicates</a:t>
            </a:r>
            <a:r>
              <a:rPr lang="en-US" altLang="zh-TW" sz="240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en-US" altLang="zh-TW" sz="2400">
                <a:solidFill>
                  <a:srgbClr val="000000"/>
                </a:solidFill>
              </a:rPr>
              <a:t>packets can be lost, dropped at router due  to full buffers</a:t>
            </a:r>
          </a:p>
          <a:p>
            <a:pPr algn="ctr"/>
            <a:r>
              <a:rPr lang="en-US" altLang="zh-TW" sz="2400">
                <a:solidFill>
                  <a:srgbClr val="000000"/>
                </a:solidFill>
              </a:rPr>
              <a:t>sender times out prematurely, sending </a:t>
            </a:r>
            <a:r>
              <a:rPr lang="en-US" altLang="zh-TW" sz="2400" i="1">
                <a:solidFill>
                  <a:srgbClr val="000099"/>
                </a:solidFill>
              </a:rPr>
              <a:t>two</a:t>
            </a:r>
            <a:r>
              <a:rPr lang="en-US" altLang="zh-TW" sz="2400" i="1">
                <a:solidFill>
                  <a:srgbClr val="000000"/>
                </a:solidFill>
              </a:rPr>
              <a:t> </a:t>
            </a:r>
            <a:r>
              <a:rPr lang="en-US" altLang="zh-TW" sz="2400">
                <a:solidFill>
                  <a:srgbClr val="000000"/>
                </a:solidFill>
              </a:rPr>
              <a:t>copies, both of which are delivered</a:t>
            </a:r>
            <a:endParaRPr lang="en-US" altLang="zh-TW" sz="2800">
              <a:solidFill>
                <a:srgbClr val="000000"/>
              </a:solidFill>
            </a:endParaRPr>
          </a:p>
          <a:p>
            <a:pPr algn="ctr"/>
            <a:endParaRPr lang="en-US" altLang="zh-TW" sz="2800">
              <a:solidFill>
                <a:srgbClr val="000000"/>
              </a:solidFill>
            </a:endParaRPr>
          </a:p>
        </p:txBody>
      </p:sp>
      <p:pic>
        <p:nvPicPr>
          <p:cNvPr id="167988" name="Picture 286" descr="underline_base">
            <a:extLst>
              <a:ext uri="{FF2B5EF4-FFF2-40B4-BE49-F238E27FC236}">
                <a16:creationId xmlns:a16="http://schemas.microsoft.com/office/drawing/2014/main" id="{0CA537AB-E099-40F2-9190-A39509DF2908}"/>
              </a:ext>
            </a:extLst>
          </p:cNvPr>
          <p:cNvPicPr>
            <a:picLocks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247" name="Rectangle 287">
            <a:extLst>
              <a:ext uri="{FF2B5EF4-FFF2-40B4-BE49-F238E27FC236}">
                <a16:creationId xmlns:a16="http://schemas.microsoft.com/office/drawing/2014/main" id="{BCDCE4BD-A1CD-4132-9104-879E901C76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2c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grpSp>
        <p:nvGrpSpPr>
          <p:cNvPr id="167990" name="Group 288">
            <a:extLst>
              <a:ext uri="{FF2B5EF4-FFF2-40B4-BE49-F238E27FC236}">
                <a16:creationId xmlns:a16="http://schemas.microsoft.com/office/drawing/2014/main" id="{F7A8588D-BCE0-4A0F-A2A1-73D28F43EEBA}"/>
              </a:ext>
            </a:extLst>
          </p:cNvPr>
          <p:cNvGrpSpPr>
            <a:grpSpLocks/>
          </p:cNvGrpSpPr>
          <p:nvPr/>
        </p:nvGrpSpPr>
        <p:grpSpPr bwMode="auto">
          <a:xfrm>
            <a:off x="7553325" y="4564063"/>
            <a:ext cx="231775" cy="441325"/>
            <a:chOff x="4140" y="429"/>
            <a:chExt cx="1425" cy="2396"/>
          </a:xfrm>
        </p:grpSpPr>
        <p:sp>
          <p:nvSpPr>
            <p:cNvPr id="168028" name="Freeform 289">
              <a:extLst>
                <a:ext uri="{FF2B5EF4-FFF2-40B4-BE49-F238E27FC236}">
                  <a16:creationId xmlns:a16="http://schemas.microsoft.com/office/drawing/2014/main" id="{E4E0D77A-C3AE-4E38-8B92-E6DC6078C3D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29" name="Rectangle 290">
              <a:extLst>
                <a:ext uri="{FF2B5EF4-FFF2-40B4-BE49-F238E27FC236}">
                  <a16:creationId xmlns:a16="http://schemas.microsoft.com/office/drawing/2014/main" id="{8983F018-2CD8-4374-93FA-442AAC4FD4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30" name="Freeform 291">
              <a:extLst>
                <a:ext uri="{FF2B5EF4-FFF2-40B4-BE49-F238E27FC236}">
                  <a16:creationId xmlns:a16="http://schemas.microsoft.com/office/drawing/2014/main" id="{386CC442-0F8A-45B8-837A-33BED69F97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31" name="Freeform 292">
              <a:extLst>
                <a:ext uri="{FF2B5EF4-FFF2-40B4-BE49-F238E27FC236}">
                  <a16:creationId xmlns:a16="http://schemas.microsoft.com/office/drawing/2014/main" id="{2CDCF350-9764-47BB-8FC4-9773BB0959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32" name="Rectangle 293">
              <a:extLst>
                <a:ext uri="{FF2B5EF4-FFF2-40B4-BE49-F238E27FC236}">
                  <a16:creationId xmlns:a16="http://schemas.microsoft.com/office/drawing/2014/main" id="{2D6161AF-29FE-4818-83EC-8BD63BDC16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8033" name="Group 294">
              <a:extLst>
                <a:ext uri="{FF2B5EF4-FFF2-40B4-BE49-F238E27FC236}">
                  <a16:creationId xmlns:a16="http://schemas.microsoft.com/office/drawing/2014/main" id="{3F6F5CC0-CF4A-4658-A78D-27051F18FF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8058" name="AutoShape 295">
                <a:extLst>
                  <a:ext uri="{FF2B5EF4-FFF2-40B4-BE49-F238E27FC236}">
                    <a16:creationId xmlns:a16="http://schemas.microsoft.com/office/drawing/2014/main" id="{93B46186-D597-4521-B111-EB7DD82872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8059" name="AutoShape 296">
                <a:extLst>
                  <a:ext uri="{FF2B5EF4-FFF2-40B4-BE49-F238E27FC236}">
                    <a16:creationId xmlns:a16="http://schemas.microsoft.com/office/drawing/2014/main" id="{CCBCEA52-7F8B-488C-9A7E-426A7F4823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34" name="Rectangle 297">
              <a:extLst>
                <a:ext uri="{FF2B5EF4-FFF2-40B4-BE49-F238E27FC236}">
                  <a16:creationId xmlns:a16="http://schemas.microsoft.com/office/drawing/2014/main" id="{DDE44BFA-DBD0-4B21-BEC4-886D1E25D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8035" name="Group 298">
              <a:extLst>
                <a:ext uri="{FF2B5EF4-FFF2-40B4-BE49-F238E27FC236}">
                  <a16:creationId xmlns:a16="http://schemas.microsoft.com/office/drawing/2014/main" id="{2268B756-0788-4FC9-BD4B-122F70D747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8056" name="AutoShape 299">
                <a:extLst>
                  <a:ext uri="{FF2B5EF4-FFF2-40B4-BE49-F238E27FC236}">
                    <a16:creationId xmlns:a16="http://schemas.microsoft.com/office/drawing/2014/main" id="{93BE5B87-E4A3-4AF5-B74A-7E59E53DE0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8057" name="AutoShape 300">
                <a:extLst>
                  <a:ext uri="{FF2B5EF4-FFF2-40B4-BE49-F238E27FC236}">
                    <a16:creationId xmlns:a16="http://schemas.microsoft.com/office/drawing/2014/main" id="{6B6B1AC8-C459-42A8-9614-564030D55E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36" name="Rectangle 301">
              <a:extLst>
                <a:ext uri="{FF2B5EF4-FFF2-40B4-BE49-F238E27FC236}">
                  <a16:creationId xmlns:a16="http://schemas.microsoft.com/office/drawing/2014/main" id="{F37F7309-9F94-4ADC-B59B-40B6667CA3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37" name="Rectangle 302">
              <a:extLst>
                <a:ext uri="{FF2B5EF4-FFF2-40B4-BE49-F238E27FC236}">
                  <a16:creationId xmlns:a16="http://schemas.microsoft.com/office/drawing/2014/main" id="{8295231F-5300-4CC9-B761-AAAF3CB5A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8038" name="Group 303">
              <a:extLst>
                <a:ext uri="{FF2B5EF4-FFF2-40B4-BE49-F238E27FC236}">
                  <a16:creationId xmlns:a16="http://schemas.microsoft.com/office/drawing/2014/main" id="{B9C0AB35-48A1-407F-BF6E-7B186E217F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8054" name="AutoShape 304">
                <a:extLst>
                  <a:ext uri="{FF2B5EF4-FFF2-40B4-BE49-F238E27FC236}">
                    <a16:creationId xmlns:a16="http://schemas.microsoft.com/office/drawing/2014/main" id="{48051B65-74E1-452A-9782-6118E1C57C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8055" name="AutoShape 305">
                <a:extLst>
                  <a:ext uri="{FF2B5EF4-FFF2-40B4-BE49-F238E27FC236}">
                    <a16:creationId xmlns:a16="http://schemas.microsoft.com/office/drawing/2014/main" id="{B47DF470-8293-42B4-8EF5-CA817C9A31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39" name="Freeform 306">
              <a:extLst>
                <a:ext uri="{FF2B5EF4-FFF2-40B4-BE49-F238E27FC236}">
                  <a16:creationId xmlns:a16="http://schemas.microsoft.com/office/drawing/2014/main" id="{1EC85B1B-F5F3-4F34-9A48-DE147F685E4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8040" name="Group 307">
              <a:extLst>
                <a:ext uri="{FF2B5EF4-FFF2-40B4-BE49-F238E27FC236}">
                  <a16:creationId xmlns:a16="http://schemas.microsoft.com/office/drawing/2014/main" id="{7E4DFDAB-6D1F-42E5-A1D7-BC5ACEA33D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8052" name="AutoShape 308">
                <a:extLst>
                  <a:ext uri="{FF2B5EF4-FFF2-40B4-BE49-F238E27FC236}">
                    <a16:creationId xmlns:a16="http://schemas.microsoft.com/office/drawing/2014/main" id="{9D698E51-7F98-4A3F-BD8F-D92A0E788C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8053" name="AutoShape 309">
                <a:extLst>
                  <a:ext uri="{FF2B5EF4-FFF2-40B4-BE49-F238E27FC236}">
                    <a16:creationId xmlns:a16="http://schemas.microsoft.com/office/drawing/2014/main" id="{F32DAAE3-57C9-4D9C-A22B-2E420D8F13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41" name="Rectangle 310">
              <a:extLst>
                <a:ext uri="{FF2B5EF4-FFF2-40B4-BE49-F238E27FC236}">
                  <a16:creationId xmlns:a16="http://schemas.microsoft.com/office/drawing/2014/main" id="{B86F2760-3963-40F7-AB81-134DE46F1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42" name="Freeform 311">
              <a:extLst>
                <a:ext uri="{FF2B5EF4-FFF2-40B4-BE49-F238E27FC236}">
                  <a16:creationId xmlns:a16="http://schemas.microsoft.com/office/drawing/2014/main" id="{500BA04F-2E58-437B-B0EE-5B6F57E92F4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43" name="Freeform 312">
              <a:extLst>
                <a:ext uri="{FF2B5EF4-FFF2-40B4-BE49-F238E27FC236}">
                  <a16:creationId xmlns:a16="http://schemas.microsoft.com/office/drawing/2014/main" id="{66D16117-75AC-4E06-8A03-12447A669C0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44" name="Oval 313">
              <a:extLst>
                <a:ext uri="{FF2B5EF4-FFF2-40B4-BE49-F238E27FC236}">
                  <a16:creationId xmlns:a16="http://schemas.microsoft.com/office/drawing/2014/main" id="{8BF11224-0FDD-49DE-B051-33022AB7B6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45" name="Freeform 314">
              <a:extLst>
                <a:ext uri="{FF2B5EF4-FFF2-40B4-BE49-F238E27FC236}">
                  <a16:creationId xmlns:a16="http://schemas.microsoft.com/office/drawing/2014/main" id="{258BA551-B649-4FDE-9348-D22E21A57FB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46" name="AutoShape 315">
              <a:extLst>
                <a:ext uri="{FF2B5EF4-FFF2-40B4-BE49-F238E27FC236}">
                  <a16:creationId xmlns:a16="http://schemas.microsoft.com/office/drawing/2014/main" id="{19C334B6-E04C-4B18-AC3D-CBAE3612CB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47" name="AutoShape 316">
              <a:extLst>
                <a:ext uri="{FF2B5EF4-FFF2-40B4-BE49-F238E27FC236}">
                  <a16:creationId xmlns:a16="http://schemas.microsoft.com/office/drawing/2014/main" id="{2C6BA825-8A6F-4D9A-B0E9-A871BD5DFA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48" name="Oval 317">
              <a:extLst>
                <a:ext uri="{FF2B5EF4-FFF2-40B4-BE49-F238E27FC236}">
                  <a16:creationId xmlns:a16="http://schemas.microsoft.com/office/drawing/2014/main" id="{8FE4102A-9B97-4F9C-A205-9558DA1BED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49" name="Oval 318">
              <a:extLst>
                <a:ext uri="{FF2B5EF4-FFF2-40B4-BE49-F238E27FC236}">
                  <a16:creationId xmlns:a16="http://schemas.microsoft.com/office/drawing/2014/main" id="{D87C1299-3FFA-48FC-BF17-10FC49F8FD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8050" name="Oval 319">
              <a:extLst>
                <a:ext uri="{FF2B5EF4-FFF2-40B4-BE49-F238E27FC236}">
                  <a16:creationId xmlns:a16="http://schemas.microsoft.com/office/drawing/2014/main" id="{37380EC8-C0B4-4169-A33C-70187B332E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51" name="Rectangle 320">
              <a:extLst>
                <a:ext uri="{FF2B5EF4-FFF2-40B4-BE49-F238E27FC236}">
                  <a16:creationId xmlns:a16="http://schemas.microsoft.com/office/drawing/2014/main" id="{B05174F1-A52F-423A-8ED8-64B7D1296B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7991" name="Group 321">
            <a:extLst>
              <a:ext uri="{FF2B5EF4-FFF2-40B4-BE49-F238E27FC236}">
                <a16:creationId xmlns:a16="http://schemas.microsoft.com/office/drawing/2014/main" id="{E4219F7D-251B-491A-9E3B-F46053D65FCB}"/>
              </a:ext>
            </a:extLst>
          </p:cNvPr>
          <p:cNvGrpSpPr>
            <a:grpSpLocks/>
          </p:cNvGrpSpPr>
          <p:nvPr/>
        </p:nvGrpSpPr>
        <p:grpSpPr bwMode="auto">
          <a:xfrm>
            <a:off x="7135813" y="5867400"/>
            <a:ext cx="231775" cy="441325"/>
            <a:chOff x="4140" y="429"/>
            <a:chExt cx="1425" cy="2396"/>
          </a:xfrm>
        </p:grpSpPr>
        <p:sp>
          <p:nvSpPr>
            <p:cNvPr id="167996" name="Freeform 322">
              <a:extLst>
                <a:ext uri="{FF2B5EF4-FFF2-40B4-BE49-F238E27FC236}">
                  <a16:creationId xmlns:a16="http://schemas.microsoft.com/office/drawing/2014/main" id="{256B57DF-D426-407E-9319-6AE1E7863A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997" name="Rectangle 323">
              <a:extLst>
                <a:ext uri="{FF2B5EF4-FFF2-40B4-BE49-F238E27FC236}">
                  <a16:creationId xmlns:a16="http://schemas.microsoft.com/office/drawing/2014/main" id="{94E6E306-27A5-4082-9EB8-BB4079B4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7998" name="Freeform 324">
              <a:extLst>
                <a:ext uri="{FF2B5EF4-FFF2-40B4-BE49-F238E27FC236}">
                  <a16:creationId xmlns:a16="http://schemas.microsoft.com/office/drawing/2014/main" id="{E221837A-650E-4584-81DF-39BFBF6058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7999" name="Freeform 325">
              <a:extLst>
                <a:ext uri="{FF2B5EF4-FFF2-40B4-BE49-F238E27FC236}">
                  <a16:creationId xmlns:a16="http://schemas.microsoft.com/office/drawing/2014/main" id="{1A4BE4CC-01FF-443A-B4BE-B8713B1FB8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00" name="Rectangle 326">
              <a:extLst>
                <a:ext uri="{FF2B5EF4-FFF2-40B4-BE49-F238E27FC236}">
                  <a16:creationId xmlns:a16="http://schemas.microsoft.com/office/drawing/2014/main" id="{D8BBD084-5870-41BF-8072-F28DA1628F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8001" name="Group 327">
              <a:extLst>
                <a:ext uri="{FF2B5EF4-FFF2-40B4-BE49-F238E27FC236}">
                  <a16:creationId xmlns:a16="http://schemas.microsoft.com/office/drawing/2014/main" id="{1993F874-31E2-409F-B24E-D73F33C9F3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68026" name="AutoShape 328">
                <a:extLst>
                  <a:ext uri="{FF2B5EF4-FFF2-40B4-BE49-F238E27FC236}">
                    <a16:creationId xmlns:a16="http://schemas.microsoft.com/office/drawing/2014/main" id="{4442E6D3-437D-4B52-8603-84DDA01369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8027" name="AutoShape 329">
                <a:extLst>
                  <a:ext uri="{FF2B5EF4-FFF2-40B4-BE49-F238E27FC236}">
                    <a16:creationId xmlns:a16="http://schemas.microsoft.com/office/drawing/2014/main" id="{D6501AF3-5F89-4369-ACFF-A73176412E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02" name="Rectangle 330">
              <a:extLst>
                <a:ext uri="{FF2B5EF4-FFF2-40B4-BE49-F238E27FC236}">
                  <a16:creationId xmlns:a16="http://schemas.microsoft.com/office/drawing/2014/main" id="{2C100A5C-9BB3-48CA-9D89-B3AA84979D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8003" name="Group 331">
              <a:extLst>
                <a:ext uri="{FF2B5EF4-FFF2-40B4-BE49-F238E27FC236}">
                  <a16:creationId xmlns:a16="http://schemas.microsoft.com/office/drawing/2014/main" id="{EA6FA55B-5C50-4BC1-87E1-CD353B35F5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68024" name="AutoShape 332">
                <a:extLst>
                  <a:ext uri="{FF2B5EF4-FFF2-40B4-BE49-F238E27FC236}">
                    <a16:creationId xmlns:a16="http://schemas.microsoft.com/office/drawing/2014/main" id="{105C6120-6F16-4B40-9C51-8AD0B693A6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8025" name="AutoShape 333">
                <a:extLst>
                  <a:ext uri="{FF2B5EF4-FFF2-40B4-BE49-F238E27FC236}">
                    <a16:creationId xmlns:a16="http://schemas.microsoft.com/office/drawing/2014/main" id="{0C1AAAD1-6D97-4BE1-85D8-CE5C6BCE6C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04" name="Rectangle 334">
              <a:extLst>
                <a:ext uri="{FF2B5EF4-FFF2-40B4-BE49-F238E27FC236}">
                  <a16:creationId xmlns:a16="http://schemas.microsoft.com/office/drawing/2014/main" id="{FD2283F8-DC76-4F54-B1CE-9F963C3DB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05" name="Rectangle 335">
              <a:extLst>
                <a:ext uri="{FF2B5EF4-FFF2-40B4-BE49-F238E27FC236}">
                  <a16:creationId xmlns:a16="http://schemas.microsoft.com/office/drawing/2014/main" id="{7BD50248-18B5-4340-A193-C92AD3B0A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68006" name="Group 336">
              <a:extLst>
                <a:ext uri="{FF2B5EF4-FFF2-40B4-BE49-F238E27FC236}">
                  <a16:creationId xmlns:a16="http://schemas.microsoft.com/office/drawing/2014/main" id="{04C2A489-A578-4EB8-A93A-6ED96A5526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68022" name="AutoShape 337">
                <a:extLst>
                  <a:ext uri="{FF2B5EF4-FFF2-40B4-BE49-F238E27FC236}">
                    <a16:creationId xmlns:a16="http://schemas.microsoft.com/office/drawing/2014/main" id="{33ECD9B6-40C6-4A7C-B42A-3EB84559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8023" name="AutoShape 338">
                <a:extLst>
                  <a:ext uri="{FF2B5EF4-FFF2-40B4-BE49-F238E27FC236}">
                    <a16:creationId xmlns:a16="http://schemas.microsoft.com/office/drawing/2014/main" id="{83290950-075E-4534-9474-F9D531122E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07" name="Freeform 339">
              <a:extLst>
                <a:ext uri="{FF2B5EF4-FFF2-40B4-BE49-F238E27FC236}">
                  <a16:creationId xmlns:a16="http://schemas.microsoft.com/office/drawing/2014/main" id="{F78DA080-7209-41A0-8074-27E5AE3F996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68008" name="Group 340">
              <a:extLst>
                <a:ext uri="{FF2B5EF4-FFF2-40B4-BE49-F238E27FC236}">
                  <a16:creationId xmlns:a16="http://schemas.microsoft.com/office/drawing/2014/main" id="{E8DE4D41-AEE2-43F5-B29F-4E1F4DEF32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68020" name="AutoShape 341">
                <a:extLst>
                  <a:ext uri="{FF2B5EF4-FFF2-40B4-BE49-F238E27FC236}">
                    <a16:creationId xmlns:a16="http://schemas.microsoft.com/office/drawing/2014/main" id="{1FC59C94-CF38-465C-ABF8-009570B985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68021" name="AutoShape 342">
                <a:extLst>
                  <a:ext uri="{FF2B5EF4-FFF2-40B4-BE49-F238E27FC236}">
                    <a16:creationId xmlns:a16="http://schemas.microsoft.com/office/drawing/2014/main" id="{0200E111-E495-47C2-9B37-4F5657ED4A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68009" name="Rectangle 343">
              <a:extLst>
                <a:ext uri="{FF2B5EF4-FFF2-40B4-BE49-F238E27FC236}">
                  <a16:creationId xmlns:a16="http://schemas.microsoft.com/office/drawing/2014/main" id="{F9EFC2D0-6469-4576-AEED-B104143093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10" name="Freeform 344">
              <a:extLst>
                <a:ext uri="{FF2B5EF4-FFF2-40B4-BE49-F238E27FC236}">
                  <a16:creationId xmlns:a16="http://schemas.microsoft.com/office/drawing/2014/main" id="{7D455D09-4D6C-47F3-A0A6-56304E646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11" name="Freeform 345">
              <a:extLst>
                <a:ext uri="{FF2B5EF4-FFF2-40B4-BE49-F238E27FC236}">
                  <a16:creationId xmlns:a16="http://schemas.microsoft.com/office/drawing/2014/main" id="{6B008414-8823-4EC8-99D9-43766B9299B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12" name="Oval 346">
              <a:extLst>
                <a:ext uri="{FF2B5EF4-FFF2-40B4-BE49-F238E27FC236}">
                  <a16:creationId xmlns:a16="http://schemas.microsoft.com/office/drawing/2014/main" id="{0F83D5B8-D2A0-45A6-9866-E5EDF907C9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13" name="Freeform 347">
              <a:extLst>
                <a:ext uri="{FF2B5EF4-FFF2-40B4-BE49-F238E27FC236}">
                  <a16:creationId xmlns:a16="http://schemas.microsoft.com/office/drawing/2014/main" id="{244734C8-923C-4C36-A38C-C710E786761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8014" name="AutoShape 348">
              <a:extLst>
                <a:ext uri="{FF2B5EF4-FFF2-40B4-BE49-F238E27FC236}">
                  <a16:creationId xmlns:a16="http://schemas.microsoft.com/office/drawing/2014/main" id="{26DE3690-B7A7-42FD-812A-48809EE078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15" name="AutoShape 349">
              <a:extLst>
                <a:ext uri="{FF2B5EF4-FFF2-40B4-BE49-F238E27FC236}">
                  <a16:creationId xmlns:a16="http://schemas.microsoft.com/office/drawing/2014/main" id="{BDBF2F18-E074-4337-A0F1-4B93C6960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16" name="Oval 350">
              <a:extLst>
                <a:ext uri="{FF2B5EF4-FFF2-40B4-BE49-F238E27FC236}">
                  <a16:creationId xmlns:a16="http://schemas.microsoft.com/office/drawing/2014/main" id="{6843F521-9793-458F-9B69-F1A81B7E4D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17" name="Oval 351">
              <a:extLst>
                <a:ext uri="{FF2B5EF4-FFF2-40B4-BE49-F238E27FC236}">
                  <a16:creationId xmlns:a16="http://schemas.microsoft.com/office/drawing/2014/main" id="{BCE8BCAC-C9FA-4359-930F-B86A095652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8018" name="Oval 352">
              <a:extLst>
                <a:ext uri="{FF2B5EF4-FFF2-40B4-BE49-F238E27FC236}">
                  <a16:creationId xmlns:a16="http://schemas.microsoft.com/office/drawing/2014/main" id="{E7520234-9434-4D8B-BF9D-98EB2BD2E6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8019" name="Rectangle 353">
              <a:extLst>
                <a:ext uri="{FF2B5EF4-FFF2-40B4-BE49-F238E27FC236}">
                  <a16:creationId xmlns:a16="http://schemas.microsoft.com/office/drawing/2014/main" id="{22419876-F5C1-4D27-9071-0E0713301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67992" name="Group 354">
            <a:extLst>
              <a:ext uri="{FF2B5EF4-FFF2-40B4-BE49-F238E27FC236}">
                <a16:creationId xmlns:a16="http://schemas.microsoft.com/office/drawing/2014/main" id="{945FF628-57C9-46AE-8875-0E5E5360FF10}"/>
              </a:ext>
            </a:extLst>
          </p:cNvPr>
          <p:cNvGrpSpPr>
            <a:grpSpLocks/>
          </p:cNvGrpSpPr>
          <p:nvPr/>
        </p:nvGrpSpPr>
        <p:grpSpPr bwMode="auto">
          <a:xfrm>
            <a:off x="661988" y="5605463"/>
            <a:ext cx="525462" cy="434975"/>
            <a:chOff x="-44" y="1473"/>
            <a:chExt cx="981" cy="1105"/>
          </a:xfrm>
        </p:grpSpPr>
        <p:pic>
          <p:nvPicPr>
            <p:cNvPr id="167994" name="Picture 355" descr="desktop_computer_stylized_medium">
              <a:extLst>
                <a:ext uri="{FF2B5EF4-FFF2-40B4-BE49-F238E27FC236}">
                  <a16:creationId xmlns:a16="http://schemas.microsoft.com/office/drawing/2014/main" id="{ED5FB8BD-AD02-42DE-96DD-0DF8540A30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7995" name="Freeform 356">
              <a:extLst>
                <a:ext uri="{FF2B5EF4-FFF2-40B4-BE49-F238E27FC236}">
                  <a16:creationId xmlns:a16="http://schemas.microsoft.com/office/drawing/2014/main" id="{A8D14906-A89C-40EC-A4AB-81A0D245D27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20218438 w 356"/>
                <a:gd name="T3" fmla="*/ 2545477 h 368"/>
                <a:gd name="T4" fmla="*/ 23984912 w 356"/>
                <a:gd name="T5" fmla="*/ 53030358 h 368"/>
                <a:gd name="T6" fmla="*/ 5285912 w 356"/>
                <a:gd name="T7" fmla="*/ 6632157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167993" name="Picture 180">
            <a:extLst>
              <a:ext uri="{FF2B5EF4-FFF2-40B4-BE49-F238E27FC236}">
                <a16:creationId xmlns:a16="http://schemas.microsoft.com/office/drawing/2014/main" id="{BCD63918-5852-46CA-8ABD-7108859B4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1039813"/>
            <a:ext cx="2603500" cy="2454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586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7 0.00255 L -5.55556E-7 0.0354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3586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6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358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58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19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0.03542 L 0.0007 0.17802 L 0.08681 0.17894 L 0.04723 0.24191 L 0.19584 0.24191 " pathEditMode="relative" ptsTypes="AAAAA">
                                      <p:cBhvr>
                                        <p:cTn id="20" dur="2000" fill="hold"/>
                                        <p:tgtEl>
                                          <p:spTgt spid="3586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2" dur="500"/>
                                        <p:tgtEl>
                                          <p:spTgt spid="3586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8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5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586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29" presetID="0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583 0.2419 L 0.23593 0.24144 " pathEditMode="relative" rAng="0" ptsTypes="AA">
                                      <p:cBhvr>
                                        <p:cTn id="30" dur="3000" fill="hold"/>
                                        <p:tgtEl>
                                          <p:spTgt spid="3586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97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9000"/>
                            </p:stCondLst>
                            <p:childTnLst>
                              <p:par>
                                <p:cTn id="32" presetID="0" presetClass="path" presetSubtype="0" accel="50000" decel="5000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3281 0.24075 L 0.30833 0.24075 L 0.34982 0.18056 " pathEditMode="relative" rAng="0" ptsTypes="AAA">
                                      <p:cBhvr>
                                        <p:cTn id="33" dur="2000" fill="hold"/>
                                        <p:tgtEl>
                                          <p:spTgt spid="3586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51" y="-3009"/>
                                    </p:animMotion>
                                  </p:childTnLst>
                                </p:cTn>
                              </p:par>
                              <p:par>
                                <p:cTn id="34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3586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8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11000"/>
                            </p:stCondLst>
                            <p:childTnLst>
                              <p:par>
                                <p:cTn id="3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 nodeType="afterGroup">
                            <p:stCondLst>
                              <p:cond delay="11500"/>
                            </p:stCondLst>
                            <p:childTnLst>
                              <p:par>
                                <p:cTn id="42" presetID="0" presetClass="path" presetSubtype="0" accel="50000" decel="5000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4982 0.18056 L 0.3743 0.15278 L 0.46198 0.15278 L 0.46076 0.01621 " pathEditMode="relative" rAng="0" ptsTypes="AAAA">
                                      <p:cBhvr>
                                        <p:cTn id="43" dur="2000" fill="hold"/>
                                        <p:tgtEl>
                                          <p:spTgt spid="3586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08" y="-8218"/>
                                    </p:animMotion>
                                  </p:childTnLst>
                                </p:cTn>
                              </p:par>
                              <p:par>
                                <p:cTn id="4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-1.11111E-6 L 0.03542 -1.11111E-6 L 0.03785 0.14306 L 0.11719 0.14468 L 0.0842 0.20648 L 0.34271 0.20648 L 0.4099 0.1169 L 0.49635 0.11852 L 0.49635 -0.01805 " pathEditMode="relative" ptsTypes="AAAAAAAAA">
                                      <p:cBhvr>
                                        <p:cTn id="48" dur="2000" fill="hold"/>
                                        <p:tgtEl>
                                          <p:spTgt spid="3586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 nodeType="afterGroup">
                            <p:stCondLst>
                              <p:cond delay="13500"/>
                            </p:stCondLst>
                            <p:childTnLst>
                              <p:par>
                                <p:cTn id="50" presetID="9" presetClass="exit" presetSubtype="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1" dur="500"/>
                                        <p:tgtEl>
                                          <p:spTgt spid="3586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8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4" grpId="0" animBg="1"/>
      <p:bldP spid="358634" grpId="1" animBg="1"/>
      <p:bldP spid="358634" grpId="2" animBg="1"/>
      <p:bldP spid="358634" grpId="3" animBg="1"/>
      <p:bldP spid="358634" grpId="4" animBg="1"/>
      <p:bldP spid="358634" grpId="5" animBg="1"/>
      <p:bldP spid="358634" grpId="6" animBg="1"/>
      <p:bldP spid="358635" grpId="0" animBg="1"/>
      <p:bldP spid="358635" grpId="1" animBg="1"/>
      <p:bldP spid="358636" grpId="0"/>
      <p:bldP spid="358636" grpId="1"/>
      <p:bldP spid="358637" grpId="0"/>
      <p:bldP spid="358637" grpId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Footer Placeholder 5">
            <a:extLst>
              <a:ext uri="{FF2B5EF4-FFF2-40B4-BE49-F238E27FC236}">
                <a16:creationId xmlns:a16="http://schemas.microsoft.com/office/drawing/2014/main" id="{DF47A7FF-F0A5-4CAC-92A0-FD4CF54FE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8963" name="Slide Number Placeholder 6">
            <a:extLst>
              <a:ext uri="{FF2B5EF4-FFF2-40B4-BE49-F238E27FC236}">
                <a16:creationId xmlns:a16="http://schemas.microsoft.com/office/drawing/2014/main" id="{D1603380-338F-423B-B757-ABF94560F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A53EE61E-8D8C-4170-8B20-B4E9DC9079EB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97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68964" name="Rectangle 261">
            <a:extLst>
              <a:ext uri="{FF2B5EF4-FFF2-40B4-BE49-F238E27FC236}">
                <a16:creationId xmlns:a16="http://schemas.microsoft.com/office/drawing/2014/main" id="{6048E958-2AAE-4C80-97D6-C8C5FD9D3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063" y="3836988"/>
            <a:ext cx="8143875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6889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ja-JP" altLang="en-US" sz="2800" dirty="0">
                <a:solidFill>
                  <a:srgbClr val="CC0000"/>
                </a:solidFill>
              </a:rPr>
              <a:t>“</a:t>
            </a:r>
            <a:r>
              <a:rPr lang="en-US" altLang="ja-JP" sz="2800" dirty="0">
                <a:solidFill>
                  <a:srgbClr val="CC0000"/>
                </a:solidFill>
              </a:rPr>
              <a:t>costs</a:t>
            </a:r>
            <a:r>
              <a:rPr lang="ja-JP" altLang="en-US" sz="2800" dirty="0">
                <a:solidFill>
                  <a:srgbClr val="CC0000"/>
                </a:solidFill>
              </a:rPr>
              <a:t>”</a:t>
            </a:r>
            <a:r>
              <a:rPr lang="en-US" altLang="ja-JP" sz="2800" dirty="0">
                <a:solidFill>
                  <a:srgbClr val="CC0000"/>
                </a:solidFill>
              </a:rPr>
              <a:t> of congestion:</a:t>
            </a:r>
            <a:r>
              <a:rPr lang="en-US" altLang="ja-JP" sz="2800" dirty="0">
                <a:solidFill>
                  <a:srgbClr val="000000"/>
                </a:solidFill>
              </a:rPr>
              <a:t> </a:t>
            </a:r>
          </a:p>
          <a:p>
            <a:r>
              <a:rPr lang="en-US" altLang="zh-TW" sz="2400" dirty="0">
                <a:solidFill>
                  <a:srgbClr val="000000"/>
                </a:solidFill>
              </a:rPr>
              <a:t>more work (</a:t>
            </a:r>
            <a:r>
              <a:rPr lang="en-US" altLang="zh-TW" sz="2400" dirty="0">
                <a:solidFill>
                  <a:srgbClr val="0070C0"/>
                </a:solidFill>
              </a:rPr>
              <a:t>retransmission</a:t>
            </a:r>
            <a:r>
              <a:rPr lang="en-US" altLang="zh-TW" sz="2400" dirty="0">
                <a:solidFill>
                  <a:srgbClr val="000000"/>
                </a:solidFill>
              </a:rPr>
              <a:t>) for given </a:t>
            </a:r>
            <a:r>
              <a:rPr lang="en-US" altLang="ja-JP" sz="2400" dirty="0">
                <a:solidFill>
                  <a:srgbClr val="000000"/>
                </a:solidFill>
              </a:rPr>
              <a:t>throughput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unneeded</a:t>
            </a:r>
            <a:r>
              <a:rPr lang="en-US" altLang="zh-TW" sz="2400" dirty="0">
                <a:solidFill>
                  <a:srgbClr val="000000"/>
                </a:solidFill>
              </a:rPr>
              <a:t> retransmissions: link carries multiple copies of pkt</a:t>
            </a:r>
          </a:p>
          <a:p>
            <a:pPr lvl="1"/>
            <a:r>
              <a:rPr lang="en-US" altLang="zh-TW" sz="2400" dirty="0">
                <a:solidFill>
                  <a:srgbClr val="000000"/>
                </a:solidFill>
              </a:rPr>
              <a:t>decreasing </a:t>
            </a:r>
            <a:r>
              <a:rPr lang="en-US" altLang="ja-JP" sz="2400" dirty="0">
                <a:solidFill>
                  <a:srgbClr val="000000"/>
                </a:solidFill>
              </a:rPr>
              <a:t>throughput</a:t>
            </a:r>
            <a:endParaRPr lang="en-US" altLang="zh-TW" sz="2400" dirty="0">
              <a:solidFill>
                <a:srgbClr val="000000"/>
              </a:solidFill>
            </a:endParaRPr>
          </a:p>
          <a:p>
            <a:pPr algn="ctr"/>
            <a:endParaRPr lang="en-US" altLang="zh-TW" sz="2400" dirty="0">
              <a:solidFill>
                <a:srgbClr val="000000"/>
              </a:solidFill>
            </a:endParaRPr>
          </a:p>
        </p:txBody>
      </p:sp>
      <p:pic>
        <p:nvPicPr>
          <p:cNvPr id="168965" name="Picture 270" descr="underline_base">
            <a:extLst>
              <a:ext uri="{FF2B5EF4-FFF2-40B4-BE49-F238E27FC236}">
                <a16:creationId xmlns:a16="http://schemas.microsoft.com/office/drawing/2014/main" id="{4C4F45F3-6534-472C-9CB9-6AA30CBA8F7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4224" name="Rectangle 271">
            <a:extLst>
              <a:ext uri="{FF2B5EF4-FFF2-40B4-BE49-F238E27FC236}">
                <a16:creationId xmlns:a16="http://schemas.microsoft.com/office/drawing/2014/main" id="{CE5415CD-177D-4363-8A56-CE6798FB5F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2c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sp>
        <p:nvSpPr>
          <p:cNvPr id="168967" name="Rectangle 273">
            <a:extLst>
              <a:ext uri="{FF2B5EF4-FFF2-40B4-BE49-F238E27FC236}">
                <a16:creationId xmlns:a16="http://schemas.microsoft.com/office/drawing/2014/main" id="{859017B2-B053-4F25-A094-A52D7E736B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825" y="1039813"/>
            <a:ext cx="4310063" cy="191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buFont typeface="Wingdings" panose="05000000000000000000" pitchFamily="2" charset="2"/>
              <a:buNone/>
            </a:pPr>
            <a:r>
              <a:rPr lang="en-US" altLang="zh-TW" sz="2800" i="1" dirty="0">
                <a:solidFill>
                  <a:srgbClr val="000099"/>
                </a:solidFill>
              </a:rPr>
              <a:t>Realistic: </a:t>
            </a:r>
            <a:r>
              <a:rPr lang="en-US" altLang="zh-TW" sz="2800" i="1" dirty="0">
                <a:solidFill>
                  <a:srgbClr val="CC0000"/>
                </a:solidFill>
              </a:rPr>
              <a:t>duplicates</a:t>
            </a:r>
            <a:r>
              <a:rPr lang="en-US" altLang="zh-TW" sz="24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en-US" altLang="zh-TW" sz="2400" dirty="0">
                <a:solidFill>
                  <a:srgbClr val="0070C0"/>
                </a:solidFill>
              </a:rPr>
              <a:t>packets can be lost, dropped at router due  to full buffers</a:t>
            </a:r>
          </a:p>
          <a:p>
            <a:pPr algn="ctr"/>
            <a:r>
              <a:rPr lang="en-US" altLang="zh-TW" sz="2400" dirty="0">
                <a:solidFill>
                  <a:srgbClr val="0070C0"/>
                </a:solidFill>
              </a:rPr>
              <a:t>sender times out prematurely</a:t>
            </a:r>
            <a:r>
              <a:rPr lang="en-US" altLang="zh-TW" sz="2400" dirty="0">
                <a:solidFill>
                  <a:srgbClr val="000000"/>
                </a:solidFill>
              </a:rPr>
              <a:t>, sending </a:t>
            </a:r>
            <a:r>
              <a:rPr lang="en-US" altLang="zh-TW" sz="2400" i="1" dirty="0">
                <a:solidFill>
                  <a:srgbClr val="000099"/>
                </a:solidFill>
              </a:rPr>
              <a:t>two</a:t>
            </a:r>
            <a:r>
              <a:rPr lang="en-US" altLang="zh-TW" sz="2400" i="1" dirty="0">
                <a:solidFill>
                  <a:srgbClr val="000000"/>
                </a:solidFill>
              </a:rPr>
              <a:t> </a:t>
            </a:r>
            <a:r>
              <a:rPr lang="en-US" altLang="zh-TW" sz="2400" dirty="0">
                <a:solidFill>
                  <a:srgbClr val="000000"/>
                </a:solidFill>
              </a:rPr>
              <a:t>copies, both of which are delivered</a:t>
            </a:r>
            <a:endParaRPr lang="en-US" altLang="zh-TW" sz="2800" dirty="0">
              <a:solidFill>
                <a:srgbClr val="000000"/>
              </a:solidFill>
            </a:endParaRPr>
          </a:p>
          <a:p>
            <a:pPr algn="ctr"/>
            <a:endParaRPr lang="en-US" altLang="zh-TW" sz="2800" dirty="0">
              <a:solidFill>
                <a:srgbClr val="000000"/>
              </a:solidFill>
            </a:endParaRPr>
          </a:p>
        </p:txBody>
      </p:sp>
      <p:pic>
        <p:nvPicPr>
          <p:cNvPr id="168968" name="Picture 180">
            <a:extLst>
              <a:ext uri="{FF2B5EF4-FFF2-40B4-BE49-F238E27FC236}">
                <a16:creationId xmlns:a16="http://schemas.microsoft.com/office/drawing/2014/main" id="{F4D142F9-670F-487C-BA57-00036002D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1039813"/>
            <a:ext cx="2603500" cy="2454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Footer Placeholder 5">
            <a:extLst>
              <a:ext uri="{FF2B5EF4-FFF2-40B4-BE49-F238E27FC236}">
                <a16:creationId xmlns:a16="http://schemas.microsoft.com/office/drawing/2014/main" id="{D40997CF-D47C-4350-BD7E-B473969F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69987" name="Slide Number Placeholder 6">
            <a:extLst>
              <a:ext uri="{FF2B5EF4-FFF2-40B4-BE49-F238E27FC236}">
                <a16:creationId xmlns:a16="http://schemas.microsoft.com/office/drawing/2014/main" id="{57ADEA2A-0008-477D-B801-318DC93D2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482BD2B9-A7AB-436A-850C-CB52C813C01B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98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69988" name="Freeform 354">
            <a:extLst>
              <a:ext uri="{FF2B5EF4-FFF2-40B4-BE49-F238E27FC236}">
                <a16:creationId xmlns:a16="http://schemas.microsoft.com/office/drawing/2014/main" id="{183EDAB6-E143-47FD-B4B7-8DD5C27A72AF}"/>
              </a:ext>
            </a:extLst>
          </p:cNvPr>
          <p:cNvSpPr>
            <a:spLocks/>
          </p:cNvSpPr>
          <p:nvPr/>
        </p:nvSpPr>
        <p:spPr bwMode="auto">
          <a:xfrm flipH="1">
            <a:off x="2568575" y="3136900"/>
            <a:ext cx="236538" cy="1014413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9989" name="Freeform 350">
            <a:extLst>
              <a:ext uri="{FF2B5EF4-FFF2-40B4-BE49-F238E27FC236}">
                <a16:creationId xmlns:a16="http://schemas.microsoft.com/office/drawing/2014/main" id="{2F35A482-85DB-4517-AC4E-FCF6F6E06B16}"/>
              </a:ext>
            </a:extLst>
          </p:cNvPr>
          <p:cNvSpPr>
            <a:spLocks/>
          </p:cNvSpPr>
          <p:nvPr/>
        </p:nvSpPr>
        <p:spPr bwMode="auto">
          <a:xfrm flipH="1">
            <a:off x="552450" y="5118100"/>
            <a:ext cx="236538" cy="1014413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9990" name="Freeform 347">
            <a:extLst>
              <a:ext uri="{FF2B5EF4-FFF2-40B4-BE49-F238E27FC236}">
                <a16:creationId xmlns:a16="http://schemas.microsoft.com/office/drawing/2014/main" id="{ECE042D9-FBB5-4D6D-91D9-BD4DD89166F0}"/>
              </a:ext>
            </a:extLst>
          </p:cNvPr>
          <p:cNvSpPr>
            <a:spLocks/>
          </p:cNvSpPr>
          <p:nvPr/>
        </p:nvSpPr>
        <p:spPr bwMode="auto">
          <a:xfrm>
            <a:off x="6810375" y="5316538"/>
            <a:ext cx="236538" cy="1014412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9991" name="Freeform 344">
            <a:extLst>
              <a:ext uri="{FF2B5EF4-FFF2-40B4-BE49-F238E27FC236}">
                <a16:creationId xmlns:a16="http://schemas.microsoft.com/office/drawing/2014/main" id="{ABF7607B-2E4F-4E0F-BF0E-A5AF0D3E036A}"/>
              </a:ext>
            </a:extLst>
          </p:cNvPr>
          <p:cNvSpPr>
            <a:spLocks/>
          </p:cNvSpPr>
          <p:nvPr/>
        </p:nvSpPr>
        <p:spPr bwMode="auto">
          <a:xfrm>
            <a:off x="7243763" y="3302000"/>
            <a:ext cx="236537" cy="1014413"/>
          </a:xfrm>
          <a:custGeom>
            <a:avLst/>
            <a:gdLst>
              <a:gd name="T0" fmla="*/ 2147483646 w 366"/>
              <a:gd name="T1" fmla="*/ 2147483646 h 1284"/>
              <a:gd name="T2" fmla="*/ 2147483646 w 366"/>
              <a:gd name="T3" fmla="*/ 0 h 1284"/>
              <a:gd name="T4" fmla="*/ 0 w 366"/>
              <a:gd name="T5" fmla="*/ 2147483646 h 1284"/>
              <a:gd name="T6" fmla="*/ 2147483646 w 366"/>
              <a:gd name="T7" fmla="*/ 2147483646 h 1284"/>
              <a:gd name="T8" fmla="*/ 2147483646 w 366"/>
              <a:gd name="T9" fmla="*/ 2147483646 h 12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66"/>
              <a:gd name="T16" fmla="*/ 0 h 1284"/>
              <a:gd name="T17" fmla="*/ 366 w 366"/>
              <a:gd name="T18" fmla="*/ 1284 h 12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66" h="1284">
                <a:moveTo>
                  <a:pt x="366" y="1278"/>
                </a:moveTo>
                <a:lnTo>
                  <a:pt x="12" y="0"/>
                </a:lnTo>
                <a:lnTo>
                  <a:pt x="0" y="1224"/>
                </a:lnTo>
                <a:lnTo>
                  <a:pt x="186" y="1284"/>
                </a:lnTo>
                <a:lnTo>
                  <a:pt x="366" y="1278"/>
                </a:ln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solidFill>
              <a:srgbClr val="DDDDDD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69992" name="Rectangle 3">
            <a:extLst>
              <a:ext uri="{FF2B5EF4-FFF2-40B4-BE49-F238E27FC236}">
                <a16:creationId xmlns:a16="http://schemas.microsoft.com/office/drawing/2014/main" id="{4269C6E8-BC7A-469C-9C1C-A94A23354DD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06425" y="1273175"/>
            <a:ext cx="8334375" cy="1247775"/>
          </a:xfrm>
        </p:spPr>
        <p:txBody>
          <a:bodyPr/>
          <a:lstStyle/>
          <a:p>
            <a:r>
              <a:rPr lang="en-US" altLang="zh-TW" sz="2400"/>
              <a:t>four senders</a:t>
            </a:r>
          </a:p>
          <a:p>
            <a:r>
              <a:rPr lang="en-US" altLang="zh-TW" sz="2400"/>
              <a:t>multihop paths</a:t>
            </a:r>
          </a:p>
          <a:p>
            <a:r>
              <a:rPr lang="en-US" altLang="zh-TW" sz="2400"/>
              <a:t>timeout/retransmit</a:t>
            </a:r>
          </a:p>
          <a:p>
            <a:endParaRPr lang="en-US" altLang="zh-TW"/>
          </a:p>
        </p:txBody>
      </p:sp>
      <p:sp>
        <p:nvSpPr>
          <p:cNvPr id="169993" name="Rectangle 7">
            <a:extLst>
              <a:ext uri="{FF2B5EF4-FFF2-40B4-BE49-F238E27FC236}">
                <a16:creationId xmlns:a16="http://schemas.microsoft.com/office/drawing/2014/main" id="{2E822BE3-7847-4F01-A96C-5615A56CB9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1325" y="1106488"/>
            <a:ext cx="437356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buFont typeface="Wingdings" panose="05000000000000000000" pitchFamily="2" charset="2"/>
              <a:buNone/>
            </a:pPr>
            <a:r>
              <a:rPr lang="en-US" altLang="zh-TW" sz="2800" u="sng">
                <a:solidFill>
                  <a:srgbClr val="CC0000"/>
                </a:solidFill>
              </a:rPr>
              <a:t>Q:</a:t>
            </a:r>
            <a:r>
              <a:rPr lang="en-US" altLang="zh-TW" sz="2400">
                <a:solidFill>
                  <a:srgbClr val="FF0000"/>
                </a:solidFill>
              </a:rPr>
              <a:t> </a:t>
            </a:r>
            <a:r>
              <a:rPr lang="en-US" altLang="zh-TW" sz="2400">
                <a:solidFill>
                  <a:srgbClr val="000000"/>
                </a:solidFill>
              </a:rPr>
              <a:t>what happens as </a:t>
            </a:r>
            <a:r>
              <a:rPr lang="en-US" altLang="zh-TW" sz="2400">
                <a:solidFill>
                  <a:srgbClr val="CC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400" baseline="-25000">
                <a:solidFill>
                  <a:srgbClr val="CC0000"/>
                </a:solidFill>
              </a:rPr>
              <a:t>in</a:t>
            </a:r>
            <a:r>
              <a:rPr lang="en-US" altLang="zh-TW" sz="2400">
                <a:solidFill>
                  <a:srgbClr val="CC0000"/>
                </a:solidFill>
              </a:rPr>
              <a:t> </a:t>
            </a:r>
            <a:r>
              <a:rPr lang="en-US" altLang="zh-TW" sz="2400">
                <a:solidFill>
                  <a:srgbClr val="000000"/>
                </a:solidFill>
              </a:rPr>
              <a:t>and </a:t>
            </a:r>
            <a:r>
              <a:rPr lang="en-US" altLang="zh-TW" sz="2400">
                <a:solidFill>
                  <a:srgbClr val="CC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400" baseline="-25000">
                <a:solidFill>
                  <a:srgbClr val="CC0000"/>
                </a:solidFill>
              </a:rPr>
              <a:t>in</a:t>
            </a:r>
            <a:r>
              <a:rPr lang="ja-JP" altLang="en-US" sz="2400" b="1" baseline="30000">
                <a:solidFill>
                  <a:srgbClr val="CC0000"/>
                </a:solidFill>
                <a:latin typeface="Arial" panose="020B0604020202020204" pitchFamily="34" charset="0"/>
              </a:rPr>
              <a:t>’</a:t>
            </a:r>
            <a:r>
              <a:rPr lang="en-US" altLang="ja-JP" sz="2400">
                <a:solidFill>
                  <a:srgbClr val="000000"/>
                </a:solidFill>
              </a:rPr>
              <a:t> increase</a:t>
            </a:r>
            <a:r>
              <a:rPr lang="en-US" altLang="ja-JP" sz="2400">
                <a:solidFill>
                  <a:srgbClr val="FF0000"/>
                </a:solidFill>
              </a:rPr>
              <a:t> ?</a:t>
            </a:r>
            <a:endParaRPr lang="en-US" altLang="zh-TW" sz="2400">
              <a:solidFill>
                <a:srgbClr val="FF0000"/>
              </a:solidFill>
            </a:endParaRPr>
          </a:p>
        </p:txBody>
      </p:sp>
      <p:sp>
        <p:nvSpPr>
          <p:cNvPr id="169994" name="Text Box 14">
            <a:extLst>
              <a:ext uri="{FF2B5EF4-FFF2-40B4-BE49-F238E27FC236}">
                <a16:creationId xmlns:a16="http://schemas.microsoft.com/office/drawing/2014/main" id="{E29526D1-48C2-44D6-9A37-4302728F5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1950" y="3822700"/>
            <a:ext cx="1912938" cy="39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Arial" panose="020B0604020202020204" pitchFamily="34" charset="0"/>
              </a:rPr>
              <a:t>finite shared output link buffers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69995" name="Line 15">
            <a:extLst>
              <a:ext uri="{FF2B5EF4-FFF2-40B4-BE49-F238E27FC236}">
                <a16:creationId xmlns:a16="http://schemas.microsoft.com/office/drawing/2014/main" id="{3B89AFF0-C38C-4146-8F87-451DC2B3D40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859088" y="4203700"/>
            <a:ext cx="923925" cy="8667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9996" name="Line 16">
            <a:extLst>
              <a:ext uri="{FF2B5EF4-FFF2-40B4-BE49-F238E27FC236}">
                <a16:creationId xmlns:a16="http://schemas.microsoft.com/office/drawing/2014/main" id="{D42DF255-808A-46AE-B91C-A2CFD47A687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44863" y="4203700"/>
            <a:ext cx="438150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9997" name="Group 58">
            <a:extLst>
              <a:ext uri="{FF2B5EF4-FFF2-40B4-BE49-F238E27FC236}">
                <a16:creationId xmlns:a16="http://schemas.microsoft.com/office/drawing/2014/main" id="{23B42314-5C83-4E59-A83F-5D1FF117BF26}"/>
              </a:ext>
            </a:extLst>
          </p:cNvPr>
          <p:cNvGrpSpPr>
            <a:grpSpLocks/>
          </p:cNvGrpSpPr>
          <p:nvPr/>
        </p:nvGrpSpPr>
        <p:grpSpPr bwMode="auto">
          <a:xfrm>
            <a:off x="2798763" y="3184525"/>
            <a:ext cx="650875" cy="904875"/>
            <a:chOff x="12762" y="10336"/>
            <a:chExt cx="1027" cy="1700"/>
          </a:xfrm>
        </p:grpSpPr>
        <p:sp>
          <p:nvSpPr>
            <p:cNvPr id="170318" name="Rectangle 59">
              <a:extLst>
                <a:ext uri="{FF2B5EF4-FFF2-40B4-BE49-F238E27FC236}">
                  <a16:creationId xmlns:a16="http://schemas.microsoft.com/office/drawing/2014/main" id="{2770EBCA-B94A-4078-A758-BCBBE80329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319" name="Rectangle 60">
              <a:extLst>
                <a:ext uri="{FF2B5EF4-FFF2-40B4-BE49-F238E27FC236}">
                  <a16:creationId xmlns:a16="http://schemas.microsoft.com/office/drawing/2014/main" id="{5AD2E7BE-0B0D-4C43-811D-77D4AE78F6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320" name="Line 61">
              <a:extLst>
                <a:ext uri="{FF2B5EF4-FFF2-40B4-BE49-F238E27FC236}">
                  <a16:creationId xmlns:a16="http://schemas.microsoft.com/office/drawing/2014/main" id="{7D0E819F-CBC5-450E-A897-46B64814D4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21" name="Line 62">
              <a:extLst>
                <a:ext uri="{FF2B5EF4-FFF2-40B4-BE49-F238E27FC236}">
                  <a16:creationId xmlns:a16="http://schemas.microsoft.com/office/drawing/2014/main" id="{C9E329E8-8069-459E-B215-310079295D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22" name="Line 63">
              <a:extLst>
                <a:ext uri="{FF2B5EF4-FFF2-40B4-BE49-F238E27FC236}">
                  <a16:creationId xmlns:a16="http://schemas.microsoft.com/office/drawing/2014/main" id="{95E23C73-A328-419F-BA80-0DA2DD7BB9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23" name="Line 64">
              <a:extLst>
                <a:ext uri="{FF2B5EF4-FFF2-40B4-BE49-F238E27FC236}">
                  <a16:creationId xmlns:a16="http://schemas.microsoft.com/office/drawing/2014/main" id="{24A30A58-3141-4858-88C2-BC248BB87B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9998" name="Text Box 65">
            <a:extLst>
              <a:ext uri="{FF2B5EF4-FFF2-40B4-BE49-F238E27FC236}">
                <a16:creationId xmlns:a16="http://schemas.microsoft.com/office/drawing/2014/main" id="{CD9EA552-AFFE-43BB-9125-B175CA1E3E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2870200"/>
            <a:ext cx="735012" cy="231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Host A</a:t>
            </a:r>
          </a:p>
        </p:txBody>
      </p:sp>
      <p:sp>
        <p:nvSpPr>
          <p:cNvPr id="169999" name="Line 67">
            <a:extLst>
              <a:ext uri="{FF2B5EF4-FFF2-40B4-BE49-F238E27FC236}">
                <a16:creationId xmlns:a16="http://schemas.microsoft.com/office/drawing/2014/main" id="{2F749636-2914-44B0-B4E1-A2FFD37F8E7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04950" y="6184900"/>
            <a:ext cx="1458913" cy="1111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0000" name="Group 109">
            <a:extLst>
              <a:ext uri="{FF2B5EF4-FFF2-40B4-BE49-F238E27FC236}">
                <a16:creationId xmlns:a16="http://schemas.microsoft.com/office/drawing/2014/main" id="{38845047-C3D7-4EEA-8C9D-3774A6C33DE5}"/>
              </a:ext>
            </a:extLst>
          </p:cNvPr>
          <p:cNvGrpSpPr>
            <a:grpSpLocks/>
          </p:cNvGrpSpPr>
          <p:nvPr/>
        </p:nvGrpSpPr>
        <p:grpSpPr bwMode="auto">
          <a:xfrm>
            <a:off x="788988" y="5156200"/>
            <a:ext cx="650875" cy="904875"/>
            <a:chOff x="12762" y="10336"/>
            <a:chExt cx="1027" cy="1700"/>
          </a:xfrm>
        </p:grpSpPr>
        <p:sp>
          <p:nvSpPr>
            <p:cNvPr id="170312" name="Rectangle 110">
              <a:extLst>
                <a:ext uri="{FF2B5EF4-FFF2-40B4-BE49-F238E27FC236}">
                  <a16:creationId xmlns:a16="http://schemas.microsoft.com/office/drawing/2014/main" id="{D9EFA611-B78D-4257-A55C-47C04EFE29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313" name="Rectangle 111">
              <a:extLst>
                <a:ext uri="{FF2B5EF4-FFF2-40B4-BE49-F238E27FC236}">
                  <a16:creationId xmlns:a16="http://schemas.microsoft.com/office/drawing/2014/main" id="{8EC10F58-7725-400F-ADCC-8E6D2892C9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314" name="Line 112">
              <a:extLst>
                <a:ext uri="{FF2B5EF4-FFF2-40B4-BE49-F238E27FC236}">
                  <a16:creationId xmlns:a16="http://schemas.microsoft.com/office/drawing/2014/main" id="{0804CA9D-972D-447F-9FAB-975B71777E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15" name="Line 113">
              <a:extLst>
                <a:ext uri="{FF2B5EF4-FFF2-40B4-BE49-F238E27FC236}">
                  <a16:creationId xmlns:a16="http://schemas.microsoft.com/office/drawing/2014/main" id="{E439C74B-5654-41B3-92B0-95A322B570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16" name="Line 114">
              <a:extLst>
                <a:ext uri="{FF2B5EF4-FFF2-40B4-BE49-F238E27FC236}">
                  <a16:creationId xmlns:a16="http://schemas.microsoft.com/office/drawing/2014/main" id="{40B74AFE-4E00-4997-A39A-6A430CBADB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17" name="Line 115">
              <a:extLst>
                <a:ext uri="{FF2B5EF4-FFF2-40B4-BE49-F238E27FC236}">
                  <a16:creationId xmlns:a16="http://schemas.microsoft.com/office/drawing/2014/main" id="{170A5530-BBE2-4500-A858-4EB1E359FE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0001" name="Line 117">
            <a:extLst>
              <a:ext uri="{FF2B5EF4-FFF2-40B4-BE49-F238E27FC236}">
                <a16:creationId xmlns:a16="http://schemas.microsoft.com/office/drawing/2014/main" id="{87736EB1-9D1E-4809-B3C7-BFE9D57C6BF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44863" y="4632325"/>
            <a:ext cx="723900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02" name="Line 118">
            <a:extLst>
              <a:ext uri="{FF2B5EF4-FFF2-40B4-BE49-F238E27FC236}">
                <a16:creationId xmlns:a16="http://schemas.microsoft.com/office/drawing/2014/main" id="{7607B6B0-2D51-4BE4-880C-F4CBC9A1E7F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26038" y="4651375"/>
            <a:ext cx="779462" cy="95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03" name="Line 119">
            <a:extLst>
              <a:ext uri="{FF2B5EF4-FFF2-40B4-BE49-F238E27FC236}">
                <a16:creationId xmlns:a16="http://schemas.microsoft.com/office/drawing/2014/main" id="{84D9261E-4BC0-46BF-9CF1-A20CDF806DA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68888" y="4222750"/>
            <a:ext cx="1296987" cy="12954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04" name="Line 120">
            <a:extLst>
              <a:ext uri="{FF2B5EF4-FFF2-40B4-BE49-F238E27FC236}">
                <a16:creationId xmlns:a16="http://schemas.microsoft.com/office/drawing/2014/main" id="{A8D9CE39-FF2F-41BB-8068-9D115A7DC05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24600" y="4241800"/>
            <a:ext cx="439738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05" name="Freeform 123">
            <a:extLst>
              <a:ext uri="{FF2B5EF4-FFF2-40B4-BE49-F238E27FC236}">
                <a16:creationId xmlns:a16="http://schemas.microsoft.com/office/drawing/2014/main" id="{D8D65B26-D6CE-482C-93EA-74E861CBB35B}"/>
              </a:ext>
            </a:extLst>
          </p:cNvPr>
          <p:cNvSpPr>
            <a:spLocks/>
          </p:cNvSpPr>
          <p:nvPr/>
        </p:nvSpPr>
        <p:spPr bwMode="auto">
          <a:xfrm>
            <a:off x="6750050" y="3659188"/>
            <a:ext cx="315913" cy="360362"/>
          </a:xfrm>
          <a:custGeom>
            <a:avLst/>
            <a:gdLst>
              <a:gd name="T0" fmla="*/ 2147483646 w 650"/>
              <a:gd name="T1" fmla="*/ 2147483646 h 735"/>
              <a:gd name="T2" fmla="*/ 2147483646 w 650"/>
              <a:gd name="T3" fmla="*/ 2147483646 h 735"/>
              <a:gd name="T4" fmla="*/ 2147483646 w 650"/>
              <a:gd name="T5" fmla="*/ 2147483646 h 735"/>
              <a:gd name="T6" fmla="*/ 2147483646 w 650"/>
              <a:gd name="T7" fmla="*/ 2147483646 h 735"/>
              <a:gd name="T8" fmla="*/ 2147483646 w 650"/>
              <a:gd name="T9" fmla="*/ 2147483646 h 735"/>
              <a:gd name="T10" fmla="*/ 2147483646 w 650"/>
              <a:gd name="T11" fmla="*/ 2147483646 h 735"/>
              <a:gd name="T12" fmla="*/ 2147483646 w 650"/>
              <a:gd name="T13" fmla="*/ 2147483646 h 735"/>
              <a:gd name="T14" fmla="*/ 2147483646 w 650"/>
              <a:gd name="T15" fmla="*/ 2147483646 h 735"/>
              <a:gd name="T16" fmla="*/ 2147483646 w 650"/>
              <a:gd name="T17" fmla="*/ 2147483646 h 735"/>
              <a:gd name="T18" fmla="*/ 2147483646 w 650"/>
              <a:gd name="T19" fmla="*/ 0 h 735"/>
              <a:gd name="T20" fmla="*/ 2147483646 w 650"/>
              <a:gd name="T21" fmla="*/ 2147483646 h 735"/>
              <a:gd name="T22" fmla="*/ 2147483646 w 650"/>
              <a:gd name="T23" fmla="*/ 2147483646 h 735"/>
              <a:gd name="T24" fmla="*/ 2147483646 w 650"/>
              <a:gd name="T25" fmla="*/ 2147483646 h 735"/>
              <a:gd name="T26" fmla="*/ 2147483646 w 650"/>
              <a:gd name="T27" fmla="*/ 2147483646 h 735"/>
              <a:gd name="T28" fmla="*/ 2147483646 w 650"/>
              <a:gd name="T29" fmla="*/ 2147483646 h 735"/>
              <a:gd name="T30" fmla="*/ 2147483646 w 650"/>
              <a:gd name="T31" fmla="*/ 2147483646 h 735"/>
              <a:gd name="T32" fmla="*/ 2147483646 w 650"/>
              <a:gd name="T33" fmla="*/ 2147483646 h 735"/>
              <a:gd name="T34" fmla="*/ 2147483646 w 650"/>
              <a:gd name="T35" fmla="*/ 2147483646 h 735"/>
              <a:gd name="T36" fmla="*/ 2147483646 w 650"/>
              <a:gd name="T37" fmla="*/ 2147483646 h 735"/>
              <a:gd name="T38" fmla="*/ 2147483646 w 650"/>
              <a:gd name="T39" fmla="*/ 2147483646 h 735"/>
              <a:gd name="T40" fmla="*/ 2147483646 w 650"/>
              <a:gd name="T41" fmla="*/ 2147483646 h 735"/>
              <a:gd name="T42" fmla="*/ 0 w 650"/>
              <a:gd name="T43" fmla="*/ 2147483646 h 735"/>
              <a:gd name="T44" fmla="*/ 2147483646 w 650"/>
              <a:gd name="T45" fmla="*/ 2147483646 h 735"/>
              <a:gd name="T46" fmla="*/ 2147483646 w 650"/>
              <a:gd name="T47" fmla="*/ 2147483646 h 735"/>
              <a:gd name="T48" fmla="*/ 2147483646 w 650"/>
              <a:gd name="T49" fmla="*/ 2147483646 h 735"/>
              <a:gd name="T50" fmla="*/ 2147483646 w 650"/>
              <a:gd name="T51" fmla="*/ 2147483646 h 735"/>
              <a:gd name="T52" fmla="*/ 2147483646 w 650"/>
              <a:gd name="T53" fmla="*/ 2147483646 h 735"/>
              <a:gd name="T54" fmla="*/ 2147483646 w 650"/>
              <a:gd name="T55" fmla="*/ 2147483646 h 735"/>
              <a:gd name="T56" fmla="*/ 2147483646 w 650"/>
              <a:gd name="T57" fmla="*/ 2147483646 h 735"/>
              <a:gd name="T58" fmla="*/ 2147483646 w 650"/>
              <a:gd name="T59" fmla="*/ 2147483646 h 735"/>
              <a:gd name="T60" fmla="*/ 2147483646 w 650"/>
              <a:gd name="T61" fmla="*/ 2147483646 h 735"/>
              <a:gd name="T62" fmla="*/ 2147483646 w 650"/>
              <a:gd name="T63" fmla="*/ 2147483646 h 735"/>
              <a:gd name="T64" fmla="*/ 2147483646 w 650"/>
              <a:gd name="T65" fmla="*/ 2147483646 h 735"/>
              <a:gd name="T66" fmla="*/ 2147483646 w 650"/>
              <a:gd name="T67" fmla="*/ 2147483646 h 735"/>
              <a:gd name="T68" fmla="*/ 2147483646 w 650"/>
              <a:gd name="T69" fmla="*/ 2147483646 h 735"/>
              <a:gd name="T70" fmla="*/ 2147483646 w 650"/>
              <a:gd name="T71" fmla="*/ 2147483646 h 735"/>
              <a:gd name="T72" fmla="*/ 2147483646 w 650"/>
              <a:gd name="T73" fmla="*/ 2147483646 h 735"/>
              <a:gd name="T74" fmla="*/ 2147483646 w 650"/>
              <a:gd name="T75" fmla="*/ 2147483646 h 735"/>
              <a:gd name="T76" fmla="*/ 2147483646 w 650"/>
              <a:gd name="T77" fmla="*/ 2147483646 h 735"/>
              <a:gd name="T78" fmla="*/ 2147483646 w 650"/>
              <a:gd name="T79" fmla="*/ 2147483646 h 735"/>
              <a:gd name="T80" fmla="*/ 2147483646 w 650"/>
              <a:gd name="T81" fmla="*/ 2147483646 h 735"/>
              <a:gd name="T82" fmla="*/ 2147483646 w 650"/>
              <a:gd name="T83" fmla="*/ 2147483646 h 735"/>
              <a:gd name="T84" fmla="*/ 2147483646 w 650"/>
              <a:gd name="T85" fmla="*/ 2147483646 h 735"/>
              <a:gd name="T86" fmla="*/ 2147483646 w 650"/>
              <a:gd name="T87" fmla="*/ 2147483646 h 735"/>
              <a:gd name="T88" fmla="*/ 2147483646 w 650"/>
              <a:gd name="T89" fmla="*/ 2147483646 h 735"/>
              <a:gd name="T90" fmla="*/ 2147483646 w 650"/>
              <a:gd name="T91" fmla="*/ 2147483646 h 735"/>
              <a:gd name="T92" fmla="*/ 2147483646 w 650"/>
              <a:gd name="T93" fmla="*/ 2147483646 h 735"/>
              <a:gd name="T94" fmla="*/ 2147483646 w 650"/>
              <a:gd name="T95" fmla="*/ 2147483646 h 735"/>
              <a:gd name="T96" fmla="*/ 2147483646 w 650"/>
              <a:gd name="T97" fmla="*/ 2147483646 h 73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650"/>
              <a:gd name="T148" fmla="*/ 0 h 735"/>
              <a:gd name="T149" fmla="*/ 650 w 650"/>
              <a:gd name="T150" fmla="*/ 735 h 735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650" h="735">
                <a:moveTo>
                  <a:pt x="645" y="27"/>
                </a:moveTo>
                <a:lnTo>
                  <a:pt x="642" y="26"/>
                </a:lnTo>
                <a:lnTo>
                  <a:pt x="631" y="23"/>
                </a:lnTo>
                <a:lnTo>
                  <a:pt x="615" y="19"/>
                </a:lnTo>
                <a:lnTo>
                  <a:pt x="592" y="15"/>
                </a:lnTo>
                <a:lnTo>
                  <a:pt x="565" y="10"/>
                </a:lnTo>
                <a:lnTo>
                  <a:pt x="533" y="6"/>
                </a:lnTo>
                <a:lnTo>
                  <a:pt x="496" y="3"/>
                </a:lnTo>
                <a:lnTo>
                  <a:pt x="456" y="1"/>
                </a:lnTo>
                <a:lnTo>
                  <a:pt x="411" y="0"/>
                </a:lnTo>
                <a:lnTo>
                  <a:pt x="364" y="2"/>
                </a:lnTo>
                <a:lnTo>
                  <a:pt x="315" y="6"/>
                </a:lnTo>
                <a:lnTo>
                  <a:pt x="262" y="15"/>
                </a:lnTo>
                <a:lnTo>
                  <a:pt x="209" y="26"/>
                </a:lnTo>
                <a:lnTo>
                  <a:pt x="154" y="42"/>
                </a:lnTo>
                <a:lnTo>
                  <a:pt x="98" y="61"/>
                </a:lnTo>
                <a:lnTo>
                  <a:pt x="42" y="87"/>
                </a:lnTo>
                <a:lnTo>
                  <a:pt x="38" y="101"/>
                </a:lnTo>
                <a:lnTo>
                  <a:pt x="28" y="141"/>
                </a:lnTo>
                <a:lnTo>
                  <a:pt x="17" y="203"/>
                </a:lnTo>
                <a:lnTo>
                  <a:pt x="6" y="283"/>
                </a:lnTo>
                <a:lnTo>
                  <a:pt x="0" y="378"/>
                </a:lnTo>
                <a:lnTo>
                  <a:pt x="5" y="484"/>
                </a:lnTo>
                <a:lnTo>
                  <a:pt x="21" y="599"/>
                </a:lnTo>
                <a:lnTo>
                  <a:pt x="54" y="716"/>
                </a:lnTo>
                <a:lnTo>
                  <a:pt x="58" y="716"/>
                </a:lnTo>
                <a:lnTo>
                  <a:pt x="66" y="715"/>
                </a:lnTo>
                <a:lnTo>
                  <a:pt x="80" y="713"/>
                </a:lnTo>
                <a:lnTo>
                  <a:pt x="99" y="712"/>
                </a:lnTo>
                <a:lnTo>
                  <a:pt x="124" y="710"/>
                </a:lnTo>
                <a:lnTo>
                  <a:pt x="153" y="708"/>
                </a:lnTo>
                <a:lnTo>
                  <a:pt x="188" y="707"/>
                </a:lnTo>
                <a:lnTo>
                  <a:pt x="225" y="706"/>
                </a:lnTo>
                <a:lnTo>
                  <a:pt x="267" y="705"/>
                </a:lnTo>
                <a:lnTo>
                  <a:pt x="313" y="706"/>
                </a:lnTo>
                <a:lnTo>
                  <a:pt x="362" y="707"/>
                </a:lnTo>
                <a:lnTo>
                  <a:pt x="415" y="709"/>
                </a:lnTo>
                <a:lnTo>
                  <a:pt x="470" y="713"/>
                </a:lnTo>
                <a:lnTo>
                  <a:pt x="528" y="719"/>
                </a:lnTo>
                <a:lnTo>
                  <a:pt x="588" y="726"/>
                </a:lnTo>
                <a:lnTo>
                  <a:pt x="650" y="735"/>
                </a:lnTo>
                <a:lnTo>
                  <a:pt x="647" y="713"/>
                </a:lnTo>
                <a:lnTo>
                  <a:pt x="641" y="655"/>
                </a:lnTo>
                <a:lnTo>
                  <a:pt x="631" y="568"/>
                </a:lnTo>
                <a:lnTo>
                  <a:pt x="623" y="462"/>
                </a:lnTo>
                <a:lnTo>
                  <a:pt x="618" y="345"/>
                </a:lnTo>
                <a:lnTo>
                  <a:pt x="618" y="229"/>
                </a:lnTo>
                <a:lnTo>
                  <a:pt x="627" y="119"/>
                </a:lnTo>
                <a:lnTo>
                  <a:pt x="645" y="27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06" name="Freeform 124">
            <a:extLst>
              <a:ext uri="{FF2B5EF4-FFF2-40B4-BE49-F238E27FC236}">
                <a16:creationId xmlns:a16="http://schemas.microsoft.com/office/drawing/2014/main" id="{0D62B731-9757-44DF-93E5-186384E5F5EB}"/>
              </a:ext>
            </a:extLst>
          </p:cNvPr>
          <p:cNvSpPr>
            <a:spLocks/>
          </p:cNvSpPr>
          <p:nvPr/>
        </p:nvSpPr>
        <p:spPr bwMode="auto">
          <a:xfrm>
            <a:off x="6784975" y="3757613"/>
            <a:ext cx="519113" cy="357187"/>
          </a:xfrm>
          <a:custGeom>
            <a:avLst/>
            <a:gdLst>
              <a:gd name="T0" fmla="*/ 2147483646 w 1071"/>
              <a:gd name="T1" fmla="*/ 2147483646 h 731"/>
              <a:gd name="T2" fmla="*/ 0 w 1071"/>
              <a:gd name="T3" fmla="*/ 2147483646 h 731"/>
              <a:gd name="T4" fmla="*/ 2147483646 w 1071"/>
              <a:gd name="T5" fmla="*/ 2147483646 h 731"/>
              <a:gd name="T6" fmla="*/ 2147483646 w 1071"/>
              <a:gd name="T7" fmla="*/ 2147483646 h 731"/>
              <a:gd name="T8" fmla="*/ 2147483646 w 1071"/>
              <a:gd name="T9" fmla="*/ 2147483646 h 731"/>
              <a:gd name="T10" fmla="*/ 2147483646 w 1071"/>
              <a:gd name="T11" fmla="*/ 2147483646 h 731"/>
              <a:gd name="T12" fmla="*/ 2147483646 w 1071"/>
              <a:gd name="T13" fmla="*/ 2147483646 h 731"/>
              <a:gd name="T14" fmla="*/ 2147483646 w 1071"/>
              <a:gd name="T15" fmla="*/ 2147483646 h 731"/>
              <a:gd name="T16" fmla="*/ 2147483646 w 1071"/>
              <a:gd name="T17" fmla="*/ 2147483646 h 731"/>
              <a:gd name="T18" fmla="*/ 2147483646 w 1071"/>
              <a:gd name="T19" fmla="*/ 2147483646 h 731"/>
              <a:gd name="T20" fmla="*/ 2147483646 w 1071"/>
              <a:gd name="T21" fmla="*/ 2147483646 h 731"/>
              <a:gd name="T22" fmla="*/ 2147483646 w 1071"/>
              <a:gd name="T23" fmla="*/ 2147483646 h 731"/>
              <a:gd name="T24" fmla="*/ 2147483646 w 1071"/>
              <a:gd name="T25" fmla="*/ 2147483646 h 731"/>
              <a:gd name="T26" fmla="*/ 2147483646 w 1071"/>
              <a:gd name="T27" fmla="*/ 2147483646 h 731"/>
              <a:gd name="T28" fmla="*/ 2147483646 w 1071"/>
              <a:gd name="T29" fmla="*/ 2147483646 h 731"/>
              <a:gd name="T30" fmla="*/ 2147483646 w 1071"/>
              <a:gd name="T31" fmla="*/ 2147483646 h 731"/>
              <a:gd name="T32" fmla="*/ 2147483646 w 1071"/>
              <a:gd name="T33" fmla="*/ 2147483646 h 731"/>
              <a:gd name="T34" fmla="*/ 2147483646 w 1071"/>
              <a:gd name="T35" fmla="*/ 2147483646 h 731"/>
              <a:gd name="T36" fmla="*/ 2147483646 w 1071"/>
              <a:gd name="T37" fmla="*/ 2147483646 h 731"/>
              <a:gd name="T38" fmla="*/ 2147483646 w 1071"/>
              <a:gd name="T39" fmla="*/ 2147483646 h 731"/>
              <a:gd name="T40" fmla="*/ 2147483646 w 1071"/>
              <a:gd name="T41" fmla="*/ 2147483646 h 731"/>
              <a:gd name="T42" fmla="*/ 2147483646 w 1071"/>
              <a:gd name="T43" fmla="*/ 2147483646 h 731"/>
              <a:gd name="T44" fmla="*/ 2147483646 w 1071"/>
              <a:gd name="T45" fmla="*/ 2147483646 h 731"/>
              <a:gd name="T46" fmla="*/ 2147483646 w 1071"/>
              <a:gd name="T47" fmla="*/ 2147483646 h 731"/>
              <a:gd name="T48" fmla="*/ 2147483646 w 1071"/>
              <a:gd name="T49" fmla="*/ 2147483646 h 731"/>
              <a:gd name="T50" fmla="*/ 2147483646 w 1071"/>
              <a:gd name="T51" fmla="*/ 2147483646 h 731"/>
              <a:gd name="T52" fmla="*/ 2147483646 w 1071"/>
              <a:gd name="T53" fmla="*/ 0 h 731"/>
              <a:gd name="T54" fmla="*/ 2147483646 w 1071"/>
              <a:gd name="T55" fmla="*/ 2147483646 h 731"/>
              <a:gd name="T56" fmla="*/ 2147483646 w 1071"/>
              <a:gd name="T57" fmla="*/ 2147483646 h 731"/>
              <a:gd name="T58" fmla="*/ 2147483646 w 1071"/>
              <a:gd name="T59" fmla="*/ 2147483646 h 731"/>
              <a:gd name="T60" fmla="*/ 2147483646 w 1071"/>
              <a:gd name="T61" fmla="*/ 2147483646 h 731"/>
              <a:gd name="T62" fmla="*/ 2147483646 w 1071"/>
              <a:gd name="T63" fmla="*/ 2147483646 h 731"/>
              <a:gd name="T64" fmla="*/ 2147483646 w 1071"/>
              <a:gd name="T65" fmla="*/ 2147483646 h 731"/>
              <a:gd name="T66" fmla="*/ 2147483646 w 1071"/>
              <a:gd name="T67" fmla="*/ 2147483646 h 731"/>
              <a:gd name="T68" fmla="*/ 2147483646 w 1071"/>
              <a:gd name="T69" fmla="*/ 2147483646 h 731"/>
              <a:gd name="T70" fmla="*/ 2147483646 w 1071"/>
              <a:gd name="T71" fmla="*/ 2147483646 h 731"/>
              <a:gd name="T72" fmla="*/ 2147483646 w 1071"/>
              <a:gd name="T73" fmla="*/ 2147483646 h 731"/>
              <a:gd name="T74" fmla="*/ 2147483646 w 1071"/>
              <a:gd name="T75" fmla="*/ 2147483646 h 731"/>
              <a:gd name="T76" fmla="*/ 2147483646 w 1071"/>
              <a:gd name="T77" fmla="*/ 2147483646 h 731"/>
              <a:gd name="T78" fmla="*/ 2147483646 w 1071"/>
              <a:gd name="T79" fmla="*/ 2147483646 h 731"/>
              <a:gd name="T80" fmla="*/ 2147483646 w 1071"/>
              <a:gd name="T81" fmla="*/ 2147483646 h 731"/>
              <a:gd name="T82" fmla="*/ 2147483646 w 1071"/>
              <a:gd name="T83" fmla="*/ 2147483646 h 731"/>
              <a:gd name="T84" fmla="*/ 2147483646 w 1071"/>
              <a:gd name="T85" fmla="*/ 2147483646 h 731"/>
              <a:gd name="T86" fmla="*/ 2147483646 w 1071"/>
              <a:gd name="T87" fmla="*/ 2147483646 h 731"/>
              <a:gd name="T88" fmla="*/ 2147483646 w 1071"/>
              <a:gd name="T89" fmla="*/ 2147483646 h 731"/>
              <a:gd name="T90" fmla="*/ 2147483646 w 1071"/>
              <a:gd name="T91" fmla="*/ 2147483646 h 731"/>
              <a:gd name="T92" fmla="*/ 2147483646 w 1071"/>
              <a:gd name="T93" fmla="*/ 2147483646 h 731"/>
              <a:gd name="T94" fmla="*/ 2147483646 w 1071"/>
              <a:gd name="T95" fmla="*/ 2147483646 h 731"/>
              <a:gd name="T96" fmla="*/ 2147483646 w 1071"/>
              <a:gd name="T97" fmla="*/ 2147483646 h 731"/>
              <a:gd name="T98" fmla="*/ 2147483646 w 1071"/>
              <a:gd name="T99" fmla="*/ 2147483646 h 731"/>
              <a:gd name="T100" fmla="*/ 2147483646 w 1071"/>
              <a:gd name="T101" fmla="*/ 2147483646 h 731"/>
              <a:gd name="T102" fmla="*/ 2147483646 w 1071"/>
              <a:gd name="T103" fmla="*/ 2147483646 h 731"/>
              <a:gd name="T104" fmla="*/ 2147483646 w 1071"/>
              <a:gd name="T105" fmla="*/ 2147483646 h 731"/>
              <a:gd name="T106" fmla="*/ 2147483646 w 1071"/>
              <a:gd name="T107" fmla="*/ 2147483646 h 731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w 1071"/>
              <a:gd name="T163" fmla="*/ 0 h 731"/>
              <a:gd name="T164" fmla="*/ 1071 w 1071"/>
              <a:gd name="T165" fmla="*/ 731 h 731"/>
            </a:gdLst>
            <a:ahLst/>
            <a:cxnLst>
              <a:cxn ang="T108">
                <a:pos x="T0" y="T1"/>
              </a:cxn>
              <a:cxn ang="T109">
                <a:pos x="T2" y="T3"/>
              </a:cxn>
              <a:cxn ang="T110">
                <a:pos x="T4" y="T5"/>
              </a:cxn>
              <a:cxn ang="T111">
                <a:pos x="T6" y="T7"/>
              </a:cxn>
              <a:cxn ang="T112">
                <a:pos x="T8" y="T9"/>
              </a:cxn>
              <a:cxn ang="T113">
                <a:pos x="T10" y="T11"/>
              </a:cxn>
              <a:cxn ang="T114">
                <a:pos x="T12" y="T13"/>
              </a:cxn>
              <a:cxn ang="T115">
                <a:pos x="T14" y="T15"/>
              </a:cxn>
              <a:cxn ang="T116">
                <a:pos x="T16" y="T17"/>
              </a:cxn>
              <a:cxn ang="T117">
                <a:pos x="T18" y="T19"/>
              </a:cxn>
              <a:cxn ang="T118">
                <a:pos x="T20" y="T21"/>
              </a:cxn>
              <a:cxn ang="T119">
                <a:pos x="T22" y="T23"/>
              </a:cxn>
              <a:cxn ang="T120">
                <a:pos x="T24" y="T25"/>
              </a:cxn>
              <a:cxn ang="T121">
                <a:pos x="T26" y="T27"/>
              </a:cxn>
              <a:cxn ang="T122">
                <a:pos x="T28" y="T29"/>
              </a:cxn>
              <a:cxn ang="T123">
                <a:pos x="T30" y="T31"/>
              </a:cxn>
              <a:cxn ang="T124">
                <a:pos x="T32" y="T33"/>
              </a:cxn>
              <a:cxn ang="T125">
                <a:pos x="T34" y="T35"/>
              </a:cxn>
              <a:cxn ang="T126">
                <a:pos x="T36" y="T37"/>
              </a:cxn>
              <a:cxn ang="T127">
                <a:pos x="T38" y="T39"/>
              </a:cxn>
              <a:cxn ang="T128">
                <a:pos x="T40" y="T41"/>
              </a:cxn>
              <a:cxn ang="T129">
                <a:pos x="T42" y="T43"/>
              </a:cxn>
              <a:cxn ang="T130">
                <a:pos x="T44" y="T45"/>
              </a:cxn>
              <a:cxn ang="T131">
                <a:pos x="T46" y="T47"/>
              </a:cxn>
              <a:cxn ang="T132">
                <a:pos x="T48" y="T49"/>
              </a:cxn>
              <a:cxn ang="T133">
                <a:pos x="T50" y="T51"/>
              </a:cxn>
              <a:cxn ang="T134">
                <a:pos x="T52" y="T53"/>
              </a:cxn>
              <a:cxn ang="T135">
                <a:pos x="T54" y="T55"/>
              </a:cxn>
              <a:cxn ang="T136">
                <a:pos x="T56" y="T57"/>
              </a:cxn>
              <a:cxn ang="T137">
                <a:pos x="T58" y="T59"/>
              </a:cxn>
              <a:cxn ang="T138">
                <a:pos x="T60" y="T61"/>
              </a:cxn>
              <a:cxn ang="T139">
                <a:pos x="T62" y="T63"/>
              </a:cxn>
              <a:cxn ang="T140">
                <a:pos x="T64" y="T65"/>
              </a:cxn>
              <a:cxn ang="T141">
                <a:pos x="T66" y="T67"/>
              </a:cxn>
              <a:cxn ang="T142">
                <a:pos x="T68" y="T69"/>
              </a:cxn>
              <a:cxn ang="T143">
                <a:pos x="T70" y="T71"/>
              </a:cxn>
              <a:cxn ang="T144">
                <a:pos x="T72" y="T73"/>
              </a:cxn>
              <a:cxn ang="T145">
                <a:pos x="T74" y="T75"/>
              </a:cxn>
              <a:cxn ang="T146">
                <a:pos x="T76" y="T77"/>
              </a:cxn>
              <a:cxn ang="T147">
                <a:pos x="T78" y="T79"/>
              </a:cxn>
              <a:cxn ang="T148">
                <a:pos x="T80" y="T81"/>
              </a:cxn>
              <a:cxn ang="T149">
                <a:pos x="T82" y="T83"/>
              </a:cxn>
              <a:cxn ang="T150">
                <a:pos x="T84" y="T85"/>
              </a:cxn>
              <a:cxn ang="T151">
                <a:pos x="T86" y="T87"/>
              </a:cxn>
              <a:cxn ang="T152">
                <a:pos x="T88" y="T89"/>
              </a:cxn>
              <a:cxn ang="T153">
                <a:pos x="T90" y="T91"/>
              </a:cxn>
              <a:cxn ang="T154">
                <a:pos x="T92" y="T93"/>
              </a:cxn>
              <a:cxn ang="T155">
                <a:pos x="T94" y="T95"/>
              </a:cxn>
              <a:cxn ang="T156">
                <a:pos x="T96" y="T97"/>
              </a:cxn>
              <a:cxn ang="T157">
                <a:pos x="T98" y="T99"/>
              </a:cxn>
              <a:cxn ang="T158">
                <a:pos x="T100" y="T101"/>
              </a:cxn>
              <a:cxn ang="T159">
                <a:pos x="T102" y="T103"/>
              </a:cxn>
              <a:cxn ang="T160">
                <a:pos x="T104" y="T105"/>
              </a:cxn>
              <a:cxn ang="T161">
                <a:pos x="T106" y="T107"/>
              </a:cxn>
            </a:cxnLst>
            <a:rect l="T162" t="T163" r="T164" b="T165"/>
            <a:pathLst>
              <a:path w="1071" h="731">
                <a:moveTo>
                  <a:pt x="6" y="552"/>
                </a:moveTo>
                <a:lnTo>
                  <a:pt x="0" y="642"/>
                </a:lnTo>
                <a:lnTo>
                  <a:pt x="698" y="731"/>
                </a:lnTo>
                <a:lnTo>
                  <a:pt x="703" y="729"/>
                </a:lnTo>
                <a:lnTo>
                  <a:pt x="717" y="722"/>
                </a:lnTo>
                <a:lnTo>
                  <a:pt x="740" y="710"/>
                </a:lnTo>
                <a:lnTo>
                  <a:pt x="768" y="694"/>
                </a:lnTo>
                <a:lnTo>
                  <a:pt x="801" y="672"/>
                </a:lnTo>
                <a:lnTo>
                  <a:pt x="838" y="645"/>
                </a:lnTo>
                <a:lnTo>
                  <a:pt x="876" y="614"/>
                </a:lnTo>
                <a:lnTo>
                  <a:pt x="915" y="577"/>
                </a:lnTo>
                <a:lnTo>
                  <a:pt x="953" y="536"/>
                </a:lnTo>
                <a:lnTo>
                  <a:pt x="988" y="491"/>
                </a:lnTo>
                <a:lnTo>
                  <a:pt x="1018" y="439"/>
                </a:lnTo>
                <a:lnTo>
                  <a:pt x="1043" y="383"/>
                </a:lnTo>
                <a:lnTo>
                  <a:pt x="1061" y="322"/>
                </a:lnTo>
                <a:lnTo>
                  <a:pt x="1071" y="255"/>
                </a:lnTo>
                <a:lnTo>
                  <a:pt x="1070" y="185"/>
                </a:lnTo>
                <a:lnTo>
                  <a:pt x="1057" y="108"/>
                </a:lnTo>
                <a:lnTo>
                  <a:pt x="1055" y="104"/>
                </a:lnTo>
                <a:lnTo>
                  <a:pt x="1049" y="92"/>
                </a:lnTo>
                <a:lnTo>
                  <a:pt x="1037" y="76"/>
                </a:lnTo>
                <a:lnTo>
                  <a:pt x="1022" y="57"/>
                </a:lnTo>
                <a:lnTo>
                  <a:pt x="1002" y="37"/>
                </a:lnTo>
                <a:lnTo>
                  <a:pt x="979" y="20"/>
                </a:lnTo>
                <a:lnTo>
                  <a:pt x="951" y="7"/>
                </a:lnTo>
                <a:lnTo>
                  <a:pt x="919" y="0"/>
                </a:lnTo>
                <a:lnTo>
                  <a:pt x="924" y="12"/>
                </a:lnTo>
                <a:lnTo>
                  <a:pt x="934" y="44"/>
                </a:lnTo>
                <a:lnTo>
                  <a:pt x="947" y="94"/>
                </a:lnTo>
                <a:lnTo>
                  <a:pt x="958" y="159"/>
                </a:lnTo>
                <a:lnTo>
                  <a:pt x="961" y="238"/>
                </a:lnTo>
                <a:lnTo>
                  <a:pt x="953" y="324"/>
                </a:lnTo>
                <a:lnTo>
                  <a:pt x="928" y="418"/>
                </a:lnTo>
                <a:lnTo>
                  <a:pt x="884" y="516"/>
                </a:lnTo>
                <a:lnTo>
                  <a:pt x="883" y="518"/>
                </a:lnTo>
                <a:lnTo>
                  <a:pt x="879" y="521"/>
                </a:lnTo>
                <a:lnTo>
                  <a:pt x="872" y="526"/>
                </a:lnTo>
                <a:lnTo>
                  <a:pt x="862" y="534"/>
                </a:lnTo>
                <a:lnTo>
                  <a:pt x="851" y="541"/>
                </a:lnTo>
                <a:lnTo>
                  <a:pt x="837" y="550"/>
                </a:lnTo>
                <a:lnTo>
                  <a:pt x="819" y="559"/>
                </a:lnTo>
                <a:lnTo>
                  <a:pt x="800" y="567"/>
                </a:lnTo>
                <a:lnTo>
                  <a:pt x="778" y="575"/>
                </a:lnTo>
                <a:lnTo>
                  <a:pt x="754" y="582"/>
                </a:lnTo>
                <a:lnTo>
                  <a:pt x="727" y="588"/>
                </a:lnTo>
                <a:lnTo>
                  <a:pt x="697" y="592"/>
                </a:lnTo>
                <a:lnTo>
                  <a:pt x="666" y="593"/>
                </a:lnTo>
                <a:lnTo>
                  <a:pt x="631" y="592"/>
                </a:lnTo>
                <a:lnTo>
                  <a:pt x="593" y="589"/>
                </a:lnTo>
                <a:lnTo>
                  <a:pt x="555" y="581"/>
                </a:lnTo>
                <a:lnTo>
                  <a:pt x="555" y="677"/>
                </a:lnTo>
                <a:lnTo>
                  <a:pt x="24" y="623"/>
                </a:lnTo>
                <a:lnTo>
                  <a:pt x="6" y="55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07" name="Freeform 125">
            <a:extLst>
              <a:ext uri="{FF2B5EF4-FFF2-40B4-BE49-F238E27FC236}">
                <a16:creationId xmlns:a16="http://schemas.microsoft.com/office/drawing/2014/main" id="{47D08D48-6799-4863-9A25-436554215604}"/>
              </a:ext>
            </a:extLst>
          </p:cNvPr>
          <p:cNvSpPr>
            <a:spLocks/>
          </p:cNvSpPr>
          <p:nvPr/>
        </p:nvSpPr>
        <p:spPr bwMode="auto">
          <a:xfrm>
            <a:off x="6718300" y="4110038"/>
            <a:ext cx="382588" cy="123825"/>
          </a:xfrm>
          <a:custGeom>
            <a:avLst/>
            <a:gdLst>
              <a:gd name="T0" fmla="*/ 2147483646 w 787"/>
              <a:gd name="T1" fmla="*/ 2147483646 h 253"/>
              <a:gd name="T2" fmla="*/ 2147483646 w 787"/>
              <a:gd name="T3" fmla="*/ 0 h 253"/>
              <a:gd name="T4" fmla="*/ 0 w 787"/>
              <a:gd name="T5" fmla="*/ 2147483646 h 253"/>
              <a:gd name="T6" fmla="*/ 2147483646 w 787"/>
              <a:gd name="T7" fmla="*/ 2147483646 h 253"/>
              <a:gd name="T8" fmla="*/ 2147483646 w 787"/>
              <a:gd name="T9" fmla="*/ 2147483646 h 25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87"/>
              <a:gd name="T16" fmla="*/ 0 h 253"/>
              <a:gd name="T17" fmla="*/ 787 w 787"/>
              <a:gd name="T18" fmla="*/ 253 h 25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87" h="253">
                <a:moveTo>
                  <a:pt x="787" y="91"/>
                </a:moveTo>
                <a:lnTo>
                  <a:pt x="12" y="0"/>
                </a:lnTo>
                <a:lnTo>
                  <a:pt x="0" y="91"/>
                </a:lnTo>
                <a:lnTo>
                  <a:pt x="764" y="253"/>
                </a:lnTo>
                <a:lnTo>
                  <a:pt x="787" y="91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08" name="Freeform 126">
            <a:extLst>
              <a:ext uri="{FF2B5EF4-FFF2-40B4-BE49-F238E27FC236}">
                <a16:creationId xmlns:a16="http://schemas.microsoft.com/office/drawing/2014/main" id="{BD73A8F3-EDED-4D48-A1BE-641465DF7F52}"/>
              </a:ext>
            </a:extLst>
          </p:cNvPr>
          <p:cNvSpPr>
            <a:spLocks/>
          </p:cNvSpPr>
          <p:nvPr/>
        </p:nvSpPr>
        <p:spPr bwMode="auto">
          <a:xfrm>
            <a:off x="6908800" y="4149725"/>
            <a:ext cx="163513" cy="55563"/>
          </a:xfrm>
          <a:custGeom>
            <a:avLst/>
            <a:gdLst>
              <a:gd name="T0" fmla="*/ 2147483646 w 336"/>
              <a:gd name="T1" fmla="*/ 2147483646 h 115"/>
              <a:gd name="T2" fmla="*/ 2147483646 w 336"/>
              <a:gd name="T3" fmla="*/ 0 h 115"/>
              <a:gd name="T4" fmla="*/ 0 w 336"/>
              <a:gd name="T5" fmla="*/ 2147483646 h 115"/>
              <a:gd name="T6" fmla="*/ 2147483646 w 336"/>
              <a:gd name="T7" fmla="*/ 2147483646 h 115"/>
              <a:gd name="T8" fmla="*/ 2147483646 w 336"/>
              <a:gd name="T9" fmla="*/ 2147483646 h 11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36"/>
              <a:gd name="T16" fmla="*/ 0 h 115"/>
              <a:gd name="T17" fmla="*/ 336 w 336"/>
              <a:gd name="T18" fmla="*/ 115 h 11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36" h="115">
                <a:moveTo>
                  <a:pt x="336" y="50"/>
                </a:moveTo>
                <a:lnTo>
                  <a:pt x="4" y="0"/>
                </a:lnTo>
                <a:lnTo>
                  <a:pt x="0" y="48"/>
                </a:lnTo>
                <a:lnTo>
                  <a:pt x="327" y="115"/>
                </a:lnTo>
                <a:lnTo>
                  <a:pt x="336" y="5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09" name="Freeform 127">
            <a:extLst>
              <a:ext uri="{FF2B5EF4-FFF2-40B4-BE49-F238E27FC236}">
                <a16:creationId xmlns:a16="http://schemas.microsoft.com/office/drawing/2014/main" id="{39B32766-2146-46BB-8E96-BF5EF93228E4}"/>
              </a:ext>
            </a:extLst>
          </p:cNvPr>
          <p:cNvSpPr>
            <a:spLocks/>
          </p:cNvSpPr>
          <p:nvPr/>
        </p:nvSpPr>
        <p:spPr bwMode="auto">
          <a:xfrm>
            <a:off x="6743700" y="4121150"/>
            <a:ext cx="107950" cy="41275"/>
          </a:xfrm>
          <a:custGeom>
            <a:avLst/>
            <a:gdLst>
              <a:gd name="T0" fmla="*/ 2147483646 w 225"/>
              <a:gd name="T1" fmla="*/ 2147483646 h 85"/>
              <a:gd name="T2" fmla="*/ 0 w 225"/>
              <a:gd name="T3" fmla="*/ 0 h 85"/>
              <a:gd name="T4" fmla="*/ 2147483646 w 225"/>
              <a:gd name="T5" fmla="*/ 2147483646 h 85"/>
              <a:gd name="T6" fmla="*/ 2147483646 w 225"/>
              <a:gd name="T7" fmla="*/ 2147483646 h 85"/>
              <a:gd name="T8" fmla="*/ 2147483646 w 225"/>
              <a:gd name="T9" fmla="*/ 2147483646 h 8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5"/>
              <a:gd name="T16" fmla="*/ 0 h 85"/>
              <a:gd name="T17" fmla="*/ 225 w 225"/>
              <a:gd name="T18" fmla="*/ 85 h 8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5" h="85">
                <a:moveTo>
                  <a:pt x="225" y="39"/>
                </a:moveTo>
                <a:lnTo>
                  <a:pt x="0" y="0"/>
                </a:lnTo>
                <a:lnTo>
                  <a:pt x="3" y="41"/>
                </a:lnTo>
                <a:lnTo>
                  <a:pt x="218" y="85"/>
                </a:lnTo>
                <a:lnTo>
                  <a:pt x="225" y="39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0" name="Freeform 128">
            <a:extLst>
              <a:ext uri="{FF2B5EF4-FFF2-40B4-BE49-F238E27FC236}">
                <a16:creationId xmlns:a16="http://schemas.microsoft.com/office/drawing/2014/main" id="{8141F1E8-3619-4707-8410-FB39B0657677}"/>
              </a:ext>
            </a:extLst>
          </p:cNvPr>
          <p:cNvSpPr>
            <a:spLocks/>
          </p:cNvSpPr>
          <p:nvPr/>
        </p:nvSpPr>
        <p:spPr bwMode="auto">
          <a:xfrm>
            <a:off x="6469063" y="4162425"/>
            <a:ext cx="642937" cy="215900"/>
          </a:xfrm>
          <a:custGeom>
            <a:avLst/>
            <a:gdLst>
              <a:gd name="T0" fmla="*/ 0 w 1325"/>
              <a:gd name="T1" fmla="*/ 2147483646 h 439"/>
              <a:gd name="T2" fmla="*/ 2147483646 w 1325"/>
              <a:gd name="T3" fmla="*/ 2147483646 h 439"/>
              <a:gd name="T4" fmla="*/ 2147483646 w 1325"/>
              <a:gd name="T5" fmla="*/ 2147483646 h 439"/>
              <a:gd name="T6" fmla="*/ 2147483646 w 1325"/>
              <a:gd name="T7" fmla="*/ 2147483646 h 439"/>
              <a:gd name="T8" fmla="*/ 2147483646 w 1325"/>
              <a:gd name="T9" fmla="*/ 2147483646 h 439"/>
              <a:gd name="T10" fmla="*/ 2147483646 w 1325"/>
              <a:gd name="T11" fmla="*/ 2147483646 h 439"/>
              <a:gd name="T12" fmla="*/ 2147483646 w 1325"/>
              <a:gd name="T13" fmla="*/ 2147483646 h 439"/>
              <a:gd name="T14" fmla="*/ 2147483646 w 1325"/>
              <a:gd name="T15" fmla="*/ 2147483646 h 439"/>
              <a:gd name="T16" fmla="*/ 2147483646 w 1325"/>
              <a:gd name="T17" fmla="*/ 2147483646 h 439"/>
              <a:gd name="T18" fmla="*/ 2147483646 w 1325"/>
              <a:gd name="T19" fmla="*/ 2147483646 h 439"/>
              <a:gd name="T20" fmla="*/ 2147483646 w 1325"/>
              <a:gd name="T21" fmla="*/ 2147483646 h 439"/>
              <a:gd name="T22" fmla="*/ 2147483646 w 1325"/>
              <a:gd name="T23" fmla="*/ 2147483646 h 439"/>
              <a:gd name="T24" fmla="*/ 2147483646 w 1325"/>
              <a:gd name="T25" fmla="*/ 2147483646 h 439"/>
              <a:gd name="T26" fmla="*/ 2147483646 w 1325"/>
              <a:gd name="T27" fmla="*/ 2147483646 h 439"/>
              <a:gd name="T28" fmla="*/ 2147483646 w 1325"/>
              <a:gd name="T29" fmla="*/ 2147483646 h 439"/>
              <a:gd name="T30" fmla="*/ 2147483646 w 1325"/>
              <a:gd name="T31" fmla="*/ 2147483646 h 439"/>
              <a:gd name="T32" fmla="*/ 2147483646 w 1325"/>
              <a:gd name="T33" fmla="*/ 0 h 439"/>
              <a:gd name="T34" fmla="*/ 2147483646 w 1325"/>
              <a:gd name="T35" fmla="*/ 2147483646 h 439"/>
              <a:gd name="T36" fmla="*/ 2147483646 w 1325"/>
              <a:gd name="T37" fmla="*/ 2147483646 h 439"/>
              <a:gd name="T38" fmla="*/ 2147483646 w 1325"/>
              <a:gd name="T39" fmla="*/ 2147483646 h 439"/>
              <a:gd name="T40" fmla="*/ 2147483646 w 1325"/>
              <a:gd name="T41" fmla="*/ 2147483646 h 439"/>
              <a:gd name="T42" fmla="*/ 2147483646 w 1325"/>
              <a:gd name="T43" fmla="*/ 2147483646 h 439"/>
              <a:gd name="T44" fmla="*/ 2147483646 w 1325"/>
              <a:gd name="T45" fmla="*/ 2147483646 h 439"/>
              <a:gd name="T46" fmla="*/ 2147483646 w 1325"/>
              <a:gd name="T47" fmla="*/ 2147483646 h 439"/>
              <a:gd name="T48" fmla="*/ 2147483646 w 1325"/>
              <a:gd name="T49" fmla="*/ 2147483646 h 439"/>
              <a:gd name="T50" fmla="*/ 2147483646 w 1325"/>
              <a:gd name="T51" fmla="*/ 2147483646 h 439"/>
              <a:gd name="T52" fmla="*/ 2147483646 w 1325"/>
              <a:gd name="T53" fmla="*/ 2147483646 h 439"/>
              <a:gd name="T54" fmla="*/ 2147483646 w 1325"/>
              <a:gd name="T55" fmla="*/ 2147483646 h 439"/>
              <a:gd name="T56" fmla="*/ 2147483646 w 1325"/>
              <a:gd name="T57" fmla="*/ 2147483646 h 439"/>
              <a:gd name="T58" fmla="*/ 2147483646 w 1325"/>
              <a:gd name="T59" fmla="*/ 2147483646 h 439"/>
              <a:gd name="T60" fmla="*/ 2147483646 w 1325"/>
              <a:gd name="T61" fmla="*/ 2147483646 h 439"/>
              <a:gd name="T62" fmla="*/ 2147483646 w 1325"/>
              <a:gd name="T63" fmla="*/ 2147483646 h 439"/>
              <a:gd name="T64" fmla="*/ 2147483646 w 1325"/>
              <a:gd name="T65" fmla="*/ 2147483646 h 439"/>
              <a:gd name="T66" fmla="*/ 2147483646 w 1325"/>
              <a:gd name="T67" fmla="*/ 2147483646 h 439"/>
              <a:gd name="T68" fmla="*/ 0 w 1325"/>
              <a:gd name="T69" fmla="*/ 2147483646 h 439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1325"/>
              <a:gd name="T106" fmla="*/ 0 h 439"/>
              <a:gd name="T107" fmla="*/ 1325 w 1325"/>
              <a:gd name="T108" fmla="*/ 439 h 439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1325" h="439">
                <a:moveTo>
                  <a:pt x="0" y="132"/>
                </a:moveTo>
                <a:lnTo>
                  <a:pt x="3" y="132"/>
                </a:lnTo>
                <a:lnTo>
                  <a:pt x="10" y="130"/>
                </a:lnTo>
                <a:lnTo>
                  <a:pt x="24" y="128"/>
                </a:lnTo>
                <a:lnTo>
                  <a:pt x="42" y="125"/>
                </a:lnTo>
                <a:lnTo>
                  <a:pt x="62" y="121"/>
                </a:lnTo>
                <a:lnTo>
                  <a:pt x="86" y="116"/>
                </a:lnTo>
                <a:lnTo>
                  <a:pt x="113" y="109"/>
                </a:lnTo>
                <a:lnTo>
                  <a:pt x="141" y="102"/>
                </a:lnTo>
                <a:lnTo>
                  <a:pt x="170" y="94"/>
                </a:lnTo>
                <a:lnTo>
                  <a:pt x="199" y="85"/>
                </a:lnTo>
                <a:lnTo>
                  <a:pt x="228" y="74"/>
                </a:lnTo>
                <a:lnTo>
                  <a:pt x="257" y="62"/>
                </a:lnTo>
                <a:lnTo>
                  <a:pt x="285" y="48"/>
                </a:lnTo>
                <a:lnTo>
                  <a:pt x="309" y="34"/>
                </a:lnTo>
                <a:lnTo>
                  <a:pt x="333" y="18"/>
                </a:lnTo>
                <a:lnTo>
                  <a:pt x="352" y="0"/>
                </a:lnTo>
                <a:lnTo>
                  <a:pt x="1325" y="223"/>
                </a:lnTo>
                <a:lnTo>
                  <a:pt x="1323" y="225"/>
                </a:lnTo>
                <a:lnTo>
                  <a:pt x="1318" y="230"/>
                </a:lnTo>
                <a:lnTo>
                  <a:pt x="1309" y="239"/>
                </a:lnTo>
                <a:lnTo>
                  <a:pt x="1297" y="250"/>
                </a:lnTo>
                <a:lnTo>
                  <a:pt x="1282" y="263"/>
                </a:lnTo>
                <a:lnTo>
                  <a:pt x="1265" y="278"/>
                </a:lnTo>
                <a:lnTo>
                  <a:pt x="1247" y="295"/>
                </a:lnTo>
                <a:lnTo>
                  <a:pt x="1225" y="312"/>
                </a:lnTo>
                <a:lnTo>
                  <a:pt x="1202" y="331"/>
                </a:lnTo>
                <a:lnTo>
                  <a:pt x="1179" y="349"/>
                </a:lnTo>
                <a:lnTo>
                  <a:pt x="1154" y="367"/>
                </a:lnTo>
                <a:lnTo>
                  <a:pt x="1128" y="385"/>
                </a:lnTo>
                <a:lnTo>
                  <a:pt x="1102" y="401"/>
                </a:lnTo>
                <a:lnTo>
                  <a:pt x="1077" y="415"/>
                </a:lnTo>
                <a:lnTo>
                  <a:pt x="1051" y="428"/>
                </a:lnTo>
                <a:lnTo>
                  <a:pt x="1026" y="439"/>
                </a:lnTo>
                <a:lnTo>
                  <a:pt x="0" y="132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1" name="Freeform 129">
            <a:extLst>
              <a:ext uri="{FF2B5EF4-FFF2-40B4-BE49-F238E27FC236}">
                <a16:creationId xmlns:a16="http://schemas.microsoft.com/office/drawing/2014/main" id="{D0751D14-C488-4FE7-8974-28BC18E1821E}"/>
              </a:ext>
            </a:extLst>
          </p:cNvPr>
          <p:cNvSpPr>
            <a:spLocks/>
          </p:cNvSpPr>
          <p:nvPr/>
        </p:nvSpPr>
        <p:spPr bwMode="auto">
          <a:xfrm>
            <a:off x="7110413" y="4138613"/>
            <a:ext cx="228600" cy="103187"/>
          </a:xfrm>
          <a:custGeom>
            <a:avLst/>
            <a:gdLst>
              <a:gd name="T0" fmla="*/ 2147483646 w 472"/>
              <a:gd name="T1" fmla="*/ 2147483646 h 209"/>
              <a:gd name="T2" fmla="*/ 2147483646 w 472"/>
              <a:gd name="T3" fmla="*/ 2147483646 h 209"/>
              <a:gd name="T4" fmla="*/ 2147483646 w 472"/>
              <a:gd name="T5" fmla="*/ 0 h 209"/>
              <a:gd name="T6" fmla="*/ 2147483646 w 472"/>
              <a:gd name="T7" fmla="*/ 2147483646 h 209"/>
              <a:gd name="T8" fmla="*/ 0 w 472"/>
              <a:gd name="T9" fmla="*/ 2147483646 h 209"/>
              <a:gd name="T10" fmla="*/ 2147483646 w 472"/>
              <a:gd name="T11" fmla="*/ 2147483646 h 20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72"/>
              <a:gd name="T19" fmla="*/ 0 h 209"/>
              <a:gd name="T20" fmla="*/ 472 w 472"/>
              <a:gd name="T21" fmla="*/ 209 h 209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472" h="209">
                <a:moveTo>
                  <a:pt x="47" y="209"/>
                </a:moveTo>
                <a:lnTo>
                  <a:pt x="472" y="84"/>
                </a:lnTo>
                <a:lnTo>
                  <a:pt x="215" y="0"/>
                </a:lnTo>
                <a:lnTo>
                  <a:pt x="5" y="24"/>
                </a:lnTo>
                <a:lnTo>
                  <a:pt x="0" y="197"/>
                </a:lnTo>
                <a:lnTo>
                  <a:pt x="47" y="209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2" name="Freeform 130">
            <a:extLst>
              <a:ext uri="{FF2B5EF4-FFF2-40B4-BE49-F238E27FC236}">
                <a16:creationId xmlns:a16="http://schemas.microsoft.com/office/drawing/2014/main" id="{8EA1EEF0-757E-480E-A21B-1036AD97A50E}"/>
              </a:ext>
            </a:extLst>
          </p:cNvPr>
          <p:cNvSpPr>
            <a:spLocks/>
          </p:cNvSpPr>
          <p:nvPr/>
        </p:nvSpPr>
        <p:spPr bwMode="auto">
          <a:xfrm>
            <a:off x="6518275" y="3698875"/>
            <a:ext cx="122238" cy="490538"/>
          </a:xfrm>
          <a:custGeom>
            <a:avLst/>
            <a:gdLst>
              <a:gd name="T0" fmla="*/ 2147483646 w 251"/>
              <a:gd name="T1" fmla="*/ 2147483646 h 999"/>
              <a:gd name="T2" fmla="*/ 2147483646 w 251"/>
              <a:gd name="T3" fmla="*/ 2147483646 h 999"/>
              <a:gd name="T4" fmla="*/ 2147483646 w 251"/>
              <a:gd name="T5" fmla="*/ 2147483646 h 999"/>
              <a:gd name="T6" fmla="*/ 2147483646 w 251"/>
              <a:gd name="T7" fmla="*/ 2147483646 h 999"/>
              <a:gd name="T8" fmla="*/ 2147483646 w 251"/>
              <a:gd name="T9" fmla="*/ 2147483646 h 999"/>
              <a:gd name="T10" fmla="*/ 2147483646 w 251"/>
              <a:gd name="T11" fmla="*/ 2147483646 h 999"/>
              <a:gd name="T12" fmla="*/ 2147483646 w 251"/>
              <a:gd name="T13" fmla="*/ 2147483646 h 999"/>
              <a:gd name="T14" fmla="*/ 2147483646 w 251"/>
              <a:gd name="T15" fmla="*/ 2147483646 h 999"/>
              <a:gd name="T16" fmla="*/ 2147483646 w 251"/>
              <a:gd name="T17" fmla="*/ 2147483646 h 999"/>
              <a:gd name="T18" fmla="*/ 2147483646 w 251"/>
              <a:gd name="T19" fmla="*/ 0 h 999"/>
              <a:gd name="T20" fmla="*/ 2147483646 w 251"/>
              <a:gd name="T21" fmla="*/ 0 h 999"/>
              <a:gd name="T22" fmla="*/ 2147483646 w 251"/>
              <a:gd name="T23" fmla="*/ 2147483646 h 999"/>
              <a:gd name="T24" fmla="*/ 2147483646 w 251"/>
              <a:gd name="T25" fmla="*/ 2147483646 h 999"/>
              <a:gd name="T26" fmla="*/ 2147483646 w 251"/>
              <a:gd name="T27" fmla="*/ 2147483646 h 999"/>
              <a:gd name="T28" fmla="*/ 2147483646 w 251"/>
              <a:gd name="T29" fmla="*/ 2147483646 h 999"/>
              <a:gd name="T30" fmla="*/ 2147483646 w 251"/>
              <a:gd name="T31" fmla="*/ 2147483646 h 999"/>
              <a:gd name="T32" fmla="*/ 0 w 251"/>
              <a:gd name="T33" fmla="*/ 2147483646 h 999"/>
              <a:gd name="T34" fmla="*/ 0 w 251"/>
              <a:gd name="T35" fmla="*/ 2147483646 h 999"/>
              <a:gd name="T36" fmla="*/ 2147483646 w 251"/>
              <a:gd name="T37" fmla="*/ 2147483646 h 999"/>
              <a:gd name="T38" fmla="*/ 2147483646 w 251"/>
              <a:gd name="T39" fmla="*/ 2147483646 h 999"/>
              <a:gd name="T40" fmla="*/ 2147483646 w 251"/>
              <a:gd name="T41" fmla="*/ 2147483646 h 999"/>
              <a:gd name="T42" fmla="*/ 2147483646 w 251"/>
              <a:gd name="T43" fmla="*/ 2147483646 h 999"/>
              <a:gd name="T44" fmla="*/ 2147483646 w 251"/>
              <a:gd name="T45" fmla="*/ 2147483646 h 999"/>
              <a:gd name="T46" fmla="*/ 2147483646 w 251"/>
              <a:gd name="T47" fmla="*/ 2147483646 h 999"/>
              <a:gd name="T48" fmla="*/ 2147483646 w 251"/>
              <a:gd name="T49" fmla="*/ 2147483646 h 999"/>
              <a:gd name="T50" fmla="*/ 2147483646 w 251"/>
              <a:gd name="T51" fmla="*/ 2147483646 h 999"/>
              <a:gd name="T52" fmla="*/ 2147483646 w 251"/>
              <a:gd name="T53" fmla="*/ 2147483646 h 999"/>
              <a:gd name="T54" fmla="*/ 2147483646 w 251"/>
              <a:gd name="T55" fmla="*/ 2147483646 h 999"/>
              <a:gd name="T56" fmla="*/ 2147483646 w 251"/>
              <a:gd name="T57" fmla="*/ 2147483646 h 999"/>
              <a:gd name="T58" fmla="*/ 2147483646 w 251"/>
              <a:gd name="T59" fmla="*/ 2147483646 h 999"/>
              <a:gd name="T60" fmla="*/ 2147483646 w 251"/>
              <a:gd name="T61" fmla="*/ 2147483646 h 999"/>
              <a:gd name="T62" fmla="*/ 2147483646 w 251"/>
              <a:gd name="T63" fmla="*/ 2147483646 h 999"/>
              <a:gd name="T64" fmla="*/ 2147483646 w 251"/>
              <a:gd name="T65" fmla="*/ 2147483646 h 999"/>
              <a:gd name="T66" fmla="*/ 2147483646 w 251"/>
              <a:gd name="T67" fmla="*/ 2147483646 h 999"/>
              <a:gd name="T68" fmla="*/ 2147483646 w 251"/>
              <a:gd name="T69" fmla="*/ 2147483646 h 999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251"/>
              <a:gd name="T106" fmla="*/ 0 h 999"/>
              <a:gd name="T107" fmla="*/ 251 w 251"/>
              <a:gd name="T108" fmla="*/ 999 h 999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251" h="999">
                <a:moveTo>
                  <a:pt x="251" y="23"/>
                </a:moveTo>
                <a:lnTo>
                  <a:pt x="250" y="22"/>
                </a:lnTo>
                <a:lnTo>
                  <a:pt x="246" y="20"/>
                </a:lnTo>
                <a:lnTo>
                  <a:pt x="239" y="18"/>
                </a:lnTo>
                <a:lnTo>
                  <a:pt x="230" y="15"/>
                </a:lnTo>
                <a:lnTo>
                  <a:pt x="218" y="11"/>
                </a:lnTo>
                <a:lnTo>
                  <a:pt x="205" y="7"/>
                </a:lnTo>
                <a:lnTo>
                  <a:pt x="190" y="4"/>
                </a:lnTo>
                <a:lnTo>
                  <a:pt x="173" y="1"/>
                </a:lnTo>
                <a:lnTo>
                  <a:pt x="155" y="0"/>
                </a:lnTo>
                <a:lnTo>
                  <a:pt x="134" y="0"/>
                </a:lnTo>
                <a:lnTo>
                  <a:pt x="114" y="2"/>
                </a:lnTo>
                <a:lnTo>
                  <a:pt x="92" y="5"/>
                </a:lnTo>
                <a:lnTo>
                  <a:pt x="70" y="12"/>
                </a:lnTo>
                <a:lnTo>
                  <a:pt x="47" y="20"/>
                </a:lnTo>
                <a:lnTo>
                  <a:pt x="23" y="32"/>
                </a:lnTo>
                <a:lnTo>
                  <a:pt x="0" y="47"/>
                </a:lnTo>
                <a:lnTo>
                  <a:pt x="0" y="999"/>
                </a:lnTo>
                <a:lnTo>
                  <a:pt x="1" y="999"/>
                </a:lnTo>
                <a:lnTo>
                  <a:pt x="6" y="999"/>
                </a:lnTo>
                <a:lnTo>
                  <a:pt x="14" y="998"/>
                </a:lnTo>
                <a:lnTo>
                  <a:pt x="23" y="997"/>
                </a:lnTo>
                <a:lnTo>
                  <a:pt x="35" y="995"/>
                </a:lnTo>
                <a:lnTo>
                  <a:pt x="49" y="993"/>
                </a:lnTo>
                <a:lnTo>
                  <a:pt x="65" y="990"/>
                </a:lnTo>
                <a:lnTo>
                  <a:pt x="83" y="985"/>
                </a:lnTo>
                <a:lnTo>
                  <a:pt x="102" y="980"/>
                </a:lnTo>
                <a:lnTo>
                  <a:pt x="121" y="973"/>
                </a:lnTo>
                <a:lnTo>
                  <a:pt x="143" y="966"/>
                </a:lnTo>
                <a:lnTo>
                  <a:pt x="164" y="956"/>
                </a:lnTo>
                <a:lnTo>
                  <a:pt x="186" y="945"/>
                </a:lnTo>
                <a:lnTo>
                  <a:pt x="208" y="934"/>
                </a:lnTo>
                <a:lnTo>
                  <a:pt x="230" y="919"/>
                </a:lnTo>
                <a:lnTo>
                  <a:pt x="251" y="903"/>
                </a:lnTo>
                <a:lnTo>
                  <a:pt x="251" y="23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3" name="Freeform 131">
            <a:extLst>
              <a:ext uri="{FF2B5EF4-FFF2-40B4-BE49-F238E27FC236}">
                <a16:creationId xmlns:a16="http://schemas.microsoft.com/office/drawing/2014/main" id="{A0982AA9-E743-49CA-82E6-A7061F691B2C}"/>
              </a:ext>
            </a:extLst>
          </p:cNvPr>
          <p:cNvSpPr>
            <a:spLocks/>
          </p:cNvSpPr>
          <p:nvPr/>
        </p:nvSpPr>
        <p:spPr bwMode="auto">
          <a:xfrm>
            <a:off x="6521450" y="3703638"/>
            <a:ext cx="104775" cy="412750"/>
          </a:xfrm>
          <a:custGeom>
            <a:avLst/>
            <a:gdLst>
              <a:gd name="T0" fmla="*/ 2147483646 w 215"/>
              <a:gd name="T1" fmla="*/ 2147483646 h 843"/>
              <a:gd name="T2" fmla="*/ 2147483646 w 215"/>
              <a:gd name="T3" fmla="*/ 2147483646 h 843"/>
              <a:gd name="T4" fmla="*/ 2147483646 w 215"/>
              <a:gd name="T5" fmla="*/ 2147483646 h 843"/>
              <a:gd name="T6" fmla="*/ 2147483646 w 215"/>
              <a:gd name="T7" fmla="*/ 2147483646 h 843"/>
              <a:gd name="T8" fmla="*/ 2147483646 w 215"/>
              <a:gd name="T9" fmla="*/ 2147483646 h 843"/>
              <a:gd name="T10" fmla="*/ 2147483646 w 215"/>
              <a:gd name="T11" fmla="*/ 2147483646 h 843"/>
              <a:gd name="T12" fmla="*/ 2147483646 w 215"/>
              <a:gd name="T13" fmla="*/ 2147483646 h 843"/>
              <a:gd name="T14" fmla="*/ 2147483646 w 215"/>
              <a:gd name="T15" fmla="*/ 2147483646 h 843"/>
              <a:gd name="T16" fmla="*/ 2147483646 w 215"/>
              <a:gd name="T17" fmla="*/ 2147483646 h 843"/>
              <a:gd name="T18" fmla="*/ 2147483646 w 215"/>
              <a:gd name="T19" fmla="*/ 0 h 843"/>
              <a:gd name="T20" fmla="*/ 2147483646 w 215"/>
              <a:gd name="T21" fmla="*/ 0 h 843"/>
              <a:gd name="T22" fmla="*/ 2147483646 w 215"/>
              <a:gd name="T23" fmla="*/ 2147483646 h 843"/>
              <a:gd name="T24" fmla="*/ 2147483646 w 215"/>
              <a:gd name="T25" fmla="*/ 2147483646 h 843"/>
              <a:gd name="T26" fmla="*/ 2147483646 w 215"/>
              <a:gd name="T27" fmla="*/ 2147483646 h 843"/>
              <a:gd name="T28" fmla="*/ 2147483646 w 215"/>
              <a:gd name="T29" fmla="*/ 2147483646 h 843"/>
              <a:gd name="T30" fmla="*/ 2147483646 w 215"/>
              <a:gd name="T31" fmla="*/ 2147483646 h 843"/>
              <a:gd name="T32" fmla="*/ 0 w 215"/>
              <a:gd name="T33" fmla="*/ 2147483646 h 843"/>
              <a:gd name="T34" fmla="*/ 0 w 215"/>
              <a:gd name="T35" fmla="*/ 2147483646 h 843"/>
              <a:gd name="T36" fmla="*/ 2147483646 w 215"/>
              <a:gd name="T37" fmla="*/ 2147483646 h 843"/>
              <a:gd name="T38" fmla="*/ 2147483646 w 215"/>
              <a:gd name="T39" fmla="*/ 2147483646 h 843"/>
              <a:gd name="T40" fmla="*/ 2147483646 w 215"/>
              <a:gd name="T41" fmla="*/ 2147483646 h 843"/>
              <a:gd name="T42" fmla="*/ 2147483646 w 215"/>
              <a:gd name="T43" fmla="*/ 2147483646 h 843"/>
              <a:gd name="T44" fmla="*/ 2147483646 w 215"/>
              <a:gd name="T45" fmla="*/ 2147483646 h 843"/>
              <a:gd name="T46" fmla="*/ 2147483646 w 215"/>
              <a:gd name="T47" fmla="*/ 2147483646 h 843"/>
              <a:gd name="T48" fmla="*/ 2147483646 w 215"/>
              <a:gd name="T49" fmla="*/ 2147483646 h 843"/>
              <a:gd name="T50" fmla="*/ 2147483646 w 215"/>
              <a:gd name="T51" fmla="*/ 2147483646 h 843"/>
              <a:gd name="T52" fmla="*/ 2147483646 w 215"/>
              <a:gd name="T53" fmla="*/ 2147483646 h 843"/>
              <a:gd name="T54" fmla="*/ 2147483646 w 215"/>
              <a:gd name="T55" fmla="*/ 2147483646 h 843"/>
              <a:gd name="T56" fmla="*/ 2147483646 w 215"/>
              <a:gd name="T57" fmla="*/ 2147483646 h 843"/>
              <a:gd name="T58" fmla="*/ 2147483646 w 215"/>
              <a:gd name="T59" fmla="*/ 2147483646 h 843"/>
              <a:gd name="T60" fmla="*/ 2147483646 w 215"/>
              <a:gd name="T61" fmla="*/ 2147483646 h 843"/>
              <a:gd name="T62" fmla="*/ 2147483646 w 215"/>
              <a:gd name="T63" fmla="*/ 2147483646 h 843"/>
              <a:gd name="T64" fmla="*/ 2147483646 w 215"/>
              <a:gd name="T65" fmla="*/ 2147483646 h 843"/>
              <a:gd name="T66" fmla="*/ 2147483646 w 215"/>
              <a:gd name="T67" fmla="*/ 2147483646 h 843"/>
              <a:gd name="T68" fmla="*/ 2147483646 w 215"/>
              <a:gd name="T69" fmla="*/ 2147483646 h 843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215"/>
              <a:gd name="T106" fmla="*/ 0 h 843"/>
              <a:gd name="T107" fmla="*/ 215 w 215"/>
              <a:gd name="T108" fmla="*/ 843 h 843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215" h="843">
                <a:moveTo>
                  <a:pt x="215" y="20"/>
                </a:moveTo>
                <a:lnTo>
                  <a:pt x="214" y="19"/>
                </a:lnTo>
                <a:lnTo>
                  <a:pt x="211" y="18"/>
                </a:lnTo>
                <a:lnTo>
                  <a:pt x="205" y="15"/>
                </a:lnTo>
                <a:lnTo>
                  <a:pt x="197" y="12"/>
                </a:lnTo>
                <a:lnTo>
                  <a:pt x="187" y="9"/>
                </a:lnTo>
                <a:lnTo>
                  <a:pt x="176" y="6"/>
                </a:lnTo>
                <a:lnTo>
                  <a:pt x="163" y="4"/>
                </a:lnTo>
                <a:lnTo>
                  <a:pt x="149" y="1"/>
                </a:lnTo>
                <a:lnTo>
                  <a:pt x="133" y="0"/>
                </a:lnTo>
                <a:lnTo>
                  <a:pt x="115" y="0"/>
                </a:lnTo>
                <a:lnTo>
                  <a:pt x="98" y="1"/>
                </a:lnTo>
                <a:lnTo>
                  <a:pt x="79" y="5"/>
                </a:lnTo>
                <a:lnTo>
                  <a:pt x="60" y="10"/>
                </a:lnTo>
                <a:lnTo>
                  <a:pt x="40" y="18"/>
                </a:lnTo>
                <a:lnTo>
                  <a:pt x="21" y="27"/>
                </a:lnTo>
                <a:lnTo>
                  <a:pt x="0" y="40"/>
                </a:lnTo>
                <a:lnTo>
                  <a:pt x="0" y="843"/>
                </a:lnTo>
                <a:lnTo>
                  <a:pt x="1" y="843"/>
                </a:lnTo>
                <a:lnTo>
                  <a:pt x="6" y="843"/>
                </a:lnTo>
                <a:lnTo>
                  <a:pt x="12" y="842"/>
                </a:lnTo>
                <a:lnTo>
                  <a:pt x="21" y="841"/>
                </a:lnTo>
                <a:lnTo>
                  <a:pt x="30" y="840"/>
                </a:lnTo>
                <a:lnTo>
                  <a:pt x="43" y="838"/>
                </a:lnTo>
                <a:lnTo>
                  <a:pt x="56" y="835"/>
                </a:lnTo>
                <a:lnTo>
                  <a:pt x="71" y="831"/>
                </a:lnTo>
                <a:lnTo>
                  <a:pt x="87" y="826"/>
                </a:lnTo>
                <a:lnTo>
                  <a:pt x="105" y="821"/>
                </a:lnTo>
                <a:lnTo>
                  <a:pt x="123" y="814"/>
                </a:lnTo>
                <a:lnTo>
                  <a:pt x="141" y="806"/>
                </a:lnTo>
                <a:lnTo>
                  <a:pt x="159" y="797"/>
                </a:lnTo>
                <a:lnTo>
                  <a:pt x="179" y="786"/>
                </a:lnTo>
                <a:lnTo>
                  <a:pt x="197" y="774"/>
                </a:lnTo>
                <a:lnTo>
                  <a:pt x="215" y="760"/>
                </a:lnTo>
                <a:lnTo>
                  <a:pt x="215" y="2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4" name="Freeform 132">
            <a:extLst>
              <a:ext uri="{FF2B5EF4-FFF2-40B4-BE49-F238E27FC236}">
                <a16:creationId xmlns:a16="http://schemas.microsoft.com/office/drawing/2014/main" id="{4515C0A2-3486-42A6-842F-59A9F2641F37}"/>
              </a:ext>
            </a:extLst>
          </p:cNvPr>
          <p:cNvSpPr>
            <a:spLocks/>
          </p:cNvSpPr>
          <p:nvPr/>
        </p:nvSpPr>
        <p:spPr bwMode="auto">
          <a:xfrm>
            <a:off x="6524625" y="3708400"/>
            <a:ext cx="87313" cy="334963"/>
          </a:xfrm>
          <a:custGeom>
            <a:avLst/>
            <a:gdLst>
              <a:gd name="T0" fmla="*/ 2147483646 w 180"/>
              <a:gd name="T1" fmla="*/ 2147483646 h 685"/>
              <a:gd name="T2" fmla="*/ 2147483646 w 180"/>
              <a:gd name="T3" fmla="*/ 2147483646 h 685"/>
              <a:gd name="T4" fmla="*/ 2147483646 w 180"/>
              <a:gd name="T5" fmla="*/ 2147483646 h 685"/>
              <a:gd name="T6" fmla="*/ 2147483646 w 180"/>
              <a:gd name="T7" fmla="*/ 2147483646 h 685"/>
              <a:gd name="T8" fmla="*/ 2147483646 w 180"/>
              <a:gd name="T9" fmla="*/ 2147483646 h 685"/>
              <a:gd name="T10" fmla="*/ 2147483646 w 180"/>
              <a:gd name="T11" fmla="*/ 2147483646 h 685"/>
              <a:gd name="T12" fmla="*/ 2147483646 w 180"/>
              <a:gd name="T13" fmla="*/ 2147483646 h 685"/>
              <a:gd name="T14" fmla="*/ 2147483646 w 180"/>
              <a:gd name="T15" fmla="*/ 2147483646 h 685"/>
              <a:gd name="T16" fmla="*/ 2147483646 w 180"/>
              <a:gd name="T17" fmla="*/ 0 h 685"/>
              <a:gd name="T18" fmla="*/ 2147483646 w 180"/>
              <a:gd name="T19" fmla="*/ 0 h 685"/>
              <a:gd name="T20" fmla="*/ 2147483646 w 180"/>
              <a:gd name="T21" fmla="*/ 0 h 685"/>
              <a:gd name="T22" fmla="*/ 2147483646 w 180"/>
              <a:gd name="T23" fmla="*/ 2147483646 h 685"/>
              <a:gd name="T24" fmla="*/ 2147483646 w 180"/>
              <a:gd name="T25" fmla="*/ 2147483646 h 685"/>
              <a:gd name="T26" fmla="*/ 2147483646 w 180"/>
              <a:gd name="T27" fmla="*/ 2147483646 h 685"/>
              <a:gd name="T28" fmla="*/ 2147483646 w 180"/>
              <a:gd name="T29" fmla="*/ 2147483646 h 685"/>
              <a:gd name="T30" fmla="*/ 2147483646 w 180"/>
              <a:gd name="T31" fmla="*/ 2147483646 h 685"/>
              <a:gd name="T32" fmla="*/ 0 w 180"/>
              <a:gd name="T33" fmla="*/ 2147483646 h 685"/>
              <a:gd name="T34" fmla="*/ 0 w 180"/>
              <a:gd name="T35" fmla="*/ 2147483646 h 685"/>
              <a:gd name="T36" fmla="*/ 2147483646 w 180"/>
              <a:gd name="T37" fmla="*/ 2147483646 h 685"/>
              <a:gd name="T38" fmla="*/ 2147483646 w 180"/>
              <a:gd name="T39" fmla="*/ 2147483646 h 685"/>
              <a:gd name="T40" fmla="*/ 2147483646 w 180"/>
              <a:gd name="T41" fmla="*/ 2147483646 h 685"/>
              <a:gd name="T42" fmla="*/ 2147483646 w 180"/>
              <a:gd name="T43" fmla="*/ 2147483646 h 685"/>
              <a:gd name="T44" fmla="*/ 2147483646 w 180"/>
              <a:gd name="T45" fmla="*/ 2147483646 h 685"/>
              <a:gd name="T46" fmla="*/ 2147483646 w 180"/>
              <a:gd name="T47" fmla="*/ 2147483646 h 685"/>
              <a:gd name="T48" fmla="*/ 2147483646 w 180"/>
              <a:gd name="T49" fmla="*/ 2147483646 h 685"/>
              <a:gd name="T50" fmla="*/ 2147483646 w 180"/>
              <a:gd name="T51" fmla="*/ 2147483646 h 685"/>
              <a:gd name="T52" fmla="*/ 2147483646 w 180"/>
              <a:gd name="T53" fmla="*/ 2147483646 h 685"/>
              <a:gd name="T54" fmla="*/ 2147483646 w 180"/>
              <a:gd name="T55" fmla="*/ 2147483646 h 685"/>
              <a:gd name="T56" fmla="*/ 2147483646 w 180"/>
              <a:gd name="T57" fmla="*/ 2147483646 h 685"/>
              <a:gd name="T58" fmla="*/ 2147483646 w 180"/>
              <a:gd name="T59" fmla="*/ 2147483646 h 685"/>
              <a:gd name="T60" fmla="*/ 2147483646 w 180"/>
              <a:gd name="T61" fmla="*/ 2147483646 h 685"/>
              <a:gd name="T62" fmla="*/ 2147483646 w 180"/>
              <a:gd name="T63" fmla="*/ 2147483646 h 685"/>
              <a:gd name="T64" fmla="*/ 2147483646 w 180"/>
              <a:gd name="T65" fmla="*/ 2147483646 h 685"/>
              <a:gd name="T66" fmla="*/ 2147483646 w 180"/>
              <a:gd name="T67" fmla="*/ 2147483646 h 685"/>
              <a:gd name="T68" fmla="*/ 2147483646 w 180"/>
              <a:gd name="T69" fmla="*/ 2147483646 h 685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180"/>
              <a:gd name="T106" fmla="*/ 0 h 685"/>
              <a:gd name="T107" fmla="*/ 180 w 180"/>
              <a:gd name="T108" fmla="*/ 685 h 685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180" h="685">
                <a:moveTo>
                  <a:pt x="180" y="16"/>
                </a:moveTo>
                <a:lnTo>
                  <a:pt x="179" y="16"/>
                </a:lnTo>
                <a:lnTo>
                  <a:pt x="176" y="14"/>
                </a:lnTo>
                <a:lnTo>
                  <a:pt x="172" y="12"/>
                </a:lnTo>
                <a:lnTo>
                  <a:pt x="165" y="10"/>
                </a:lnTo>
                <a:lnTo>
                  <a:pt x="157" y="8"/>
                </a:lnTo>
                <a:lnTo>
                  <a:pt x="147" y="4"/>
                </a:lnTo>
                <a:lnTo>
                  <a:pt x="136" y="2"/>
                </a:lnTo>
                <a:lnTo>
                  <a:pt x="125" y="0"/>
                </a:lnTo>
                <a:lnTo>
                  <a:pt x="111" y="0"/>
                </a:lnTo>
                <a:lnTo>
                  <a:pt x="97" y="0"/>
                </a:lnTo>
                <a:lnTo>
                  <a:pt x="81" y="1"/>
                </a:lnTo>
                <a:lnTo>
                  <a:pt x="66" y="3"/>
                </a:lnTo>
                <a:lnTo>
                  <a:pt x="50" y="8"/>
                </a:lnTo>
                <a:lnTo>
                  <a:pt x="33" y="14"/>
                </a:lnTo>
                <a:lnTo>
                  <a:pt x="17" y="23"/>
                </a:lnTo>
                <a:lnTo>
                  <a:pt x="0" y="33"/>
                </a:lnTo>
                <a:lnTo>
                  <a:pt x="0" y="685"/>
                </a:lnTo>
                <a:lnTo>
                  <a:pt x="1" y="685"/>
                </a:lnTo>
                <a:lnTo>
                  <a:pt x="4" y="685"/>
                </a:lnTo>
                <a:lnTo>
                  <a:pt x="9" y="684"/>
                </a:lnTo>
                <a:lnTo>
                  <a:pt x="17" y="683"/>
                </a:lnTo>
                <a:lnTo>
                  <a:pt x="26" y="682"/>
                </a:lnTo>
                <a:lnTo>
                  <a:pt x="35" y="681"/>
                </a:lnTo>
                <a:lnTo>
                  <a:pt x="47" y="678"/>
                </a:lnTo>
                <a:lnTo>
                  <a:pt x="60" y="676"/>
                </a:lnTo>
                <a:lnTo>
                  <a:pt x="73" y="671"/>
                </a:lnTo>
                <a:lnTo>
                  <a:pt x="87" y="667"/>
                </a:lnTo>
                <a:lnTo>
                  <a:pt x="102" y="662"/>
                </a:lnTo>
                <a:lnTo>
                  <a:pt x="118" y="655"/>
                </a:lnTo>
                <a:lnTo>
                  <a:pt x="133" y="648"/>
                </a:lnTo>
                <a:lnTo>
                  <a:pt x="149" y="639"/>
                </a:lnTo>
                <a:lnTo>
                  <a:pt x="165" y="628"/>
                </a:lnTo>
                <a:lnTo>
                  <a:pt x="180" y="617"/>
                </a:lnTo>
                <a:lnTo>
                  <a:pt x="180" y="16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5" name="Freeform 133">
            <a:extLst>
              <a:ext uri="{FF2B5EF4-FFF2-40B4-BE49-F238E27FC236}">
                <a16:creationId xmlns:a16="http://schemas.microsoft.com/office/drawing/2014/main" id="{2811045A-7C63-4A81-861A-5EBE60C037D2}"/>
              </a:ext>
            </a:extLst>
          </p:cNvPr>
          <p:cNvSpPr>
            <a:spLocks/>
          </p:cNvSpPr>
          <p:nvPr/>
        </p:nvSpPr>
        <p:spPr bwMode="auto">
          <a:xfrm>
            <a:off x="6527800" y="3711575"/>
            <a:ext cx="71438" cy="260350"/>
          </a:xfrm>
          <a:custGeom>
            <a:avLst/>
            <a:gdLst>
              <a:gd name="T0" fmla="*/ 2147483646 w 146"/>
              <a:gd name="T1" fmla="*/ 2147483646 h 530"/>
              <a:gd name="T2" fmla="*/ 2147483646 w 146"/>
              <a:gd name="T3" fmla="*/ 2147483646 h 530"/>
              <a:gd name="T4" fmla="*/ 2147483646 w 146"/>
              <a:gd name="T5" fmla="*/ 2147483646 h 530"/>
              <a:gd name="T6" fmla="*/ 2147483646 w 146"/>
              <a:gd name="T7" fmla="*/ 2147483646 h 530"/>
              <a:gd name="T8" fmla="*/ 2147483646 w 146"/>
              <a:gd name="T9" fmla="*/ 2147483646 h 530"/>
              <a:gd name="T10" fmla="*/ 2147483646 w 146"/>
              <a:gd name="T11" fmla="*/ 0 h 530"/>
              <a:gd name="T12" fmla="*/ 2147483646 w 146"/>
              <a:gd name="T13" fmla="*/ 2147483646 h 530"/>
              <a:gd name="T14" fmla="*/ 2147483646 w 146"/>
              <a:gd name="T15" fmla="*/ 2147483646 h 530"/>
              <a:gd name="T16" fmla="*/ 0 w 146"/>
              <a:gd name="T17" fmla="*/ 2147483646 h 530"/>
              <a:gd name="T18" fmla="*/ 0 w 146"/>
              <a:gd name="T19" fmla="*/ 2147483646 h 530"/>
              <a:gd name="T20" fmla="*/ 2147483646 w 146"/>
              <a:gd name="T21" fmla="*/ 2147483646 h 530"/>
              <a:gd name="T22" fmla="*/ 2147483646 w 146"/>
              <a:gd name="T23" fmla="*/ 2147483646 h 530"/>
              <a:gd name="T24" fmla="*/ 2147483646 w 146"/>
              <a:gd name="T25" fmla="*/ 2147483646 h 530"/>
              <a:gd name="T26" fmla="*/ 2147483646 w 146"/>
              <a:gd name="T27" fmla="*/ 2147483646 h 530"/>
              <a:gd name="T28" fmla="*/ 2147483646 w 146"/>
              <a:gd name="T29" fmla="*/ 2147483646 h 530"/>
              <a:gd name="T30" fmla="*/ 2147483646 w 146"/>
              <a:gd name="T31" fmla="*/ 2147483646 h 530"/>
              <a:gd name="T32" fmla="*/ 2147483646 w 146"/>
              <a:gd name="T33" fmla="*/ 2147483646 h 530"/>
              <a:gd name="T34" fmla="*/ 2147483646 w 146"/>
              <a:gd name="T35" fmla="*/ 2147483646 h 530"/>
              <a:gd name="T36" fmla="*/ 2147483646 w 146"/>
              <a:gd name="T37" fmla="*/ 2147483646 h 530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146"/>
              <a:gd name="T58" fmla="*/ 0 h 530"/>
              <a:gd name="T59" fmla="*/ 146 w 146"/>
              <a:gd name="T60" fmla="*/ 530 h 530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146" h="530">
                <a:moveTo>
                  <a:pt x="146" y="14"/>
                </a:moveTo>
                <a:lnTo>
                  <a:pt x="143" y="12"/>
                </a:lnTo>
                <a:lnTo>
                  <a:pt x="134" y="8"/>
                </a:lnTo>
                <a:lnTo>
                  <a:pt x="120" y="4"/>
                </a:lnTo>
                <a:lnTo>
                  <a:pt x="101" y="1"/>
                </a:lnTo>
                <a:lnTo>
                  <a:pt x="79" y="0"/>
                </a:lnTo>
                <a:lnTo>
                  <a:pt x="54" y="3"/>
                </a:lnTo>
                <a:lnTo>
                  <a:pt x="27" y="11"/>
                </a:lnTo>
                <a:lnTo>
                  <a:pt x="0" y="27"/>
                </a:lnTo>
                <a:lnTo>
                  <a:pt x="0" y="530"/>
                </a:lnTo>
                <a:lnTo>
                  <a:pt x="3" y="530"/>
                </a:lnTo>
                <a:lnTo>
                  <a:pt x="14" y="529"/>
                </a:lnTo>
                <a:lnTo>
                  <a:pt x="29" y="526"/>
                </a:lnTo>
                <a:lnTo>
                  <a:pt x="49" y="521"/>
                </a:lnTo>
                <a:lnTo>
                  <a:pt x="71" y="514"/>
                </a:lnTo>
                <a:lnTo>
                  <a:pt x="96" y="505"/>
                </a:lnTo>
                <a:lnTo>
                  <a:pt x="121" y="492"/>
                </a:lnTo>
                <a:lnTo>
                  <a:pt x="146" y="475"/>
                </a:lnTo>
                <a:lnTo>
                  <a:pt x="146" y="14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6" name="Freeform 134">
            <a:extLst>
              <a:ext uri="{FF2B5EF4-FFF2-40B4-BE49-F238E27FC236}">
                <a16:creationId xmlns:a16="http://schemas.microsoft.com/office/drawing/2014/main" id="{3824ADF8-A7CC-48CE-B455-146978A0FBDF}"/>
              </a:ext>
            </a:extLst>
          </p:cNvPr>
          <p:cNvSpPr>
            <a:spLocks/>
          </p:cNvSpPr>
          <p:nvPr/>
        </p:nvSpPr>
        <p:spPr bwMode="auto">
          <a:xfrm>
            <a:off x="6532563" y="3714750"/>
            <a:ext cx="52387" cy="184150"/>
          </a:xfrm>
          <a:custGeom>
            <a:avLst/>
            <a:gdLst>
              <a:gd name="T0" fmla="*/ 2147483646 w 109"/>
              <a:gd name="T1" fmla="*/ 2147483646 h 373"/>
              <a:gd name="T2" fmla="*/ 2147483646 w 109"/>
              <a:gd name="T3" fmla="*/ 2147483646 h 373"/>
              <a:gd name="T4" fmla="*/ 2147483646 w 109"/>
              <a:gd name="T5" fmla="*/ 2147483646 h 373"/>
              <a:gd name="T6" fmla="*/ 2147483646 w 109"/>
              <a:gd name="T7" fmla="*/ 2147483646 h 373"/>
              <a:gd name="T8" fmla="*/ 2147483646 w 109"/>
              <a:gd name="T9" fmla="*/ 0 h 373"/>
              <a:gd name="T10" fmla="*/ 2147483646 w 109"/>
              <a:gd name="T11" fmla="*/ 0 h 373"/>
              <a:gd name="T12" fmla="*/ 2147483646 w 109"/>
              <a:gd name="T13" fmla="*/ 2147483646 h 373"/>
              <a:gd name="T14" fmla="*/ 2147483646 w 109"/>
              <a:gd name="T15" fmla="*/ 2147483646 h 373"/>
              <a:gd name="T16" fmla="*/ 0 w 109"/>
              <a:gd name="T17" fmla="*/ 2147483646 h 373"/>
              <a:gd name="T18" fmla="*/ 0 w 109"/>
              <a:gd name="T19" fmla="*/ 2147483646 h 373"/>
              <a:gd name="T20" fmla="*/ 2147483646 w 109"/>
              <a:gd name="T21" fmla="*/ 2147483646 h 373"/>
              <a:gd name="T22" fmla="*/ 2147483646 w 109"/>
              <a:gd name="T23" fmla="*/ 2147483646 h 373"/>
              <a:gd name="T24" fmla="*/ 2147483646 w 109"/>
              <a:gd name="T25" fmla="*/ 2147483646 h 373"/>
              <a:gd name="T26" fmla="*/ 2147483646 w 109"/>
              <a:gd name="T27" fmla="*/ 2147483646 h 373"/>
              <a:gd name="T28" fmla="*/ 2147483646 w 109"/>
              <a:gd name="T29" fmla="*/ 2147483646 h 373"/>
              <a:gd name="T30" fmla="*/ 2147483646 w 109"/>
              <a:gd name="T31" fmla="*/ 2147483646 h 373"/>
              <a:gd name="T32" fmla="*/ 2147483646 w 109"/>
              <a:gd name="T33" fmla="*/ 2147483646 h 373"/>
              <a:gd name="T34" fmla="*/ 2147483646 w 109"/>
              <a:gd name="T35" fmla="*/ 2147483646 h 373"/>
              <a:gd name="T36" fmla="*/ 2147483646 w 109"/>
              <a:gd name="T37" fmla="*/ 2147483646 h 373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109"/>
              <a:gd name="T58" fmla="*/ 0 h 373"/>
              <a:gd name="T59" fmla="*/ 109 w 109"/>
              <a:gd name="T60" fmla="*/ 373 h 373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109" h="373">
                <a:moveTo>
                  <a:pt x="109" y="10"/>
                </a:moveTo>
                <a:lnTo>
                  <a:pt x="107" y="9"/>
                </a:lnTo>
                <a:lnTo>
                  <a:pt x="100" y="6"/>
                </a:lnTo>
                <a:lnTo>
                  <a:pt x="89" y="2"/>
                </a:lnTo>
                <a:lnTo>
                  <a:pt x="75" y="0"/>
                </a:lnTo>
                <a:lnTo>
                  <a:pt x="59" y="0"/>
                </a:lnTo>
                <a:lnTo>
                  <a:pt x="39" y="2"/>
                </a:lnTo>
                <a:lnTo>
                  <a:pt x="20" y="9"/>
                </a:lnTo>
                <a:lnTo>
                  <a:pt x="0" y="21"/>
                </a:lnTo>
                <a:lnTo>
                  <a:pt x="0" y="373"/>
                </a:lnTo>
                <a:lnTo>
                  <a:pt x="2" y="373"/>
                </a:lnTo>
                <a:lnTo>
                  <a:pt x="9" y="372"/>
                </a:lnTo>
                <a:lnTo>
                  <a:pt x="21" y="369"/>
                </a:lnTo>
                <a:lnTo>
                  <a:pt x="36" y="366"/>
                </a:lnTo>
                <a:lnTo>
                  <a:pt x="53" y="362"/>
                </a:lnTo>
                <a:lnTo>
                  <a:pt x="72" y="354"/>
                </a:lnTo>
                <a:lnTo>
                  <a:pt x="90" y="343"/>
                </a:lnTo>
                <a:lnTo>
                  <a:pt x="109" y="331"/>
                </a:lnTo>
                <a:lnTo>
                  <a:pt x="109" y="1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7" name="Freeform 135">
            <a:extLst>
              <a:ext uri="{FF2B5EF4-FFF2-40B4-BE49-F238E27FC236}">
                <a16:creationId xmlns:a16="http://schemas.microsoft.com/office/drawing/2014/main" id="{23F2229E-645C-4D54-A307-96286FEDD35F}"/>
              </a:ext>
            </a:extLst>
          </p:cNvPr>
          <p:cNvSpPr>
            <a:spLocks/>
          </p:cNvSpPr>
          <p:nvPr/>
        </p:nvSpPr>
        <p:spPr bwMode="auto">
          <a:xfrm>
            <a:off x="6535738" y="3719513"/>
            <a:ext cx="34925" cy="106362"/>
          </a:xfrm>
          <a:custGeom>
            <a:avLst/>
            <a:gdLst>
              <a:gd name="T0" fmla="*/ 2147483646 w 75"/>
              <a:gd name="T1" fmla="*/ 2147483646 h 216"/>
              <a:gd name="T2" fmla="*/ 2147483646 w 75"/>
              <a:gd name="T3" fmla="*/ 2147483646 h 216"/>
              <a:gd name="T4" fmla="*/ 2147483646 w 75"/>
              <a:gd name="T5" fmla="*/ 2147483646 h 216"/>
              <a:gd name="T6" fmla="*/ 2147483646 w 75"/>
              <a:gd name="T7" fmla="*/ 2147483646 h 216"/>
              <a:gd name="T8" fmla="*/ 2147483646 w 75"/>
              <a:gd name="T9" fmla="*/ 0 h 216"/>
              <a:gd name="T10" fmla="*/ 2147483646 w 75"/>
              <a:gd name="T11" fmla="*/ 0 h 216"/>
              <a:gd name="T12" fmla="*/ 2147483646 w 75"/>
              <a:gd name="T13" fmla="*/ 2147483646 h 216"/>
              <a:gd name="T14" fmla="*/ 2147483646 w 75"/>
              <a:gd name="T15" fmla="*/ 2147483646 h 216"/>
              <a:gd name="T16" fmla="*/ 0 w 75"/>
              <a:gd name="T17" fmla="*/ 2147483646 h 216"/>
              <a:gd name="T18" fmla="*/ 0 w 75"/>
              <a:gd name="T19" fmla="*/ 2147483646 h 216"/>
              <a:gd name="T20" fmla="*/ 2147483646 w 75"/>
              <a:gd name="T21" fmla="*/ 2147483646 h 216"/>
              <a:gd name="T22" fmla="*/ 2147483646 w 75"/>
              <a:gd name="T23" fmla="*/ 2147483646 h 216"/>
              <a:gd name="T24" fmla="*/ 2147483646 w 75"/>
              <a:gd name="T25" fmla="*/ 2147483646 h 216"/>
              <a:gd name="T26" fmla="*/ 2147483646 w 75"/>
              <a:gd name="T27" fmla="*/ 2147483646 h 216"/>
              <a:gd name="T28" fmla="*/ 2147483646 w 75"/>
              <a:gd name="T29" fmla="*/ 2147483646 h 216"/>
              <a:gd name="T30" fmla="*/ 2147483646 w 75"/>
              <a:gd name="T31" fmla="*/ 2147483646 h 216"/>
              <a:gd name="T32" fmla="*/ 2147483646 w 75"/>
              <a:gd name="T33" fmla="*/ 2147483646 h 216"/>
              <a:gd name="T34" fmla="*/ 2147483646 w 75"/>
              <a:gd name="T35" fmla="*/ 2147483646 h 216"/>
              <a:gd name="T36" fmla="*/ 2147483646 w 75"/>
              <a:gd name="T37" fmla="*/ 2147483646 h 21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75"/>
              <a:gd name="T58" fmla="*/ 0 h 216"/>
              <a:gd name="T59" fmla="*/ 75 w 75"/>
              <a:gd name="T60" fmla="*/ 216 h 216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75" h="216">
                <a:moveTo>
                  <a:pt x="75" y="6"/>
                </a:moveTo>
                <a:lnTo>
                  <a:pt x="73" y="5"/>
                </a:lnTo>
                <a:lnTo>
                  <a:pt x="69" y="4"/>
                </a:lnTo>
                <a:lnTo>
                  <a:pt x="61" y="2"/>
                </a:lnTo>
                <a:lnTo>
                  <a:pt x="52" y="0"/>
                </a:lnTo>
                <a:lnTo>
                  <a:pt x="41" y="0"/>
                </a:lnTo>
                <a:lnTo>
                  <a:pt x="28" y="1"/>
                </a:lnTo>
                <a:lnTo>
                  <a:pt x="14" y="6"/>
                </a:lnTo>
                <a:lnTo>
                  <a:pt x="0" y="14"/>
                </a:lnTo>
                <a:lnTo>
                  <a:pt x="0" y="216"/>
                </a:lnTo>
                <a:lnTo>
                  <a:pt x="2" y="216"/>
                </a:lnTo>
                <a:lnTo>
                  <a:pt x="7" y="215"/>
                </a:lnTo>
                <a:lnTo>
                  <a:pt x="15" y="214"/>
                </a:lnTo>
                <a:lnTo>
                  <a:pt x="25" y="211"/>
                </a:lnTo>
                <a:lnTo>
                  <a:pt x="37" y="208"/>
                </a:lnTo>
                <a:lnTo>
                  <a:pt x="50" y="203"/>
                </a:lnTo>
                <a:lnTo>
                  <a:pt x="63" y="195"/>
                </a:lnTo>
                <a:lnTo>
                  <a:pt x="75" y="187"/>
                </a:lnTo>
                <a:lnTo>
                  <a:pt x="75" y="6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8" name="Freeform 136">
            <a:extLst>
              <a:ext uri="{FF2B5EF4-FFF2-40B4-BE49-F238E27FC236}">
                <a16:creationId xmlns:a16="http://schemas.microsoft.com/office/drawing/2014/main" id="{13EB657A-FB02-4752-B458-5933F70ACD78}"/>
              </a:ext>
            </a:extLst>
          </p:cNvPr>
          <p:cNvSpPr>
            <a:spLocks/>
          </p:cNvSpPr>
          <p:nvPr/>
        </p:nvSpPr>
        <p:spPr bwMode="auto">
          <a:xfrm>
            <a:off x="6973888" y="4022725"/>
            <a:ext cx="53975" cy="55563"/>
          </a:xfrm>
          <a:custGeom>
            <a:avLst/>
            <a:gdLst>
              <a:gd name="T0" fmla="*/ 2147483646 w 110"/>
              <a:gd name="T1" fmla="*/ 2147483646 h 111"/>
              <a:gd name="T2" fmla="*/ 2147483646 w 110"/>
              <a:gd name="T3" fmla="*/ 2147483646 h 111"/>
              <a:gd name="T4" fmla="*/ 2147483646 w 110"/>
              <a:gd name="T5" fmla="*/ 2147483646 h 111"/>
              <a:gd name="T6" fmla="*/ 2147483646 w 110"/>
              <a:gd name="T7" fmla="*/ 2147483646 h 111"/>
              <a:gd name="T8" fmla="*/ 2147483646 w 110"/>
              <a:gd name="T9" fmla="*/ 2147483646 h 111"/>
              <a:gd name="T10" fmla="*/ 2147483646 w 110"/>
              <a:gd name="T11" fmla="*/ 2147483646 h 111"/>
              <a:gd name="T12" fmla="*/ 2147483646 w 110"/>
              <a:gd name="T13" fmla="*/ 2147483646 h 111"/>
              <a:gd name="T14" fmla="*/ 2147483646 w 110"/>
              <a:gd name="T15" fmla="*/ 2147483646 h 111"/>
              <a:gd name="T16" fmla="*/ 2147483646 w 110"/>
              <a:gd name="T17" fmla="*/ 2147483646 h 111"/>
              <a:gd name="T18" fmla="*/ 2147483646 w 110"/>
              <a:gd name="T19" fmla="*/ 2147483646 h 111"/>
              <a:gd name="T20" fmla="*/ 2147483646 w 110"/>
              <a:gd name="T21" fmla="*/ 2147483646 h 111"/>
              <a:gd name="T22" fmla="*/ 2147483646 w 110"/>
              <a:gd name="T23" fmla="*/ 2147483646 h 111"/>
              <a:gd name="T24" fmla="*/ 2147483646 w 110"/>
              <a:gd name="T25" fmla="*/ 2147483646 h 111"/>
              <a:gd name="T26" fmla="*/ 2147483646 w 110"/>
              <a:gd name="T27" fmla="*/ 2147483646 h 111"/>
              <a:gd name="T28" fmla="*/ 2147483646 w 110"/>
              <a:gd name="T29" fmla="*/ 2147483646 h 111"/>
              <a:gd name="T30" fmla="*/ 2147483646 w 110"/>
              <a:gd name="T31" fmla="*/ 2147483646 h 111"/>
              <a:gd name="T32" fmla="*/ 2147483646 w 110"/>
              <a:gd name="T33" fmla="*/ 0 h 111"/>
              <a:gd name="T34" fmla="*/ 2147483646 w 110"/>
              <a:gd name="T35" fmla="*/ 2147483646 h 111"/>
              <a:gd name="T36" fmla="*/ 2147483646 w 110"/>
              <a:gd name="T37" fmla="*/ 2147483646 h 111"/>
              <a:gd name="T38" fmla="*/ 2147483646 w 110"/>
              <a:gd name="T39" fmla="*/ 2147483646 h 111"/>
              <a:gd name="T40" fmla="*/ 2147483646 w 110"/>
              <a:gd name="T41" fmla="*/ 2147483646 h 111"/>
              <a:gd name="T42" fmla="*/ 2147483646 w 110"/>
              <a:gd name="T43" fmla="*/ 2147483646 h 111"/>
              <a:gd name="T44" fmla="*/ 2147483646 w 110"/>
              <a:gd name="T45" fmla="*/ 2147483646 h 111"/>
              <a:gd name="T46" fmla="*/ 2147483646 w 110"/>
              <a:gd name="T47" fmla="*/ 2147483646 h 111"/>
              <a:gd name="T48" fmla="*/ 0 w 110"/>
              <a:gd name="T49" fmla="*/ 2147483646 h 111"/>
              <a:gd name="T50" fmla="*/ 2147483646 w 110"/>
              <a:gd name="T51" fmla="*/ 2147483646 h 111"/>
              <a:gd name="T52" fmla="*/ 2147483646 w 110"/>
              <a:gd name="T53" fmla="*/ 2147483646 h 111"/>
              <a:gd name="T54" fmla="*/ 2147483646 w 110"/>
              <a:gd name="T55" fmla="*/ 2147483646 h 111"/>
              <a:gd name="T56" fmla="*/ 2147483646 w 110"/>
              <a:gd name="T57" fmla="*/ 2147483646 h 111"/>
              <a:gd name="T58" fmla="*/ 2147483646 w 110"/>
              <a:gd name="T59" fmla="*/ 2147483646 h 111"/>
              <a:gd name="T60" fmla="*/ 2147483646 w 110"/>
              <a:gd name="T61" fmla="*/ 2147483646 h 111"/>
              <a:gd name="T62" fmla="*/ 2147483646 w 110"/>
              <a:gd name="T63" fmla="*/ 2147483646 h 111"/>
              <a:gd name="T64" fmla="*/ 2147483646 w 110"/>
              <a:gd name="T65" fmla="*/ 2147483646 h 111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w 110"/>
              <a:gd name="T100" fmla="*/ 0 h 111"/>
              <a:gd name="T101" fmla="*/ 110 w 110"/>
              <a:gd name="T102" fmla="*/ 111 h 111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T99" t="T100" r="T101" b="T102"/>
            <a:pathLst>
              <a:path w="110" h="111">
                <a:moveTo>
                  <a:pt x="55" y="111"/>
                </a:moveTo>
                <a:lnTo>
                  <a:pt x="66" y="110"/>
                </a:lnTo>
                <a:lnTo>
                  <a:pt x="76" y="106"/>
                </a:lnTo>
                <a:lnTo>
                  <a:pt x="85" y="101"/>
                </a:lnTo>
                <a:lnTo>
                  <a:pt x="94" y="94"/>
                </a:lnTo>
                <a:lnTo>
                  <a:pt x="100" y="86"/>
                </a:lnTo>
                <a:lnTo>
                  <a:pt x="106" y="77"/>
                </a:lnTo>
                <a:lnTo>
                  <a:pt x="109" y="66"/>
                </a:lnTo>
                <a:lnTo>
                  <a:pt x="110" y="56"/>
                </a:lnTo>
                <a:lnTo>
                  <a:pt x="109" y="44"/>
                </a:lnTo>
                <a:lnTo>
                  <a:pt x="106" y="34"/>
                </a:lnTo>
                <a:lnTo>
                  <a:pt x="100" y="24"/>
                </a:lnTo>
                <a:lnTo>
                  <a:pt x="94" y="17"/>
                </a:lnTo>
                <a:lnTo>
                  <a:pt x="85" y="9"/>
                </a:lnTo>
                <a:lnTo>
                  <a:pt x="76" y="5"/>
                </a:lnTo>
                <a:lnTo>
                  <a:pt x="66" y="2"/>
                </a:lnTo>
                <a:lnTo>
                  <a:pt x="55" y="0"/>
                </a:lnTo>
                <a:lnTo>
                  <a:pt x="44" y="2"/>
                </a:lnTo>
                <a:lnTo>
                  <a:pt x="33" y="5"/>
                </a:lnTo>
                <a:lnTo>
                  <a:pt x="25" y="9"/>
                </a:lnTo>
                <a:lnTo>
                  <a:pt x="16" y="17"/>
                </a:lnTo>
                <a:lnTo>
                  <a:pt x="10" y="24"/>
                </a:lnTo>
                <a:lnTo>
                  <a:pt x="4" y="34"/>
                </a:lnTo>
                <a:lnTo>
                  <a:pt x="1" y="44"/>
                </a:lnTo>
                <a:lnTo>
                  <a:pt x="0" y="56"/>
                </a:lnTo>
                <a:lnTo>
                  <a:pt x="1" y="66"/>
                </a:lnTo>
                <a:lnTo>
                  <a:pt x="4" y="77"/>
                </a:lnTo>
                <a:lnTo>
                  <a:pt x="10" y="86"/>
                </a:lnTo>
                <a:lnTo>
                  <a:pt x="16" y="94"/>
                </a:lnTo>
                <a:lnTo>
                  <a:pt x="25" y="101"/>
                </a:lnTo>
                <a:lnTo>
                  <a:pt x="33" y="106"/>
                </a:lnTo>
                <a:lnTo>
                  <a:pt x="44" y="110"/>
                </a:lnTo>
                <a:lnTo>
                  <a:pt x="55" y="111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19" name="Freeform 137">
            <a:extLst>
              <a:ext uri="{FF2B5EF4-FFF2-40B4-BE49-F238E27FC236}">
                <a16:creationId xmlns:a16="http://schemas.microsoft.com/office/drawing/2014/main" id="{DBE6CBC3-32B3-452E-92F5-057D32C90B70}"/>
              </a:ext>
            </a:extLst>
          </p:cNvPr>
          <p:cNvSpPr>
            <a:spLocks/>
          </p:cNvSpPr>
          <p:nvPr/>
        </p:nvSpPr>
        <p:spPr bwMode="auto">
          <a:xfrm>
            <a:off x="6810375" y="4024313"/>
            <a:ext cx="26988" cy="26987"/>
          </a:xfrm>
          <a:custGeom>
            <a:avLst/>
            <a:gdLst>
              <a:gd name="T0" fmla="*/ 2147483646 w 55"/>
              <a:gd name="T1" fmla="*/ 2147483646 h 55"/>
              <a:gd name="T2" fmla="*/ 2147483646 w 55"/>
              <a:gd name="T3" fmla="*/ 2147483646 h 55"/>
              <a:gd name="T4" fmla="*/ 2147483646 w 55"/>
              <a:gd name="T5" fmla="*/ 2147483646 h 55"/>
              <a:gd name="T6" fmla="*/ 2147483646 w 55"/>
              <a:gd name="T7" fmla="*/ 2147483646 h 55"/>
              <a:gd name="T8" fmla="*/ 2147483646 w 55"/>
              <a:gd name="T9" fmla="*/ 2147483646 h 55"/>
              <a:gd name="T10" fmla="*/ 2147483646 w 55"/>
              <a:gd name="T11" fmla="*/ 2147483646 h 55"/>
              <a:gd name="T12" fmla="*/ 2147483646 w 55"/>
              <a:gd name="T13" fmla="*/ 2147483646 h 55"/>
              <a:gd name="T14" fmla="*/ 2147483646 w 55"/>
              <a:gd name="T15" fmla="*/ 2147483646 h 55"/>
              <a:gd name="T16" fmla="*/ 2147483646 w 55"/>
              <a:gd name="T17" fmla="*/ 0 h 55"/>
              <a:gd name="T18" fmla="*/ 2147483646 w 55"/>
              <a:gd name="T19" fmla="*/ 2147483646 h 55"/>
              <a:gd name="T20" fmla="*/ 2147483646 w 55"/>
              <a:gd name="T21" fmla="*/ 2147483646 h 55"/>
              <a:gd name="T22" fmla="*/ 2147483646 w 55"/>
              <a:gd name="T23" fmla="*/ 2147483646 h 55"/>
              <a:gd name="T24" fmla="*/ 0 w 55"/>
              <a:gd name="T25" fmla="*/ 2147483646 h 55"/>
              <a:gd name="T26" fmla="*/ 2147483646 w 55"/>
              <a:gd name="T27" fmla="*/ 2147483646 h 55"/>
              <a:gd name="T28" fmla="*/ 2147483646 w 55"/>
              <a:gd name="T29" fmla="*/ 2147483646 h 55"/>
              <a:gd name="T30" fmla="*/ 2147483646 w 55"/>
              <a:gd name="T31" fmla="*/ 2147483646 h 55"/>
              <a:gd name="T32" fmla="*/ 2147483646 w 55"/>
              <a:gd name="T33" fmla="*/ 2147483646 h 55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55"/>
              <a:gd name="T52" fmla="*/ 0 h 55"/>
              <a:gd name="T53" fmla="*/ 55 w 55"/>
              <a:gd name="T54" fmla="*/ 55 h 55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55" h="55">
                <a:moveTo>
                  <a:pt x="27" y="55"/>
                </a:moveTo>
                <a:lnTo>
                  <a:pt x="38" y="53"/>
                </a:lnTo>
                <a:lnTo>
                  <a:pt x="48" y="46"/>
                </a:lnTo>
                <a:lnTo>
                  <a:pt x="53" y="37"/>
                </a:lnTo>
                <a:lnTo>
                  <a:pt x="55" y="27"/>
                </a:lnTo>
                <a:lnTo>
                  <a:pt x="53" y="16"/>
                </a:lnTo>
                <a:lnTo>
                  <a:pt x="48" y="7"/>
                </a:lnTo>
                <a:lnTo>
                  <a:pt x="38" y="2"/>
                </a:lnTo>
                <a:lnTo>
                  <a:pt x="27" y="0"/>
                </a:lnTo>
                <a:lnTo>
                  <a:pt x="16" y="2"/>
                </a:lnTo>
                <a:lnTo>
                  <a:pt x="8" y="7"/>
                </a:lnTo>
                <a:lnTo>
                  <a:pt x="2" y="16"/>
                </a:lnTo>
                <a:lnTo>
                  <a:pt x="0" y="27"/>
                </a:lnTo>
                <a:lnTo>
                  <a:pt x="2" y="37"/>
                </a:lnTo>
                <a:lnTo>
                  <a:pt x="8" y="46"/>
                </a:lnTo>
                <a:lnTo>
                  <a:pt x="16" y="53"/>
                </a:lnTo>
                <a:lnTo>
                  <a:pt x="27" y="55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0" name="Freeform 138">
            <a:extLst>
              <a:ext uri="{FF2B5EF4-FFF2-40B4-BE49-F238E27FC236}">
                <a16:creationId xmlns:a16="http://schemas.microsoft.com/office/drawing/2014/main" id="{41302279-2511-40FF-BBF8-5C793364BAE0}"/>
              </a:ext>
            </a:extLst>
          </p:cNvPr>
          <p:cNvSpPr>
            <a:spLocks/>
          </p:cNvSpPr>
          <p:nvPr/>
        </p:nvSpPr>
        <p:spPr bwMode="auto">
          <a:xfrm>
            <a:off x="6856413" y="4025900"/>
            <a:ext cx="26987" cy="26988"/>
          </a:xfrm>
          <a:custGeom>
            <a:avLst/>
            <a:gdLst>
              <a:gd name="T0" fmla="*/ 2147483646 w 55"/>
              <a:gd name="T1" fmla="*/ 2147483646 h 55"/>
              <a:gd name="T2" fmla="*/ 2147483646 w 55"/>
              <a:gd name="T3" fmla="*/ 2147483646 h 55"/>
              <a:gd name="T4" fmla="*/ 2147483646 w 55"/>
              <a:gd name="T5" fmla="*/ 2147483646 h 55"/>
              <a:gd name="T6" fmla="*/ 2147483646 w 55"/>
              <a:gd name="T7" fmla="*/ 2147483646 h 55"/>
              <a:gd name="T8" fmla="*/ 2147483646 w 55"/>
              <a:gd name="T9" fmla="*/ 2147483646 h 55"/>
              <a:gd name="T10" fmla="*/ 2147483646 w 55"/>
              <a:gd name="T11" fmla="*/ 2147483646 h 55"/>
              <a:gd name="T12" fmla="*/ 2147483646 w 55"/>
              <a:gd name="T13" fmla="*/ 2147483646 h 55"/>
              <a:gd name="T14" fmla="*/ 2147483646 w 55"/>
              <a:gd name="T15" fmla="*/ 2147483646 h 55"/>
              <a:gd name="T16" fmla="*/ 2147483646 w 55"/>
              <a:gd name="T17" fmla="*/ 0 h 55"/>
              <a:gd name="T18" fmla="*/ 2147483646 w 55"/>
              <a:gd name="T19" fmla="*/ 2147483646 h 55"/>
              <a:gd name="T20" fmla="*/ 2147483646 w 55"/>
              <a:gd name="T21" fmla="*/ 2147483646 h 55"/>
              <a:gd name="T22" fmla="*/ 2147483646 w 55"/>
              <a:gd name="T23" fmla="*/ 2147483646 h 55"/>
              <a:gd name="T24" fmla="*/ 0 w 55"/>
              <a:gd name="T25" fmla="*/ 2147483646 h 55"/>
              <a:gd name="T26" fmla="*/ 2147483646 w 55"/>
              <a:gd name="T27" fmla="*/ 2147483646 h 55"/>
              <a:gd name="T28" fmla="*/ 2147483646 w 55"/>
              <a:gd name="T29" fmla="*/ 2147483646 h 55"/>
              <a:gd name="T30" fmla="*/ 2147483646 w 55"/>
              <a:gd name="T31" fmla="*/ 2147483646 h 55"/>
              <a:gd name="T32" fmla="*/ 2147483646 w 55"/>
              <a:gd name="T33" fmla="*/ 2147483646 h 55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55"/>
              <a:gd name="T52" fmla="*/ 0 h 55"/>
              <a:gd name="T53" fmla="*/ 55 w 55"/>
              <a:gd name="T54" fmla="*/ 55 h 55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55" h="55">
                <a:moveTo>
                  <a:pt x="28" y="55"/>
                </a:moveTo>
                <a:lnTo>
                  <a:pt x="39" y="53"/>
                </a:lnTo>
                <a:lnTo>
                  <a:pt x="47" y="47"/>
                </a:lnTo>
                <a:lnTo>
                  <a:pt x="53" y="39"/>
                </a:lnTo>
                <a:lnTo>
                  <a:pt x="55" y="28"/>
                </a:lnTo>
                <a:lnTo>
                  <a:pt x="53" y="17"/>
                </a:lnTo>
                <a:lnTo>
                  <a:pt x="47" y="8"/>
                </a:lnTo>
                <a:lnTo>
                  <a:pt x="39" y="2"/>
                </a:lnTo>
                <a:lnTo>
                  <a:pt x="28" y="0"/>
                </a:lnTo>
                <a:lnTo>
                  <a:pt x="17" y="2"/>
                </a:lnTo>
                <a:lnTo>
                  <a:pt x="9" y="8"/>
                </a:lnTo>
                <a:lnTo>
                  <a:pt x="2" y="17"/>
                </a:lnTo>
                <a:lnTo>
                  <a:pt x="0" y="28"/>
                </a:lnTo>
                <a:lnTo>
                  <a:pt x="2" y="39"/>
                </a:lnTo>
                <a:lnTo>
                  <a:pt x="9" y="47"/>
                </a:lnTo>
                <a:lnTo>
                  <a:pt x="17" y="53"/>
                </a:lnTo>
                <a:lnTo>
                  <a:pt x="28" y="55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1" name="Freeform 139">
            <a:extLst>
              <a:ext uri="{FF2B5EF4-FFF2-40B4-BE49-F238E27FC236}">
                <a16:creationId xmlns:a16="http://schemas.microsoft.com/office/drawing/2014/main" id="{7DF16D08-D5A9-4D1D-8416-BDD42D259D3C}"/>
              </a:ext>
            </a:extLst>
          </p:cNvPr>
          <p:cNvSpPr>
            <a:spLocks/>
          </p:cNvSpPr>
          <p:nvPr/>
        </p:nvSpPr>
        <p:spPr bwMode="auto">
          <a:xfrm>
            <a:off x="6677025" y="3656013"/>
            <a:ext cx="76200" cy="368300"/>
          </a:xfrm>
          <a:custGeom>
            <a:avLst/>
            <a:gdLst>
              <a:gd name="T0" fmla="*/ 2147483646 w 156"/>
              <a:gd name="T1" fmla="*/ 2147483646 h 752"/>
              <a:gd name="T2" fmla="*/ 2147483646 w 156"/>
              <a:gd name="T3" fmla="*/ 2147483646 h 752"/>
              <a:gd name="T4" fmla="*/ 2147483646 w 156"/>
              <a:gd name="T5" fmla="*/ 2147483646 h 752"/>
              <a:gd name="T6" fmla="*/ 2147483646 w 156"/>
              <a:gd name="T7" fmla="*/ 2147483646 h 752"/>
              <a:gd name="T8" fmla="*/ 2147483646 w 156"/>
              <a:gd name="T9" fmla="*/ 2147483646 h 752"/>
              <a:gd name="T10" fmla="*/ 0 w 156"/>
              <a:gd name="T11" fmla="*/ 2147483646 h 752"/>
              <a:gd name="T12" fmla="*/ 2147483646 w 156"/>
              <a:gd name="T13" fmla="*/ 2147483646 h 752"/>
              <a:gd name="T14" fmla="*/ 2147483646 w 156"/>
              <a:gd name="T15" fmla="*/ 2147483646 h 752"/>
              <a:gd name="T16" fmla="*/ 2147483646 w 156"/>
              <a:gd name="T17" fmla="*/ 2147483646 h 752"/>
              <a:gd name="T18" fmla="*/ 2147483646 w 156"/>
              <a:gd name="T19" fmla="*/ 2147483646 h 752"/>
              <a:gd name="T20" fmla="*/ 2147483646 w 156"/>
              <a:gd name="T21" fmla="*/ 2147483646 h 752"/>
              <a:gd name="T22" fmla="*/ 2147483646 w 156"/>
              <a:gd name="T23" fmla="*/ 2147483646 h 752"/>
              <a:gd name="T24" fmla="*/ 2147483646 w 156"/>
              <a:gd name="T25" fmla="*/ 2147483646 h 752"/>
              <a:gd name="T26" fmla="*/ 2147483646 w 156"/>
              <a:gd name="T27" fmla="*/ 2147483646 h 752"/>
              <a:gd name="T28" fmla="*/ 2147483646 w 156"/>
              <a:gd name="T29" fmla="*/ 2147483646 h 752"/>
              <a:gd name="T30" fmla="*/ 2147483646 w 156"/>
              <a:gd name="T31" fmla="*/ 2147483646 h 752"/>
              <a:gd name="T32" fmla="*/ 2147483646 w 156"/>
              <a:gd name="T33" fmla="*/ 2147483646 h 752"/>
              <a:gd name="T34" fmla="*/ 2147483646 w 156"/>
              <a:gd name="T35" fmla="*/ 2147483646 h 752"/>
              <a:gd name="T36" fmla="*/ 2147483646 w 156"/>
              <a:gd name="T37" fmla="*/ 2147483646 h 752"/>
              <a:gd name="T38" fmla="*/ 2147483646 w 156"/>
              <a:gd name="T39" fmla="*/ 2147483646 h 752"/>
              <a:gd name="T40" fmla="*/ 2147483646 w 156"/>
              <a:gd name="T41" fmla="*/ 2147483646 h 752"/>
              <a:gd name="T42" fmla="*/ 2147483646 w 156"/>
              <a:gd name="T43" fmla="*/ 0 h 752"/>
              <a:gd name="T44" fmla="*/ 2147483646 w 156"/>
              <a:gd name="T45" fmla="*/ 0 h 752"/>
              <a:gd name="T46" fmla="*/ 2147483646 w 156"/>
              <a:gd name="T47" fmla="*/ 2147483646 h 752"/>
              <a:gd name="T48" fmla="*/ 2147483646 w 156"/>
              <a:gd name="T49" fmla="*/ 2147483646 h 752"/>
              <a:gd name="T50" fmla="*/ 2147483646 w 156"/>
              <a:gd name="T51" fmla="*/ 2147483646 h 752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w 156"/>
              <a:gd name="T79" fmla="*/ 0 h 752"/>
              <a:gd name="T80" fmla="*/ 156 w 156"/>
              <a:gd name="T81" fmla="*/ 752 h 752"/>
            </a:gdLst>
            <a:ahLst/>
            <a:cxnLst>
              <a:cxn ang="T52">
                <a:pos x="T0" y="T1"/>
              </a:cxn>
              <a:cxn ang="T53">
                <a:pos x="T2" y="T3"/>
              </a:cxn>
              <a:cxn ang="T54">
                <a:pos x="T4" y="T5"/>
              </a:cxn>
              <a:cxn ang="T55">
                <a:pos x="T6" y="T7"/>
              </a:cxn>
              <a:cxn ang="T56">
                <a:pos x="T8" y="T9"/>
              </a:cxn>
              <a:cxn ang="T57">
                <a:pos x="T10" y="T11"/>
              </a:cxn>
              <a:cxn ang="T58">
                <a:pos x="T12" y="T13"/>
              </a:cxn>
              <a:cxn ang="T59">
                <a:pos x="T14" y="T15"/>
              </a:cxn>
              <a:cxn ang="T60">
                <a:pos x="T16" y="T17"/>
              </a:cxn>
              <a:cxn ang="T61">
                <a:pos x="T18" y="T19"/>
              </a:cxn>
              <a:cxn ang="T62">
                <a:pos x="T20" y="T21"/>
              </a:cxn>
              <a:cxn ang="T63">
                <a:pos x="T22" y="T23"/>
              </a:cxn>
              <a:cxn ang="T64">
                <a:pos x="T24" y="T25"/>
              </a:cxn>
              <a:cxn ang="T65">
                <a:pos x="T26" y="T27"/>
              </a:cxn>
              <a:cxn ang="T66">
                <a:pos x="T28" y="T29"/>
              </a:cxn>
              <a:cxn ang="T67">
                <a:pos x="T30" y="T31"/>
              </a:cxn>
              <a:cxn ang="T68">
                <a:pos x="T32" y="T33"/>
              </a:cxn>
              <a:cxn ang="T69">
                <a:pos x="T34" y="T35"/>
              </a:cxn>
              <a:cxn ang="T70">
                <a:pos x="T36" y="T37"/>
              </a:cxn>
              <a:cxn ang="T71">
                <a:pos x="T38" y="T39"/>
              </a:cxn>
              <a:cxn ang="T72">
                <a:pos x="T40" y="T41"/>
              </a:cxn>
              <a:cxn ang="T73">
                <a:pos x="T42" y="T43"/>
              </a:cxn>
              <a:cxn ang="T74">
                <a:pos x="T44" y="T45"/>
              </a:cxn>
              <a:cxn ang="T75">
                <a:pos x="T46" y="T47"/>
              </a:cxn>
              <a:cxn ang="T76">
                <a:pos x="T48" y="T49"/>
              </a:cxn>
              <a:cxn ang="T77">
                <a:pos x="T50" y="T51"/>
              </a:cxn>
            </a:cxnLst>
            <a:rect l="T78" t="T79" r="T80" b="T81"/>
            <a:pathLst>
              <a:path w="156" h="752">
                <a:moveTo>
                  <a:pt x="48" y="15"/>
                </a:moveTo>
                <a:lnTo>
                  <a:pt x="44" y="30"/>
                </a:lnTo>
                <a:lnTo>
                  <a:pt x="33" y="73"/>
                </a:lnTo>
                <a:lnTo>
                  <a:pt x="19" y="140"/>
                </a:lnTo>
                <a:lnTo>
                  <a:pt x="7" y="229"/>
                </a:lnTo>
                <a:lnTo>
                  <a:pt x="0" y="337"/>
                </a:lnTo>
                <a:lnTo>
                  <a:pt x="1" y="462"/>
                </a:lnTo>
                <a:lnTo>
                  <a:pt x="14" y="602"/>
                </a:lnTo>
                <a:lnTo>
                  <a:pt x="43" y="752"/>
                </a:lnTo>
                <a:lnTo>
                  <a:pt x="150" y="746"/>
                </a:lnTo>
                <a:lnTo>
                  <a:pt x="146" y="724"/>
                </a:lnTo>
                <a:lnTo>
                  <a:pt x="135" y="663"/>
                </a:lnTo>
                <a:lnTo>
                  <a:pt x="123" y="574"/>
                </a:lnTo>
                <a:lnTo>
                  <a:pt x="111" y="463"/>
                </a:lnTo>
                <a:lnTo>
                  <a:pt x="104" y="342"/>
                </a:lnTo>
                <a:lnTo>
                  <a:pt x="107" y="220"/>
                </a:lnTo>
                <a:lnTo>
                  <a:pt x="124" y="106"/>
                </a:lnTo>
                <a:lnTo>
                  <a:pt x="156" y="9"/>
                </a:lnTo>
                <a:lnTo>
                  <a:pt x="156" y="8"/>
                </a:lnTo>
                <a:lnTo>
                  <a:pt x="156" y="6"/>
                </a:lnTo>
                <a:lnTo>
                  <a:pt x="154" y="4"/>
                </a:lnTo>
                <a:lnTo>
                  <a:pt x="147" y="0"/>
                </a:lnTo>
                <a:lnTo>
                  <a:pt x="134" y="0"/>
                </a:lnTo>
                <a:lnTo>
                  <a:pt x="115" y="1"/>
                </a:lnTo>
                <a:lnTo>
                  <a:pt x="87" y="7"/>
                </a:lnTo>
                <a:lnTo>
                  <a:pt x="48" y="15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2" name="Freeform 140">
            <a:extLst>
              <a:ext uri="{FF2B5EF4-FFF2-40B4-BE49-F238E27FC236}">
                <a16:creationId xmlns:a16="http://schemas.microsoft.com/office/drawing/2014/main" id="{7BBA1334-ECCE-42EA-A75D-93A2B595EA41}"/>
              </a:ext>
            </a:extLst>
          </p:cNvPr>
          <p:cNvSpPr>
            <a:spLocks/>
          </p:cNvSpPr>
          <p:nvPr/>
        </p:nvSpPr>
        <p:spPr bwMode="auto">
          <a:xfrm>
            <a:off x="7067550" y="3609975"/>
            <a:ext cx="103188" cy="411163"/>
          </a:xfrm>
          <a:custGeom>
            <a:avLst/>
            <a:gdLst>
              <a:gd name="T0" fmla="*/ 2147483646 w 212"/>
              <a:gd name="T1" fmla="*/ 2147483646 h 839"/>
              <a:gd name="T2" fmla="*/ 2147483646 w 212"/>
              <a:gd name="T3" fmla="*/ 2147483646 h 839"/>
              <a:gd name="T4" fmla="*/ 2147483646 w 212"/>
              <a:gd name="T5" fmla="*/ 2147483646 h 839"/>
              <a:gd name="T6" fmla="*/ 2147483646 w 212"/>
              <a:gd name="T7" fmla="*/ 2147483646 h 839"/>
              <a:gd name="T8" fmla="*/ 2147483646 w 212"/>
              <a:gd name="T9" fmla="*/ 2147483646 h 839"/>
              <a:gd name="T10" fmla="*/ 2147483646 w 212"/>
              <a:gd name="T11" fmla="*/ 2147483646 h 839"/>
              <a:gd name="T12" fmla="*/ 2147483646 w 212"/>
              <a:gd name="T13" fmla="*/ 2147483646 h 839"/>
              <a:gd name="T14" fmla="*/ 2147483646 w 212"/>
              <a:gd name="T15" fmla="*/ 2147483646 h 839"/>
              <a:gd name="T16" fmla="*/ 2147483646 w 212"/>
              <a:gd name="T17" fmla="*/ 2147483646 h 839"/>
              <a:gd name="T18" fmla="*/ 2147483646 w 212"/>
              <a:gd name="T19" fmla="*/ 2147483646 h 839"/>
              <a:gd name="T20" fmla="*/ 2147483646 w 212"/>
              <a:gd name="T21" fmla="*/ 2147483646 h 839"/>
              <a:gd name="T22" fmla="*/ 2147483646 w 212"/>
              <a:gd name="T23" fmla="*/ 2147483646 h 839"/>
              <a:gd name="T24" fmla="*/ 2147483646 w 212"/>
              <a:gd name="T25" fmla="*/ 2147483646 h 839"/>
              <a:gd name="T26" fmla="*/ 2147483646 w 212"/>
              <a:gd name="T27" fmla="*/ 2147483646 h 839"/>
              <a:gd name="T28" fmla="*/ 0 w 212"/>
              <a:gd name="T29" fmla="*/ 2147483646 h 839"/>
              <a:gd name="T30" fmla="*/ 2147483646 w 212"/>
              <a:gd name="T31" fmla="*/ 2147483646 h 839"/>
              <a:gd name="T32" fmla="*/ 2147483646 w 212"/>
              <a:gd name="T33" fmla="*/ 2147483646 h 839"/>
              <a:gd name="T34" fmla="*/ 2147483646 w 212"/>
              <a:gd name="T35" fmla="*/ 0 h 839"/>
              <a:gd name="T36" fmla="*/ 2147483646 w 212"/>
              <a:gd name="T37" fmla="*/ 2147483646 h 839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212"/>
              <a:gd name="T58" fmla="*/ 0 h 839"/>
              <a:gd name="T59" fmla="*/ 212 w 212"/>
              <a:gd name="T60" fmla="*/ 839 h 839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212" h="839">
                <a:moveTo>
                  <a:pt x="212" y="6"/>
                </a:moveTo>
                <a:lnTo>
                  <a:pt x="206" y="11"/>
                </a:lnTo>
                <a:lnTo>
                  <a:pt x="192" y="33"/>
                </a:lnTo>
                <a:lnTo>
                  <a:pt x="174" y="77"/>
                </a:lnTo>
                <a:lnTo>
                  <a:pt x="156" y="148"/>
                </a:lnTo>
                <a:lnTo>
                  <a:pt x="141" y="254"/>
                </a:lnTo>
                <a:lnTo>
                  <a:pt x="133" y="401"/>
                </a:lnTo>
                <a:lnTo>
                  <a:pt x="137" y="593"/>
                </a:lnTo>
                <a:lnTo>
                  <a:pt x="158" y="839"/>
                </a:lnTo>
                <a:lnTo>
                  <a:pt x="38" y="839"/>
                </a:lnTo>
                <a:lnTo>
                  <a:pt x="34" y="814"/>
                </a:lnTo>
                <a:lnTo>
                  <a:pt x="24" y="746"/>
                </a:lnTo>
                <a:lnTo>
                  <a:pt x="12" y="645"/>
                </a:lnTo>
                <a:lnTo>
                  <a:pt x="3" y="521"/>
                </a:lnTo>
                <a:lnTo>
                  <a:pt x="0" y="384"/>
                </a:lnTo>
                <a:lnTo>
                  <a:pt x="6" y="244"/>
                </a:lnTo>
                <a:lnTo>
                  <a:pt x="29" y="114"/>
                </a:lnTo>
                <a:lnTo>
                  <a:pt x="68" y="0"/>
                </a:lnTo>
                <a:lnTo>
                  <a:pt x="212" y="6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3" name="Freeform 141">
            <a:extLst>
              <a:ext uri="{FF2B5EF4-FFF2-40B4-BE49-F238E27FC236}">
                <a16:creationId xmlns:a16="http://schemas.microsoft.com/office/drawing/2014/main" id="{A359E4CF-5DE2-4648-84CE-25C5B1981CDB}"/>
              </a:ext>
            </a:extLst>
          </p:cNvPr>
          <p:cNvSpPr>
            <a:spLocks/>
          </p:cNvSpPr>
          <p:nvPr/>
        </p:nvSpPr>
        <p:spPr bwMode="auto">
          <a:xfrm>
            <a:off x="6680200" y="3678238"/>
            <a:ext cx="66675" cy="322262"/>
          </a:xfrm>
          <a:custGeom>
            <a:avLst/>
            <a:gdLst>
              <a:gd name="T0" fmla="*/ 2147483646 w 137"/>
              <a:gd name="T1" fmla="*/ 2147483646 h 656"/>
              <a:gd name="T2" fmla="*/ 2147483646 w 137"/>
              <a:gd name="T3" fmla="*/ 2147483646 h 656"/>
              <a:gd name="T4" fmla="*/ 2147483646 w 137"/>
              <a:gd name="T5" fmla="*/ 2147483646 h 656"/>
              <a:gd name="T6" fmla="*/ 2147483646 w 137"/>
              <a:gd name="T7" fmla="*/ 2147483646 h 656"/>
              <a:gd name="T8" fmla="*/ 2147483646 w 137"/>
              <a:gd name="T9" fmla="*/ 2147483646 h 656"/>
              <a:gd name="T10" fmla="*/ 0 w 137"/>
              <a:gd name="T11" fmla="*/ 2147483646 h 656"/>
              <a:gd name="T12" fmla="*/ 2147483646 w 137"/>
              <a:gd name="T13" fmla="*/ 2147483646 h 656"/>
              <a:gd name="T14" fmla="*/ 2147483646 w 137"/>
              <a:gd name="T15" fmla="*/ 2147483646 h 656"/>
              <a:gd name="T16" fmla="*/ 2147483646 w 137"/>
              <a:gd name="T17" fmla="*/ 2147483646 h 656"/>
              <a:gd name="T18" fmla="*/ 2147483646 w 137"/>
              <a:gd name="T19" fmla="*/ 2147483646 h 656"/>
              <a:gd name="T20" fmla="*/ 2147483646 w 137"/>
              <a:gd name="T21" fmla="*/ 2147483646 h 656"/>
              <a:gd name="T22" fmla="*/ 2147483646 w 137"/>
              <a:gd name="T23" fmla="*/ 2147483646 h 656"/>
              <a:gd name="T24" fmla="*/ 2147483646 w 137"/>
              <a:gd name="T25" fmla="*/ 2147483646 h 656"/>
              <a:gd name="T26" fmla="*/ 2147483646 w 137"/>
              <a:gd name="T27" fmla="*/ 2147483646 h 656"/>
              <a:gd name="T28" fmla="*/ 2147483646 w 137"/>
              <a:gd name="T29" fmla="*/ 2147483646 h 656"/>
              <a:gd name="T30" fmla="*/ 2147483646 w 137"/>
              <a:gd name="T31" fmla="*/ 2147483646 h 656"/>
              <a:gd name="T32" fmla="*/ 2147483646 w 137"/>
              <a:gd name="T33" fmla="*/ 2147483646 h 656"/>
              <a:gd name="T34" fmla="*/ 2147483646 w 137"/>
              <a:gd name="T35" fmla="*/ 2147483646 h 656"/>
              <a:gd name="T36" fmla="*/ 2147483646 w 137"/>
              <a:gd name="T37" fmla="*/ 2147483646 h 656"/>
              <a:gd name="T38" fmla="*/ 2147483646 w 137"/>
              <a:gd name="T39" fmla="*/ 2147483646 h 656"/>
              <a:gd name="T40" fmla="*/ 2147483646 w 137"/>
              <a:gd name="T41" fmla="*/ 2147483646 h 656"/>
              <a:gd name="T42" fmla="*/ 2147483646 w 137"/>
              <a:gd name="T43" fmla="*/ 0 h 656"/>
              <a:gd name="T44" fmla="*/ 2147483646 w 137"/>
              <a:gd name="T45" fmla="*/ 0 h 656"/>
              <a:gd name="T46" fmla="*/ 2147483646 w 137"/>
              <a:gd name="T47" fmla="*/ 2147483646 h 656"/>
              <a:gd name="T48" fmla="*/ 2147483646 w 137"/>
              <a:gd name="T49" fmla="*/ 2147483646 h 656"/>
              <a:gd name="T50" fmla="*/ 2147483646 w 137"/>
              <a:gd name="T51" fmla="*/ 2147483646 h 65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w 137"/>
              <a:gd name="T79" fmla="*/ 0 h 656"/>
              <a:gd name="T80" fmla="*/ 137 w 137"/>
              <a:gd name="T81" fmla="*/ 656 h 656"/>
            </a:gdLst>
            <a:ahLst/>
            <a:cxnLst>
              <a:cxn ang="T52">
                <a:pos x="T0" y="T1"/>
              </a:cxn>
              <a:cxn ang="T53">
                <a:pos x="T2" y="T3"/>
              </a:cxn>
              <a:cxn ang="T54">
                <a:pos x="T4" y="T5"/>
              </a:cxn>
              <a:cxn ang="T55">
                <a:pos x="T6" y="T7"/>
              </a:cxn>
              <a:cxn ang="T56">
                <a:pos x="T8" y="T9"/>
              </a:cxn>
              <a:cxn ang="T57">
                <a:pos x="T10" y="T11"/>
              </a:cxn>
              <a:cxn ang="T58">
                <a:pos x="T12" y="T13"/>
              </a:cxn>
              <a:cxn ang="T59">
                <a:pos x="T14" y="T15"/>
              </a:cxn>
              <a:cxn ang="T60">
                <a:pos x="T16" y="T17"/>
              </a:cxn>
              <a:cxn ang="T61">
                <a:pos x="T18" y="T19"/>
              </a:cxn>
              <a:cxn ang="T62">
                <a:pos x="T20" y="T21"/>
              </a:cxn>
              <a:cxn ang="T63">
                <a:pos x="T22" y="T23"/>
              </a:cxn>
              <a:cxn ang="T64">
                <a:pos x="T24" y="T25"/>
              </a:cxn>
              <a:cxn ang="T65">
                <a:pos x="T26" y="T27"/>
              </a:cxn>
              <a:cxn ang="T66">
                <a:pos x="T28" y="T29"/>
              </a:cxn>
              <a:cxn ang="T67">
                <a:pos x="T30" y="T31"/>
              </a:cxn>
              <a:cxn ang="T68">
                <a:pos x="T32" y="T33"/>
              </a:cxn>
              <a:cxn ang="T69">
                <a:pos x="T34" y="T35"/>
              </a:cxn>
              <a:cxn ang="T70">
                <a:pos x="T36" y="T37"/>
              </a:cxn>
              <a:cxn ang="T71">
                <a:pos x="T38" y="T39"/>
              </a:cxn>
              <a:cxn ang="T72">
                <a:pos x="T40" y="T41"/>
              </a:cxn>
              <a:cxn ang="T73">
                <a:pos x="T42" y="T43"/>
              </a:cxn>
              <a:cxn ang="T74">
                <a:pos x="T44" y="T45"/>
              </a:cxn>
              <a:cxn ang="T75">
                <a:pos x="T46" y="T47"/>
              </a:cxn>
              <a:cxn ang="T76">
                <a:pos x="T48" y="T49"/>
              </a:cxn>
              <a:cxn ang="T77">
                <a:pos x="T50" y="T51"/>
              </a:cxn>
            </a:cxnLst>
            <a:rect l="T78" t="T79" r="T80" b="T81"/>
            <a:pathLst>
              <a:path w="137" h="656">
                <a:moveTo>
                  <a:pt x="43" y="12"/>
                </a:moveTo>
                <a:lnTo>
                  <a:pt x="39" y="25"/>
                </a:lnTo>
                <a:lnTo>
                  <a:pt x="30" y="62"/>
                </a:lnTo>
                <a:lnTo>
                  <a:pt x="19" y="122"/>
                </a:lnTo>
                <a:lnTo>
                  <a:pt x="7" y="199"/>
                </a:lnTo>
                <a:lnTo>
                  <a:pt x="0" y="294"/>
                </a:lnTo>
                <a:lnTo>
                  <a:pt x="1" y="403"/>
                </a:lnTo>
                <a:lnTo>
                  <a:pt x="12" y="524"/>
                </a:lnTo>
                <a:lnTo>
                  <a:pt x="38" y="656"/>
                </a:lnTo>
                <a:lnTo>
                  <a:pt x="132" y="650"/>
                </a:lnTo>
                <a:lnTo>
                  <a:pt x="127" y="631"/>
                </a:lnTo>
                <a:lnTo>
                  <a:pt x="119" y="578"/>
                </a:lnTo>
                <a:lnTo>
                  <a:pt x="107" y="499"/>
                </a:lnTo>
                <a:lnTo>
                  <a:pt x="97" y="403"/>
                </a:lnTo>
                <a:lnTo>
                  <a:pt x="92" y="297"/>
                </a:lnTo>
                <a:lnTo>
                  <a:pt x="94" y="192"/>
                </a:lnTo>
                <a:lnTo>
                  <a:pt x="108" y="91"/>
                </a:lnTo>
                <a:lnTo>
                  <a:pt x="137" y="7"/>
                </a:lnTo>
                <a:lnTo>
                  <a:pt x="137" y="6"/>
                </a:lnTo>
                <a:lnTo>
                  <a:pt x="137" y="4"/>
                </a:lnTo>
                <a:lnTo>
                  <a:pt x="135" y="2"/>
                </a:lnTo>
                <a:lnTo>
                  <a:pt x="129" y="0"/>
                </a:lnTo>
                <a:lnTo>
                  <a:pt x="119" y="0"/>
                </a:lnTo>
                <a:lnTo>
                  <a:pt x="101" y="1"/>
                </a:lnTo>
                <a:lnTo>
                  <a:pt x="77" y="5"/>
                </a:lnTo>
                <a:lnTo>
                  <a:pt x="43" y="12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4" name="Freeform 142">
            <a:extLst>
              <a:ext uri="{FF2B5EF4-FFF2-40B4-BE49-F238E27FC236}">
                <a16:creationId xmlns:a16="http://schemas.microsoft.com/office/drawing/2014/main" id="{81000342-D50B-4F1B-9C0D-25391567623D}"/>
              </a:ext>
            </a:extLst>
          </p:cNvPr>
          <p:cNvSpPr>
            <a:spLocks/>
          </p:cNvSpPr>
          <p:nvPr/>
        </p:nvSpPr>
        <p:spPr bwMode="auto">
          <a:xfrm>
            <a:off x="6683375" y="3700463"/>
            <a:ext cx="55563" cy="273050"/>
          </a:xfrm>
          <a:custGeom>
            <a:avLst/>
            <a:gdLst>
              <a:gd name="T0" fmla="*/ 2147483646 w 116"/>
              <a:gd name="T1" fmla="*/ 2147483646 h 560"/>
              <a:gd name="T2" fmla="*/ 2147483646 w 116"/>
              <a:gd name="T3" fmla="*/ 2147483646 h 560"/>
              <a:gd name="T4" fmla="*/ 2147483646 w 116"/>
              <a:gd name="T5" fmla="*/ 2147483646 h 560"/>
              <a:gd name="T6" fmla="*/ 2147483646 w 116"/>
              <a:gd name="T7" fmla="*/ 2147483646 h 560"/>
              <a:gd name="T8" fmla="*/ 2147483646 w 116"/>
              <a:gd name="T9" fmla="*/ 2147483646 h 560"/>
              <a:gd name="T10" fmla="*/ 0 w 116"/>
              <a:gd name="T11" fmla="*/ 2147483646 h 560"/>
              <a:gd name="T12" fmla="*/ 2147483646 w 116"/>
              <a:gd name="T13" fmla="*/ 2147483646 h 560"/>
              <a:gd name="T14" fmla="*/ 2147483646 w 116"/>
              <a:gd name="T15" fmla="*/ 2147483646 h 560"/>
              <a:gd name="T16" fmla="*/ 2147483646 w 116"/>
              <a:gd name="T17" fmla="*/ 2147483646 h 560"/>
              <a:gd name="T18" fmla="*/ 2147483646 w 116"/>
              <a:gd name="T19" fmla="*/ 2147483646 h 560"/>
              <a:gd name="T20" fmla="*/ 2147483646 w 116"/>
              <a:gd name="T21" fmla="*/ 2147483646 h 560"/>
              <a:gd name="T22" fmla="*/ 2147483646 w 116"/>
              <a:gd name="T23" fmla="*/ 2147483646 h 560"/>
              <a:gd name="T24" fmla="*/ 2147483646 w 116"/>
              <a:gd name="T25" fmla="*/ 2147483646 h 560"/>
              <a:gd name="T26" fmla="*/ 2147483646 w 116"/>
              <a:gd name="T27" fmla="*/ 2147483646 h 560"/>
              <a:gd name="T28" fmla="*/ 2147483646 w 116"/>
              <a:gd name="T29" fmla="*/ 2147483646 h 560"/>
              <a:gd name="T30" fmla="*/ 2147483646 w 116"/>
              <a:gd name="T31" fmla="*/ 2147483646 h 560"/>
              <a:gd name="T32" fmla="*/ 2147483646 w 116"/>
              <a:gd name="T33" fmla="*/ 2147483646 h 560"/>
              <a:gd name="T34" fmla="*/ 2147483646 w 116"/>
              <a:gd name="T35" fmla="*/ 2147483646 h 560"/>
              <a:gd name="T36" fmla="*/ 2147483646 w 116"/>
              <a:gd name="T37" fmla="*/ 2147483646 h 560"/>
              <a:gd name="T38" fmla="*/ 2147483646 w 116"/>
              <a:gd name="T39" fmla="*/ 2147483646 h 560"/>
              <a:gd name="T40" fmla="*/ 2147483646 w 116"/>
              <a:gd name="T41" fmla="*/ 2147483646 h 560"/>
              <a:gd name="T42" fmla="*/ 2147483646 w 116"/>
              <a:gd name="T43" fmla="*/ 0 h 560"/>
              <a:gd name="T44" fmla="*/ 2147483646 w 116"/>
              <a:gd name="T45" fmla="*/ 0 h 560"/>
              <a:gd name="T46" fmla="*/ 2147483646 w 116"/>
              <a:gd name="T47" fmla="*/ 2147483646 h 560"/>
              <a:gd name="T48" fmla="*/ 2147483646 w 116"/>
              <a:gd name="T49" fmla="*/ 2147483646 h 560"/>
              <a:gd name="T50" fmla="*/ 2147483646 w 116"/>
              <a:gd name="T51" fmla="*/ 2147483646 h 560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w 116"/>
              <a:gd name="T79" fmla="*/ 0 h 560"/>
              <a:gd name="T80" fmla="*/ 116 w 116"/>
              <a:gd name="T81" fmla="*/ 560 h 560"/>
            </a:gdLst>
            <a:ahLst/>
            <a:cxnLst>
              <a:cxn ang="T52">
                <a:pos x="T0" y="T1"/>
              </a:cxn>
              <a:cxn ang="T53">
                <a:pos x="T2" y="T3"/>
              </a:cxn>
              <a:cxn ang="T54">
                <a:pos x="T4" y="T5"/>
              </a:cxn>
              <a:cxn ang="T55">
                <a:pos x="T6" y="T7"/>
              </a:cxn>
              <a:cxn ang="T56">
                <a:pos x="T8" y="T9"/>
              </a:cxn>
              <a:cxn ang="T57">
                <a:pos x="T10" y="T11"/>
              </a:cxn>
              <a:cxn ang="T58">
                <a:pos x="T12" y="T13"/>
              </a:cxn>
              <a:cxn ang="T59">
                <a:pos x="T14" y="T15"/>
              </a:cxn>
              <a:cxn ang="T60">
                <a:pos x="T16" y="T17"/>
              </a:cxn>
              <a:cxn ang="T61">
                <a:pos x="T18" y="T19"/>
              </a:cxn>
              <a:cxn ang="T62">
                <a:pos x="T20" y="T21"/>
              </a:cxn>
              <a:cxn ang="T63">
                <a:pos x="T22" y="T23"/>
              </a:cxn>
              <a:cxn ang="T64">
                <a:pos x="T24" y="T25"/>
              </a:cxn>
              <a:cxn ang="T65">
                <a:pos x="T26" y="T27"/>
              </a:cxn>
              <a:cxn ang="T66">
                <a:pos x="T28" y="T29"/>
              </a:cxn>
              <a:cxn ang="T67">
                <a:pos x="T30" y="T31"/>
              </a:cxn>
              <a:cxn ang="T68">
                <a:pos x="T32" y="T33"/>
              </a:cxn>
              <a:cxn ang="T69">
                <a:pos x="T34" y="T35"/>
              </a:cxn>
              <a:cxn ang="T70">
                <a:pos x="T36" y="T37"/>
              </a:cxn>
              <a:cxn ang="T71">
                <a:pos x="T38" y="T39"/>
              </a:cxn>
              <a:cxn ang="T72">
                <a:pos x="T40" y="T41"/>
              </a:cxn>
              <a:cxn ang="T73">
                <a:pos x="T42" y="T43"/>
              </a:cxn>
              <a:cxn ang="T74">
                <a:pos x="T44" y="T45"/>
              </a:cxn>
              <a:cxn ang="T75">
                <a:pos x="T46" y="T47"/>
              </a:cxn>
              <a:cxn ang="T76">
                <a:pos x="T48" y="T49"/>
              </a:cxn>
              <a:cxn ang="T77">
                <a:pos x="T50" y="T51"/>
              </a:cxn>
            </a:cxnLst>
            <a:rect l="T78" t="T79" r="T80" b="T81"/>
            <a:pathLst>
              <a:path w="116" h="560">
                <a:moveTo>
                  <a:pt x="36" y="11"/>
                </a:moveTo>
                <a:lnTo>
                  <a:pt x="33" y="21"/>
                </a:lnTo>
                <a:lnTo>
                  <a:pt x="24" y="53"/>
                </a:lnTo>
                <a:lnTo>
                  <a:pt x="15" y="103"/>
                </a:lnTo>
                <a:lnTo>
                  <a:pt x="5" y="169"/>
                </a:lnTo>
                <a:lnTo>
                  <a:pt x="0" y="250"/>
                </a:lnTo>
                <a:lnTo>
                  <a:pt x="1" y="344"/>
                </a:lnTo>
                <a:lnTo>
                  <a:pt x="10" y="448"/>
                </a:lnTo>
                <a:lnTo>
                  <a:pt x="32" y="560"/>
                </a:lnTo>
                <a:lnTo>
                  <a:pt x="112" y="555"/>
                </a:lnTo>
                <a:lnTo>
                  <a:pt x="108" y="538"/>
                </a:lnTo>
                <a:lnTo>
                  <a:pt x="101" y="493"/>
                </a:lnTo>
                <a:lnTo>
                  <a:pt x="91" y="426"/>
                </a:lnTo>
                <a:lnTo>
                  <a:pt x="82" y="344"/>
                </a:lnTo>
                <a:lnTo>
                  <a:pt x="77" y="255"/>
                </a:lnTo>
                <a:lnTo>
                  <a:pt x="79" y="164"/>
                </a:lnTo>
                <a:lnTo>
                  <a:pt x="91" y="79"/>
                </a:lnTo>
                <a:lnTo>
                  <a:pt x="116" y="6"/>
                </a:lnTo>
                <a:lnTo>
                  <a:pt x="116" y="5"/>
                </a:lnTo>
                <a:lnTo>
                  <a:pt x="116" y="4"/>
                </a:lnTo>
                <a:lnTo>
                  <a:pt x="114" y="2"/>
                </a:lnTo>
                <a:lnTo>
                  <a:pt x="109" y="0"/>
                </a:lnTo>
                <a:lnTo>
                  <a:pt x="100" y="0"/>
                </a:lnTo>
                <a:lnTo>
                  <a:pt x="86" y="1"/>
                </a:lnTo>
                <a:lnTo>
                  <a:pt x="65" y="4"/>
                </a:lnTo>
                <a:lnTo>
                  <a:pt x="36" y="11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5" name="Freeform 143">
            <a:extLst>
              <a:ext uri="{FF2B5EF4-FFF2-40B4-BE49-F238E27FC236}">
                <a16:creationId xmlns:a16="http://schemas.microsoft.com/office/drawing/2014/main" id="{DCBE33C4-81ED-44A1-89EB-95FD329FBB36}"/>
              </a:ext>
            </a:extLst>
          </p:cNvPr>
          <p:cNvSpPr>
            <a:spLocks/>
          </p:cNvSpPr>
          <p:nvPr/>
        </p:nvSpPr>
        <p:spPr bwMode="auto">
          <a:xfrm>
            <a:off x="6684963" y="3721100"/>
            <a:ext cx="47625" cy="227013"/>
          </a:xfrm>
          <a:custGeom>
            <a:avLst/>
            <a:gdLst>
              <a:gd name="T0" fmla="*/ 2147483646 w 97"/>
              <a:gd name="T1" fmla="*/ 2147483646 h 463"/>
              <a:gd name="T2" fmla="*/ 2147483646 w 97"/>
              <a:gd name="T3" fmla="*/ 2147483646 h 463"/>
              <a:gd name="T4" fmla="*/ 2147483646 w 97"/>
              <a:gd name="T5" fmla="*/ 2147483646 h 463"/>
              <a:gd name="T6" fmla="*/ 2147483646 w 97"/>
              <a:gd name="T7" fmla="*/ 2147483646 h 463"/>
              <a:gd name="T8" fmla="*/ 2147483646 w 97"/>
              <a:gd name="T9" fmla="*/ 2147483646 h 463"/>
              <a:gd name="T10" fmla="*/ 0 w 97"/>
              <a:gd name="T11" fmla="*/ 2147483646 h 463"/>
              <a:gd name="T12" fmla="*/ 0 w 97"/>
              <a:gd name="T13" fmla="*/ 2147483646 h 463"/>
              <a:gd name="T14" fmla="*/ 2147483646 w 97"/>
              <a:gd name="T15" fmla="*/ 2147483646 h 463"/>
              <a:gd name="T16" fmla="*/ 2147483646 w 97"/>
              <a:gd name="T17" fmla="*/ 2147483646 h 463"/>
              <a:gd name="T18" fmla="*/ 2147483646 w 97"/>
              <a:gd name="T19" fmla="*/ 2147483646 h 463"/>
              <a:gd name="T20" fmla="*/ 2147483646 w 97"/>
              <a:gd name="T21" fmla="*/ 2147483646 h 463"/>
              <a:gd name="T22" fmla="*/ 2147483646 w 97"/>
              <a:gd name="T23" fmla="*/ 2147483646 h 463"/>
              <a:gd name="T24" fmla="*/ 2147483646 w 97"/>
              <a:gd name="T25" fmla="*/ 2147483646 h 463"/>
              <a:gd name="T26" fmla="*/ 2147483646 w 97"/>
              <a:gd name="T27" fmla="*/ 2147483646 h 463"/>
              <a:gd name="T28" fmla="*/ 2147483646 w 97"/>
              <a:gd name="T29" fmla="*/ 2147483646 h 463"/>
              <a:gd name="T30" fmla="*/ 2147483646 w 97"/>
              <a:gd name="T31" fmla="*/ 2147483646 h 463"/>
              <a:gd name="T32" fmla="*/ 2147483646 w 97"/>
              <a:gd name="T33" fmla="*/ 2147483646 h 463"/>
              <a:gd name="T34" fmla="*/ 2147483646 w 97"/>
              <a:gd name="T35" fmla="*/ 2147483646 h 463"/>
              <a:gd name="T36" fmla="*/ 2147483646 w 97"/>
              <a:gd name="T37" fmla="*/ 2147483646 h 463"/>
              <a:gd name="T38" fmla="*/ 2147483646 w 97"/>
              <a:gd name="T39" fmla="*/ 2147483646 h 463"/>
              <a:gd name="T40" fmla="*/ 2147483646 w 97"/>
              <a:gd name="T41" fmla="*/ 2147483646 h 463"/>
              <a:gd name="T42" fmla="*/ 2147483646 w 97"/>
              <a:gd name="T43" fmla="*/ 0 h 463"/>
              <a:gd name="T44" fmla="*/ 2147483646 w 97"/>
              <a:gd name="T45" fmla="*/ 0 h 463"/>
              <a:gd name="T46" fmla="*/ 2147483646 w 97"/>
              <a:gd name="T47" fmla="*/ 0 h 463"/>
              <a:gd name="T48" fmla="*/ 2147483646 w 97"/>
              <a:gd name="T49" fmla="*/ 2147483646 h 463"/>
              <a:gd name="T50" fmla="*/ 2147483646 w 97"/>
              <a:gd name="T51" fmla="*/ 2147483646 h 463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w 97"/>
              <a:gd name="T79" fmla="*/ 0 h 463"/>
              <a:gd name="T80" fmla="*/ 97 w 97"/>
              <a:gd name="T81" fmla="*/ 463 h 463"/>
            </a:gdLst>
            <a:ahLst/>
            <a:cxnLst>
              <a:cxn ang="T52">
                <a:pos x="T0" y="T1"/>
              </a:cxn>
              <a:cxn ang="T53">
                <a:pos x="T2" y="T3"/>
              </a:cxn>
              <a:cxn ang="T54">
                <a:pos x="T4" y="T5"/>
              </a:cxn>
              <a:cxn ang="T55">
                <a:pos x="T6" y="T7"/>
              </a:cxn>
              <a:cxn ang="T56">
                <a:pos x="T8" y="T9"/>
              </a:cxn>
              <a:cxn ang="T57">
                <a:pos x="T10" y="T11"/>
              </a:cxn>
              <a:cxn ang="T58">
                <a:pos x="T12" y="T13"/>
              </a:cxn>
              <a:cxn ang="T59">
                <a:pos x="T14" y="T15"/>
              </a:cxn>
              <a:cxn ang="T60">
                <a:pos x="T16" y="T17"/>
              </a:cxn>
              <a:cxn ang="T61">
                <a:pos x="T18" y="T19"/>
              </a:cxn>
              <a:cxn ang="T62">
                <a:pos x="T20" y="T21"/>
              </a:cxn>
              <a:cxn ang="T63">
                <a:pos x="T22" y="T23"/>
              </a:cxn>
              <a:cxn ang="T64">
                <a:pos x="T24" y="T25"/>
              </a:cxn>
              <a:cxn ang="T65">
                <a:pos x="T26" y="T27"/>
              </a:cxn>
              <a:cxn ang="T66">
                <a:pos x="T28" y="T29"/>
              </a:cxn>
              <a:cxn ang="T67">
                <a:pos x="T30" y="T31"/>
              </a:cxn>
              <a:cxn ang="T68">
                <a:pos x="T32" y="T33"/>
              </a:cxn>
              <a:cxn ang="T69">
                <a:pos x="T34" y="T35"/>
              </a:cxn>
              <a:cxn ang="T70">
                <a:pos x="T36" y="T37"/>
              </a:cxn>
              <a:cxn ang="T71">
                <a:pos x="T38" y="T39"/>
              </a:cxn>
              <a:cxn ang="T72">
                <a:pos x="T40" y="T41"/>
              </a:cxn>
              <a:cxn ang="T73">
                <a:pos x="T42" y="T43"/>
              </a:cxn>
              <a:cxn ang="T74">
                <a:pos x="T44" y="T45"/>
              </a:cxn>
              <a:cxn ang="T75">
                <a:pos x="T46" y="T47"/>
              </a:cxn>
              <a:cxn ang="T76">
                <a:pos x="T48" y="T49"/>
              </a:cxn>
              <a:cxn ang="T77">
                <a:pos x="T50" y="T51"/>
              </a:cxn>
            </a:cxnLst>
            <a:rect l="T78" t="T79" r="T80" b="T81"/>
            <a:pathLst>
              <a:path w="97" h="463">
                <a:moveTo>
                  <a:pt x="30" y="9"/>
                </a:moveTo>
                <a:lnTo>
                  <a:pt x="27" y="17"/>
                </a:lnTo>
                <a:lnTo>
                  <a:pt x="20" y="44"/>
                </a:lnTo>
                <a:lnTo>
                  <a:pt x="12" y="85"/>
                </a:lnTo>
                <a:lnTo>
                  <a:pt x="4" y="140"/>
                </a:lnTo>
                <a:lnTo>
                  <a:pt x="0" y="207"/>
                </a:lnTo>
                <a:lnTo>
                  <a:pt x="0" y="285"/>
                </a:lnTo>
                <a:lnTo>
                  <a:pt x="9" y="370"/>
                </a:lnTo>
                <a:lnTo>
                  <a:pt x="26" y="463"/>
                </a:lnTo>
                <a:lnTo>
                  <a:pt x="93" y="460"/>
                </a:lnTo>
                <a:lnTo>
                  <a:pt x="89" y="446"/>
                </a:lnTo>
                <a:lnTo>
                  <a:pt x="83" y="408"/>
                </a:lnTo>
                <a:lnTo>
                  <a:pt x="75" y="353"/>
                </a:lnTo>
                <a:lnTo>
                  <a:pt x="68" y="285"/>
                </a:lnTo>
                <a:lnTo>
                  <a:pt x="65" y="211"/>
                </a:lnTo>
                <a:lnTo>
                  <a:pt x="67" y="136"/>
                </a:lnTo>
                <a:lnTo>
                  <a:pt x="76" y="65"/>
                </a:lnTo>
                <a:lnTo>
                  <a:pt x="97" y="5"/>
                </a:lnTo>
                <a:lnTo>
                  <a:pt x="97" y="4"/>
                </a:lnTo>
                <a:lnTo>
                  <a:pt x="97" y="3"/>
                </a:lnTo>
                <a:lnTo>
                  <a:pt x="95" y="1"/>
                </a:lnTo>
                <a:lnTo>
                  <a:pt x="91" y="0"/>
                </a:lnTo>
                <a:lnTo>
                  <a:pt x="84" y="0"/>
                </a:lnTo>
                <a:lnTo>
                  <a:pt x="71" y="0"/>
                </a:lnTo>
                <a:lnTo>
                  <a:pt x="54" y="3"/>
                </a:lnTo>
                <a:lnTo>
                  <a:pt x="30" y="9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6" name="Freeform 144">
            <a:extLst>
              <a:ext uri="{FF2B5EF4-FFF2-40B4-BE49-F238E27FC236}">
                <a16:creationId xmlns:a16="http://schemas.microsoft.com/office/drawing/2014/main" id="{A579281B-10DA-40A4-97CF-67E0024D7CC9}"/>
              </a:ext>
            </a:extLst>
          </p:cNvPr>
          <p:cNvSpPr>
            <a:spLocks/>
          </p:cNvSpPr>
          <p:nvPr/>
        </p:nvSpPr>
        <p:spPr bwMode="auto">
          <a:xfrm>
            <a:off x="6688138" y="3743325"/>
            <a:ext cx="36512" cy="179388"/>
          </a:xfrm>
          <a:custGeom>
            <a:avLst/>
            <a:gdLst>
              <a:gd name="T0" fmla="*/ 2147483646 w 77"/>
              <a:gd name="T1" fmla="*/ 2147483646 h 367"/>
              <a:gd name="T2" fmla="*/ 2147483646 w 77"/>
              <a:gd name="T3" fmla="*/ 2147483646 h 367"/>
              <a:gd name="T4" fmla="*/ 2147483646 w 77"/>
              <a:gd name="T5" fmla="*/ 2147483646 h 367"/>
              <a:gd name="T6" fmla="*/ 2147483646 w 77"/>
              <a:gd name="T7" fmla="*/ 2147483646 h 367"/>
              <a:gd name="T8" fmla="*/ 2147483646 w 77"/>
              <a:gd name="T9" fmla="*/ 2147483646 h 367"/>
              <a:gd name="T10" fmla="*/ 0 w 77"/>
              <a:gd name="T11" fmla="*/ 2147483646 h 367"/>
              <a:gd name="T12" fmla="*/ 0 w 77"/>
              <a:gd name="T13" fmla="*/ 2147483646 h 367"/>
              <a:gd name="T14" fmla="*/ 2147483646 w 77"/>
              <a:gd name="T15" fmla="*/ 2147483646 h 367"/>
              <a:gd name="T16" fmla="*/ 2147483646 w 77"/>
              <a:gd name="T17" fmla="*/ 2147483646 h 367"/>
              <a:gd name="T18" fmla="*/ 2147483646 w 77"/>
              <a:gd name="T19" fmla="*/ 2147483646 h 367"/>
              <a:gd name="T20" fmla="*/ 2147483646 w 77"/>
              <a:gd name="T21" fmla="*/ 2147483646 h 367"/>
              <a:gd name="T22" fmla="*/ 2147483646 w 77"/>
              <a:gd name="T23" fmla="*/ 2147483646 h 367"/>
              <a:gd name="T24" fmla="*/ 2147483646 w 77"/>
              <a:gd name="T25" fmla="*/ 2147483646 h 367"/>
              <a:gd name="T26" fmla="*/ 2147483646 w 77"/>
              <a:gd name="T27" fmla="*/ 2147483646 h 367"/>
              <a:gd name="T28" fmla="*/ 2147483646 w 77"/>
              <a:gd name="T29" fmla="*/ 2147483646 h 367"/>
              <a:gd name="T30" fmla="*/ 2147483646 w 77"/>
              <a:gd name="T31" fmla="*/ 2147483646 h 367"/>
              <a:gd name="T32" fmla="*/ 2147483646 w 77"/>
              <a:gd name="T33" fmla="*/ 2147483646 h 367"/>
              <a:gd name="T34" fmla="*/ 2147483646 w 77"/>
              <a:gd name="T35" fmla="*/ 2147483646 h 367"/>
              <a:gd name="T36" fmla="*/ 2147483646 w 77"/>
              <a:gd name="T37" fmla="*/ 2147483646 h 367"/>
              <a:gd name="T38" fmla="*/ 2147483646 w 77"/>
              <a:gd name="T39" fmla="*/ 2147483646 h 367"/>
              <a:gd name="T40" fmla="*/ 2147483646 w 77"/>
              <a:gd name="T41" fmla="*/ 2147483646 h 367"/>
              <a:gd name="T42" fmla="*/ 2147483646 w 77"/>
              <a:gd name="T43" fmla="*/ 0 h 367"/>
              <a:gd name="T44" fmla="*/ 2147483646 w 77"/>
              <a:gd name="T45" fmla="*/ 0 h 367"/>
              <a:gd name="T46" fmla="*/ 2147483646 w 77"/>
              <a:gd name="T47" fmla="*/ 2147483646 h 367"/>
              <a:gd name="T48" fmla="*/ 2147483646 w 77"/>
              <a:gd name="T49" fmla="*/ 2147483646 h 367"/>
              <a:gd name="T50" fmla="*/ 2147483646 w 77"/>
              <a:gd name="T51" fmla="*/ 2147483646 h 367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w 77"/>
              <a:gd name="T79" fmla="*/ 0 h 367"/>
              <a:gd name="T80" fmla="*/ 77 w 77"/>
              <a:gd name="T81" fmla="*/ 367 h 367"/>
            </a:gdLst>
            <a:ahLst/>
            <a:cxnLst>
              <a:cxn ang="T52">
                <a:pos x="T0" y="T1"/>
              </a:cxn>
              <a:cxn ang="T53">
                <a:pos x="T2" y="T3"/>
              </a:cxn>
              <a:cxn ang="T54">
                <a:pos x="T4" y="T5"/>
              </a:cxn>
              <a:cxn ang="T55">
                <a:pos x="T6" y="T7"/>
              </a:cxn>
              <a:cxn ang="T56">
                <a:pos x="T8" y="T9"/>
              </a:cxn>
              <a:cxn ang="T57">
                <a:pos x="T10" y="T11"/>
              </a:cxn>
              <a:cxn ang="T58">
                <a:pos x="T12" y="T13"/>
              </a:cxn>
              <a:cxn ang="T59">
                <a:pos x="T14" y="T15"/>
              </a:cxn>
              <a:cxn ang="T60">
                <a:pos x="T16" y="T17"/>
              </a:cxn>
              <a:cxn ang="T61">
                <a:pos x="T18" y="T19"/>
              </a:cxn>
              <a:cxn ang="T62">
                <a:pos x="T20" y="T21"/>
              </a:cxn>
              <a:cxn ang="T63">
                <a:pos x="T22" y="T23"/>
              </a:cxn>
              <a:cxn ang="T64">
                <a:pos x="T24" y="T25"/>
              </a:cxn>
              <a:cxn ang="T65">
                <a:pos x="T26" y="T27"/>
              </a:cxn>
              <a:cxn ang="T66">
                <a:pos x="T28" y="T29"/>
              </a:cxn>
              <a:cxn ang="T67">
                <a:pos x="T30" y="T31"/>
              </a:cxn>
              <a:cxn ang="T68">
                <a:pos x="T32" y="T33"/>
              </a:cxn>
              <a:cxn ang="T69">
                <a:pos x="T34" y="T35"/>
              </a:cxn>
              <a:cxn ang="T70">
                <a:pos x="T36" y="T37"/>
              </a:cxn>
              <a:cxn ang="T71">
                <a:pos x="T38" y="T39"/>
              </a:cxn>
              <a:cxn ang="T72">
                <a:pos x="T40" y="T41"/>
              </a:cxn>
              <a:cxn ang="T73">
                <a:pos x="T42" y="T43"/>
              </a:cxn>
              <a:cxn ang="T74">
                <a:pos x="T44" y="T45"/>
              </a:cxn>
              <a:cxn ang="T75">
                <a:pos x="T46" y="T47"/>
              </a:cxn>
              <a:cxn ang="T76">
                <a:pos x="T48" y="T49"/>
              </a:cxn>
              <a:cxn ang="T77">
                <a:pos x="T50" y="T51"/>
              </a:cxn>
            </a:cxnLst>
            <a:rect l="T78" t="T79" r="T80" b="T81"/>
            <a:pathLst>
              <a:path w="77" h="367">
                <a:moveTo>
                  <a:pt x="24" y="8"/>
                </a:moveTo>
                <a:lnTo>
                  <a:pt x="22" y="15"/>
                </a:lnTo>
                <a:lnTo>
                  <a:pt x="17" y="36"/>
                </a:lnTo>
                <a:lnTo>
                  <a:pt x="10" y="68"/>
                </a:lnTo>
                <a:lnTo>
                  <a:pt x="4" y="112"/>
                </a:lnTo>
                <a:lnTo>
                  <a:pt x="0" y="164"/>
                </a:lnTo>
                <a:lnTo>
                  <a:pt x="0" y="226"/>
                </a:lnTo>
                <a:lnTo>
                  <a:pt x="7" y="294"/>
                </a:lnTo>
                <a:lnTo>
                  <a:pt x="21" y="367"/>
                </a:lnTo>
                <a:lnTo>
                  <a:pt x="74" y="364"/>
                </a:lnTo>
                <a:lnTo>
                  <a:pt x="71" y="353"/>
                </a:lnTo>
                <a:lnTo>
                  <a:pt x="66" y="323"/>
                </a:lnTo>
                <a:lnTo>
                  <a:pt x="60" y="280"/>
                </a:lnTo>
                <a:lnTo>
                  <a:pt x="54" y="226"/>
                </a:lnTo>
                <a:lnTo>
                  <a:pt x="51" y="168"/>
                </a:lnTo>
                <a:lnTo>
                  <a:pt x="53" y="107"/>
                </a:lnTo>
                <a:lnTo>
                  <a:pt x="61" y="52"/>
                </a:lnTo>
                <a:lnTo>
                  <a:pt x="77" y="5"/>
                </a:lnTo>
                <a:lnTo>
                  <a:pt x="77" y="2"/>
                </a:lnTo>
                <a:lnTo>
                  <a:pt x="76" y="1"/>
                </a:lnTo>
                <a:lnTo>
                  <a:pt x="72" y="0"/>
                </a:lnTo>
                <a:lnTo>
                  <a:pt x="66" y="0"/>
                </a:lnTo>
                <a:lnTo>
                  <a:pt x="56" y="1"/>
                </a:lnTo>
                <a:lnTo>
                  <a:pt x="43" y="4"/>
                </a:lnTo>
                <a:lnTo>
                  <a:pt x="24" y="8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7" name="Freeform 145">
            <a:extLst>
              <a:ext uri="{FF2B5EF4-FFF2-40B4-BE49-F238E27FC236}">
                <a16:creationId xmlns:a16="http://schemas.microsoft.com/office/drawing/2014/main" id="{EC9F155C-2E72-4A0D-9395-0BEB4DB56088}"/>
              </a:ext>
            </a:extLst>
          </p:cNvPr>
          <p:cNvSpPr>
            <a:spLocks/>
          </p:cNvSpPr>
          <p:nvPr/>
        </p:nvSpPr>
        <p:spPr bwMode="auto">
          <a:xfrm>
            <a:off x="6691313" y="3765550"/>
            <a:ext cx="26987" cy="131763"/>
          </a:xfrm>
          <a:custGeom>
            <a:avLst/>
            <a:gdLst>
              <a:gd name="T0" fmla="*/ 2147483646 w 56"/>
              <a:gd name="T1" fmla="*/ 2147483646 h 271"/>
              <a:gd name="T2" fmla="*/ 2147483646 w 56"/>
              <a:gd name="T3" fmla="*/ 2147483646 h 271"/>
              <a:gd name="T4" fmla="*/ 2147483646 w 56"/>
              <a:gd name="T5" fmla="*/ 2147483646 h 271"/>
              <a:gd name="T6" fmla="*/ 2147483646 w 56"/>
              <a:gd name="T7" fmla="*/ 2147483646 h 271"/>
              <a:gd name="T8" fmla="*/ 2147483646 w 56"/>
              <a:gd name="T9" fmla="*/ 2147483646 h 271"/>
              <a:gd name="T10" fmla="*/ 0 w 56"/>
              <a:gd name="T11" fmla="*/ 2147483646 h 271"/>
              <a:gd name="T12" fmla="*/ 0 w 56"/>
              <a:gd name="T13" fmla="*/ 2147483646 h 271"/>
              <a:gd name="T14" fmla="*/ 2147483646 w 56"/>
              <a:gd name="T15" fmla="*/ 2147483646 h 271"/>
              <a:gd name="T16" fmla="*/ 2147483646 w 56"/>
              <a:gd name="T17" fmla="*/ 2147483646 h 271"/>
              <a:gd name="T18" fmla="*/ 2147483646 w 56"/>
              <a:gd name="T19" fmla="*/ 2147483646 h 271"/>
              <a:gd name="T20" fmla="*/ 2147483646 w 56"/>
              <a:gd name="T21" fmla="*/ 2147483646 h 271"/>
              <a:gd name="T22" fmla="*/ 2147483646 w 56"/>
              <a:gd name="T23" fmla="*/ 2147483646 h 271"/>
              <a:gd name="T24" fmla="*/ 2147483646 w 56"/>
              <a:gd name="T25" fmla="*/ 2147483646 h 271"/>
              <a:gd name="T26" fmla="*/ 2147483646 w 56"/>
              <a:gd name="T27" fmla="*/ 2147483646 h 271"/>
              <a:gd name="T28" fmla="*/ 2147483646 w 56"/>
              <a:gd name="T29" fmla="*/ 2147483646 h 271"/>
              <a:gd name="T30" fmla="*/ 2147483646 w 56"/>
              <a:gd name="T31" fmla="*/ 2147483646 h 271"/>
              <a:gd name="T32" fmla="*/ 2147483646 w 56"/>
              <a:gd name="T33" fmla="*/ 2147483646 h 271"/>
              <a:gd name="T34" fmla="*/ 2147483646 w 56"/>
              <a:gd name="T35" fmla="*/ 2147483646 h 271"/>
              <a:gd name="T36" fmla="*/ 2147483646 w 56"/>
              <a:gd name="T37" fmla="*/ 2147483646 h 271"/>
              <a:gd name="T38" fmla="*/ 2147483646 w 56"/>
              <a:gd name="T39" fmla="*/ 2147483646 h 271"/>
              <a:gd name="T40" fmla="*/ 2147483646 w 56"/>
              <a:gd name="T41" fmla="*/ 2147483646 h 271"/>
              <a:gd name="T42" fmla="*/ 2147483646 w 56"/>
              <a:gd name="T43" fmla="*/ 0 h 271"/>
              <a:gd name="T44" fmla="*/ 2147483646 w 56"/>
              <a:gd name="T45" fmla="*/ 0 h 271"/>
              <a:gd name="T46" fmla="*/ 2147483646 w 56"/>
              <a:gd name="T47" fmla="*/ 0 h 271"/>
              <a:gd name="T48" fmla="*/ 2147483646 w 56"/>
              <a:gd name="T49" fmla="*/ 2147483646 h 271"/>
              <a:gd name="T50" fmla="*/ 2147483646 w 56"/>
              <a:gd name="T51" fmla="*/ 2147483646 h 271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w 56"/>
              <a:gd name="T79" fmla="*/ 0 h 271"/>
              <a:gd name="T80" fmla="*/ 56 w 56"/>
              <a:gd name="T81" fmla="*/ 271 h 271"/>
            </a:gdLst>
            <a:ahLst/>
            <a:cxnLst>
              <a:cxn ang="T52">
                <a:pos x="T0" y="T1"/>
              </a:cxn>
              <a:cxn ang="T53">
                <a:pos x="T2" y="T3"/>
              </a:cxn>
              <a:cxn ang="T54">
                <a:pos x="T4" y="T5"/>
              </a:cxn>
              <a:cxn ang="T55">
                <a:pos x="T6" y="T7"/>
              </a:cxn>
              <a:cxn ang="T56">
                <a:pos x="T8" y="T9"/>
              </a:cxn>
              <a:cxn ang="T57">
                <a:pos x="T10" y="T11"/>
              </a:cxn>
              <a:cxn ang="T58">
                <a:pos x="T12" y="T13"/>
              </a:cxn>
              <a:cxn ang="T59">
                <a:pos x="T14" y="T15"/>
              </a:cxn>
              <a:cxn ang="T60">
                <a:pos x="T16" y="T17"/>
              </a:cxn>
              <a:cxn ang="T61">
                <a:pos x="T18" y="T19"/>
              </a:cxn>
              <a:cxn ang="T62">
                <a:pos x="T20" y="T21"/>
              </a:cxn>
              <a:cxn ang="T63">
                <a:pos x="T22" y="T23"/>
              </a:cxn>
              <a:cxn ang="T64">
                <a:pos x="T24" y="T25"/>
              </a:cxn>
              <a:cxn ang="T65">
                <a:pos x="T26" y="T27"/>
              </a:cxn>
              <a:cxn ang="T66">
                <a:pos x="T28" y="T29"/>
              </a:cxn>
              <a:cxn ang="T67">
                <a:pos x="T30" y="T31"/>
              </a:cxn>
              <a:cxn ang="T68">
                <a:pos x="T32" y="T33"/>
              </a:cxn>
              <a:cxn ang="T69">
                <a:pos x="T34" y="T35"/>
              </a:cxn>
              <a:cxn ang="T70">
                <a:pos x="T36" y="T37"/>
              </a:cxn>
              <a:cxn ang="T71">
                <a:pos x="T38" y="T39"/>
              </a:cxn>
              <a:cxn ang="T72">
                <a:pos x="T40" y="T41"/>
              </a:cxn>
              <a:cxn ang="T73">
                <a:pos x="T42" y="T43"/>
              </a:cxn>
              <a:cxn ang="T74">
                <a:pos x="T44" y="T45"/>
              </a:cxn>
              <a:cxn ang="T75">
                <a:pos x="T46" y="T47"/>
              </a:cxn>
              <a:cxn ang="T76">
                <a:pos x="T48" y="T49"/>
              </a:cxn>
              <a:cxn ang="T77">
                <a:pos x="T50" y="T51"/>
              </a:cxn>
            </a:cxnLst>
            <a:rect l="T78" t="T79" r="T80" b="T81"/>
            <a:pathLst>
              <a:path w="56" h="271">
                <a:moveTo>
                  <a:pt x="17" y="5"/>
                </a:moveTo>
                <a:lnTo>
                  <a:pt x="16" y="10"/>
                </a:lnTo>
                <a:lnTo>
                  <a:pt x="12" y="25"/>
                </a:lnTo>
                <a:lnTo>
                  <a:pt x="6" y="49"/>
                </a:lnTo>
                <a:lnTo>
                  <a:pt x="2" y="82"/>
                </a:lnTo>
                <a:lnTo>
                  <a:pt x="0" y="122"/>
                </a:lnTo>
                <a:lnTo>
                  <a:pt x="0" y="166"/>
                </a:lnTo>
                <a:lnTo>
                  <a:pt x="4" y="217"/>
                </a:lnTo>
                <a:lnTo>
                  <a:pt x="15" y="271"/>
                </a:lnTo>
                <a:lnTo>
                  <a:pt x="54" y="268"/>
                </a:lnTo>
                <a:lnTo>
                  <a:pt x="52" y="261"/>
                </a:lnTo>
                <a:lnTo>
                  <a:pt x="48" y="238"/>
                </a:lnTo>
                <a:lnTo>
                  <a:pt x="44" y="206"/>
                </a:lnTo>
                <a:lnTo>
                  <a:pt x="40" y="166"/>
                </a:lnTo>
                <a:lnTo>
                  <a:pt x="37" y="123"/>
                </a:lnTo>
                <a:lnTo>
                  <a:pt x="39" y="78"/>
                </a:lnTo>
                <a:lnTo>
                  <a:pt x="44" y="37"/>
                </a:lnTo>
                <a:lnTo>
                  <a:pt x="56" y="3"/>
                </a:lnTo>
                <a:lnTo>
                  <a:pt x="56" y="2"/>
                </a:lnTo>
                <a:lnTo>
                  <a:pt x="55" y="1"/>
                </a:lnTo>
                <a:lnTo>
                  <a:pt x="52" y="0"/>
                </a:lnTo>
                <a:lnTo>
                  <a:pt x="48" y="0"/>
                </a:lnTo>
                <a:lnTo>
                  <a:pt x="42" y="0"/>
                </a:lnTo>
                <a:lnTo>
                  <a:pt x="31" y="2"/>
                </a:lnTo>
                <a:lnTo>
                  <a:pt x="17" y="5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8" name="Freeform 146">
            <a:extLst>
              <a:ext uri="{FF2B5EF4-FFF2-40B4-BE49-F238E27FC236}">
                <a16:creationId xmlns:a16="http://schemas.microsoft.com/office/drawing/2014/main" id="{61DA1603-F506-41FB-9E6B-57BD3D15AD9B}"/>
              </a:ext>
            </a:extLst>
          </p:cNvPr>
          <p:cNvSpPr>
            <a:spLocks/>
          </p:cNvSpPr>
          <p:nvPr/>
        </p:nvSpPr>
        <p:spPr bwMode="auto">
          <a:xfrm>
            <a:off x="7070725" y="3635375"/>
            <a:ext cx="90488" cy="358775"/>
          </a:xfrm>
          <a:custGeom>
            <a:avLst/>
            <a:gdLst>
              <a:gd name="T0" fmla="*/ 2147483646 w 186"/>
              <a:gd name="T1" fmla="*/ 2147483646 h 732"/>
              <a:gd name="T2" fmla="*/ 2147483646 w 186"/>
              <a:gd name="T3" fmla="*/ 2147483646 h 732"/>
              <a:gd name="T4" fmla="*/ 2147483646 w 186"/>
              <a:gd name="T5" fmla="*/ 2147483646 h 732"/>
              <a:gd name="T6" fmla="*/ 2147483646 w 186"/>
              <a:gd name="T7" fmla="*/ 2147483646 h 732"/>
              <a:gd name="T8" fmla="*/ 2147483646 w 186"/>
              <a:gd name="T9" fmla="*/ 2147483646 h 732"/>
              <a:gd name="T10" fmla="*/ 2147483646 w 186"/>
              <a:gd name="T11" fmla="*/ 2147483646 h 732"/>
              <a:gd name="T12" fmla="*/ 2147483646 w 186"/>
              <a:gd name="T13" fmla="*/ 2147483646 h 732"/>
              <a:gd name="T14" fmla="*/ 2147483646 w 186"/>
              <a:gd name="T15" fmla="*/ 2147483646 h 732"/>
              <a:gd name="T16" fmla="*/ 2147483646 w 186"/>
              <a:gd name="T17" fmla="*/ 2147483646 h 732"/>
              <a:gd name="T18" fmla="*/ 2147483646 w 186"/>
              <a:gd name="T19" fmla="*/ 2147483646 h 732"/>
              <a:gd name="T20" fmla="*/ 2147483646 w 186"/>
              <a:gd name="T21" fmla="*/ 2147483646 h 732"/>
              <a:gd name="T22" fmla="*/ 2147483646 w 186"/>
              <a:gd name="T23" fmla="*/ 2147483646 h 732"/>
              <a:gd name="T24" fmla="*/ 2147483646 w 186"/>
              <a:gd name="T25" fmla="*/ 2147483646 h 732"/>
              <a:gd name="T26" fmla="*/ 2147483646 w 186"/>
              <a:gd name="T27" fmla="*/ 2147483646 h 732"/>
              <a:gd name="T28" fmla="*/ 0 w 186"/>
              <a:gd name="T29" fmla="*/ 2147483646 h 732"/>
              <a:gd name="T30" fmla="*/ 2147483646 w 186"/>
              <a:gd name="T31" fmla="*/ 2147483646 h 732"/>
              <a:gd name="T32" fmla="*/ 2147483646 w 186"/>
              <a:gd name="T33" fmla="*/ 2147483646 h 732"/>
              <a:gd name="T34" fmla="*/ 2147483646 w 186"/>
              <a:gd name="T35" fmla="*/ 0 h 732"/>
              <a:gd name="T36" fmla="*/ 2147483646 w 186"/>
              <a:gd name="T37" fmla="*/ 2147483646 h 732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186"/>
              <a:gd name="T58" fmla="*/ 0 h 732"/>
              <a:gd name="T59" fmla="*/ 186 w 186"/>
              <a:gd name="T60" fmla="*/ 732 h 732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186" h="732">
                <a:moveTo>
                  <a:pt x="186" y="6"/>
                </a:moveTo>
                <a:lnTo>
                  <a:pt x="182" y="11"/>
                </a:lnTo>
                <a:lnTo>
                  <a:pt x="169" y="29"/>
                </a:lnTo>
                <a:lnTo>
                  <a:pt x="153" y="67"/>
                </a:lnTo>
                <a:lnTo>
                  <a:pt x="137" y="130"/>
                </a:lnTo>
                <a:lnTo>
                  <a:pt x="124" y="221"/>
                </a:lnTo>
                <a:lnTo>
                  <a:pt x="117" y="350"/>
                </a:lnTo>
                <a:lnTo>
                  <a:pt x="122" y="517"/>
                </a:lnTo>
                <a:lnTo>
                  <a:pt x="139" y="732"/>
                </a:lnTo>
                <a:lnTo>
                  <a:pt x="34" y="732"/>
                </a:lnTo>
                <a:lnTo>
                  <a:pt x="31" y="711"/>
                </a:lnTo>
                <a:lnTo>
                  <a:pt x="22" y="651"/>
                </a:lnTo>
                <a:lnTo>
                  <a:pt x="12" y="563"/>
                </a:lnTo>
                <a:lnTo>
                  <a:pt x="3" y="454"/>
                </a:lnTo>
                <a:lnTo>
                  <a:pt x="0" y="335"/>
                </a:lnTo>
                <a:lnTo>
                  <a:pt x="6" y="213"/>
                </a:lnTo>
                <a:lnTo>
                  <a:pt x="25" y="98"/>
                </a:lnTo>
                <a:lnTo>
                  <a:pt x="60" y="0"/>
                </a:lnTo>
                <a:lnTo>
                  <a:pt x="186" y="6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29" name="Freeform 147">
            <a:extLst>
              <a:ext uri="{FF2B5EF4-FFF2-40B4-BE49-F238E27FC236}">
                <a16:creationId xmlns:a16="http://schemas.microsoft.com/office/drawing/2014/main" id="{6E7ED610-D625-4D29-ACD2-3C0877DD607A}"/>
              </a:ext>
            </a:extLst>
          </p:cNvPr>
          <p:cNvSpPr>
            <a:spLocks/>
          </p:cNvSpPr>
          <p:nvPr/>
        </p:nvSpPr>
        <p:spPr bwMode="auto">
          <a:xfrm>
            <a:off x="7073900" y="3660775"/>
            <a:ext cx="76200" cy="306388"/>
          </a:xfrm>
          <a:custGeom>
            <a:avLst/>
            <a:gdLst>
              <a:gd name="T0" fmla="*/ 2147483646 w 158"/>
              <a:gd name="T1" fmla="*/ 2147483646 h 625"/>
              <a:gd name="T2" fmla="*/ 2147483646 w 158"/>
              <a:gd name="T3" fmla="*/ 2147483646 h 625"/>
              <a:gd name="T4" fmla="*/ 2147483646 w 158"/>
              <a:gd name="T5" fmla="*/ 2147483646 h 625"/>
              <a:gd name="T6" fmla="*/ 2147483646 w 158"/>
              <a:gd name="T7" fmla="*/ 2147483646 h 625"/>
              <a:gd name="T8" fmla="*/ 2147483646 w 158"/>
              <a:gd name="T9" fmla="*/ 2147483646 h 625"/>
              <a:gd name="T10" fmla="*/ 2147483646 w 158"/>
              <a:gd name="T11" fmla="*/ 2147483646 h 625"/>
              <a:gd name="T12" fmla="*/ 2147483646 w 158"/>
              <a:gd name="T13" fmla="*/ 2147483646 h 625"/>
              <a:gd name="T14" fmla="*/ 2147483646 w 158"/>
              <a:gd name="T15" fmla="*/ 2147483646 h 625"/>
              <a:gd name="T16" fmla="*/ 2147483646 w 158"/>
              <a:gd name="T17" fmla="*/ 2147483646 h 625"/>
              <a:gd name="T18" fmla="*/ 2147483646 w 158"/>
              <a:gd name="T19" fmla="*/ 2147483646 h 625"/>
              <a:gd name="T20" fmla="*/ 2147483646 w 158"/>
              <a:gd name="T21" fmla="*/ 2147483646 h 625"/>
              <a:gd name="T22" fmla="*/ 2147483646 w 158"/>
              <a:gd name="T23" fmla="*/ 2147483646 h 625"/>
              <a:gd name="T24" fmla="*/ 2147483646 w 158"/>
              <a:gd name="T25" fmla="*/ 2147483646 h 625"/>
              <a:gd name="T26" fmla="*/ 2147483646 w 158"/>
              <a:gd name="T27" fmla="*/ 2147483646 h 625"/>
              <a:gd name="T28" fmla="*/ 0 w 158"/>
              <a:gd name="T29" fmla="*/ 2147483646 h 625"/>
              <a:gd name="T30" fmla="*/ 2147483646 w 158"/>
              <a:gd name="T31" fmla="*/ 2147483646 h 625"/>
              <a:gd name="T32" fmla="*/ 2147483646 w 158"/>
              <a:gd name="T33" fmla="*/ 2147483646 h 625"/>
              <a:gd name="T34" fmla="*/ 2147483646 w 158"/>
              <a:gd name="T35" fmla="*/ 0 h 625"/>
              <a:gd name="T36" fmla="*/ 2147483646 w 158"/>
              <a:gd name="T37" fmla="*/ 2147483646 h 625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158"/>
              <a:gd name="T58" fmla="*/ 0 h 625"/>
              <a:gd name="T59" fmla="*/ 158 w 158"/>
              <a:gd name="T60" fmla="*/ 625 h 625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158" h="625">
                <a:moveTo>
                  <a:pt x="158" y="4"/>
                </a:moveTo>
                <a:lnTo>
                  <a:pt x="153" y="9"/>
                </a:lnTo>
                <a:lnTo>
                  <a:pt x="144" y="25"/>
                </a:lnTo>
                <a:lnTo>
                  <a:pt x="130" y="57"/>
                </a:lnTo>
                <a:lnTo>
                  <a:pt x="116" y="110"/>
                </a:lnTo>
                <a:lnTo>
                  <a:pt x="105" y="189"/>
                </a:lnTo>
                <a:lnTo>
                  <a:pt x="100" y="298"/>
                </a:lnTo>
                <a:lnTo>
                  <a:pt x="103" y="441"/>
                </a:lnTo>
                <a:lnTo>
                  <a:pt x="118" y="625"/>
                </a:lnTo>
                <a:lnTo>
                  <a:pt x="29" y="625"/>
                </a:lnTo>
                <a:lnTo>
                  <a:pt x="25" y="607"/>
                </a:lnTo>
                <a:lnTo>
                  <a:pt x="18" y="556"/>
                </a:lnTo>
                <a:lnTo>
                  <a:pt x="9" y="480"/>
                </a:lnTo>
                <a:lnTo>
                  <a:pt x="2" y="387"/>
                </a:lnTo>
                <a:lnTo>
                  <a:pt x="0" y="286"/>
                </a:lnTo>
                <a:lnTo>
                  <a:pt x="5" y="182"/>
                </a:lnTo>
                <a:lnTo>
                  <a:pt x="21" y="84"/>
                </a:lnTo>
                <a:lnTo>
                  <a:pt x="51" y="0"/>
                </a:lnTo>
                <a:lnTo>
                  <a:pt x="158" y="4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0" name="Freeform 148">
            <a:extLst>
              <a:ext uri="{FF2B5EF4-FFF2-40B4-BE49-F238E27FC236}">
                <a16:creationId xmlns:a16="http://schemas.microsoft.com/office/drawing/2014/main" id="{B0F7DAD0-074E-4722-A556-82F593CC0077}"/>
              </a:ext>
            </a:extLst>
          </p:cNvPr>
          <p:cNvSpPr>
            <a:spLocks/>
          </p:cNvSpPr>
          <p:nvPr/>
        </p:nvSpPr>
        <p:spPr bwMode="auto">
          <a:xfrm>
            <a:off x="7077075" y="3686175"/>
            <a:ext cx="63500" cy="252413"/>
          </a:xfrm>
          <a:custGeom>
            <a:avLst/>
            <a:gdLst>
              <a:gd name="T0" fmla="*/ 2147483646 w 131"/>
              <a:gd name="T1" fmla="*/ 2147483646 h 517"/>
              <a:gd name="T2" fmla="*/ 2147483646 w 131"/>
              <a:gd name="T3" fmla="*/ 2147483646 h 517"/>
              <a:gd name="T4" fmla="*/ 2147483646 w 131"/>
              <a:gd name="T5" fmla="*/ 2147483646 h 517"/>
              <a:gd name="T6" fmla="*/ 2147483646 w 131"/>
              <a:gd name="T7" fmla="*/ 2147483646 h 517"/>
              <a:gd name="T8" fmla="*/ 2147483646 w 131"/>
              <a:gd name="T9" fmla="*/ 2147483646 h 517"/>
              <a:gd name="T10" fmla="*/ 2147483646 w 131"/>
              <a:gd name="T11" fmla="*/ 2147483646 h 517"/>
              <a:gd name="T12" fmla="*/ 2147483646 w 131"/>
              <a:gd name="T13" fmla="*/ 2147483646 h 517"/>
              <a:gd name="T14" fmla="*/ 2147483646 w 131"/>
              <a:gd name="T15" fmla="*/ 2147483646 h 517"/>
              <a:gd name="T16" fmla="*/ 2147483646 w 131"/>
              <a:gd name="T17" fmla="*/ 2147483646 h 517"/>
              <a:gd name="T18" fmla="*/ 2147483646 w 131"/>
              <a:gd name="T19" fmla="*/ 2147483646 h 517"/>
              <a:gd name="T20" fmla="*/ 2147483646 w 131"/>
              <a:gd name="T21" fmla="*/ 2147483646 h 517"/>
              <a:gd name="T22" fmla="*/ 2147483646 w 131"/>
              <a:gd name="T23" fmla="*/ 2147483646 h 517"/>
              <a:gd name="T24" fmla="*/ 2147483646 w 131"/>
              <a:gd name="T25" fmla="*/ 2147483646 h 517"/>
              <a:gd name="T26" fmla="*/ 2147483646 w 131"/>
              <a:gd name="T27" fmla="*/ 2147483646 h 517"/>
              <a:gd name="T28" fmla="*/ 0 w 131"/>
              <a:gd name="T29" fmla="*/ 2147483646 h 517"/>
              <a:gd name="T30" fmla="*/ 2147483646 w 131"/>
              <a:gd name="T31" fmla="*/ 2147483646 h 517"/>
              <a:gd name="T32" fmla="*/ 2147483646 w 131"/>
              <a:gd name="T33" fmla="*/ 2147483646 h 517"/>
              <a:gd name="T34" fmla="*/ 2147483646 w 131"/>
              <a:gd name="T35" fmla="*/ 0 h 517"/>
              <a:gd name="T36" fmla="*/ 2147483646 w 131"/>
              <a:gd name="T37" fmla="*/ 2147483646 h 517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131"/>
              <a:gd name="T58" fmla="*/ 0 h 517"/>
              <a:gd name="T59" fmla="*/ 131 w 131"/>
              <a:gd name="T60" fmla="*/ 517 h 517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131" h="517">
                <a:moveTo>
                  <a:pt x="131" y="4"/>
                </a:moveTo>
                <a:lnTo>
                  <a:pt x="128" y="7"/>
                </a:lnTo>
                <a:lnTo>
                  <a:pt x="119" y="21"/>
                </a:lnTo>
                <a:lnTo>
                  <a:pt x="109" y="47"/>
                </a:lnTo>
                <a:lnTo>
                  <a:pt x="97" y="91"/>
                </a:lnTo>
                <a:lnTo>
                  <a:pt x="88" y="156"/>
                </a:lnTo>
                <a:lnTo>
                  <a:pt x="84" y="247"/>
                </a:lnTo>
                <a:lnTo>
                  <a:pt x="86" y="366"/>
                </a:lnTo>
                <a:lnTo>
                  <a:pt x="99" y="517"/>
                </a:lnTo>
                <a:lnTo>
                  <a:pt x="25" y="517"/>
                </a:lnTo>
                <a:lnTo>
                  <a:pt x="23" y="502"/>
                </a:lnTo>
                <a:lnTo>
                  <a:pt x="16" y="460"/>
                </a:lnTo>
                <a:lnTo>
                  <a:pt x="9" y="397"/>
                </a:lnTo>
                <a:lnTo>
                  <a:pt x="2" y="320"/>
                </a:lnTo>
                <a:lnTo>
                  <a:pt x="0" y="236"/>
                </a:lnTo>
                <a:lnTo>
                  <a:pt x="4" y="151"/>
                </a:lnTo>
                <a:lnTo>
                  <a:pt x="18" y="70"/>
                </a:lnTo>
                <a:lnTo>
                  <a:pt x="43" y="0"/>
                </a:lnTo>
                <a:lnTo>
                  <a:pt x="131" y="4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1" name="Freeform 149">
            <a:extLst>
              <a:ext uri="{FF2B5EF4-FFF2-40B4-BE49-F238E27FC236}">
                <a16:creationId xmlns:a16="http://schemas.microsoft.com/office/drawing/2014/main" id="{0A395932-347C-4D5D-AFB5-7C16A0612377}"/>
              </a:ext>
            </a:extLst>
          </p:cNvPr>
          <p:cNvSpPr>
            <a:spLocks/>
          </p:cNvSpPr>
          <p:nvPr/>
        </p:nvSpPr>
        <p:spPr bwMode="auto">
          <a:xfrm>
            <a:off x="7080250" y="3709988"/>
            <a:ext cx="50800" cy="201612"/>
          </a:xfrm>
          <a:custGeom>
            <a:avLst/>
            <a:gdLst>
              <a:gd name="T0" fmla="*/ 2147483646 w 104"/>
              <a:gd name="T1" fmla="*/ 2147483646 h 411"/>
              <a:gd name="T2" fmla="*/ 2147483646 w 104"/>
              <a:gd name="T3" fmla="*/ 2147483646 h 411"/>
              <a:gd name="T4" fmla="*/ 2147483646 w 104"/>
              <a:gd name="T5" fmla="*/ 2147483646 h 411"/>
              <a:gd name="T6" fmla="*/ 2147483646 w 104"/>
              <a:gd name="T7" fmla="*/ 2147483646 h 411"/>
              <a:gd name="T8" fmla="*/ 2147483646 w 104"/>
              <a:gd name="T9" fmla="*/ 2147483646 h 411"/>
              <a:gd name="T10" fmla="*/ 2147483646 w 104"/>
              <a:gd name="T11" fmla="*/ 2147483646 h 411"/>
              <a:gd name="T12" fmla="*/ 2147483646 w 104"/>
              <a:gd name="T13" fmla="*/ 2147483646 h 411"/>
              <a:gd name="T14" fmla="*/ 2147483646 w 104"/>
              <a:gd name="T15" fmla="*/ 2147483646 h 411"/>
              <a:gd name="T16" fmla="*/ 2147483646 w 104"/>
              <a:gd name="T17" fmla="*/ 2147483646 h 411"/>
              <a:gd name="T18" fmla="*/ 2147483646 w 104"/>
              <a:gd name="T19" fmla="*/ 2147483646 h 411"/>
              <a:gd name="T20" fmla="*/ 2147483646 w 104"/>
              <a:gd name="T21" fmla="*/ 2147483646 h 411"/>
              <a:gd name="T22" fmla="*/ 2147483646 w 104"/>
              <a:gd name="T23" fmla="*/ 2147483646 h 411"/>
              <a:gd name="T24" fmla="*/ 2147483646 w 104"/>
              <a:gd name="T25" fmla="*/ 2147483646 h 411"/>
              <a:gd name="T26" fmla="*/ 2147483646 w 104"/>
              <a:gd name="T27" fmla="*/ 2147483646 h 411"/>
              <a:gd name="T28" fmla="*/ 0 w 104"/>
              <a:gd name="T29" fmla="*/ 2147483646 h 411"/>
              <a:gd name="T30" fmla="*/ 2147483646 w 104"/>
              <a:gd name="T31" fmla="*/ 2147483646 h 411"/>
              <a:gd name="T32" fmla="*/ 2147483646 w 104"/>
              <a:gd name="T33" fmla="*/ 2147483646 h 411"/>
              <a:gd name="T34" fmla="*/ 2147483646 w 104"/>
              <a:gd name="T35" fmla="*/ 0 h 411"/>
              <a:gd name="T36" fmla="*/ 2147483646 w 104"/>
              <a:gd name="T37" fmla="*/ 2147483646 h 411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104"/>
              <a:gd name="T58" fmla="*/ 0 h 411"/>
              <a:gd name="T59" fmla="*/ 104 w 104"/>
              <a:gd name="T60" fmla="*/ 411 h 411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104" h="411">
                <a:moveTo>
                  <a:pt x="104" y="4"/>
                </a:moveTo>
                <a:lnTo>
                  <a:pt x="101" y="7"/>
                </a:lnTo>
                <a:lnTo>
                  <a:pt x="94" y="17"/>
                </a:lnTo>
                <a:lnTo>
                  <a:pt x="86" y="38"/>
                </a:lnTo>
                <a:lnTo>
                  <a:pt x="76" y="73"/>
                </a:lnTo>
                <a:lnTo>
                  <a:pt x="69" y="125"/>
                </a:lnTo>
                <a:lnTo>
                  <a:pt x="65" y="196"/>
                </a:lnTo>
                <a:lnTo>
                  <a:pt x="67" y="291"/>
                </a:lnTo>
                <a:lnTo>
                  <a:pt x="77" y="411"/>
                </a:lnTo>
                <a:lnTo>
                  <a:pt x="19" y="411"/>
                </a:lnTo>
                <a:lnTo>
                  <a:pt x="17" y="399"/>
                </a:lnTo>
                <a:lnTo>
                  <a:pt x="11" y="365"/>
                </a:lnTo>
                <a:lnTo>
                  <a:pt x="6" y="316"/>
                </a:lnTo>
                <a:lnTo>
                  <a:pt x="2" y="255"/>
                </a:lnTo>
                <a:lnTo>
                  <a:pt x="0" y="188"/>
                </a:lnTo>
                <a:lnTo>
                  <a:pt x="4" y="120"/>
                </a:lnTo>
                <a:lnTo>
                  <a:pt x="15" y="55"/>
                </a:lnTo>
                <a:lnTo>
                  <a:pt x="34" y="0"/>
                </a:lnTo>
                <a:lnTo>
                  <a:pt x="104" y="4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2" name="Freeform 150">
            <a:extLst>
              <a:ext uri="{FF2B5EF4-FFF2-40B4-BE49-F238E27FC236}">
                <a16:creationId xmlns:a16="http://schemas.microsoft.com/office/drawing/2014/main" id="{F80E5B16-EA26-4DE9-B4B1-93097F95D03B}"/>
              </a:ext>
            </a:extLst>
          </p:cNvPr>
          <p:cNvSpPr>
            <a:spLocks/>
          </p:cNvSpPr>
          <p:nvPr/>
        </p:nvSpPr>
        <p:spPr bwMode="auto">
          <a:xfrm>
            <a:off x="7085013" y="3735388"/>
            <a:ext cx="36512" cy="147637"/>
          </a:xfrm>
          <a:custGeom>
            <a:avLst/>
            <a:gdLst>
              <a:gd name="T0" fmla="*/ 2147483646 w 76"/>
              <a:gd name="T1" fmla="*/ 2147483646 h 302"/>
              <a:gd name="T2" fmla="*/ 2147483646 w 76"/>
              <a:gd name="T3" fmla="*/ 2147483646 h 302"/>
              <a:gd name="T4" fmla="*/ 2147483646 w 76"/>
              <a:gd name="T5" fmla="*/ 2147483646 h 302"/>
              <a:gd name="T6" fmla="*/ 2147483646 w 76"/>
              <a:gd name="T7" fmla="*/ 2147483646 h 302"/>
              <a:gd name="T8" fmla="*/ 2147483646 w 76"/>
              <a:gd name="T9" fmla="*/ 2147483646 h 302"/>
              <a:gd name="T10" fmla="*/ 2147483646 w 76"/>
              <a:gd name="T11" fmla="*/ 2147483646 h 302"/>
              <a:gd name="T12" fmla="*/ 2147483646 w 76"/>
              <a:gd name="T13" fmla="*/ 2147483646 h 302"/>
              <a:gd name="T14" fmla="*/ 2147483646 w 76"/>
              <a:gd name="T15" fmla="*/ 2147483646 h 302"/>
              <a:gd name="T16" fmla="*/ 2147483646 w 76"/>
              <a:gd name="T17" fmla="*/ 2147483646 h 302"/>
              <a:gd name="T18" fmla="*/ 2147483646 w 76"/>
              <a:gd name="T19" fmla="*/ 2147483646 h 302"/>
              <a:gd name="T20" fmla="*/ 2147483646 w 76"/>
              <a:gd name="T21" fmla="*/ 2147483646 h 302"/>
              <a:gd name="T22" fmla="*/ 2147483646 w 76"/>
              <a:gd name="T23" fmla="*/ 2147483646 h 302"/>
              <a:gd name="T24" fmla="*/ 2147483646 w 76"/>
              <a:gd name="T25" fmla="*/ 2147483646 h 302"/>
              <a:gd name="T26" fmla="*/ 2147483646 w 76"/>
              <a:gd name="T27" fmla="*/ 2147483646 h 302"/>
              <a:gd name="T28" fmla="*/ 0 w 76"/>
              <a:gd name="T29" fmla="*/ 2147483646 h 302"/>
              <a:gd name="T30" fmla="*/ 2147483646 w 76"/>
              <a:gd name="T31" fmla="*/ 2147483646 h 302"/>
              <a:gd name="T32" fmla="*/ 2147483646 w 76"/>
              <a:gd name="T33" fmla="*/ 2147483646 h 302"/>
              <a:gd name="T34" fmla="*/ 2147483646 w 76"/>
              <a:gd name="T35" fmla="*/ 0 h 302"/>
              <a:gd name="T36" fmla="*/ 2147483646 w 76"/>
              <a:gd name="T37" fmla="*/ 2147483646 h 302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76"/>
              <a:gd name="T58" fmla="*/ 0 h 302"/>
              <a:gd name="T59" fmla="*/ 76 w 76"/>
              <a:gd name="T60" fmla="*/ 302 h 302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76" h="302">
                <a:moveTo>
                  <a:pt x="76" y="2"/>
                </a:moveTo>
                <a:lnTo>
                  <a:pt x="74" y="4"/>
                </a:lnTo>
                <a:lnTo>
                  <a:pt x="70" y="12"/>
                </a:lnTo>
                <a:lnTo>
                  <a:pt x="62" y="28"/>
                </a:lnTo>
                <a:lnTo>
                  <a:pt x="56" y="53"/>
                </a:lnTo>
                <a:lnTo>
                  <a:pt x="51" y="92"/>
                </a:lnTo>
                <a:lnTo>
                  <a:pt x="49" y="145"/>
                </a:lnTo>
                <a:lnTo>
                  <a:pt x="50" y="214"/>
                </a:lnTo>
                <a:lnTo>
                  <a:pt x="57" y="302"/>
                </a:lnTo>
                <a:lnTo>
                  <a:pt x="14" y="302"/>
                </a:lnTo>
                <a:lnTo>
                  <a:pt x="13" y="294"/>
                </a:lnTo>
                <a:lnTo>
                  <a:pt x="9" y="269"/>
                </a:lnTo>
                <a:lnTo>
                  <a:pt x="4" y="232"/>
                </a:lnTo>
                <a:lnTo>
                  <a:pt x="1" y="188"/>
                </a:lnTo>
                <a:lnTo>
                  <a:pt x="0" y="138"/>
                </a:lnTo>
                <a:lnTo>
                  <a:pt x="2" y="89"/>
                </a:lnTo>
                <a:lnTo>
                  <a:pt x="10" y="41"/>
                </a:lnTo>
                <a:lnTo>
                  <a:pt x="25" y="0"/>
                </a:lnTo>
                <a:lnTo>
                  <a:pt x="76" y="2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3" name="Rectangle 151">
            <a:extLst>
              <a:ext uri="{FF2B5EF4-FFF2-40B4-BE49-F238E27FC236}">
                <a16:creationId xmlns:a16="http://schemas.microsoft.com/office/drawing/2014/main" id="{9778917C-3937-4B2D-8191-8AF057D0CF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9238" y="3698875"/>
            <a:ext cx="11112" cy="469900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70034" name="Freeform 152">
            <a:extLst>
              <a:ext uri="{FF2B5EF4-FFF2-40B4-BE49-F238E27FC236}">
                <a16:creationId xmlns:a16="http://schemas.microsoft.com/office/drawing/2014/main" id="{E2BA19AD-C35E-491D-8FC2-FC6FA141100A}"/>
              </a:ext>
            </a:extLst>
          </p:cNvPr>
          <p:cNvSpPr>
            <a:spLocks/>
          </p:cNvSpPr>
          <p:nvPr/>
        </p:nvSpPr>
        <p:spPr bwMode="auto">
          <a:xfrm>
            <a:off x="6764338" y="3692525"/>
            <a:ext cx="180975" cy="214313"/>
          </a:xfrm>
          <a:custGeom>
            <a:avLst/>
            <a:gdLst>
              <a:gd name="T0" fmla="*/ 2147483646 w 375"/>
              <a:gd name="T1" fmla="*/ 2147483646 h 440"/>
              <a:gd name="T2" fmla="*/ 2147483646 w 375"/>
              <a:gd name="T3" fmla="*/ 2147483646 h 440"/>
              <a:gd name="T4" fmla="*/ 2147483646 w 375"/>
              <a:gd name="T5" fmla="*/ 2147483646 h 440"/>
              <a:gd name="T6" fmla="*/ 2147483646 w 375"/>
              <a:gd name="T7" fmla="*/ 2147483646 h 440"/>
              <a:gd name="T8" fmla="*/ 2147483646 w 375"/>
              <a:gd name="T9" fmla="*/ 2147483646 h 440"/>
              <a:gd name="T10" fmla="*/ 2147483646 w 375"/>
              <a:gd name="T11" fmla="*/ 2147483646 h 440"/>
              <a:gd name="T12" fmla="*/ 0 w 375"/>
              <a:gd name="T13" fmla="*/ 2147483646 h 440"/>
              <a:gd name="T14" fmla="*/ 2147483646 w 375"/>
              <a:gd name="T15" fmla="*/ 2147483646 h 440"/>
              <a:gd name="T16" fmla="*/ 2147483646 w 375"/>
              <a:gd name="T17" fmla="*/ 2147483646 h 440"/>
              <a:gd name="T18" fmla="*/ 2147483646 w 375"/>
              <a:gd name="T19" fmla="*/ 2147483646 h 440"/>
              <a:gd name="T20" fmla="*/ 2147483646 w 375"/>
              <a:gd name="T21" fmla="*/ 2147483646 h 440"/>
              <a:gd name="T22" fmla="*/ 2147483646 w 375"/>
              <a:gd name="T23" fmla="*/ 2147483646 h 440"/>
              <a:gd name="T24" fmla="*/ 2147483646 w 375"/>
              <a:gd name="T25" fmla="*/ 2147483646 h 440"/>
              <a:gd name="T26" fmla="*/ 2147483646 w 375"/>
              <a:gd name="T27" fmla="*/ 2147483646 h 440"/>
              <a:gd name="T28" fmla="*/ 2147483646 w 375"/>
              <a:gd name="T29" fmla="*/ 2147483646 h 440"/>
              <a:gd name="T30" fmla="*/ 2147483646 w 375"/>
              <a:gd name="T31" fmla="*/ 2147483646 h 440"/>
              <a:gd name="T32" fmla="*/ 2147483646 w 375"/>
              <a:gd name="T33" fmla="*/ 2147483646 h 440"/>
              <a:gd name="T34" fmla="*/ 2147483646 w 375"/>
              <a:gd name="T35" fmla="*/ 2147483646 h 440"/>
              <a:gd name="T36" fmla="*/ 2147483646 w 375"/>
              <a:gd name="T37" fmla="*/ 2147483646 h 440"/>
              <a:gd name="T38" fmla="*/ 2147483646 w 375"/>
              <a:gd name="T39" fmla="*/ 2147483646 h 440"/>
              <a:gd name="T40" fmla="*/ 2147483646 w 375"/>
              <a:gd name="T41" fmla="*/ 2147483646 h 440"/>
              <a:gd name="T42" fmla="*/ 2147483646 w 375"/>
              <a:gd name="T43" fmla="*/ 2147483646 h 440"/>
              <a:gd name="T44" fmla="*/ 2147483646 w 375"/>
              <a:gd name="T45" fmla="*/ 2147483646 h 440"/>
              <a:gd name="T46" fmla="*/ 2147483646 w 375"/>
              <a:gd name="T47" fmla="*/ 2147483646 h 440"/>
              <a:gd name="T48" fmla="*/ 2147483646 w 375"/>
              <a:gd name="T49" fmla="*/ 2147483646 h 440"/>
              <a:gd name="T50" fmla="*/ 2147483646 w 375"/>
              <a:gd name="T51" fmla="*/ 2147483646 h 440"/>
              <a:gd name="T52" fmla="*/ 2147483646 w 375"/>
              <a:gd name="T53" fmla="*/ 2147483646 h 440"/>
              <a:gd name="T54" fmla="*/ 2147483646 w 375"/>
              <a:gd name="T55" fmla="*/ 2147483646 h 440"/>
              <a:gd name="T56" fmla="*/ 2147483646 w 375"/>
              <a:gd name="T57" fmla="*/ 2147483646 h 440"/>
              <a:gd name="T58" fmla="*/ 2147483646 w 375"/>
              <a:gd name="T59" fmla="*/ 2147483646 h 440"/>
              <a:gd name="T60" fmla="*/ 2147483646 w 375"/>
              <a:gd name="T61" fmla="*/ 2147483646 h 440"/>
              <a:gd name="T62" fmla="*/ 2147483646 w 375"/>
              <a:gd name="T63" fmla="*/ 2147483646 h 440"/>
              <a:gd name="T64" fmla="*/ 2147483646 w 375"/>
              <a:gd name="T65" fmla="*/ 2147483646 h 440"/>
              <a:gd name="T66" fmla="*/ 2147483646 w 375"/>
              <a:gd name="T67" fmla="*/ 2147483646 h 440"/>
              <a:gd name="T68" fmla="*/ 2147483646 w 375"/>
              <a:gd name="T69" fmla="*/ 2147483646 h 440"/>
              <a:gd name="T70" fmla="*/ 2147483646 w 375"/>
              <a:gd name="T71" fmla="*/ 2147483646 h 440"/>
              <a:gd name="T72" fmla="*/ 2147483646 w 375"/>
              <a:gd name="T73" fmla="*/ 2147483646 h 440"/>
              <a:gd name="T74" fmla="*/ 2147483646 w 375"/>
              <a:gd name="T75" fmla="*/ 2147483646 h 440"/>
              <a:gd name="T76" fmla="*/ 2147483646 w 375"/>
              <a:gd name="T77" fmla="*/ 2147483646 h 440"/>
              <a:gd name="T78" fmla="*/ 2147483646 w 375"/>
              <a:gd name="T79" fmla="*/ 2147483646 h 440"/>
              <a:gd name="T80" fmla="*/ 2147483646 w 375"/>
              <a:gd name="T81" fmla="*/ 2147483646 h 440"/>
              <a:gd name="T82" fmla="*/ 2147483646 w 375"/>
              <a:gd name="T83" fmla="*/ 0 h 440"/>
              <a:gd name="T84" fmla="*/ 2147483646 w 375"/>
              <a:gd name="T85" fmla="*/ 2147483646 h 440"/>
              <a:gd name="T86" fmla="*/ 2147483646 w 375"/>
              <a:gd name="T87" fmla="*/ 2147483646 h 440"/>
              <a:gd name="T88" fmla="*/ 2147483646 w 375"/>
              <a:gd name="T89" fmla="*/ 2147483646 h 440"/>
              <a:gd name="T90" fmla="*/ 2147483646 w 375"/>
              <a:gd name="T91" fmla="*/ 2147483646 h 440"/>
              <a:gd name="T92" fmla="*/ 2147483646 w 375"/>
              <a:gd name="T93" fmla="*/ 2147483646 h 440"/>
              <a:gd name="T94" fmla="*/ 2147483646 w 375"/>
              <a:gd name="T95" fmla="*/ 2147483646 h 440"/>
              <a:gd name="T96" fmla="*/ 2147483646 w 375"/>
              <a:gd name="T97" fmla="*/ 2147483646 h 4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75"/>
              <a:gd name="T148" fmla="*/ 0 h 440"/>
              <a:gd name="T149" fmla="*/ 375 w 375"/>
              <a:gd name="T150" fmla="*/ 440 h 4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75" h="440">
                <a:moveTo>
                  <a:pt x="35" y="41"/>
                </a:moveTo>
                <a:lnTo>
                  <a:pt x="32" y="49"/>
                </a:lnTo>
                <a:lnTo>
                  <a:pt x="25" y="74"/>
                </a:lnTo>
                <a:lnTo>
                  <a:pt x="17" y="112"/>
                </a:lnTo>
                <a:lnTo>
                  <a:pt x="8" y="163"/>
                </a:lnTo>
                <a:lnTo>
                  <a:pt x="2" y="223"/>
                </a:lnTo>
                <a:lnTo>
                  <a:pt x="0" y="290"/>
                </a:lnTo>
                <a:lnTo>
                  <a:pt x="7" y="363"/>
                </a:lnTo>
                <a:lnTo>
                  <a:pt x="23" y="440"/>
                </a:lnTo>
                <a:lnTo>
                  <a:pt x="23" y="437"/>
                </a:lnTo>
                <a:lnTo>
                  <a:pt x="23" y="427"/>
                </a:lnTo>
                <a:lnTo>
                  <a:pt x="23" y="411"/>
                </a:lnTo>
                <a:lnTo>
                  <a:pt x="23" y="391"/>
                </a:lnTo>
                <a:lnTo>
                  <a:pt x="25" y="367"/>
                </a:lnTo>
                <a:lnTo>
                  <a:pt x="28" y="341"/>
                </a:lnTo>
                <a:lnTo>
                  <a:pt x="33" y="312"/>
                </a:lnTo>
                <a:lnTo>
                  <a:pt x="39" y="281"/>
                </a:lnTo>
                <a:lnTo>
                  <a:pt x="49" y="251"/>
                </a:lnTo>
                <a:lnTo>
                  <a:pt x="61" y="222"/>
                </a:lnTo>
                <a:lnTo>
                  <a:pt x="75" y="194"/>
                </a:lnTo>
                <a:lnTo>
                  <a:pt x="93" y="168"/>
                </a:lnTo>
                <a:lnTo>
                  <a:pt x="116" y="145"/>
                </a:lnTo>
                <a:lnTo>
                  <a:pt x="141" y="127"/>
                </a:lnTo>
                <a:lnTo>
                  <a:pt x="173" y="114"/>
                </a:lnTo>
                <a:lnTo>
                  <a:pt x="208" y="106"/>
                </a:lnTo>
                <a:lnTo>
                  <a:pt x="210" y="104"/>
                </a:lnTo>
                <a:lnTo>
                  <a:pt x="217" y="100"/>
                </a:lnTo>
                <a:lnTo>
                  <a:pt x="227" y="92"/>
                </a:lnTo>
                <a:lnTo>
                  <a:pt x="245" y="82"/>
                </a:lnTo>
                <a:lnTo>
                  <a:pt x="267" y="69"/>
                </a:lnTo>
                <a:lnTo>
                  <a:pt x="296" y="54"/>
                </a:lnTo>
                <a:lnTo>
                  <a:pt x="332" y="36"/>
                </a:lnTo>
                <a:lnTo>
                  <a:pt x="375" y="17"/>
                </a:lnTo>
                <a:lnTo>
                  <a:pt x="373" y="16"/>
                </a:lnTo>
                <a:lnTo>
                  <a:pt x="366" y="15"/>
                </a:lnTo>
                <a:lnTo>
                  <a:pt x="357" y="13"/>
                </a:lnTo>
                <a:lnTo>
                  <a:pt x="343" y="10"/>
                </a:lnTo>
                <a:lnTo>
                  <a:pt x="326" y="7"/>
                </a:lnTo>
                <a:lnTo>
                  <a:pt x="307" y="5"/>
                </a:lnTo>
                <a:lnTo>
                  <a:pt x="285" y="3"/>
                </a:lnTo>
                <a:lnTo>
                  <a:pt x="261" y="1"/>
                </a:lnTo>
                <a:lnTo>
                  <a:pt x="235" y="0"/>
                </a:lnTo>
                <a:lnTo>
                  <a:pt x="208" y="1"/>
                </a:lnTo>
                <a:lnTo>
                  <a:pt x="180" y="2"/>
                </a:lnTo>
                <a:lnTo>
                  <a:pt x="151" y="5"/>
                </a:lnTo>
                <a:lnTo>
                  <a:pt x="122" y="10"/>
                </a:lnTo>
                <a:lnTo>
                  <a:pt x="92" y="18"/>
                </a:lnTo>
                <a:lnTo>
                  <a:pt x="63" y="28"/>
                </a:lnTo>
                <a:lnTo>
                  <a:pt x="35" y="41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5" name="Freeform 153">
            <a:extLst>
              <a:ext uri="{FF2B5EF4-FFF2-40B4-BE49-F238E27FC236}">
                <a16:creationId xmlns:a16="http://schemas.microsoft.com/office/drawing/2014/main" id="{5AE911F9-048A-49D7-809E-39807879FB4D}"/>
              </a:ext>
            </a:extLst>
          </p:cNvPr>
          <p:cNvSpPr>
            <a:spLocks/>
          </p:cNvSpPr>
          <p:nvPr/>
        </p:nvSpPr>
        <p:spPr bwMode="auto">
          <a:xfrm>
            <a:off x="6511925" y="3852863"/>
            <a:ext cx="149225" cy="39687"/>
          </a:xfrm>
          <a:custGeom>
            <a:avLst/>
            <a:gdLst>
              <a:gd name="T0" fmla="*/ 0 w 305"/>
              <a:gd name="T1" fmla="*/ 2147483646 h 83"/>
              <a:gd name="T2" fmla="*/ 0 w 305"/>
              <a:gd name="T3" fmla="*/ 2147483646 h 83"/>
              <a:gd name="T4" fmla="*/ 2147483646 w 305"/>
              <a:gd name="T5" fmla="*/ 2147483646 h 83"/>
              <a:gd name="T6" fmla="*/ 2147483646 w 305"/>
              <a:gd name="T7" fmla="*/ 2147483646 h 83"/>
              <a:gd name="T8" fmla="*/ 2147483646 w 305"/>
              <a:gd name="T9" fmla="*/ 2147483646 h 83"/>
              <a:gd name="T10" fmla="*/ 2147483646 w 305"/>
              <a:gd name="T11" fmla="*/ 2147483646 h 83"/>
              <a:gd name="T12" fmla="*/ 2147483646 w 305"/>
              <a:gd name="T13" fmla="*/ 2147483646 h 83"/>
              <a:gd name="T14" fmla="*/ 2147483646 w 305"/>
              <a:gd name="T15" fmla="*/ 2147483646 h 83"/>
              <a:gd name="T16" fmla="*/ 2147483646 w 305"/>
              <a:gd name="T17" fmla="*/ 2147483646 h 83"/>
              <a:gd name="T18" fmla="*/ 2147483646 w 305"/>
              <a:gd name="T19" fmla="*/ 2147483646 h 83"/>
              <a:gd name="T20" fmla="*/ 2147483646 w 305"/>
              <a:gd name="T21" fmla="*/ 2147483646 h 83"/>
              <a:gd name="T22" fmla="*/ 2147483646 w 305"/>
              <a:gd name="T23" fmla="*/ 0 h 83"/>
              <a:gd name="T24" fmla="*/ 2147483646 w 305"/>
              <a:gd name="T25" fmla="*/ 0 h 83"/>
              <a:gd name="T26" fmla="*/ 2147483646 w 305"/>
              <a:gd name="T27" fmla="*/ 2147483646 h 83"/>
              <a:gd name="T28" fmla="*/ 2147483646 w 305"/>
              <a:gd name="T29" fmla="*/ 2147483646 h 83"/>
              <a:gd name="T30" fmla="*/ 2147483646 w 305"/>
              <a:gd name="T31" fmla="*/ 2147483646 h 83"/>
              <a:gd name="T32" fmla="*/ 2147483646 w 305"/>
              <a:gd name="T33" fmla="*/ 2147483646 h 83"/>
              <a:gd name="T34" fmla="*/ 2147483646 w 305"/>
              <a:gd name="T35" fmla="*/ 2147483646 h 83"/>
              <a:gd name="T36" fmla="*/ 2147483646 w 305"/>
              <a:gd name="T37" fmla="*/ 2147483646 h 83"/>
              <a:gd name="T38" fmla="*/ 2147483646 w 305"/>
              <a:gd name="T39" fmla="*/ 2147483646 h 83"/>
              <a:gd name="T40" fmla="*/ 2147483646 w 305"/>
              <a:gd name="T41" fmla="*/ 2147483646 h 83"/>
              <a:gd name="T42" fmla="*/ 2147483646 w 305"/>
              <a:gd name="T43" fmla="*/ 2147483646 h 83"/>
              <a:gd name="T44" fmla="*/ 2147483646 w 305"/>
              <a:gd name="T45" fmla="*/ 2147483646 h 83"/>
              <a:gd name="T46" fmla="*/ 2147483646 w 305"/>
              <a:gd name="T47" fmla="*/ 2147483646 h 83"/>
              <a:gd name="T48" fmla="*/ 2147483646 w 305"/>
              <a:gd name="T49" fmla="*/ 2147483646 h 83"/>
              <a:gd name="T50" fmla="*/ 2147483646 w 305"/>
              <a:gd name="T51" fmla="*/ 2147483646 h 83"/>
              <a:gd name="T52" fmla="*/ 2147483646 w 305"/>
              <a:gd name="T53" fmla="*/ 2147483646 h 83"/>
              <a:gd name="T54" fmla="*/ 2147483646 w 305"/>
              <a:gd name="T55" fmla="*/ 2147483646 h 83"/>
              <a:gd name="T56" fmla="*/ 2147483646 w 305"/>
              <a:gd name="T57" fmla="*/ 2147483646 h 83"/>
              <a:gd name="T58" fmla="*/ 2147483646 w 305"/>
              <a:gd name="T59" fmla="*/ 2147483646 h 83"/>
              <a:gd name="T60" fmla="*/ 2147483646 w 305"/>
              <a:gd name="T61" fmla="*/ 2147483646 h 83"/>
              <a:gd name="T62" fmla="*/ 2147483646 w 305"/>
              <a:gd name="T63" fmla="*/ 2147483646 h 83"/>
              <a:gd name="T64" fmla="*/ 2147483646 w 305"/>
              <a:gd name="T65" fmla="*/ 2147483646 h 83"/>
              <a:gd name="T66" fmla="*/ 0 w 305"/>
              <a:gd name="T67" fmla="*/ 2147483646 h 83"/>
              <a:gd name="T68" fmla="*/ 0 w 305"/>
              <a:gd name="T69" fmla="*/ 2147483646 h 83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305"/>
              <a:gd name="T106" fmla="*/ 0 h 83"/>
              <a:gd name="T107" fmla="*/ 305 w 305"/>
              <a:gd name="T108" fmla="*/ 83 h 83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305" h="83">
                <a:moveTo>
                  <a:pt x="0" y="53"/>
                </a:moveTo>
                <a:lnTo>
                  <a:pt x="0" y="52"/>
                </a:lnTo>
                <a:lnTo>
                  <a:pt x="2" y="48"/>
                </a:lnTo>
                <a:lnTo>
                  <a:pt x="5" y="44"/>
                </a:lnTo>
                <a:lnTo>
                  <a:pt x="11" y="37"/>
                </a:lnTo>
                <a:lnTo>
                  <a:pt x="18" y="31"/>
                </a:lnTo>
                <a:lnTo>
                  <a:pt x="27" y="25"/>
                </a:lnTo>
                <a:lnTo>
                  <a:pt x="39" y="18"/>
                </a:lnTo>
                <a:lnTo>
                  <a:pt x="54" y="12"/>
                </a:lnTo>
                <a:lnTo>
                  <a:pt x="72" y="6"/>
                </a:lnTo>
                <a:lnTo>
                  <a:pt x="92" y="2"/>
                </a:lnTo>
                <a:lnTo>
                  <a:pt x="118" y="0"/>
                </a:lnTo>
                <a:lnTo>
                  <a:pt x="146" y="0"/>
                </a:lnTo>
                <a:lnTo>
                  <a:pt x="180" y="2"/>
                </a:lnTo>
                <a:lnTo>
                  <a:pt x="216" y="7"/>
                </a:lnTo>
                <a:lnTo>
                  <a:pt x="258" y="16"/>
                </a:lnTo>
                <a:lnTo>
                  <a:pt x="305" y="29"/>
                </a:lnTo>
                <a:lnTo>
                  <a:pt x="299" y="47"/>
                </a:lnTo>
                <a:lnTo>
                  <a:pt x="297" y="46"/>
                </a:lnTo>
                <a:lnTo>
                  <a:pt x="289" y="44"/>
                </a:lnTo>
                <a:lnTo>
                  <a:pt x="277" y="41"/>
                </a:lnTo>
                <a:lnTo>
                  <a:pt x="262" y="36"/>
                </a:lnTo>
                <a:lnTo>
                  <a:pt x="244" y="32"/>
                </a:lnTo>
                <a:lnTo>
                  <a:pt x="224" y="28"/>
                </a:lnTo>
                <a:lnTo>
                  <a:pt x="201" y="25"/>
                </a:lnTo>
                <a:lnTo>
                  <a:pt x="176" y="22"/>
                </a:lnTo>
                <a:lnTo>
                  <a:pt x="152" y="21"/>
                </a:lnTo>
                <a:lnTo>
                  <a:pt x="126" y="21"/>
                </a:lnTo>
                <a:lnTo>
                  <a:pt x="101" y="23"/>
                </a:lnTo>
                <a:lnTo>
                  <a:pt x="77" y="29"/>
                </a:lnTo>
                <a:lnTo>
                  <a:pt x="55" y="37"/>
                </a:lnTo>
                <a:lnTo>
                  <a:pt x="33" y="48"/>
                </a:lnTo>
                <a:lnTo>
                  <a:pt x="15" y="63"/>
                </a:lnTo>
                <a:lnTo>
                  <a:pt x="0" y="83"/>
                </a:lnTo>
                <a:lnTo>
                  <a:pt x="0" y="53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6" name="Freeform 154">
            <a:extLst>
              <a:ext uri="{FF2B5EF4-FFF2-40B4-BE49-F238E27FC236}">
                <a16:creationId xmlns:a16="http://schemas.microsoft.com/office/drawing/2014/main" id="{FBEC8994-E76B-459B-A6BA-6420FA795A13}"/>
              </a:ext>
            </a:extLst>
          </p:cNvPr>
          <p:cNvSpPr>
            <a:spLocks/>
          </p:cNvSpPr>
          <p:nvPr/>
        </p:nvSpPr>
        <p:spPr bwMode="auto">
          <a:xfrm>
            <a:off x="6511925" y="3754438"/>
            <a:ext cx="149225" cy="41275"/>
          </a:xfrm>
          <a:custGeom>
            <a:avLst/>
            <a:gdLst>
              <a:gd name="T0" fmla="*/ 0 w 305"/>
              <a:gd name="T1" fmla="*/ 2147483646 h 83"/>
              <a:gd name="T2" fmla="*/ 0 w 305"/>
              <a:gd name="T3" fmla="*/ 2147483646 h 83"/>
              <a:gd name="T4" fmla="*/ 2147483646 w 305"/>
              <a:gd name="T5" fmla="*/ 2147483646 h 83"/>
              <a:gd name="T6" fmla="*/ 2147483646 w 305"/>
              <a:gd name="T7" fmla="*/ 2147483646 h 83"/>
              <a:gd name="T8" fmla="*/ 2147483646 w 305"/>
              <a:gd name="T9" fmla="*/ 2147483646 h 83"/>
              <a:gd name="T10" fmla="*/ 2147483646 w 305"/>
              <a:gd name="T11" fmla="*/ 2147483646 h 83"/>
              <a:gd name="T12" fmla="*/ 2147483646 w 305"/>
              <a:gd name="T13" fmla="*/ 2147483646 h 83"/>
              <a:gd name="T14" fmla="*/ 2147483646 w 305"/>
              <a:gd name="T15" fmla="*/ 2147483646 h 83"/>
              <a:gd name="T16" fmla="*/ 2147483646 w 305"/>
              <a:gd name="T17" fmla="*/ 2147483646 h 83"/>
              <a:gd name="T18" fmla="*/ 2147483646 w 305"/>
              <a:gd name="T19" fmla="*/ 2147483646 h 83"/>
              <a:gd name="T20" fmla="*/ 2147483646 w 305"/>
              <a:gd name="T21" fmla="*/ 2147483646 h 83"/>
              <a:gd name="T22" fmla="*/ 2147483646 w 305"/>
              <a:gd name="T23" fmla="*/ 0 h 83"/>
              <a:gd name="T24" fmla="*/ 2147483646 w 305"/>
              <a:gd name="T25" fmla="*/ 0 h 83"/>
              <a:gd name="T26" fmla="*/ 2147483646 w 305"/>
              <a:gd name="T27" fmla="*/ 2147483646 h 83"/>
              <a:gd name="T28" fmla="*/ 2147483646 w 305"/>
              <a:gd name="T29" fmla="*/ 2147483646 h 83"/>
              <a:gd name="T30" fmla="*/ 2147483646 w 305"/>
              <a:gd name="T31" fmla="*/ 2147483646 h 83"/>
              <a:gd name="T32" fmla="*/ 2147483646 w 305"/>
              <a:gd name="T33" fmla="*/ 2147483646 h 83"/>
              <a:gd name="T34" fmla="*/ 2147483646 w 305"/>
              <a:gd name="T35" fmla="*/ 2147483646 h 83"/>
              <a:gd name="T36" fmla="*/ 2147483646 w 305"/>
              <a:gd name="T37" fmla="*/ 2147483646 h 83"/>
              <a:gd name="T38" fmla="*/ 2147483646 w 305"/>
              <a:gd name="T39" fmla="*/ 2147483646 h 83"/>
              <a:gd name="T40" fmla="*/ 2147483646 w 305"/>
              <a:gd name="T41" fmla="*/ 2147483646 h 83"/>
              <a:gd name="T42" fmla="*/ 2147483646 w 305"/>
              <a:gd name="T43" fmla="*/ 2147483646 h 83"/>
              <a:gd name="T44" fmla="*/ 2147483646 w 305"/>
              <a:gd name="T45" fmla="*/ 2147483646 h 83"/>
              <a:gd name="T46" fmla="*/ 2147483646 w 305"/>
              <a:gd name="T47" fmla="*/ 2147483646 h 83"/>
              <a:gd name="T48" fmla="*/ 2147483646 w 305"/>
              <a:gd name="T49" fmla="*/ 2147483646 h 83"/>
              <a:gd name="T50" fmla="*/ 2147483646 w 305"/>
              <a:gd name="T51" fmla="*/ 2147483646 h 83"/>
              <a:gd name="T52" fmla="*/ 2147483646 w 305"/>
              <a:gd name="T53" fmla="*/ 2147483646 h 83"/>
              <a:gd name="T54" fmla="*/ 2147483646 w 305"/>
              <a:gd name="T55" fmla="*/ 2147483646 h 83"/>
              <a:gd name="T56" fmla="*/ 2147483646 w 305"/>
              <a:gd name="T57" fmla="*/ 2147483646 h 83"/>
              <a:gd name="T58" fmla="*/ 2147483646 w 305"/>
              <a:gd name="T59" fmla="*/ 2147483646 h 83"/>
              <a:gd name="T60" fmla="*/ 2147483646 w 305"/>
              <a:gd name="T61" fmla="*/ 2147483646 h 83"/>
              <a:gd name="T62" fmla="*/ 2147483646 w 305"/>
              <a:gd name="T63" fmla="*/ 2147483646 h 83"/>
              <a:gd name="T64" fmla="*/ 2147483646 w 305"/>
              <a:gd name="T65" fmla="*/ 2147483646 h 83"/>
              <a:gd name="T66" fmla="*/ 0 w 305"/>
              <a:gd name="T67" fmla="*/ 2147483646 h 83"/>
              <a:gd name="T68" fmla="*/ 0 w 305"/>
              <a:gd name="T69" fmla="*/ 2147483646 h 83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305"/>
              <a:gd name="T106" fmla="*/ 0 h 83"/>
              <a:gd name="T107" fmla="*/ 305 w 305"/>
              <a:gd name="T108" fmla="*/ 83 h 83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305" h="83">
                <a:moveTo>
                  <a:pt x="0" y="53"/>
                </a:moveTo>
                <a:lnTo>
                  <a:pt x="0" y="52"/>
                </a:lnTo>
                <a:lnTo>
                  <a:pt x="2" y="49"/>
                </a:lnTo>
                <a:lnTo>
                  <a:pt x="5" y="44"/>
                </a:lnTo>
                <a:lnTo>
                  <a:pt x="11" y="38"/>
                </a:lnTo>
                <a:lnTo>
                  <a:pt x="18" y="31"/>
                </a:lnTo>
                <a:lnTo>
                  <a:pt x="27" y="25"/>
                </a:lnTo>
                <a:lnTo>
                  <a:pt x="39" y="17"/>
                </a:lnTo>
                <a:lnTo>
                  <a:pt x="54" y="12"/>
                </a:lnTo>
                <a:lnTo>
                  <a:pt x="72" y="7"/>
                </a:lnTo>
                <a:lnTo>
                  <a:pt x="92" y="2"/>
                </a:lnTo>
                <a:lnTo>
                  <a:pt x="118" y="0"/>
                </a:lnTo>
                <a:lnTo>
                  <a:pt x="146" y="0"/>
                </a:lnTo>
                <a:lnTo>
                  <a:pt x="180" y="2"/>
                </a:lnTo>
                <a:lnTo>
                  <a:pt x="216" y="8"/>
                </a:lnTo>
                <a:lnTo>
                  <a:pt x="258" y="16"/>
                </a:lnTo>
                <a:lnTo>
                  <a:pt x="305" y="29"/>
                </a:lnTo>
                <a:lnTo>
                  <a:pt x="299" y="47"/>
                </a:lnTo>
                <a:lnTo>
                  <a:pt x="297" y="45"/>
                </a:lnTo>
                <a:lnTo>
                  <a:pt x="289" y="43"/>
                </a:lnTo>
                <a:lnTo>
                  <a:pt x="277" y="40"/>
                </a:lnTo>
                <a:lnTo>
                  <a:pt x="262" y="36"/>
                </a:lnTo>
                <a:lnTo>
                  <a:pt x="244" y="33"/>
                </a:lnTo>
                <a:lnTo>
                  <a:pt x="224" y="28"/>
                </a:lnTo>
                <a:lnTo>
                  <a:pt x="201" y="25"/>
                </a:lnTo>
                <a:lnTo>
                  <a:pt x="176" y="22"/>
                </a:lnTo>
                <a:lnTo>
                  <a:pt x="152" y="21"/>
                </a:lnTo>
                <a:lnTo>
                  <a:pt x="126" y="22"/>
                </a:lnTo>
                <a:lnTo>
                  <a:pt x="101" y="24"/>
                </a:lnTo>
                <a:lnTo>
                  <a:pt x="77" y="29"/>
                </a:lnTo>
                <a:lnTo>
                  <a:pt x="55" y="38"/>
                </a:lnTo>
                <a:lnTo>
                  <a:pt x="33" y="49"/>
                </a:lnTo>
                <a:lnTo>
                  <a:pt x="15" y="64"/>
                </a:lnTo>
                <a:lnTo>
                  <a:pt x="0" y="83"/>
                </a:lnTo>
                <a:lnTo>
                  <a:pt x="0" y="53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7" name="Freeform 155">
            <a:extLst>
              <a:ext uri="{FF2B5EF4-FFF2-40B4-BE49-F238E27FC236}">
                <a16:creationId xmlns:a16="http://schemas.microsoft.com/office/drawing/2014/main" id="{087FBF2E-AEDE-4D6E-93D1-F35232C85C6F}"/>
              </a:ext>
            </a:extLst>
          </p:cNvPr>
          <p:cNvSpPr>
            <a:spLocks/>
          </p:cNvSpPr>
          <p:nvPr/>
        </p:nvSpPr>
        <p:spPr bwMode="auto">
          <a:xfrm>
            <a:off x="6651625" y="3708400"/>
            <a:ext cx="241300" cy="449263"/>
          </a:xfrm>
          <a:custGeom>
            <a:avLst/>
            <a:gdLst>
              <a:gd name="T0" fmla="*/ 0 w 496"/>
              <a:gd name="T1" fmla="*/ 0 h 917"/>
              <a:gd name="T2" fmla="*/ 0 w 496"/>
              <a:gd name="T3" fmla="*/ 2147483646 h 917"/>
              <a:gd name="T4" fmla="*/ 2147483646 w 496"/>
              <a:gd name="T5" fmla="*/ 2147483646 h 917"/>
              <a:gd name="T6" fmla="*/ 2147483646 w 496"/>
              <a:gd name="T7" fmla="*/ 2147483646 h 917"/>
              <a:gd name="T8" fmla="*/ 2147483646 w 496"/>
              <a:gd name="T9" fmla="*/ 2147483646 h 917"/>
              <a:gd name="T10" fmla="*/ 2147483646 w 496"/>
              <a:gd name="T11" fmla="*/ 2147483646 h 917"/>
              <a:gd name="T12" fmla="*/ 2147483646 w 496"/>
              <a:gd name="T13" fmla="*/ 2147483646 h 917"/>
              <a:gd name="T14" fmla="*/ 2147483646 w 496"/>
              <a:gd name="T15" fmla="*/ 2147483646 h 917"/>
              <a:gd name="T16" fmla="*/ 2147483646 w 496"/>
              <a:gd name="T17" fmla="*/ 2147483646 h 917"/>
              <a:gd name="T18" fmla="*/ 2147483646 w 496"/>
              <a:gd name="T19" fmla="*/ 2147483646 h 917"/>
              <a:gd name="T20" fmla="*/ 2147483646 w 496"/>
              <a:gd name="T21" fmla="*/ 2147483646 h 917"/>
              <a:gd name="T22" fmla="*/ 2147483646 w 496"/>
              <a:gd name="T23" fmla="*/ 2147483646 h 917"/>
              <a:gd name="T24" fmla="*/ 2147483646 w 496"/>
              <a:gd name="T25" fmla="*/ 2147483646 h 917"/>
              <a:gd name="T26" fmla="*/ 2147483646 w 496"/>
              <a:gd name="T27" fmla="*/ 2147483646 h 917"/>
              <a:gd name="T28" fmla="*/ 2147483646 w 496"/>
              <a:gd name="T29" fmla="*/ 2147483646 h 917"/>
              <a:gd name="T30" fmla="*/ 2147483646 w 496"/>
              <a:gd name="T31" fmla="*/ 2147483646 h 917"/>
              <a:gd name="T32" fmla="*/ 2147483646 w 496"/>
              <a:gd name="T33" fmla="*/ 2147483646 h 917"/>
              <a:gd name="T34" fmla="*/ 0 w 496"/>
              <a:gd name="T35" fmla="*/ 0 h 917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496"/>
              <a:gd name="T55" fmla="*/ 0 h 917"/>
              <a:gd name="T56" fmla="*/ 496 w 496"/>
              <a:gd name="T57" fmla="*/ 917 h 917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496" h="917">
                <a:moveTo>
                  <a:pt x="0" y="0"/>
                </a:moveTo>
                <a:lnTo>
                  <a:pt x="0" y="886"/>
                </a:lnTo>
                <a:lnTo>
                  <a:pt x="150" y="917"/>
                </a:lnTo>
                <a:lnTo>
                  <a:pt x="143" y="797"/>
                </a:lnTo>
                <a:lnTo>
                  <a:pt x="496" y="851"/>
                </a:lnTo>
                <a:lnTo>
                  <a:pt x="490" y="803"/>
                </a:lnTo>
                <a:lnTo>
                  <a:pt x="245" y="773"/>
                </a:lnTo>
                <a:lnTo>
                  <a:pt x="239" y="670"/>
                </a:lnTo>
                <a:lnTo>
                  <a:pt x="72" y="670"/>
                </a:lnTo>
                <a:lnTo>
                  <a:pt x="68" y="657"/>
                </a:lnTo>
                <a:lnTo>
                  <a:pt x="56" y="620"/>
                </a:lnTo>
                <a:lnTo>
                  <a:pt x="41" y="559"/>
                </a:lnTo>
                <a:lnTo>
                  <a:pt x="26" y="480"/>
                </a:lnTo>
                <a:lnTo>
                  <a:pt x="15" y="385"/>
                </a:lnTo>
                <a:lnTo>
                  <a:pt x="11" y="276"/>
                </a:lnTo>
                <a:lnTo>
                  <a:pt x="20" y="158"/>
                </a:lnTo>
                <a:lnTo>
                  <a:pt x="42" y="30"/>
                </a:lnTo>
                <a:lnTo>
                  <a:pt x="0" y="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8" name="Freeform 156">
            <a:extLst>
              <a:ext uri="{FF2B5EF4-FFF2-40B4-BE49-F238E27FC236}">
                <a16:creationId xmlns:a16="http://schemas.microsoft.com/office/drawing/2014/main" id="{C4DCA2BB-E7AB-4F70-A450-C44992E6CE2F}"/>
              </a:ext>
            </a:extLst>
          </p:cNvPr>
          <p:cNvSpPr>
            <a:spLocks/>
          </p:cNvSpPr>
          <p:nvPr/>
        </p:nvSpPr>
        <p:spPr bwMode="auto">
          <a:xfrm>
            <a:off x="6770688" y="3605213"/>
            <a:ext cx="309562" cy="61912"/>
          </a:xfrm>
          <a:custGeom>
            <a:avLst/>
            <a:gdLst>
              <a:gd name="T0" fmla="*/ 0 w 638"/>
              <a:gd name="T1" fmla="*/ 2147483646 h 125"/>
              <a:gd name="T2" fmla="*/ 2147483646 w 638"/>
              <a:gd name="T3" fmla="*/ 2147483646 h 125"/>
              <a:gd name="T4" fmla="*/ 2147483646 w 638"/>
              <a:gd name="T5" fmla="*/ 2147483646 h 125"/>
              <a:gd name="T6" fmla="*/ 2147483646 w 638"/>
              <a:gd name="T7" fmla="*/ 2147483646 h 125"/>
              <a:gd name="T8" fmla="*/ 2147483646 w 638"/>
              <a:gd name="T9" fmla="*/ 2147483646 h 125"/>
              <a:gd name="T10" fmla="*/ 2147483646 w 638"/>
              <a:gd name="T11" fmla="*/ 2147483646 h 125"/>
              <a:gd name="T12" fmla="*/ 2147483646 w 638"/>
              <a:gd name="T13" fmla="*/ 2147483646 h 125"/>
              <a:gd name="T14" fmla="*/ 2147483646 w 638"/>
              <a:gd name="T15" fmla="*/ 2147483646 h 125"/>
              <a:gd name="T16" fmla="*/ 2147483646 w 638"/>
              <a:gd name="T17" fmla="*/ 2147483646 h 125"/>
              <a:gd name="T18" fmla="*/ 2147483646 w 638"/>
              <a:gd name="T19" fmla="*/ 2147483646 h 125"/>
              <a:gd name="T20" fmla="*/ 2147483646 w 638"/>
              <a:gd name="T21" fmla="*/ 2147483646 h 125"/>
              <a:gd name="T22" fmla="*/ 2147483646 w 638"/>
              <a:gd name="T23" fmla="*/ 2147483646 h 125"/>
              <a:gd name="T24" fmla="*/ 2147483646 w 638"/>
              <a:gd name="T25" fmla="*/ 2147483646 h 125"/>
              <a:gd name="T26" fmla="*/ 2147483646 w 638"/>
              <a:gd name="T27" fmla="*/ 2147483646 h 125"/>
              <a:gd name="T28" fmla="*/ 2147483646 w 638"/>
              <a:gd name="T29" fmla="*/ 2147483646 h 125"/>
              <a:gd name="T30" fmla="*/ 2147483646 w 638"/>
              <a:gd name="T31" fmla="*/ 2147483646 h 125"/>
              <a:gd name="T32" fmla="*/ 2147483646 w 638"/>
              <a:gd name="T33" fmla="*/ 2147483646 h 125"/>
              <a:gd name="T34" fmla="*/ 2147483646 w 638"/>
              <a:gd name="T35" fmla="*/ 0 h 125"/>
              <a:gd name="T36" fmla="*/ 2147483646 w 638"/>
              <a:gd name="T37" fmla="*/ 0 h 125"/>
              <a:gd name="T38" fmla="*/ 2147483646 w 638"/>
              <a:gd name="T39" fmla="*/ 0 h 125"/>
              <a:gd name="T40" fmla="*/ 2147483646 w 638"/>
              <a:gd name="T41" fmla="*/ 0 h 125"/>
              <a:gd name="T42" fmla="*/ 2147483646 w 638"/>
              <a:gd name="T43" fmla="*/ 2147483646 h 125"/>
              <a:gd name="T44" fmla="*/ 2147483646 w 638"/>
              <a:gd name="T45" fmla="*/ 2147483646 h 125"/>
              <a:gd name="T46" fmla="*/ 2147483646 w 638"/>
              <a:gd name="T47" fmla="*/ 2147483646 h 125"/>
              <a:gd name="T48" fmla="*/ 2147483646 w 638"/>
              <a:gd name="T49" fmla="*/ 2147483646 h 125"/>
              <a:gd name="T50" fmla="*/ 2147483646 w 638"/>
              <a:gd name="T51" fmla="*/ 2147483646 h 125"/>
              <a:gd name="T52" fmla="*/ 2147483646 w 638"/>
              <a:gd name="T53" fmla="*/ 2147483646 h 125"/>
              <a:gd name="T54" fmla="*/ 2147483646 w 638"/>
              <a:gd name="T55" fmla="*/ 2147483646 h 125"/>
              <a:gd name="T56" fmla="*/ 2147483646 w 638"/>
              <a:gd name="T57" fmla="*/ 2147483646 h 125"/>
              <a:gd name="T58" fmla="*/ 2147483646 w 638"/>
              <a:gd name="T59" fmla="*/ 2147483646 h 125"/>
              <a:gd name="T60" fmla="*/ 2147483646 w 638"/>
              <a:gd name="T61" fmla="*/ 2147483646 h 125"/>
              <a:gd name="T62" fmla="*/ 2147483646 w 638"/>
              <a:gd name="T63" fmla="*/ 2147483646 h 125"/>
              <a:gd name="T64" fmla="*/ 2147483646 w 638"/>
              <a:gd name="T65" fmla="*/ 2147483646 h 125"/>
              <a:gd name="T66" fmla="*/ 0 w 638"/>
              <a:gd name="T67" fmla="*/ 2147483646 h 125"/>
              <a:gd name="T68" fmla="*/ 0 w 638"/>
              <a:gd name="T69" fmla="*/ 2147483646 h 125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w 638"/>
              <a:gd name="T106" fmla="*/ 0 h 125"/>
              <a:gd name="T107" fmla="*/ 638 w 638"/>
              <a:gd name="T108" fmla="*/ 125 h 125"/>
            </a:gdLst>
            <a:ahLst/>
            <a:cxnLst>
              <a:cxn ang="T70">
                <a:pos x="T0" y="T1"/>
              </a:cxn>
              <a:cxn ang="T71">
                <a:pos x="T2" y="T3"/>
              </a:cxn>
              <a:cxn ang="T72">
                <a:pos x="T4" y="T5"/>
              </a:cxn>
              <a:cxn ang="T73">
                <a:pos x="T6" y="T7"/>
              </a:cxn>
              <a:cxn ang="T74">
                <a:pos x="T8" y="T9"/>
              </a:cxn>
              <a:cxn ang="T75">
                <a:pos x="T10" y="T11"/>
              </a:cxn>
              <a:cxn ang="T76">
                <a:pos x="T12" y="T13"/>
              </a:cxn>
              <a:cxn ang="T77">
                <a:pos x="T14" y="T15"/>
              </a:cxn>
              <a:cxn ang="T78">
                <a:pos x="T16" y="T17"/>
              </a:cxn>
              <a:cxn ang="T79">
                <a:pos x="T18" y="T19"/>
              </a:cxn>
              <a:cxn ang="T80">
                <a:pos x="T20" y="T21"/>
              </a:cxn>
              <a:cxn ang="T81">
                <a:pos x="T22" y="T23"/>
              </a:cxn>
              <a:cxn ang="T82">
                <a:pos x="T24" y="T25"/>
              </a:cxn>
              <a:cxn ang="T83">
                <a:pos x="T26" y="T27"/>
              </a:cxn>
              <a:cxn ang="T84">
                <a:pos x="T28" y="T29"/>
              </a:cxn>
              <a:cxn ang="T85">
                <a:pos x="T30" y="T31"/>
              </a:cxn>
              <a:cxn ang="T86">
                <a:pos x="T32" y="T33"/>
              </a:cxn>
              <a:cxn ang="T87">
                <a:pos x="T34" y="T35"/>
              </a:cxn>
              <a:cxn ang="T88">
                <a:pos x="T36" y="T37"/>
              </a:cxn>
              <a:cxn ang="T89">
                <a:pos x="T38" y="T39"/>
              </a:cxn>
              <a:cxn ang="T90">
                <a:pos x="T40" y="T41"/>
              </a:cxn>
              <a:cxn ang="T91">
                <a:pos x="T42" y="T43"/>
              </a:cxn>
              <a:cxn ang="T92">
                <a:pos x="T44" y="T45"/>
              </a:cxn>
              <a:cxn ang="T93">
                <a:pos x="T46" y="T47"/>
              </a:cxn>
              <a:cxn ang="T94">
                <a:pos x="T48" y="T49"/>
              </a:cxn>
              <a:cxn ang="T95">
                <a:pos x="T50" y="T51"/>
              </a:cxn>
              <a:cxn ang="T96">
                <a:pos x="T52" y="T53"/>
              </a:cxn>
              <a:cxn ang="T97">
                <a:pos x="T54" y="T55"/>
              </a:cxn>
              <a:cxn ang="T98">
                <a:pos x="T56" y="T57"/>
              </a:cxn>
              <a:cxn ang="T99">
                <a:pos x="T58" y="T59"/>
              </a:cxn>
              <a:cxn ang="T100">
                <a:pos x="T60" y="T61"/>
              </a:cxn>
              <a:cxn ang="T101">
                <a:pos x="T62" y="T63"/>
              </a:cxn>
              <a:cxn ang="T102">
                <a:pos x="T64" y="T65"/>
              </a:cxn>
              <a:cxn ang="T103">
                <a:pos x="T66" y="T67"/>
              </a:cxn>
              <a:cxn ang="T104">
                <a:pos x="T68" y="T69"/>
              </a:cxn>
            </a:cxnLst>
            <a:rect l="T105" t="T106" r="T107" b="T108"/>
            <a:pathLst>
              <a:path w="638" h="125">
                <a:moveTo>
                  <a:pt x="0" y="125"/>
                </a:moveTo>
                <a:lnTo>
                  <a:pt x="4" y="124"/>
                </a:lnTo>
                <a:lnTo>
                  <a:pt x="14" y="119"/>
                </a:lnTo>
                <a:lnTo>
                  <a:pt x="31" y="114"/>
                </a:lnTo>
                <a:lnTo>
                  <a:pt x="53" y="106"/>
                </a:lnTo>
                <a:lnTo>
                  <a:pt x="81" y="98"/>
                </a:lnTo>
                <a:lnTo>
                  <a:pt x="113" y="89"/>
                </a:lnTo>
                <a:lnTo>
                  <a:pt x="151" y="81"/>
                </a:lnTo>
                <a:lnTo>
                  <a:pt x="192" y="73"/>
                </a:lnTo>
                <a:lnTo>
                  <a:pt x="237" y="65"/>
                </a:lnTo>
                <a:lnTo>
                  <a:pt x="286" y="60"/>
                </a:lnTo>
                <a:lnTo>
                  <a:pt x="337" y="56"/>
                </a:lnTo>
                <a:lnTo>
                  <a:pt x="390" y="55"/>
                </a:lnTo>
                <a:lnTo>
                  <a:pt x="446" y="56"/>
                </a:lnTo>
                <a:lnTo>
                  <a:pt x="503" y="61"/>
                </a:lnTo>
                <a:lnTo>
                  <a:pt x="561" y="70"/>
                </a:lnTo>
                <a:lnTo>
                  <a:pt x="620" y="83"/>
                </a:lnTo>
                <a:lnTo>
                  <a:pt x="638" y="0"/>
                </a:lnTo>
                <a:lnTo>
                  <a:pt x="634" y="0"/>
                </a:lnTo>
                <a:lnTo>
                  <a:pt x="620" y="0"/>
                </a:lnTo>
                <a:lnTo>
                  <a:pt x="599" y="0"/>
                </a:lnTo>
                <a:lnTo>
                  <a:pt x="571" y="1"/>
                </a:lnTo>
                <a:lnTo>
                  <a:pt x="536" y="2"/>
                </a:lnTo>
                <a:lnTo>
                  <a:pt x="496" y="3"/>
                </a:lnTo>
                <a:lnTo>
                  <a:pt x="452" y="6"/>
                </a:lnTo>
                <a:lnTo>
                  <a:pt x="405" y="8"/>
                </a:lnTo>
                <a:lnTo>
                  <a:pt x="354" y="13"/>
                </a:lnTo>
                <a:lnTo>
                  <a:pt x="302" y="17"/>
                </a:lnTo>
                <a:lnTo>
                  <a:pt x="249" y="22"/>
                </a:lnTo>
                <a:lnTo>
                  <a:pt x="196" y="30"/>
                </a:lnTo>
                <a:lnTo>
                  <a:pt x="144" y="37"/>
                </a:lnTo>
                <a:lnTo>
                  <a:pt x="93" y="47"/>
                </a:lnTo>
                <a:lnTo>
                  <a:pt x="45" y="58"/>
                </a:lnTo>
                <a:lnTo>
                  <a:pt x="0" y="71"/>
                </a:lnTo>
                <a:lnTo>
                  <a:pt x="0" y="125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39" name="Freeform 157">
            <a:extLst>
              <a:ext uri="{FF2B5EF4-FFF2-40B4-BE49-F238E27FC236}">
                <a16:creationId xmlns:a16="http://schemas.microsoft.com/office/drawing/2014/main" id="{3E829118-491E-460A-A6CB-34E6E649A3E5}"/>
              </a:ext>
            </a:extLst>
          </p:cNvPr>
          <p:cNvSpPr>
            <a:spLocks/>
          </p:cNvSpPr>
          <p:nvPr/>
        </p:nvSpPr>
        <p:spPr bwMode="auto">
          <a:xfrm>
            <a:off x="6588125" y="4167188"/>
            <a:ext cx="522288" cy="174625"/>
          </a:xfrm>
          <a:custGeom>
            <a:avLst/>
            <a:gdLst>
              <a:gd name="T0" fmla="*/ 2147483646 w 1075"/>
              <a:gd name="T1" fmla="*/ 2147483646 h 356"/>
              <a:gd name="T2" fmla="*/ 2147483646 w 1075"/>
              <a:gd name="T3" fmla="*/ 2147483646 h 356"/>
              <a:gd name="T4" fmla="*/ 2147483646 w 1075"/>
              <a:gd name="T5" fmla="*/ 2147483646 h 356"/>
              <a:gd name="T6" fmla="*/ 2147483646 w 1075"/>
              <a:gd name="T7" fmla="*/ 2147483646 h 356"/>
              <a:gd name="T8" fmla="*/ 2147483646 w 1075"/>
              <a:gd name="T9" fmla="*/ 2147483646 h 356"/>
              <a:gd name="T10" fmla="*/ 2147483646 w 1075"/>
              <a:gd name="T11" fmla="*/ 2147483646 h 356"/>
              <a:gd name="T12" fmla="*/ 2147483646 w 1075"/>
              <a:gd name="T13" fmla="*/ 2147483646 h 356"/>
              <a:gd name="T14" fmla="*/ 2147483646 w 1075"/>
              <a:gd name="T15" fmla="*/ 2147483646 h 356"/>
              <a:gd name="T16" fmla="*/ 2147483646 w 1075"/>
              <a:gd name="T17" fmla="*/ 2147483646 h 356"/>
              <a:gd name="T18" fmla="*/ 2147483646 w 1075"/>
              <a:gd name="T19" fmla="*/ 2147483646 h 356"/>
              <a:gd name="T20" fmla="*/ 2147483646 w 1075"/>
              <a:gd name="T21" fmla="*/ 2147483646 h 356"/>
              <a:gd name="T22" fmla="*/ 2147483646 w 1075"/>
              <a:gd name="T23" fmla="*/ 2147483646 h 356"/>
              <a:gd name="T24" fmla="*/ 2147483646 w 1075"/>
              <a:gd name="T25" fmla="*/ 2147483646 h 356"/>
              <a:gd name="T26" fmla="*/ 2147483646 w 1075"/>
              <a:gd name="T27" fmla="*/ 2147483646 h 356"/>
              <a:gd name="T28" fmla="*/ 2147483646 w 1075"/>
              <a:gd name="T29" fmla="*/ 2147483646 h 356"/>
              <a:gd name="T30" fmla="*/ 2147483646 w 1075"/>
              <a:gd name="T31" fmla="*/ 2147483646 h 356"/>
              <a:gd name="T32" fmla="*/ 2147483646 w 1075"/>
              <a:gd name="T33" fmla="*/ 2147483646 h 356"/>
              <a:gd name="T34" fmla="*/ 0 w 1075"/>
              <a:gd name="T35" fmla="*/ 2147483646 h 356"/>
              <a:gd name="T36" fmla="*/ 2147483646 w 1075"/>
              <a:gd name="T37" fmla="*/ 0 h 356"/>
              <a:gd name="T38" fmla="*/ 2147483646 w 1075"/>
              <a:gd name="T39" fmla="*/ 2147483646 h 356"/>
              <a:gd name="T40" fmla="*/ 2147483646 w 1075"/>
              <a:gd name="T41" fmla="*/ 2147483646 h 356"/>
              <a:gd name="T42" fmla="*/ 2147483646 w 1075"/>
              <a:gd name="T43" fmla="*/ 2147483646 h 356"/>
              <a:gd name="T44" fmla="*/ 2147483646 w 1075"/>
              <a:gd name="T45" fmla="*/ 2147483646 h 356"/>
              <a:gd name="T46" fmla="*/ 2147483646 w 1075"/>
              <a:gd name="T47" fmla="*/ 2147483646 h 356"/>
              <a:gd name="T48" fmla="*/ 2147483646 w 1075"/>
              <a:gd name="T49" fmla="*/ 2147483646 h 356"/>
              <a:gd name="T50" fmla="*/ 2147483646 w 1075"/>
              <a:gd name="T51" fmla="*/ 2147483646 h 356"/>
              <a:gd name="T52" fmla="*/ 2147483646 w 1075"/>
              <a:gd name="T53" fmla="*/ 2147483646 h 356"/>
              <a:gd name="T54" fmla="*/ 2147483646 w 1075"/>
              <a:gd name="T55" fmla="*/ 2147483646 h 356"/>
              <a:gd name="T56" fmla="*/ 2147483646 w 1075"/>
              <a:gd name="T57" fmla="*/ 2147483646 h 356"/>
              <a:gd name="T58" fmla="*/ 2147483646 w 1075"/>
              <a:gd name="T59" fmla="*/ 2147483646 h 356"/>
              <a:gd name="T60" fmla="*/ 2147483646 w 1075"/>
              <a:gd name="T61" fmla="*/ 2147483646 h 356"/>
              <a:gd name="T62" fmla="*/ 2147483646 w 1075"/>
              <a:gd name="T63" fmla="*/ 2147483646 h 356"/>
              <a:gd name="T64" fmla="*/ 2147483646 w 1075"/>
              <a:gd name="T65" fmla="*/ 2147483646 h 356"/>
              <a:gd name="T66" fmla="*/ 2147483646 w 1075"/>
              <a:gd name="T67" fmla="*/ 2147483646 h 356"/>
              <a:gd name="T68" fmla="*/ 2147483646 w 1075"/>
              <a:gd name="T69" fmla="*/ 2147483646 h 356"/>
              <a:gd name="T70" fmla="*/ 2147483646 w 1075"/>
              <a:gd name="T71" fmla="*/ 2147483646 h 356"/>
              <a:gd name="T72" fmla="*/ 2147483646 w 1075"/>
              <a:gd name="T73" fmla="*/ 2147483646 h 356"/>
              <a:gd name="T74" fmla="*/ 2147483646 w 1075"/>
              <a:gd name="T75" fmla="*/ 2147483646 h 356"/>
              <a:gd name="T76" fmla="*/ 2147483646 w 1075"/>
              <a:gd name="T77" fmla="*/ 2147483646 h 35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w 1075"/>
              <a:gd name="T118" fmla="*/ 0 h 356"/>
              <a:gd name="T119" fmla="*/ 1075 w 1075"/>
              <a:gd name="T120" fmla="*/ 356 h 356"/>
            </a:gdLst>
            <a:ahLst/>
            <a:cxnLst>
              <a:cxn ang="T78">
                <a:pos x="T0" y="T1"/>
              </a:cxn>
              <a:cxn ang="T79">
                <a:pos x="T2" y="T3"/>
              </a:cxn>
              <a:cxn ang="T80">
                <a:pos x="T4" y="T5"/>
              </a:cxn>
              <a:cxn ang="T81">
                <a:pos x="T6" y="T7"/>
              </a:cxn>
              <a:cxn ang="T82">
                <a:pos x="T8" y="T9"/>
              </a:cxn>
              <a:cxn ang="T83">
                <a:pos x="T10" y="T11"/>
              </a:cxn>
              <a:cxn ang="T84">
                <a:pos x="T12" y="T13"/>
              </a:cxn>
              <a:cxn ang="T85">
                <a:pos x="T14" y="T15"/>
              </a:cxn>
              <a:cxn ang="T86">
                <a:pos x="T16" y="T17"/>
              </a:cxn>
              <a:cxn ang="T87">
                <a:pos x="T18" y="T19"/>
              </a:cxn>
              <a:cxn ang="T88">
                <a:pos x="T20" y="T21"/>
              </a:cxn>
              <a:cxn ang="T89">
                <a:pos x="T22" y="T23"/>
              </a:cxn>
              <a:cxn ang="T90">
                <a:pos x="T24" y="T25"/>
              </a:cxn>
              <a:cxn ang="T91">
                <a:pos x="T26" y="T27"/>
              </a:cxn>
              <a:cxn ang="T92">
                <a:pos x="T28" y="T29"/>
              </a:cxn>
              <a:cxn ang="T93">
                <a:pos x="T30" y="T31"/>
              </a:cxn>
              <a:cxn ang="T94">
                <a:pos x="T32" y="T33"/>
              </a:cxn>
              <a:cxn ang="T95">
                <a:pos x="T34" y="T35"/>
              </a:cxn>
              <a:cxn ang="T96">
                <a:pos x="T36" y="T37"/>
              </a:cxn>
              <a:cxn ang="T97">
                <a:pos x="T38" y="T39"/>
              </a:cxn>
              <a:cxn ang="T98">
                <a:pos x="T40" y="T41"/>
              </a:cxn>
              <a:cxn ang="T99">
                <a:pos x="T42" y="T43"/>
              </a:cxn>
              <a:cxn ang="T100">
                <a:pos x="T44" y="T45"/>
              </a:cxn>
              <a:cxn ang="T101">
                <a:pos x="T46" y="T47"/>
              </a:cxn>
              <a:cxn ang="T102">
                <a:pos x="T48" y="T49"/>
              </a:cxn>
              <a:cxn ang="T103">
                <a:pos x="T50" y="T51"/>
              </a:cxn>
              <a:cxn ang="T104">
                <a:pos x="T52" y="T53"/>
              </a:cxn>
              <a:cxn ang="T105">
                <a:pos x="T54" y="T55"/>
              </a:cxn>
              <a:cxn ang="T106">
                <a:pos x="T56" y="T57"/>
              </a:cxn>
              <a:cxn ang="T107">
                <a:pos x="T58" y="T59"/>
              </a:cxn>
              <a:cxn ang="T108">
                <a:pos x="T60" y="T61"/>
              </a:cxn>
              <a:cxn ang="T109">
                <a:pos x="T62" y="T63"/>
              </a:cxn>
              <a:cxn ang="T110">
                <a:pos x="T64" y="T65"/>
              </a:cxn>
              <a:cxn ang="T111">
                <a:pos x="T66" y="T67"/>
              </a:cxn>
              <a:cxn ang="T112">
                <a:pos x="T68" y="T69"/>
              </a:cxn>
              <a:cxn ang="T113">
                <a:pos x="T70" y="T71"/>
              </a:cxn>
              <a:cxn ang="T114">
                <a:pos x="T72" y="T73"/>
              </a:cxn>
              <a:cxn ang="T115">
                <a:pos x="T74" y="T75"/>
              </a:cxn>
              <a:cxn ang="T116">
                <a:pos x="T76" y="T77"/>
              </a:cxn>
            </a:cxnLst>
            <a:rect l="T117" t="T118" r="T119" b="T120"/>
            <a:pathLst>
              <a:path w="1075" h="356">
                <a:moveTo>
                  <a:pt x="454" y="344"/>
                </a:moveTo>
                <a:lnTo>
                  <a:pt x="456" y="343"/>
                </a:lnTo>
                <a:lnTo>
                  <a:pt x="463" y="341"/>
                </a:lnTo>
                <a:lnTo>
                  <a:pt x="472" y="337"/>
                </a:lnTo>
                <a:lnTo>
                  <a:pt x="485" y="332"/>
                </a:lnTo>
                <a:lnTo>
                  <a:pt x="501" y="325"/>
                </a:lnTo>
                <a:lnTo>
                  <a:pt x="518" y="317"/>
                </a:lnTo>
                <a:lnTo>
                  <a:pt x="538" y="308"/>
                </a:lnTo>
                <a:lnTo>
                  <a:pt x="558" y="298"/>
                </a:lnTo>
                <a:lnTo>
                  <a:pt x="580" y="287"/>
                </a:lnTo>
                <a:lnTo>
                  <a:pt x="600" y="274"/>
                </a:lnTo>
                <a:lnTo>
                  <a:pt x="621" y="262"/>
                </a:lnTo>
                <a:lnTo>
                  <a:pt x="640" y="248"/>
                </a:lnTo>
                <a:lnTo>
                  <a:pt x="658" y="234"/>
                </a:lnTo>
                <a:lnTo>
                  <a:pt x="674" y="219"/>
                </a:lnTo>
                <a:lnTo>
                  <a:pt x="688" y="204"/>
                </a:lnTo>
                <a:lnTo>
                  <a:pt x="699" y="189"/>
                </a:lnTo>
                <a:lnTo>
                  <a:pt x="0" y="18"/>
                </a:lnTo>
                <a:lnTo>
                  <a:pt x="54" y="0"/>
                </a:lnTo>
                <a:lnTo>
                  <a:pt x="1075" y="251"/>
                </a:lnTo>
                <a:lnTo>
                  <a:pt x="1033" y="274"/>
                </a:lnTo>
                <a:lnTo>
                  <a:pt x="738" y="199"/>
                </a:lnTo>
                <a:lnTo>
                  <a:pt x="737" y="200"/>
                </a:lnTo>
                <a:lnTo>
                  <a:pt x="735" y="203"/>
                </a:lnTo>
                <a:lnTo>
                  <a:pt x="730" y="207"/>
                </a:lnTo>
                <a:lnTo>
                  <a:pt x="724" y="214"/>
                </a:lnTo>
                <a:lnTo>
                  <a:pt x="716" y="222"/>
                </a:lnTo>
                <a:lnTo>
                  <a:pt x="706" y="231"/>
                </a:lnTo>
                <a:lnTo>
                  <a:pt x="694" y="242"/>
                </a:lnTo>
                <a:lnTo>
                  <a:pt x="679" y="253"/>
                </a:lnTo>
                <a:lnTo>
                  <a:pt x="662" y="265"/>
                </a:lnTo>
                <a:lnTo>
                  <a:pt x="643" y="278"/>
                </a:lnTo>
                <a:lnTo>
                  <a:pt x="621" y="291"/>
                </a:lnTo>
                <a:lnTo>
                  <a:pt x="597" y="303"/>
                </a:lnTo>
                <a:lnTo>
                  <a:pt x="570" y="317"/>
                </a:lnTo>
                <a:lnTo>
                  <a:pt x="540" y="330"/>
                </a:lnTo>
                <a:lnTo>
                  <a:pt x="508" y="343"/>
                </a:lnTo>
                <a:lnTo>
                  <a:pt x="472" y="356"/>
                </a:lnTo>
                <a:lnTo>
                  <a:pt x="454" y="34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40" name="Freeform 158">
            <a:extLst>
              <a:ext uri="{FF2B5EF4-FFF2-40B4-BE49-F238E27FC236}">
                <a16:creationId xmlns:a16="http://schemas.microsoft.com/office/drawing/2014/main" id="{38659A94-DE6C-4A77-B71B-C13F98369299}"/>
              </a:ext>
            </a:extLst>
          </p:cNvPr>
          <p:cNvSpPr>
            <a:spLocks/>
          </p:cNvSpPr>
          <p:nvPr/>
        </p:nvSpPr>
        <p:spPr bwMode="auto">
          <a:xfrm>
            <a:off x="6481763" y="4213225"/>
            <a:ext cx="530225" cy="155575"/>
          </a:xfrm>
          <a:custGeom>
            <a:avLst/>
            <a:gdLst>
              <a:gd name="T0" fmla="*/ 0 w 1095"/>
              <a:gd name="T1" fmla="*/ 0 h 319"/>
              <a:gd name="T2" fmla="*/ 2147483646 w 1095"/>
              <a:gd name="T3" fmla="*/ 2147483646 h 319"/>
              <a:gd name="T4" fmla="*/ 2147483646 w 1095"/>
              <a:gd name="T5" fmla="*/ 2147483646 h 319"/>
              <a:gd name="T6" fmla="*/ 2147483646 w 1095"/>
              <a:gd name="T7" fmla="*/ 0 h 319"/>
              <a:gd name="T8" fmla="*/ 0 w 1095"/>
              <a:gd name="T9" fmla="*/ 0 h 31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095"/>
              <a:gd name="T16" fmla="*/ 0 h 319"/>
              <a:gd name="T17" fmla="*/ 1095 w 1095"/>
              <a:gd name="T18" fmla="*/ 319 h 31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095" h="319">
                <a:moveTo>
                  <a:pt x="0" y="0"/>
                </a:moveTo>
                <a:lnTo>
                  <a:pt x="1071" y="319"/>
                </a:lnTo>
                <a:lnTo>
                  <a:pt x="1095" y="319"/>
                </a:lnTo>
                <a:lnTo>
                  <a:pt x="33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41" name="Freeform 159">
            <a:extLst>
              <a:ext uri="{FF2B5EF4-FFF2-40B4-BE49-F238E27FC236}">
                <a16:creationId xmlns:a16="http://schemas.microsoft.com/office/drawing/2014/main" id="{DBA5C554-3FEA-4CE0-A8D1-2BB1993FE463}"/>
              </a:ext>
            </a:extLst>
          </p:cNvPr>
          <p:cNvSpPr>
            <a:spLocks/>
          </p:cNvSpPr>
          <p:nvPr/>
        </p:nvSpPr>
        <p:spPr bwMode="auto">
          <a:xfrm>
            <a:off x="6570663" y="4192588"/>
            <a:ext cx="525462" cy="138112"/>
          </a:xfrm>
          <a:custGeom>
            <a:avLst/>
            <a:gdLst>
              <a:gd name="T0" fmla="*/ 0 w 1082"/>
              <a:gd name="T1" fmla="*/ 2147483646 h 285"/>
              <a:gd name="T2" fmla="*/ 2147483646 w 1082"/>
              <a:gd name="T3" fmla="*/ 2147483646 h 285"/>
              <a:gd name="T4" fmla="*/ 2147483646 w 1082"/>
              <a:gd name="T5" fmla="*/ 2147483646 h 285"/>
              <a:gd name="T6" fmla="*/ 2147483646 w 1082"/>
              <a:gd name="T7" fmla="*/ 0 h 285"/>
              <a:gd name="T8" fmla="*/ 0 w 1082"/>
              <a:gd name="T9" fmla="*/ 2147483646 h 28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082"/>
              <a:gd name="T16" fmla="*/ 0 h 285"/>
              <a:gd name="T17" fmla="*/ 1082 w 1082"/>
              <a:gd name="T18" fmla="*/ 285 h 28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082" h="285">
                <a:moveTo>
                  <a:pt x="0" y="1"/>
                </a:moveTo>
                <a:lnTo>
                  <a:pt x="1058" y="285"/>
                </a:lnTo>
                <a:lnTo>
                  <a:pt x="1082" y="284"/>
                </a:lnTo>
                <a:lnTo>
                  <a:pt x="33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42" name="Freeform 160">
            <a:extLst>
              <a:ext uri="{FF2B5EF4-FFF2-40B4-BE49-F238E27FC236}">
                <a16:creationId xmlns:a16="http://schemas.microsoft.com/office/drawing/2014/main" id="{299F5F4F-41DE-4C27-B8B1-8C5572194F17}"/>
              </a:ext>
            </a:extLst>
          </p:cNvPr>
          <p:cNvSpPr>
            <a:spLocks/>
          </p:cNvSpPr>
          <p:nvPr/>
        </p:nvSpPr>
        <p:spPr bwMode="auto">
          <a:xfrm>
            <a:off x="6527800" y="4198938"/>
            <a:ext cx="527050" cy="153987"/>
          </a:xfrm>
          <a:custGeom>
            <a:avLst/>
            <a:gdLst>
              <a:gd name="T0" fmla="*/ 0 w 1087"/>
              <a:gd name="T1" fmla="*/ 0 h 315"/>
              <a:gd name="T2" fmla="*/ 2147483646 w 1087"/>
              <a:gd name="T3" fmla="*/ 2147483646 h 315"/>
              <a:gd name="T4" fmla="*/ 2147483646 w 1087"/>
              <a:gd name="T5" fmla="*/ 2147483646 h 315"/>
              <a:gd name="T6" fmla="*/ 2147483646 w 1087"/>
              <a:gd name="T7" fmla="*/ 0 h 315"/>
              <a:gd name="T8" fmla="*/ 0 w 1087"/>
              <a:gd name="T9" fmla="*/ 0 h 31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087"/>
              <a:gd name="T16" fmla="*/ 0 h 315"/>
              <a:gd name="T17" fmla="*/ 1087 w 1087"/>
              <a:gd name="T18" fmla="*/ 315 h 31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087" h="315">
                <a:moveTo>
                  <a:pt x="0" y="0"/>
                </a:moveTo>
                <a:lnTo>
                  <a:pt x="1066" y="315"/>
                </a:lnTo>
                <a:lnTo>
                  <a:pt x="1087" y="308"/>
                </a:lnTo>
                <a:lnTo>
                  <a:pt x="31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0043" name="Group 161">
            <a:extLst>
              <a:ext uri="{FF2B5EF4-FFF2-40B4-BE49-F238E27FC236}">
                <a16:creationId xmlns:a16="http://schemas.microsoft.com/office/drawing/2014/main" id="{432EEB1A-C437-46AC-835F-E6C85A6C0617}"/>
              </a:ext>
            </a:extLst>
          </p:cNvPr>
          <p:cNvGrpSpPr>
            <a:grpSpLocks/>
          </p:cNvGrpSpPr>
          <p:nvPr/>
        </p:nvGrpSpPr>
        <p:grpSpPr bwMode="auto">
          <a:xfrm>
            <a:off x="6638925" y="3317875"/>
            <a:ext cx="649288" cy="904875"/>
            <a:chOff x="12762" y="10336"/>
            <a:chExt cx="1027" cy="1700"/>
          </a:xfrm>
        </p:grpSpPr>
        <p:sp>
          <p:nvSpPr>
            <p:cNvPr id="170306" name="Rectangle 162">
              <a:extLst>
                <a:ext uri="{FF2B5EF4-FFF2-40B4-BE49-F238E27FC236}">
                  <a16:creationId xmlns:a16="http://schemas.microsoft.com/office/drawing/2014/main" id="{843C5ABC-0F5A-49F2-B983-AAA650FE1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307" name="Rectangle 163">
              <a:extLst>
                <a:ext uri="{FF2B5EF4-FFF2-40B4-BE49-F238E27FC236}">
                  <a16:creationId xmlns:a16="http://schemas.microsoft.com/office/drawing/2014/main" id="{5A18280F-1BF0-4CF7-B0D8-5A63688F5D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308" name="Line 164">
              <a:extLst>
                <a:ext uri="{FF2B5EF4-FFF2-40B4-BE49-F238E27FC236}">
                  <a16:creationId xmlns:a16="http://schemas.microsoft.com/office/drawing/2014/main" id="{8DB02830-F749-499D-8E8D-8A63F52CA6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09" name="Line 165">
              <a:extLst>
                <a:ext uri="{FF2B5EF4-FFF2-40B4-BE49-F238E27FC236}">
                  <a16:creationId xmlns:a16="http://schemas.microsoft.com/office/drawing/2014/main" id="{B8EC4BD4-6932-473F-A0FA-A786851E3D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10" name="Line 166">
              <a:extLst>
                <a:ext uri="{FF2B5EF4-FFF2-40B4-BE49-F238E27FC236}">
                  <a16:creationId xmlns:a16="http://schemas.microsoft.com/office/drawing/2014/main" id="{D47031F7-3473-4B95-ACBD-7C8F9B693B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11" name="Line 167">
              <a:extLst>
                <a:ext uri="{FF2B5EF4-FFF2-40B4-BE49-F238E27FC236}">
                  <a16:creationId xmlns:a16="http://schemas.microsoft.com/office/drawing/2014/main" id="{5534E7BB-A38E-40BB-8FBF-540E696606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70044" name="Group 208">
            <a:extLst>
              <a:ext uri="{FF2B5EF4-FFF2-40B4-BE49-F238E27FC236}">
                <a16:creationId xmlns:a16="http://schemas.microsoft.com/office/drawing/2014/main" id="{5540183E-5BC3-4A34-BA81-D92E5B549F31}"/>
              </a:ext>
            </a:extLst>
          </p:cNvPr>
          <p:cNvGrpSpPr>
            <a:grpSpLocks/>
          </p:cNvGrpSpPr>
          <p:nvPr/>
        </p:nvGrpSpPr>
        <p:grpSpPr bwMode="auto">
          <a:xfrm>
            <a:off x="6153150" y="5392738"/>
            <a:ext cx="647700" cy="906462"/>
            <a:chOff x="12762" y="10336"/>
            <a:chExt cx="1027" cy="1700"/>
          </a:xfrm>
        </p:grpSpPr>
        <p:sp>
          <p:nvSpPr>
            <p:cNvPr id="170300" name="Rectangle 209">
              <a:extLst>
                <a:ext uri="{FF2B5EF4-FFF2-40B4-BE49-F238E27FC236}">
                  <a16:creationId xmlns:a16="http://schemas.microsoft.com/office/drawing/2014/main" id="{3552B6E8-2D7A-47D7-B732-82461CD5DE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301" name="Rectangle 210">
              <a:extLst>
                <a:ext uri="{FF2B5EF4-FFF2-40B4-BE49-F238E27FC236}">
                  <a16:creationId xmlns:a16="http://schemas.microsoft.com/office/drawing/2014/main" id="{50FA9539-36E1-4F15-8A1F-22C061D33B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302" name="Line 211">
              <a:extLst>
                <a:ext uri="{FF2B5EF4-FFF2-40B4-BE49-F238E27FC236}">
                  <a16:creationId xmlns:a16="http://schemas.microsoft.com/office/drawing/2014/main" id="{0A4BE7D8-DC52-4535-9F7F-10DAD442CE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03" name="Line 212">
              <a:extLst>
                <a:ext uri="{FF2B5EF4-FFF2-40B4-BE49-F238E27FC236}">
                  <a16:creationId xmlns:a16="http://schemas.microsoft.com/office/drawing/2014/main" id="{91FFCF7C-E335-44D1-B2FD-B0C768EBA9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04" name="Line 213">
              <a:extLst>
                <a:ext uri="{FF2B5EF4-FFF2-40B4-BE49-F238E27FC236}">
                  <a16:creationId xmlns:a16="http://schemas.microsoft.com/office/drawing/2014/main" id="{C331FBB7-3B28-4AF2-BCF3-154B2659EB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305" name="Line 214">
              <a:extLst>
                <a:ext uri="{FF2B5EF4-FFF2-40B4-BE49-F238E27FC236}">
                  <a16:creationId xmlns:a16="http://schemas.microsoft.com/office/drawing/2014/main" id="{2A029650-A1CF-4096-83F2-DE1FE4775F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0045" name="Line 215">
            <a:extLst>
              <a:ext uri="{FF2B5EF4-FFF2-40B4-BE49-F238E27FC236}">
                <a16:creationId xmlns:a16="http://schemas.microsoft.com/office/drawing/2014/main" id="{1AEFDDB5-678F-4953-B049-0C0874A3594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49613" y="3146425"/>
            <a:ext cx="295275" cy="1047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46" name="Text Box 216">
            <a:extLst>
              <a:ext uri="{FF2B5EF4-FFF2-40B4-BE49-F238E27FC236}">
                <a16:creationId xmlns:a16="http://schemas.microsoft.com/office/drawing/2014/main" id="{BE74DCF5-30EB-4D6B-AD84-62D046FD25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5213" y="2846388"/>
            <a:ext cx="6175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out</a:t>
            </a:r>
            <a:endParaRPr lang="en-US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0047" name="Line 217">
            <a:extLst>
              <a:ext uri="{FF2B5EF4-FFF2-40B4-BE49-F238E27FC236}">
                <a16:creationId xmlns:a16="http://schemas.microsoft.com/office/drawing/2014/main" id="{68619C99-530C-4288-8822-3D2A6503AAA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0038" y="3194050"/>
            <a:ext cx="200025" cy="2190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48" name="Line 218">
            <a:extLst>
              <a:ext uri="{FF2B5EF4-FFF2-40B4-BE49-F238E27FC236}">
                <a16:creationId xmlns:a16="http://schemas.microsoft.com/office/drawing/2014/main" id="{85D553F0-D6E7-4E38-AFBC-367CC940F9B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57763" y="4257675"/>
            <a:ext cx="247650" cy="23812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0049" name="Group 219">
            <a:extLst>
              <a:ext uri="{FF2B5EF4-FFF2-40B4-BE49-F238E27FC236}">
                <a16:creationId xmlns:a16="http://schemas.microsoft.com/office/drawing/2014/main" id="{917C21D1-1A50-47BE-A17B-51CA637DA4D5}"/>
              </a:ext>
            </a:extLst>
          </p:cNvPr>
          <p:cNvGrpSpPr>
            <a:grpSpLocks/>
          </p:cNvGrpSpPr>
          <p:nvPr/>
        </p:nvGrpSpPr>
        <p:grpSpPr bwMode="auto">
          <a:xfrm>
            <a:off x="4041775" y="4400550"/>
            <a:ext cx="1073150" cy="422275"/>
            <a:chOff x="9542" y="11900"/>
            <a:chExt cx="1624" cy="640"/>
          </a:xfrm>
        </p:grpSpPr>
        <p:sp>
          <p:nvSpPr>
            <p:cNvPr id="170278" name="Oval 220">
              <a:extLst>
                <a:ext uri="{FF2B5EF4-FFF2-40B4-BE49-F238E27FC236}">
                  <a16:creationId xmlns:a16="http://schemas.microsoft.com/office/drawing/2014/main" id="{32A9E4EC-24DA-4AF5-A93F-5029E5AAB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57" y="12185"/>
              <a:ext cx="1608" cy="355"/>
            </a:xfrm>
            <a:prstGeom prst="ellipse">
              <a:avLst/>
            </a:prstGeom>
            <a:solidFill>
              <a:srgbClr val="C0C0C0"/>
            </a:solidFill>
            <a:ln w="12700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79" name="Line 221">
              <a:extLst>
                <a:ext uri="{FF2B5EF4-FFF2-40B4-BE49-F238E27FC236}">
                  <a16:creationId xmlns:a16="http://schemas.microsoft.com/office/drawing/2014/main" id="{C0B3DBB8-274B-4110-8905-46C65C2F8F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57" y="12156"/>
              <a:ext cx="1" cy="21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80" name="Line 222">
              <a:extLst>
                <a:ext uri="{FF2B5EF4-FFF2-40B4-BE49-F238E27FC236}">
                  <a16:creationId xmlns:a16="http://schemas.microsoft.com/office/drawing/2014/main" id="{77CD586D-2955-4FEC-BB8B-C9ED2147ED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165" y="12156"/>
              <a:ext cx="1" cy="219"/>
            </a:xfrm>
            <a:prstGeom prst="line">
              <a:avLst/>
            </a:prstGeom>
            <a:noFill/>
            <a:ln w="1270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81" name="Rectangle 223">
              <a:extLst>
                <a:ext uri="{FF2B5EF4-FFF2-40B4-BE49-F238E27FC236}">
                  <a16:creationId xmlns:a16="http://schemas.microsoft.com/office/drawing/2014/main" id="{A3E055FD-A1D8-4826-92A3-32F3F29CFB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57" y="12156"/>
              <a:ext cx="381" cy="215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000">
                <a:solidFill>
                  <a:srgbClr val="00000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170282" name="Rectangle 224">
              <a:extLst>
                <a:ext uri="{FF2B5EF4-FFF2-40B4-BE49-F238E27FC236}">
                  <a16:creationId xmlns:a16="http://schemas.microsoft.com/office/drawing/2014/main" id="{C6A5B295-6313-4FBC-9859-23B6F0EC2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79" y="12141"/>
              <a:ext cx="486" cy="215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000">
                <a:solidFill>
                  <a:srgbClr val="00000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170283" name="Oval 225">
              <a:extLst>
                <a:ext uri="{FF2B5EF4-FFF2-40B4-BE49-F238E27FC236}">
                  <a16:creationId xmlns:a16="http://schemas.microsoft.com/office/drawing/2014/main" id="{1CBD889A-CE36-4D5C-B426-D30A367A6B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42" y="11900"/>
              <a:ext cx="1608" cy="414"/>
            </a:xfrm>
            <a:prstGeom prst="ellipse">
              <a:avLst/>
            </a:prstGeom>
            <a:solidFill>
              <a:srgbClr val="C0C0C0"/>
            </a:solidFill>
            <a:ln w="12700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284" name="Group 226">
              <a:extLst>
                <a:ext uri="{FF2B5EF4-FFF2-40B4-BE49-F238E27FC236}">
                  <a16:creationId xmlns:a16="http://schemas.microsoft.com/office/drawing/2014/main" id="{033940F8-CFD1-4A8F-A8D5-5B975FAB39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30" y="11991"/>
              <a:ext cx="796" cy="242"/>
              <a:chOff x="2848" y="848"/>
              <a:chExt cx="140" cy="98"/>
            </a:xfrm>
          </p:grpSpPr>
          <p:sp>
            <p:nvSpPr>
              <p:cNvPr id="170297" name="Line 227">
                <a:extLst>
                  <a:ext uri="{FF2B5EF4-FFF2-40B4-BE49-F238E27FC236}">
                    <a16:creationId xmlns:a16="http://schemas.microsoft.com/office/drawing/2014/main" id="{32AF5648-F4E9-4EE1-BB18-5CF1A2E71B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0298" name="Line 228">
                <a:extLst>
                  <a:ext uri="{FF2B5EF4-FFF2-40B4-BE49-F238E27FC236}">
                    <a16:creationId xmlns:a16="http://schemas.microsoft.com/office/drawing/2014/main" id="{9843E3BA-C604-48CD-B4DA-4EEFDB78EF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0299" name="Line 229">
                <a:extLst>
                  <a:ext uri="{FF2B5EF4-FFF2-40B4-BE49-F238E27FC236}">
                    <a16:creationId xmlns:a16="http://schemas.microsoft.com/office/drawing/2014/main" id="{F08D2020-3541-4230-B373-FFBE67DD47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170285" name="Group 230">
              <a:extLst>
                <a:ext uri="{FF2B5EF4-FFF2-40B4-BE49-F238E27FC236}">
                  <a16:creationId xmlns:a16="http://schemas.microsoft.com/office/drawing/2014/main" id="{E4329EC1-3DB7-43A6-8F79-E1F5365A3D0F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9930" y="11987"/>
              <a:ext cx="796" cy="242"/>
              <a:chOff x="2848" y="848"/>
              <a:chExt cx="140" cy="98"/>
            </a:xfrm>
          </p:grpSpPr>
          <p:sp>
            <p:nvSpPr>
              <p:cNvPr id="170294" name="Line 231">
                <a:extLst>
                  <a:ext uri="{FF2B5EF4-FFF2-40B4-BE49-F238E27FC236}">
                    <a16:creationId xmlns:a16="http://schemas.microsoft.com/office/drawing/2014/main" id="{0398AF72-80B4-4785-B965-9691FD168A5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0295" name="Line 232">
                <a:extLst>
                  <a:ext uri="{FF2B5EF4-FFF2-40B4-BE49-F238E27FC236}">
                    <a16:creationId xmlns:a16="http://schemas.microsoft.com/office/drawing/2014/main" id="{34F4012F-3142-477B-BCAF-DA99402E0E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0296" name="Line 233">
                <a:extLst>
                  <a:ext uri="{FF2B5EF4-FFF2-40B4-BE49-F238E27FC236}">
                    <a16:creationId xmlns:a16="http://schemas.microsoft.com/office/drawing/2014/main" id="{998E69EA-7ACB-4CAD-823C-13A42B0A53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170286" name="Group 234">
              <a:extLst>
                <a:ext uri="{FF2B5EF4-FFF2-40B4-BE49-F238E27FC236}">
                  <a16:creationId xmlns:a16="http://schemas.microsoft.com/office/drawing/2014/main" id="{E8256B30-C2AE-46AC-8459-49878EBFB2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534" y="12050"/>
              <a:ext cx="476" cy="374"/>
              <a:chOff x="11283" y="10423"/>
              <a:chExt cx="475" cy="374"/>
            </a:xfrm>
          </p:grpSpPr>
          <p:sp>
            <p:nvSpPr>
              <p:cNvPr id="170287" name="Rectangle 235">
                <a:extLst>
                  <a:ext uri="{FF2B5EF4-FFF2-40B4-BE49-F238E27FC236}">
                    <a16:creationId xmlns:a16="http://schemas.microsoft.com/office/drawing/2014/main" id="{38100C98-6162-4D03-A6E7-72196B365E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83" y="10423"/>
                <a:ext cx="475" cy="374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288" name="Line 236">
                <a:extLst>
                  <a:ext uri="{FF2B5EF4-FFF2-40B4-BE49-F238E27FC236}">
                    <a16:creationId xmlns:a16="http://schemas.microsoft.com/office/drawing/2014/main" id="{54A9216D-2B4C-4938-9C4B-188639D80A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86" y="10502"/>
                <a:ext cx="1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0289" name="Line 237">
                <a:extLst>
                  <a:ext uri="{FF2B5EF4-FFF2-40B4-BE49-F238E27FC236}">
                    <a16:creationId xmlns:a16="http://schemas.microsoft.com/office/drawing/2014/main" id="{1EFBD5C3-9520-44BA-94CC-428AE57030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21" y="10502"/>
                <a:ext cx="1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0290" name="Line 238">
                <a:extLst>
                  <a:ext uri="{FF2B5EF4-FFF2-40B4-BE49-F238E27FC236}">
                    <a16:creationId xmlns:a16="http://schemas.microsoft.com/office/drawing/2014/main" id="{B10A0EF8-7B9D-4729-91FD-C06BE84A45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56" y="10502"/>
                <a:ext cx="1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0291" name="Line 239">
                <a:extLst>
                  <a:ext uri="{FF2B5EF4-FFF2-40B4-BE49-F238E27FC236}">
                    <a16:creationId xmlns:a16="http://schemas.microsoft.com/office/drawing/2014/main" id="{897228DC-12FE-44D8-8D09-B2F2D435E2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491" y="10495"/>
                <a:ext cx="1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0292" name="Line 240">
                <a:extLst>
                  <a:ext uri="{FF2B5EF4-FFF2-40B4-BE49-F238E27FC236}">
                    <a16:creationId xmlns:a16="http://schemas.microsoft.com/office/drawing/2014/main" id="{7670FA2B-BA32-4B0D-90DF-D1DA67D0F1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426" y="10495"/>
                <a:ext cx="2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0293" name="Line 241">
                <a:extLst>
                  <a:ext uri="{FF2B5EF4-FFF2-40B4-BE49-F238E27FC236}">
                    <a16:creationId xmlns:a16="http://schemas.microsoft.com/office/drawing/2014/main" id="{522381F4-2C54-4AAE-AB31-6358457C7A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360" y="10495"/>
                <a:ext cx="3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sp>
        <p:nvSpPr>
          <p:cNvPr id="170050" name="Line 242">
            <a:extLst>
              <a:ext uri="{FF2B5EF4-FFF2-40B4-BE49-F238E27FC236}">
                <a16:creationId xmlns:a16="http://schemas.microsoft.com/office/drawing/2014/main" id="{EBD1E158-92E7-4AC5-BB65-4960716443CC}"/>
              </a:ext>
            </a:extLst>
          </p:cNvPr>
          <p:cNvSpPr>
            <a:spLocks noChangeShapeType="1"/>
          </p:cNvSpPr>
          <p:nvPr/>
        </p:nvSpPr>
        <p:spPr bwMode="auto">
          <a:xfrm>
            <a:off x="5173663" y="3565525"/>
            <a:ext cx="276225" cy="1588"/>
          </a:xfrm>
          <a:prstGeom prst="line">
            <a:avLst/>
          </a:prstGeom>
          <a:noFill/>
          <a:ln w="38100">
            <a:solidFill>
              <a:srgbClr val="FFFF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0051" name="Group 243">
            <a:extLst>
              <a:ext uri="{FF2B5EF4-FFF2-40B4-BE49-F238E27FC236}">
                <a16:creationId xmlns:a16="http://schemas.microsoft.com/office/drawing/2014/main" id="{4D92C67C-E808-4F42-BC38-9D7ED6D86843}"/>
              </a:ext>
            </a:extLst>
          </p:cNvPr>
          <p:cNvGrpSpPr>
            <a:grpSpLocks/>
          </p:cNvGrpSpPr>
          <p:nvPr/>
        </p:nvGrpSpPr>
        <p:grpSpPr bwMode="auto">
          <a:xfrm>
            <a:off x="3125788" y="3241675"/>
            <a:ext cx="90487" cy="271463"/>
            <a:chOff x="10104" y="10005"/>
            <a:chExt cx="137" cy="411"/>
          </a:xfrm>
        </p:grpSpPr>
        <p:sp>
          <p:nvSpPr>
            <p:cNvPr id="170276" name="Oval 244">
              <a:extLst>
                <a:ext uri="{FF2B5EF4-FFF2-40B4-BE49-F238E27FC236}">
                  <a16:creationId xmlns:a16="http://schemas.microsoft.com/office/drawing/2014/main" id="{7942B007-F9A0-487E-A9C8-242CD650F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005"/>
              <a:ext cx="137" cy="13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77" name="Oval 245">
              <a:extLst>
                <a:ext uri="{FF2B5EF4-FFF2-40B4-BE49-F238E27FC236}">
                  <a16:creationId xmlns:a16="http://schemas.microsoft.com/office/drawing/2014/main" id="{94AA55AE-DDC3-4277-9707-9BF0B86AF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278"/>
              <a:ext cx="137" cy="13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170052" name="Line 247">
            <a:extLst>
              <a:ext uri="{FF2B5EF4-FFF2-40B4-BE49-F238E27FC236}">
                <a16:creationId xmlns:a16="http://schemas.microsoft.com/office/drawing/2014/main" id="{2A67F6C5-A9E5-43F0-83F3-9B7369C15D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59138" y="3413125"/>
            <a:ext cx="304800" cy="381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53" name="Oval 248">
            <a:extLst>
              <a:ext uri="{FF2B5EF4-FFF2-40B4-BE49-F238E27FC236}">
                <a16:creationId xmlns:a16="http://schemas.microsoft.com/office/drawing/2014/main" id="{2F2C3F6B-70E7-4BAF-B701-32DAA38CE4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5513" y="5311775"/>
            <a:ext cx="1065212" cy="23495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70054" name="Line 249">
            <a:extLst>
              <a:ext uri="{FF2B5EF4-FFF2-40B4-BE49-F238E27FC236}">
                <a16:creationId xmlns:a16="http://schemas.microsoft.com/office/drawing/2014/main" id="{CC0A680E-2D61-4908-8336-11D3F2CE496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35513" y="5292725"/>
            <a:ext cx="1587" cy="1460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0055" name="Line 250">
            <a:extLst>
              <a:ext uri="{FF2B5EF4-FFF2-40B4-BE49-F238E27FC236}">
                <a16:creationId xmlns:a16="http://schemas.microsoft.com/office/drawing/2014/main" id="{CA10A5BA-7C50-4DED-B10B-CC193A5A8CC4}"/>
              </a:ext>
            </a:extLst>
          </p:cNvPr>
          <p:cNvSpPr>
            <a:spLocks noChangeShapeType="1"/>
          </p:cNvSpPr>
          <p:nvPr/>
        </p:nvSpPr>
        <p:spPr bwMode="auto">
          <a:xfrm>
            <a:off x="5800725" y="5292725"/>
            <a:ext cx="0" cy="146050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0056" name="Rectangle 251">
            <a:extLst>
              <a:ext uri="{FF2B5EF4-FFF2-40B4-BE49-F238E27FC236}">
                <a16:creationId xmlns:a16="http://schemas.microsoft.com/office/drawing/2014/main" id="{DA92A4AC-FD1A-4956-A4E7-0C19FC736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5513" y="5292725"/>
            <a:ext cx="252412" cy="14287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0057" name="Rectangle 252">
            <a:extLst>
              <a:ext uri="{FF2B5EF4-FFF2-40B4-BE49-F238E27FC236}">
                <a16:creationId xmlns:a16="http://schemas.microsoft.com/office/drawing/2014/main" id="{93600E8F-F8D7-4C57-91F4-B92B84458E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5283200"/>
            <a:ext cx="322262" cy="14287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0058" name="Oval 253">
            <a:extLst>
              <a:ext uri="{FF2B5EF4-FFF2-40B4-BE49-F238E27FC236}">
                <a16:creationId xmlns:a16="http://schemas.microsoft.com/office/drawing/2014/main" id="{07E0FD1E-170B-40B9-B340-E29F5CD4E6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463" y="5124450"/>
            <a:ext cx="1063625" cy="27305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70059" name="Group 254">
            <a:extLst>
              <a:ext uri="{FF2B5EF4-FFF2-40B4-BE49-F238E27FC236}">
                <a16:creationId xmlns:a16="http://schemas.microsoft.com/office/drawing/2014/main" id="{4019FEBB-DA43-4221-9A37-3E010DB49911}"/>
              </a:ext>
            </a:extLst>
          </p:cNvPr>
          <p:cNvGrpSpPr>
            <a:grpSpLocks/>
          </p:cNvGrpSpPr>
          <p:nvPr/>
        </p:nvGrpSpPr>
        <p:grpSpPr bwMode="auto">
          <a:xfrm>
            <a:off x="4983163" y="5184775"/>
            <a:ext cx="527050" cy="158750"/>
            <a:chOff x="2848" y="848"/>
            <a:chExt cx="140" cy="98"/>
          </a:xfrm>
        </p:grpSpPr>
        <p:sp>
          <p:nvSpPr>
            <p:cNvPr id="170273" name="Line 255">
              <a:extLst>
                <a:ext uri="{FF2B5EF4-FFF2-40B4-BE49-F238E27FC236}">
                  <a16:creationId xmlns:a16="http://schemas.microsoft.com/office/drawing/2014/main" id="{0DBDCA72-78CA-4711-811F-466C50E560C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74" name="Line 256">
              <a:extLst>
                <a:ext uri="{FF2B5EF4-FFF2-40B4-BE49-F238E27FC236}">
                  <a16:creationId xmlns:a16="http://schemas.microsoft.com/office/drawing/2014/main" id="{CD5A6B8F-B9A9-4799-BBF9-C452ECAEB9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75" name="Line 257">
              <a:extLst>
                <a:ext uri="{FF2B5EF4-FFF2-40B4-BE49-F238E27FC236}">
                  <a16:creationId xmlns:a16="http://schemas.microsoft.com/office/drawing/2014/main" id="{2962317C-A973-416A-AB96-2C4A451477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0060" name="Group 258">
            <a:extLst>
              <a:ext uri="{FF2B5EF4-FFF2-40B4-BE49-F238E27FC236}">
                <a16:creationId xmlns:a16="http://schemas.microsoft.com/office/drawing/2014/main" id="{89E9C49C-FF50-401C-B250-ACCFA34901C8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4983163" y="5181600"/>
            <a:ext cx="527050" cy="160338"/>
            <a:chOff x="2848" y="848"/>
            <a:chExt cx="140" cy="98"/>
          </a:xfrm>
        </p:grpSpPr>
        <p:sp>
          <p:nvSpPr>
            <p:cNvPr id="170270" name="Line 259">
              <a:extLst>
                <a:ext uri="{FF2B5EF4-FFF2-40B4-BE49-F238E27FC236}">
                  <a16:creationId xmlns:a16="http://schemas.microsoft.com/office/drawing/2014/main" id="{8047B8CA-2148-4675-B684-286DD654F8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71" name="Line 260">
              <a:extLst>
                <a:ext uri="{FF2B5EF4-FFF2-40B4-BE49-F238E27FC236}">
                  <a16:creationId xmlns:a16="http://schemas.microsoft.com/office/drawing/2014/main" id="{1A0E9BDB-5B9E-4EDD-9D02-0931F228EF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72" name="Line 261">
              <a:extLst>
                <a:ext uri="{FF2B5EF4-FFF2-40B4-BE49-F238E27FC236}">
                  <a16:creationId xmlns:a16="http://schemas.microsoft.com/office/drawing/2014/main" id="{2FA209FA-AACC-4557-B841-8E1768DE50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0061" name="Group 262">
            <a:extLst>
              <a:ext uri="{FF2B5EF4-FFF2-40B4-BE49-F238E27FC236}">
                <a16:creationId xmlns:a16="http://schemas.microsoft.com/office/drawing/2014/main" id="{131F8C33-1201-454C-956C-FF6CBB173A83}"/>
              </a:ext>
            </a:extLst>
          </p:cNvPr>
          <p:cNvGrpSpPr>
            <a:grpSpLocks/>
          </p:cNvGrpSpPr>
          <p:nvPr/>
        </p:nvGrpSpPr>
        <p:grpSpPr bwMode="auto">
          <a:xfrm rot="7844936">
            <a:off x="4983163" y="5313363"/>
            <a:ext cx="322262" cy="239712"/>
            <a:chOff x="11283" y="10423"/>
            <a:chExt cx="475" cy="374"/>
          </a:xfrm>
        </p:grpSpPr>
        <p:sp>
          <p:nvSpPr>
            <p:cNvPr id="170263" name="Rectangle 263">
              <a:extLst>
                <a:ext uri="{FF2B5EF4-FFF2-40B4-BE49-F238E27FC236}">
                  <a16:creationId xmlns:a16="http://schemas.microsoft.com/office/drawing/2014/main" id="{BBEDB522-812C-47D8-933D-079B40A020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64" name="Line 264">
              <a:extLst>
                <a:ext uri="{FF2B5EF4-FFF2-40B4-BE49-F238E27FC236}">
                  <a16:creationId xmlns:a16="http://schemas.microsoft.com/office/drawing/2014/main" id="{9A7E86D1-2098-4D17-8A4E-E19DAAFA07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65" name="Line 265">
              <a:extLst>
                <a:ext uri="{FF2B5EF4-FFF2-40B4-BE49-F238E27FC236}">
                  <a16:creationId xmlns:a16="http://schemas.microsoft.com/office/drawing/2014/main" id="{D138F9AC-7CBA-435B-9DD6-6749743D1D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66" name="Line 266">
              <a:extLst>
                <a:ext uri="{FF2B5EF4-FFF2-40B4-BE49-F238E27FC236}">
                  <a16:creationId xmlns:a16="http://schemas.microsoft.com/office/drawing/2014/main" id="{AB3647CA-6583-4E33-8B02-ED25E8B5F5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67" name="Line 267">
              <a:extLst>
                <a:ext uri="{FF2B5EF4-FFF2-40B4-BE49-F238E27FC236}">
                  <a16:creationId xmlns:a16="http://schemas.microsoft.com/office/drawing/2014/main" id="{79BAF131-015D-4A48-9906-D2355E9ACF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68" name="Line 268">
              <a:extLst>
                <a:ext uri="{FF2B5EF4-FFF2-40B4-BE49-F238E27FC236}">
                  <a16:creationId xmlns:a16="http://schemas.microsoft.com/office/drawing/2014/main" id="{558AC2DC-E98F-4C8F-B7B0-793809479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69" name="Line 269">
              <a:extLst>
                <a:ext uri="{FF2B5EF4-FFF2-40B4-BE49-F238E27FC236}">
                  <a16:creationId xmlns:a16="http://schemas.microsoft.com/office/drawing/2014/main" id="{E0DB4ECC-0D64-4FF7-9D8B-1221EE83AF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0062" name="Line 270">
            <a:extLst>
              <a:ext uri="{FF2B5EF4-FFF2-40B4-BE49-F238E27FC236}">
                <a16:creationId xmlns:a16="http://schemas.microsoft.com/office/drawing/2014/main" id="{93CB8917-59C0-42D9-AA31-1F010C8D2E7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800475" y="6175375"/>
            <a:ext cx="1981200" cy="1905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63" name="Line 271">
            <a:extLst>
              <a:ext uri="{FF2B5EF4-FFF2-40B4-BE49-F238E27FC236}">
                <a16:creationId xmlns:a16="http://schemas.microsoft.com/office/drawing/2014/main" id="{DFCADCE3-3CB2-454B-8D38-03F90F8373E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19600" y="5527675"/>
            <a:ext cx="620713" cy="6572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64" name="Freeform 272">
            <a:extLst>
              <a:ext uri="{FF2B5EF4-FFF2-40B4-BE49-F238E27FC236}">
                <a16:creationId xmlns:a16="http://schemas.microsoft.com/office/drawing/2014/main" id="{93F5F335-979D-4CD6-8D05-11A8D3EDE885}"/>
              </a:ext>
            </a:extLst>
          </p:cNvPr>
          <p:cNvSpPr>
            <a:spLocks/>
          </p:cNvSpPr>
          <p:nvPr/>
        </p:nvSpPr>
        <p:spPr bwMode="auto">
          <a:xfrm>
            <a:off x="3171825" y="3279775"/>
            <a:ext cx="3305175" cy="2857500"/>
          </a:xfrm>
          <a:custGeom>
            <a:avLst/>
            <a:gdLst>
              <a:gd name="T0" fmla="*/ 0 w 5205"/>
              <a:gd name="T1" fmla="*/ 0 h 4500"/>
              <a:gd name="T2" fmla="*/ 0 w 5205"/>
              <a:gd name="T3" fmla="*/ 2147483646 h 4500"/>
              <a:gd name="T4" fmla="*/ 2147483646 w 5205"/>
              <a:gd name="T5" fmla="*/ 2147483646 h 4500"/>
              <a:gd name="T6" fmla="*/ 2147483646 w 5205"/>
              <a:gd name="T7" fmla="*/ 2147483646 h 4500"/>
              <a:gd name="T8" fmla="*/ 2147483646 w 5205"/>
              <a:gd name="T9" fmla="*/ 2147483646 h 4500"/>
              <a:gd name="T10" fmla="*/ 2147483646 w 5205"/>
              <a:gd name="T11" fmla="*/ 2147483646 h 4500"/>
              <a:gd name="T12" fmla="*/ 2147483646 w 5205"/>
              <a:gd name="T13" fmla="*/ 2147483646 h 4500"/>
              <a:gd name="T14" fmla="*/ 2147483646 w 5205"/>
              <a:gd name="T15" fmla="*/ 2147483646 h 450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05"/>
              <a:gd name="T25" fmla="*/ 0 h 4500"/>
              <a:gd name="T26" fmla="*/ 5205 w 5205"/>
              <a:gd name="T27" fmla="*/ 4500 h 450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05" h="4500">
                <a:moveTo>
                  <a:pt x="0" y="0"/>
                </a:moveTo>
                <a:lnTo>
                  <a:pt x="0" y="1320"/>
                </a:lnTo>
                <a:lnTo>
                  <a:pt x="1230" y="1350"/>
                </a:lnTo>
                <a:lnTo>
                  <a:pt x="495" y="2040"/>
                </a:lnTo>
                <a:lnTo>
                  <a:pt x="4515" y="2115"/>
                </a:lnTo>
                <a:lnTo>
                  <a:pt x="2220" y="4500"/>
                </a:lnTo>
                <a:lnTo>
                  <a:pt x="5205" y="4500"/>
                </a:lnTo>
                <a:lnTo>
                  <a:pt x="5205" y="3405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65" name="Oval 273">
            <a:extLst>
              <a:ext uri="{FF2B5EF4-FFF2-40B4-BE49-F238E27FC236}">
                <a16:creationId xmlns:a16="http://schemas.microsoft.com/office/drawing/2014/main" id="{B0579D1D-A702-4C00-B085-0D5C9253F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5" y="6111875"/>
            <a:ext cx="1062038" cy="23495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70066" name="Line 274">
            <a:extLst>
              <a:ext uri="{FF2B5EF4-FFF2-40B4-BE49-F238E27FC236}">
                <a16:creationId xmlns:a16="http://schemas.microsoft.com/office/drawing/2014/main" id="{B24A52DE-5B15-413C-B8E9-9307AFC66A1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4975" y="6092825"/>
            <a:ext cx="0" cy="144463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0067" name="Line 275">
            <a:extLst>
              <a:ext uri="{FF2B5EF4-FFF2-40B4-BE49-F238E27FC236}">
                <a16:creationId xmlns:a16="http://schemas.microsoft.com/office/drawing/2014/main" id="{2CBA2383-8C00-4A0B-84EE-1C7E532F7315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7013" y="6092825"/>
            <a:ext cx="1587" cy="144463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0068" name="Rectangle 276">
            <a:extLst>
              <a:ext uri="{FF2B5EF4-FFF2-40B4-BE49-F238E27FC236}">
                <a16:creationId xmlns:a16="http://schemas.microsoft.com/office/drawing/2014/main" id="{0714A4E5-3061-4AE1-88A3-BBD57E3F0C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5" y="6092825"/>
            <a:ext cx="250825" cy="14287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0069" name="Rectangle 277">
            <a:extLst>
              <a:ext uri="{FF2B5EF4-FFF2-40B4-BE49-F238E27FC236}">
                <a16:creationId xmlns:a16="http://schemas.microsoft.com/office/drawing/2014/main" id="{1B448B88-B896-45B2-B031-526485BE1D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0" y="6083300"/>
            <a:ext cx="322263" cy="14287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0070" name="Oval 278">
            <a:extLst>
              <a:ext uri="{FF2B5EF4-FFF2-40B4-BE49-F238E27FC236}">
                <a16:creationId xmlns:a16="http://schemas.microsoft.com/office/drawing/2014/main" id="{E8402E26-5C57-4B7A-AA0E-8EA8D6596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3863" y="5924550"/>
            <a:ext cx="1063625" cy="27305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70071" name="Group 279">
            <a:extLst>
              <a:ext uri="{FF2B5EF4-FFF2-40B4-BE49-F238E27FC236}">
                <a16:creationId xmlns:a16="http://schemas.microsoft.com/office/drawing/2014/main" id="{C781B1E1-E1B2-4F7A-BDB6-D4523D19ADD5}"/>
              </a:ext>
            </a:extLst>
          </p:cNvPr>
          <p:cNvGrpSpPr>
            <a:grpSpLocks/>
          </p:cNvGrpSpPr>
          <p:nvPr/>
        </p:nvGrpSpPr>
        <p:grpSpPr bwMode="auto">
          <a:xfrm>
            <a:off x="3221038" y="5984875"/>
            <a:ext cx="525462" cy="158750"/>
            <a:chOff x="2848" y="848"/>
            <a:chExt cx="140" cy="98"/>
          </a:xfrm>
        </p:grpSpPr>
        <p:sp>
          <p:nvSpPr>
            <p:cNvPr id="170260" name="Line 280">
              <a:extLst>
                <a:ext uri="{FF2B5EF4-FFF2-40B4-BE49-F238E27FC236}">
                  <a16:creationId xmlns:a16="http://schemas.microsoft.com/office/drawing/2014/main" id="{6A14DFF5-2783-4F46-A3C1-B786B777E6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61" name="Line 281">
              <a:extLst>
                <a:ext uri="{FF2B5EF4-FFF2-40B4-BE49-F238E27FC236}">
                  <a16:creationId xmlns:a16="http://schemas.microsoft.com/office/drawing/2014/main" id="{C414B1A8-4BDE-4EB8-883F-6E60F1A89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62" name="Line 282">
              <a:extLst>
                <a:ext uri="{FF2B5EF4-FFF2-40B4-BE49-F238E27FC236}">
                  <a16:creationId xmlns:a16="http://schemas.microsoft.com/office/drawing/2014/main" id="{429A6AD7-2F81-4AEE-9547-7EA6EC3693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0072" name="Group 283">
            <a:extLst>
              <a:ext uri="{FF2B5EF4-FFF2-40B4-BE49-F238E27FC236}">
                <a16:creationId xmlns:a16="http://schemas.microsoft.com/office/drawing/2014/main" id="{A05753D3-3E7E-4B67-ACDE-A6B515D5D50F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3221038" y="5981700"/>
            <a:ext cx="525462" cy="158750"/>
            <a:chOff x="2848" y="848"/>
            <a:chExt cx="140" cy="98"/>
          </a:xfrm>
        </p:grpSpPr>
        <p:sp>
          <p:nvSpPr>
            <p:cNvPr id="170257" name="Line 284">
              <a:extLst>
                <a:ext uri="{FF2B5EF4-FFF2-40B4-BE49-F238E27FC236}">
                  <a16:creationId xmlns:a16="http://schemas.microsoft.com/office/drawing/2014/main" id="{375F7AB4-6D66-4FD0-98DD-D578F81B12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58" name="Line 285">
              <a:extLst>
                <a:ext uri="{FF2B5EF4-FFF2-40B4-BE49-F238E27FC236}">
                  <a16:creationId xmlns:a16="http://schemas.microsoft.com/office/drawing/2014/main" id="{42A888A2-DC01-422A-AC36-B22E2E4BFA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59" name="Line 286">
              <a:extLst>
                <a:ext uri="{FF2B5EF4-FFF2-40B4-BE49-F238E27FC236}">
                  <a16:creationId xmlns:a16="http://schemas.microsoft.com/office/drawing/2014/main" id="{9B514FCE-7DF5-4D16-B63E-F67D8C3E01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0073" name="Group 287">
            <a:extLst>
              <a:ext uri="{FF2B5EF4-FFF2-40B4-BE49-F238E27FC236}">
                <a16:creationId xmlns:a16="http://schemas.microsoft.com/office/drawing/2014/main" id="{974D257E-7E39-4314-97D5-C4A597F46637}"/>
              </a:ext>
            </a:extLst>
          </p:cNvPr>
          <p:cNvGrpSpPr>
            <a:grpSpLocks/>
          </p:cNvGrpSpPr>
          <p:nvPr/>
        </p:nvGrpSpPr>
        <p:grpSpPr bwMode="auto">
          <a:xfrm>
            <a:off x="3038475" y="6051550"/>
            <a:ext cx="315913" cy="247650"/>
            <a:chOff x="11283" y="10423"/>
            <a:chExt cx="475" cy="374"/>
          </a:xfrm>
        </p:grpSpPr>
        <p:sp>
          <p:nvSpPr>
            <p:cNvPr id="170250" name="Rectangle 288">
              <a:extLst>
                <a:ext uri="{FF2B5EF4-FFF2-40B4-BE49-F238E27FC236}">
                  <a16:creationId xmlns:a16="http://schemas.microsoft.com/office/drawing/2014/main" id="{E32AB91F-E1A2-41DA-A1C3-59E20C3EB7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51" name="Line 289">
              <a:extLst>
                <a:ext uri="{FF2B5EF4-FFF2-40B4-BE49-F238E27FC236}">
                  <a16:creationId xmlns:a16="http://schemas.microsoft.com/office/drawing/2014/main" id="{75EB8273-38DC-4120-80E8-3A903A8DCC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52" name="Line 290">
              <a:extLst>
                <a:ext uri="{FF2B5EF4-FFF2-40B4-BE49-F238E27FC236}">
                  <a16:creationId xmlns:a16="http://schemas.microsoft.com/office/drawing/2014/main" id="{7AB5B60B-957A-4A49-ABB5-02B88970AF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53" name="Line 291">
              <a:extLst>
                <a:ext uri="{FF2B5EF4-FFF2-40B4-BE49-F238E27FC236}">
                  <a16:creationId xmlns:a16="http://schemas.microsoft.com/office/drawing/2014/main" id="{2F38EE7D-8CA0-45A2-AFCA-1F829C00B1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54" name="Line 292">
              <a:extLst>
                <a:ext uri="{FF2B5EF4-FFF2-40B4-BE49-F238E27FC236}">
                  <a16:creationId xmlns:a16="http://schemas.microsoft.com/office/drawing/2014/main" id="{402B10FB-5FCB-4B77-BD51-AE0D03C5AA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55" name="Line 293">
              <a:extLst>
                <a:ext uri="{FF2B5EF4-FFF2-40B4-BE49-F238E27FC236}">
                  <a16:creationId xmlns:a16="http://schemas.microsoft.com/office/drawing/2014/main" id="{E87A9FB4-06BA-43DD-97F9-E5687AEE6C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56" name="Line 294">
              <a:extLst>
                <a:ext uri="{FF2B5EF4-FFF2-40B4-BE49-F238E27FC236}">
                  <a16:creationId xmlns:a16="http://schemas.microsoft.com/office/drawing/2014/main" id="{C1247BA6-0FAF-4DDA-90A6-5A1B0C8C1E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0074" name="Oval 295">
            <a:extLst>
              <a:ext uri="{FF2B5EF4-FFF2-40B4-BE49-F238E27FC236}">
                <a16:creationId xmlns:a16="http://schemas.microsoft.com/office/drawing/2014/main" id="{7762F431-3AA1-4348-AF63-03A0B338C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5213" y="5178425"/>
            <a:ext cx="1063625" cy="233363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70075" name="Line 296">
            <a:extLst>
              <a:ext uri="{FF2B5EF4-FFF2-40B4-BE49-F238E27FC236}">
                <a16:creationId xmlns:a16="http://schemas.microsoft.com/office/drawing/2014/main" id="{5647FD70-77EC-4412-8064-3D191F618C0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5213" y="5159375"/>
            <a:ext cx="1587" cy="144463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0076" name="Line 297">
            <a:extLst>
              <a:ext uri="{FF2B5EF4-FFF2-40B4-BE49-F238E27FC236}">
                <a16:creationId xmlns:a16="http://schemas.microsoft.com/office/drawing/2014/main" id="{E4E953B2-D9F3-463D-88AF-4A78F6E5EE6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8838" y="5159375"/>
            <a:ext cx="0" cy="144463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0077" name="Rectangle 298">
            <a:extLst>
              <a:ext uri="{FF2B5EF4-FFF2-40B4-BE49-F238E27FC236}">
                <a16:creationId xmlns:a16="http://schemas.microsoft.com/office/drawing/2014/main" id="{576F197D-B74E-49E4-AEFE-A8182A1E10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5213" y="5159375"/>
            <a:ext cx="252412" cy="141288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0078" name="Rectangle 299">
            <a:extLst>
              <a:ext uri="{FF2B5EF4-FFF2-40B4-BE49-F238E27FC236}">
                <a16:creationId xmlns:a16="http://schemas.microsoft.com/office/drawing/2014/main" id="{3A645278-4874-4CE6-9936-6345E12C0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6575" y="5149850"/>
            <a:ext cx="322263" cy="141288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0079" name="Oval 300">
            <a:extLst>
              <a:ext uri="{FF2B5EF4-FFF2-40B4-BE49-F238E27FC236}">
                <a16:creationId xmlns:a16="http://schemas.microsoft.com/office/drawing/2014/main" id="{BDB87309-83BB-4C3B-94F7-C3BEA693F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5688" y="4991100"/>
            <a:ext cx="1063625" cy="27305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70080" name="Group 301">
            <a:extLst>
              <a:ext uri="{FF2B5EF4-FFF2-40B4-BE49-F238E27FC236}">
                <a16:creationId xmlns:a16="http://schemas.microsoft.com/office/drawing/2014/main" id="{D7C0F724-E048-4DEB-A60F-C45367591FFD}"/>
              </a:ext>
            </a:extLst>
          </p:cNvPr>
          <p:cNvGrpSpPr>
            <a:grpSpLocks/>
          </p:cNvGrpSpPr>
          <p:nvPr/>
        </p:nvGrpSpPr>
        <p:grpSpPr bwMode="auto">
          <a:xfrm>
            <a:off x="2582863" y="5051425"/>
            <a:ext cx="525462" cy="158750"/>
            <a:chOff x="2848" y="848"/>
            <a:chExt cx="140" cy="98"/>
          </a:xfrm>
        </p:grpSpPr>
        <p:sp>
          <p:nvSpPr>
            <p:cNvPr id="170247" name="Line 302">
              <a:extLst>
                <a:ext uri="{FF2B5EF4-FFF2-40B4-BE49-F238E27FC236}">
                  <a16:creationId xmlns:a16="http://schemas.microsoft.com/office/drawing/2014/main" id="{254EEC39-F558-481F-BF92-DAC5D4D9265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48" name="Line 303">
              <a:extLst>
                <a:ext uri="{FF2B5EF4-FFF2-40B4-BE49-F238E27FC236}">
                  <a16:creationId xmlns:a16="http://schemas.microsoft.com/office/drawing/2014/main" id="{23E76A33-6A9B-4796-A20D-7CBBDA84E6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49" name="Line 304">
              <a:extLst>
                <a:ext uri="{FF2B5EF4-FFF2-40B4-BE49-F238E27FC236}">
                  <a16:creationId xmlns:a16="http://schemas.microsoft.com/office/drawing/2014/main" id="{10838B01-A485-4487-B7BD-F21927CD02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0081" name="Group 305">
            <a:extLst>
              <a:ext uri="{FF2B5EF4-FFF2-40B4-BE49-F238E27FC236}">
                <a16:creationId xmlns:a16="http://schemas.microsoft.com/office/drawing/2014/main" id="{A23C86BB-95C6-4159-902B-1389BCA53105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2582863" y="5048250"/>
            <a:ext cx="525462" cy="158750"/>
            <a:chOff x="2848" y="848"/>
            <a:chExt cx="140" cy="98"/>
          </a:xfrm>
        </p:grpSpPr>
        <p:sp>
          <p:nvSpPr>
            <p:cNvPr id="170244" name="Line 306">
              <a:extLst>
                <a:ext uri="{FF2B5EF4-FFF2-40B4-BE49-F238E27FC236}">
                  <a16:creationId xmlns:a16="http://schemas.microsoft.com/office/drawing/2014/main" id="{70A8C107-A7A1-4B20-9A3E-5A2D659B17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45" name="Line 307">
              <a:extLst>
                <a:ext uri="{FF2B5EF4-FFF2-40B4-BE49-F238E27FC236}">
                  <a16:creationId xmlns:a16="http://schemas.microsoft.com/office/drawing/2014/main" id="{3692D60F-08CA-4A46-BDA3-812D2A0E7F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0246" name="Line 308">
              <a:extLst>
                <a:ext uri="{FF2B5EF4-FFF2-40B4-BE49-F238E27FC236}">
                  <a16:creationId xmlns:a16="http://schemas.microsoft.com/office/drawing/2014/main" id="{25C0DC9B-26E0-4871-B506-878C8A53B0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70082" name="Line 309">
            <a:extLst>
              <a:ext uri="{FF2B5EF4-FFF2-40B4-BE49-F238E27FC236}">
                <a16:creationId xmlns:a16="http://schemas.microsoft.com/office/drawing/2014/main" id="{08AAE5CC-9D4D-4D30-92B4-E35227B2306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695450" y="5375275"/>
            <a:ext cx="868363" cy="81121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0083" name="Group 310">
            <a:extLst>
              <a:ext uri="{FF2B5EF4-FFF2-40B4-BE49-F238E27FC236}">
                <a16:creationId xmlns:a16="http://schemas.microsoft.com/office/drawing/2014/main" id="{79254FD1-B788-49F4-BD7A-13E08846C925}"/>
              </a:ext>
            </a:extLst>
          </p:cNvPr>
          <p:cNvGrpSpPr>
            <a:grpSpLocks/>
          </p:cNvGrpSpPr>
          <p:nvPr/>
        </p:nvGrpSpPr>
        <p:grpSpPr bwMode="auto">
          <a:xfrm rot="8027572">
            <a:off x="2678113" y="4979988"/>
            <a:ext cx="322262" cy="239712"/>
            <a:chOff x="11283" y="10423"/>
            <a:chExt cx="475" cy="374"/>
          </a:xfrm>
        </p:grpSpPr>
        <p:sp>
          <p:nvSpPr>
            <p:cNvPr id="170237" name="Rectangle 311">
              <a:extLst>
                <a:ext uri="{FF2B5EF4-FFF2-40B4-BE49-F238E27FC236}">
                  <a16:creationId xmlns:a16="http://schemas.microsoft.com/office/drawing/2014/main" id="{5CFF3301-0139-4D53-A52E-CB9915414D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38" name="Line 312">
              <a:extLst>
                <a:ext uri="{FF2B5EF4-FFF2-40B4-BE49-F238E27FC236}">
                  <a16:creationId xmlns:a16="http://schemas.microsoft.com/office/drawing/2014/main" id="{B093262F-CF85-40C5-BEEC-83B3963449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39" name="Line 313">
              <a:extLst>
                <a:ext uri="{FF2B5EF4-FFF2-40B4-BE49-F238E27FC236}">
                  <a16:creationId xmlns:a16="http://schemas.microsoft.com/office/drawing/2014/main" id="{7F6ADC12-E930-40F4-AB3E-A632EC91F7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40" name="Line 314">
              <a:extLst>
                <a:ext uri="{FF2B5EF4-FFF2-40B4-BE49-F238E27FC236}">
                  <a16:creationId xmlns:a16="http://schemas.microsoft.com/office/drawing/2014/main" id="{DFC324AA-3728-49BC-90DB-F3E4211E79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41" name="Line 315">
              <a:extLst>
                <a:ext uri="{FF2B5EF4-FFF2-40B4-BE49-F238E27FC236}">
                  <a16:creationId xmlns:a16="http://schemas.microsoft.com/office/drawing/2014/main" id="{91CC33D4-DDD9-4A57-963A-73A2154A3E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42" name="Line 316">
              <a:extLst>
                <a:ext uri="{FF2B5EF4-FFF2-40B4-BE49-F238E27FC236}">
                  <a16:creationId xmlns:a16="http://schemas.microsoft.com/office/drawing/2014/main" id="{A0578045-B51E-4FCA-B7CD-8DD2228AE5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43" name="Line 317">
              <a:extLst>
                <a:ext uri="{FF2B5EF4-FFF2-40B4-BE49-F238E27FC236}">
                  <a16:creationId xmlns:a16="http://schemas.microsoft.com/office/drawing/2014/main" id="{4C0CD462-94DB-4055-98DB-813B210035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0084" name="Freeform 318">
            <a:extLst>
              <a:ext uri="{FF2B5EF4-FFF2-40B4-BE49-F238E27FC236}">
                <a16:creationId xmlns:a16="http://schemas.microsoft.com/office/drawing/2014/main" id="{11DDA922-E0E9-41EA-9648-44F6559B1601}"/>
              </a:ext>
            </a:extLst>
          </p:cNvPr>
          <p:cNvSpPr>
            <a:spLocks/>
          </p:cNvSpPr>
          <p:nvPr/>
        </p:nvSpPr>
        <p:spPr bwMode="auto">
          <a:xfrm>
            <a:off x="1533525" y="3317875"/>
            <a:ext cx="5067300" cy="2933700"/>
          </a:xfrm>
          <a:custGeom>
            <a:avLst/>
            <a:gdLst>
              <a:gd name="T0" fmla="*/ 2147483646 w 7980"/>
              <a:gd name="T1" fmla="*/ 2147483646 h 4620"/>
              <a:gd name="T2" fmla="*/ 2147483646 w 7980"/>
              <a:gd name="T3" fmla="*/ 2147483646 h 4620"/>
              <a:gd name="T4" fmla="*/ 0 w 7980"/>
              <a:gd name="T5" fmla="*/ 2147483646 h 4620"/>
              <a:gd name="T6" fmla="*/ 2147483646 w 7980"/>
              <a:gd name="T7" fmla="*/ 2147483646 h 4620"/>
              <a:gd name="T8" fmla="*/ 2147483646 w 7980"/>
              <a:gd name="T9" fmla="*/ 2147483646 h 4620"/>
              <a:gd name="T10" fmla="*/ 2147483646 w 7980"/>
              <a:gd name="T11" fmla="*/ 0 h 462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7980"/>
              <a:gd name="T19" fmla="*/ 0 h 4620"/>
              <a:gd name="T20" fmla="*/ 7980 w 7980"/>
              <a:gd name="T21" fmla="*/ 4620 h 462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7980" h="4620">
                <a:moveTo>
                  <a:pt x="7965" y="3420"/>
                </a:moveTo>
                <a:lnTo>
                  <a:pt x="7980" y="4620"/>
                </a:lnTo>
                <a:lnTo>
                  <a:pt x="0" y="4605"/>
                </a:lnTo>
                <a:lnTo>
                  <a:pt x="3315" y="1485"/>
                </a:lnTo>
                <a:lnTo>
                  <a:pt x="2355" y="1455"/>
                </a:lnTo>
                <a:lnTo>
                  <a:pt x="2355" y="0"/>
                </a:lnTo>
              </a:path>
            </a:pathLst>
          </a:custGeom>
          <a:noFill/>
          <a:ln w="38100" cmpd="sng">
            <a:solidFill>
              <a:srgbClr val="FF00FF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85" name="Freeform 319">
            <a:extLst>
              <a:ext uri="{FF2B5EF4-FFF2-40B4-BE49-F238E27FC236}">
                <a16:creationId xmlns:a16="http://schemas.microsoft.com/office/drawing/2014/main" id="{73E49218-FDE4-4382-B1C4-479EE5853B2B}"/>
              </a:ext>
            </a:extLst>
          </p:cNvPr>
          <p:cNvSpPr>
            <a:spLocks/>
          </p:cNvSpPr>
          <p:nvPr/>
        </p:nvSpPr>
        <p:spPr bwMode="auto">
          <a:xfrm>
            <a:off x="1133475" y="3413125"/>
            <a:ext cx="5743575" cy="2886075"/>
          </a:xfrm>
          <a:custGeom>
            <a:avLst/>
            <a:gdLst>
              <a:gd name="T0" fmla="*/ 0 w 9045"/>
              <a:gd name="T1" fmla="*/ 2147483646 h 4545"/>
              <a:gd name="T2" fmla="*/ 0 w 9045"/>
              <a:gd name="T3" fmla="*/ 2147483646 h 4545"/>
              <a:gd name="T4" fmla="*/ 2147483646 w 9045"/>
              <a:gd name="T5" fmla="*/ 2147483646 h 4545"/>
              <a:gd name="T6" fmla="*/ 2147483646 w 9045"/>
              <a:gd name="T7" fmla="*/ 2147483646 h 4545"/>
              <a:gd name="T8" fmla="*/ 2147483646 w 9045"/>
              <a:gd name="T9" fmla="*/ 2147483646 h 4545"/>
              <a:gd name="T10" fmla="*/ 2147483646 w 9045"/>
              <a:gd name="T11" fmla="*/ 2147483646 h 4545"/>
              <a:gd name="T12" fmla="*/ 2147483646 w 9045"/>
              <a:gd name="T13" fmla="*/ 2147483646 h 4545"/>
              <a:gd name="T14" fmla="*/ 2147483646 w 9045"/>
              <a:gd name="T15" fmla="*/ 0 h 4545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9045"/>
              <a:gd name="T25" fmla="*/ 0 h 4545"/>
              <a:gd name="T26" fmla="*/ 9045 w 9045"/>
              <a:gd name="T27" fmla="*/ 4545 h 4545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9045" h="4545">
                <a:moveTo>
                  <a:pt x="0" y="2880"/>
                </a:moveTo>
                <a:lnTo>
                  <a:pt x="0" y="4530"/>
                </a:lnTo>
                <a:lnTo>
                  <a:pt x="885" y="4545"/>
                </a:lnTo>
                <a:lnTo>
                  <a:pt x="3510" y="2010"/>
                </a:lnTo>
                <a:lnTo>
                  <a:pt x="7140" y="2055"/>
                </a:lnTo>
                <a:lnTo>
                  <a:pt x="8145" y="1020"/>
                </a:lnTo>
                <a:lnTo>
                  <a:pt x="9045" y="1020"/>
                </a:lnTo>
                <a:lnTo>
                  <a:pt x="9015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86" name="Freeform 320">
            <a:extLst>
              <a:ext uri="{FF2B5EF4-FFF2-40B4-BE49-F238E27FC236}">
                <a16:creationId xmlns:a16="http://schemas.microsoft.com/office/drawing/2014/main" id="{2481B511-A571-4403-B2C8-24E882D9C9FD}"/>
              </a:ext>
            </a:extLst>
          </p:cNvPr>
          <p:cNvSpPr>
            <a:spLocks/>
          </p:cNvSpPr>
          <p:nvPr/>
        </p:nvSpPr>
        <p:spPr bwMode="auto">
          <a:xfrm>
            <a:off x="1257300" y="3460750"/>
            <a:ext cx="5791200" cy="2667000"/>
          </a:xfrm>
          <a:custGeom>
            <a:avLst/>
            <a:gdLst>
              <a:gd name="T0" fmla="*/ 0 w 9120"/>
              <a:gd name="T1" fmla="*/ 2147483646 h 4201"/>
              <a:gd name="T2" fmla="*/ 0 w 9120"/>
              <a:gd name="T3" fmla="*/ 2147483646 h 4201"/>
              <a:gd name="T4" fmla="*/ 2147483646 w 9120"/>
              <a:gd name="T5" fmla="*/ 2147483646 h 4201"/>
              <a:gd name="T6" fmla="*/ 2147483646 w 9120"/>
              <a:gd name="T7" fmla="*/ 2147483646 h 4201"/>
              <a:gd name="T8" fmla="*/ 2147483646 w 9120"/>
              <a:gd name="T9" fmla="*/ 2147483646 h 4201"/>
              <a:gd name="T10" fmla="*/ 2147483646 w 9120"/>
              <a:gd name="T11" fmla="*/ 0 h 4201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9120"/>
              <a:gd name="T19" fmla="*/ 0 h 4201"/>
              <a:gd name="T20" fmla="*/ 9120 w 9120"/>
              <a:gd name="T21" fmla="*/ 4201 h 4201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9120" h="4201">
                <a:moveTo>
                  <a:pt x="0" y="2821"/>
                </a:moveTo>
                <a:lnTo>
                  <a:pt x="0" y="4201"/>
                </a:lnTo>
                <a:lnTo>
                  <a:pt x="4890" y="4201"/>
                </a:lnTo>
                <a:lnTo>
                  <a:pt x="8055" y="1051"/>
                </a:lnTo>
                <a:lnTo>
                  <a:pt x="9120" y="1080"/>
                </a:lnTo>
                <a:lnTo>
                  <a:pt x="9105" y="0"/>
                </a:lnTo>
              </a:path>
            </a:pathLst>
          </a:custGeom>
          <a:noFill/>
          <a:ln w="38100" cmpd="sng">
            <a:solidFill>
              <a:srgbClr val="00FF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0087" name="Group 321">
            <a:extLst>
              <a:ext uri="{FF2B5EF4-FFF2-40B4-BE49-F238E27FC236}">
                <a16:creationId xmlns:a16="http://schemas.microsoft.com/office/drawing/2014/main" id="{D8FFA5E5-1F5A-4650-BE94-18E73692A89E}"/>
              </a:ext>
            </a:extLst>
          </p:cNvPr>
          <p:cNvGrpSpPr>
            <a:grpSpLocks/>
          </p:cNvGrpSpPr>
          <p:nvPr/>
        </p:nvGrpSpPr>
        <p:grpSpPr bwMode="auto">
          <a:xfrm>
            <a:off x="1087438" y="5213350"/>
            <a:ext cx="90487" cy="271463"/>
            <a:chOff x="10104" y="10005"/>
            <a:chExt cx="137" cy="411"/>
          </a:xfrm>
        </p:grpSpPr>
        <p:sp>
          <p:nvSpPr>
            <p:cNvPr id="170235" name="Oval 322">
              <a:extLst>
                <a:ext uri="{FF2B5EF4-FFF2-40B4-BE49-F238E27FC236}">
                  <a16:creationId xmlns:a16="http://schemas.microsoft.com/office/drawing/2014/main" id="{C8A7D2F2-DEA5-4067-8D3E-5B875B6D19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005"/>
              <a:ext cx="137" cy="138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36" name="Oval 323">
              <a:extLst>
                <a:ext uri="{FF2B5EF4-FFF2-40B4-BE49-F238E27FC236}">
                  <a16:creationId xmlns:a16="http://schemas.microsoft.com/office/drawing/2014/main" id="{4A53BF38-D348-4419-9425-BB1EFECF9D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278"/>
              <a:ext cx="137" cy="138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70088" name="Group 324">
            <a:extLst>
              <a:ext uri="{FF2B5EF4-FFF2-40B4-BE49-F238E27FC236}">
                <a16:creationId xmlns:a16="http://schemas.microsoft.com/office/drawing/2014/main" id="{7A1DAD97-C8B9-42B7-B000-2EB125F2D8CB}"/>
              </a:ext>
            </a:extLst>
          </p:cNvPr>
          <p:cNvGrpSpPr>
            <a:grpSpLocks/>
          </p:cNvGrpSpPr>
          <p:nvPr/>
        </p:nvGrpSpPr>
        <p:grpSpPr bwMode="auto">
          <a:xfrm>
            <a:off x="6543675" y="5449888"/>
            <a:ext cx="92075" cy="271462"/>
            <a:chOff x="10104" y="10005"/>
            <a:chExt cx="137" cy="411"/>
          </a:xfrm>
        </p:grpSpPr>
        <p:sp>
          <p:nvSpPr>
            <p:cNvPr id="170233" name="Oval 325">
              <a:extLst>
                <a:ext uri="{FF2B5EF4-FFF2-40B4-BE49-F238E27FC236}">
                  <a16:creationId xmlns:a16="http://schemas.microsoft.com/office/drawing/2014/main" id="{377C2600-D3F2-4470-8D6E-E27DA8327E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005"/>
              <a:ext cx="137" cy="138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34" name="Oval 326">
              <a:extLst>
                <a:ext uri="{FF2B5EF4-FFF2-40B4-BE49-F238E27FC236}">
                  <a16:creationId xmlns:a16="http://schemas.microsoft.com/office/drawing/2014/main" id="{59E5181C-287F-44BC-835D-A95425928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278"/>
              <a:ext cx="137" cy="138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70089" name="Group 327">
            <a:extLst>
              <a:ext uri="{FF2B5EF4-FFF2-40B4-BE49-F238E27FC236}">
                <a16:creationId xmlns:a16="http://schemas.microsoft.com/office/drawing/2014/main" id="{346D5459-FC33-4CDC-B4A7-A7FC0442CFD5}"/>
              </a:ext>
            </a:extLst>
          </p:cNvPr>
          <p:cNvGrpSpPr>
            <a:grpSpLocks/>
          </p:cNvGrpSpPr>
          <p:nvPr/>
        </p:nvGrpSpPr>
        <p:grpSpPr bwMode="auto">
          <a:xfrm>
            <a:off x="6991350" y="3392488"/>
            <a:ext cx="90488" cy="271462"/>
            <a:chOff x="10104" y="10005"/>
            <a:chExt cx="137" cy="411"/>
          </a:xfrm>
        </p:grpSpPr>
        <p:sp>
          <p:nvSpPr>
            <p:cNvPr id="170231" name="Oval 328">
              <a:extLst>
                <a:ext uri="{FF2B5EF4-FFF2-40B4-BE49-F238E27FC236}">
                  <a16:creationId xmlns:a16="http://schemas.microsoft.com/office/drawing/2014/main" id="{4C7FF68C-645D-4343-9664-F982A4D2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005"/>
              <a:ext cx="137" cy="138"/>
            </a:xfrm>
            <a:prstGeom prst="ellipse">
              <a:avLst/>
            </a:prstGeom>
            <a:solidFill>
              <a:srgbClr val="00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32" name="Oval 329">
              <a:extLst>
                <a:ext uri="{FF2B5EF4-FFF2-40B4-BE49-F238E27FC236}">
                  <a16:creationId xmlns:a16="http://schemas.microsoft.com/office/drawing/2014/main" id="{FEAF15F8-3521-4ADB-8F68-C4010A4530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278"/>
              <a:ext cx="137" cy="138"/>
            </a:xfrm>
            <a:prstGeom prst="ellipse">
              <a:avLst/>
            </a:prstGeom>
            <a:solidFill>
              <a:srgbClr val="00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pic>
        <p:nvPicPr>
          <p:cNvPr id="170090" name="Picture 333" descr="underline_base">
            <a:extLst>
              <a:ext uri="{FF2B5EF4-FFF2-40B4-BE49-F238E27FC236}">
                <a16:creationId xmlns:a16="http://schemas.microsoft.com/office/drawing/2014/main" id="{200BF273-CEF8-4247-B416-7D1CDF5C954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339" name="Rectangle 334">
            <a:extLst>
              <a:ext uri="{FF2B5EF4-FFF2-40B4-BE49-F238E27FC236}">
                <a16:creationId xmlns:a16="http://schemas.microsoft.com/office/drawing/2014/main" id="{ECA8C7F4-1244-4807-B5F7-604C0A95DB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3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sp>
        <p:nvSpPr>
          <p:cNvPr id="170092" name="Text Box 335">
            <a:extLst>
              <a:ext uri="{FF2B5EF4-FFF2-40B4-BE49-F238E27FC236}">
                <a16:creationId xmlns:a16="http://schemas.microsoft.com/office/drawing/2014/main" id="{130307FB-8D75-43C9-973B-7D3425026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5763" y="3055938"/>
            <a:ext cx="735012" cy="231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Host B</a:t>
            </a:r>
          </a:p>
        </p:txBody>
      </p:sp>
      <p:sp>
        <p:nvSpPr>
          <p:cNvPr id="170093" name="Text Box 336">
            <a:extLst>
              <a:ext uri="{FF2B5EF4-FFF2-40B4-BE49-F238E27FC236}">
                <a16:creationId xmlns:a16="http://schemas.microsoft.com/office/drawing/2014/main" id="{0D9B7342-EA18-491D-9F5F-880C42D43F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88075" y="5116513"/>
            <a:ext cx="735013" cy="231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Host C</a:t>
            </a:r>
          </a:p>
        </p:txBody>
      </p:sp>
      <p:sp>
        <p:nvSpPr>
          <p:cNvPr id="170094" name="Text Box 337">
            <a:extLst>
              <a:ext uri="{FF2B5EF4-FFF2-40B4-BE49-F238E27FC236}">
                <a16:creationId xmlns:a16="http://schemas.microsoft.com/office/drawing/2014/main" id="{330983C9-2EA6-4455-93A1-D3061F83CA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0888" y="4873625"/>
            <a:ext cx="735012" cy="231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  <a:latin typeface="Arial" panose="020B0604020202020204" pitchFamily="34" charset="0"/>
              </a:rPr>
              <a:t>Host D</a:t>
            </a:r>
          </a:p>
        </p:txBody>
      </p:sp>
      <p:sp>
        <p:nvSpPr>
          <p:cNvPr id="170095" name="Text Box 338">
            <a:extLst>
              <a:ext uri="{FF2B5EF4-FFF2-40B4-BE49-F238E27FC236}">
                <a16:creationId xmlns:a16="http://schemas.microsoft.com/office/drawing/2014/main" id="{649CB6B6-6F7B-4062-B5E9-BB455D12A4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6950" y="2911475"/>
            <a:ext cx="1881188" cy="47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 baseline="-2500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: original data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0096" name="Line 340">
            <a:extLst>
              <a:ext uri="{FF2B5EF4-FFF2-40B4-BE49-F238E27FC236}">
                <a16:creationId xmlns:a16="http://schemas.microsoft.com/office/drawing/2014/main" id="{C83FBE15-F23C-46A9-B84D-E42D575BA77D}"/>
              </a:ext>
            </a:extLst>
          </p:cNvPr>
          <p:cNvSpPr>
            <a:spLocks noChangeShapeType="1"/>
          </p:cNvSpPr>
          <p:nvPr/>
        </p:nvSpPr>
        <p:spPr bwMode="auto">
          <a:xfrm>
            <a:off x="5013325" y="3479800"/>
            <a:ext cx="339725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0097" name="Text Box 341">
            <a:extLst>
              <a:ext uri="{FF2B5EF4-FFF2-40B4-BE49-F238E27FC236}">
                <a16:creationId xmlns:a16="http://schemas.microsoft.com/office/drawing/2014/main" id="{8184202D-525D-4354-B9EE-206797E8C0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9475" y="3240088"/>
            <a:ext cx="2349500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FF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000">
                <a:solidFill>
                  <a:srgbClr val="FF0000"/>
                </a:solidFill>
                <a:latin typeface="Arial" panose="020B0604020202020204" pitchFamily="34" charset="0"/>
              </a:rPr>
              <a:t>'</a:t>
            </a:r>
            <a:r>
              <a:rPr lang="en-US" altLang="zh-TW" sz="2000" baseline="-25000">
                <a:solidFill>
                  <a:srgbClr val="FF0000"/>
                </a:solidFill>
                <a:latin typeface="Arial" panose="020B0604020202020204" pitchFamily="34" charset="0"/>
              </a:rPr>
              <a:t>in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:</a:t>
            </a:r>
            <a:r>
              <a:rPr lang="en-US" altLang="zh-TW" sz="140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original data, </a:t>
            </a:r>
            <a:r>
              <a:rPr lang="en-US" altLang="zh-TW" sz="1600" i="1">
                <a:solidFill>
                  <a:srgbClr val="FF0000"/>
                </a:solidFill>
                <a:latin typeface="Arial" panose="020B0604020202020204" pitchFamily="34" charset="0"/>
              </a:rPr>
              <a:t>plus</a:t>
            </a:r>
            <a:r>
              <a:rPr lang="en-US" altLang="zh-TW" sz="1600">
                <a:solidFill>
                  <a:srgbClr val="FF0000"/>
                </a:solidFill>
                <a:latin typeface="Arial" panose="020B0604020202020204" pitchFamily="34" charset="0"/>
              </a:rPr>
              <a:t> retransmitted data</a:t>
            </a:r>
            <a:endParaRPr lang="en-US" altLang="zh-TW" sz="16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205156" name="Rectangle 356">
            <a:extLst>
              <a:ext uri="{FF2B5EF4-FFF2-40B4-BE49-F238E27FC236}">
                <a16:creationId xmlns:a16="http://schemas.microsoft.com/office/drawing/2014/main" id="{7A74E9B6-B35E-49D1-AA4E-8029AFC277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0375" y="1778000"/>
            <a:ext cx="4656138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buFont typeface="Wingdings" panose="05000000000000000000" pitchFamily="2" charset="2"/>
              <a:buNone/>
            </a:pPr>
            <a:r>
              <a:rPr lang="en-US" altLang="zh-TW" sz="2800" u="sng">
                <a:solidFill>
                  <a:srgbClr val="CC0000"/>
                </a:solidFill>
              </a:rPr>
              <a:t>A:</a:t>
            </a:r>
            <a:r>
              <a:rPr lang="en-US" altLang="zh-TW" sz="2400">
                <a:solidFill>
                  <a:srgbClr val="FF0000"/>
                </a:solidFill>
              </a:rPr>
              <a:t> </a:t>
            </a:r>
            <a:r>
              <a:rPr lang="en-US" altLang="zh-TW" sz="2400">
                <a:solidFill>
                  <a:srgbClr val="000000"/>
                </a:solidFill>
              </a:rPr>
              <a:t>as red  </a:t>
            </a:r>
            <a:r>
              <a:rPr lang="en-US" altLang="zh-TW" sz="2400">
                <a:solidFill>
                  <a:srgbClr val="CC0000"/>
                </a:solidFill>
                <a:latin typeface="Symbol" panose="05050102010706020507" pitchFamily="18" charset="2"/>
              </a:rPr>
              <a:t>l</a:t>
            </a:r>
            <a:r>
              <a:rPr lang="en-US" altLang="zh-TW" sz="2400" baseline="-25000">
                <a:solidFill>
                  <a:srgbClr val="CC0000"/>
                </a:solidFill>
              </a:rPr>
              <a:t>in</a:t>
            </a:r>
            <a:r>
              <a:rPr lang="ja-JP" altLang="en-US" sz="2400" baseline="30000">
                <a:solidFill>
                  <a:srgbClr val="CC0000"/>
                </a:solidFill>
              </a:rPr>
              <a:t>’</a:t>
            </a:r>
            <a:r>
              <a:rPr lang="en-US" altLang="ja-JP" sz="2400">
                <a:solidFill>
                  <a:srgbClr val="000000"/>
                </a:solidFill>
              </a:rPr>
              <a:t> increases, all arriving blue pkts at upper queue are dropped, blue throughput </a:t>
            </a:r>
            <a:r>
              <a:rPr lang="en-US" altLang="ja-JP" sz="2400">
                <a:solidFill>
                  <a:srgbClr val="000000"/>
                </a:solidFill>
                <a:latin typeface="Wingdings 3" panose="05040102010807070707" pitchFamily="18" charset="2"/>
              </a:rPr>
              <a:t>g</a:t>
            </a:r>
            <a:r>
              <a:rPr lang="en-US" altLang="ja-JP" sz="2400">
                <a:solidFill>
                  <a:srgbClr val="000000"/>
                </a:solidFill>
              </a:rPr>
              <a:t> 0</a:t>
            </a:r>
            <a:endParaRPr lang="en-US" altLang="zh-TW" sz="2400">
              <a:solidFill>
                <a:srgbClr val="000000"/>
              </a:solidFill>
            </a:endParaRPr>
          </a:p>
        </p:txBody>
      </p:sp>
      <p:grpSp>
        <p:nvGrpSpPr>
          <p:cNvPr id="170099" name="Group 358">
            <a:extLst>
              <a:ext uri="{FF2B5EF4-FFF2-40B4-BE49-F238E27FC236}">
                <a16:creationId xmlns:a16="http://schemas.microsoft.com/office/drawing/2014/main" id="{2820A2C1-3A10-4A60-BB98-FAF0BA5C7BD4}"/>
              </a:ext>
            </a:extLst>
          </p:cNvPr>
          <p:cNvGrpSpPr>
            <a:grpSpLocks/>
          </p:cNvGrpSpPr>
          <p:nvPr/>
        </p:nvGrpSpPr>
        <p:grpSpPr bwMode="auto">
          <a:xfrm>
            <a:off x="7429500" y="4146550"/>
            <a:ext cx="231775" cy="441325"/>
            <a:chOff x="4140" y="429"/>
            <a:chExt cx="1425" cy="2396"/>
          </a:xfrm>
        </p:grpSpPr>
        <p:sp>
          <p:nvSpPr>
            <p:cNvPr id="170199" name="Freeform 359">
              <a:extLst>
                <a:ext uri="{FF2B5EF4-FFF2-40B4-BE49-F238E27FC236}">
                  <a16:creationId xmlns:a16="http://schemas.microsoft.com/office/drawing/2014/main" id="{EC5D47D9-8B25-40B5-9B9F-E3F9650D213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00" name="Rectangle 360">
              <a:extLst>
                <a:ext uri="{FF2B5EF4-FFF2-40B4-BE49-F238E27FC236}">
                  <a16:creationId xmlns:a16="http://schemas.microsoft.com/office/drawing/2014/main" id="{69C69524-AE5B-481C-98AD-38F6B8A999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01" name="Freeform 361">
              <a:extLst>
                <a:ext uri="{FF2B5EF4-FFF2-40B4-BE49-F238E27FC236}">
                  <a16:creationId xmlns:a16="http://schemas.microsoft.com/office/drawing/2014/main" id="{8507EB06-6431-430F-A20D-F7DC2D4506A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02" name="Freeform 362">
              <a:extLst>
                <a:ext uri="{FF2B5EF4-FFF2-40B4-BE49-F238E27FC236}">
                  <a16:creationId xmlns:a16="http://schemas.microsoft.com/office/drawing/2014/main" id="{E7D74AD3-EE12-4E80-AC40-9387873F286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03" name="Rectangle 363">
              <a:extLst>
                <a:ext uri="{FF2B5EF4-FFF2-40B4-BE49-F238E27FC236}">
                  <a16:creationId xmlns:a16="http://schemas.microsoft.com/office/drawing/2014/main" id="{6117A73A-B283-4320-906A-EB8427672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204" name="Group 364">
              <a:extLst>
                <a:ext uri="{FF2B5EF4-FFF2-40B4-BE49-F238E27FC236}">
                  <a16:creationId xmlns:a16="http://schemas.microsoft.com/office/drawing/2014/main" id="{76B35149-7512-40DC-B42B-6EE5DF8D6C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0229" name="AutoShape 365">
                <a:extLst>
                  <a:ext uri="{FF2B5EF4-FFF2-40B4-BE49-F238E27FC236}">
                    <a16:creationId xmlns:a16="http://schemas.microsoft.com/office/drawing/2014/main" id="{4D8E55C2-2016-4B3F-9B27-378F732FE5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230" name="AutoShape 366">
                <a:extLst>
                  <a:ext uri="{FF2B5EF4-FFF2-40B4-BE49-F238E27FC236}">
                    <a16:creationId xmlns:a16="http://schemas.microsoft.com/office/drawing/2014/main" id="{88DD0129-04D9-48FF-AEAC-CBB55DEE5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205" name="Rectangle 367">
              <a:extLst>
                <a:ext uri="{FF2B5EF4-FFF2-40B4-BE49-F238E27FC236}">
                  <a16:creationId xmlns:a16="http://schemas.microsoft.com/office/drawing/2014/main" id="{EF7DBF6A-3601-4D7D-BF19-6ABAEDD960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206" name="Group 368">
              <a:extLst>
                <a:ext uri="{FF2B5EF4-FFF2-40B4-BE49-F238E27FC236}">
                  <a16:creationId xmlns:a16="http://schemas.microsoft.com/office/drawing/2014/main" id="{11CE4EE5-5837-4530-AC12-1831BA34C7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70227" name="AutoShape 369">
                <a:extLst>
                  <a:ext uri="{FF2B5EF4-FFF2-40B4-BE49-F238E27FC236}">
                    <a16:creationId xmlns:a16="http://schemas.microsoft.com/office/drawing/2014/main" id="{6C85A12F-2724-4B9C-9B4E-ADF913245E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228" name="AutoShape 370">
                <a:extLst>
                  <a:ext uri="{FF2B5EF4-FFF2-40B4-BE49-F238E27FC236}">
                    <a16:creationId xmlns:a16="http://schemas.microsoft.com/office/drawing/2014/main" id="{EC03DC0E-1F45-4C87-9444-ACA795C83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207" name="Rectangle 371">
              <a:extLst>
                <a:ext uri="{FF2B5EF4-FFF2-40B4-BE49-F238E27FC236}">
                  <a16:creationId xmlns:a16="http://schemas.microsoft.com/office/drawing/2014/main" id="{A33A3C97-39A7-4CBA-A193-4C599F46DA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08" name="Rectangle 372">
              <a:extLst>
                <a:ext uri="{FF2B5EF4-FFF2-40B4-BE49-F238E27FC236}">
                  <a16:creationId xmlns:a16="http://schemas.microsoft.com/office/drawing/2014/main" id="{EBCF6E89-50E0-4B87-9AB2-E262A91ED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209" name="Group 373">
              <a:extLst>
                <a:ext uri="{FF2B5EF4-FFF2-40B4-BE49-F238E27FC236}">
                  <a16:creationId xmlns:a16="http://schemas.microsoft.com/office/drawing/2014/main" id="{9BB9F490-7537-4E38-9E79-BFEDBB508C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70225" name="AutoShape 374">
                <a:extLst>
                  <a:ext uri="{FF2B5EF4-FFF2-40B4-BE49-F238E27FC236}">
                    <a16:creationId xmlns:a16="http://schemas.microsoft.com/office/drawing/2014/main" id="{FBCB5E31-9858-43AF-8E27-72F19E1657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226" name="AutoShape 375">
                <a:extLst>
                  <a:ext uri="{FF2B5EF4-FFF2-40B4-BE49-F238E27FC236}">
                    <a16:creationId xmlns:a16="http://schemas.microsoft.com/office/drawing/2014/main" id="{873B6DF0-B51B-44D2-B526-20AA89E115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210" name="Freeform 376">
              <a:extLst>
                <a:ext uri="{FF2B5EF4-FFF2-40B4-BE49-F238E27FC236}">
                  <a16:creationId xmlns:a16="http://schemas.microsoft.com/office/drawing/2014/main" id="{B04F9D1B-793B-4282-88B0-8ACE48B4A1D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70211" name="Group 377">
              <a:extLst>
                <a:ext uri="{FF2B5EF4-FFF2-40B4-BE49-F238E27FC236}">
                  <a16:creationId xmlns:a16="http://schemas.microsoft.com/office/drawing/2014/main" id="{4382642A-9456-4C4E-B589-96B7B2F427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70223" name="AutoShape 378">
                <a:extLst>
                  <a:ext uri="{FF2B5EF4-FFF2-40B4-BE49-F238E27FC236}">
                    <a16:creationId xmlns:a16="http://schemas.microsoft.com/office/drawing/2014/main" id="{0B3D103C-C10A-4655-89AF-7356B40CD3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224" name="AutoShape 379">
                <a:extLst>
                  <a:ext uri="{FF2B5EF4-FFF2-40B4-BE49-F238E27FC236}">
                    <a16:creationId xmlns:a16="http://schemas.microsoft.com/office/drawing/2014/main" id="{0D112C78-E1FD-4A6B-983C-FF7AD14B3C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212" name="Rectangle 380">
              <a:extLst>
                <a:ext uri="{FF2B5EF4-FFF2-40B4-BE49-F238E27FC236}">
                  <a16:creationId xmlns:a16="http://schemas.microsoft.com/office/drawing/2014/main" id="{DA3F7192-193C-4028-803A-10D44D8906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13" name="Freeform 381">
              <a:extLst>
                <a:ext uri="{FF2B5EF4-FFF2-40B4-BE49-F238E27FC236}">
                  <a16:creationId xmlns:a16="http://schemas.microsoft.com/office/drawing/2014/main" id="{09BF290E-FB7C-4127-BCAC-7A77A0DD1C4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14" name="Freeform 382">
              <a:extLst>
                <a:ext uri="{FF2B5EF4-FFF2-40B4-BE49-F238E27FC236}">
                  <a16:creationId xmlns:a16="http://schemas.microsoft.com/office/drawing/2014/main" id="{9E165908-DD98-4901-9631-A12979F16AC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15" name="Oval 383">
              <a:extLst>
                <a:ext uri="{FF2B5EF4-FFF2-40B4-BE49-F238E27FC236}">
                  <a16:creationId xmlns:a16="http://schemas.microsoft.com/office/drawing/2014/main" id="{4D1C574C-3095-419A-9706-E8BEE6352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16" name="Freeform 384">
              <a:extLst>
                <a:ext uri="{FF2B5EF4-FFF2-40B4-BE49-F238E27FC236}">
                  <a16:creationId xmlns:a16="http://schemas.microsoft.com/office/drawing/2014/main" id="{D077353B-E874-405B-A177-FFBFF62B46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217" name="AutoShape 385">
              <a:extLst>
                <a:ext uri="{FF2B5EF4-FFF2-40B4-BE49-F238E27FC236}">
                  <a16:creationId xmlns:a16="http://schemas.microsoft.com/office/drawing/2014/main" id="{C032AC65-FF79-4ED6-A674-87E29E2134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18" name="AutoShape 386">
              <a:extLst>
                <a:ext uri="{FF2B5EF4-FFF2-40B4-BE49-F238E27FC236}">
                  <a16:creationId xmlns:a16="http://schemas.microsoft.com/office/drawing/2014/main" id="{B631208B-97FF-488D-A458-63ABADD982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19" name="Oval 387">
              <a:extLst>
                <a:ext uri="{FF2B5EF4-FFF2-40B4-BE49-F238E27FC236}">
                  <a16:creationId xmlns:a16="http://schemas.microsoft.com/office/drawing/2014/main" id="{65FFEE52-41F7-4889-A571-E5953DE318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20" name="Oval 388">
              <a:extLst>
                <a:ext uri="{FF2B5EF4-FFF2-40B4-BE49-F238E27FC236}">
                  <a16:creationId xmlns:a16="http://schemas.microsoft.com/office/drawing/2014/main" id="{629DD0EA-C273-43F7-B37E-3FE6E79474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0221" name="Oval 389">
              <a:extLst>
                <a:ext uri="{FF2B5EF4-FFF2-40B4-BE49-F238E27FC236}">
                  <a16:creationId xmlns:a16="http://schemas.microsoft.com/office/drawing/2014/main" id="{E031FAE3-55F8-441E-81D2-CD411619EF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222" name="Rectangle 390">
              <a:extLst>
                <a:ext uri="{FF2B5EF4-FFF2-40B4-BE49-F238E27FC236}">
                  <a16:creationId xmlns:a16="http://schemas.microsoft.com/office/drawing/2014/main" id="{906EDDC5-E1D3-459D-873A-CBEFDE69D4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70100" name="Group 391">
            <a:extLst>
              <a:ext uri="{FF2B5EF4-FFF2-40B4-BE49-F238E27FC236}">
                <a16:creationId xmlns:a16="http://schemas.microsoft.com/office/drawing/2014/main" id="{4A8C82F2-CC10-4C14-8FA1-2F8A88E076BF}"/>
              </a:ext>
            </a:extLst>
          </p:cNvPr>
          <p:cNvGrpSpPr>
            <a:grpSpLocks/>
          </p:cNvGrpSpPr>
          <p:nvPr/>
        </p:nvGrpSpPr>
        <p:grpSpPr bwMode="auto">
          <a:xfrm>
            <a:off x="6950075" y="6003925"/>
            <a:ext cx="231775" cy="441325"/>
            <a:chOff x="4140" y="429"/>
            <a:chExt cx="1425" cy="2396"/>
          </a:xfrm>
        </p:grpSpPr>
        <p:sp>
          <p:nvSpPr>
            <p:cNvPr id="170167" name="Freeform 392">
              <a:extLst>
                <a:ext uri="{FF2B5EF4-FFF2-40B4-BE49-F238E27FC236}">
                  <a16:creationId xmlns:a16="http://schemas.microsoft.com/office/drawing/2014/main" id="{C501D5F7-352C-45B5-9D47-8177AA8146D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68" name="Rectangle 393">
              <a:extLst>
                <a:ext uri="{FF2B5EF4-FFF2-40B4-BE49-F238E27FC236}">
                  <a16:creationId xmlns:a16="http://schemas.microsoft.com/office/drawing/2014/main" id="{09B188F6-6F44-47B1-88DF-A8B4D38767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69" name="Freeform 394">
              <a:extLst>
                <a:ext uri="{FF2B5EF4-FFF2-40B4-BE49-F238E27FC236}">
                  <a16:creationId xmlns:a16="http://schemas.microsoft.com/office/drawing/2014/main" id="{EA02597B-35B6-415C-AC6D-7F5FE9697A4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70" name="Freeform 395">
              <a:extLst>
                <a:ext uri="{FF2B5EF4-FFF2-40B4-BE49-F238E27FC236}">
                  <a16:creationId xmlns:a16="http://schemas.microsoft.com/office/drawing/2014/main" id="{7D1C3E4F-AC4D-4FE3-94FA-4F4AC77CCA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71" name="Rectangle 396">
              <a:extLst>
                <a:ext uri="{FF2B5EF4-FFF2-40B4-BE49-F238E27FC236}">
                  <a16:creationId xmlns:a16="http://schemas.microsoft.com/office/drawing/2014/main" id="{A0FEBDAF-DC1F-468C-8BAA-DAA7C5A03B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72" name="Group 397">
              <a:extLst>
                <a:ext uri="{FF2B5EF4-FFF2-40B4-BE49-F238E27FC236}">
                  <a16:creationId xmlns:a16="http://schemas.microsoft.com/office/drawing/2014/main" id="{80E4F3FC-4B84-4F1E-B1CF-22C3DC28EB7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0197" name="AutoShape 398">
                <a:extLst>
                  <a:ext uri="{FF2B5EF4-FFF2-40B4-BE49-F238E27FC236}">
                    <a16:creationId xmlns:a16="http://schemas.microsoft.com/office/drawing/2014/main" id="{2CE8B3E2-AC6F-410A-8454-1B396999D1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98" name="AutoShape 399">
                <a:extLst>
                  <a:ext uri="{FF2B5EF4-FFF2-40B4-BE49-F238E27FC236}">
                    <a16:creationId xmlns:a16="http://schemas.microsoft.com/office/drawing/2014/main" id="{B933E8A1-0654-4BFE-A022-AD711853EF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73" name="Rectangle 400">
              <a:extLst>
                <a:ext uri="{FF2B5EF4-FFF2-40B4-BE49-F238E27FC236}">
                  <a16:creationId xmlns:a16="http://schemas.microsoft.com/office/drawing/2014/main" id="{A3AE6296-F8DB-400A-B100-0ECE2CD090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74" name="Group 401">
              <a:extLst>
                <a:ext uri="{FF2B5EF4-FFF2-40B4-BE49-F238E27FC236}">
                  <a16:creationId xmlns:a16="http://schemas.microsoft.com/office/drawing/2014/main" id="{CAB8D372-D1DF-4FAA-AC8D-7536E24A4A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70195" name="AutoShape 402">
                <a:extLst>
                  <a:ext uri="{FF2B5EF4-FFF2-40B4-BE49-F238E27FC236}">
                    <a16:creationId xmlns:a16="http://schemas.microsoft.com/office/drawing/2014/main" id="{5E0F5F38-16EE-4641-9016-0A251A9B58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96" name="AutoShape 403">
                <a:extLst>
                  <a:ext uri="{FF2B5EF4-FFF2-40B4-BE49-F238E27FC236}">
                    <a16:creationId xmlns:a16="http://schemas.microsoft.com/office/drawing/2014/main" id="{917A91B0-079C-474B-BFC0-9F13E9BB6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75" name="Rectangle 404">
              <a:extLst>
                <a:ext uri="{FF2B5EF4-FFF2-40B4-BE49-F238E27FC236}">
                  <a16:creationId xmlns:a16="http://schemas.microsoft.com/office/drawing/2014/main" id="{DB91CC5F-5A61-4F5A-8E5A-596B27DC44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76" name="Rectangle 405">
              <a:extLst>
                <a:ext uri="{FF2B5EF4-FFF2-40B4-BE49-F238E27FC236}">
                  <a16:creationId xmlns:a16="http://schemas.microsoft.com/office/drawing/2014/main" id="{0BFF3B71-CEB3-4D63-9B4A-E0ECC0340F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77" name="Group 406">
              <a:extLst>
                <a:ext uri="{FF2B5EF4-FFF2-40B4-BE49-F238E27FC236}">
                  <a16:creationId xmlns:a16="http://schemas.microsoft.com/office/drawing/2014/main" id="{30BDEAEF-AC89-4E8C-A227-34B70BC0B5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70193" name="AutoShape 407">
                <a:extLst>
                  <a:ext uri="{FF2B5EF4-FFF2-40B4-BE49-F238E27FC236}">
                    <a16:creationId xmlns:a16="http://schemas.microsoft.com/office/drawing/2014/main" id="{1230CCF8-3EA8-4949-B33B-13245E2CC9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94" name="AutoShape 408">
                <a:extLst>
                  <a:ext uri="{FF2B5EF4-FFF2-40B4-BE49-F238E27FC236}">
                    <a16:creationId xmlns:a16="http://schemas.microsoft.com/office/drawing/2014/main" id="{57DC1E41-561B-473D-ACFC-D1B84842A0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78" name="Freeform 409">
              <a:extLst>
                <a:ext uri="{FF2B5EF4-FFF2-40B4-BE49-F238E27FC236}">
                  <a16:creationId xmlns:a16="http://schemas.microsoft.com/office/drawing/2014/main" id="{1E5E5C41-55B1-4A62-B99C-2EAC9421A02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70179" name="Group 410">
              <a:extLst>
                <a:ext uri="{FF2B5EF4-FFF2-40B4-BE49-F238E27FC236}">
                  <a16:creationId xmlns:a16="http://schemas.microsoft.com/office/drawing/2014/main" id="{D1EC50A5-2D80-47C2-9432-7ABED4B1BF8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70191" name="AutoShape 411">
                <a:extLst>
                  <a:ext uri="{FF2B5EF4-FFF2-40B4-BE49-F238E27FC236}">
                    <a16:creationId xmlns:a16="http://schemas.microsoft.com/office/drawing/2014/main" id="{99E75107-67DB-4DB3-93CD-7C9789BB12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92" name="AutoShape 412">
                <a:extLst>
                  <a:ext uri="{FF2B5EF4-FFF2-40B4-BE49-F238E27FC236}">
                    <a16:creationId xmlns:a16="http://schemas.microsoft.com/office/drawing/2014/main" id="{D9850F08-E101-43D3-968E-8317504C63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80" name="Rectangle 413">
              <a:extLst>
                <a:ext uri="{FF2B5EF4-FFF2-40B4-BE49-F238E27FC236}">
                  <a16:creationId xmlns:a16="http://schemas.microsoft.com/office/drawing/2014/main" id="{4E3A842F-70D5-4DA9-AAAD-4AEC833898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81" name="Freeform 414">
              <a:extLst>
                <a:ext uri="{FF2B5EF4-FFF2-40B4-BE49-F238E27FC236}">
                  <a16:creationId xmlns:a16="http://schemas.microsoft.com/office/drawing/2014/main" id="{8EBCC300-197A-48C1-AC92-95989462DF1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82" name="Freeform 415">
              <a:extLst>
                <a:ext uri="{FF2B5EF4-FFF2-40B4-BE49-F238E27FC236}">
                  <a16:creationId xmlns:a16="http://schemas.microsoft.com/office/drawing/2014/main" id="{B9FF80C0-9D4C-4B61-8BD3-58E3E4973F0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83" name="Oval 416">
              <a:extLst>
                <a:ext uri="{FF2B5EF4-FFF2-40B4-BE49-F238E27FC236}">
                  <a16:creationId xmlns:a16="http://schemas.microsoft.com/office/drawing/2014/main" id="{AB17B36B-11DF-4F0B-9581-0BA5651BD6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84" name="Freeform 417">
              <a:extLst>
                <a:ext uri="{FF2B5EF4-FFF2-40B4-BE49-F238E27FC236}">
                  <a16:creationId xmlns:a16="http://schemas.microsoft.com/office/drawing/2014/main" id="{07B5B01F-A1B1-43FD-9C33-2E9DBFD555A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85" name="AutoShape 418">
              <a:extLst>
                <a:ext uri="{FF2B5EF4-FFF2-40B4-BE49-F238E27FC236}">
                  <a16:creationId xmlns:a16="http://schemas.microsoft.com/office/drawing/2014/main" id="{7C4B7157-E95A-429E-A63E-561F50D6EA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86" name="AutoShape 419">
              <a:extLst>
                <a:ext uri="{FF2B5EF4-FFF2-40B4-BE49-F238E27FC236}">
                  <a16:creationId xmlns:a16="http://schemas.microsoft.com/office/drawing/2014/main" id="{AC5272BD-1CB7-434D-8B88-2876A687DE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87" name="Oval 420">
              <a:extLst>
                <a:ext uri="{FF2B5EF4-FFF2-40B4-BE49-F238E27FC236}">
                  <a16:creationId xmlns:a16="http://schemas.microsoft.com/office/drawing/2014/main" id="{DC253431-524A-4F25-9D74-92E560BAC6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88" name="Oval 421">
              <a:extLst>
                <a:ext uri="{FF2B5EF4-FFF2-40B4-BE49-F238E27FC236}">
                  <a16:creationId xmlns:a16="http://schemas.microsoft.com/office/drawing/2014/main" id="{4184D27E-4C7B-4173-9A95-6D293E681D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0189" name="Oval 422">
              <a:extLst>
                <a:ext uri="{FF2B5EF4-FFF2-40B4-BE49-F238E27FC236}">
                  <a16:creationId xmlns:a16="http://schemas.microsoft.com/office/drawing/2014/main" id="{D46763DC-BA99-4FCB-801A-92ED76D07F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90" name="Rectangle 423">
              <a:extLst>
                <a:ext uri="{FF2B5EF4-FFF2-40B4-BE49-F238E27FC236}">
                  <a16:creationId xmlns:a16="http://schemas.microsoft.com/office/drawing/2014/main" id="{BA068649-BBAA-4FF3-8574-801930B34E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70101" name="Group 424">
            <a:extLst>
              <a:ext uri="{FF2B5EF4-FFF2-40B4-BE49-F238E27FC236}">
                <a16:creationId xmlns:a16="http://schemas.microsoft.com/office/drawing/2014/main" id="{BB94DF91-4BE8-4A22-905D-BC66FCB6B470}"/>
              </a:ext>
            </a:extLst>
          </p:cNvPr>
          <p:cNvGrpSpPr>
            <a:grpSpLocks/>
          </p:cNvGrpSpPr>
          <p:nvPr/>
        </p:nvGrpSpPr>
        <p:grpSpPr bwMode="auto">
          <a:xfrm>
            <a:off x="396875" y="5840413"/>
            <a:ext cx="231775" cy="441325"/>
            <a:chOff x="4140" y="429"/>
            <a:chExt cx="1425" cy="2396"/>
          </a:xfrm>
        </p:grpSpPr>
        <p:sp>
          <p:nvSpPr>
            <p:cNvPr id="170135" name="Freeform 425">
              <a:extLst>
                <a:ext uri="{FF2B5EF4-FFF2-40B4-BE49-F238E27FC236}">
                  <a16:creationId xmlns:a16="http://schemas.microsoft.com/office/drawing/2014/main" id="{B4E8D31E-7BA4-4239-8A44-CB41BD438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36" name="Rectangle 426">
              <a:extLst>
                <a:ext uri="{FF2B5EF4-FFF2-40B4-BE49-F238E27FC236}">
                  <a16:creationId xmlns:a16="http://schemas.microsoft.com/office/drawing/2014/main" id="{B1237A8F-501D-4F87-B992-91B8C77024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37" name="Freeform 427">
              <a:extLst>
                <a:ext uri="{FF2B5EF4-FFF2-40B4-BE49-F238E27FC236}">
                  <a16:creationId xmlns:a16="http://schemas.microsoft.com/office/drawing/2014/main" id="{FCFA23B1-DBC2-45BB-881A-E56C0B2D104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38" name="Freeform 428">
              <a:extLst>
                <a:ext uri="{FF2B5EF4-FFF2-40B4-BE49-F238E27FC236}">
                  <a16:creationId xmlns:a16="http://schemas.microsoft.com/office/drawing/2014/main" id="{C36873C7-3D8D-497E-8F2C-AFCC949F344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39" name="Rectangle 429">
              <a:extLst>
                <a:ext uri="{FF2B5EF4-FFF2-40B4-BE49-F238E27FC236}">
                  <a16:creationId xmlns:a16="http://schemas.microsoft.com/office/drawing/2014/main" id="{7CADDF32-12E5-402A-9DAC-52AF47EF9D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40" name="Group 430">
              <a:extLst>
                <a:ext uri="{FF2B5EF4-FFF2-40B4-BE49-F238E27FC236}">
                  <a16:creationId xmlns:a16="http://schemas.microsoft.com/office/drawing/2014/main" id="{084A03C5-589C-4DA7-A9A5-E10D8A52CA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0165" name="AutoShape 431">
                <a:extLst>
                  <a:ext uri="{FF2B5EF4-FFF2-40B4-BE49-F238E27FC236}">
                    <a16:creationId xmlns:a16="http://schemas.microsoft.com/office/drawing/2014/main" id="{92C279A1-5C4A-415C-BF49-9B43D26C9B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66" name="AutoShape 432">
                <a:extLst>
                  <a:ext uri="{FF2B5EF4-FFF2-40B4-BE49-F238E27FC236}">
                    <a16:creationId xmlns:a16="http://schemas.microsoft.com/office/drawing/2014/main" id="{5AD6CC09-AFD8-4FA0-AE4C-C715948F46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41" name="Rectangle 433">
              <a:extLst>
                <a:ext uri="{FF2B5EF4-FFF2-40B4-BE49-F238E27FC236}">
                  <a16:creationId xmlns:a16="http://schemas.microsoft.com/office/drawing/2014/main" id="{346ADAE6-5560-42E2-9506-461C34887C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42" name="Group 434">
              <a:extLst>
                <a:ext uri="{FF2B5EF4-FFF2-40B4-BE49-F238E27FC236}">
                  <a16:creationId xmlns:a16="http://schemas.microsoft.com/office/drawing/2014/main" id="{56B63DEB-D806-45A8-B37D-F2F00FEA19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70163" name="AutoShape 435">
                <a:extLst>
                  <a:ext uri="{FF2B5EF4-FFF2-40B4-BE49-F238E27FC236}">
                    <a16:creationId xmlns:a16="http://schemas.microsoft.com/office/drawing/2014/main" id="{EE57545C-B286-4FD5-9627-1C7255EB9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64" name="AutoShape 436">
                <a:extLst>
                  <a:ext uri="{FF2B5EF4-FFF2-40B4-BE49-F238E27FC236}">
                    <a16:creationId xmlns:a16="http://schemas.microsoft.com/office/drawing/2014/main" id="{619230A9-2B9A-44C5-9714-D66E4E0FD6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43" name="Rectangle 437">
              <a:extLst>
                <a:ext uri="{FF2B5EF4-FFF2-40B4-BE49-F238E27FC236}">
                  <a16:creationId xmlns:a16="http://schemas.microsoft.com/office/drawing/2014/main" id="{CA41CD97-2BB7-4057-A917-D5BD20BB8F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44" name="Rectangle 438">
              <a:extLst>
                <a:ext uri="{FF2B5EF4-FFF2-40B4-BE49-F238E27FC236}">
                  <a16:creationId xmlns:a16="http://schemas.microsoft.com/office/drawing/2014/main" id="{A5FE01B7-8646-45A0-8FA2-A560AC8C3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45" name="Group 439">
              <a:extLst>
                <a:ext uri="{FF2B5EF4-FFF2-40B4-BE49-F238E27FC236}">
                  <a16:creationId xmlns:a16="http://schemas.microsoft.com/office/drawing/2014/main" id="{4BC20183-D740-4A88-AA9D-44A6EAE483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70161" name="AutoShape 440">
                <a:extLst>
                  <a:ext uri="{FF2B5EF4-FFF2-40B4-BE49-F238E27FC236}">
                    <a16:creationId xmlns:a16="http://schemas.microsoft.com/office/drawing/2014/main" id="{6D2F0F54-2C91-45F9-9F35-C03E439742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62" name="AutoShape 441">
                <a:extLst>
                  <a:ext uri="{FF2B5EF4-FFF2-40B4-BE49-F238E27FC236}">
                    <a16:creationId xmlns:a16="http://schemas.microsoft.com/office/drawing/2014/main" id="{3CAD49F5-EDC5-477F-A0AE-252EA33C39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46" name="Freeform 442">
              <a:extLst>
                <a:ext uri="{FF2B5EF4-FFF2-40B4-BE49-F238E27FC236}">
                  <a16:creationId xmlns:a16="http://schemas.microsoft.com/office/drawing/2014/main" id="{5D39AFC0-14D0-44F9-8550-110A053477C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70147" name="Group 443">
              <a:extLst>
                <a:ext uri="{FF2B5EF4-FFF2-40B4-BE49-F238E27FC236}">
                  <a16:creationId xmlns:a16="http://schemas.microsoft.com/office/drawing/2014/main" id="{E89D4BA9-1CB2-431F-AC6F-80E7803D0B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70159" name="AutoShape 444">
                <a:extLst>
                  <a:ext uri="{FF2B5EF4-FFF2-40B4-BE49-F238E27FC236}">
                    <a16:creationId xmlns:a16="http://schemas.microsoft.com/office/drawing/2014/main" id="{F9128418-E79B-4F2A-92B7-71205E8A6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60" name="AutoShape 445">
                <a:extLst>
                  <a:ext uri="{FF2B5EF4-FFF2-40B4-BE49-F238E27FC236}">
                    <a16:creationId xmlns:a16="http://schemas.microsoft.com/office/drawing/2014/main" id="{39F3EFD0-D6CF-47E5-9331-D1F7BCD09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48" name="Rectangle 446">
              <a:extLst>
                <a:ext uri="{FF2B5EF4-FFF2-40B4-BE49-F238E27FC236}">
                  <a16:creationId xmlns:a16="http://schemas.microsoft.com/office/drawing/2014/main" id="{A86C8666-1711-47A3-ACBB-53925DF1CB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49" name="Freeform 447">
              <a:extLst>
                <a:ext uri="{FF2B5EF4-FFF2-40B4-BE49-F238E27FC236}">
                  <a16:creationId xmlns:a16="http://schemas.microsoft.com/office/drawing/2014/main" id="{DE139809-B7D2-479F-BAEB-F702CFEE41C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50" name="Freeform 448">
              <a:extLst>
                <a:ext uri="{FF2B5EF4-FFF2-40B4-BE49-F238E27FC236}">
                  <a16:creationId xmlns:a16="http://schemas.microsoft.com/office/drawing/2014/main" id="{B9372D3D-AE0A-4DFD-BA85-67274E2202A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51" name="Oval 449">
              <a:extLst>
                <a:ext uri="{FF2B5EF4-FFF2-40B4-BE49-F238E27FC236}">
                  <a16:creationId xmlns:a16="http://schemas.microsoft.com/office/drawing/2014/main" id="{40453DFE-47F5-4036-8A4C-AA30279E85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52" name="Freeform 450">
              <a:extLst>
                <a:ext uri="{FF2B5EF4-FFF2-40B4-BE49-F238E27FC236}">
                  <a16:creationId xmlns:a16="http://schemas.microsoft.com/office/drawing/2014/main" id="{81966C65-6E6C-448D-A31F-4C2BA195874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53" name="AutoShape 451">
              <a:extLst>
                <a:ext uri="{FF2B5EF4-FFF2-40B4-BE49-F238E27FC236}">
                  <a16:creationId xmlns:a16="http://schemas.microsoft.com/office/drawing/2014/main" id="{479C20D1-6B24-4212-B234-8307E6CAC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54" name="AutoShape 452">
              <a:extLst>
                <a:ext uri="{FF2B5EF4-FFF2-40B4-BE49-F238E27FC236}">
                  <a16:creationId xmlns:a16="http://schemas.microsoft.com/office/drawing/2014/main" id="{6C38203E-1E3E-4B65-AB4F-640215BB2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55" name="Oval 453">
              <a:extLst>
                <a:ext uri="{FF2B5EF4-FFF2-40B4-BE49-F238E27FC236}">
                  <a16:creationId xmlns:a16="http://schemas.microsoft.com/office/drawing/2014/main" id="{C339082D-04D2-49CE-A609-AAA936EC5A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56" name="Oval 454">
              <a:extLst>
                <a:ext uri="{FF2B5EF4-FFF2-40B4-BE49-F238E27FC236}">
                  <a16:creationId xmlns:a16="http://schemas.microsoft.com/office/drawing/2014/main" id="{C7A58B8D-D3D6-483A-B80E-EB48D1761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0157" name="Oval 455">
              <a:extLst>
                <a:ext uri="{FF2B5EF4-FFF2-40B4-BE49-F238E27FC236}">
                  <a16:creationId xmlns:a16="http://schemas.microsoft.com/office/drawing/2014/main" id="{361A834B-3421-44F5-AF04-78C8B41264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58" name="Rectangle 456">
              <a:extLst>
                <a:ext uri="{FF2B5EF4-FFF2-40B4-BE49-F238E27FC236}">
                  <a16:creationId xmlns:a16="http://schemas.microsoft.com/office/drawing/2014/main" id="{D67CCB82-A43B-4579-A341-AD80BD34A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70102" name="Group 457">
            <a:extLst>
              <a:ext uri="{FF2B5EF4-FFF2-40B4-BE49-F238E27FC236}">
                <a16:creationId xmlns:a16="http://schemas.microsoft.com/office/drawing/2014/main" id="{13EFB60F-0536-4372-A6DA-FE944E1EFEB5}"/>
              </a:ext>
            </a:extLst>
          </p:cNvPr>
          <p:cNvGrpSpPr>
            <a:grpSpLocks/>
          </p:cNvGrpSpPr>
          <p:nvPr/>
        </p:nvGrpSpPr>
        <p:grpSpPr bwMode="auto">
          <a:xfrm>
            <a:off x="2411413" y="3835400"/>
            <a:ext cx="231775" cy="441325"/>
            <a:chOff x="4140" y="429"/>
            <a:chExt cx="1425" cy="2396"/>
          </a:xfrm>
        </p:grpSpPr>
        <p:sp>
          <p:nvSpPr>
            <p:cNvPr id="170103" name="Freeform 458">
              <a:extLst>
                <a:ext uri="{FF2B5EF4-FFF2-40B4-BE49-F238E27FC236}">
                  <a16:creationId xmlns:a16="http://schemas.microsoft.com/office/drawing/2014/main" id="{191C3F61-B252-4165-ADAF-7095C6E5C6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04" name="Rectangle 459">
              <a:extLst>
                <a:ext uri="{FF2B5EF4-FFF2-40B4-BE49-F238E27FC236}">
                  <a16:creationId xmlns:a16="http://schemas.microsoft.com/office/drawing/2014/main" id="{1F6231B6-A440-431E-A987-7B4D465C0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4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05" name="Freeform 460">
              <a:extLst>
                <a:ext uri="{FF2B5EF4-FFF2-40B4-BE49-F238E27FC236}">
                  <a16:creationId xmlns:a16="http://schemas.microsoft.com/office/drawing/2014/main" id="{77CA8ED1-1900-4E62-B525-B7B8ABC4E40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06" name="Freeform 461">
              <a:extLst>
                <a:ext uri="{FF2B5EF4-FFF2-40B4-BE49-F238E27FC236}">
                  <a16:creationId xmlns:a16="http://schemas.microsoft.com/office/drawing/2014/main" id="{17B5AF65-B10B-4363-B0BA-CB7D6778B11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07" name="Rectangle 462">
              <a:extLst>
                <a:ext uri="{FF2B5EF4-FFF2-40B4-BE49-F238E27FC236}">
                  <a16:creationId xmlns:a16="http://schemas.microsoft.com/office/drawing/2014/main" id="{98B69C82-F9A0-4E06-B6B9-7D39C940D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696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08" name="Group 463">
              <a:extLst>
                <a:ext uri="{FF2B5EF4-FFF2-40B4-BE49-F238E27FC236}">
                  <a16:creationId xmlns:a16="http://schemas.microsoft.com/office/drawing/2014/main" id="{A2B79A71-2CEE-4FD0-ACEE-9BB43FA9E1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0133" name="AutoShape 464">
                <a:extLst>
                  <a:ext uri="{FF2B5EF4-FFF2-40B4-BE49-F238E27FC236}">
                    <a16:creationId xmlns:a16="http://schemas.microsoft.com/office/drawing/2014/main" id="{DA2CB3B4-E621-4A81-A44B-878F75F0BA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70"/>
                <a:ext cx="73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34" name="AutoShape 465">
                <a:extLst>
                  <a:ext uri="{FF2B5EF4-FFF2-40B4-BE49-F238E27FC236}">
                    <a16:creationId xmlns:a16="http://schemas.microsoft.com/office/drawing/2014/main" id="{6F70C703-B8FE-434A-87E3-119331B111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" y="2587"/>
                <a:ext cx="70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09" name="Rectangle 466">
              <a:extLst>
                <a:ext uri="{FF2B5EF4-FFF2-40B4-BE49-F238E27FC236}">
                  <a16:creationId xmlns:a16="http://schemas.microsoft.com/office/drawing/2014/main" id="{E5313978-A3BE-474C-94C2-F71E0C4A7C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015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10" name="Group 467">
              <a:extLst>
                <a:ext uri="{FF2B5EF4-FFF2-40B4-BE49-F238E27FC236}">
                  <a16:creationId xmlns:a16="http://schemas.microsoft.com/office/drawing/2014/main" id="{E2E8DA99-BE59-4B67-8DC2-B961DC9441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70131" name="AutoShape 468">
                <a:extLst>
                  <a:ext uri="{FF2B5EF4-FFF2-40B4-BE49-F238E27FC236}">
                    <a16:creationId xmlns:a16="http://schemas.microsoft.com/office/drawing/2014/main" id="{4BBD1DF1-D5E7-4143-8099-07E88DF651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72"/>
                <a:ext cx="731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32" name="AutoShape 469">
                <a:extLst>
                  <a:ext uri="{FF2B5EF4-FFF2-40B4-BE49-F238E27FC236}">
                    <a16:creationId xmlns:a16="http://schemas.microsoft.com/office/drawing/2014/main" id="{46A51625-F534-4A8C-9028-73EFF49F23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90"/>
                <a:ext cx="706" cy="9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11" name="Rectangle 470">
              <a:extLst>
                <a:ext uri="{FF2B5EF4-FFF2-40B4-BE49-F238E27FC236}">
                  <a16:creationId xmlns:a16="http://schemas.microsoft.com/office/drawing/2014/main" id="{A9D945AB-C705-4CED-8120-ADDB2CA42E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8" y="1360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12" name="Rectangle 471">
              <a:extLst>
                <a:ext uri="{FF2B5EF4-FFF2-40B4-BE49-F238E27FC236}">
                  <a16:creationId xmlns:a16="http://schemas.microsoft.com/office/drawing/2014/main" id="{6429FF4F-3FDB-42DE-9677-81FC2A846C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3"/>
              <a:ext cx="595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0113" name="Group 472">
              <a:extLst>
                <a:ext uri="{FF2B5EF4-FFF2-40B4-BE49-F238E27FC236}">
                  <a16:creationId xmlns:a16="http://schemas.microsoft.com/office/drawing/2014/main" id="{018B76FA-7118-46E6-913D-A8A656E1FC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70129" name="AutoShape 473">
                <a:extLst>
                  <a:ext uri="{FF2B5EF4-FFF2-40B4-BE49-F238E27FC236}">
                    <a16:creationId xmlns:a16="http://schemas.microsoft.com/office/drawing/2014/main" id="{FC65B24C-9DBE-4662-9D28-D491BF76A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8"/>
                <a:ext cx="730" cy="16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30" name="AutoShape 474">
                <a:extLst>
                  <a:ext uri="{FF2B5EF4-FFF2-40B4-BE49-F238E27FC236}">
                    <a16:creationId xmlns:a16="http://schemas.microsoft.com/office/drawing/2014/main" id="{4A038D49-0013-4312-AC6D-9DB32AC10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705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14" name="Freeform 475">
              <a:extLst>
                <a:ext uri="{FF2B5EF4-FFF2-40B4-BE49-F238E27FC236}">
                  <a16:creationId xmlns:a16="http://schemas.microsoft.com/office/drawing/2014/main" id="{12273217-A589-485B-949A-A69903822E9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70115" name="Group 476">
              <a:extLst>
                <a:ext uri="{FF2B5EF4-FFF2-40B4-BE49-F238E27FC236}">
                  <a16:creationId xmlns:a16="http://schemas.microsoft.com/office/drawing/2014/main" id="{58914398-7E37-4A5E-A0A3-C4B6161A53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70127" name="AutoShape 477">
                <a:extLst>
                  <a:ext uri="{FF2B5EF4-FFF2-40B4-BE49-F238E27FC236}">
                    <a16:creationId xmlns:a16="http://schemas.microsoft.com/office/drawing/2014/main" id="{CF4FAB0A-BC76-4ECA-9792-8200E7C782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9" y="2566"/>
                <a:ext cx="73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0128" name="AutoShape 478">
                <a:extLst>
                  <a:ext uri="{FF2B5EF4-FFF2-40B4-BE49-F238E27FC236}">
                    <a16:creationId xmlns:a16="http://schemas.microsoft.com/office/drawing/2014/main" id="{1BA3C9F1-304E-4286-94F8-E7F5B98F53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" y="2584"/>
                <a:ext cx="705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0116" name="Rectangle 479">
              <a:extLst>
                <a:ext uri="{FF2B5EF4-FFF2-40B4-BE49-F238E27FC236}">
                  <a16:creationId xmlns:a16="http://schemas.microsoft.com/office/drawing/2014/main" id="{7E23BD76-4C58-4465-A834-F96613C32F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3" y="429"/>
              <a:ext cx="68" cy="2293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17" name="Freeform 480">
              <a:extLst>
                <a:ext uri="{FF2B5EF4-FFF2-40B4-BE49-F238E27FC236}">
                  <a16:creationId xmlns:a16="http://schemas.microsoft.com/office/drawing/2014/main" id="{913865A7-EE68-46CF-A45A-C0AC2704F09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18" name="Freeform 481">
              <a:extLst>
                <a:ext uri="{FF2B5EF4-FFF2-40B4-BE49-F238E27FC236}">
                  <a16:creationId xmlns:a16="http://schemas.microsoft.com/office/drawing/2014/main" id="{29A65D76-F27F-4CD8-A707-1F7D6FD6391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19" name="Oval 482">
              <a:extLst>
                <a:ext uri="{FF2B5EF4-FFF2-40B4-BE49-F238E27FC236}">
                  <a16:creationId xmlns:a16="http://schemas.microsoft.com/office/drawing/2014/main" id="{2B1E5030-2130-4BC6-A5DC-5CC1D78F93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6" y="2610"/>
              <a:ext cx="49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20" name="Freeform 483">
              <a:extLst>
                <a:ext uri="{FF2B5EF4-FFF2-40B4-BE49-F238E27FC236}">
                  <a16:creationId xmlns:a16="http://schemas.microsoft.com/office/drawing/2014/main" id="{00F0D3C6-BD16-4542-BBB2-DF260DD44A4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0121" name="AutoShape 484">
              <a:extLst>
                <a:ext uri="{FF2B5EF4-FFF2-40B4-BE49-F238E27FC236}">
                  <a16:creationId xmlns:a16="http://schemas.microsoft.com/office/drawing/2014/main" id="{BF4CA4A8-4975-41AA-B9BA-FF889D3CBA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22" name="AutoShape 485">
              <a:extLst>
                <a:ext uri="{FF2B5EF4-FFF2-40B4-BE49-F238E27FC236}">
                  <a16:creationId xmlns:a16="http://schemas.microsoft.com/office/drawing/2014/main" id="{BA99E601-5F5C-42E4-B3F3-92E64EE506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4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23" name="Oval 486">
              <a:extLst>
                <a:ext uri="{FF2B5EF4-FFF2-40B4-BE49-F238E27FC236}">
                  <a16:creationId xmlns:a16="http://schemas.microsoft.com/office/drawing/2014/main" id="{DB24D41D-EC85-4C49-BFAB-B98472D418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5"/>
              <a:ext cx="156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24" name="Oval 487">
              <a:extLst>
                <a:ext uri="{FF2B5EF4-FFF2-40B4-BE49-F238E27FC236}">
                  <a16:creationId xmlns:a16="http://schemas.microsoft.com/office/drawing/2014/main" id="{01757451-BD29-4EB4-9C3B-2694146DF5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2" y="2385"/>
              <a:ext cx="166" cy="1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0125" name="Oval 488">
              <a:extLst>
                <a:ext uri="{FF2B5EF4-FFF2-40B4-BE49-F238E27FC236}">
                  <a16:creationId xmlns:a16="http://schemas.microsoft.com/office/drawing/2014/main" id="{66E22680-0118-4F97-9CD7-87A875EBC1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7" y="2377"/>
              <a:ext cx="166" cy="147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0126" name="Rectangle 489">
              <a:extLst>
                <a:ext uri="{FF2B5EF4-FFF2-40B4-BE49-F238E27FC236}">
                  <a16:creationId xmlns:a16="http://schemas.microsoft.com/office/drawing/2014/main" id="{D7CFFCFC-D809-43C6-A4B8-D27DADFFDF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57" y="1834"/>
              <a:ext cx="88" cy="758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05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156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Footer Placeholder 5">
            <a:extLst>
              <a:ext uri="{FF2B5EF4-FFF2-40B4-BE49-F238E27FC236}">
                <a16:creationId xmlns:a16="http://schemas.microsoft.com/office/drawing/2014/main" id="{65514FA2-3E79-4C58-8C7D-0D665051E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kumimoji="1"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kumimoji="1"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1011" name="Slide Number Placeholder 6">
            <a:extLst>
              <a:ext uri="{FF2B5EF4-FFF2-40B4-BE49-F238E27FC236}">
                <a16:creationId xmlns:a16="http://schemas.microsoft.com/office/drawing/2014/main" id="{46368A1E-7F9A-4E2B-ACE2-19BB622E4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BD2DB22B-7DC4-430E-9FB3-603FE6F7D302}" type="slidenum">
              <a:rPr kumimoji="1"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99</a:t>
            </a:fld>
            <a:endParaRPr kumimoji="1"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71012" name="Rectangle 3">
            <a:extLst>
              <a:ext uri="{FF2B5EF4-FFF2-40B4-BE49-F238E27FC236}">
                <a16:creationId xmlns:a16="http://schemas.microsoft.com/office/drawing/2014/main" id="{D890C9CD-717A-467F-B6E1-F7ED888C4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375" y="5153025"/>
            <a:ext cx="8267700" cy="4095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71013" name="Rectangle 4">
            <a:extLst>
              <a:ext uri="{FF2B5EF4-FFF2-40B4-BE49-F238E27FC236}">
                <a16:creationId xmlns:a16="http://schemas.microsoft.com/office/drawing/2014/main" id="{1312CF21-997A-4623-91BE-05F6A5BFEB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763" y="4367213"/>
            <a:ext cx="7781925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FF0000"/>
                </a:solidFill>
              </a:rPr>
              <a:t>another </a:t>
            </a:r>
            <a:r>
              <a:rPr lang="ja-JP" altLang="en-US" sz="2800">
                <a:solidFill>
                  <a:srgbClr val="FF0000"/>
                </a:solidFill>
              </a:rPr>
              <a:t>“</a:t>
            </a:r>
            <a:r>
              <a:rPr lang="en-US" altLang="ja-JP" sz="2800">
                <a:solidFill>
                  <a:srgbClr val="FF0000"/>
                </a:solidFill>
              </a:rPr>
              <a:t>cost</a:t>
            </a:r>
            <a:r>
              <a:rPr lang="ja-JP" altLang="en-US" sz="2800">
                <a:solidFill>
                  <a:srgbClr val="FF0000"/>
                </a:solidFill>
              </a:rPr>
              <a:t>”</a:t>
            </a:r>
            <a:r>
              <a:rPr lang="en-US" altLang="ja-JP" sz="2800">
                <a:solidFill>
                  <a:srgbClr val="FF0000"/>
                </a:solidFill>
              </a:rPr>
              <a:t> of congestion:</a:t>
            </a:r>
            <a:r>
              <a:rPr lang="en-US" altLang="ja-JP" sz="2800">
                <a:solidFill>
                  <a:srgbClr val="000000"/>
                </a:solidFill>
              </a:rPr>
              <a:t> </a:t>
            </a:r>
          </a:p>
          <a:p>
            <a:r>
              <a:rPr lang="en-US" altLang="zh-TW" sz="2800">
                <a:solidFill>
                  <a:srgbClr val="000000"/>
                </a:solidFill>
              </a:rPr>
              <a:t>when packet dropped, any </a:t>
            </a:r>
            <a:r>
              <a:rPr lang="en-US" altLang="ja-JP" sz="2800">
                <a:solidFill>
                  <a:srgbClr val="000000"/>
                </a:solidFill>
              </a:rPr>
              <a:t>upstream transmission capacity used for that packet was wasted!</a:t>
            </a:r>
            <a:endParaRPr lang="en-US" altLang="zh-TW" sz="2800">
              <a:solidFill>
                <a:srgbClr val="000000"/>
              </a:solidFill>
            </a:endParaRPr>
          </a:p>
        </p:txBody>
      </p:sp>
      <p:sp>
        <p:nvSpPr>
          <p:cNvPr id="171014" name="Line 8">
            <a:extLst>
              <a:ext uri="{FF2B5EF4-FFF2-40B4-BE49-F238E27FC236}">
                <a16:creationId xmlns:a16="http://schemas.microsoft.com/office/drawing/2014/main" id="{FD65ECEA-828B-4703-A366-F22C575892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1863" y="2141538"/>
            <a:ext cx="403225" cy="45243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15" name="Line 9">
            <a:extLst>
              <a:ext uri="{FF2B5EF4-FFF2-40B4-BE49-F238E27FC236}">
                <a16:creationId xmlns:a16="http://schemas.microsoft.com/office/drawing/2014/main" id="{761312C7-BE0F-4013-84AF-A134A88594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23000" y="2141538"/>
            <a:ext cx="192088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1016" name="Group 51">
            <a:extLst>
              <a:ext uri="{FF2B5EF4-FFF2-40B4-BE49-F238E27FC236}">
                <a16:creationId xmlns:a16="http://schemas.microsoft.com/office/drawing/2014/main" id="{CE1F9345-2B75-4F96-A00F-9DE035F3AA06}"/>
              </a:ext>
            </a:extLst>
          </p:cNvPr>
          <p:cNvGrpSpPr>
            <a:grpSpLocks/>
          </p:cNvGrpSpPr>
          <p:nvPr/>
        </p:nvGrpSpPr>
        <p:grpSpPr bwMode="auto">
          <a:xfrm>
            <a:off x="5984875" y="1609725"/>
            <a:ext cx="285750" cy="473075"/>
            <a:chOff x="12762" y="10336"/>
            <a:chExt cx="1027" cy="1700"/>
          </a:xfrm>
        </p:grpSpPr>
        <p:sp>
          <p:nvSpPr>
            <p:cNvPr id="171155" name="Rectangle 52">
              <a:extLst>
                <a:ext uri="{FF2B5EF4-FFF2-40B4-BE49-F238E27FC236}">
                  <a16:creationId xmlns:a16="http://schemas.microsoft.com/office/drawing/2014/main" id="{A5E27926-E2DF-4D5A-9617-FAB4AA28DA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56" name="Rectangle 53">
              <a:extLst>
                <a:ext uri="{FF2B5EF4-FFF2-40B4-BE49-F238E27FC236}">
                  <a16:creationId xmlns:a16="http://schemas.microsoft.com/office/drawing/2014/main" id="{0FDC9603-1D6E-4303-A622-9E9E7F2FC4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57" name="Line 54">
              <a:extLst>
                <a:ext uri="{FF2B5EF4-FFF2-40B4-BE49-F238E27FC236}">
                  <a16:creationId xmlns:a16="http://schemas.microsoft.com/office/drawing/2014/main" id="{E6B4399B-2C18-439D-BBE7-E530CCAE45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58" name="Line 55">
              <a:extLst>
                <a:ext uri="{FF2B5EF4-FFF2-40B4-BE49-F238E27FC236}">
                  <a16:creationId xmlns:a16="http://schemas.microsoft.com/office/drawing/2014/main" id="{CDD41619-CC8C-4C70-88B1-A79C4A63DE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59" name="Line 56">
              <a:extLst>
                <a:ext uri="{FF2B5EF4-FFF2-40B4-BE49-F238E27FC236}">
                  <a16:creationId xmlns:a16="http://schemas.microsoft.com/office/drawing/2014/main" id="{75D960CD-F479-46E6-858A-2ED65584EF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60" name="Line 57">
              <a:extLst>
                <a:ext uri="{FF2B5EF4-FFF2-40B4-BE49-F238E27FC236}">
                  <a16:creationId xmlns:a16="http://schemas.microsoft.com/office/drawing/2014/main" id="{1333E892-63A6-4394-A5BF-994AFD0548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1017" name="Line 60">
            <a:extLst>
              <a:ext uri="{FF2B5EF4-FFF2-40B4-BE49-F238E27FC236}">
                <a16:creationId xmlns:a16="http://schemas.microsoft.com/office/drawing/2014/main" id="{926CFCAD-E18B-4F54-B521-49D17190014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9725" y="3175000"/>
            <a:ext cx="638175" cy="635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1018" name="Group 102">
            <a:extLst>
              <a:ext uri="{FF2B5EF4-FFF2-40B4-BE49-F238E27FC236}">
                <a16:creationId xmlns:a16="http://schemas.microsoft.com/office/drawing/2014/main" id="{4EDF46E9-B840-4586-A129-5C14C13C8050}"/>
              </a:ext>
            </a:extLst>
          </p:cNvPr>
          <p:cNvGrpSpPr>
            <a:grpSpLocks/>
          </p:cNvGrpSpPr>
          <p:nvPr/>
        </p:nvGrpSpPr>
        <p:grpSpPr bwMode="auto">
          <a:xfrm>
            <a:off x="5106988" y="2638425"/>
            <a:ext cx="285750" cy="473075"/>
            <a:chOff x="12762" y="10336"/>
            <a:chExt cx="1027" cy="1700"/>
          </a:xfrm>
        </p:grpSpPr>
        <p:sp>
          <p:nvSpPr>
            <p:cNvPr id="171149" name="Rectangle 103">
              <a:extLst>
                <a:ext uri="{FF2B5EF4-FFF2-40B4-BE49-F238E27FC236}">
                  <a16:creationId xmlns:a16="http://schemas.microsoft.com/office/drawing/2014/main" id="{7CCF38CA-F19C-4636-B87C-A607E177FD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50" name="Rectangle 104">
              <a:extLst>
                <a:ext uri="{FF2B5EF4-FFF2-40B4-BE49-F238E27FC236}">
                  <a16:creationId xmlns:a16="http://schemas.microsoft.com/office/drawing/2014/main" id="{DA51D888-514D-4A83-B429-D9CF263982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51" name="Line 105">
              <a:extLst>
                <a:ext uri="{FF2B5EF4-FFF2-40B4-BE49-F238E27FC236}">
                  <a16:creationId xmlns:a16="http://schemas.microsoft.com/office/drawing/2014/main" id="{BA107932-697B-44EE-BD0B-F061105D9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52" name="Line 106">
              <a:extLst>
                <a:ext uri="{FF2B5EF4-FFF2-40B4-BE49-F238E27FC236}">
                  <a16:creationId xmlns:a16="http://schemas.microsoft.com/office/drawing/2014/main" id="{7335D438-EA8B-4A19-839F-8EE0F61003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53" name="Line 107">
              <a:extLst>
                <a:ext uri="{FF2B5EF4-FFF2-40B4-BE49-F238E27FC236}">
                  <a16:creationId xmlns:a16="http://schemas.microsoft.com/office/drawing/2014/main" id="{51EC0631-1B87-45BD-9B63-DCED96E78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54" name="Line 108">
              <a:extLst>
                <a:ext uri="{FF2B5EF4-FFF2-40B4-BE49-F238E27FC236}">
                  <a16:creationId xmlns:a16="http://schemas.microsoft.com/office/drawing/2014/main" id="{AF78F470-3E56-4630-AF16-ECC595DAAE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1019" name="Line 110">
            <a:extLst>
              <a:ext uri="{FF2B5EF4-FFF2-40B4-BE49-F238E27FC236}">
                <a16:creationId xmlns:a16="http://schemas.microsoft.com/office/drawing/2014/main" id="{BA12D81F-93C7-4A51-93EC-3B89E11BBE8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23000" y="2365375"/>
            <a:ext cx="31750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20" name="Line 111">
            <a:extLst>
              <a:ext uri="{FF2B5EF4-FFF2-40B4-BE49-F238E27FC236}">
                <a16:creationId xmlns:a16="http://schemas.microsoft.com/office/drawing/2014/main" id="{60194BAD-1BB1-4738-8863-B9292003938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002463" y="2374900"/>
            <a:ext cx="339725" cy="47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21" name="Line 112">
            <a:extLst>
              <a:ext uri="{FF2B5EF4-FFF2-40B4-BE49-F238E27FC236}">
                <a16:creationId xmlns:a16="http://schemas.microsoft.com/office/drawing/2014/main" id="{7802A69D-28C1-4C8D-B2CE-496C2691D5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977063" y="2151063"/>
            <a:ext cx="566737" cy="6762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22" name="Line 113">
            <a:extLst>
              <a:ext uri="{FF2B5EF4-FFF2-40B4-BE49-F238E27FC236}">
                <a16:creationId xmlns:a16="http://schemas.microsoft.com/office/drawing/2014/main" id="{3EFADF34-B8B6-4AE4-85C7-77A5EEC103F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24750" y="2160588"/>
            <a:ext cx="192088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1023" name="Group 154">
            <a:extLst>
              <a:ext uri="{FF2B5EF4-FFF2-40B4-BE49-F238E27FC236}">
                <a16:creationId xmlns:a16="http://schemas.microsoft.com/office/drawing/2014/main" id="{E1F8BFCD-7500-4D4E-9D57-1753FF681E34}"/>
              </a:ext>
            </a:extLst>
          </p:cNvPr>
          <p:cNvGrpSpPr>
            <a:grpSpLocks/>
          </p:cNvGrpSpPr>
          <p:nvPr/>
        </p:nvGrpSpPr>
        <p:grpSpPr bwMode="auto">
          <a:xfrm>
            <a:off x="7662863" y="1679575"/>
            <a:ext cx="284162" cy="471488"/>
            <a:chOff x="12762" y="10336"/>
            <a:chExt cx="1027" cy="1700"/>
          </a:xfrm>
        </p:grpSpPr>
        <p:sp>
          <p:nvSpPr>
            <p:cNvPr id="171143" name="Rectangle 155">
              <a:extLst>
                <a:ext uri="{FF2B5EF4-FFF2-40B4-BE49-F238E27FC236}">
                  <a16:creationId xmlns:a16="http://schemas.microsoft.com/office/drawing/2014/main" id="{5DF994C6-9BA0-49C3-8473-BF6727DEF1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44" name="Rectangle 156">
              <a:extLst>
                <a:ext uri="{FF2B5EF4-FFF2-40B4-BE49-F238E27FC236}">
                  <a16:creationId xmlns:a16="http://schemas.microsoft.com/office/drawing/2014/main" id="{BC875767-632A-4624-824C-FEBD48A53B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45" name="Line 157">
              <a:extLst>
                <a:ext uri="{FF2B5EF4-FFF2-40B4-BE49-F238E27FC236}">
                  <a16:creationId xmlns:a16="http://schemas.microsoft.com/office/drawing/2014/main" id="{328043C0-016F-4E71-AA73-FC056DA38A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46" name="Line 158">
              <a:extLst>
                <a:ext uri="{FF2B5EF4-FFF2-40B4-BE49-F238E27FC236}">
                  <a16:creationId xmlns:a16="http://schemas.microsoft.com/office/drawing/2014/main" id="{2CA319E9-56AA-4508-A532-E716A90DAD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47" name="Line 159">
              <a:extLst>
                <a:ext uri="{FF2B5EF4-FFF2-40B4-BE49-F238E27FC236}">
                  <a16:creationId xmlns:a16="http://schemas.microsoft.com/office/drawing/2014/main" id="{E31F92E2-D0BB-4251-B1A6-4A408C4C30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48" name="Line 160">
              <a:extLst>
                <a:ext uri="{FF2B5EF4-FFF2-40B4-BE49-F238E27FC236}">
                  <a16:creationId xmlns:a16="http://schemas.microsoft.com/office/drawing/2014/main" id="{411E645A-2F42-4B0B-886E-D82A34665F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71024" name="Group 201">
            <a:extLst>
              <a:ext uri="{FF2B5EF4-FFF2-40B4-BE49-F238E27FC236}">
                <a16:creationId xmlns:a16="http://schemas.microsoft.com/office/drawing/2014/main" id="{2945FCAB-E4AE-4438-8F57-DD836ED91EB3}"/>
              </a:ext>
            </a:extLst>
          </p:cNvPr>
          <p:cNvGrpSpPr>
            <a:grpSpLocks/>
          </p:cNvGrpSpPr>
          <p:nvPr/>
        </p:nvGrpSpPr>
        <p:grpSpPr bwMode="auto">
          <a:xfrm>
            <a:off x="7450138" y="2762250"/>
            <a:ext cx="282575" cy="471488"/>
            <a:chOff x="12762" y="10336"/>
            <a:chExt cx="1027" cy="1700"/>
          </a:xfrm>
        </p:grpSpPr>
        <p:sp>
          <p:nvSpPr>
            <p:cNvPr id="171137" name="Rectangle 202">
              <a:extLst>
                <a:ext uri="{FF2B5EF4-FFF2-40B4-BE49-F238E27FC236}">
                  <a16:creationId xmlns:a16="http://schemas.microsoft.com/office/drawing/2014/main" id="{E0673006-6B6B-495D-B75E-CE3F6DACB1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24" y="10394"/>
              <a:ext cx="965" cy="1642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38" name="Rectangle 203">
              <a:extLst>
                <a:ext uri="{FF2B5EF4-FFF2-40B4-BE49-F238E27FC236}">
                  <a16:creationId xmlns:a16="http://schemas.microsoft.com/office/drawing/2014/main" id="{92F66D06-1537-40CB-B63C-DBD8173870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66" y="10336"/>
              <a:ext cx="965" cy="164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39" name="Line 204">
              <a:extLst>
                <a:ext uri="{FF2B5EF4-FFF2-40B4-BE49-F238E27FC236}">
                  <a16:creationId xmlns:a16="http://schemas.microsoft.com/office/drawing/2014/main" id="{B8E3D41D-4187-483E-949F-88C27C2BBD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6" y="10682"/>
              <a:ext cx="965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40" name="Line 205">
              <a:extLst>
                <a:ext uri="{FF2B5EF4-FFF2-40B4-BE49-F238E27FC236}">
                  <a16:creationId xmlns:a16="http://schemas.microsoft.com/office/drawing/2014/main" id="{BE9AA1E3-FCAC-4748-B438-894C2C27BC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80" y="11042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41" name="Line 206">
              <a:extLst>
                <a:ext uri="{FF2B5EF4-FFF2-40B4-BE49-F238E27FC236}">
                  <a16:creationId xmlns:a16="http://schemas.microsoft.com/office/drawing/2014/main" id="{68155340-C828-4B94-BCEB-C6A7D47684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4" y="11374"/>
              <a:ext cx="980" cy="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42" name="Line 207">
              <a:extLst>
                <a:ext uri="{FF2B5EF4-FFF2-40B4-BE49-F238E27FC236}">
                  <a16:creationId xmlns:a16="http://schemas.microsoft.com/office/drawing/2014/main" id="{016F9B2F-DC49-45D3-A43A-C2A2E6A320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762" y="11675"/>
              <a:ext cx="967" cy="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71025" name="Group 212">
            <a:extLst>
              <a:ext uri="{FF2B5EF4-FFF2-40B4-BE49-F238E27FC236}">
                <a16:creationId xmlns:a16="http://schemas.microsoft.com/office/drawing/2014/main" id="{944633B6-505B-49BC-B152-179DDBFD1B90}"/>
              </a:ext>
            </a:extLst>
          </p:cNvPr>
          <p:cNvGrpSpPr>
            <a:grpSpLocks/>
          </p:cNvGrpSpPr>
          <p:nvPr/>
        </p:nvGrpSpPr>
        <p:grpSpPr bwMode="auto">
          <a:xfrm>
            <a:off x="6527800" y="2244725"/>
            <a:ext cx="469900" cy="219075"/>
            <a:chOff x="9542" y="11900"/>
            <a:chExt cx="1624" cy="640"/>
          </a:xfrm>
        </p:grpSpPr>
        <p:sp>
          <p:nvSpPr>
            <p:cNvPr id="171115" name="Oval 213">
              <a:extLst>
                <a:ext uri="{FF2B5EF4-FFF2-40B4-BE49-F238E27FC236}">
                  <a16:creationId xmlns:a16="http://schemas.microsoft.com/office/drawing/2014/main" id="{6C8093AF-3CF4-40E6-9271-090B2574FD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57" y="12185"/>
              <a:ext cx="1608" cy="355"/>
            </a:xfrm>
            <a:prstGeom prst="ellipse">
              <a:avLst/>
            </a:prstGeom>
            <a:solidFill>
              <a:srgbClr val="C0C0C0"/>
            </a:solidFill>
            <a:ln w="12700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16" name="Line 214">
              <a:extLst>
                <a:ext uri="{FF2B5EF4-FFF2-40B4-BE49-F238E27FC236}">
                  <a16:creationId xmlns:a16="http://schemas.microsoft.com/office/drawing/2014/main" id="{6FFDE27C-6737-408C-8871-7E86EDC58D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57" y="12156"/>
              <a:ext cx="1" cy="21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117" name="Line 215">
              <a:extLst>
                <a:ext uri="{FF2B5EF4-FFF2-40B4-BE49-F238E27FC236}">
                  <a16:creationId xmlns:a16="http://schemas.microsoft.com/office/drawing/2014/main" id="{E764B4A9-211A-4394-9A3F-E601110F9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165" y="12156"/>
              <a:ext cx="1" cy="219"/>
            </a:xfrm>
            <a:prstGeom prst="line">
              <a:avLst/>
            </a:prstGeom>
            <a:noFill/>
            <a:ln w="1270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118" name="Rectangle 216">
              <a:extLst>
                <a:ext uri="{FF2B5EF4-FFF2-40B4-BE49-F238E27FC236}">
                  <a16:creationId xmlns:a16="http://schemas.microsoft.com/office/drawing/2014/main" id="{36B02263-C0A4-4402-8EC9-EF7465DFC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57" y="12156"/>
              <a:ext cx="381" cy="215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000">
                <a:solidFill>
                  <a:srgbClr val="00000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171119" name="Rectangle 217">
              <a:extLst>
                <a:ext uri="{FF2B5EF4-FFF2-40B4-BE49-F238E27FC236}">
                  <a16:creationId xmlns:a16="http://schemas.microsoft.com/office/drawing/2014/main" id="{EBD0D3B0-5571-43D3-B2E3-F074E7F045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79" y="12141"/>
              <a:ext cx="486" cy="215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000">
                <a:solidFill>
                  <a:srgbClr val="00000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171120" name="Oval 218">
              <a:extLst>
                <a:ext uri="{FF2B5EF4-FFF2-40B4-BE49-F238E27FC236}">
                  <a16:creationId xmlns:a16="http://schemas.microsoft.com/office/drawing/2014/main" id="{395166B2-22FA-41F2-B2AB-C7C9ABA27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42" y="11900"/>
              <a:ext cx="1608" cy="414"/>
            </a:xfrm>
            <a:prstGeom prst="ellipse">
              <a:avLst/>
            </a:prstGeom>
            <a:solidFill>
              <a:srgbClr val="C0C0C0"/>
            </a:solidFill>
            <a:ln w="12700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grpSp>
          <p:nvGrpSpPr>
            <p:cNvPr id="171121" name="Group 219">
              <a:extLst>
                <a:ext uri="{FF2B5EF4-FFF2-40B4-BE49-F238E27FC236}">
                  <a16:creationId xmlns:a16="http://schemas.microsoft.com/office/drawing/2014/main" id="{C818E850-55F2-4AE2-9C02-0B885AF1B9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30" y="11991"/>
              <a:ext cx="796" cy="242"/>
              <a:chOff x="2848" y="848"/>
              <a:chExt cx="140" cy="98"/>
            </a:xfrm>
          </p:grpSpPr>
          <p:sp>
            <p:nvSpPr>
              <p:cNvPr id="171134" name="Line 220">
                <a:extLst>
                  <a:ext uri="{FF2B5EF4-FFF2-40B4-BE49-F238E27FC236}">
                    <a16:creationId xmlns:a16="http://schemas.microsoft.com/office/drawing/2014/main" id="{44E6C530-53E1-4589-8E05-D327056FC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1135" name="Line 221">
                <a:extLst>
                  <a:ext uri="{FF2B5EF4-FFF2-40B4-BE49-F238E27FC236}">
                    <a16:creationId xmlns:a16="http://schemas.microsoft.com/office/drawing/2014/main" id="{BCCB72B0-F632-4FD2-BE0F-ABE1428640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1136" name="Line 222">
                <a:extLst>
                  <a:ext uri="{FF2B5EF4-FFF2-40B4-BE49-F238E27FC236}">
                    <a16:creationId xmlns:a16="http://schemas.microsoft.com/office/drawing/2014/main" id="{A8DE1D45-D049-4FA8-9959-2F5B243800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rgbClr val="808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171122" name="Group 223">
              <a:extLst>
                <a:ext uri="{FF2B5EF4-FFF2-40B4-BE49-F238E27FC236}">
                  <a16:creationId xmlns:a16="http://schemas.microsoft.com/office/drawing/2014/main" id="{1B74C909-D66C-4D8C-9218-C763F7027DF2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9930" y="11987"/>
              <a:ext cx="796" cy="242"/>
              <a:chOff x="2848" y="848"/>
              <a:chExt cx="140" cy="98"/>
            </a:xfrm>
          </p:grpSpPr>
          <p:sp>
            <p:nvSpPr>
              <p:cNvPr id="171131" name="Line 224">
                <a:extLst>
                  <a:ext uri="{FF2B5EF4-FFF2-40B4-BE49-F238E27FC236}">
                    <a16:creationId xmlns:a16="http://schemas.microsoft.com/office/drawing/2014/main" id="{45C4C7DB-FC0E-47AB-8F86-0A5186830C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1132" name="Line 225">
                <a:extLst>
                  <a:ext uri="{FF2B5EF4-FFF2-40B4-BE49-F238E27FC236}">
                    <a16:creationId xmlns:a16="http://schemas.microsoft.com/office/drawing/2014/main" id="{7570FF63-45F9-4016-A8D7-1F86CD0D8A1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71133" name="Line 226">
                <a:extLst>
                  <a:ext uri="{FF2B5EF4-FFF2-40B4-BE49-F238E27FC236}">
                    <a16:creationId xmlns:a16="http://schemas.microsoft.com/office/drawing/2014/main" id="{CD973F4A-503A-4487-B835-6AB88306D8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rgbClr val="96969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171123" name="Group 227">
              <a:extLst>
                <a:ext uri="{FF2B5EF4-FFF2-40B4-BE49-F238E27FC236}">
                  <a16:creationId xmlns:a16="http://schemas.microsoft.com/office/drawing/2014/main" id="{99187744-A8D9-459E-8709-47BF40DF6B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534" y="12050"/>
              <a:ext cx="476" cy="374"/>
              <a:chOff x="11283" y="10423"/>
              <a:chExt cx="475" cy="374"/>
            </a:xfrm>
          </p:grpSpPr>
          <p:sp>
            <p:nvSpPr>
              <p:cNvPr id="171124" name="Rectangle 228">
                <a:extLst>
                  <a:ext uri="{FF2B5EF4-FFF2-40B4-BE49-F238E27FC236}">
                    <a16:creationId xmlns:a16="http://schemas.microsoft.com/office/drawing/2014/main" id="{CBD0D168-C356-4738-B0ED-5B2319A733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83" y="10423"/>
                <a:ext cx="475" cy="374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71125" name="Line 229">
                <a:extLst>
                  <a:ext uri="{FF2B5EF4-FFF2-40B4-BE49-F238E27FC236}">
                    <a16:creationId xmlns:a16="http://schemas.microsoft.com/office/drawing/2014/main" id="{EA930B3D-DFB1-499D-B6F1-FF2F3AFA65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86" y="10502"/>
                <a:ext cx="1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1126" name="Line 230">
                <a:extLst>
                  <a:ext uri="{FF2B5EF4-FFF2-40B4-BE49-F238E27FC236}">
                    <a16:creationId xmlns:a16="http://schemas.microsoft.com/office/drawing/2014/main" id="{BE2DBB30-C3C3-4917-BF6C-8705DA1396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21" y="10502"/>
                <a:ext cx="1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1127" name="Line 231">
                <a:extLst>
                  <a:ext uri="{FF2B5EF4-FFF2-40B4-BE49-F238E27FC236}">
                    <a16:creationId xmlns:a16="http://schemas.microsoft.com/office/drawing/2014/main" id="{DF5A9663-D1E5-43E0-B902-FF26FDBC6A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56" y="10502"/>
                <a:ext cx="1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1128" name="Line 232">
                <a:extLst>
                  <a:ext uri="{FF2B5EF4-FFF2-40B4-BE49-F238E27FC236}">
                    <a16:creationId xmlns:a16="http://schemas.microsoft.com/office/drawing/2014/main" id="{7CD17C06-41AA-4E1E-B5C6-B9C1FEEFAA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491" y="10495"/>
                <a:ext cx="1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1129" name="Line 233">
                <a:extLst>
                  <a:ext uri="{FF2B5EF4-FFF2-40B4-BE49-F238E27FC236}">
                    <a16:creationId xmlns:a16="http://schemas.microsoft.com/office/drawing/2014/main" id="{30E3FDCA-258E-476A-ACFA-B6B28909E0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426" y="10495"/>
                <a:ext cx="2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71130" name="Line 234">
                <a:extLst>
                  <a:ext uri="{FF2B5EF4-FFF2-40B4-BE49-F238E27FC236}">
                    <a16:creationId xmlns:a16="http://schemas.microsoft.com/office/drawing/2014/main" id="{9B19B77B-B83E-470B-A172-CF6DE00A73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360" y="10495"/>
                <a:ext cx="3" cy="23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sp>
        <p:nvSpPr>
          <p:cNvPr id="171026" name="Line 235">
            <a:extLst>
              <a:ext uri="{FF2B5EF4-FFF2-40B4-BE49-F238E27FC236}">
                <a16:creationId xmlns:a16="http://schemas.microsoft.com/office/drawing/2014/main" id="{27EC5E19-2067-42AF-9E8D-91801BE690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023100" y="1808163"/>
            <a:ext cx="120650" cy="1587"/>
          </a:xfrm>
          <a:prstGeom prst="line">
            <a:avLst/>
          </a:prstGeom>
          <a:noFill/>
          <a:ln w="38100">
            <a:solidFill>
              <a:srgbClr val="FFFFFF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1027" name="Group 236">
            <a:extLst>
              <a:ext uri="{FF2B5EF4-FFF2-40B4-BE49-F238E27FC236}">
                <a16:creationId xmlns:a16="http://schemas.microsoft.com/office/drawing/2014/main" id="{A9906BA6-2E05-453D-AB04-E11634BFDA3D}"/>
              </a:ext>
            </a:extLst>
          </p:cNvPr>
          <p:cNvGrpSpPr>
            <a:grpSpLocks/>
          </p:cNvGrpSpPr>
          <p:nvPr/>
        </p:nvGrpSpPr>
        <p:grpSpPr bwMode="auto">
          <a:xfrm>
            <a:off x="6127750" y="1639888"/>
            <a:ext cx="39688" cy="141287"/>
            <a:chOff x="10104" y="10005"/>
            <a:chExt cx="137" cy="411"/>
          </a:xfrm>
        </p:grpSpPr>
        <p:sp>
          <p:nvSpPr>
            <p:cNvPr id="171113" name="Oval 237">
              <a:extLst>
                <a:ext uri="{FF2B5EF4-FFF2-40B4-BE49-F238E27FC236}">
                  <a16:creationId xmlns:a16="http://schemas.microsoft.com/office/drawing/2014/main" id="{F6743E37-0911-4C30-B933-FD19F532A5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005"/>
              <a:ext cx="137" cy="13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14" name="Oval 238">
              <a:extLst>
                <a:ext uri="{FF2B5EF4-FFF2-40B4-BE49-F238E27FC236}">
                  <a16:creationId xmlns:a16="http://schemas.microsoft.com/office/drawing/2014/main" id="{5218B080-EE0C-49DD-80DD-ED48576E4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278"/>
              <a:ext cx="137" cy="13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171028" name="Oval 241">
            <a:extLst>
              <a:ext uri="{FF2B5EF4-FFF2-40B4-BE49-F238E27FC236}">
                <a16:creationId xmlns:a16="http://schemas.microsoft.com/office/drawing/2014/main" id="{1EF74A96-2D25-442A-A122-87C4FE7627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1013" y="2719388"/>
            <a:ext cx="465137" cy="122237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71029" name="Line 242">
            <a:extLst>
              <a:ext uri="{FF2B5EF4-FFF2-40B4-BE49-F238E27FC236}">
                <a16:creationId xmlns:a16="http://schemas.microsoft.com/office/drawing/2014/main" id="{EFCEB6AF-9173-448B-A9C8-7A9C859B6A7E}"/>
              </a:ext>
            </a:extLst>
          </p:cNvPr>
          <p:cNvSpPr>
            <a:spLocks noChangeShapeType="1"/>
          </p:cNvSpPr>
          <p:nvPr/>
        </p:nvSpPr>
        <p:spPr bwMode="auto">
          <a:xfrm>
            <a:off x="6831013" y="2709863"/>
            <a:ext cx="1587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1030" name="Line 243">
            <a:extLst>
              <a:ext uri="{FF2B5EF4-FFF2-40B4-BE49-F238E27FC236}">
                <a16:creationId xmlns:a16="http://schemas.microsoft.com/office/drawing/2014/main" id="{25B27FC3-C5E5-4C28-B6DE-C7C08D5E6F4A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6150" y="2709863"/>
            <a:ext cx="0" cy="76200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1031" name="Rectangle 244">
            <a:extLst>
              <a:ext uri="{FF2B5EF4-FFF2-40B4-BE49-F238E27FC236}">
                <a16:creationId xmlns:a16="http://schemas.microsoft.com/office/drawing/2014/main" id="{2BAF2F5F-709B-4B51-9188-C062A7210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1013" y="2709863"/>
            <a:ext cx="111125" cy="74612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1032" name="Rectangle 245">
            <a:extLst>
              <a:ext uri="{FF2B5EF4-FFF2-40B4-BE49-F238E27FC236}">
                <a16:creationId xmlns:a16="http://schemas.microsoft.com/office/drawing/2014/main" id="{E86C2008-B0DB-4182-8DA7-B93C0AED9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6450" y="2705100"/>
            <a:ext cx="139700" cy="74613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1033" name="Oval 246">
            <a:extLst>
              <a:ext uri="{FF2B5EF4-FFF2-40B4-BE49-F238E27FC236}">
                <a16:creationId xmlns:a16="http://schemas.microsoft.com/office/drawing/2014/main" id="{EBA62701-30ED-4B23-BC3A-4337981EC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3075" y="2620963"/>
            <a:ext cx="465138" cy="142875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71034" name="Group 247">
            <a:extLst>
              <a:ext uri="{FF2B5EF4-FFF2-40B4-BE49-F238E27FC236}">
                <a16:creationId xmlns:a16="http://schemas.microsoft.com/office/drawing/2014/main" id="{E0342E69-E65B-4154-A79F-AF53E8DE21EB}"/>
              </a:ext>
            </a:extLst>
          </p:cNvPr>
          <p:cNvGrpSpPr>
            <a:grpSpLocks/>
          </p:cNvGrpSpPr>
          <p:nvPr/>
        </p:nvGrpSpPr>
        <p:grpSpPr bwMode="auto">
          <a:xfrm>
            <a:off x="6938963" y="2652713"/>
            <a:ext cx="230187" cy="82550"/>
            <a:chOff x="2848" y="848"/>
            <a:chExt cx="140" cy="98"/>
          </a:xfrm>
        </p:grpSpPr>
        <p:sp>
          <p:nvSpPr>
            <p:cNvPr id="171110" name="Line 248">
              <a:extLst>
                <a:ext uri="{FF2B5EF4-FFF2-40B4-BE49-F238E27FC236}">
                  <a16:creationId xmlns:a16="http://schemas.microsoft.com/office/drawing/2014/main" id="{A71C3AC8-5C06-4572-A60D-6441111F23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111" name="Line 249">
              <a:extLst>
                <a:ext uri="{FF2B5EF4-FFF2-40B4-BE49-F238E27FC236}">
                  <a16:creationId xmlns:a16="http://schemas.microsoft.com/office/drawing/2014/main" id="{E9670569-934E-487F-9BDF-4A3AE5075C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112" name="Line 250">
              <a:extLst>
                <a:ext uri="{FF2B5EF4-FFF2-40B4-BE49-F238E27FC236}">
                  <a16:creationId xmlns:a16="http://schemas.microsoft.com/office/drawing/2014/main" id="{CE2C4200-CCC2-4D19-8987-5673F9D365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1035" name="Group 251">
            <a:extLst>
              <a:ext uri="{FF2B5EF4-FFF2-40B4-BE49-F238E27FC236}">
                <a16:creationId xmlns:a16="http://schemas.microsoft.com/office/drawing/2014/main" id="{184A6B0F-FF63-45A5-9229-4479134F6A03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6938963" y="2651125"/>
            <a:ext cx="230187" cy="84138"/>
            <a:chOff x="2848" y="848"/>
            <a:chExt cx="140" cy="98"/>
          </a:xfrm>
        </p:grpSpPr>
        <p:sp>
          <p:nvSpPr>
            <p:cNvPr id="171107" name="Line 252">
              <a:extLst>
                <a:ext uri="{FF2B5EF4-FFF2-40B4-BE49-F238E27FC236}">
                  <a16:creationId xmlns:a16="http://schemas.microsoft.com/office/drawing/2014/main" id="{17F6D5B2-56FF-4DAC-942F-4719CFBEDC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108" name="Line 253">
              <a:extLst>
                <a:ext uri="{FF2B5EF4-FFF2-40B4-BE49-F238E27FC236}">
                  <a16:creationId xmlns:a16="http://schemas.microsoft.com/office/drawing/2014/main" id="{7969C22A-50EB-4B3C-B051-5ED6618FFD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109" name="Line 254">
              <a:extLst>
                <a:ext uri="{FF2B5EF4-FFF2-40B4-BE49-F238E27FC236}">
                  <a16:creationId xmlns:a16="http://schemas.microsoft.com/office/drawing/2014/main" id="{7DD39F89-1969-4590-BD71-3CDA58A2AD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1036" name="Group 255">
            <a:extLst>
              <a:ext uri="{FF2B5EF4-FFF2-40B4-BE49-F238E27FC236}">
                <a16:creationId xmlns:a16="http://schemas.microsoft.com/office/drawing/2014/main" id="{0DF92925-01EB-4E27-AB9E-A99DAF60414F}"/>
              </a:ext>
            </a:extLst>
          </p:cNvPr>
          <p:cNvGrpSpPr>
            <a:grpSpLocks/>
          </p:cNvGrpSpPr>
          <p:nvPr/>
        </p:nvGrpSpPr>
        <p:grpSpPr bwMode="auto">
          <a:xfrm rot="7844936">
            <a:off x="6926263" y="2730500"/>
            <a:ext cx="168275" cy="104775"/>
            <a:chOff x="11283" y="10423"/>
            <a:chExt cx="475" cy="374"/>
          </a:xfrm>
        </p:grpSpPr>
        <p:sp>
          <p:nvSpPr>
            <p:cNvPr id="171100" name="Rectangle 256">
              <a:extLst>
                <a:ext uri="{FF2B5EF4-FFF2-40B4-BE49-F238E27FC236}">
                  <a16:creationId xmlns:a16="http://schemas.microsoft.com/office/drawing/2014/main" id="{DA4C44CD-3D01-4804-B09F-4CAA86320C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101" name="Line 257">
              <a:extLst>
                <a:ext uri="{FF2B5EF4-FFF2-40B4-BE49-F238E27FC236}">
                  <a16:creationId xmlns:a16="http://schemas.microsoft.com/office/drawing/2014/main" id="{8BBE2891-56DE-436F-801E-DDE6738B7F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02" name="Line 258">
              <a:extLst>
                <a:ext uri="{FF2B5EF4-FFF2-40B4-BE49-F238E27FC236}">
                  <a16:creationId xmlns:a16="http://schemas.microsoft.com/office/drawing/2014/main" id="{FCD6C597-F29F-4FC8-ADD0-DB3909FE7E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03" name="Line 259">
              <a:extLst>
                <a:ext uri="{FF2B5EF4-FFF2-40B4-BE49-F238E27FC236}">
                  <a16:creationId xmlns:a16="http://schemas.microsoft.com/office/drawing/2014/main" id="{1D874245-DAA2-412F-BEC8-87400C54CF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04" name="Line 260">
              <a:extLst>
                <a:ext uri="{FF2B5EF4-FFF2-40B4-BE49-F238E27FC236}">
                  <a16:creationId xmlns:a16="http://schemas.microsoft.com/office/drawing/2014/main" id="{13F53503-E95F-42ED-8314-6FF4F36FB2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05" name="Line 261">
              <a:extLst>
                <a:ext uri="{FF2B5EF4-FFF2-40B4-BE49-F238E27FC236}">
                  <a16:creationId xmlns:a16="http://schemas.microsoft.com/office/drawing/2014/main" id="{D1B34033-5BAC-4368-8ACC-31BE0715FE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106" name="Line 262">
              <a:extLst>
                <a:ext uri="{FF2B5EF4-FFF2-40B4-BE49-F238E27FC236}">
                  <a16:creationId xmlns:a16="http://schemas.microsoft.com/office/drawing/2014/main" id="{E414E692-E7C0-4245-A548-30D9A3BB0D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1037" name="Line 263">
            <a:extLst>
              <a:ext uri="{FF2B5EF4-FFF2-40B4-BE49-F238E27FC236}">
                <a16:creationId xmlns:a16="http://schemas.microsoft.com/office/drawing/2014/main" id="{DF9F4D28-C925-4CDA-AA2B-FADFBDB9BE6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423025" y="3170238"/>
            <a:ext cx="865188" cy="95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38" name="Line 264">
            <a:extLst>
              <a:ext uri="{FF2B5EF4-FFF2-40B4-BE49-F238E27FC236}">
                <a16:creationId xmlns:a16="http://schemas.microsoft.com/office/drawing/2014/main" id="{09BDFE16-4E4C-4923-A82C-C995A53F28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92900" y="2832100"/>
            <a:ext cx="271463" cy="3429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39" name="Freeform 265">
            <a:extLst>
              <a:ext uri="{FF2B5EF4-FFF2-40B4-BE49-F238E27FC236}">
                <a16:creationId xmlns:a16="http://schemas.microsoft.com/office/drawing/2014/main" id="{11F5962F-5EAC-4D6C-AF8A-4361ED91AC99}"/>
              </a:ext>
            </a:extLst>
          </p:cNvPr>
          <p:cNvSpPr>
            <a:spLocks/>
          </p:cNvSpPr>
          <p:nvPr/>
        </p:nvSpPr>
        <p:spPr bwMode="auto">
          <a:xfrm>
            <a:off x="6148388" y="1658938"/>
            <a:ext cx="1443037" cy="1490662"/>
          </a:xfrm>
          <a:custGeom>
            <a:avLst/>
            <a:gdLst>
              <a:gd name="T0" fmla="*/ 0 w 5205"/>
              <a:gd name="T1" fmla="*/ 0 h 4500"/>
              <a:gd name="T2" fmla="*/ 0 w 5205"/>
              <a:gd name="T3" fmla="*/ 2147483646 h 4500"/>
              <a:gd name="T4" fmla="*/ 2147483646 w 5205"/>
              <a:gd name="T5" fmla="*/ 2147483646 h 4500"/>
              <a:gd name="T6" fmla="*/ 2147483646 w 5205"/>
              <a:gd name="T7" fmla="*/ 2147483646 h 4500"/>
              <a:gd name="T8" fmla="*/ 2147483646 w 5205"/>
              <a:gd name="T9" fmla="*/ 2147483646 h 4500"/>
              <a:gd name="T10" fmla="*/ 2147483646 w 5205"/>
              <a:gd name="T11" fmla="*/ 2147483646 h 4500"/>
              <a:gd name="T12" fmla="*/ 2147483646 w 5205"/>
              <a:gd name="T13" fmla="*/ 2147483646 h 4500"/>
              <a:gd name="T14" fmla="*/ 2147483646 w 5205"/>
              <a:gd name="T15" fmla="*/ 2147483646 h 450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05"/>
              <a:gd name="T25" fmla="*/ 0 h 4500"/>
              <a:gd name="T26" fmla="*/ 5205 w 5205"/>
              <a:gd name="T27" fmla="*/ 4500 h 450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05" h="4500">
                <a:moveTo>
                  <a:pt x="0" y="0"/>
                </a:moveTo>
                <a:lnTo>
                  <a:pt x="0" y="1320"/>
                </a:lnTo>
                <a:lnTo>
                  <a:pt x="1230" y="1350"/>
                </a:lnTo>
                <a:lnTo>
                  <a:pt x="495" y="2040"/>
                </a:lnTo>
                <a:lnTo>
                  <a:pt x="4515" y="2115"/>
                </a:lnTo>
                <a:lnTo>
                  <a:pt x="2220" y="4500"/>
                </a:lnTo>
                <a:lnTo>
                  <a:pt x="5205" y="4500"/>
                </a:lnTo>
                <a:lnTo>
                  <a:pt x="5205" y="3405"/>
                </a:lnTo>
              </a:path>
            </a:pathLst>
          </a:custGeom>
          <a:noFill/>
          <a:ln w="38100" cmpd="sng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40" name="Oval 266">
            <a:extLst>
              <a:ext uri="{FF2B5EF4-FFF2-40B4-BE49-F238E27FC236}">
                <a16:creationId xmlns:a16="http://schemas.microsoft.com/office/drawing/2014/main" id="{47AB1B06-3949-403A-A797-447A607C9E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2663" y="3136900"/>
            <a:ext cx="463550" cy="122238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71041" name="Line 267">
            <a:extLst>
              <a:ext uri="{FF2B5EF4-FFF2-40B4-BE49-F238E27FC236}">
                <a16:creationId xmlns:a16="http://schemas.microsoft.com/office/drawing/2014/main" id="{46C013E4-3253-4066-8316-F6B5CE43B412}"/>
              </a:ext>
            </a:extLst>
          </p:cNvPr>
          <p:cNvSpPr>
            <a:spLocks noChangeShapeType="1"/>
          </p:cNvSpPr>
          <p:nvPr/>
        </p:nvSpPr>
        <p:spPr bwMode="auto">
          <a:xfrm>
            <a:off x="6062663" y="3127375"/>
            <a:ext cx="0" cy="74613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1042" name="Line 268">
            <a:extLst>
              <a:ext uri="{FF2B5EF4-FFF2-40B4-BE49-F238E27FC236}">
                <a16:creationId xmlns:a16="http://schemas.microsoft.com/office/drawing/2014/main" id="{62383A90-A8A7-4D87-8650-B80A1936B6E9}"/>
              </a:ext>
            </a:extLst>
          </p:cNvPr>
          <p:cNvSpPr>
            <a:spLocks noChangeShapeType="1"/>
          </p:cNvSpPr>
          <p:nvPr/>
        </p:nvSpPr>
        <p:spPr bwMode="auto">
          <a:xfrm>
            <a:off x="6526213" y="3127375"/>
            <a:ext cx="0" cy="74613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1043" name="Rectangle 269">
            <a:extLst>
              <a:ext uri="{FF2B5EF4-FFF2-40B4-BE49-F238E27FC236}">
                <a16:creationId xmlns:a16="http://schemas.microsoft.com/office/drawing/2014/main" id="{6E5DF627-F33B-430B-91FA-9697C9F0F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2663" y="3127375"/>
            <a:ext cx="109537" cy="74613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1044" name="Rectangle 270">
            <a:extLst>
              <a:ext uri="{FF2B5EF4-FFF2-40B4-BE49-F238E27FC236}">
                <a16:creationId xmlns:a16="http://schemas.microsoft.com/office/drawing/2014/main" id="{AAEBD16A-AEA4-448D-B760-96CD2B1B5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925" y="3122613"/>
            <a:ext cx="141288" cy="7302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1045" name="Oval 271">
            <a:extLst>
              <a:ext uri="{FF2B5EF4-FFF2-40B4-BE49-F238E27FC236}">
                <a16:creationId xmlns:a16="http://schemas.microsoft.com/office/drawing/2014/main" id="{E573CF14-4CC1-4F4C-A1F3-CD7DDFF86C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57900" y="3038475"/>
            <a:ext cx="463550" cy="142875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71046" name="Group 272">
            <a:extLst>
              <a:ext uri="{FF2B5EF4-FFF2-40B4-BE49-F238E27FC236}">
                <a16:creationId xmlns:a16="http://schemas.microsoft.com/office/drawing/2014/main" id="{68717BED-94F3-40D1-ABFB-4F00AC05F9EA}"/>
              </a:ext>
            </a:extLst>
          </p:cNvPr>
          <p:cNvGrpSpPr>
            <a:grpSpLocks/>
          </p:cNvGrpSpPr>
          <p:nvPr/>
        </p:nvGrpSpPr>
        <p:grpSpPr bwMode="auto">
          <a:xfrm>
            <a:off x="6169025" y="3070225"/>
            <a:ext cx="230188" cy="82550"/>
            <a:chOff x="2848" y="848"/>
            <a:chExt cx="140" cy="98"/>
          </a:xfrm>
        </p:grpSpPr>
        <p:sp>
          <p:nvSpPr>
            <p:cNvPr id="171097" name="Line 273">
              <a:extLst>
                <a:ext uri="{FF2B5EF4-FFF2-40B4-BE49-F238E27FC236}">
                  <a16:creationId xmlns:a16="http://schemas.microsoft.com/office/drawing/2014/main" id="{DA86CF49-9551-4F44-8647-9280A6F527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098" name="Line 274">
              <a:extLst>
                <a:ext uri="{FF2B5EF4-FFF2-40B4-BE49-F238E27FC236}">
                  <a16:creationId xmlns:a16="http://schemas.microsoft.com/office/drawing/2014/main" id="{55C98E73-8BF1-4CF3-B085-A55FBB2604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099" name="Line 275">
              <a:extLst>
                <a:ext uri="{FF2B5EF4-FFF2-40B4-BE49-F238E27FC236}">
                  <a16:creationId xmlns:a16="http://schemas.microsoft.com/office/drawing/2014/main" id="{2E5CBB8E-33DD-482A-A85A-AD80B3E2B2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1047" name="Group 276">
            <a:extLst>
              <a:ext uri="{FF2B5EF4-FFF2-40B4-BE49-F238E27FC236}">
                <a16:creationId xmlns:a16="http://schemas.microsoft.com/office/drawing/2014/main" id="{9E0C0D90-3D81-4B01-98A7-815EE7C9DEF3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6169025" y="3068638"/>
            <a:ext cx="230188" cy="82550"/>
            <a:chOff x="2848" y="848"/>
            <a:chExt cx="140" cy="98"/>
          </a:xfrm>
        </p:grpSpPr>
        <p:sp>
          <p:nvSpPr>
            <p:cNvPr id="171094" name="Line 277">
              <a:extLst>
                <a:ext uri="{FF2B5EF4-FFF2-40B4-BE49-F238E27FC236}">
                  <a16:creationId xmlns:a16="http://schemas.microsoft.com/office/drawing/2014/main" id="{B50B2776-7FF8-4218-A1F9-A07DC4D70A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095" name="Line 278">
              <a:extLst>
                <a:ext uri="{FF2B5EF4-FFF2-40B4-BE49-F238E27FC236}">
                  <a16:creationId xmlns:a16="http://schemas.microsoft.com/office/drawing/2014/main" id="{88CD3815-1EA7-4D43-B744-6B872322F4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096" name="Line 279">
              <a:extLst>
                <a:ext uri="{FF2B5EF4-FFF2-40B4-BE49-F238E27FC236}">
                  <a16:creationId xmlns:a16="http://schemas.microsoft.com/office/drawing/2014/main" id="{8A4AD381-A879-429C-9D3D-6C8C1406FD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1048" name="Group 280">
            <a:extLst>
              <a:ext uri="{FF2B5EF4-FFF2-40B4-BE49-F238E27FC236}">
                <a16:creationId xmlns:a16="http://schemas.microsoft.com/office/drawing/2014/main" id="{C7185138-93AA-46CF-A751-F2DDE39646A3}"/>
              </a:ext>
            </a:extLst>
          </p:cNvPr>
          <p:cNvGrpSpPr>
            <a:grpSpLocks/>
          </p:cNvGrpSpPr>
          <p:nvPr/>
        </p:nvGrpSpPr>
        <p:grpSpPr bwMode="auto">
          <a:xfrm>
            <a:off x="6089650" y="3105150"/>
            <a:ext cx="138113" cy="128588"/>
            <a:chOff x="11283" y="10423"/>
            <a:chExt cx="475" cy="374"/>
          </a:xfrm>
        </p:grpSpPr>
        <p:sp>
          <p:nvSpPr>
            <p:cNvPr id="171087" name="Rectangle 281">
              <a:extLst>
                <a:ext uri="{FF2B5EF4-FFF2-40B4-BE49-F238E27FC236}">
                  <a16:creationId xmlns:a16="http://schemas.microsoft.com/office/drawing/2014/main" id="{2CCA65E5-A4AA-4A09-9BF4-A93464BAC8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088" name="Line 282">
              <a:extLst>
                <a:ext uri="{FF2B5EF4-FFF2-40B4-BE49-F238E27FC236}">
                  <a16:creationId xmlns:a16="http://schemas.microsoft.com/office/drawing/2014/main" id="{B941D285-BE6A-496D-9CDB-74829152EE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89" name="Line 283">
              <a:extLst>
                <a:ext uri="{FF2B5EF4-FFF2-40B4-BE49-F238E27FC236}">
                  <a16:creationId xmlns:a16="http://schemas.microsoft.com/office/drawing/2014/main" id="{9CA2A9B6-5168-467B-934A-DDA9B199B8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90" name="Line 284">
              <a:extLst>
                <a:ext uri="{FF2B5EF4-FFF2-40B4-BE49-F238E27FC236}">
                  <a16:creationId xmlns:a16="http://schemas.microsoft.com/office/drawing/2014/main" id="{E0CE28BB-8E42-43C8-B49D-71FF7756FA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91" name="Line 285">
              <a:extLst>
                <a:ext uri="{FF2B5EF4-FFF2-40B4-BE49-F238E27FC236}">
                  <a16:creationId xmlns:a16="http://schemas.microsoft.com/office/drawing/2014/main" id="{27F93587-81B3-4A2C-8815-833D7AB0E4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92" name="Line 286">
              <a:extLst>
                <a:ext uri="{FF2B5EF4-FFF2-40B4-BE49-F238E27FC236}">
                  <a16:creationId xmlns:a16="http://schemas.microsoft.com/office/drawing/2014/main" id="{203CA75C-1F23-4DAC-819A-0F1B7AEE3E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93" name="Line 287">
              <a:extLst>
                <a:ext uri="{FF2B5EF4-FFF2-40B4-BE49-F238E27FC236}">
                  <a16:creationId xmlns:a16="http://schemas.microsoft.com/office/drawing/2014/main" id="{042305C0-A9BC-447F-90B2-F2F3F997BA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1049" name="Oval 288">
            <a:extLst>
              <a:ext uri="{FF2B5EF4-FFF2-40B4-BE49-F238E27FC236}">
                <a16:creationId xmlns:a16="http://schemas.microsoft.com/office/drawing/2014/main" id="{B9A23E64-03BB-4B29-9336-53BDEA25BE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3263" y="2649538"/>
            <a:ext cx="463550" cy="122237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71050" name="Line 289">
            <a:extLst>
              <a:ext uri="{FF2B5EF4-FFF2-40B4-BE49-F238E27FC236}">
                <a16:creationId xmlns:a16="http://schemas.microsoft.com/office/drawing/2014/main" id="{D4142040-F31A-4C99-8751-BDA2D03A99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783263" y="2640013"/>
            <a:ext cx="0" cy="7461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1051" name="Line 290">
            <a:extLst>
              <a:ext uri="{FF2B5EF4-FFF2-40B4-BE49-F238E27FC236}">
                <a16:creationId xmlns:a16="http://schemas.microsoft.com/office/drawing/2014/main" id="{8E3E1D48-76CE-477A-87DA-DE0F81DBC8E7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6813" y="2640013"/>
            <a:ext cx="0" cy="74612"/>
          </a:xfrm>
          <a:prstGeom prst="line">
            <a:avLst/>
          </a:prstGeom>
          <a:noFill/>
          <a:ln w="12700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1052" name="Rectangle 291">
            <a:extLst>
              <a:ext uri="{FF2B5EF4-FFF2-40B4-BE49-F238E27FC236}">
                <a16:creationId xmlns:a16="http://schemas.microsoft.com/office/drawing/2014/main" id="{D5961A51-8ADB-46ED-9F49-23C54423E6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3263" y="2640013"/>
            <a:ext cx="109537" cy="7302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1053" name="Rectangle 292">
            <a:extLst>
              <a:ext uri="{FF2B5EF4-FFF2-40B4-BE49-F238E27FC236}">
                <a16:creationId xmlns:a16="http://schemas.microsoft.com/office/drawing/2014/main" id="{7077838C-B7DF-4D40-A487-07EB3A8F0D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7113" y="2635250"/>
            <a:ext cx="139700" cy="73025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0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71054" name="Oval 293">
            <a:extLst>
              <a:ext uri="{FF2B5EF4-FFF2-40B4-BE49-F238E27FC236}">
                <a16:creationId xmlns:a16="http://schemas.microsoft.com/office/drawing/2014/main" id="{B91646D1-28E1-45D0-9EED-E92DE8F858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8500" y="2552700"/>
            <a:ext cx="465138" cy="141288"/>
          </a:xfrm>
          <a:prstGeom prst="ellipse">
            <a:avLst/>
          </a:prstGeom>
          <a:solidFill>
            <a:srgbClr val="C0C0C0"/>
          </a:solidFill>
          <a:ln w="12700">
            <a:solidFill>
              <a:srgbClr val="808080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71055" name="Group 294">
            <a:extLst>
              <a:ext uri="{FF2B5EF4-FFF2-40B4-BE49-F238E27FC236}">
                <a16:creationId xmlns:a16="http://schemas.microsoft.com/office/drawing/2014/main" id="{5F63689F-16EE-41AC-845E-B4D72367D48F}"/>
              </a:ext>
            </a:extLst>
          </p:cNvPr>
          <p:cNvGrpSpPr>
            <a:grpSpLocks/>
          </p:cNvGrpSpPr>
          <p:nvPr/>
        </p:nvGrpSpPr>
        <p:grpSpPr bwMode="auto">
          <a:xfrm>
            <a:off x="5891213" y="2582863"/>
            <a:ext cx="228600" cy="84137"/>
            <a:chOff x="2848" y="848"/>
            <a:chExt cx="140" cy="98"/>
          </a:xfrm>
        </p:grpSpPr>
        <p:sp>
          <p:nvSpPr>
            <p:cNvPr id="171084" name="Line 295">
              <a:extLst>
                <a:ext uri="{FF2B5EF4-FFF2-40B4-BE49-F238E27FC236}">
                  <a16:creationId xmlns:a16="http://schemas.microsoft.com/office/drawing/2014/main" id="{C90FBA8E-21F1-497E-BAB2-77B43B5452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085" name="Line 296">
              <a:extLst>
                <a:ext uri="{FF2B5EF4-FFF2-40B4-BE49-F238E27FC236}">
                  <a16:creationId xmlns:a16="http://schemas.microsoft.com/office/drawing/2014/main" id="{8C2AEBFF-BF4C-4992-99F2-0AAB39DF7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086" name="Line 297">
              <a:extLst>
                <a:ext uri="{FF2B5EF4-FFF2-40B4-BE49-F238E27FC236}">
                  <a16:creationId xmlns:a16="http://schemas.microsoft.com/office/drawing/2014/main" id="{A9C15BC3-5815-4A77-B6C9-FC98842A1E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1056" name="Group 298">
            <a:extLst>
              <a:ext uri="{FF2B5EF4-FFF2-40B4-BE49-F238E27FC236}">
                <a16:creationId xmlns:a16="http://schemas.microsoft.com/office/drawing/2014/main" id="{2F1A795D-DDC8-4375-A3EC-5AA6DA500179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5891213" y="2581275"/>
            <a:ext cx="228600" cy="84138"/>
            <a:chOff x="2848" y="848"/>
            <a:chExt cx="140" cy="98"/>
          </a:xfrm>
        </p:grpSpPr>
        <p:sp>
          <p:nvSpPr>
            <p:cNvPr id="171081" name="Line 299">
              <a:extLst>
                <a:ext uri="{FF2B5EF4-FFF2-40B4-BE49-F238E27FC236}">
                  <a16:creationId xmlns:a16="http://schemas.microsoft.com/office/drawing/2014/main" id="{936F02BE-56FF-48BB-BB8E-661819F9C0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848"/>
              <a:ext cx="50" cy="2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082" name="Line 300">
              <a:extLst>
                <a:ext uri="{FF2B5EF4-FFF2-40B4-BE49-F238E27FC236}">
                  <a16:creationId xmlns:a16="http://schemas.microsoft.com/office/drawing/2014/main" id="{2870D402-3962-4467-8EC5-720C922949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4" y="946"/>
              <a:ext cx="44" cy="0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1083" name="Line 301">
              <a:extLst>
                <a:ext uri="{FF2B5EF4-FFF2-40B4-BE49-F238E27FC236}">
                  <a16:creationId xmlns:a16="http://schemas.microsoft.com/office/drawing/2014/main" id="{27A9B705-A5BF-43E9-B3B3-691F8F65AE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4" y="850"/>
              <a:ext cx="52" cy="96"/>
            </a:xfrm>
            <a:prstGeom prst="line">
              <a:avLst/>
            </a:prstGeom>
            <a:noFill/>
            <a:ln w="2857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71057" name="Line 302">
            <a:extLst>
              <a:ext uri="{FF2B5EF4-FFF2-40B4-BE49-F238E27FC236}">
                <a16:creationId xmlns:a16="http://schemas.microsoft.com/office/drawing/2014/main" id="{CDF8088F-856A-4DC0-8F10-2597FE383DB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502275" y="2752725"/>
            <a:ext cx="379413" cy="4222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1058" name="Group 303">
            <a:extLst>
              <a:ext uri="{FF2B5EF4-FFF2-40B4-BE49-F238E27FC236}">
                <a16:creationId xmlns:a16="http://schemas.microsoft.com/office/drawing/2014/main" id="{D2D5E8C1-E07A-479E-810B-EBDAB806F954}"/>
              </a:ext>
            </a:extLst>
          </p:cNvPr>
          <p:cNvGrpSpPr>
            <a:grpSpLocks/>
          </p:cNvGrpSpPr>
          <p:nvPr/>
        </p:nvGrpSpPr>
        <p:grpSpPr bwMode="auto">
          <a:xfrm rot="8027572">
            <a:off x="5918200" y="2555875"/>
            <a:ext cx="168275" cy="104775"/>
            <a:chOff x="11283" y="10423"/>
            <a:chExt cx="475" cy="374"/>
          </a:xfrm>
        </p:grpSpPr>
        <p:sp>
          <p:nvSpPr>
            <p:cNvPr id="171074" name="Rectangle 304">
              <a:extLst>
                <a:ext uri="{FF2B5EF4-FFF2-40B4-BE49-F238E27FC236}">
                  <a16:creationId xmlns:a16="http://schemas.microsoft.com/office/drawing/2014/main" id="{3F385951-644A-4815-A2BE-9F1395FD6C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83" y="10423"/>
              <a:ext cx="475" cy="37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075" name="Line 305">
              <a:extLst>
                <a:ext uri="{FF2B5EF4-FFF2-40B4-BE49-F238E27FC236}">
                  <a16:creationId xmlns:a16="http://schemas.microsoft.com/office/drawing/2014/main" id="{CBAE0B11-EB9F-40BA-854E-F4DD4F48DF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76" name="Line 306">
              <a:extLst>
                <a:ext uri="{FF2B5EF4-FFF2-40B4-BE49-F238E27FC236}">
                  <a16:creationId xmlns:a16="http://schemas.microsoft.com/office/drawing/2014/main" id="{5C973D8C-F59A-4569-8C25-CC3462728E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21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77" name="Line 307">
              <a:extLst>
                <a:ext uri="{FF2B5EF4-FFF2-40B4-BE49-F238E27FC236}">
                  <a16:creationId xmlns:a16="http://schemas.microsoft.com/office/drawing/2014/main" id="{B66BEA32-2A58-4A0C-B124-0AB502F4CD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6" y="10502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78" name="Line 308">
              <a:extLst>
                <a:ext uri="{FF2B5EF4-FFF2-40B4-BE49-F238E27FC236}">
                  <a16:creationId xmlns:a16="http://schemas.microsoft.com/office/drawing/2014/main" id="{6CFAFF6A-ABA6-4F6E-89AB-7CEF992218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91" y="10495"/>
              <a:ext cx="1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79" name="Line 309">
              <a:extLst>
                <a:ext uri="{FF2B5EF4-FFF2-40B4-BE49-F238E27FC236}">
                  <a16:creationId xmlns:a16="http://schemas.microsoft.com/office/drawing/2014/main" id="{947158CE-AA26-4DCB-8D17-D90DA18B71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6" y="10495"/>
              <a:ext cx="2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1080" name="Line 310">
              <a:extLst>
                <a:ext uri="{FF2B5EF4-FFF2-40B4-BE49-F238E27FC236}">
                  <a16:creationId xmlns:a16="http://schemas.microsoft.com/office/drawing/2014/main" id="{33F9FA7C-96EC-4A25-B1B7-24192F668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60" y="10495"/>
              <a:ext cx="3" cy="23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71059" name="Freeform 311">
            <a:extLst>
              <a:ext uri="{FF2B5EF4-FFF2-40B4-BE49-F238E27FC236}">
                <a16:creationId xmlns:a16="http://schemas.microsoft.com/office/drawing/2014/main" id="{D45F6E44-7B3E-4798-886F-9BBBF3FF7301}"/>
              </a:ext>
            </a:extLst>
          </p:cNvPr>
          <p:cNvSpPr>
            <a:spLocks/>
          </p:cNvSpPr>
          <p:nvPr/>
        </p:nvSpPr>
        <p:spPr bwMode="auto">
          <a:xfrm>
            <a:off x="5432425" y="1679575"/>
            <a:ext cx="2212975" cy="1530350"/>
          </a:xfrm>
          <a:custGeom>
            <a:avLst/>
            <a:gdLst>
              <a:gd name="T0" fmla="*/ 2147483646 w 7980"/>
              <a:gd name="T1" fmla="*/ 2147483646 h 4620"/>
              <a:gd name="T2" fmla="*/ 2147483646 w 7980"/>
              <a:gd name="T3" fmla="*/ 2147483646 h 4620"/>
              <a:gd name="T4" fmla="*/ 0 w 7980"/>
              <a:gd name="T5" fmla="*/ 2147483646 h 4620"/>
              <a:gd name="T6" fmla="*/ 2147483646 w 7980"/>
              <a:gd name="T7" fmla="*/ 2147483646 h 4620"/>
              <a:gd name="T8" fmla="*/ 2147483646 w 7980"/>
              <a:gd name="T9" fmla="*/ 2147483646 h 4620"/>
              <a:gd name="T10" fmla="*/ 2147483646 w 7980"/>
              <a:gd name="T11" fmla="*/ 0 h 462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7980"/>
              <a:gd name="T19" fmla="*/ 0 h 4620"/>
              <a:gd name="T20" fmla="*/ 7980 w 7980"/>
              <a:gd name="T21" fmla="*/ 4620 h 462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7980" h="4620">
                <a:moveTo>
                  <a:pt x="7965" y="3420"/>
                </a:moveTo>
                <a:lnTo>
                  <a:pt x="7980" y="4620"/>
                </a:lnTo>
                <a:lnTo>
                  <a:pt x="0" y="4605"/>
                </a:lnTo>
                <a:lnTo>
                  <a:pt x="3315" y="1485"/>
                </a:lnTo>
                <a:lnTo>
                  <a:pt x="2355" y="1455"/>
                </a:lnTo>
                <a:lnTo>
                  <a:pt x="2355" y="0"/>
                </a:lnTo>
              </a:path>
            </a:pathLst>
          </a:custGeom>
          <a:noFill/>
          <a:ln w="38100" cmpd="sng">
            <a:solidFill>
              <a:srgbClr val="FF00FF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60" name="Freeform 312">
            <a:extLst>
              <a:ext uri="{FF2B5EF4-FFF2-40B4-BE49-F238E27FC236}">
                <a16:creationId xmlns:a16="http://schemas.microsoft.com/office/drawing/2014/main" id="{54A14EB7-4662-4299-88A2-A731EEADD4E8}"/>
              </a:ext>
            </a:extLst>
          </p:cNvPr>
          <p:cNvSpPr>
            <a:spLocks/>
          </p:cNvSpPr>
          <p:nvPr/>
        </p:nvSpPr>
        <p:spPr bwMode="auto">
          <a:xfrm>
            <a:off x="5257800" y="1728788"/>
            <a:ext cx="2508250" cy="1504950"/>
          </a:xfrm>
          <a:custGeom>
            <a:avLst/>
            <a:gdLst>
              <a:gd name="T0" fmla="*/ 0 w 9045"/>
              <a:gd name="T1" fmla="*/ 2147483646 h 4545"/>
              <a:gd name="T2" fmla="*/ 0 w 9045"/>
              <a:gd name="T3" fmla="*/ 2147483646 h 4545"/>
              <a:gd name="T4" fmla="*/ 2147483646 w 9045"/>
              <a:gd name="T5" fmla="*/ 2147483646 h 4545"/>
              <a:gd name="T6" fmla="*/ 2147483646 w 9045"/>
              <a:gd name="T7" fmla="*/ 2147483646 h 4545"/>
              <a:gd name="T8" fmla="*/ 2147483646 w 9045"/>
              <a:gd name="T9" fmla="*/ 2147483646 h 4545"/>
              <a:gd name="T10" fmla="*/ 2147483646 w 9045"/>
              <a:gd name="T11" fmla="*/ 2147483646 h 4545"/>
              <a:gd name="T12" fmla="*/ 2147483646 w 9045"/>
              <a:gd name="T13" fmla="*/ 2147483646 h 4545"/>
              <a:gd name="T14" fmla="*/ 2147483646 w 9045"/>
              <a:gd name="T15" fmla="*/ 0 h 4545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9045"/>
              <a:gd name="T25" fmla="*/ 0 h 4545"/>
              <a:gd name="T26" fmla="*/ 9045 w 9045"/>
              <a:gd name="T27" fmla="*/ 4545 h 4545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9045" h="4545">
                <a:moveTo>
                  <a:pt x="0" y="2880"/>
                </a:moveTo>
                <a:lnTo>
                  <a:pt x="0" y="4530"/>
                </a:lnTo>
                <a:lnTo>
                  <a:pt x="885" y="4545"/>
                </a:lnTo>
                <a:lnTo>
                  <a:pt x="3510" y="2010"/>
                </a:lnTo>
                <a:lnTo>
                  <a:pt x="7140" y="2055"/>
                </a:lnTo>
                <a:lnTo>
                  <a:pt x="8145" y="1020"/>
                </a:lnTo>
                <a:lnTo>
                  <a:pt x="9045" y="1020"/>
                </a:lnTo>
                <a:lnTo>
                  <a:pt x="9015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71061" name="Freeform 313">
            <a:extLst>
              <a:ext uri="{FF2B5EF4-FFF2-40B4-BE49-F238E27FC236}">
                <a16:creationId xmlns:a16="http://schemas.microsoft.com/office/drawing/2014/main" id="{49E4EE96-63B0-4A08-8DFD-34FD7E99314B}"/>
              </a:ext>
            </a:extLst>
          </p:cNvPr>
          <p:cNvSpPr>
            <a:spLocks/>
          </p:cNvSpPr>
          <p:nvPr/>
        </p:nvSpPr>
        <p:spPr bwMode="auto">
          <a:xfrm>
            <a:off x="5311775" y="1754188"/>
            <a:ext cx="2530475" cy="1390650"/>
          </a:xfrm>
          <a:custGeom>
            <a:avLst/>
            <a:gdLst>
              <a:gd name="T0" fmla="*/ 0 w 9120"/>
              <a:gd name="T1" fmla="*/ 2147483646 h 4201"/>
              <a:gd name="T2" fmla="*/ 0 w 9120"/>
              <a:gd name="T3" fmla="*/ 2147483646 h 4201"/>
              <a:gd name="T4" fmla="*/ 2147483646 w 9120"/>
              <a:gd name="T5" fmla="*/ 2147483646 h 4201"/>
              <a:gd name="T6" fmla="*/ 2147483646 w 9120"/>
              <a:gd name="T7" fmla="*/ 2147483646 h 4201"/>
              <a:gd name="T8" fmla="*/ 2147483646 w 9120"/>
              <a:gd name="T9" fmla="*/ 2147483646 h 4201"/>
              <a:gd name="T10" fmla="*/ 2147483646 w 9120"/>
              <a:gd name="T11" fmla="*/ 0 h 4201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9120"/>
              <a:gd name="T19" fmla="*/ 0 h 4201"/>
              <a:gd name="T20" fmla="*/ 9120 w 9120"/>
              <a:gd name="T21" fmla="*/ 4201 h 4201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9120" h="4201">
                <a:moveTo>
                  <a:pt x="0" y="2821"/>
                </a:moveTo>
                <a:lnTo>
                  <a:pt x="0" y="4201"/>
                </a:lnTo>
                <a:lnTo>
                  <a:pt x="4890" y="4201"/>
                </a:lnTo>
                <a:lnTo>
                  <a:pt x="8055" y="1051"/>
                </a:lnTo>
                <a:lnTo>
                  <a:pt x="9120" y="1080"/>
                </a:lnTo>
                <a:lnTo>
                  <a:pt x="9105" y="0"/>
                </a:lnTo>
              </a:path>
            </a:pathLst>
          </a:custGeom>
          <a:noFill/>
          <a:ln w="38100" cmpd="sng">
            <a:solidFill>
              <a:srgbClr val="00FF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71062" name="Group 314">
            <a:extLst>
              <a:ext uri="{FF2B5EF4-FFF2-40B4-BE49-F238E27FC236}">
                <a16:creationId xmlns:a16="http://schemas.microsoft.com/office/drawing/2014/main" id="{9E4232A4-F722-48CA-9A37-CA8EEDDE15EF}"/>
              </a:ext>
            </a:extLst>
          </p:cNvPr>
          <p:cNvGrpSpPr>
            <a:grpSpLocks/>
          </p:cNvGrpSpPr>
          <p:nvPr/>
        </p:nvGrpSpPr>
        <p:grpSpPr bwMode="auto">
          <a:xfrm>
            <a:off x="5237163" y="2668588"/>
            <a:ext cx="39687" cy="141287"/>
            <a:chOff x="10104" y="10005"/>
            <a:chExt cx="137" cy="411"/>
          </a:xfrm>
        </p:grpSpPr>
        <p:sp>
          <p:nvSpPr>
            <p:cNvPr id="171072" name="Oval 315">
              <a:extLst>
                <a:ext uri="{FF2B5EF4-FFF2-40B4-BE49-F238E27FC236}">
                  <a16:creationId xmlns:a16="http://schemas.microsoft.com/office/drawing/2014/main" id="{FC1BFDBC-29F5-40BA-BD26-CF0022294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005"/>
              <a:ext cx="137" cy="138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073" name="Oval 316">
              <a:extLst>
                <a:ext uri="{FF2B5EF4-FFF2-40B4-BE49-F238E27FC236}">
                  <a16:creationId xmlns:a16="http://schemas.microsoft.com/office/drawing/2014/main" id="{A9E4D7AB-DA9D-4625-828C-80C40BF86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278"/>
              <a:ext cx="137" cy="138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71063" name="Group 317">
            <a:extLst>
              <a:ext uri="{FF2B5EF4-FFF2-40B4-BE49-F238E27FC236}">
                <a16:creationId xmlns:a16="http://schemas.microsoft.com/office/drawing/2014/main" id="{C393A4FB-3F98-4C70-A9EB-351A639688CC}"/>
              </a:ext>
            </a:extLst>
          </p:cNvPr>
          <p:cNvGrpSpPr>
            <a:grpSpLocks/>
          </p:cNvGrpSpPr>
          <p:nvPr/>
        </p:nvGrpSpPr>
        <p:grpSpPr bwMode="auto">
          <a:xfrm>
            <a:off x="7621588" y="2790825"/>
            <a:ext cx="39687" cy="142875"/>
            <a:chOff x="10104" y="10005"/>
            <a:chExt cx="137" cy="411"/>
          </a:xfrm>
        </p:grpSpPr>
        <p:sp>
          <p:nvSpPr>
            <p:cNvPr id="171070" name="Oval 318">
              <a:extLst>
                <a:ext uri="{FF2B5EF4-FFF2-40B4-BE49-F238E27FC236}">
                  <a16:creationId xmlns:a16="http://schemas.microsoft.com/office/drawing/2014/main" id="{19E1D0BA-F6A3-4E55-9C3C-3F4BB4ED13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005"/>
              <a:ext cx="137" cy="138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071" name="Oval 319">
              <a:extLst>
                <a:ext uri="{FF2B5EF4-FFF2-40B4-BE49-F238E27FC236}">
                  <a16:creationId xmlns:a16="http://schemas.microsoft.com/office/drawing/2014/main" id="{72A6F318-E5FA-4CB7-9C56-24005B5737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278"/>
              <a:ext cx="137" cy="138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171064" name="Group 320">
            <a:extLst>
              <a:ext uri="{FF2B5EF4-FFF2-40B4-BE49-F238E27FC236}">
                <a16:creationId xmlns:a16="http://schemas.microsoft.com/office/drawing/2014/main" id="{E7AADEC1-9F4B-4F2E-8AC4-69D4F11C567B}"/>
              </a:ext>
            </a:extLst>
          </p:cNvPr>
          <p:cNvGrpSpPr>
            <a:grpSpLocks/>
          </p:cNvGrpSpPr>
          <p:nvPr/>
        </p:nvGrpSpPr>
        <p:grpSpPr bwMode="auto">
          <a:xfrm>
            <a:off x="7816850" y="1717675"/>
            <a:ext cx="39688" cy="142875"/>
            <a:chOff x="10104" y="10005"/>
            <a:chExt cx="137" cy="411"/>
          </a:xfrm>
        </p:grpSpPr>
        <p:sp>
          <p:nvSpPr>
            <p:cNvPr id="171068" name="Oval 321">
              <a:extLst>
                <a:ext uri="{FF2B5EF4-FFF2-40B4-BE49-F238E27FC236}">
                  <a16:creationId xmlns:a16="http://schemas.microsoft.com/office/drawing/2014/main" id="{BCFB842C-043D-44E1-B414-B7F8F08CF9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005"/>
              <a:ext cx="137" cy="138"/>
            </a:xfrm>
            <a:prstGeom prst="ellipse">
              <a:avLst/>
            </a:prstGeom>
            <a:solidFill>
              <a:srgbClr val="00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1069" name="Oval 322">
              <a:extLst>
                <a:ext uri="{FF2B5EF4-FFF2-40B4-BE49-F238E27FC236}">
                  <a16:creationId xmlns:a16="http://schemas.microsoft.com/office/drawing/2014/main" id="{840DF94F-BF6A-4B6C-8B36-72A6DF1D91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04" y="10278"/>
              <a:ext cx="137" cy="138"/>
            </a:xfrm>
            <a:prstGeom prst="ellipse">
              <a:avLst/>
            </a:prstGeom>
            <a:solidFill>
              <a:srgbClr val="00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pic>
        <p:nvPicPr>
          <p:cNvPr id="171065" name="Picture 327" descr="underline_base">
            <a:extLst>
              <a:ext uri="{FF2B5EF4-FFF2-40B4-BE49-F238E27FC236}">
                <a16:creationId xmlns:a16="http://schemas.microsoft.com/office/drawing/2014/main" id="{BEE867F7-1A56-4C81-AED0-0890B3481D1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" y="7842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6314" name="Rectangle 328">
            <a:extLst>
              <a:ext uri="{FF2B5EF4-FFF2-40B4-BE49-F238E27FC236}">
                <a16:creationId xmlns:a16="http://schemas.microsoft.com/office/drawing/2014/main" id="{25A0DA6F-52FA-4958-9278-D0F5D97E76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30200" y="115888"/>
            <a:ext cx="7772400" cy="87312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Causes/costs of congestion: scenario 3</a:t>
            </a:r>
            <a:r>
              <a:rPr lang="en-US" dirty="0">
                <a:ea typeface="ＭＳ Ｐゴシック" charset="0"/>
                <a:cs typeface="+mj-cs"/>
              </a:rPr>
              <a:t> </a:t>
            </a:r>
          </a:p>
        </p:txBody>
      </p:sp>
      <p:pic>
        <p:nvPicPr>
          <p:cNvPr id="171067" name="Picture 161">
            <a:extLst>
              <a:ext uri="{FF2B5EF4-FFF2-40B4-BE49-F238E27FC236}">
                <a16:creationId xmlns:a16="http://schemas.microsoft.com/office/drawing/2014/main" id="{BC817414-1211-4DEA-BE09-D5BECB7CB1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288" y="1035050"/>
            <a:ext cx="3708400" cy="264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Footer Placeholder 5">
            <a:extLst>
              <a:ext uri="{FF2B5EF4-FFF2-40B4-BE49-F238E27FC236}">
                <a16:creationId xmlns:a16="http://schemas.microsoft.com/office/drawing/2014/main" id="{F43D3D4D-78E1-4060-B98F-BA85423BB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2035" name="Slide Number Placeholder 6">
            <a:extLst>
              <a:ext uri="{FF2B5EF4-FFF2-40B4-BE49-F238E27FC236}">
                <a16:creationId xmlns:a16="http://schemas.microsoft.com/office/drawing/2014/main" id="{2CD9AC59-5765-44E3-BE6F-486540EAD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4D709375-DFEB-4647-8533-4289195D756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72036" name="Rectangle 2">
            <a:extLst>
              <a:ext uri="{FF2B5EF4-FFF2-40B4-BE49-F238E27FC236}">
                <a16:creationId xmlns:a16="http://schemas.microsoft.com/office/drawing/2014/main" id="{07E9E114-E732-41F8-B68F-604CD883A1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6250" y="273050"/>
            <a:ext cx="7772400" cy="917575"/>
          </a:xfrm>
        </p:spPr>
        <p:txBody>
          <a:bodyPr/>
          <a:lstStyle/>
          <a:p>
            <a:r>
              <a:rPr lang="en-US" altLang="zh-TW" sz="3600"/>
              <a:t>Approaches towards congestion control</a:t>
            </a:r>
            <a:endParaRPr lang="en-US" altLang="zh-TW"/>
          </a:p>
        </p:txBody>
      </p:sp>
      <p:sp>
        <p:nvSpPr>
          <p:cNvPr id="172037" name="Rectangle 5">
            <a:extLst>
              <a:ext uri="{FF2B5EF4-FFF2-40B4-BE49-F238E27FC236}">
                <a16:creationId xmlns:a16="http://schemas.microsoft.com/office/drawing/2014/main" id="{6A954FF8-05F7-4609-AB7C-AEE2D49E21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" y="1504950"/>
            <a:ext cx="8154988" cy="552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2800"/>
              <a:t>two broad approaches towards congestion control:</a:t>
            </a:r>
          </a:p>
        </p:txBody>
      </p:sp>
      <p:pic>
        <p:nvPicPr>
          <p:cNvPr id="172038" name="Picture 7" descr="underline_base">
            <a:extLst>
              <a:ext uri="{FF2B5EF4-FFF2-40B4-BE49-F238E27FC236}">
                <a16:creationId xmlns:a16="http://schemas.microsoft.com/office/drawing/2014/main" id="{DCD3D3E3-8311-47B8-8FD6-70EE1A1BB3C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919163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2039" name="Rectangle 8">
            <a:extLst>
              <a:ext uri="{FF2B5EF4-FFF2-40B4-BE49-F238E27FC236}">
                <a16:creationId xmlns:a16="http://schemas.microsoft.com/office/drawing/2014/main" id="{D3A2FAF6-755A-45A0-BA81-FFCFC719E6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" y="2786063"/>
            <a:ext cx="3487738" cy="3251200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2040" name="Rectangle 9">
            <a:extLst>
              <a:ext uri="{FF2B5EF4-FFF2-40B4-BE49-F238E27FC236}">
                <a16:creationId xmlns:a16="http://schemas.microsoft.com/office/drawing/2014/main" id="{D461BA4E-07D7-4C4D-BBF7-7F04900EAA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2528888"/>
            <a:ext cx="2979738" cy="5635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2041" name="Rectangle 3">
            <a:extLst>
              <a:ext uri="{FF2B5EF4-FFF2-40B4-BE49-F238E27FC236}">
                <a16:creationId xmlns:a16="http://schemas.microsoft.com/office/drawing/2014/main" id="{BBA2DB46-138B-4791-A9DE-3321F0E6B9E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35000" y="2390775"/>
            <a:ext cx="3406775" cy="38100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end-to-end congestion control: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no explicit feedback </a:t>
            </a:r>
            <a:r>
              <a:rPr lang="en-US" altLang="zh-TW" sz="2400" dirty="0"/>
              <a:t>from network</a:t>
            </a:r>
          </a:p>
          <a:p>
            <a:r>
              <a:rPr lang="en-US" altLang="zh-TW" sz="2400" dirty="0"/>
              <a:t>congestion </a:t>
            </a:r>
            <a:r>
              <a:rPr lang="en-US" altLang="zh-TW" sz="2400" dirty="0">
                <a:solidFill>
                  <a:srgbClr val="0070C0"/>
                </a:solidFill>
              </a:rPr>
              <a:t>inferred</a:t>
            </a:r>
            <a:r>
              <a:rPr lang="en-US" altLang="zh-TW" sz="2400" dirty="0"/>
              <a:t> from end-system observed loss, delay</a:t>
            </a:r>
          </a:p>
          <a:p>
            <a:r>
              <a:rPr lang="en-US" altLang="zh-TW" sz="2400" dirty="0">
                <a:solidFill>
                  <a:srgbClr val="FF0000"/>
                </a:solidFill>
              </a:rPr>
              <a:t>approach taken by TCP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172042" name="Rectangle 10">
            <a:extLst>
              <a:ext uri="{FF2B5EF4-FFF2-40B4-BE49-F238E27FC236}">
                <a16:creationId xmlns:a16="http://schemas.microsoft.com/office/drawing/2014/main" id="{4631A37F-3076-40D1-9151-52D7A493F3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8363" y="2814638"/>
            <a:ext cx="3690937" cy="3251200"/>
          </a:xfrm>
          <a:prstGeom prst="rect">
            <a:avLst/>
          </a:prstGeom>
          <a:noFill/>
          <a:ln w="1905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2043" name="Rectangle 11">
            <a:extLst>
              <a:ext uri="{FF2B5EF4-FFF2-40B4-BE49-F238E27FC236}">
                <a16:creationId xmlns:a16="http://schemas.microsoft.com/office/drawing/2014/main" id="{6C8AD0A0-5994-4B56-8180-9EBD58E0A2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5688" y="2551113"/>
            <a:ext cx="3092450" cy="565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2044" name="Rectangle 4">
            <a:extLst>
              <a:ext uri="{FF2B5EF4-FFF2-40B4-BE49-F238E27FC236}">
                <a16:creationId xmlns:a16="http://schemas.microsoft.com/office/drawing/2014/main" id="{8E4B9305-B6AA-4561-A1A2-FDA80923CEF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786313" y="2392363"/>
            <a:ext cx="3863975" cy="3905250"/>
          </a:xfrm>
        </p:spPr>
        <p:txBody>
          <a:bodyPr/>
          <a:lstStyle/>
          <a:p>
            <a:pPr marL="282575" indent="-282575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network-assisted congestion control:</a:t>
            </a:r>
          </a:p>
          <a:p>
            <a:pPr marL="282575" indent="-282575"/>
            <a:r>
              <a:rPr lang="en-US" altLang="zh-TW" sz="2400" dirty="0"/>
              <a:t>routers </a:t>
            </a:r>
            <a:r>
              <a:rPr lang="en-US" altLang="zh-TW" sz="2400" dirty="0">
                <a:solidFill>
                  <a:srgbClr val="0070C0"/>
                </a:solidFill>
              </a:rPr>
              <a:t>provide feedback </a:t>
            </a:r>
            <a:r>
              <a:rPr lang="en-US" altLang="zh-TW" sz="2400" dirty="0"/>
              <a:t>to end systems</a:t>
            </a:r>
          </a:p>
          <a:p>
            <a:pPr marL="576263" lvl="1" indent="-179388"/>
            <a:r>
              <a:rPr lang="en-US" altLang="zh-TW" dirty="0">
                <a:solidFill>
                  <a:srgbClr val="0070C0"/>
                </a:solidFill>
              </a:rPr>
              <a:t>single bit indicating congestion </a:t>
            </a:r>
            <a:r>
              <a:rPr lang="en-US" altLang="zh-TW" dirty="0"/>
              <a:t>(</a:t>
            </a:r>
            <a:r>
              <a:rPr lang="en-US" altLang="zh-TW" dirty="0" err="1"/>
              <a:t>e.g.,TCP</a:t>
            </a:r>
            <a:r>
              <a:rPr lang="en-US" altLang="zh-TW" dirty="0"/>
              <a:t>/IP explicit congestion notification (ECN))</a:t>
            </a:r>
          </a:p>
          <a:p>
            <a:pPr marL="576263" lvl="1" indent="-179388"/>
            <a:r>
              <a:rPr lang="en-US" altLang="zh-TW" dirty="0"/>
              <a:t>explicit rate for sender to send at</a:t>
            </a:r>
            <a:endParaRPr lang="en-US" altLang="zh-TW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042" grpId="0" animBg="1"/>
      <p:bldP spid="17204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Footer Placeholder 5">
            <a:extLst>
              <a:ext uri="{FF2B5EF4-FFF2-40B4-BE49-F238E27FC236}">
                <a16:creationId xmlns:a16="http://schemas.microsoft.com/office/drawing/2014/main" id="{D2E0B29A-BAEA-436F-B81E-D767DF2BC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3059" name="Slide Number Placeholder 6">
            <a:extLst>
              <a:ext uri="{FF2B5EF4-FFF2-40B4-BE49-F238E27FC236}">
                <a16:creationId xmlns:a16="http://schemas.microsoft.com/office/drawing/2014/main" id="{A0877BD8-39FA-4371-A5F0-29720330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D5285CC6-DAF3-4126-96B9-371C7033ACE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0356" name="Rectangle 2">
            <a:extLst>
              <a:ext uri="{FF2B5EF4-FFF2-40B4-BE49-F238E27FC236}">
                <a16:creationId xmlns:a16="http://schemas.microsoft.com/office/drawing/2014/main" id="{E59AA30E-702A-416E-94AA-A552BC0D41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 outline</a:t>
            </a:r>
          </a:p>
        </p:txBody>
      </p:sp>
      <p:sp>
        <p:nvSpPr>
          <p:cNvPr id="100357" name="Rectangle 3">
            <a:extLst>
              <a:ext uri="{FF2B5EF4-FFF2-40B4-BE49-F238E27FC236}">
                <a16:creationId xmlns:a16="http://schemas.microsoft.com/office/drawing/2014/main" id="{DE7781B5-F376-47FA-95BF-8610EDFE7AE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3.1 transport-layer services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3.2 multiplexing and demultiplexing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3.3 connectionless transport: UDP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3.4 principles of reliable data transfer</a:t>
            </a:r>
          </a:p>
        </p:txBody>
      </p:sp>
      <p:sp>
        <p:nvSpPr>
          <p:cNvPr id="100358" name="Rectangle 4">
            <a:extLst>
              <a:ext uri="{FF2B5EF4-FFF2-40B4-BE49-F238E27FC236}">
                <a16:creationId xmlns:a16="http://schemas.microsoft.com/office/drawing/2014/main" id="{BDB42CC6-AEF5-4B73-A695-DE8C910DE4B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251325" cy="4648200"/>
          </a:xfrm>
        </p:spPr>
        <p:txBody>
          <a:bodyPr/>
          <a:lstStyle/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3.5 connection-oriented transport: TCP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segment structure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reliable data transfer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flow control</a:t>
            </a:r>
          </a:p>
          <a:p>
            <a:pPr marL="912813"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connection management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3.6 principles of congestion control</a:t>
            </a:r>
          </a:p>
          <a:p>
            <a:pPr marL="566738" indent="-566738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3.7 TCP congestion control</a:t>
            </a:r>
          </a:p>
        </p:txBody>
      </p:sp>
      <p:pic>
        <p:nvPicPr>
          <p:cNvPr id="173063" name="Picture 5" descr="underline_base">
            <a:extLst>
              <a:ext uri="{FF2B5EF4-FFF2-40B4-BE49-F238E27FC236}">
                <a16:creationId xmlns:a16="http://schemas.microsoft.com/office/drawing/2014/main" id="{CCEC8615-9EA2-4799-8582-DA63E42BF389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39813"/>
            <a:ext cx="4387850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Footer Placeholder 4">
            <a:extLst>
              <a:ext uri="{FF2B5EF4-FFF2-40B4-BE49-F238E27FC236}">
                <a16:creationId xmlns:a16="http://schemas.microsoft.com/office/drawing/2014/main" id="{76CDAA8B-1003-4941-93E9-94C51B456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4083" name="Slide Number Placeholder 5">
            <a:extLst>
              <a:ext uri="{FF2B5EF4-FFF2-40B4-BE49-F238E27FC236}">
                <a16:creationId xmlns:a16="http://schemas.microsoft.com/office/drawing/2014/main" id="{618C48C2-4A4F-41F9-8298-4369E1340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32592FD6-71B8-439D-A1A6-4C6D1CE965F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74084" name="Picture 14" descr="underline_base">
            <a:extLst>
              <a:ext uri="{FF2B5EF4-FFF2-40B4-BE49-F238E27FC236}">
                <a16:creationId xmlns:a16="http://schemas.microsoft.com/office/drawing/2014/main" id="{BFA8160B-A6FF-46FB-A902-072E11E1843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525" y="741363"/>
            <a:ext cx="5027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1381" name="Rectangle 2">
            <a:extLst>
              <a:ext uri="{FF2B5EF4-FFF2-40B4-BE49-F238E27FC236}">
                <a16:creationId xmlns:a16="http://schemas.microsoft.com/office/drawing/2014/main" id="{D00EE7E5-052B-4525-B26D-E031676ABF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8600" y="228600"/>
            <a:ext cx="8458200" cy="1143000"/>
          </a:xfrm>
        </p:spPr>
        <p:txBody>
          <a:bodyPr/>
          <a:lstStyle/>
          <a:p>
            <a:pPr algn="r">
              <a:lnSpc>
                <a:spcPct val="80000"/>
              </a:lnSpc>
              <a:defRPr/>
            </a:pPr>
            <a:r>
              <a:rPr lang="en-US" sz="4000" dirty="0">
                <a:ea typeface="ＭＳ Ｐゴシック" charset="0"/>
                <a:cs typeface="+mj-cs"/>
              </a:rPr>
              <a:t>TCP congestion control: </a:t>
            </a:r>
            <a:r>
              <a:rPr lang="en-US" sz="3200" dirty="0">
                <a:ea typeface="ＭＳ Ｐゴシック" charset="0"/>
                <a:cs typeface="+mj-cs"/>
              </a:rPr>
              <a:t>additive increase multiplicative decrease (AIMD)</a:t>
            </a:r>
          </a:p>
        </p:txBody>
      </p:sp>
      <p:sp>
        <p:nvSpPr>
          <p:cNvPr id="174086" name="Rectangle 8">
            <a:extLst>
              <a:ext uri="{FF2B5EF4-FFF2-40B4-BE49-F238E27FC236}">
                <a16:creationId xmlns:a16="http://schemas.microsoft.com/office/drawing/2014/main" id="{DD77D3A8-1944-418F-8050-B3F20F0DC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71600"/>
            <a:ext cx="8375650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6889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TW" sz="2800" i="1" dirty="0"/>
              <a:t>approach: </a:t>
            </a:r>
            <a:r>
              <a:rPr lang="en-US" altLang="zh-TW" sz="2800" dirty="0"/>
              <a:t>sender</a:t>
            </a:r>
            <a:r>
              <a:rPr lang="en-US" altLang="zh-TW" sz="2800" i="1" dirty="0">
                <a:solidFill>
                  <a:srgbClr val="FF0000"/>
                </a:solidFill>
              </a:rPr>
              <a:t> </a:t>
            </a:r>
            <a:r>
              <a:rPr lang="en-US" altLang="zh-TW" sz="2800" dirty="0"/>
              <a:t>increases transmission rate (window size), </a:t>
            </a:r>
            <a:r>
              <a:rPr lang="en-US" altLang="zh-TW" sz="2800" dirty="0">
                <a:solidFill>
                  <a:srgbClr val="0070C0"/>
                </a:solidFill>
              </a:rPr>
              <a:t>probing for usable bandwidth</a:t>
            </a:r>
            <a:r>
              <a:rPr lang="en-US" altLang="zh-TW" sz="2800" dirty="0"/>
              <a:t>, until loss occurs</a:t>
            </a:r>
          </a:p>
          <a:p>
            <a:pPr lvl="1"/>
            <a:r>
              <a:rPr lang="en-US" altLang="zh-TW" i="1" dirty="0">
                <a:solidFill>
                  <a:srgbClr val="CC0000"/>
                </a:solidFill>
              </a:rPr>
              <a:t>additive increase: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0070C0"/>
                </a:solidFill>
              </a:rPr>
              <a:t>increase  </a:t>
            </a:r>
            <a:r>
              <a:rPr lang="en-US" altLang="zh-TW" b="1" dirty="0" err="1">
                <a:solidFill>
                  <a:srgbClr val="0070C0"/>
                </a:solidFill>
                <a:latin typeface="Courier New" panose="02070309020205020404" pitchFamily="49" charset="0"/>
              </a:rPr>
              <a:t>cwnd</a:t>
            </a:r>
            <a:r>
              <a:rPr lang="en-US" altLang="zh-TW" dirty="0">
                <a:solidFill>
                  <a:srgbClr val="0070C0"/>
                </a:solidFill>
                <a:latin typeface="Courier New" panose="02070309020205020404" pitchFamily="49" charset="0"/>
              </a:rPr>
              <a:t> </a:t>
            </a:r>
            <a:r>
              <a:rPr lang="en-US" altLang="zh-TW" dirty="0"/>
              <a:t>(i.e., TCP sender congestion window size) </a:t>
            </a:r>
            <a:r>
              <a:rPr lang="en-US" altLang="zh-TW" dirty="0">
                <a:solidFill>
                  <a:srgbClr val="0070C0"/>
                </a:solidFill>
              </a:rPr>
              <a:t>by 1 MSS every RTT </a:t>
            </a:r>
            <a:r>
              <a:rPr lang="en-US" altLang="zh-TW" dirty="0"/>
              <a:t>until loss detected</a:t>
            </a:r>
            <a:endParaRPr lang="en-US" altLang="zh-TW" i="1" dirty="0"/>
          </a:p>
          <a:p>
            <a:pPr lvl="1"/>
            <a:r>
              <a:rPr lang="en-US" altLang="zh-TW" i="1" dirty="0">
                <a:solidFill>
                  <a:srgbClr val="CC0000"/>
                </a:solidFill>
              </a:rPr>
              <a:t>multiplicative decrease</a:t>
            </a:r>
            <a:r>
              <a:rPr lang="en-US" altLang="zh-TW" dirty="0">
                <a:solidFill>
                  <a:srgbClr val="CC0000"/>
                </a:solidFill>
              </a:rPr>
              <a:t>: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0070C0"/>
                </a:solidFill>
              </a:rPr>
              <a:t>cut </a:t>
            </a:r>
            <a:r>
              <a:rPr lang="en-US" altLang="zh-TW" b="1" dirty="0" err="1">
                <a:solidFill>
                  <a:srgbClr val="0070C0"/>
                </a:solidFill>
                <a:latin typeface="Courier New" panose="02070309020205020404" pitchFamily="49" charset="0"/>
              </a:rPr>
              <a:t>cwnd</a:t>
            </a:r>
            <a:r>
              <a:rPr lang="en-US" altLang="zh-TW" b="1" dirty="0">
                <a:solidFill>
                  <a:srgbClr val="0070C0"/>
                </a:solidFill>
                <a:latin typeface="Courier New" panose="02070309020205020404" pitchFamily="49" charset="0"/>
              </a:rPr>
              <a:t> </a:t>
            </a:r>
            <a:r>
              <a:rPr lang="en-US" altLang="zh-TW" dirty="0">
                <a:solidFill>
                  <a:srgbClr val="0070C0"/>
                </a:solidFill>
              </a:rPr>
              <a:t>in half after loss </a:t>
            </a:r>
          </a:p>
          <a:p>
            <a:endParaRPr lang="en-US" altLang="zh-TW" sz="2800" dirty="0"/>
          </a:p>
        </p:txBody>
      </p:sp>
      <p:sp>
        <p:nvSpPr>
          <p:cNvPr id="174087" name="Rectangle 11">
            <a:extLst>
              <a:ext uri="{FF2B5EF4-FFF2-40B4-BE49-F238E27FC236}">
                <a16:creationId xmlns:a16="http://schemas.microsoft.com/office/drawing/2014/main" id="{AC4C7FE8-BD28-4F8F-A1E6-23707FE9E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3950" y="3954463"/>
            <a:ext cx="685800" cy="3048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4088" name="Text Box 12">
            <a:extLst>
              <a:ext uri="{FF2B5EF4-FFF2-40B4-BE49-F238E27FC236}">
                <a16:creationId xmlns:a16="http://schemas.microsoft.com/office/drawing/2014/main" id="{15F06FE9-A775-4E14-8D8F-C4D4AE5199AD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2074863" y="5080000"/>
            <a:ext cx="2047875" cy="5175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b="1">
                <a:latin typeface="Courier New" panose="02070309020205020404" pitchFamily="49" charset="0"/>
              </a:rPr>
              <a:t>cwnd:</a:t>
            </a:r>
            <a:r>
              <a:rPr lang="en-US" altLang="zh-TW" sz="1400">
                <a:latin typeface="Arial" panose="020B0604020202020204" pitchFamily="34" charset="0"/>
              </a:rPr>
              <a:t> TCP sender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congestion window size</a:t>
            </a:r>
          </a:p>
        </p:txBody>
      </p:sp>
      <p:sp>
        <p:nvSpPr>
          <p:cNvPr id="174089" name="Text Box 13">
            <a:extLst>
              <a:ext uri="{FF2B5EF4-FFF2-40B4-BE49-F238E27FC236}">
                <a16:creationId xmlns:a16="http://schemas.microsoft.com/office/drawing/2014/main" id="{79E06DE2-03AF-4F44-A86C-DEB0AE1869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4743450"/>
            <a:ext cx="21463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AIMD saw tooth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behavior: probing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for bandwidth</a:t>
            </a:r>
          </a:p>
        </p:txBody>
      </p:sp>
      <p:sp>
        <p:nvSpPr>
          <p:cNvPr id="174090" name="Line 17">
            <a:extLst>
              <a:ext uri="{FF2B5EF4-FFF2-40B4-BE49-F238E27FC236}">
                <a16:creationId xmlns:a16="http://schemas.microsoft.com/office/drawing/2014/main" id="{1C0597C9-EAC0-4B90-8CF7-B78AB9C8A2D2}"/>
              </a:ext>
            </a:extLst>
          </p:cNvPr>
          <p:cNvSpPr>
            <a:spLocks noChangeShapeType="1"/>
          </p:cNvSpPr>
          <p:nvPr/>
        </p:nvSpPr>
        <p:spPr bwMode="auto">
          <a:xfrm>
            <a:off x="3505200" y="6445250"/>
            <a:ext cx="41433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74091" name="Line 18">
            <a:extLst>
              <a:ext uri="{FF2B5EF4-FFF2-40B4-BE49-F238E27FC236}">
                <a16:creationId xmlns:a16="http://schemas.microsoft.com/office/drawing/2014/main" id="{E58BF901-9CE3-4221-8EDF-773BF7522E3A}"/>
              </a:ext>
            </a:extLst>
          </p:cNvPr>
          <p:cNvSpPr>
            <a:spLocks noChangeShapeType="1"/>
          </p:cNvSpPr>
          <p:nvPr/>
        </p:nvSpPr>
        <p:spPr bwMode="auto">
          <a:xfrm>
            <a:off x="3494088" y="4030663"/>
            <a:ext cx="0" cy="2416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68307" name="Line 19">
            <a:extLst>
              <a:ext uri="{FF2B5EF4-FFF2-40B4-BE49-F238E27FC236}">
                <a16:creationId xmlns:a16="http://schemas.microsoft.com/office/drawing/2014/main" id="{2D5403A6-7C0E-4D0E-B057-1C9DD73A37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05200" y="5148263"/>
            <a:ext cx="169863" cy="1698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68308" name="Line 20">
            <a:extLst>
              <a:ext uri="{FF2B5EF4-FFF2-40B4-BE49-F238E27FC236}">
                <a16:creationId xmlns:a16="http://schemas.microsoft.com/office/drawing/2014/main" id="{4AB4540D-D5D2-4E47-B9F2-77EEEA3222A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86175" y="5137150"/>
            <a:ext cx="0" cy="64293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68309" name="Line 21">
            <a:extLst>
              <a:ext uri="{FF2B5EF4-FFF2-40B4-BE49-F238E27FC236}">
                <a16:creationId xmlns:a16="http://schemas.microsoft.com/office/drawing/2014/main" id="{0286F4AE-D086-4478-BF4F-D0F7D4A5D3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75063" y="4821238"/>
            <a:ext cx="982662" cy="9810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68310" name="Line 22">
            <a:extLst>
              <a:ext uri="{FF2B5EF4-FFF2-40B4-BE49-F238E27FC236}">
                <a16:creationId xmlns:a16="http://schemas.microsoft.com/office/drawing/2014/main" id="{42C456BD-A6F5-4F3F-BE7B-7885CAAC102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6613" y="4822825"/>
            <a:ext cx="0" cy="8016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2" name="Group 38">
            <a:extLst>
              <a:ext uri="{FF2B5EF4-FFF2-40B4-BE49-F238E27FC236}">
                <a16:creationId xmlns:a16="http://schemas.microsoft.com/office/drawing/2014/main" id="{5A0B0B2A-222E-46E8-BABD-B77F1F24A9EA}"/>
              </a:ext>
            </a:extLst>
          </p:cNvPr>
          <p:cNvGrpSpPr>
            <a:grpSpLocks/>
          </p:cNvGrpSpPr>
          <p:nvPr/>
        </p:nvGrpSpPr>
        <p:grpSpPr bwMode="auto">
          <a:xfrm>
            <a:off x="4638675" y="4697413"/>
            <a:ext cx="3040063" cy="1106487"/>
            <a:chOff x="2720" y="2730"/>
            <a:chExt cx="1915" cy="697"/>
          </a:xfrm>
        </p:grpSpPr>
        <p:sp>
          <p:nvSpPr>
            <p:cNvPr id="174103" name="Line 23">
              <a:extLst>
                <a:ext uri="{FF2B5EF4-FFF2-40B4-BE49-F238E27FC236}">
                  <a16:creationId xmlns:a16="http://schemas.microsoft.com/office/drawing/2014/main" id="{2EE865C3-EC5E-407A-9A00-4DFCD67798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20" y="2996"/>
              <a:ext cx="331" cy="33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grpSp>
          <p:nvGrpSpPr>
            <p:cNvPr id="174104" name="Group 37">
              <a:extLst>
                <a:ext uri="{FF2B5EF4-FFF2-40B4-BE49-F238E27FC236}">
                  <a16:creationId xmlns:a16="http://schemas.microsoft.com/office/drawing/2014/main" id="{2ED0469C-BFE8-4967-BA26-B33B0E9640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51" y="2730"/>
              <a:ext cx="1584" cy="697"/>
              <a:chOff x="3051" y="2730"/>
              <a:chExt cx="1584" cy="697"/>
            </a:xfrm>
          </p:grpSpPr>
          <p:sp>
            <p:nvSpPr>
              <p:cNvPr id="174105" name="Line 24">
                <a:extLst>
                  <a:ext uri="{FF2B5EF4-FFF2-40B4-BE49-F238E27FC236}">
                    <a16:creationId xmlns:a16="http://schemas.microsoft.com/office/drawing/2014/main" id="{5A2BCEFA-E8CC-42CF-815C-69B8A30E12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51" y="2993"/>
                <a:ext cx="0" cy="434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74106" name="Line 25">
                <a:extLst>
                  <a:ext uri="{FF2B5EF4-FFF2-40B4-BE49-F238E27FC236}">
                    <a16:creationId xmlns:a16="http://schemas.microsoft.com/office/drawing/2014/main" id="{74AF64A5-691D-4936-8EA9-94F5546C80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058" y="2795"/>
                <a:ext cx="611" cy="61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74107" name="Line 26">
                <a:extLst>
                  <a:ext uri="{FF2B5EF4-FFF2-40B4-BE49-F238E27FC236}">
                    <a16:creationId xmlns:a16="http://schemas.microsoft.com/office/drawing/2014/main" id="{C1F39954-C28E-4A83-8EC5-C3CC49F23D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66" y="2795"/>
                <a:ext cx="7" cy="52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74108" name="Line 29">
                <a:extLst>
                  <a:ext uri="{FF2B5EF4-FFF2-40B4-BE49-F238E27FC236}">
                    <a16:creationId xmlns:a16="http://schemas.microsoft.com/office/drawing/2014/main" id="{6721D499-8B6E-4742-937E-B0F236E35C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669" y="2898"/>
                <a:ext cx="420" cy="42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74109" name="Line 30">
                <a:extLst>
                  <a:ext uri="{FF2B5EF4-FFF2-40B4-BE49-F238E27FC236}">
                    <a16:creationId xmlns:a16="http://schemas.microsoft.com/office/drawing/2014/main" id="{AED52104-3C7E-4666-B65E-9F405F9C06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89" y="2889"/>
                <a:ext cx="0" cy="47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74110" name="Line 31">
                <a:extLst>
                  <a:ext uri="{FF2B5EF4-FFF2-40B4-BE49-F238E27FC236}">
                    <a16:creationId xmlns:a16="http://schemas.microsoft.com/office/drawing/2014/main" id="{CCEB83D3-93E5-4270-809E-014C4ABEBD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083" y="2730"/>
                <a:ext cx="552" cy="639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sp>
        <p:nvSpPr>
          <p:cNvPr id="174097" name="Text Box 32">
            <a:extLst>
              <a:ext uri="{FF2B5EF4-FFF2-40B4-BE49-F238E27FC236}">
                <a16:creationId xmlns:a16="http://schemas.microsoft.com/office/drawing/2014/main" id="{5986C138-0B7B-497A-B96F-862C58D03E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03725" y="3917950"/>
            <a:ext cx="422275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additively increase window size …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Tahoma" panose="020B0604030504040204" pitchFamily="34" charset="0"/>
              </a:rPr>
              <a:t>…. until loss occurs (then cut window in half)</a:t>
            </a:r>
          </a:p>
        </p:txBody>
      </p:sp>
      <p:sp>
        <p:nvSpPr>
          <p:cNvPr id="268321" name="Freeform 33">
            <a:extLst>
              <a:ext uri="{FF2B5EF4-FFF2-40B4-BE49-F238E27FC236}">
                <a16:creationId xmlns:a16="http://schemas.microsoft.com/office/drawing/2014/main" id="{F2A52B56-4670-46E0-84D8-EF2ACDBC1D56}"/>
              </a:ext>
            </a:extLst>
          </p:cNvPr>
          <p:cNvSpPr>
            <a:spLocks/>
          </p:cNvSpPr>
          <p:nvPr/>
        </p:nvSpPr>
        <p:spPr bwMode="auto">
          <a:xfrm>
            <a:off x="3598863" y="4111625"/>
            <a:ext cx="858837" cy="1016000"/>
          </a:xfrm>
          <a:custGeom>
            <a:avLst/>
            <a:gdLst>
              <a:gd name="T0" fmla="*/ 2147483646 w 541"/>
              <a:gd name="T1" fmla="*/ 0 h 640"/>
              <a:gd name="T2" fmla="*/ 0 w 541"/>
              <a:gd name="T3" fmla="*/ 0 h 640"/>
              <a:gd name="T4" fmla="*/ 0 w 541"/>
              <a:gd name="T5" fmla="*/ 2147483646 h 640"/>
              <a:gd name="T6" fmla="*/ 0 60000 65536"/>
              <a:gd name="T7" fmla="*/ 0 60000 65536"/>
              <a:gd name="T8" fmla="*/ 0 60000 65536"/>
              <a:gd name="T9" fmla="*/ 0 w 541"/>
              <a:gd name="T10" fmla="*/ 0 h 640"/>
              <a:gd name="T11" fmla="*/ 541 w 541"/>
              <a:gd name="T12" fmla="*/ 640 h 64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41" h="640">
                <a:moveTo>
                  <a:pt x="541" y="0"/>
                </a:moveTo>
                <a:lnTo>
                  <a:pt x="0" y="0"/>
                </a:lnTo>
                <a:lnTo>
                  <a:pt x="0" y="640"/>
                </a:ln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68322" name="Freeform 34">
            <a:extLst>
              <a:ext uri="{FF2B5EF4-FFF2-40B4-BE49-F238E27FC236}">
                <a16:creationId xmlns:a16="http://schemas.microsoft.com/office/drawing/2014/main" id="{D5C156B9-645E-4EBF-8AF8-3818AF7BFF44}"/>
              </a:ext>
            </a:extLst>
          </p:cNvPr>
          <p:cNvSpPr>
            <a:spLocks/>
          </p:cNvSpPr>
          <p:nvPr/>
        </p:nvSpPr>
        <p:spPr bwMode="auto">
          <a:xfrm>
            <a:off x="3743325" y="4314825"/>
            <a:ext cx="796925" cy="1000125"/>
          </a:xfrm>
          <a:custGeom>
            <a:avLst/>
            <a:gdLst>
              <a:gd name="T0" fmla="*/ 2147483646 w 502"/>
              <a:gd name="T1" fmla="*/ 0 h 630"/>
              <a:gd name="T2" fmla="*/ 2147483646 w 502"/>
              <a:gd name="T3" fmla="*/ 2147483646 h 630"/>
              <a:gd name="T4" fmla="*/ 2147483646 w 502"/>
              <a:gd name="T5" fmla="*/ 2147483646 h 630"/>
              <a:gd name="T6" fmla="*/ 0 w 502"/>
              <a:gd name="T7" fmla="*/ 2147483646 h 630"/>
              <a:gd name="T8" fmla="*/ 0 60000 65536"/>
              <a:gd name="T9" fmla="*/ 0 60000 65536"/>
              <a:gd name="T10" fmla="*/ 0 60000 65536"/>
              <a:gd name="T11" fmla="*/ 0 60000 65536"/>
              <a:gd name="T12" fmla="*/ 0 w 502"/>
              <a:gd name="T13" fmla="*/ 0 h 630"/>
              <a:gd name="T14" fmla="*/ 502 w 502"/>
              <a:gd name="T15" fmla="*/ 630 h 63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02" h="630">
                <a:moveTo>
                  <a:pt x="502" y="0"/>
                </a:moveTo>
                <a:lnTo>
                  <a:pt x="56" y="2"/>
                </a:lnTo>
                <a:lnTo>
                  <a:pt x="54" y="630"/>
                </a:lnTo>
                <a:lnTo>
                  <a:pt x="0" y="630"/>
                </a:ln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68323" name="Freeform 35">
            <a:extLst>
              <a:ext uri="{FF2B5EF4-FFF2-40B4-BE49-F238E27FC236}">
                <a16:creationId xmlns:a16="http://schemas.microsoft.com/office/drawing/2014/main" id="{589F4B39-DCB9-4FCB-9AA2-79C6DE362C42}"/>
              </a:ext>
            </a:extLst>
          </p:cNvPr>
          <p:cNvSpPr>
            <a:spLocks/>
          </p:cNvSpPr>
          <p:nvPr/>
        </p:nvSpPr>
        <p:spPr bwMode="auto">
          <a:xfrm>
            <a:off x="4051300" y="4110038"/>
            <a:ext cx="406400" cy="1168400"/>
          </a:xfrm>
          <a:custGeom>
            <a:avLst/>
            <a:gdLst>
              <a:gd name="T0" fmla="*/ 2147483646 w 256"/>
              <a:gd name="T1" fmla="*/ 0 h 736"/>
              <a:gd name="T2" fmla="*/ 0 w 256"/>
              <a:gd name="T3" fmla="*/ 0 h 736"/>
              <a:gd name="T4" fmla="*/ 0 w 256"/>
              <a:gd name="T5" fmla="*/ 2147483646 h 736"/>
              <a:gd name="T6" fmla="*/ 0 60000 65536"/>
              <a:gd name="T7" fmla="*/ 0 60000 65536"/>
              <a:gd name="T8" fmla="*/ 0 60000 65536"/>
              <a:gd name="T9" fmla="*/ 0 w 256"/>
              <a:gd name="T10" fmla="*/ 0 h 736"/>
              <a:gd name="T11" fmla="*/ 256 w 256"/>
              <a:gd name="T12" fmla="*/ 736 h 7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56" h="736">
                <a:moveTo>
                  <a:pt x="256" y="0"/>
                </a:moveTo>
                <a:lnTo>
                  <a:pt x="0" y="0"/>
                </a:lnTo>
                <a:lnTo>
                  <a:pt x="0" y="736"/>
                </a:ln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68324" name="Freeform 36">
            <a:extLst>
              <a:ext uri="{FF2B5EF4-FFF2-40B4-BE49-F238E27FC236}">
                <a16:creationId xmlns:a16="http://schemas.microsoft.com/office/drawing/2014/main" id="{16CEE794-AA8C-4B61-9F4D-401C3E1A6C80}"/>
              </a:ext>
            </a:extLst>
          </p:cNvPr>
          <p:cNvSpPr>
            <a:spLocks/>
          </p:cNvSpPr>
          <p:nvPr/>
        </p:nvSpPr>
        <p:spPr bwMode="auto">
          <a:xfrm>
            <a:off x="4689475" y="4475163"/>
            <a:ext cx="168275" cy="635000"/>
          </a:xfrm>
          <a:custGeom>
            <a:avLst/>
            <a:gdLst>
              <a:gd name="T0" fmla="*/ 2147483646 w 106"/>
              <a:gd name="T1" fmla="*/ 0 h 400"/>
              <a:gd name="T2" fmla="*/ 2147483646 w 106"/>
              <a:gd name="T3" fmla="*/ 2147483646 h 400"/>
              <a:gd name="T4" fmla="*/ 0 w 106"/>
              <a:gd name="T5" fmla="*/ 2147483646 h 400"/>
              <a:gd name="T6" fmla="*/ 0 60000 65536"/>
              <a:gd name="T7" fmla="*/ 0 60000 65536"/>
              <a:gd name="T8" fmla="*/ 0 60000 65536"/>
              <a:gd name="T9" fmla="*/ 0 w 106"/>
              <a:gd name="T10" fmla="*/ 0 h 400"/>
              <a:gd name="T11" fmla="*/ 106 w 106"/>
              <a:gd name="T12" fmla="*/ 400 h 4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06" h="400">
                <a:moveTo>
                  <a:pt x="106" y="0"/>
                </a:moveTo>
                <a:lnTo>
                  <a:pt x="106" y="400"/>
                </a:lnTo>
                <a:lnTo>
                  <a:pt x="0" y="400"/>
                </a:ln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74102" name="Text Box 40">
            <a:extLst>
              <a:ext uri="{FF2B5EF4-FFF2-40B4-BE49-F238E27FC236}">
                <a16:creationId xmlns:a16="http://schemas.microsoft.com/office/drawing/2014/main" id="{33F939AA-5444-4D14-921B-5050A14D24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2063" y="6435725"/>
            <a:ext cx="5762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Tahoma" panose="020B0604030504040204" pitchFamily="34" charset="0"/>
              </a:rPr>
              <a:t>time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68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268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68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68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68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68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68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Footer Placeholder 5">
            <a:extLst>
              <a:ext uri="{FF2B5EF4-FFF2-40B4-BE49-F238E27FC236}">
                <a16:creationId xmlns:a16="http://schemas.microsoft.com/office/drawing/2014/main" id="{9FD62A61-F456-45F7-870A-27716B012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5107" name="Slide Number Placeholder 6">
            <a:extLst>
              <a:ext uri="{FF2B5EF4-FFF2-40B4-BE49-F238E27FC236}">
                <a16:creationId xmlns:a16="http://schemas.microsoft.com/office/drawing/2014/main" id="{7748A5DD-ECE4-4A2B-A188-D0E69D2FE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4692E609-F17A-4065-8A71-19068FE7CE4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75108" name="Picture 89" descr="underline_base">
            <a:extLst>
              <a:ext uri="{FF2B5EF4-FFF2-40B4-BE49-F238E27FC236}">
                <a16:creationId xmlns:a16="http://schemas.microsoft.com/office/drawing/2014/main" id="{82C30FFB-EEB2-4446-B560-C4595F9A6B2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57E27138-C386-4F36-A331-60597B06D9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Congestion Control: details</a:t>
            </a:r>
          </a:p>
        </p:txBody>
      </p:sp>
      <p:sp>
        <p:nvSpPr>
          <p:cNvPr id="175110" name="Rectangle 3">
            <a:extLst>
              <a:ext uri="{FF2B5EF4-FFF2-40B4-BE49-F238E27FC236}">
                <a16:creationId xmlns:a16="http://schemas.microsoft.com/office/drawing/2014/main" id="{0D08C804-DDBA-41F9-99C4-43C600881E1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12750" y="3784600"/>
            <a:ext cx="8731250" cy="2719388"/>
          </a:xfrm>
        </p:spPr>
        <p:txBody>
          <a:bodyPr/>
          <a:lstStyle/>
          <a:p>
            <a:r>
              <a:rPr lang="en-US" altLang="zh-TW" dirty="0"/>
              <a:t>sender limits transmission: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>
                <a:latin typeface="Courier New" panose="02070309020205020404" pitchFamily="49" charset="0"/>
              </a:rPr>
              <a:t>cwnd</a:t>
            </a:r>
            <a:r>
              <a:rPr lang="en-US" altLang="zh-TW" dirty="0"/>
              <a:t> is dynamic, function of perceived network congestion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zh-TW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congestion control</a:t>
            </a:r>
          </a:p>
          <a:p>
            <a:r>
              <a:rPr lang="en-US" altLang="zh-TW" b="1" dirty="0" err="1">
                <a:latin typeface="Courier New" panose="02070309020205020404" pitchFamily="49" charset="0"/>
              </a:rPr>
              <a:t>rwnd</a:t>
            </a:r>
            <a:r>
              <a:rPr lang="en-US" altLang="zh-TW" b="1" dirty="0">
                <a:latin typeface="Courier New" panose="02070309020205020404" pitchFamily="49" charset="0"/>
              </a:rPr>
              <a:t>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→ </a:t>
            </a:r>
            <a:r>
              <a:rPr lang="en-US" altLang="zh-TW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flow control</a:t>
            </a:r>
            <a:endParaRPr lang="en-US" altLang="zh-TW" dirty="0">
              <a:solidFill>
                <a:srgbClr val="0070C0"/>
              </a:solidFill>
            </a:endParaRPr>
          </a:p>
          <a:p>
            <a:endParaRPr lang="en-US" altLang="zh-TW" dirty="0"/>
          </a:p>
        </p:txBody>
      </p:sp>
      <p:sp>
        <p:nvSpPr>
          <p:cNvPr id="175111" name="Rectangle 12">
            <a:extLst>
              <a:ext uri="{FF2B5EF4-FFF2-40B4-BE49-F238E27FC236}">
                <a16:creationId xmlns:a16="http://schemas.microsoft.com/office/drawing/2014/main" id="{FED83CAC-FAFA-426E-84CF-AC7F01D64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0" y="1941513"/>
            <a:ext cx="65088" cy="622300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rgbClr val="33CC33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12" name="Rectangle 13">
            <a:extLst>
              <a:ext uri="{FF2B5EF4-FFF2-40B4-BE49-F238E27FC236}">
                <a16:creationId xmlns:a16="http://schemas.microsoft.com/office/drawing/2014/main" id="{727686BB-04F2-4ABB-803F-EB640355FA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5188" y="1943100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13" name="Rectangle 14">
            <a:extLst>
              <a:ext uri="{FF2B5EF4-FFF2-40B4-BE49-F238E27FC236}">
                <a16:creationId xmlns:a16="http://schemas.microsoft.com/office/drawing/2014/main" id="{CF8D179E-7EEB-4D67-8364-265F12C09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613" y="1941513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14" name="Rectangle 15">
            <a:extLst>
              <a:ext uri="{FF2B5EF4-FFF2-40B4-BE49-F238E27FC236}">
                <a16:creationId xmlns:a16="http://schemas.microsoft.com/office/drawing/2014/main" id="{353B9C5B-0F69-4E94-93B1-3B24233F24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0450" y="1941513"/>
            <a:ext cx="65088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15" name="Rectangle 16">
            <a:extLst>
              <a:ext uri="{FF2B5EF4-FFF2-40B4-BE49-F238E27FC236}">
                <a16:creationId xmlns:a16="http://schemas.microsoft.com/office/drawing/2014/main" id="{0D9830EB-4A99-4162-9835-8290BF4F5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5700" y="1941513"/>
            <a:ext cx="65088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16" name="Rectangle 17">
            <a:extLst>
              <a:ext uri="{FF2B5EF4-FFF2-40B4-BE49-F238E27FC236}">
                <a16:creationId xmlns:a16="http://schemas.microsoft.com/office/drawing/2014/main" id="{F507FA08-154A-4EA0-80B6-B1FD3CE27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2538" y="1941513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17" name="Rectangle 18">
            <a:extLst>
              <a:ext uri="{FF2B5EF4-FFF2-40B4-BE49-F238E27FC236}">
                <a16:creationId xmlns:a16="http://schemas.microsoft.com/office/drawing/2014/main" id="{3B1F0509-FBE7-4093-BC30-66BA8BC977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941513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18" name="Rectangle 19">
            <a:extLst>
              <a:ext uri="{FF2B5EF4-FFF2-40B4-BE49-F238E27FC236}">
                <a16:creationId xmlns:a16="http://schemas.microsoft.com/office/drawing/2014/main" id="{EAAFF893-7121-49EA-AA2B-7571CBFD6A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9863" y="1941513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19" name="Rectangle 20">
            <a:extLst>
              <a:ext uri="{FF2B5EF4-FFF2-40B4-BE49-F238E27FC236}">
                <a16:creationId xmlns:a16="http://schemas.microsoft.com/office/drawing/2014/main" id="{1D03E0D7-BB9E-4D2F-9879-A83216FCF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5113" y="1941513"/>
            <a:ext cx="65087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0" name="Rectangle 21">
            <a:extLst>
              <a:ext uri="{FF2B5EF4-FFF2-40B4-BE49-F238E27FC236}">
                <a16:creationId xmlns:a16="http://schemas.microsoft.com/office/drawing/2014/main" id="{E728243C-EE6A-40D0-BF31-C57CE6B11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1475" y="1941513"/>
            <a:ext cx="65088" cy="622300"/>
          </a:xfrm>
          <a:prstGeom prst="rect">
            <a:avLst/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1" name="Rectangle 22">
            <a:extLst>
              <a:ext uri="{FF2B5EF4-FFF2-40B4-BE49-F238E27FC236}">
                <a16:creationId xmlns:a16="http://schemas.microsoft.com/office/drawing/2014/main" id="{71F228DF-6824-4D56-BC71-041C5790A8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9900" y="1943100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2" name="Rectangle 23">
            <a:extLst>
              <a:ext uri="{FF2B5EF4-FFF2-40B4-BE49-F238E27FC236}">
                <a16:creationId xmlns:a16="http://schemas.microsoft.com/office/drawing/2014/main" id="{DD6A192C-9C5B-4DC9-8FDC-4D96667F2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6738" y="1941513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3" name="Rectangle 24">
            <a:extLst>
              <a:ext uri="{FF2B5EF4-FFF2-40B4-BE49-F238E27FC236}">
                <a16:creationId xmlns:a16="http://schemas.microsoft.com/office/drawing/2014/main" id="{0C60B288-4FFC-4A99-A7DC-ECBFF1288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3575" y="1941513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4" name="Rectangle 25">
            <a:extLst>
              <a:ext uri="{FF2B5EF4-FFF2-40B4-BE49-F238E27FC236}">
                <a16:creationId xmlns:a16="http://schemas.microsoft.com/office/drawing/2014/main" id="{21E2E0E5-5DFA-4BD2-80CE-8C15D2AF6B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0413" y="1941513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5" name="Rectangle 26">
            <a:extLst>
              <a:ext uri="{FF2B5EF4-FFF2-40B4-BE49-F238E27FC236}">
                <a16:creationId xmlns:a16="http://schemas.microsoft.com/office/drawing/2014/main" id="{7EF1F6A7-B2BA-4BBA-8A04-0A663896E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1941513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6" name="Rectangle 27">
            <a:extLst>
              <a:ext uri="{FF2B5EF4-FFF2-40B4-BE49-F238E27FC236}">
                <a16:creationId xmlns:a16="http://schemas.microsoft.com/office/drawing/2014/main" id="{DA7BB40A-6459-4B88-9249-76FA17A0B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7738" y="1941513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7" name="Rectangle 28">
            <a:extLst>
              <a:ext uri="{FF2B5EF4-FFF2-40B4-BE49-F238E27FC236}">
                <a16:creationId xmlns:a16="http://schemas.microsoft.com/office/drawing/2014/main" id="{45856E33-D4D7-49BE-B4D8-3C692B9E1D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988" y="1941513"/>
            <a:ext cx="65087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8" name="Rectangle 29">
            <a:extLst>
              <a:ext uri="{FF2B5EF4-FFF2-40B4-BE49-F238E27FC236}">
                <a16:creationId xmlns:a16="http://schemas.microsoft.com/office/drawing/2014/main" id="{AAF568B2-7A53-4E96-8C81-BB645EDBB8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9825" y="1941513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29" name="Rectangle 30">
            <a:extLst>
              <a:ext uri="{FF2B5EF4-FFF2-40B4-BE49-F238E27FC236}">
                <a16:creationId xmlns:a16="http://schemas.microsoft.com/office/drawing/2014/main" id="{48E538DF-7C31-484F-9656-03B145D9E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8725" y="1941513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0" name="Rectangle 31">
            <a:extLst>
              <a:ext uri="{FF2B5EF4-FFF2-40B4-BE49-F238E27FC236}">
                <a16:creationId xmlns:a16="http://schemas.microsoft.com/office/drawing/2014/main" id="{696E6C1F-17FA-4065-9A33-BD1C6F5ECC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3975" y="1941513"/>
            <a:ext cx="65088" cy="622300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1" name="Rectangle 32">
            <a:extLst>
              <a:ext uri="{FF2B5EF4-FFF2-40B4-BE49-F238E27FC236}">
                <a16:creationId xmlns:a16="http://schemas.microsoft.com/office/drawing/2014/main" id="{1BDC8DC0-DAC5-47E4-A30F-2D0ED2E00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7638" y="1939925"/>
            <a:ext cx="65087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2" name="Rectangle 33">
            <a:extLst>
              <a:ext uri="{FF2B5EF4-FFF2-40B4-BE49-F238E27FC236}">
                <a16:creationId xmlns:a16="http://schemas.microsoft.com/office/drawing/2014/main" id="{BC976700-6EBA-4717-8DAF-CA9BFBC021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713" y="1939925"/>
            <a:ext cx="65087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3" name="Rectangle 34">
            <a:extLst>
              <a:ext uri="{FF2B5EF4-FFF2-40B4-BE49-F238E27FC236}">
                <a16:creationId xmlns:a16="http://schemas.microsoft.com/office/drawing/2014/main" id="{BBBA4EC3-5754-4B8E-80C6-A797BFFFD0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6550" y="1939925"/>
            <a:ext cx="65088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4" name="Rectangle 35">
            <a:extLst>
              <a:ext uri="{FF2B5EF4-FFF2-40B4-BE49-F238E27FC236}">
                <a16:creationId xmlns:a16="http://schemas.microsoft.com/office/drawing/2014/main" id="{69D6B949-284E-4043-A361-16F7A2272A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1939925"/>
            <a:ext cx="65088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5" name="Rectangle 36">
            <a:extLst>
              <a:ext uri="{FF2B5EF4-FFF2-40B4-BE49-F238E27FC236}">
                <a16:creationId xmlns:a16="http://schemas.microsoft.com/office/drawing/2014/main" id="{261BB109-6CCA-4732-A271-5D1A1A360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0700" y="1939925"/>
            <a:ext cx="65088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6" name="Rectangle 37">
            <a:extLst>
              <a:ext uri="{FF2B5EF4-FFF2-40B4-BE49-F238E27FC236}">
                <a16:creationId xmlns:a16="http://schemas.microsoft.com/office/drawing/2014/main" id="{0583B969-D745-47B9-8408-FADC832570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5950" y="1939925"/>
            <a:ext cx="65088" cy="6223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7" name="Rectangle 38">
            <a:extLst>
              <a:ext uri="{FF2B5EF4-FFF2-40B4-BE49-F238E27FC236}">
                <a16:creationId xmlns:a16="http://schemas.microsoft.com/office/drawing/2014/main" id="{4385B9D5-FF9F-4587-892C-537BB6775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2788" y="1941513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8" name="Rectangle 39">
            <a:extLst>
              <a:ext uri="{FF2B5EF4-FFF2-40B4-BE49-F238E27FC236}">
                <a16:creationId xmlns:a16="http://schemas.microsoft.com/office/drawing/2014/main" id="{FFE63E6B-637A-4451-B7DC-B2E9F9598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9625" y="1943100"/>
            <a:ext cx="65088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39" name="Rectangle 40">
            <a:extLst>
              <a:ext uri="{FF2B5EF4-FFF2-40B4-BE49-F238E27FC236}">
                <a16:creationId xmlns:a16="http://schemas.microsoft.com/office/drawing/2014/main" id="{63EDB5C5-1A64-4FAC-A8B6-C77BE7C74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6463" y="1941513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0" name="Rectangle 41">
            <a:extLst>
              <a:ext uri="{FF2B5EF4-FFF2-40B4-BE49-F238E27FC236}">
                <a16:creationId xmlns:a16="http://schemas.microsoft.com/office/drawing/2014/main" id="{3392D092-2B91-4377-B1A6-8333C0C0D4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4888" y="1941513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1" name="Rectangle 42">
            <a:extLst>
              <a:ext uri="{FF2B5EF4-FFF2-40B4-BE49-F238E27FC236}">
                <a16:creationId xmlns:a16="http://schemas.microsoft.com/office/drawing/2014/main" id="{2BB4F342-567B-4484-A8F4-69051FAEF4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0138" y="1941513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2" name="Rectangle 43">
            <a:extLst>
              <a:ext uri="{FF2B5EF4-FFF2-40B4-BE49-F238E27FC236}">
                <a16:creationId xmlns:a16="http://schemas.microsoft.com/office/drawing/2014/main" id="{8AF6E928-B9A2-4F8D-BA7D-16F6B6C672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5388" y="1941513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3" name="Rectangle 44">
            <a:extLst>
              <a:ext uri="{FF2B5EF4-FFF2-40B4-BE49-F238E27FC236}">
                <a16:creationId xmlns:a16="http://schemas.microsoft.com/office/drawing/2014/main" id="{C42368AD-496E-495C-BC16-E03DA5F09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1941513"/>
            <a:ext cx="65087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4" name="Rectangle 45">
            <a:extLst>
              <a:ext uri="{FF2B5EF4-FFF2-40B4-BE49-F238E27FC236}">
                <a16:creationId xmlns:a16="http://schemas.microsoft.com/office/drawing/2014/main" id="{EDCD483C-68F0-4D7D-9BD5-60CB37144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1941513"/>
            <a:ext cx="65088" cy="622300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5" name="Rectangle 46">
            <a:extLst>
              <a:ext uri="{FF2B5EF4-FFF2-40B4-BE49-F238E27FC236}">
                <a16:creationId xmlns:a16="http://schemas.microsoft.com/office/drawing/2014/main" id="{460F7BC5-E4CB-46C3-963B-5B94A3393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9550" y="1941513"/>
            <a:ext cx="65088" cy="622300"/>
          </a:xfrm>
          <a:prstGeom prst="rect">
            <a:avLst/>
          </a:pr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6" name="Rectangle 47">
            <a:extLst>
              <a:ext uri="{FF2B5EF4-FFF2-40B4-BE49-F238E27FC236}">
                <a16:creationId xmlns:a16="http://schemas.microsoft.com/office/drawing/2014/main" id="{A55C71BB-EBAC-437E-8283-BEBBCAA0E8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5488" y="2679700"/>
            <a:ext cx="3408362" cy="88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7" name="Rectangle 48">
            <a:extLst>
              <a:ext uri="{FF2B5EF4-FFF2-40B4-BE49-F238E27FC236}">
                <a16:creationId xmlns:a16="http://schemas.microsoft.com/office/drawing/2014/main" id="{E60CA21B-37BE-4ED9-950E-F9BBEF1AB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213" y="1831975"/>
            <a:ext cx="3408362" cy="88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48" name="Line 51">
            <a:extLst>
              <a:ext uri="{FF2B5EF4-FFF2-40B4-BE49-F238E27FC236}">
                <a16:creationId xmlns:a16="http://schemas.microsoft.com/office/drawing/2014/main" id="{2E452EEF-3C88-48B2-B1A5-157FE0AEFA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1963" y="2635250"/>
            <a:ext cx="909637" cy="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75149" name="Freeform 53">
            <a:extLst>
              <a:ext uri="{FF2B5EF4-FFF2-40B4-BE49-F238E27FC236}">
                <a16:creationId xmlns:a16="http://schemas.microsoft.com/office/drawing/2014/main" id="{5D69BB57-8DBC-469D-B049-45BA2FF1EB5D}"/>
              </a:ext>
            </a:extLst>
          </p:cNvPr>
          <p:cNvSpPr>
            <a:spLocks/>
          </p:cNvSpPr>
          <p:nvPr/>
        </p:nvSpPr>
        <p:spPr bwMode="auto">
          <a:xfrm>
            <a:off x="1524000" y="2614613"/>
            <a:ext cx="144463" cy="384175"/>
          </a:xfrm>
          <a:custGeom>
            <a:avLst/>
            <a:gdLst>
              <a:gd name="T0" fmla="*/ 2147483646 w 91"/>
              <a:gd name="T1" fmla="*/ 0 h 242"/>
              <a:gd name="T2" fmla="*/ 2147483646 w 91"/>
              <a:gd name="T3" fmla="*/ 2147483646 h 242"/>
              <a:gd name="T4" fmla="*/ 0 w 91"/>
              <a:gd name="T5" fmla="*/ 2147483646 h 242"/>
              <a:gd name="T6" fmla="*/ 0 60000 65536"/>
              <a:gd name="T7" fmla="*/ 0 60000 65536"/>
              <a:gd name="T8" fmla="*/ 0 60000 65536"/>
              <a:gd name="T9" fmla="*/ 0 w 91"/>
              <a:gd name="T10" fmla="*/ 0 h 242"/>
              <a:gd name="T11" fmla="*/ 91 w 91"/>
              <a:gd name="T12" fmla="*/ 242 h 24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" h="242">
                <a:moveTo>
                  <a:pt x="91" y="0"/>
                </a:moveTo>
                <a:lnTo>
                  <a:pt x="88" y="242"/>
                </a:lnTo>
                <a:lnTo>
                  <a:pt x="0" y="242"/>
                </a:lnTo>
              </a:path>
            </a:pathLst>
          </a:custGeom>
          <a:noFill/>
          <a:ln w="12700" cmpd="sng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75150" name="Line 56">
            <a:extLst>
              <a:ext uri="{FF2B5EF4-FFF2-40B4-BE49-F238E27FC236}">
                <a16:creationId xmlns:a16="http://schemas.microsoft.com/office/drawing/2014/main" id="{23364533-1B05-4BA4-AADB-F05ABDAA11E7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1863" y="2654300"/>
            <a:ext cx="12700" cy="430213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75151" name="Text Box 57">
            <a:extLst>
              <a:ext uri="{FF2B5EF4-FFF2-40B4-BE49-F238E27FC236}">
                <a16:creationId xmlns:a16="http://schemas.microsoft.com/office/drawing/2014/main" id="{66839318-7CD3-4476-9EAD-8AC47EAB20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438" y="2838450"/>
            <a:ext cx="852487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last byte</a:t>
            </a: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ACKed</a:t>
            </a:r>
          </a:p>
        </p:txBody>
      </p:sp>
      <p:sp>
        <p:nvSpPr>
          <p:cNvPr id="175152" name="Text Box 58">
            <a:extLst>
              <a:ext uri="{FF2B5EF4-FFF2-40B4-BE49-F238E27FC236}">
                <a16:creationId xmlns:a16="http://schemas.microsoft.com/office/drawing/2014/main" id="{24E35F90-A8FE-4A25-9656-69CCCFFB97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1963" y="3016250"/>
            <a:ext cx="1066800" cy="668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Tahoma" panose="020B0604030504040204" pitchFamily="34" charset="0"/>
              </a:rPr>
              <a:t>sent, not-yet </a:t>
            </a:r>
            <a:r>
              <a:rPr lang="en-US" altLang="zh-TW" sz="1400" dirty="0" err="1">
                <a:latin typeface="Tahoma" panose="020B0604030504040204" pitchFamily="34" charset="0"/>
              </a:rPr>
              <a:t>ACKed</a:t>
            </a:r>
            <a:endParaRPr lang="en-US" altLang="zh-TW" sz="1400" dirty="0">
              <a:latin typeface="Tahoma" panose="020B0604030504040204" pitchFamily="34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Tahoma" panose="020B0604030504040204" pitchFamily="34" charset="0"/>
              </a:rPr>
              <a:t>(</a:t>
            </a:r>
            <a:r>
              <a:rPr lang="ja-JP" altLang="en-US" sz="1400" dirty="0">
                <a:latin typeface="Tahoma" panose="020B0604030504040204" pitchFamily="34" charset="0"/>
              </a:rPr>
              <a:t>“</a:t>
            </a:r>
            <a:r>
              <a:rPr lang="en-US" altLang="ja-JP" sz="1400" dirty="0">
                <a:latin typeface="Tahoma" panose="020B0604030504040204" pitchFamily="34" charset="0"/>
              </a:rPr>
              <a:t>in-flight</a:t>
            </a:r>
            <a:r>
              <a:rPr lang="ja-JP" altLang="en-US" sz="1400" dirty="0">
                <a:latin typeface="Tahoma" panose="020B0604030504040204" pitchFamily="34" charset="0"/>
              </a:rPr>
              <a:t>”</a:t>
            </a:r>
            <a:r>
              <a:rPr lang="en-US" altLang="ja-JP" sz="1400" dirty="0">
                <a:latin typeface="Tahoma" panose="020B0604030504040204" pitchFamily="34" charset="0"/>
              </a:rPr>
              <a:t>)</a:t>
            </a:r>
            <a:endParaRPr lang="en-US" altLang="zh-TW" sz="1400" dirty="0">
              <a:latin typeface="Tahoma" panose="020B0604030504040204" pitchFamily="34" charset="0"/>
            </a:endParaRPr>
          </a:p>
        </p:txBody>
      </p:sp>
      <p:sp>
        <p:nvSpPr>
          <p:cNvPr id="175153" name="Text Box 59">
            <a:extLst>
              <a:ext uri="{FF2B5EF4-FFF2-40B4-BE49-F238E27FC236}">
                <a16:creationId xmlns:a16="http://schemas.microsoft.com/office/drawing/2014/main" id="{6023D71E-FBF9-4095-8C44-479318A072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4950" y="2878138"/>
            <a:ext cx="10668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Tahoma" panose="020B0604030504040204" pitchFamily="34" charset="0"/>
              </a:rPr>
              <a:t>last byte sent</a:t>
            </a:r>
          </a:p>
        </p:txBody>
      </p:sp>
      <p:sp>
        <p:nvSpPr>
          <p:cNvPr id="175154" name="Text Box 61">
            <a:extLst>
              <a:ext uri="{FF2B5EF4-FFF2-40B4-BE49-F238E27FC236}">
                <a16:creationId xmlns:a16="http://schemas.microsoft.com/office/drawing/2014/main" id="{77CC07F6-D247-4008-B365-071B36BE0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6938" y="1622425"/>
            <a:ext cx="612775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b="1">
                <a:solidFill>
                  <a:srgbClr val="FF0000"/>
                </a:solidFill>
                <a:latin typeface="Courier New" panose="02070309020205020404" pitchFamily="49" charset="0"/>
              </a:rPr>
              <a:t>cwnd</a:t>
            </a:r>
            <a:endParaRPr lang="en-US" altLang="zh-TW" sz="1400" b="1" i="1">
              <a:solidFill>
                <a:srgbClr val="FF0000"/>
              </a:solidFill>
              <a:latin typeface="Courier New" panose="02070309020205020404" pitchFamily="49" charset="0"/>
            </a:endParaRPr>
          </a:p>
        </p:txBody>
      </p:sp>
      <p:grpSp>
        <p:nvGrpSpPr>
          <p:cNvPr id="175155" name="Group 62">
            <a:extLst>
              <a:ext uri="{FF2B5EF4-FFF2-40B4-BE49-F238E27FC236}">
                <a16:creationId xmlns:a16="http://schemas.microsoft.com/office/drawing/2014/main" id="{4E38CF17-EB20-4B4D-B74F-13DA1CF19993}"/>
              </a:ext>
            </a:extLst>
          </p:cNvPr>
          <p:cNvGrpSpPr>
            <a:grpSpLocks/>
          </p:cNvGrpSpPr>
          <p:nvPr/>
        </p:nvGrpSpPr>
        <p:grpSpPr bwMode="auto">
          <a:xfrm>
            <a:off x="2774950" y="1706563"/>
            <a:ext cx="447675" cy="117475"/>
            <a:chOff x="4250" y="1692"/>
            <a:chExt cx="374" cy="86"/>
          </a:xfrm>
        </p:grpSpPr>
        <p:sp>
          <p:nvSpPr>
            <p:cNvPr id="175163" name="Line 63">
              <a:extLst>
                <a:ext uri="{FF2B5EF4-FFF2-40B4-BE49-F238E27FC236}">
                  <a16:creationId xmlns:a16="http://schemas.microsoft.com/office/drawing/2014/main" id="{98E0288C-D2BB-4A6F-85D3-60FCBD8E41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0" y="1738"/>
              <a:ext cx="374" cy="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75164" name="Line 64">
              <a:extLst>
                <a:ext uri="{FF2B5EF4-FFF2-40B4-BE49-F238E27FC236}">
                  <a16:creationId xmlns:a16="http://schemas.microsoft.com/office/drawing/2014/main" id="{C90A6AE8-CC38-433B-9AFE-064D4A6464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21" y="1692"/>
              <a:ext cx="0" cy="8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75156" name="Group 65">
            <a:extLst>
              <a:ext uri="{FF2B5EF4-FFF2-40B4-BE49-F238E27FC236}">
                <a16:creationId xmlns:a16="http://schemas.microsoft.com/office/drawing/2014/main" id="{5E062E57-A6B4-4983-898C-3FEF16CF66B2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1736725" y="1725613"/>
            <a:ext cx="466725" cy="123825"/>
            <a:chOff x="4250" y="1692"/>
            <a:chExt cx="374" cy="86"/>
          </a:xfrm>
        </p:grpSpPr>
        <p:sp>
          <p:nvSpPr>
            <p:cNvPr id="175161" name="Line 66">
              <a:extLst>
                <a:ext uri="{FF2B5EF4-FFF2-40B4-BE49-F238E27FC236}">
                  <a16:creationId xmlns:a16="http://schemas.microsoft.com/office/drawing/2014/main" id="{A77FF666-32B7-4B65-86ED-5D640AC9EA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5" y="1742"/>
              <a:ext cx="374" cy="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75162" name="Line 67">
              <a:extLst>
                <a:ext uri="{FF2B5EF4-FFF2-40B4-BE49-F238E27FC236}">
                  <a16:creationId xmlns:a16="http://schemas.microsoft.com/office/drawing/2014/main" id="{5A50DCEF-AC16-4A4D-B9AB-114C4B0514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27" y="1695"/>
              <a:ext cx="0" cy="8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75157" name="Freeform 69">
            <a:extLst>
              <a:ext uri="{FF2B5EF4-FFF2-40B4-BE49-F238E27FC236}">
                <a16:creationId xmlns:a16="http://schemas.microsoft.com/office/drawing/2014/main" id="{DBDD0722-A475-489C-969A-92E40FE47F95}"/>
              </a:ext>
            </a:extLst>
          </p:cNvPr>
          <p:cNvSpPr>
            <a:spLocks/>
          </p:cNvSpPr>
          <p:nvPr/>
        </p:nvSpPr>
        <p:spPr bwMode="auto">
          <a:xfrm flipH="1">
            <a:off x="2628900" y="2703513"/>
            <a:ext cx="144463" cy="301625"/>
          </a:xfrm>
          <a:custGeom>
            <a:avLst/>
            <a:gdLst>
              <a:gd name="T0" fmla="*/ 2147483646 w 91"/>
              <a:gd name="T1" fmla="*/ 0 h 242"/>
              <a:gd name="T2" fmla="*/ 2147483646 w 91"/>
              <a:gd name="T3" fmla="*/ 2147483646 h 242"/>
              <a:gd name="T4" fmla="*/ 0 w 91"/>
              <a:gd name="T5" fmla="*/ 2147483646 h 242"/>
              <a:gd name="T6" fmla="*/ 0 60000 65536"/>
              <a:gd name="T7" fmla="*/ 0 60000 65536"/>
              <a:gd name="T8" fmla="*/ 0 60000 65536"/>
              <a:gd name="T9" fmla="*/ 0 w 91"/>
              <a:gd name="T10" fmla="*/ 0 h 242"/>
              <a:gd name="T11" fmla="*/ 91 w 91"/>
              <a:gd name="T12" fmla="*/ 242 h 24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" h="242">
                <a:moveTo>
                  <a:pt x="91" y="0"/>
                </a:moveTo>
                <a:lnTo>
                  <a:pt x="88" y="242"/>
                </a:lnTo>
                <a:lnTo>
                  <a:pt x="0" y="242"/>
                </a:lnTo>
              </a:path>
            </a:pathLst>
          </a:custGeom>
          <a:noFill/>
          <a:ln w="12700" cmpd="sng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75158" name="Text Box 71">
            <a:extLst>
              <a:ext uri="{FF2B5EF4-FFF2-40B4-BE49-F238E27FC236}">
                <a16:creationId xmlns:a16="http://schemas.microsoft.com/office/drawing/2014/main" id="{6AFF4358-7A3C-4A7B-9C4B-DCEBBA072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3463" y="4449763"/>
            <a:ext cx="6473825" cy="909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25425" indent="-22542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Tx/>
              <a:buNone/>
            </a:pPr>
            <a:r>
              <a:rPr lang="en-US" altLang="zh-TW" sz="1800" b="1" dirty="0" err="1">
                <a:latin typeface="Courier New" panose="02070309020205020404" pitchFamily="49" charset="0"/>
              </a:rPr>
              <a:t>LastByteSent</a:t>
            </a:r>
            <a:r>
              <a:rPr lang="en-US" altLang="zh-TW" sz="1800" b="1" dirty="0">
                <a:latin typeface="Courier New" panose="02070309020205020404" pitchFamily="49" charset="0"/>
              </a:rPr>
              <a:t>-	</a:t>
            </a:r>
            <a:r>
              <a:rPr lang="en-US" altLang="zh-TW" sz="1800" b="1" dirty="0" err="1">
                <a:latin typeface="Courier New" panose="02070309020205020404" pitchFamily="49" charset="0"/>
              </a:rPr>
              <a:t>LastByteAcked</a:t>
            </a:r>
            <a:r>
              <a:rPr lang="en-US" altLang="zh-TW" sz="1800" b="1" dirty="0">
                <a:latin typeface="Courier New" panose="02070309020205020404" pitchFamily="49" charset="0"/>
              </a:rPr>
              <a:t> </a:t>
            </a:r>
            <a:r>
              <a:rPr lang="en-US" altLang="zh-TW" sz="1800" b="1" dirty="0">
                <a:latin typeface="Arial" panose="020B0604020202020204" pitchFamily="34" charset="0"/>
                <a:cs typeface="Arial" panose="020B0604020202020204" pitchFamily="34" charset="0"/>
              </a:rPr>
              <a:t>≤ </a:t>
            </a:r>
            <a:r>
              <a:rPr lang="en-US" altLang="zh-TW" sz="1800" b="1" dirty="0">
                <a:latin typeface="Courier New" panose="02070309020205020404" pitchFamily="49" charset="0"/>
                <a:cs typeface="Arial" panose="020B0604020202020204" pitchFamily="34" charset="0"/>
              </a:rPr>
              <a:t>min{</a:t>
            </a:r>
            <a:r>
              <a:rPr lang="en-US" altLang="zh-TW" sz="1800" b="1" dirty="0" err="1">
                <a:latin typeface="Courier New" panose="02070309020205020404" pitchFamily="49" charset="0"/>
                <a:cs typeface="Arial" panose="020B0604020202020204" pitchFamily="34" charset="0"/>
              </a:rPr>
              <a:t>cwnd</a:t>
            </a:r>
            <a:r>
              <a:rPr lang="en-US" altLang="zh-TW" sz="1800" b="1" dirty="0">
                <a:latin typeface="Courier New" panose="02070309020205020404" pitchFamily="49" charset="0"/>
                <a:cs typeface="Arial" panose="020B0604020202020204" pitchFamily="34" charset="0"/>
              </a:rPr>
              <a:t>, </a:t>
            </a:r>
            <a:r>
              <a:rPr lang="en-US" altLang="zh-TW" sz="1800" b="1" dirty="0" err="1">
                <a:latin typeface="Courier New" panose="02070309020205020404" pitchFamily="49" charset="0"/>
                <a:cs typeface="Arial" panose="020B0604020202020204" pitchFamily="34" charset="0"/>
              </a:rPr>
              <a:t>rwnd</a:t>
            </a:r>
            <a:r>
              <a:rPr lang="en-US" altLang="zh-TW" sz="1800" b="1" dirty="0">
                <a:latin typeface="Courier New" panose="02070309020205020404" pitchFamily="49" charset="0"/>
                <a:cs typeface="Arial" panose="020B0604020202020204" pitchFamily="34" charset="0"/>
              </a:rPr>
              <a:t>}</a:t>
            </a:r>
          </a:p>
          <a:p>
            <a:pPr>
              <a:buFontTx/>
              <a:buNone/>
            </a:pPr>
            <a:endParaRPr lang="en-US" altLang="zh-TW" sz="1800" b="1" dirty="0"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endParaRPr lang="en-US" altLang="zh-TW" sz="1800" dirty="0">
              <a:latin typeface="Courier New" panose="02070309020205020404" pitchFamily="49" charset="0"/>
              <a:cs typeface="Arial" panose="020B0604020202020204" pitchFamily="34" charset="0"/>
            </a:endParaRPr>
          </a:p>
        </p:txBody>
      </p:sp>
      <p:sp>
        <p:nvSpPr>
          <p:cNvPr id="175159" name="Rectangle 76">
            <a:extLst>
              <a:ext uri="{FF2B5EF4-FFF2-40B4-BE49-F238E27FC236}">
                <a16:creationId xmlns:a16="http://schemas.microsoft.com/office/drawing/2014/main" id="{387DBA8A-4CEC-412C-B242-272D72DCB9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8" y="4306888"/>
            <a:ext cx="6507162" cy="642937"/>
          </a:xfrm>
          <a:prstGeom prst="rect">
            <a:avLst/>
          </a:prstGeom>
          <a:noFill/>
          <a:ln w="1270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75160" name="Text Box 78">
            <a:extLst>
              <a:ext uri="{FF2B5EF4-FFF2-40B4-BE49-F238E27FC236}">
                <a16:creationId xmlns:a16="http://schemas.microsoft.com/office/drawing/2014/main" id="{8D80E9A3-0A54-411C-9AB1-6DDE5D569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375" y="1390650"/>
            <a:ext cx="27209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1">
                <a:latin typeface="Tahoma" panose="020B0604030504040204" pitchFamily="34" charset="0"/>
              </a:rPr>
              <a:t>sender sequence number space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Footer Placeholder 5">
            <a:extLst>
              <a:ext uri="{FF2B5EF4-FFF2-40B4-BE49-F238E27FC236}">
                <a16:creationId xmlns:a16="http://schemas.microsoft.com/office/drawing/2014/main" id="{B981DED9-0C94-42F6-809C-481F74BC3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6131" name="Slide Number Placeholder 6">
            <a:extLst>
              <a:ext uri="{FF2B5EF4-FFF2-40B4-BE49-F238E27FC236}">
                <a16:creationId xmlns:a16="http://schemas.microsoft.com/office/drawing/2014/main" id="{39E4D26A-48A8-44C5-A98B-2B1A21DD8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C3EA7333-0911-4D8C-B572-4796BFAC068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76132" name="Picture 89" descr="underline_base">
            <a:extLst>
              <a:ext uri="{FF2B5EF4-FFF2-40B4-BE49-F238E27FC236}">
                <a16:creationId xmlns:a16="http://schemas.microsoft.com/office/drawing/2014/main" id="{A10A49F4-95DE-4A2E-893D-843C4C405F3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960B65E7-68F7-425C-B88F-00D58382DB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Congestion Control: details</a:t>
            </a:r>
          </a:p>
        </p:txBody>
      </p:sp>
      <p:sp>
        <p:nvSpPr>
          <p:cNvPr id="102407" name="Rectangle 4">
            <a:extLst>
              <a:ext uri="{FF2B5EF4-FFF2-40B4-BE49-F238E27FC236}">
                <a16:creationId xmlns:a16="http://schemas.microsoft.com/office/drawing/2014/main" id="{EF34870A-21E6-4C62-95C3-13388021C078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31825" y="1412875"/>
            <a:ext cx="8143875" cy="295275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0070C0"/>
                </a:solidFill>
                <a:ea typeface="ＭＳ Ｐゴシック" charset="0"/>
                <a:cs typeface="+mn-cs"/>
              </a:rPr>
              <a:t>TCP sending rate</a:t>
            </a:r>
            <a:r>
              <a:rPr lang="en-US" i="1" dirty="0">
                <a:ea typeface="ＭＳ Ｐゴシック" charset="0"/>
                <a:cs typeface="+mn-cs"/>
              </a:rPr>
              <a:t>: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Assume large TCP buffer (to focus on congestion control)</a:t>
            </a:r>
          </a:p>
          <a:p>
            <a:pPr>
              <a:buFont typeface="Wingdings" charset="0"/>
              <a:buChar char="v"/>
              <a:defRPr/>
            </a:pPr>
            <a:r>
              <a:rPr lang="en-US" i="1" dirty="0">
                <a:ea typeface="ＭＳ Ｐゴシック" charset="0"/>
                <a:cs typeface="+mn-cs"/>
              </a:rPr>
              <a:t>roughly:</a:t>
            </a:r>
            <a:r>
              <a:rPr lang="en-US" dirty="0">
                <a:ea typeface="ＭＳ Ｐゴシック" charset="0"/>
                <a:cs typeface="+mn-cs"/>
              </a:rPr>
              <a:t> send cwnd bytes, wait RTT for ACKs, then send more bytes</a:t>
            </a:r>
          </a:p>
        </p:txBody>
      </p:sp>
      <p:sp>
        <p:nvSpPr>
          <p:cNvPr id="176135" name="Text Box 79">
            <a:extLst>
              <a:ext uri="{FF2B5EF4-FFF2-40B4-BE49-F238E27FC236}">
                <a16:creationId xmlns:a16="http://schemas.microsoft.com/office/drawing/2014/main" id="{B212AF63-CA35-4724-B7FE-48D38AE8C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8375" y="3654425"/>
            <a:ext cx="106838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rate</a:t>
            </a:r>
          </a:p>
        </p:txBody>
      </p:sp>
      <p:grpSp>
        <p:nvGrpSpPr>
          <p:cNvPr id="176136" name="Group 82">
            <a:extLst>
              <a:ext uri="{FF2B5EF4-FFF2-40B4-BE49-F238E27FC236}">
                <a16:creationId xmlns:a16="http://schemas.microsoft.com/office/drawing/2014/main" id="{660B407E-C60E-4BF2-9FAA-2AA0FAD4EE72}"/>
              </a:ext>
            </a:extLst>
          </p:cNvPr>
          <p:cNvGrpSpPr>
            <a:grpSpLocks/>
          </p:cNvGrpSpPr>
          <p:nvPr/>
        </p:nvGrpSpPr>
        <p:grpSpPr bwMode="auto">
          <a:xfrm>
            <a:off x="1374775" y="3679825"/>
            <a:ext cx="1403350" cy="531813"/>
            <a:chOff x="4214" y="2517"/>
            <a:chExt cx="587" cy="278"/>
          </a:xfrm>
        </p:grpSpPr>
        <p:sp>
          <p:nvSpPr>
            <p:cNvPr id="176143" name="Text Box 80">
              <a:extLst>
                <a:ext uri="{FF2B5EF4-FFF2-40B4-BE49-F238E27FC236}">
                  <a16:creationId xmlns:a16="http://schemas.microsoft.com/office/drawing/2014/main" id="{10C59C23-80BC-41B5-B590-DBDD5DC9DB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6" y="2517"/>
              <a:ext cx="58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Tahoma" panose="020B0604030504040204" pitchFamily="34" charset="0"/>
                </a:rPr>
                <a:t>~</a:t>
              </a:r>
            </a:p>
          </p:txBody>
        </p:sp>
        <p:sp>
          <p:nvSpPr>
            <p:cNvPr id="176144" name="Text Box 81">
              <a:extLst>
                <a:ext uri="{FF2B5EF4-FFF2-40B4-BE49-F238E27FC236}">
                  <a16:creationId xmlns:a16="http://schemas.microsoft.com/office/drawing/2014/main" id="{DF34584B-0F07-4045-A299-07C5CE4158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14" y="2564"/>
              <a:ext cx="58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Tahoma" panose="020B0604030504040204" pitchFamily="34" charset="0"/>
                </a:rPr>
                <a:t>~</a:t>
              </a:r>
            </a:p>
          </p:txBody>
        </p:sp>
      </p:grpSp>
      <p:grpSp>
        <p:nvGrpSpPr>
          <p:cNvPr id="176137" name="Group 86">
            <a:extLst>
              <a:ext uri="{FF2B5EF4-FFF2-40B4-BE49-F238E27FC236}">
                <a16:creationId xmlns:a16="http://schemas.microsoft.com/office/drawing/2014/main" id="{8292DDDB-F9ED-4A6B-AEFE-90505DAAF581}"/>
              </a:ext>
            </a:extLst>
          </p:cNvPr>
          <p:cNvGrpSpPr>
            <a:grpSpLocks/>
          </p:cNvGrpSpPr>
          <p:nvPr/>
        </p:nvGrpSpPr>
        <p:grpSpPr bwMode="auto">
          <a:xfrm>
            <a:off x="2049463" y="3530600"/>
            <a:ext cx="1073150" cy="863600"/>
            <a:chOff x="4400" y="2509"/>
            <a:chExt cx="449" cy="451"/>
          </a:xfrm>
        </p:grpSpPr>
        <p:sp>
          <p:nvSpPr>
            <p:cNvPr id="176140" name="Text Box 83">
              <a:extLst>
                <a:ext uri="{FF2B5EF4-FFF2-40B4-BE49-F238E27FC236}">
                  <a16:creationId xmlns:a16="http://schemas.microsoft.com/office/drawing/2014/main" id="{9665798B-2566-4AEB-98B9-407D4ADF9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0" y="2509"/>
              <a:ext cx="44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Tahoma" panose="020B0604030504040204" pitchFamily="34" charset="0"/>
                </a:rPr>
                <a:t>cwnd</a:t>
              </a:r>
            </a:p>
          </p:txBody>
        </p:sp>
        <p:sp>
          <p:nvSpPr>
            <p:cNvPr id="176141" name="Text Box 84">
              <a:extLst>
                <a:ext uri="{FF2B5EF4-FFF2-40B4-BE49-F238E27FC236}">
                  <a16:creationId xmlns:a16="http://schemas.microsoft.com/office/drawing/2014/main" id="{2093AF9D-8C02-48AF-A2E7-4F784F6482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43" y="2729"/>
              <a:ext cx="373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Tahoma" panose="020B0604030504040204" pitchFamily="34" charset="0"/>
                </a:rPr>
                <a:t>RTT</a:t>
              </a:r>
            </a:p>
          </p:txBody>
        </p:sp>
        <p:sp>
          <p:nvSpPr>
            <p:cNvPr id="176142" name="Line 85">
              <a:extLst>
                <a:ext uri="{FF2B5EF4-FFF2-40B4-BE49-F238E27FC236}">
                  <a16:creationId xmlns:a16="http://schemas.microsoft.com/office/drawing/2014/main" id="{F6D7CA63-5A5D-4154-A6E8-26669E2F1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0" y="2731"/>
              <a:ext cx="38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76138" name="Text Box 87">
            <a:extLst>
              <a:ext uri="{FF2B5EF4-FFF2-40B4-BE49-F238E27FC236}">
                <a16:creationId xmlns:a16="http://schemas.microsoft.com/office/drawing/2014/main" id="{F0698BD2-35FB-488F-A5F9-214046CF8E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67013" y="3689350"/>
            <a:ext cx="17145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Tahoma" panose="020B0604030504040204" pitchFamily="34" charset="0"/>
              </a:rPr>
              <a:t>bytes/sec</a:t>
            </a:r>
          </a:p>
        </p:txBody>
      </p:sp>
      <p:sp>
        <p:nvSpPr>
          <p:cNvPr id="176139" name="Rectangle 88">
            <a:extLst>
              <a:ext uri="{FF2B5EF4-FFF2-40B4-BE49-F238E27FC236}">
                <a16:creationId xmlns:a16="http://schemas.microsoft.com/office/drawing/2014/main" id="{13C7DB53-A88A-4795-8BD4-A7B907BF07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925" y="3565525"/>
            <a:ext cx="4572000" cy="776288"/>
          </a:xfrm>
          <a:prstGeom prst="rect">
            <a:avLst/>
          </a:prstGeom>
          <a:noFill/>
          <a:ln w="1270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Footer Placeholder 5">
            <a:extLst>
              <a:ext uri="{FF2B5EF4-FFF2-40B4-BE49-F238E27FC236}">
                <a16:creationId xmlns:a16="http://schemas.microsoft.com/office/drawing/2014/main" id="{DAE6E891-B2A4-4C19-9B29-30DB9C82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7155" name="Slide Number Placeholder 6">
            <a:extLst>
              <a:ext uri="{FF2B5EF4-FFF2-40B4-BE49-F238E27FC236}">
                <a16:creationId xmlns:a16="http://schemas.microsoft.com/office/drawing/2014/main" id="{48AB5A1D-DEC2-4617-A250-F0F39973D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29B09163-4E4F-43E1-8F2C-993DB7C09E7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77156" name="Picture 89" descr="underline_base">
            <a:extLst>
              <a:ext uri="{FF2B5EF4-FFF2-40B4-BE49-F238E27FC236}">
                <a16:creationId xmlns:a16="http://schemas.microsoft.com/office/drawing/2014/main" id="{0B81B338-3B10-4FD6-8266-306FC864498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BE397124-2355-46F8-A995-2F45059C50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Tahoe (Summary)</a:t>
            </a:r>
          </a:p>
        </p:txBody>
      </p:sp>
      <p:sp>
        <p:nvSpPr>
          <p:cNvPr id="102407" name="Rectangle 4">
            <a:extLst>
              <a:ext uri="{FF2B5EF4-FFF2-40B4-BE49-F238E27FC236}">
                <a16:creationId xmlns:a16="http://schemas.microsoft.com/office/drawing/2014/main" id="{A0397BD6-A107-4622-839C-0729DE37734A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31825" y="1412875"/>
            <a:ext cx="8143875" cy="295275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solidFill>
                  <a:srgbClr val="FF0000"/>
                </a:solidFill>
                <a:ea typeface="ＭＳ Ｐゴシック" charset="0"/>
                <a:cs typeface="+mn-cs"/>
              </a:rPr>
              <a:t>TCP Tahoe</a:t>
            </a:r>
            <a:r>
              <a:rPr lang="en-US" dirty="0">
                <a:ea typeface="ＭＳ Ｐゴシック" charset="0"/>
                <a:cs typeface="+mn-cs"/>
              </a:rPr>
              <a:t> is a </a:t>
            </a: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loss-based</a:t>
            </a:r>
            <a:r>
              <a:rPr lang="en-US" dirty="0">
                <a:ea typeface="ＭＳ Ｐゴシック" charset="0"/>
                <a:cs typeface="+mn-cs"/>
              </a:rPr>
              <a:t> congestion control mechanism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Q. How does </a:t>
            </a: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sender perceive congestion</a:t>
            </a:r>
            <a:r>
              <a:rPr lang="en-US" dirty="0">
                <a:ea typeface="ＭＳ Ｐゴシック" charset="0"/>
                <a:cs typeface="+mn-cs"/>
              </a:rPr>
              <a:t>?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en-US" dirty="0">
                <a:ea typeface="ＭＳ Ｐゴシック" charset="0"/>
                <a:cs typeface="+mn-cs"/>
              </a:rPr>
              <a:t>Loss event timeout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en-US" i="1" dirty="0">
                <a:ea typeface="ＭＳ Ｐゴシック" charset="0"/>
                <a:cs typeface="+mn-cs"/>
              </a:rPr>
              <a:t>Three</a:t>
            </a:r>
            <a:r>
              <a:rPr lang="en-US" dirty="0">
                <a:ea typeface="ＭＳ Ｐゴシック" charset="0"/>
                <a:cs typeface="+mn-cs"/>
              </a:rPr>
              <a:t> duplicate ACKs</a:t>
            </a:r>
          </a:p>
          <a:p>
            <a:pPr marL="0" indent="0"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-&gt; TCP sender reduces rate (through cwnd) after detecting congestion</a:t>
            </a:r>
          </a:p>
          <a:p>
            <a:pPr>
              <a:buFont typeface="Wingdings" charset="0"/>
              <a:buChar char="v"/>
              <a:defRPr/>
            </a:pPr>
            <a:r>
              <a:rPr lang="en-US" altLang="zh-TW" dirty="0">
                <a:solidFill>
                  <a:srgbClr val="0070C0"/>
                </a:solidFill>
                <a:ea typeface="ＭＳ Ｐゴシック" charset="0"/>
              </a:rPr>
              <a:t>Two phases</a:t>
            </a:r>
            <a:r>
              <a:rPr lang="en-US" altLang="zh-TW" dirty="0">
                <a:ea typeface="ＭＳ Ｐゴシック" charset="0"/>
              </a:rPr>
              <a:t> for increasing congestion window size:</a:t>
            </a:r>
            <a:endParaRPr lang="en-US" dirty="0">
              <a:solidFill>
                <a:srgbClr val="0070C0"/>
              </a:solidFill>
              <a:ea typeface="ＭＳ Ｐゴシック" charset="0"/>
              <a:cs typeface="+mn-cs"/>
            </a:endParaRPr>
          </a:p>
          <a:p>
            <a:pPr lvl="1"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Phase I: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+mn-cs"/>
              </a:rPr>
              <a:t>Slow start (SS)</a:t>
            </a:r>
          </a:p>
          <a:p>
            <a:pPr lvl="1"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Phase 2: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+mn-cs"/>
              </a:rPr>
              <a:t>Congestion avoidance (CA)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Footer Placeholder 5">
            <a:extLst>
              <a:ext uri="{FF2B5EF4-FFF2-40B4-BE49-F238E27FC236}">
                <a16:creationId xmlns:a16="http://schemas.microsoft.com/office/drawing/2014/main" id="{7056643E-F736-4D28-84F7-09F171122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8179" name="Slide Number Placeholder 6">
            <a:extLst>
              <a:ext uri="{FF2B5EF4-FFF2-40B4-BE49-F238E27FC236}">
                <a16:creationId xmlns:a16="http://schemas.microsoft.com/office/drawing/2014/main" id="{6723FF75-6B8A-4F54-BBAA-B275CCFE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AFF37AC1-349A-465E-B8C9-1A3A3FD6A55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78180" name="Picture 89" descr="underline_base">
            <a:extLst>
              <a:ext uri="{FF2B5EF4-FFF2-40B4-BE49-F238E27FC236}">
                <a16:creationId xmlns:a16="http://schemas.microsoft.com/office/drawing/2014/main" id="{742214C5-0C28-4504-AA90-FD335ED1996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412FB536-DAF2-43C3-ABE6-0ABBE6DC53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Phase 1: Slow Start</a:t>
            </a:r>
          </a:p>
        </p:txBody>
      </p:sp>
      <p:sp>
        <p:nvSpPr>
          <p:cNvPr id="102407" name="Rectangle 4">
            <a:extLst>
              <a:ext uri="{FF2B5EF4-FFF2-40B4-BE49-F238E27FC236}">
                <a16:creationId xmlns:a16="http://schemas.microsoft.com/office/drawing/2014/main" id="{4B39DFC3-81F9-42A7-AA17-7C0A1019718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31825" y="1412875"/>
            <a:ext cx="8143875" cy="295275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Used at the beginning of transfer or after timeout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Starts from minimum window size</a:t>
            </a:r>
            <a:r>
              <a:rPr lang="en-US" dirty="0">
                <a:ea typeface="ＭＳ Ｐゴシック" charset="0"/>
                <a:cs typeface="+mn-cs"/>
              </a:rPr>
              <a:t>: cwnd = 1 MSS</a:t>
            </a:r>
          </a:p>
          <a:p>
            <a:pPr lvl="1">
              <a:buFont typeface="Wingdings" charset="0"/>
              <a:buChar char="v"/>
              <a:defRPr/>
            </a:pPr>
            <a:r>
              <a:rPr lang="en-US" dirty="0">
                <a:solidFill>
                  <a:srgbClr val="C00000"/>
                </a:solidFill>
                <a:ea typeface="ＭＳ Ｐゴシック" charset="0"/>
                <a:cs typeface="+mn-cs"/>
              </a:rPr>
              <a:t>MSS: Maximum segment size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However, available bandwidth may be &gt;&gt; MSS/RTT</a:t>
            </a:r>
          </a:p>
          <a:p>
            <a:pPr lvl="1"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It is desirable to </a:t>
            </a: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quickly ramp up</a:t>
            </a:r>
            <a:r>
              <a:rPr lang="en-US" dirty="0">
                <a:ea typeface="ＭＳ Ｐゴシック" charset="0"/>
                <a:cs typeface="+mn-cs"/>
              </a:rPr>
              <a:t> to respectable rate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Footer Placeholder 5">
            <a:extLst>
              <a:ext uri="{FF2B5EF4-FFF2-40B4-BE49-F238E27FC236}">
                <a16:creationId xmlns:a16="http://schemas.microsoft.com/office/drawing/2014/main" id="{C2B1B93E-2059-4271-8FCF-DAC0FE559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79203" name="Slide Number Placeholder 6">
            <a:extLst>
              <a:ext uri="{FF2B5EF4-FFF2-40B4-BE49-F238E27FC236}">
                <a16:creationId xmlns:a16="http://schemas.microsoft.com/office/drawing/2014/main" id="{7A1CF4D3-3B73-40C0-BEBF-2B61ADDE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A2651EDF-2B40-4FB1-B431-9468E0E69FA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79204" name="Rectangle 2">
            <a:extLst>
              <a:ext uri="{FF2B5EF4-FFF2-40B4-BE49-F238E27FC236}">
                <a16:creationId xmlns:a16="http://schemas.microsoft.com/office/drawing/2014/main" id="{25DAAF4F-1DBE-42AF-AF4C-9E87FB5754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0838" y="149225"/>
            <a:ext cx="7772400" cy="1041400"/>
          </a:xfrm>
        </p:spPr>
        <p:txBody>
          <a:bodyPr/>
          <a:lstStyle/>
          <a:p>
            <a:r>
              <a:rPr lang="en-US" altLang="zh-TW"/>
              <a:t>Phase 1: Slow Start</a:t>
            </a:r>
          </a:p>
        </p:txBody>
      </p:sp>
      <p:sp>
        <p:nvSpPr>
          <p:cNvPr id="103429" name="Rectangle 3">
            <a:extLst>
              <a:ext uri="{FF2B5EF4-FFF2-40B4-BE49-F238E27FC236}">
                <a16:creationId xmlns:a16="http://schemas.microsoft.com/office/drawing/2014/main" id="{13838B8F-7B0A-4CD4-AD91-0B72FBC1DDC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01663" y="1397000"/>
            <a:ext cx="4249737" cy="46482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when connection begins, increase rate exponentially until first loss event: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initially </a:t>
            </a:r>
            <a:r>
              <a:rPr lang="en-US" b="1" dirty="0">
                <a:solidFill>
                  <a:srgbClr val="0070C0"/>
                </a:solidFill>
                <a:latin typeface="Courier New" charset="0"/>
                <a:ea typeface="ＭＳ Ｐゴシック" charset="0"/>
              </a:rPr>
              <a:t>cwnd</a:t>
            </a:r>
            <a:r>
              <a:rPr lang="en-US" dirty="0">
                <a:solidFill>
                  <a:srgbClr val="0070C0"/>
                </a:solidFill>
                <a:ea typeface="ＭＳ Ｐゴシック" charset="0"/>
              </a:rPr>
              <a:t> = 1 MSS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7030A0"/>
                </a:solidFill>
                <a:ea typeface="ＭＳ Ｐゴシック" charset="0"/>
              </a:rPr>
              <a:t>double </a:t>
            </a:r>
            <a:r>
              <a:rPr lang="en-US" b="1" dirty="0">
                <a:solidFill>
                  <a:srgbClr val="7030A0"/>
                </a:solidFill>
                <a:latin typeface="Courier New" charset="0"/>
                <a:ea typeface="ＭＳ Ｐゴシック" charset="0"/>
              </a:rPr>
              <a:t>cwnd</a:t>
            </a:r>
            <a:r>
              <a:rPr lang="en-US" dirty="0">
                <a:solidFill>
                  <a:srgbClr val="7030A0"/>
                </a:solidFill>
                <a:ea typeface="ＭＳ Ｐゴシック" charset="0"/>
              </a:rPr>
              <a:t> every RTT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Implementation:  incrementing </a:t>
            </a:r>
            <a:r>
              <a:rPr lang="en-US" b="1" dirty="0">
                <a:latin typeface="Courier New" charset="0"/>
                <a:ea typeface="ＭＳ Ｐゴシック" charset="0"/>
              </a:rPr>
              <a:t>cwnd</a:t>
            </a:r>
            <a:r>
              <a:rPr lang="en-US" dirty="0">
                <a:ea typeface="ＭＳ Ｐゴシック" charset="0"/>
              </a:rPr>
              <a:t> for every ACK received</a:t>
            </a:r>
          </a:p>
          <a:p>
            <a:pPr>
              <a:buFont typeface="Wingdings" charset="0"/>
              <a:buChar char="v"/>
              <a:defRPr/>
            </a:pPr>
            <a:r>
              <a:rPr lang="en-US" i="1" u="sng" dirty="0">
                <a:solidFill>
                  <a:srgbClr val="CC0000"/>
                </a:solidFill>
                <a:ea typeface="ＭＳ Ｐゴシック" charset="0"/>
                <a:cs typeface="+mn-cs"/>
              </a:rPr>
              <a:t>summary:</a:t>
            </a: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 </a:t>
            </a: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initial rate is slow</a:t>
            </a:r>
            <a:r>
              <a:rPr lang="en-US" dirty="0">
                <a:ea typeface="ＭＳ Ｐゴシック" charset="0"/>
                <a:cs typeface="+mn-cs"/>
              </a:rPr>
              <a:t> but </a:t>
            </a:r>
            <a:r>
              <a:rPr lang="en-US" dirty="0">
                <a:solidFill>
                  <a:srgbClr val="7030A0"/>
                </a:solidFill>
                <a:ea typeface="ＭＳ Ｐゴシック" charset="0"/>
                <a:cs typeface="+mn-cs"/>
              </a:rPr>
              <a:t>ramps up exponentially fast</a:t>
            </a:r>
          </a:p>
        </p:txBody>
      </p:sp>
      <p:sp>
        <p:nvSpPr>
          <p:cNvPr id="179206" name="Line 6">
            <a:extLst>
              <a:ext uri="{FF2B5EF4-FFF2-40B4-BE49-F238E27FC236}">
                <a16:creationId xmlns:a16="http://schemas.microsoft.com/office/drawing/2014/main" id="{15BB77DA-A0F9-4DF2-85E5-638CD02E1170}"/>
              </a:ext>
            </a:extLst>
          </p:cNvPr>
          <p:cNvSpPr>
            <a:spLocks noChangeShapeType="1"/>
          </p:cNvSpPr>
          <p:nvPr/>
        </p:nvSpPr>
        <p:spPr bwMode="auto">
          <a:xfrm>
            <a:off x="5616575" y="2309813"/>
            <a:ext cx="2505075" cy="35242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07" name="Text Box 8">
            <a:extLst>
              <a:ext uri="{FF2B5EF4-FFF2-40B4-BE49-F238E27FC236}">
                <a16:creationId xmlns:a16="http://schemas.microsoft.com/office/drawing/2014/main" id="{BBCA8D25-10C0-468E-B2F8-9E1139036C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3350" y="11715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Host A</a:t>
            </a:r>
          </a:p>
        </p:txBody>
      </p:sp>
      <p:sp>
        <p:nvSpPr>
          <p:cNvPr id="179208" name="Text Box 9">
            <a:extLst>
              <a:ext uri="{FF2B5EF4-FFF2-40B4-BE49-F238E27FC236}">
                <a16:creationId xmlns:a16="http://schemas.microsoft.com/office/drawing/2014/main" id="{271573A8-3E21-421C-A788-641D1591A279}"/>
              </a:ext>
            </a:extLst>
          </p:cNvPr>
          <p:cNvSpPr txBox="1">
            <a:spLocks noChangeArrowheads="1"/>
          </p:cNvSpPr>
          <p:nvPr/>
        </p:nvSpPr>
        <p:spPr bwMode="auto">
          <a:xfrm rot="408567">
            <a:off x="6623050" y="2276475"/>
            <a:ext cx="120808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dirty="0">
                <a:latin typeface="Arial" panose="020B0604020202020204" pitchFamily="34" charset="0"/>
              </a:rPr>
              <a:t>one segment</a:t>
            </a:r>
            <a:endParaRPr lang="en-US" altLang="zh-TW" sz="1000" dirty="0">
              <a:latin typeface="Times New Roman" panose="02020603050405020304" pitchFamily="18" charset="0"/>
            </a:endParaRPr>
          </a:p>
        </p:txBody>
      </p:sp>
      <p:sp>
        <p:nvSpPr>
          <p:cNvPr id="179209" name="Text Box 10">
            <a:extLst>
              <a:ext uri="{FF2B5EF4-FFF2-40B4-BE49-F238E27FC236}">
                <a16:creationId xmlns:a16="http://schemas.microsoft.com/office/drawing/2014/main" id="{E3BE8D53-0FBA-494F-BE7D-7FDCB46F01A9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5174456" y="2513807"/>
            <a:ext cx="5286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RTT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179210" name="Text Box 12">
            <a:extLst>
              <a:ext uri="{FF2B5EF4-FFF2-40B4-BE49-F238E27FC236}">
                <a16:creationId xmlns:a16="http://schemas.microsoft.com/office/drawing/2014/main" id="{BCAB4904-B7D6-4B12-87E4-AD00EEEE0B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50163" y="1157288"/>
            <a:ext cx="869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Host B</a:t>
            </a:r>
          </a:p>
        </p:txBody>
      </p:sp>
      <p:sp>
        <p:nvSpPr>
          <p:cNvPr id="179211" name="Line 13">
            <a:extLst>
              <a:ext uri="{FF2B5EF4-FFF2-40B4-BE49-F238E27FC236}">
                <a16:creationId xmlns:a16="http://schemas.microsoft.com/office/drawing/2014/main" id="{586CD1F7-03F5-4F76-87BC-79FBBDB8C6E4}"/>
              </a:ext>
            </a:extLst>
          </p:cNvPr>
          <p:cNvSpPr>
            <a:spLocks noChangeShapeType="1"/>
          </p:cNvSpPr>
          <p:nvPr/>
        </p:nvSpPr>
        <p:spPr bwMode="auto">
          <a:xfrm>
            <a:off x="5611813" y="2124075"/>
            <a:ext cx="0" cy="3848100"/>
          </a:xfrm>
          <a:prstGeom prst="line">
            <a:avLst/>
          </a:prstGeom>
          <a:noFill/>
          <a:ln w="19050">
            <a:solidFill>
              <a:srgbClr val="77777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12" name="Line 14">
            <a:extLst>
              <a:ext uri="{FF2B5EF4-FFF2-40B4-BE49-F238E27FC236}">
                <a16:creationId xmlns:a16="http://schemas.microsoft.com/office/drawing/2014/main" id="{A13A180A-DD4B-4B0F-BD0A-434BD3AF9A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126413" y="2162175"/>
            <a:ext cx="0" cy="3848100"/>
          </a:xfrm>
          <a:prstGeom prst="line">
            <a:avLst/>
          </a:prstGeom>
          <a:noFill/>
          <a:ln w="19050">
            <a:solidFill>
              <a:srgbClr val="77777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13" name="Line 15">
            <a:extLst>
              <a:ext uri="{FF2B5EF4-FFF2-40B4-BE49-F238E27FC236}">
                <a16:creationId xmlns:a16="http://schemas.microsoft.com/office/drawing/2014/main" id="{9BAA9FD8-BDC0-4E8A-B460-DDDA3987AED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30838" y="2273300"/>
            <a:ext cx="4762" cy="2190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14" name="Line 16">
            <a:extLst>
              <a:ext uri="{FF2B5EF4-FFF2-40B4-BE49-F238E27FC236}">
                <a16:creationId xmlns:a16="http://schemas.microsoft.com/office/drawing/2014/main" id="{6BBC056C-DF2F-4A42-9290-6D64D8B24AB8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0363" y="2879725"/>
            <a:ext cx="4762" cy="2238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15" name="Line 17">
            <a:extLst>
              <a:ext uri="{FF2B5EF4-FFF2-40B4-BE49-F238E27FC236}">
                <a16:creationId xmlns:a16="http://schemas.microsoft.com/office/drawing/2014/main" id="{4FF23978-CD01-4C41-8295-076E833AEA0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92763" y="2714625"/>
            <a:ext cx="2505075" cy="35242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79216" name="Group 18">
            <a:extLst>
              <a:ext uri="{FF2B5EF4-FFF2-40B4-BE49-F238E27FC236}">
                <a16:creationId xmlns:a16="http://schemas.microsoft.com/office/drawing/2014/main" id="{F5BAE0BF-8B2E-47F1-BFAF-18271D588247}"/>
              </a:ext>
            </a:extLst>
          </p:cNvPr>
          <p:cNvGrpSpPr>
            <a:grpSpLocks/>
          </p:cNvGrpSpPr>
          <p:nvPr/>
        </p:nvGrpSpPr>
        <p:grpSpPr bwMode="auto">
          <a:xfrm>
            <a:off x="7840663" y="5456238"/>
            <a:ext cx="615950" cy="366712"/>
            <a:chOff x="3317" y="3527"/>
            <a:chExt cx="388" cy="231"/>
          </a:xfrm>
        </p:grpSpPr>
        <p:sp>
          <p:nvSpPr>
            <p:cNvPr id="179270" name="Rectangle 19">
              <a:extLst>
                <a:ext uri="{FF2B5EF4-FFF2-40B4-BE49-F238E27FC236}">
                  <a16:creationId xmlns:a16="http://schemas.microsoft.com/office/drawing/2014/main" id="{A37718B7-93D3-4962-8883-4EEB0807B1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42" y="3576"/>
              <a:ext cx="324" cy="1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71" name="Text Box 20">
              <a:extLst>
                <a:ext uri="{FF2B5EF4-FFF2-40B4-BE49-F238E27FC236}">
                  <a16:creationId xmlns:a16="http://schemas.microsoft.com/office/drawing/2014/main" id="{5DAD6A92-3998-477A-9B36-B00AE3D61F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17" y="3527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time</a:t>
              </a:r>
              <a:endParaRPr lang="en-US" altLang="zh-TW" sz="1000">
                <a:latin typeface="Arial" panose="020B0604020202020204" pitchFamily="34" charset="0"/>
              </a:endParaRPr>
            </a:p>
          </p:txBody>
        </p:sp>
      </p:grpSp>
      <p:sp>
        <p:nvSpPr>
          <p:cNvPr id="179217" name="Line 21">
            <a:extLst>
              <a:ext uri="{FF2B5EF4-FFF2-40B4-BE49-F238E27FC236}">
                <a16:creationId xmlns:a16="http://schemas.microsoft.com/office/drawing/2014/main" id="{A2768970-5EBB-4A0E-857D-D8AB70DBDBC0}"/>
              </a:ext>
            </a:extLst>
          </p:cNvPr>
          <p:cNvSpPr>
            <a:spLocks noChangeShapeType="1"/>
          </p:cNvSpPr>
          <p:nvPr/>
        </p:nvSpPr>
        <p:spPr bwMode="auto">
          <a:xfrm>
            <a:off x="5621338" y="3090863"/>
            <a:ext cx="2505075" cy="35242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18" name="Line 22">
            <a:extLst>
              <a:ext uri="{FF2B5EF4-FFF2-40B4-BE49-F238E27FC236}">
                <a16:creationId xmlns:a16="http://schemas.microsoft.com/office/drawing/2014/main" id="{5CDFCC78-1393-449E-B447-F61B5B6E1052}"/>
              </a:ext>
            </a:extLst>
          </p:cNvPr>
          <p:cNvSpPr>
            <a:spLocks noChangeShapeType="1"/>
          </p:cNvSpPr>
          <p:nvPr/>
        </p:nvSpPr>
        <p:spPr bwMode="auto">
          <a:xfrm>
            <a:off x="5616575" y="3176588"/>
            <a:ext cx="2505075" cy="35242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19" name="Line 23">
            <a:extLst>
              <a:ext uri="{FF2B5EF4-FFF2-40B4-BE49-F238E27FC236}">
                <a16:creationId xmlns:a16="http://schemas.microsoft.com/office/drawing/2014/main" id="{59732E26-53D3-4501-A224-47F36BF098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16575" y="3700463"/>
            <a:ext cx="2528888" cy="3619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20" name="Line 24">
            <a:extLst>
              <a:ext uri="{FF2B5EF4-FFF2-40B4-BE49-F238E27FC236}">
                <a16:creationId xmlns:a16="http://schemas.microsoft.com/office/drawing/2014/main" id="{D6202DD5-315D-4725-8C69-3E73B06DD1F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9588" y="3960813"/>
            <a:ext cx="2505075" cy="35242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79221" name="Text Box 25">
            <a:extLst>
              <a:ext uri="{FF2B5EF4-FFF2-40B4-BE49-F238E27FC236}">
                <a16:creationId xmlns:a16="http://schemas.microsoft.com/office/drawing/2014/main" id="{AA73FB6E-DF28-496C-8A32-47FFC5A997A5}"/>
              </a:ext>
            </a:extLst>
          </p:cNvPr>
          <p:cNvSpPr txBox="1">
            <a:spLocks noChangeArrowheads="1"/>
          </p:cNvSpPr>
          <p:nvPr/>
        </p:nvSpPr>
        <p:spPr bwMode="auto">
          <a:xfrm rot="408567">
            <a:off x="6621463" y="3062288"/>
            <a:ext cx="12779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two segments</a:t>
            </a:r>
            <a:endParaRPr lang="en-US" altLang="zh-TW" sz="1000">
              <a:latin typeface="Times New Roman" panose="02020603050405020304" pitchFamily="18" charset="0"/>
            </a:endParaRPr>
          </a:p>
        </p:txBody>
      </p:sp>
      <p:sp>
        <p:nvSpPr>
          <p:cNvPr id="179222" name="Text Box 26">
            <a:extLst>
              <a:ext uri="{FF2B5EF4-FFF2-40B4-BE49-F238E27FC236}">
                <a16:creationId xmlns:a16="http://schemas.microsoft.com/office/drawing/2014/main" id="{E52B69E4-B694-4651-9D7E-B4658779A2B4}"/>
              </a:ext>
            </a:extLst>
          </p:cNvPr>
          <p:cNvSpPr txBox="1">
            <a:spLocks noChangeArrowheads="1"/>
          </p:cNvSpPr>
          <p:nvPr/>
        </p:nvSpPr>
        <p:spPr bwMode="auto">
          <a:xfrm rot="408567">
            <a:off x="6713538" y="4076700"/>
            <a:ext cx="13065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four segments</a:t>
            </a:r>
            <a:endParaRPr lang="en-US" altLang="zh-TW" sz="1000">
              <a:latin typeface="Times New Roman" panose="02020603050405020304" pitchFamily="18" charset="0"/>
            </a:endParaRPr>
          </a:p>
        </p:txBody>
      </p:sp>
      <p:grpSp>
        <p:nvGrpSpPr>
          <p:cNvPr id="179223" name="Group 27">
            <a:extLst>
              <a:ext uri="{FF2B5EF4-FFF2-40B4-BE49-F238E27FC236}">
                <a16:creationId xmlns:a16="http://schemas.microsoft.com/office/drawing/2014/main" id="{F24ECA81-B816-41F8-A5F2-3C3432F04703}"/>
              </a:ext>
            </a:extLst>
          </p:cNvPr>
          <p:cNvGrpSpPr>
            <a:grpSpLocks/>
          </p:cNvGrpSpPr>
          <p:nvPr/>
        </p:nvGrpSpPr>
        <p:grpSpPr bwMode="auto">
          <a:xfrm>
            <a:off x="5611813" y="4095750"/>
            <a:ext cx="2519362" cy="652463"/>
            <a:chOff x="3954" y="2214"/>
            <a:chExt cx="1587" cy="411"/>
          </a:xfrm>
        </p:grpSpPr>
        <p:sp>
          <p:nvSpPr>
            <p:cNvPr id="179266" name="Line 28">
              <a:extLst>
                <a:ext uri="{FF2B5EF4-FFF2-40B4-BE49-F238E27FC236}">
                  <a16:creationId xmlns:a16="http://schemas.microsoft.com/office/drawing/2014/main" id="{49823C35-E5E9-44F7-A33D-8CE64280AF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3" y="2214"/>
              <a:ext cx="1578" cy="22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9267" name="Line 29">
              <a:extLst>
                <a:ext uri="{FF2B5EF4-FFF2-40B4-BE49-F238E27FC236}">
                  <a16:creationId xmlns:a16="http://schemas.microsoft.com/office/drawing/2014/main" id="{9C74381B-7F1D-46F3-9A45-C5F016B1FD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54" y="2274"/>
              <a:ext cx="1578" cy="22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9268" name="Line 30">
              <a:extLst>
                <a:ext uri="{FF2B5EF4-FFF2-40B4-BE49-F238E27FC236}">
                  <a16:creationId xmlns:a16="http://schemas.microsoft.com/office/drawing/2014/main" id="{26045B9A-3B13-42D5-8265-F3DDC60545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3" y="2340"/>
              <a:ext cx="1578" cy="22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9269" name="Line 31">
              <a:extLst>
                <a:ext uri="{FF2B5EF4-FFF2-40B4-BE49-F238E27FC236}">
                  <a16:creationId xmlns:a16="http://schemas.microsoft.com/office/drawing/2014/main" id="{F9191643-B541-46B2-B503-91CF43A05E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57" y="2403"/>
              <a:ext cx="1578" cy="22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79224" name="Group 32">
            <a:extLst>
              <a:ext uri="{FF2B5EF4-FFF2-40B4-BE49-F238E27FC236}">
                <a16:creationId xmlns:a16="http://schemas.microsoft.com/office/drawing/2014/main" id="{59131561-4D6E-4184-B512-BC419E3A21FD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5897563" y="4476750"/>
            <a:ext cx="2228850" cy="604838"/>
            <a:chOff x="3954" y="2214"/>
            <a:chExt cx="1587" cy="411"/>
          </a:xfrm>
        </p:grpSpPr>
        <p:sp>
          <p:nvSpPr>
            <p:cNvPr id="179262" name="Line 33">
              <a:extLst>
                <a:ext uri="{FF2B5EF4-FFF2-40B4-BE49-F238E27FC236}">
                  <a16:creationId xmlns:a16="http://schemas.microsoft.com/office/drawing/2014/main" id="{BF8518E3-56EA-4A04-9A13-6EC4FABA82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3" y="2214"/>
              <a:ext cx="1578" cy="22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9263" name="Line 34">
              <a:extLst>
                <a:ext uri="{FF2B5EF4-FFF2-40B4-BE49-F238E27FC236}">
                  <a16:creationId xmlns:a16="http://schemas.microsoft.com/office/drawing/2014/main" id="{3FEA0B03-5371-44E8-8A22-AA80285B0E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54" y="2274"/>
              <a:ext cx="1578" cy="22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9264" name="Line 35">
              <a:extLst>
                <a:ext uri="{FF2B5EF4-FFF2-40B4-BE49-F238E27FC236}">
                  <a16:creationId xmlns:a16="http://schemas.microsoft.com/office/drawing/2014/main" id="{02563AA1-D487-49E8-AFA4-2A7DF31882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3" y="2340"/>
              <a:ext cx="1578" cy="22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79265" name="Line 36">
              <a:extLst>
                <a:ext uri="{FF2B5EF4-FFF2-40B4-BE49-F238E27FC236}">
                  <a16:creationId xmlns:a16="http://schemas.microsoft.com/office/drawing/2014/main" id="{E13FA33C-90D8-4554-BD81-909147BD42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57" y="2403"/>
              <a:ext cx="1578" cy="222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pic>
        <p:nvPicPr>
          <p:cNvPr id="179225" name="Picture 39" descr="underline_base">
            <a:extLst>
              <a:ext uri="{FF2B5EF4-FFF2-40B4-BE49-F238E27FC236}">
                <a16:creationId xmlns:a16="http://schemas.microsoft.com/office/drawing/2014/main" id="{EA3F1836-3682-4DA0-9EF8-242D6BF0BE1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588" y="927100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9226" name="Group 43">
            <a:extLst>
              <a:ext uri="{FF2B5EF4-FFF2-40B4-BE49-F238E27FC236}">
                <a16:creationId xmlns:a16="http://schemas.microsoft.com/office/drawing/2014/main" id="{B9B8A6CA-4EA2-465E-8F70-9B7AA05FE646}"/>
              </a:ext>
            </a:extLst>
          </p:cNvPr>
          <p:cNvGrpSpPr>
            <a:grpSpLocks/>
          </p:cNvGrpSpPr>
          <p:nvPr/>
        </p:nvGrpSpPr>
        <p:grpSpPr bwMode="auto">
          <a:xfrm>
            <a:off x="5173663" y="1495425"/>
            <a:ext cx="654050" cy="601663"/>
            <a:chOff x="-44" y="1473"/>
            <a:chExt cx="981" cy="1105"/>
          </a:xfrm>
        </p:grpSpPr>
        <p:pic>
          <p:nvPicPr>
            <p:cNvPr id="179260" name="Picture 44" descr="desktop_computer_stylized_medium">
              <a:extLst>
                <a:ext uri="{FF2B5EF4-FFF2-40B4-BE49-F238E27FC236}">
                  <a16:creationId xmlns:a16="http://schemas.microsoft.com/office/drawing/2014/main" id="{D1F3737F-1D9A-468C-8634-A37CAA9DC3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9261" name="Freeform 45">
              <a:extLst>
                <a:ext uri="{FF2B5EF4-FFF2-40B4-BE49-F238E27FC236}">
                  <a16:creationId xmlns:a16="http://schemas.microsoft.com/office/drawing/2014/main" id="{BCDC26C4-62C7-482D-A34B-84A259B12BD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79227" name="Group 46">
            <a:extLst>
              <a:ext uri="{FF2B5EF4-FFF2-40B4-BE49-F238E27FC236}">
                <a16:creationId xmlns:a16="http://schemas.microsoft.com/office/drawing/2014/main" id="{B416F061-A9C8-4308-BA1E-006F92C1EBC1}"/>
              </a:ext>
            </a:extLst>
          </p:cNvPr>
          <p:cNvGrpSpPr>
            <a:grpSpLocks/>
          </p:cNvGrpSpPr>
          <p:nvPr/>
        </p:nvGrpSpPr>
        <p:grpSpPr bwMode="auto">
          <a:xfrm>
            <a:off x="7908925" y="1509713"/>
            <a:ext cx="382588" cy="547687"/>
            <a:chOff x="4140" y="429"/>
            <a:chExt cx="1425" cy="2396"/>
          </a:xfrm>
        </p:grpSpPr>
        <p:sp>
          <p:nvSpPr>
            <p:cNvPr id="179228" name="Freeform 47">
              <a:extLst>
                <a:ext uri="{FF2B5EF4-FFF2-40B4-BE49-F238E27FC236}">
                  <a16:creationId xmlns:a16="http://schemas.microsoft.com/office/drawing/2014/main" id="{C82CD62F-A22D-4518-BBCE-E0428CAAD4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9229" name="Rectangle 48">
              <a:extLst>
                <a:ext uri="{FF2B5EF4-FFF2-40B4-BE49-F238E27FC236}">
                  <a16:creationId xmlns:a16="http://schemas.microsoft.com/office/drawing/2014/main" id="{E99E28EB-A4A1-4927-B666-33B25D9286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" y="429"/>
              <a:ext cx="1047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30" name="Freeform 49">
              <a:extLst>
                <a:ext uri="{FF2B5EF4-FFF2-40B4-BE49-F238E27FC236}">
                  <a16:creationId xmlns:a16="http://schemas.microsoft.com/office/drawing/2014/main" id="{DACEA1F8-A206-43E3-A02B-606D3965E0C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9231" name="Freeform 50">
              <a:extLst>
                <a:ext uri="{FF2B5EF4-FFF2-40B4-BE49-F238E27FC236}">
                  <a16:creationId xmlns:a16="http://schemas.microsoft.com/office/drawing/2014/main" id="{FF5ED128-1648-405B-B775-9D9813A2DA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9232" name="Rectangle 51">
              <a:extLst>
                <a:ext uri="{FF2B5EF4-FFF2-40B4-BE49-F238E27FC236}">
                  <a16:creationId xmlns:a16="http://schemas.microsoft.com/office/drawing/2014/main" id="{53563A42-7297-4755-8E45-807263491C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3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79233" name="Group 52">
              <a:extLst>
                <a:ext uri="{FF2B5EF4-FFF2-40B4-BE49-F238E27FC236}">
                  <a16:creationId xmlns:a16="http://schemas.microsoft.com/office/drawing/2014/main" id="{23945872-D932-45E7-A4C1-ACABBB5B7F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79258" name="AutoShape 53">
                <a:extLst>
                  <a:ext uri="{FF2B5EF4-FFF2-40B4-BE49-F238E27FC236}">
                    <a16:creationId xmlns:a16="http://schemas.microsoft.com/office/drawing/2014/main" id="{DBDD70D2-00A4-4571-AAB7-9B59203FEF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5"/>
                <a:ext cx="723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79259" name="AutoShape 54">
                <a:extLst>
                  <a:ext uri="{FF2B5EF4-FFF2-40B4-BE49-F238E27FC236}">
                    <a16:creationId xmlns:a16="http://schemas.microsoft.com/office/drawing/2014/main" id="{DB191E27-3979-4341-A79B-351E084AFA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79"/>
                <a:ext cx="694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9234" name="Rectangle 55">
              <a:extLst>
                <a:ext uri="{FF2B5EF4-FFF2-40B4-BE49-F238E27FC236}">
                  <a16:creationId xmlns:a16="http://schemas.microsoft.com/office/drawing/2014/main" id="{D943DB90-6149-4F37-92C4-42ABB1D0B6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79235" name="Group 56">
              <a:extLst>
                <a:ext uri="{FF2B5EF4-FFF2-40B4-BE49-F238E27FC236}">
                  <a16:creationId xmlns:a16="http://schemas.microsoft.com/office/drawing/2014/main" id="{D64AD927-A42C-412E-A559-76E4CB17F8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79256" name="AutoShape 57">
                <a:extLst>
                  <a:ext uri="{FF2B5EF4-FFF2-40B4-BE49-F238E27FC236}">
                    <a16:creationId xmlns:a16="http://schemas.microsoft.com/office/drawing/2014/main" id="{D9E628EC-6707-4D2A-A2BE-4F0F7FA3C1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5"/>
                <a:ext cx="723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79257" name="AutoShape 58">
                <a:extLst>
                  <a:ext uri="{FF2B5EF4-FFF2-40B4-BE49-F238E27FC236}">
                    <a16:creationId xmlns:a16="http://schemas.microsoft.com/office/drawing/2014/main" id="{F276C67C-4954-43A4-A531-CB682F1752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0"/>
                <a:ext cx="694" cy="11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9236" name="Rectangle 59">
              <a:extLst>
                <a:ext uri="{FF2B5EF4-FFF2-40B4-BE49-F238E27FC236}">
                  <a16:creationId xmlns:a16="http://schemas.microsoft.com/office/drawing/2014/main" id="{E14EFACE-9C8A-4E25-9E45-E6B9C9883F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60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37" name="Rectangle 60">
              <a:extLst>
                <a:ext uri="{FF2B5EF4-FFF2-40B4-BE49-F238E27FC236}">
                  <a16:creationId xmlns:a16="http://schemas.microsoft.com/office/drawing/2014/main" id="{F67F50EF-8260-48CE-8899-B24F181E3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8"/>
              <a:ext cx="597" cy="4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grpSp>
          <p:nvGrpSpPr>
            <p:cNvPr id="179238" name="Group 61">
              <a:extLst>
                <a:ext uri="{FF2B5EF4-FFF2-40B4-BE49-F238E27FC236}">
                  <a16:creationId xmlns:a16="http://schemas.microsoft.com/office/drawing/2014/main" id="{6794D6A6-1E6C-4567-977C-64CE58B6A7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79254" name="AutoShape 62">
                <a:extLst>
                  <a:ext uri="{FF2B5EF4-FFF2-40B4-BE49-F238E27FC236}">
                    <a16:creationId xmlns:a16="http://schemas.microsoft.com/office/drawing/2014/main" id="{89D169BD-7658-4F72-9273-CC841AFAE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71"/>
                <a:ext cx="72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79255" name="AutoShape 63">
                <a:extLst>
                  <a:ext uri="{FF2B5EF4-FFF2-40B4-BE49-F238E27FC236}">
                    <a16:creationId xmlns:a16="http://schemas.microsoft.com/office/drawing/2014/main" id="{83EE5B54-7825-4503-89B2-7CE4F83F9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92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9239" name="Freeform 64">
              <a:extLst>
                <a:ext uri="{FF2B5EF4-FFF2-40B4-BE49-F238E27FC236}">
                  <a16:creationId xmlns:a16="http://schemas.microsoft.com/office/drawing/2014/main" id="{80CDD727-E40B-48DF-9F08-58114DF40F6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79240" name="Group 65">
              <a:extLst>
                <a:ext uri="{FF2B5EF4-FFF2-40B4-BE49-F238E27FC236}">
                  <a16:creationId xmlns:a16="http://schemas.microsoft.com/office/drawing/2014/main" id="{7258846F-2BD7-4B36-9C58-BD35B786D2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79252" name="AutoShape 66">
                <a:extLst>
                  <a:ext uri="{FF2B5EF4-FFF2-40B4-BE49-F238E27FC236}">
                    <a16:creationId xmlns:a16="http://schemas.microsoft.com/office/drawing/2014/main" id="{187D2CA1-8BE5-4281-9182-C45FDCF884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9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79253" name="AutoShape 67">
                <a:extLst>
                  <a:ext uri="{FF2B5EF4-FFF2-40B4-BE49-F238E27FC236}">
                    <a16:creationId xmlns:a16="http://schemas.microsoft.com/office/drawing/2014/main" id="{7FE186A4-25DB-4340-B18C-F8D3D5F581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0"/>
                <a:ext cx="700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79241" name="Rectangle 68">
              <a:extLst>
                <a:ext uri="{FF2B5EF4-FFF2-40B4-BE49-F238E27FC236}">
                  <a16:creationId xmlns:a16="http://schemas.microsoft.com/office/drawing/2014/main" id="{24036E10-2023-46AC-A300-1C1C15F6CE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2" y="429"/>
              <a:ext cx="65" cy="2292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42" name="Freeform 69">
              <a:extLst>
                <a:ext uri="{FF2B5EF4-FFF2-40B4-BE49-F238E27FC236}">
                  <a16:creationId xmlns:a16="http://schemas.microsoft.com/office/drawing/2014/main" id="{570FD4A6-864D-4835-A0F9-C41CB9E6A25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9243" name="Freeform 70">
              <a:extLst>
                <a:ext uri="{FF2B5EF4-FFF2-40B4-BE49-F238E27FC236}">
                  <a16:creationId xmlns:a16="http://schemas.microsoft.com/office/drawing/2014/main" id="{A4584559-1B71-47D2-B486-0A494E1ECEA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9244" name="Oval 71">
              <a:extLst>
                <a:ext uri="{FF2B5EF4-FFF2-40B4-BE49-F238E27FC236}">
                  <a16:creationId xmlns:a16="http://schemas.microsoft.com/office/drawing/2014/main" id="{5A83C591-678F-4522-BABF-EE87D88369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10"/>
              <a:ext cx="47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45" name="Freeform 72">
              <a:extLst>
                <a:ext uri="{FF2B5EF4-FFF2-40B4-BE49-F238E27FC236}">
                  <a16:creationId xmlns:a16="http://schemas.microsoft.com/office/drawing/2014/main" id="{89DB20DE-8922-418A-8579-EE71329B025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9246" name="AutoShape 73">
              <a:extLst>
                <a:ext uri="{FF2B5EF4-FFF2-40B4-BE49-F238E27FC236}">
                  <a16:creationId xmlns:a16="http://schemas.microsoft.com/office/drawing/2014/main" id="{E22A8593-87E0-4B93-8B4E-747D7B78E5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200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47" name="AutoShape 74">
              <a:extLst>
                <a:ext uri="{FF2B5EF4-FFF2-40B4-BE49-F238E27FC236}">
                  <a16:creationId xmlns:a16="http://schemas.microsoft.com/office/drawing/2014/main" id="{2237B5C4-16AB-4119-8677-71D1E48AA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" y="2714"/>
              <a:ext cx="1070" cy="76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48" name="Oval 75">
              <a:extLst>
                <a:ext uri="{FF2B5EF4-FFF2-40B4-BE49-F238E27FC236}">
                  <a16:creationId xmlns:a16="http://schemas.microsoft.com/office/drawing/2014/main" id="{8266BCE4-55AC-417D-AC35-D3F1071DB5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6" y="2381"/>
              <a:ext cx="160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49" name="Oval 76">
              <a:extLst>
                <a:ext uri="{FF2B5EF4-FFF2-40B4-BE49-F238E27FC236}">
                  <a16:creationId xmlns:a16="http://schemas.microsoft.com/office/drawing/2014/main" id="{CCCE0DE4-18E2-4582-887E-4BE308235B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7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9250" name="Oval 77">
              <a:extLst>
                <a:ext uri="{FF2B5EF4-FFF2-40B4-BE49-F238E27FC236}">
                  <a16:creationId xmlns:a16="http://schemas.microsoft.com/office/drawing/2014/main" id="{CCDE31D8-7D1D-47EB-8788-5E948D10E2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1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  <p:sp>
          <p:nvSpPr>
            <p:cNvPr id="179251" name="Rectangle 78">
              <a:extLst>
                <a:ext uri="{FF2B5EF4-FFF2-40B4-BE49-F238E27FC236}">
                  <a16:creationId xmlns:a16="http://schemas.microsoft.com/office/drawing/2014/main" id="{6A156262-4410-4D5E-9963-FFD9E65096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2"/>
              <a:ext cx="83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206" grpId="0" animBg="1"/>
      <p:bldP spid="179208" grpId="0"/>
      <p:bldP spid="179215" grpId="0" animBg="1"/>
      <p:bldP spid="179217" grpId="0" animBg="1"/>
      <p:bldP spid="179218" grpId="0" animBg="1"/>
      <p:bldP spid="179219" grpId="0" animBg="1"/>
      <p:bldP spid="179220" grpId="0" animBg="1"/>
      <p:bldP spid="179221" grpId="0"/>
      <p:bldP spid="179222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Footer Placeholder 5">
            <a:extLst>
              <a:ext uri="{FF2B5EF4-FFF2-40B4-BE49-F238E27FC236}">
                <a16:creationId xmlns:a16="http://schemas.microsoft.com/office/drawing/2014/main" id="{1CDAE9E3-0FEE-4195-BBF6-3DCB3FAE3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0227" name="Slide Number Placeholder 6">
            <a:extLst>
              <a:ext uri="{FF2B5EF4-FFF2-40B4-BE49-F238E27FC236}">
                <a16:creationId xmlns:a16="http://schemas.microsoft.com/office/drawing/2014/main" id="{13E53306-8260-4AD2-817E-FC21E71EE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54A61561-FF3E-4780-AD32-98FA76E9328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80228" name="Picture 89" descr="underline_base">
            <a:extLst>
              <a:ext uri="{FF2B5EF4-FFF2-40B4-BE49-F238E27FC236}">
                <a16:creationId xmlns:a16="http://schemas.microsoft.com/office/drawing/2014/main" id="{23774B36-7F40-472F-8CAC-3BA0A990022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B47F1025-44C2-45F2-B842-168350CCE4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Phase 2: Congestion Avoidance</a:t>
            </a:r>
          </a:p>
        </p:txBody>
      </p:sp>
      <p:sp>
        <p:nvSpPr>
          <p:cNvPr id="102407" name="Rectangle 4">
            <a:extLst>
              <a:ext uri="{FF2B5EF4-FFF2-40B4-BE49-F238E27FC236}">
                <a16:creationId xmlns:a16="http://schemas.microsoft.com/office/drawing/2014/main" id="{350BCCD7-0136-4FD2-B343-9A6764771D8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31825" y="1412875"/>
            <a:ext cx="8143875" cy="295275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Roughly increases cwnd by 1 MSS every RTT</a:t>
            </a:r>
          </a:p>
          <a:p>
            <a:pPr lvl="1">
              <a:buFont typeface="Wingdings" charset="0"/>
              <a:buChar char="v"/>
              <a:defRPr/>
            </a:pPr>
            <a:r>
              <a:rPr lang="en-US" altLang="zh-TW" sz="2800" dirty="0">
                <a:solidFill>
                  <a:srgbClr val="000000"/>
                </a:solidFill>
                <a:ea typeface="ＭＳ Ｐゴシック" charset="0"/>
                <a:cs typeface="+mn-cs"/>
              </a:rPr>
              <a:t>i.e., increases cwnd </a:t>
            </a:r>
            <a:r>
              <a:rPr lang="en-US" altLang="zh-TW" sz="2800" dirty="0">
                <a:solidFill>
                  <a:srgbClr val="0070C0"/>
                </a:solidFill>
                <a:ea typeface="ＭＳ Ｐゴシック" charset="0"/>
                <a:cs typeface="+mn-cs"/>
              </a:rPr>
              <a:t>linearly</a:t>
            </a:r>
            <a:endParaRPr lang="en-US" dirty="0">
              <a:ea typeface="ＭＳ Ｐゴシック" charset="0"/>
              <a:cs typeface="+mn-cs"/>
            </a:endParaRP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Implementation: </a:t>
            </a:r>
            <a:r>
              <a:rPr lang="en-US" altLang="zh-TW" dirty="0">
                <a:ea typeface="ＭＳ Ｐゴシック" charset="0"/>
              </a:rPr>
              <a:t>Increase cwnd by 1 MSS/cwnd for each received ACK</a:t>
            </a:r>
          </a:p>
          <a:p>
            <a:pPr>
              <a:buFont typeface="Wingdings" panose="05000000000000000000" pitchFamily="2" charset="2"/>
              <a:buNone/>
              <a:defRPr/>
            </a:pPr>
            <a:br>
              <a:rPr lang="en-US" dirty="0">
                <a:ea typeface="ＭＳ Ｐゴシック" charset="0"/>
                <a:cs typeface="+mn-cs"/>
              </a:rPr>
            </a:br>
            <a:endParaRPr lang="en-US" dirty="0">
              <a:ea typeface="ＭＳ Ｐゴシック" charset="0"/>
              <a:cs typeface="+mn-cs"/>
            </a:endParaRPr>
          </a:p>
          <a:p>
            <a:pPr>
              <a:buFont typeface="Wingdings" panose="05000000000000000000" pitchFamily="2" charset="2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	</a:t>
            </a:r>
          </a:p>
          <a:p>
            <a:pPr>
              <a:buFont typeface="Wingdings" panose="05000000000000000000" pitchFamily="2" charset="2"/>
              <a:buNone/>
              <a:defRPr/>
            </a:pPr>
            <a:endParaRPr lang="en-US" dirty="0">
              <a:ea typeface="ＭＳ Ｐゴシック" charset="0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Footer Placeholder 5">
            <a:extLst>
              <a:ext uri="{FF2B5EF4-FFF2-40B4-BE49-F238E27FC236}">
                <a16:creationId xmlns:a16="http://schemas.microsoft.com/office/drawing/2014/main" id="{5A7B78AB-690A-457C-BD51-656D9A292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1251" name="Slide Number Placeholder 6">
            <a:extLst>
              <a:ext uri="{FF2B5EF4-FFF2-40B4-BE49-F238E27FC236}">
                <a16:creationId xmlns:a16="http://schemas.microsoft.com/office/drawing/2014/main" id="{5D39E75C-7968-442D-93AD-6B9E38DE1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7A71AA1D-39DB-4B84-9D01-D5EB3FAF913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81252" name="Picture 89" descr="underline_base">
            <a:extLst>
              <a:ext uri="{FF2B5EF4-FFF2-40B4-BE49-F238E27FC236}">
                <a16:creationId xmlns:a16="http://schemas.microsoft.com/office/drawing/2014/main" id="{0A703617-58A8-49FE-B6E8-517D24DF3BA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F4EE305B-7726-404C-94E5-669605F548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Transitions between SS and CA</a:t>
            </a:r>
          </a:p>
        </p:txBody>
      </p:sp>
      <p:sp>
        <p:nvSpPr>
          <p:cNvPr id="181254" name="Rectangle 4">
            <a:extLst>
              <a:ext uri="{FF2B5EF4-FFF2-40B4-BE49-F238E27FC236}">
                <a16:creationId xmlns:a16="http://schemas.microsoft.com/office/drawing/2014/main" id="{9A1A4CE2-4E87-488C-A5C3-7639CD9952A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31825" y="1176338"/>
            <a:ext cx="8512175" cy="5062537"/>
          </a:xfrm>
        </p:spPr>
        <p:txBody>
          <a:bodyPr/>
          <a:lstStyle/>
          <a:p>
            <a:r>
              <a:rPr lang="en-US" altLang="zh-TW" dirty="0"/>
              <a:t>TCP keeps a variable </a:t>
            </a:r>
            <a:r>
              <a:rPr lang="en-US" altLang="zh-TW" dirty="0" err="1">
                <a:solidFill>
                  <a:srgbClr val="FF0000"/>
                </a:solidFill>
              </a:rPr>
              <a:t>ssthresh</a:t>
            </a:r>
            <a:r>
              <a:rPr lang="en-US" altLang="zh-TW" dirty="0"/>
              <a:t> to determine which phase is being used: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Set to </a:t>
            </a:r>
            <a:r>
              <a:rPr lang="en-US" altLang="zh-TW" dirty="0" err="1"/>
              <a:t>cwnd</a:t>
            </a:r>
            <a:r>
              <a:rPr lang="en-US" altLang="zh-TW" dirty="0"/>
              <a:t>/2 after detecting a packet loss</a:t>
            </a:r>
          </a:p>
          <a:p>
            <a:r>
              <a:rPr lang="en-US" altLang="zh-TW" dirty="0"/>
              <a:t>Transition from SS to CA: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If </a:t>
            </a:r>
            <a:r>
              <a:rPr lang="en-US" altLang="zh-TW" dirty="0" err="1"/>
              <a:t>cwnd</a:t>
            </a:r>
            <a:r>
              <a:rPr lang="en-US" altLang="zh-TW" dirty="0"/>
              <a:t> &lt; </a:t>
            </a:r>
            <a:r>
              <a:rPr lang="en-US" altLang="zh-TW" dirty="0" err="1"/>
              <a:t>ssthresh</a:t>
            </a:r>
            <a:r>
              <a:rPr lang="en-US" altLang="zh-TW" dirty="0"/>
              <a:t>, then do slow start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If </a:t>
            </a:r>
            <a:r>
              <a:rPr lang="en-US" altLang="zh-TW" dirty="0" err="1"/>
              <a:t>cwnd</a:t>
            </a:r>
            <a:r>
              <a:rPr lang="en-US" altLang="zh-TW" dirty="0"/>
              <a:t> &gt;= </a:t>
            </a:r>
            <a:r>
              <a:rPr lang="en-US" altLang="zh-TW" dirty="0" err="1"/>
              <a:t>ssthresh</a:t>
            </a:r>
            <a:r>
              <a:rPr lang="en-US" altLang="zh-TW" dirty="0"/>
              <a:t>, then do congestion avoidance</a:t>
            </a:r>
          </a:p>
          <a:p>
            <a:r>
              <a:rPr lang="en-US" altLang="zh-TW" dirty="0"/>
              <a:t>Transition from CA to SS: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Packet loss detection</a:t>
            </a:r>
          </a:p>
        </p:txBody>
      </p:sp>
      <p:pic>
        <p:nvPicPr>
          <p:cNvPr id="181255" name="Picture 8">
            <a:extLst>
              <a:ext uri="{FF2B5EF4-FFF2-40B4-BE49-F238E27FC236}">
                <a16:creationId xmlns:a16="http://schemas.microsoft.com/office/drawing/2014/main" id="{5784853C-28BD-4938-B3A2-4C88FCB48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1850" y="4011613"/>
            <a:ext cx="4162425" cy="272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Footer Placeholder 5">
            <a:extLst>
              <a:ext uri="{FF2B5EF4-FFF2-40B4-BE49-F238E27FC236}">
                <a16:creationId xmlns:a16="http://schemas.microsoft.com/office/drawing/2014/main" id="{6CB4EFBC-A16C-4D04-8857-7758FDB42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2275" name="Slide Number Placeholder 6">
            <a:extLst>
              <a:ext uri="{FF2B5EF4-FFF2-40B4-BE49-F238E27FC236}">
                <a16:creationId xmlns:a16="http://schemas.microsoft.com/office/drawing/2014/main" id="{F9E41391-27FD-4E1D-A2DC-4B5F96C9F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2B3C21A9-5085-474B-B362-FF641536165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82276" name="Picture 89" descr="underline_base">
            <a:extLst>
              <a:ext uri="{FF2B5EF4-FFF2-40B4-BE49-F238E27FC236}">
                <a16:creationId xmlns:a16="http://schemas.microsoft.com/office/drawing/2014/main" id="{7E33D216-9E10-4280-A269-1A93E9AB0D2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67ACEED2-60C9-4A2A-A6F7-89A3A3B9D8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Reno</a:t>
            </a:r>
          </a:p>
        </p:txBody>
      </p:sp>
      <p:sp>
        <p:nvSpPr>
          <p:cNvPr id="102407" name="Rectangle 4">
            <a:extLst>
              <a:ext uri="{FF2B5EF4-FFF2-40B4-BE49-F238E27FC236}">
                <a16:creationId xmlns:a16="http://schemas.microsoft.com/office/drawing/2014/main" id="{785219D3-F1B9-4B9D-9CCE-4CCB6937655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31825" y="1412875"/>
            <a:ext cx="8143875" cy="295275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TCP Reno improves performance over TCP Tahoe: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dirty="0">
                <a:ea typeface="ＭＳ Ｐゴシック" charset="0"/>
                <a:cs typeface="+mn-cs"/>
              </a:rPr>
              <a:t>Tahoe is very sensitive to packet loss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dirty="0">
                <a:ea typeface="ＭＳ Ｐゴシック" charset="0"/>
                <a:cs typeface="+mn-cs"/>
              </a:rPr>
              <a:t>1% packet loss rate may cause a 50%-75% in throughput </a:t>
            </a:r>
            <a:r>
              <a:rPr lang="en-US" altLang="zh-TW" dirty="0">
                <a:solidFill>
                  <a:srgbClr val="000000"/>
                </a:solidFill>
                <a:ea typeface="ＭＳ Ｐゴシック" charset="0"/>
                <a:cs typeface="+mn-cs"/>
              </a:rPr>
              <a:t>drop </a:t>
            </a:r>
            <a:r>
              <a:rPr lang="en-US" altLang="zh-TW" dirty="0">
                <a:ea typeface="ＭＳ Ｐゴシック" charset="0"/>
              </a:rPr>
              <a:t>(Q: Why?)</a:t>
            </a:r>
            <a:endParaRPr lang="en-US" altLang="zh-TW" dirty="0">
              <a:ea typeface="ＭＳ Ｐゴシック" charset="0"/>
              <a:cs typeface="+mn-cs"/>
            </a:endParaRPr>
          </a:p>
          <a:p>
            <a:pPr>
              <a:buFont typeface="Wingdings" charset="0"/>
              <a:buChar char="v"/>
              <a:defRPr/>
            </a:pPr>
            <a:r>
              <a:rPr lang="en-US" altLang="zh-HK" dirty="0">
                <a:ea typeface="ＭＳ Ｐゴシック" charset="0"/>
                <a:cs typeface="+mn-cs"/>
              </a:rPr>
              <a:t>TCP Reno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altLang="zh-HK" dirty="0">
                <a:ea typeface="ＭＳ Ｐゴシック" charset="0"/>
                <a:cs typeface="+mn-cs"/>
              </a:rPr>
              <a:t>Also a loss-based congestion control algorithm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altLang="zh-HK" dirty="0">
                <a:ea typeface="ＭＳ Ｐゴシック" charset="0"/>
                <a:cs typeface="+mn-cs"/>
              </a:rPr>
              <a:t>Introduces “</a:t>
            </a:r>
            <a:r>
              <a:rPr lang="en-US" altLang="zh-HK" dirty="0">
                <a:solidFill>
                  <a:srgbClr val="FF0000"/>
                </a:solidFill>
                <a:ea typeface="ＭＳ Ｐゴシック" charset="0"/>
                <a:cs typeface="+mn-cs"/>
              </a:rPr>
              <a:t>fast recovery</a:t>
            </a:r>
            <a:r>
              <a:rPr lang="en-US" altLang="zh-HK" dirty="0">
                <a:ea typeface="ＭＳ Ｐゴシック" charset="0"/>
                <a:cs typeface="+mn-cs"/>
              </a:rPr>
              <a:t>” algorithm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altLang="zh-HK" dirty="0">
                <a:ea typeface="ＭＳ Ｐゴシック" charset="0"/>
                <a:cs typeface="+mn-cs"/>
              </a:rPr>
              <a:t>Implemented by most operating systems</a:t>
            </a:r>
          </a:p>
          <a:p>
            <a:pPr marL="457200" lvl="1" indent="0">
              <a:buNone/>
              <a:defRPr/>
            </a:pPr>
            <a:endParaRPr lang="en-US" altLang="zh-TW" dirty="0"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Footer Placeholder 5">
            <a:extLst>
              <a:ext uri="{FF2B5EF4-FFF2-40B4-BE49-F238E27FC236}">
                <a16:creationId xmlns:a16="http://schemas.microsoft.com/office/drawing/2014/main" id="{B924D17D-8C05-4DDD-AB5C-FF6A31729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3299" name="Slide Number Placeholder 6">
            <a:extLst>
              <a:ext uri="{FF2B5EF4-FFF2-40B4-BE49-F238E27FC236}">
                <a16:creationId xmlns:a16="http://schemas.microsoft.com/office/drawing/2014/main" id="{680CC1F4-F023-4AEB-8C32-CB1D5B277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A841209C-9D96-4467-A8AB-838F9817734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83300" name="Picture 89" descr="underline_base">
            <a:extLst>
              <a:ext uri="{FF2B5EF4-FFF2-40B4-BE49-F238E27FC236}">
                <a16:creationId xmlns:a16="http://schemas.microsoft.com/office/drawing/2014/main" id="{7C397559-56A2-4227-9D23-35B9512A662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E56F8E77-E6E3-4530-A12D-E26C96CDD5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Reno: Fast Recovery (FR)</a:t>
            </a:r>
          </a:p>
        </p:txBody>
      </p:sp>
      <p:sp>
        <p:nvSpPr>
          <p:cNvPr id="102407" name="Rectangle 4">
            <a:extLst>
              <a:ext uri="{FF2B5EF4-FFF2-40B4-BE49-F238E27FC236}">
                <a16:creationId xmlns:a16="http://schemas.microsoft.com/office/drawing/2014/main" id="{4A025CBD-60D3-4B6E-8EAC-A5C8CE7661FA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31825" y="1412875"/>
            <a:ext cx="8143875" cy="295275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If packet loss is detected by </a:t>
            </a:r>
            <a:r>
              <a:rPr lang="en-US" dirty="0">
                <a:solidFill>
                  <a:srgbClr val="0070C0"/>
                </a:solidFill>
                <a:ea typeface="ＭＳ Ｐゴシック" charset="0"/>
                <a:cs typeface="+mn-cs"/>
              </a:rPr>
              <a:t>three duplicate ACKs</a:t>
            </a:r>
            <a:r>
              <a:rPr lang="en-US" dirty="0">
                <a:ea typeface="ＭＳ Ｐゴシック" charset="0"/>
                <a:cs typeface="+mn-cs"/>
              </a:rPr>
              <a:t>:</a:t>
            </a:r>
          </a:p>
          <a:p>
            <a:pPr lvl="1">
              <a:buFont typeface="Arial" pitchFamily="34" charset="0"/>
              <a:buChar char="•"/>
              <a:defRPr/>
            </a:pPr>
            <a:r>
              <a:rPr lang="en-US" altLang="zh-TW" dirty="0">
                <a:solidFill>
                  <a:srgbClr val="000000"/>
                </a:solidFill>
                <a:ea typeface="ＭＳ Ｐゴシック" charset="0"/>
                <a:cs typeface="+mn-cs"/>
              </a:rPr>
              <a:t>ssthresh = cwnd/2</a:t>
            </a:r>
            <a:endParaRPr lang="en-US" dirty="0">
              <a:ea typeface="ＭＳ Ｐゴシック" charset="0"/>
              <a:cs typeface="+mn-cs"/>
            </a:endParaRPr>
          </a:p>
          <a:p>
            <a:pPr lvl="1">
              <a:buFont typeface="Arial" pitchFamily="34" charset="0"/>
              <a:buChar char="•"/>
              <a:defRPr/>
            </a:pPr>
            <a:r>
              <a:rPr lang="en-US" dirty="0">
                <a:ea typeface="ＭＳ Ｐゴシック" charset="0"/>
                <a:cs typeface="+mn-cs"/>
              </a:rPr>
              <a:t>cwnd = ssthresh + 3, then grows linearly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Timeout does not occur very often</a:t>
            </a:r>
          </a:p>
          <a:p>
            <a:pPr>
              <a:buFont typeface="Wingdings" panose="05000000000000000000" pitchFamily="2" charset="2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=&gt; TCP Reno operates in CA and FR most of times.</a:t>
            </a:r>
          </a:p>
        </p:txBody>
      </p:sp>
      <p:pic>
        <p:nvPicPr>
          <p:cNvPr id="183303" name="Picture 8">
            <a:extLst>
              <a:ext uri="{FF2B5EF4-FFF2-40B4-BE49-F238E27FC236}">
                <a16:creationId xmlns:a16="http://schemas.microsoft.com/office/drawing/2014/main" id="{68E693A9-4025-4539-A19B-0E74FB16A2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3913" y="3570288"/>
            <a:ext cx="4616450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Footer Placeholder 4">
            <a:extLst>
              <a:ext uri="{FF2B5EF4-FFF2-40B4-BE49-F238E27FC236}">
                <a16:creationId xmlns:a16="http://schemas.microsoft.com/office/drawing/2014/main" id="{4E2A0BE8-738A-4A9F-8FA9-8E32BE8E2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4323" name="Slide Number Placeholder 5">
            <a:extLst>
              <a:ext uri="{FF2B5EF4-FFF2-40B4-BE49-F238E27FC236}">
                <a16:creationId xmlns:a16="http://schemas.microsoft.com/office/drawing/2014/main" id="{82B70121-8F07-4767-AFD4-C51702750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E8E7AD94-B889-4553-B054-4D22CB77DBF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6500" name="Rectangle 2">
            <a:extLst>
              <a:ext uri="{FF2B5EF4-FFF2-40B4-BE49-F238E27FC236}">
                <a16:creationId xmlns:a16="http://schemas.microsoft.com/office/drawing/2014/main" id="{46F6BFD5-8C5E-430C-8D47-0D7B8EB20E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20675" y="187325"/>
            <a:ext cx="7772400" cy="860425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Summary: TCP Congestion Control</a:t>
            </a:r>
          </a:p>
        </p:txBody>
      </p:sp>
      <p:grpSp>
        <p:nvGrpSpPr>
          <p:cNvPr id="2" name="Group 240">
            <a:extLst>
              <a:ext uri="{FF2B5EF4-FFF2-40B4-BE49-F238E27FC236}">
                <a16:creationId xmlns:a16="http://schemas.microsoft.com/office/drawing/2014/main" id="{9AAB3847-6071-4747-9EF3-79D5B434B50C}"/>
              </a:ext>
            </a:extLst>
          </p:cNvPr>
          <p:cNvGrpSpPr>
            <a:grpSpLocks/>
          </p:cNvGrpSpPr>
          <p:nvPr/>
        </p:nvGrpSpPr>
        <p:grpSpPr bwMode="auto">
          <a:xfrm>
            <a:off x="3441700" y="2908300"/>
            <a:ext cx="2133600" cy="814388"/>
            <a:chOff x="2168" y="1727"/>
            <a:chExt cx="1344" cy="513"/>
          </a:xfrm>
        </p:grpSpPr>
        <p:grpSp>
          <p:nvGrpSpPr>
            <p:cNvPr id="184427" name="Group 171">
              <a:extLst>
                <a:ext uri="{FF2B5EF4-FFF2-40B4-BE49-F238E27FC236}">
                  <a16:creationId xmlns:a16="http://schemas.microsoft.com/office/drawing/2014/main" id="{0FD6B97F-07C0-4ED0-AC77-BE396A08053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80" y="1727"/>
              <a:ext cx="1118" cy="513"/>
              <a:chOff x="2280" y="1727"/>
              <a:chExt cx="1118" cy="513"/>
            </a:xfrm>
          </p:grpSpPr>
          <p:sp>
            <p:nvSpPr>
              <p:cNvPr id="184429" name="Text Box 172">
                <a:extLst>
                  <a:ext uri="{FF2B5EF4-FFF2-40B4-BE49-F238E27FC236}">
                    <a16:creationId xmlns:a16="http://schemas.microsoft.com/office/drawing/2014/main" id="{71F97530-A233-4B92-8380-7D4A9651E6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40" y="1727"/>
                <a:ext cx="377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timeout</a:t>
                </a:r>
              </a:p>
            </p:txBody>
          </p:sp>
          <p:sp>
            <p:nvSpPr>
              <p:cNvPr id="184430" name="Text Box 173">
                <a:extLst>
                  <a:ext uri="{FF2B5EF4-FFF2-40B4-BE49-F238E27FC236}">
                    <a16:creationId xmlns:a16="http://schemas.microsoft.com/office/drawing/2014/main" id="{5EFC146D-63CD-4CDD-B279-D3ADFDCF3D2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80" y="1838"/>
                <a:ext cx="1118" cy="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ssthresh = cwnd/2</a:t>
                </a:r>
              </a:p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= 1 MSS</a:t>
                </a:r>
              </a:p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 = 0</a:t>
                </a:r>
              </a:p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i="1">
                    <a:solidFill>
                      <a:srgbClr val="000099"/>
                    </a:solidFill>
                    <a:latin typeface="Arial" panose="020B0604020202020204" pitchFamily="34" charset="0"/>
                  </a:rPr>
                  <a:t>retransmit missing segment</a:t>
                </a:r>
                <a:r>
                  <a:rPr lang="en-US" altLang="zh-TW" sz="1200">
                    <a:latin typeface="Arial" panose="020B0604020202020204" pitchFamily="34" charset="0"/>
                  </a:rPr>
                  <a:t> </a:t>
                </a:r>
              </a:p>
            </p:txBody>
          </p:sp>
          <p:sp>
            <p:nvSpPr>
              <p:cNvPr id="184431" name="Line 174">
                <a:extLst>
                  <a:ext uri="{FF2B5EF4-FFF2-40B4-BE49-F238E27FC236}">
                    <a16:creationId xmlns:a16="http://schemas.microsoft.com/office/drawing/2014/main" id="{89799268-828D-4F71-AA67-2D31349C6B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91" y="1857"/>
                <a:ext cx="69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84428" name="Line 175">
              <a:extLst>
                <a:ext uri="{FF2B5EF4-FFF2-40B4-BE49-F238E27FC236}">
                  <a16:creationId xmlns:a16="http://schemas.microsoft.com/office/drawing/2014/main" id="{88C68218-426E-4EA5-99EB-2822C4240DE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68" y="1734"/>
              <a:ext cx="13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4" name="Group 239">
            <a:extLst>
              <a:ext uri="{FF2B5EF4-FFF2-40B4-BE49-F238E27FC236}">
                <a16:creationId xmlns:a16="http://schemas.microsoft.com/office/drawing/2014/main" id="{F8F00561-EA06-4F92-9E1A-30B2D2D8FD80}"/>
              </a:ext>
            </a:extLst>
          </p:cNvPr>
          <p:cNvGrpSpPr>
            <a:grpSpLocks/>
          </p:cNvGrpSpPr>
          <p:nvPr/>
        </p:nvGrpSpPr>
        <p:grpSpPr bwMode="auto">
          <a:xfrm>
            <a:off x="3471863" y="2432050"/>
            <a:ext cx="2133600" cy="398463"/>
            <a:chOff x="2187" y="1427"/>
            <a:chExt cx="1344" cy="251"/>
          </a:xfrm>
        </p:grpSpPr>
        <p:sp>
          <p:nvSpPr>
            <p:cNvPr id="184421" name="Line 176">
              <a:extLst>
                <a:ext uri="{FF2B5EF4-FFF2-40B4-BE49-F238E27FC236}">
                  <a16:creationId xmlns:a16="http://schemas.microsoft.com/office/drawing/2014/main" id="{2C153AAB-3D66-4293-8E2D-3A54DD2207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87" y="1673"/>
              <a:ext cx="13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4422" name="Text Box 181">
              <a:extLst>
                <a:ext uri="{FF2B5EF4-FFF2-40B4-BE49-F238E27FC236}">
                  <a16:creationId xmlns:a16="http://schemas.microsoft.com/office/drawing/2014/main" id="{91C4BB24-8A04-4DAB-901E-40C3AF93A2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0" y="1543"/>
              <a:ext cx="171" cy="1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000">
                  <a:latin typeface="Symbol" panose="05050102010706020507" pitchFamily="18" charset="2"/>
                </a:rPr>
                <a:t>L</a:t>
              </a:r>
              <a:endParaRPr lang="en-US" altLang="zh-TW" sz="1200">
                <a:latin typeface="Symbol" panose="05050102010706020507" pitchFamily="18" charset="2"/>
              </a:endParaRPr>
            </a:p>
          </p:txBody>
        </p:sp>
        <p:sp>
          <p:nvSpPr>
            <p:cNvPr id="184423" name="Line 182">
              <a:extLst>
                <a:ext uri="{FF2B5EF4-FFF2-40B4-BE49-F238E27FC236}">
                  <a16:creationId xmlns:a16="http://schemas.microsoft.com/office/drawing/2014/main" id="{62AF09DD-30A8-431E-8CF0-BDDD6ADE27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72" y="1554"/>
              <a:ext cx="5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4424" name="Group 183">
              <a:extLst>
                <a:ext uri="{FF2B5EF4-FFF2-40B4-BE49-F238E27FC236}">
                  <a16:creationId xmlns:a16="http://schemas.microsoft.com/office/drawing/2014/main" id="{0F104D98-F814-4E8D-98A6-A47000C9F8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86" y="1427"/>
              <a:ext cx="694" cy="154"/>
              <a:chOff x="2458" y="1450"/>
              <a:chExt cx="694" cy="154"/>
            </a:xfrm>
          </p:grpSpPr>
          <p:sp>
            <p:nvSpPr>
              <p:cNvPr id="184425" name="Text Box 184">
                <a:extLst>
                  <a:ext uri="{FF2B5EF4-FFF2-40B4-BE49-F238E27FC236}">
                    <a16:creationId xmlns:a16="http://schemas.microsoft.com/office/drawing/2014/main" id="{0392FD8E-5040-43EA-8D76-AB77ABA47B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58" y="1450"/>
                <a:ext cx="69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&gt; ssthresh</a:t>
                </a:r>
              </a:p>
            </p:txBody>
          </p:sp>
          <p:sp>
            <p:nvSpPr>
              <p:cNvPr id="184426" name="Line 185">
                <a:extLst>
                  <a:ext uri="{FF2B5EF4-FFF2-40B4-BE49-F238E27FC236}">
                    <a16:creationId xmlns:a16="http://schemas.microsoft.com/office/drawing/2014/main" id="{B819D53D-A475-43C8-B266-AB7484C559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24" y="1557"/>
                <a:ext cx="4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6" name="Group 242">
            <a:extLst>
              <a:ext uri="{FF2B5EF4-FFF2-40B4-BE49-F238E27FC236}">
                <a16:creationId xmlns:a16="http://schemas.microsoft.com/office/drawing/2014/main" id="{FD5F7D5A-6E7D-474D-9749-4B911C262FBF}"/>
              </a:ext>
            </a:extLst>
          </p:cNvPr>
          <p:cNvGrpSpPr>
            <a:grpSpLocks/>
          </p:cNvGrpSpPr>
          <p:nvPr/>
        </p:nvGrpSpPr>
        <p:grpSpPr bwMode="auto">
          <a:xfrm>
            <a:off x="5586413" y="1370013"/>
            <a:ext cx="2682875" cy="2365375"/>
            <a:chOff x="3519" y="786"/>
            <a:chExt cx="1690" cy="1490"/>
          </a:xfrm>
        </p:grpSpPr>
        <p:grpSp>
          <p:nvGrpSpPr>
            <p:cNvPr id="184407" name="Group 164">
              <a:extLst>
                <a:ext uri="{FF2B5EF4-FFF2-40B4-BE49-F238E27FC236}">
                  <a16:creationId xmlns:a16="http://schemas.microsoft.com/office/drawing/2014/main" id="{59D998CB-4C9A-4C55-A640-1EA3873AD9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02" y="1330"/>
              <a:ext cx="817" cy="754"/>
              <a:chOff x="2293" y="2021"/>
              <a:chExt cx="817" cy="754"/>
            </a:xfrm>
          </p:grpSpPr>
          <p:sp>
            <p:nvSpPr>
              <p:cNvPr id="184419" name="Oval 165">
                <a:extLst>
                  <a:ext uri="{FF2B5EF4-FFF2-40B4-BE49-F238E27FC236}">
                    <a16:creationId xmlns:a16="http://schemas.microsoft.com/office/drawing/2014/main" id="{05A76E7A-FFF3-43F5-8209-6EE7A7CFD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93" y="2021"/>
                <a:ext cx="800" cy="754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84420" name="Text Box 166">
                <a:extLst>
                  <a:ext uri="{FF2B5EF4-FFF2-40B4-BE49-F238E27FC236}">
                    <a16:creationId xmlns:a16="http://schemas.microsoft.com/office/drawing/2014/main" id="{A3BCB988-0D77-40B7-B391-F81B97556A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98" y="2191"/>
                <a:ext cx="812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congestion</a:t>
                </a:r>
              </a:p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avoidance </a:t>
                </a:r>
              </a:p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8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84408" name="Group 190">
              <a:extLst>
                <a:ext uri="{FF2B5EF4-FFF2-40B4-BE49-F238E27FC236}">
                  <a16:creationId xmlns:a16="http://schemas.microsoft.com/office/drawing/2014/main" id="{63EB7F53-1AF0-4501-87D2-32B8A05E79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19" y="786"/>
              <a:ext cx="1409" cy="541"/>
              <a:chOff x="3542" y="904"/>
              <a:chExt cx="1409" cy="541"/>
            </a:xfrm>
          </p:grpSpPr>
          <p:sp>
            <p:nvSpPr>
              <p:cNvPr id="184415" name="Text Box 191">
                <a:extLst>
                  <a:ext uri="{FF2B5EF4-FFF2-40B4-BE49-F238E27FC236}">
                    <a16:creationId xmlns:a16="http://schemas.microsoft.com/office/drawing/2014/main" id="{43EF26DE-FD0D-4B5D-87D3-3859B832111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42" y="1037"/>
                <a:ext cx="1409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dirty="0" err="1">
                    <a:latin typeface="Arial" panose="020B0604020202020204" pitchFamily="34" charset="0"/>
                  </a:rPr>
                  <a:t>cwnd</a:t>
                </a:r>
                <a:r>
                  <a:rPr lang="en-US" altLang="zh-TW" sz="1000" dirty="0">
                    <a:latin typeface="Arial" panose="020B0604020202020204" pitchFamily="34" charset="0"/>
                  </a:rPr>
                  <a:t> = </a:t>
                </a:r>
                <a:r>
                  <a:rPr lang="en-US" altLang="zh-TW" sz="1000" dirty="0" err="1">
                    <a:latin typeface="Arial" panose="020B0604020202020204" pitchFamily="34" charset="0"/>
                  </a:rPr>
                  <a:t>cwnd</a:t>
                </a:r>
                <a:r>
                  <a:rPr lang="en-US" altLang="zh-TW" sz="1000" dirty="0">
                    <a:latin typeface="Arial" panose="020B0604020202020204" pitchFamily="34" charset="0"/>
                  </a:rPr>
                  <a:t> + MSS    (MSS/</a:t>
                </a:r>
                <a:r>
                  <a:rPr lang="en-US" altLang="zh-TW" sz="1000" dirty="0" err="1">
                    <a:latin typeface="Arial" panose="020B0604020202020204" pitchFamily="34" charset="0"/>
                  </a:rPr>
                  <a:t>cwnd</a:t>
                </a:r>
                <a:r>
                  <a:rPr lang="en-US" altLang="zh-TW" sz="1000" dirty="0">
                    <a:latin typeface="Arial" panose="020B0604020202020204" pitchFamily="34" charset="0"/>
                  </a:rPr>
                  <a:t>)</a:t>
                </a:r>
              </a:p>
              <a:p>
                <a:pPr algn="ctr" eaLnBrk="1" hangingPunct="1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dirty="0" err="1">
                    <a:latin typeface="Arial" panose="020B0604020202020204" pitchFamily="34" charset="0"/>
                  </a:rPr>
                  <a:t>dupACKcount</a:t>
                </a:r>
                <a:r>
                  <a:rPr lang="en-US" altLang="zh-TW" sz="1000" dirty="0">
                    <a:latin typeface="Arial" panose="020B0604020202020204" pitchFamily="34" charset="0"/>
                  </a:rPr>
                  <a:t> = 0</a:t>
                </a:r>
              </a:p>
              <a:p>
                <a:pPr algn="ctr" eaLnBrk="1" hangingPunct="1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i="1" dirty="0">
                    <a:solidFill>
                      <a:srgbClr val="000099"/>
                    </a:solidFill>
                    <a:latin typeface="Arial" panose="020B0604020202020204" pitchFamily="34" charset="0"/>
                  </a:rPr>
                  <a:t>transmit new segment(s), as allowed</a:t>
                </a:r>
              </a:p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200" i="1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184416" name="Line 192">
                <a:extLst>
                  <a:ext uri="{FF2B5EF4-FFF2-40B4-BE49-F238E27FC236}">
                    <a16:creationId xmlns:a16="http://schemas.microsoft.com/office/drawing/2014/main" id="{55180D45-D176-4917-8B78-8AF685113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6" y="1054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4417" name="Text Box 193">
                <a:extLst>
                  <a:ext uri="{FF2B5EF4-FFF2-40B4-BE49-F238E27FC236}">
                    <a16:creationId xmlns:a16="http://schemas.microsoft.com/office/drawing/2014/main" id="{9A1F0D5A-5E21-4543-ADB0-63B223531B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14" y="923"/>
                <a:ext cx="44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new ACK</a:t>
                </a:r>
              </a:p>
            </p:txBody>
          </p:sp>
          <p:sp>
            <p:nvSpPr>
              <p:cNvPr id="184418" name="Text Box 194">
                <a:extLst>
                  <a:ext uri="{FF2B5EF4-FFF2-40B4-BE49-F238E27FC236}">
                    <a16:creationId xmlns:a16="http://schemas.microsoft.com/office/drawing/2014/main" id="{873E7F1F-8CA1-4D9E-B4F7-12E591ADCD2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11" y="904"/>
                <a:ext cx="16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>
                    <a:latin typeface="Times New Roman" panose="02020603050405020304" pitchFamily="18" charset="0"/>
                  </a:rPr>
                  <a:t>.</a:t>
                </a:r>
              </a:p>
            </p:txBody>
          </p:sp>
        </p:grpSp>
        <p:sp>
          <p:nvSpPr>
            <p:cNvPr id="184409" name="Freeform 195">
              <a:extLst>
                <a:ext uri="{FF2B5EF4-FFF2-40B4-BE49-F238E27FC236}">
                  <a16:creationId xmlns:a16="http://schemas.microsoft.com/office/drawing/2014/main" id="{DC6AB82E-5938-422B-813C-EEAB1A61D393}"/>
                </a:ext>
              </a:extLst>
            </p:cNvPr>
            <p:cNvSpPr>
              <a:spLocks/>
            </p:cNvSpPr>
            <p:nvPr/>
          </p:nvSpPr>
          <p:spPr bwMode="auto">
            <a:xfrm rot="9705213">
              <a:off x="4212" y="1145"/>
              <a:ext cx="333" cy="452"/>
            </a:xfrm>
            <a:custGeom>
              <a:avLst/>
              <a:gdLst>
                <a:gd name="T0" fmla="*/ 4 w 376"/>
                <a:gd name="T1" fmla="*/ 306 h 452"/>
                <a:gd name="T2" fmla="*/ 4 w 376"/>
                <a:gd name="T3" fmla="*/ 269 h 452"/>
                <a:gd name="T4" fmla="*/ 4 w 376"/>
                <a:gd name="T5" fmla="*/ 0 h 452"/>
                <a:gd name="T6" fmla="*/ 0 60000 65536"/>
                <a:gd name="T7" fmla="*/ 0 60000 65536"/>
                <a:gd name="T8" fmla="*/ 0 60000 65536"/>
                <a:gd name="T9" fmla="*/ 0 w 376"/>
                <a:gd name="T10" fmla="*/ 0 h 452"/>
                <a:gd name="T11" fmla="*/ 376 w 376"/>
                <a:gd name="T12" fmla="*/ 452 h 4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76" h="452">
                  <a:moveTo>
                    <a:pt x="376" y="306"/>
                  </a:moveTo>
                  <a:cubicBezTo>
                    <a:pt x="332" y="380"/>
                    <a:pt x="164" y="452"/>
                    <a:pt x="82" y="269"/>
                  </a:cubicBezTo>
                  <a:cubicBezTo>
                    <a:pt x="0" y="86"/>
                    <a:pt x="66" y="18"/>
                    <a:pt x="208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4410" name="Group 196">
              <a:extLst>
                <a:ext uri="{FF2B5EF4-FFF2-40B4-BE49-F238E27FC236}">
                  <a16:creationId xmlns:a16="http://schemas.microsoft.com/office/drawing/2014/main" id="{29E51525-7DCA-4F99-BF2F-99E131F20E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09" y="1909"/>
              <a:ext cx="700" cy="367"/>
              <a:chOff x="4274" y="2922"/>
              <a:chExt cx="700" cy="367"/>
            </a:xfrm>
          </p:grpSpPr>
          <p:sp>
            <p:nvSpPr>
              <p:cNvPr id="184412" name="Text Box 197">
                <a:extLst>
                  <a:ext uri="{FF2B5EF4-FFF2-40B4-BE49-F238E27FC236}">
                    <a16:creationId xmlns:a16="http://schemas.microsoft.com/office/drawing/2014/main" id="{E04530AA-A93C-4D88-9AD5-CCC547D532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274" y="3062"/>
                <a:ext cx="700" cy="2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dupACKcount++</a:t>
                </a:r>
              </a:p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200">
                  <a:latin typeface="Arial" panose="020B0604020202020204" pitchFamily="34" charset="0"/>
                </a:endParaRPr>
              </a:p>
            </p:txBody>
          </p:sp>
          <p:sp>
            <p:nvSpPr>
              <p:cNvPr id="184413" name="Line 198">
                <a:extLst>
                  <a:ext uri="{FF2B5EF4-FFF2-40B4-BE49-F238E27FC236}">
                    <a16:creationId xmlns:a16="http://schemas.microsoft.com/office/drawing/2014/main" id="{403416E3-F6FA-45E0-98B4-D617D96B43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53" y="3071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4414" name="Text Box 199">
                <a:extLst>
                  <a:ext uri="{FF2B5EF4-FFF2-40B4-BE49-F238E27FC236}">
                    <a16:creationId xmlns:a16="http://schemas.microsoft.com/office/drawing/2014/main" id="{2FFA625A-200E-4AF3-84AA-A613388CF7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295" y="2922"/>
                <a:ext cx="62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duplicate ACK</a:t>
                </a:r>
              </a:p>
            </p:txBody>
          </p:sp>
        </p:grpSp>
        <p:sp>
          <p:nvSpPr>
            <p:cNvPr id="184411" name="Freeform 200">
              <a:extLst>
                <a:ext uri="{FF2B5EF4-FFF2-40B4-BE49-F238E27FC236}">
                  <a16:creationId xmlns:a16="http://schemas.microsoft.com/office/drawing/2014/main" id="{B510B5BC-5888-4CEE-A192-E47A3251CEE3}"/>
                </a:ext>
              </a:extLst>
            </p:cNvPr>
            <p:cNvSpPr>
              <a:spLocks/>
            </p:cNvSpPr>
            <p:nvPr/>
          </p:nvSpPr>
          <p:spPr bwMode="auto">
            <a:xfrm rot="-7516021">
              <a:off x="4290" y="1673"/>
              <a:ext cx="333" cy="452"/>
            </a:xfrm>
            <a:custGeom>
              <a:avLst/>
              <a:gdLst>
                <a:gd name="T0" fmla="*/ 4 w 376"/>
                <a:gd name="T1" fmla="*/ 306 h 452"/>
                <a:gd name="T2" fmla="*/ 4 w 376"/>
                <a:gd name="T3" fmla="*/ 269 h 452"/>
                <a:gd name="T4" fmla="*/ 4 w 376"/>
                <a:gd name="T5" fmla="*/ 0 h 452"/>
                <a:gd name="T6" fmla="*/ 0 60000 65536"/>
                <a:gd name="T7" fmla="*/ 0 60000 65536"/>
                <a:gd name="T8" fmla="*/ 0 60000 65536"/>
                <a:gd name="T9" fmla="*/ 0 w 376"/>
                <a:gd name="T10" fmla="*/ 0 h 452"/>
                <a:gd name="T11" fmla="*/ 376 w 376"/>
                <a:gd name="T12" fmla="*/ 452 h 4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76" h="452">
                  <a:moveTo>
                    <a:pt x="376" y="306"/>
                  </a:moveTo>
                  <a:cubicBezTo>
                    <a:pt x="332" y="380"/>
                    <a:pt x="164" y="452"/>
                    <a:pt x="82" y="269"/>
                  </a:cubicBezTo>
                  <a:cubicBezTo>
                    <a:pt x="0" y="86"/>
                    <a:pt x="66" y="18"/>
                    <a:pt x="208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0" name="Group 245">
            <a:extLst>
              <a:ext uri="{FF2B5EF4-FFF2-40B4-BE49-F238E27FC236}">
                <a16:creationId xmlns:a16="http://schemas.microsoft.com/office/drawing/2014/main" id="{9F297AF5-E520-4661-8BB0-1C417FBF13D4}"/>
              </a:ext>
            </a:extLst>
          </p:cNvPr>
          <p:cNvGrpSpPr>
            <a:grpSpLocks/>
          </p:cNvGrpSpPr>
          <p:nvPr/>
        </p:nvGrpSpPr>
        <p:grpSpPr bwMode="auto">
          <a:xfrm>
            <a:off x="4029075" y="4821238"/>
            <a:ext cx="3279775" cy="1717675"/>
            <a:chOff x="2538" y="2960"/>
            <a:chExt cx="2066" cy="1082"/>
          </a:xfrm>
        </p:grpSpPr>
        <p:grpSp>
          <p:nvGrpSpPr>
            <p:cNvPr id="184398" name="Group 167">
              <a:extLst>
                <a:ext uri="{FF2B5EF4-FFF2-40B4-BE49-F238E27FC236}">
                  <a16:creationId xmlns:a16="http://schemas.microsoft.com/office/drawing/2014/main" id="{1859B9CE-3708-46DE-B0BC-CEDD3A0CD07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38" y="2960"/>
              <a:ext cx="800" cy="754"/>
              <a:chOff x="2454" y="3045"/>
              <a:chExt cx="800" cy="754"/>
            </a:xfrm>
          </p:grpSpPr>
          <p:sp>
            <p:nvSpPr>
              <p:cNvPr id="184404" name="Oval 168">
                <a:extLst>
                  <a:ext uri="{FF2B5EF4-FFF2-40B4-BE49-F238E27FC236}">
                    <a16:creationId xmlns:a16="http://schemas.microsoft.com/office/drawing/2014/main" id="{DDEE6AC2-0A67-43A5-9FA2-903A51DF49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54" y="3045"/>
                <a:ext cx="800" cy="754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84405" name="Text Box 169">
                <a:extLst>
                  <a:ext uri="{FF2B5EF4-FFF2-40B4-BE49-F238E27FC236}">
                    <a16:creationId xmlns:a16="http://schemas.microsoft.com/office/drawing/2014/main" id="{ACAE9890-9013-49FA-BF61-865945474A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796" y="3212"/>
                <a:ext cx="156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 </a:t>
                </a:r>
              </a:p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84406" name="Text Box 170">
                <a:extLst>
                  <a:ext uri="{FF2B5EF4-FFF2-40B4-BE49-F238E27FC236}">
                    <a16:creationId xmlns:a16="http://schemas.microsoft.com/office/drawing/2014/main" id="{1C42EDA2-B6F2-4EF8-BE00-EBC9850C1B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10" y="3204"/>
                <a:ext cx="708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fast</a:t>
                </a:r>
              </a:p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recovery </a:t>
                </a:r>
              </a:p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4399" name="Freeform 220">
              <a:extLst>
                <a:ext uri="{FF2B5EF4-FFF2-40B4-BE49-F238E27FC236}">
                  <a16:creationId xmlns:a16="http://schemas.microsoft.com/office/drawing/2014/main" id="{7D7E3D11-F2B0-4867-BE46-96D8203CE562}"/>
                </a:ext>
              </a:extLst>
            </p:cNvPr>
            <p:cNvSpPr>
              <a:spLocks/>
            </p:cNvSpPr>
            <p:nvPr/>
          </p:nvSpPr>
          <p:spPr bwMode="auto">
            <a:xfrm>
              <a:off x="2775" y="3708"/>
              <a:ext cx="384" cy="161"/>
            </a:xfrm>
            <a:custGeom>
              <a:avLst/>
              <a:gdLst>
                <a:gd name="T0" fmla="*/ 317 w 384"/>
                <a:gd name="T1" fmla="*/ 0 h 161"/>
                <a:gd name="T2" fmla="*/ 189 w 384"/>
                <a:gd name="T3" fmla="*/ 155 h 161"/>
                <a:gd name="T4" fmla="*/ 59 w 384"/>
                <a:gd name="T5" fmla="*/ 13 h 161"/>
                <a:gd name="T6" fmla="*/ 0 60000 65536"/>
                <a:gd name="T7" fmla="*/ 0 60000 65536"/>
                <a:gd name="T8" fmla="*/ 0 60000 65536"/>
                <a:gd name="T9" fmla="*/ 0 w 384"/>
                <a:gd name="T10" fmla="*/ 0 h 161"/>
                <a:gd name="T11" fmla="*/ 384 w 384"/>
                <a:gd name="T12" fmla="*/ 161 h 1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84" h="161">
                  <a:moveTo>
                    <a:pt x="317" y="0"/>
                  </a:moveTo>
                  <a:cubicBezTo>
                    <a:pt x="384" y="42"/>
                    <a:pt x="378" y="149"/>
                    <a:pt x="189" y="155"/>
                  </a:cubicBezTo>
                  <a:cubicBezTo>
                    <a:pt x="0" y="161"/>
                    <a:pt x="3" y="87"/>
                    <a:pt x="59" y="1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4400" name="Group 221">
              <a:extLst>
                <a:ext uri="{FF2B5EF4-FFF2-40B4-BE49-F238E27FC236}">
                  <a16:creationId xmlns:a16="http://schemas.microsoft.com/office/drawing/2014/main" id="{8FFAE58C-323B-4664-9CE2-6F53B1D06C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91" y="3592"/>
              <a:ext cx="1413" cy="450"/>
              <a:chOff x="3542" y="3496"/>
              <a:chExt cx="1413" cy="450"/>
            </a:xfrm>
          </p:grpSpPr>
          <p:sp>
            <p:nvSpPr>
              <p:cNvPr id="184401" name="Text Box 222">
                <a:extLst>
                  <a:ext uri="{FF2B5EF4-FFF2-40B4-BE49-F238E27FC236}">
                    <a16:creationId xmlns:a16="http://schemas.microsoft.com/office/drawing/2014/main" id="{1B38B7C1-2549-405C-B85D-A086146FE8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46" y="3632"/>
                <a:ext cx="1409" cy="3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= cwnd + MSS</a:t>
                </a:r>
              </a:p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i="1">
                    <a:solidFill>
                      <a:srgbClr val="000099"/>
                    </a:solidFill>
                    <a:latin typeface="Arial" panose="020B0604020202020204" pitchFamily="34" charset="0"/>
                  </a:rPr>
                  <a:t>transmit new segment(s), as allowed</a:t>
                </a:r>
              </a:p>
              <a:p>
                <a:pPr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200" i="1">
                  <a:solidFill>
                    <a:schemeClr val="bg2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84402" name="Line 223">
                <a:extLst>
                  <a:ext uri="{FF2B5EF4-FFF2-40B4-BE49-F238E27FC236}">
                    <a16:creationId xmlns:a16="http://schemas.microsoft.com/office/drawing/2014/main" id="{34DCCD05-AE39-4B38-B5EC-16605DFEBF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0" y="3645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4403" name="Text Box 224">
                <a:extLst>
                  <a:ext uri="{FF2B5EF4-FFF2-40B4-BE49-F238E27FC236}">
                    <a16:creationId xmlns:a16="http://schemas.microsoft.com/office/drawing/2014/main" id="{23DC8A3E-AE76-40D1-BF0A-03927670F4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42" y="3496"/>
                <a:ext cx="62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duplicate ACK</a:t>
                </a:r>
              </a:p>
            </p:txBody>
          </p:sp>
        </p:grpSp>
      </p:grpSp>
      <p:grpSp>
        <p:nvGrpSpPr>
          <p:cNvPr id="13" name="Group 246">
            <a:extLst>
              <a:ext uri="{FF2B5EF4-FFF2-40B4-BE49-F238E27FC236}">
                <a16:creationId xmlns:a16="http://schemas.microsoft.com/office/drawing/2014/main" id="{3C3CB9F5-9063-4695-A098-E86738219A17}"/>
              </a:ext>
            </a:extLst>
          </p:cNvPr>
          <p:cNvGrpSpPr>
            <a:grpSpLocks/>
          </p:cNvGrpSpPr>
          <p:nvPr/>
        </p:nvGrpSpPr>
        <p:grpSpPr bwMode="auto">
          <a:xfrm>
            <a:off x="928688" y="3502025"/>
            <a:ext cx="3724275" cy="1927225"/>
            <a:chOff x="585" y="2129"/>
            <a:chExt cx="2346" cy="1214"/>
          </a:xfrm>
        </p:grpSpPr>
        <p:grpSp>
          <p:nvGrpSpPr>
            <p:cNvPr id="184388" name="Group 212">
              <a:extLst>
                <a:ext uri="{FF2B5EF4-FFF2-40B4-BE49-F238E27FC236}">
                  <a16:creationId xmlns:a16="http://schemas.microsoft.com/office/drawing/2014/main" id="{57B1ADF4-2804-415A-BBDF-181F4993A8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85" y="2818"/>
              <a:ext cx="1095" cy="525"/>
              <a:chOff x="444" y="2768"/>
              <a:chExt cx="1095" cy="525"/>
            </a:xfrm>
          </p:grpSpPr>
          <p:sp>
            <p:nvSpPr>
              <p:cNvPr id="184395" name="Text Box 213">
                <a:extLst>
                  <a:ext uri="{FF2B5EF4-FFF2-40B4-BE49-F238E27FC236}">
                    <a16:creationId xmlns:a16="http://schemas.microsoft.com/office/drawing/2014/main" id="{4A856FD9-537D-4477-BC67-782533DDAB1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4" y="2912"/>
                <a:ext cx="1091" cy="3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ssthresh= cwnd/2</a:t>
                </a:r>
              </a:p>
              <a:p>
                <a:pPr algn="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= ssthresh + 3</a:t>
                </a:r>
              </a:p>
              <a:p>
                <a:pPr algn="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i="1">
                    <a:solidFill>
                      <a:srgbClr val="000099"/>
                    </a:solidFill>
                    <a:latin typeface="Arial" panose="020B0604020202020204" pitchFamily="34" charset="0"/>
                  </a:rPr>
                  <a:t>retransmit missing segment</a:t>
                </a:r>
              </a:p>
              <a:p>
                <a:pPr algn="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200">
                  <a:solidFill>
                    <a:schemeClr val="bg2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84396" name="Line 214">
                <a:extLst>
                  <a:ext uri="{FF2B5EF4-FFF2-40B4-BE49-F238E27FC236}">
                    <a16:creationId xmlns:a16="http://schemas.microsoft.com/office/drawing/2014/main" id="{F830B961-9B02-414A-9655-063BD5783F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25" y="2913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4397" name="Text Box 215">
                <a:extLst>
                  <a:ext uri="{FF2B5EF4-FFF2-40B4-BE49-F238E27FC236}">
                    <a16:creationId xmlns:a16="http://schemas.microsoft.com/office/drawing/2014/main" id="{56975F04-8420-45ED-9150-25C6BFB8CAC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51" y="2768"/>
                <a:ext cx="78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 == 3</a:t>
                </a:r>
              </a:p>
            </p:txBody>
          </p:sp>
        </p:grpSp>
        <p:grpSp>
          <p:nvGrpSpPr>
            <p:cNvPr id="184389" name="Group 216">
              <a:extLst>
                <a:ext uri="{FF2B5EF4-FFF2-40B4-BE49-F238E27FC236}">
                  <a16:creationId xmlns:a16="http://schemas.microsoft.com/office/drawing/2014/main" id="{3BF884FB-9660-4F1F-AA1D-44BCC8F4B8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13" y="2454"/>
              <a:ext cx="1118" cy="519"/>
              <a:chOff x="419" y="2872"/>
              <a:chExt cx="1118" cy="519"/>
            </a:xfrm>
          </p:grpSpPr>
          <p:sp>
            <p:nvSpPr>
              <p:cNvPr id="184392" name="Text Box 217">
                <a:extLst>
                  <a:ext uri="{FF2B5EF4-FFF2-40B4-BE49-F238E27FC236}">
                    <a16:creationId xmlns:a16="http://schemas.microsoft.com/office/drawing/2014/main" id="{4CC8EB58-4009-4B3B-AACD-658A2A39D40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9" y="2872"/>
                <a:ext cx="377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timeout</a:t>
                </a:r>
              </a:p>
            </p:txBody>
          </p:sp>
          <p:sp>
            <p:nvSpPr>
              <p:cNvPr id="184393" name="Text Box 218">
                <a:extLst>
                  <a:ext uri="{FF2B5EF4-FFF2-40B4-BE49-F238E27FC236}">
                    <a16:creationId xmlns:a16="http://schemas.microsoft.com/office/drawing/2014/main" id="{1D3AA05E-A577-40CA-BD1C-55AE57AE33F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9" y="2989"/>
                <a:ext cx="1118" cy="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ssthresh = cwnd/2</a:t>
                </a:r>
              </a:p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= 1 </a:t>
                </a:r>
              </a:p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 = 0</a:t>
                </a:r>
              </a:p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i="1">
                    <a:solidFill>
                      <a:srgbClr val="000099"/>
                    </a:solidFill>
                    <a:latin typeface="Arial" panose="020B0604020202020204" pitchFamily="34" charset="0"/>
                  </a:rPr>
                  <a:t>retransmit missing segment</a:t>
                </a:r>
                <a:r>
                  <a:rPr lang="en-US" altLang="zh-TW" sz="1200">
                    <a:latin typeface="Arial" panose="020B0604020202020204" pitchFamily="34" charset="0"/>
                  </a:rPr>
                  <a:t> </a:t>
                </a:r>
              </a:p>
            </p:txBody>
          </p:sp>
          <p:sp>
            <p:nvSpPr>
              <p:cNvPr id="184394" name="Line 219">
                <a:extLst>
                  <a:ext uri="{FF2B5EF4-FFF2-40B4-BE49-F238E27FC236}">
                    <a16:creationId xmlns:a16="http://schemas.microsoft.com/office/drawing/2014/main" id="{BFF6C08C-2EAA-4815-9BEB-7FB524F35D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71" y="3014"/>
                <a:ext cx="69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84390" name="Freeform 225">
              <a:extLst>
                <a:ext uri="{FF2B5EF4-FFF2-40B4-BE49-F238E27FC236}">
                  <a16:creationId xmlns:a16="http://schemas.microsoft.com/office/drawing/2014/main" id="{C8F54E1E-0166-48A9-80C7-E03844829F9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2" y="2129"/>
              <a:ext cx="740" cy="1146"/>
            </a:xfrm>
            <a:custGeom>
              <a:avLst/>
              <a:gdLst>
                <a:gd name="T0" fmla="*/ 0 w 740"/>
                <a:gd name="T1" fmla="*/ 0 h 1146"/>
                <a:gd name="T2" fmla="*/ 0 w 740"/>
                <a:gd name="T3" fmla="*/ 1146 h 1146"/>
                <a:gd name="T4" fmla="*/ 740 w 740"/>
                <a:gd name="T5" fmla="*/ 1146 h 1146"/>
                <a:gd name="T6" fmla="*/ 0 60000 65536"/>
                <a:gd name="T7" fmla="*/ 0 60000 65536"/>
                <a:gd name="T8" fmla="*/ 0 60000 65536"/>
                <a:gd name="T9" fmla="*/ 0 w 740"/>
                <a:gd name="T10" fmla="*/ 0 h 1146"/>
                <a:gd name="T11" fmla="*/ 740 w 740"/>
                <a:gd name="T12" fmla="*/ 1146 h 114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40" h="1146">
                  <a:moveTo>
                    <a:pt x="0" y="0"/>
                  </a:moveTo>
                  <a:lnTo>
                    <a:pt x="0" y="1146"/>
                  </a:lnTo>
                  <a:lnTo>
                    <a:pt x="740" y="114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4391" name="Freeform 226">
              <a:extLst>
                <a:ext uri="{FF2B5EF4-FFF2-40B4-BE49-F238E27FC236}">
                  <a16:creationId xmlns:a16="http://schemas.microsoft.com/office/drawing/2014/main" id="{0295D37F-C732-414B-98C9-88A5AD3D38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1" y="2146"/>
              <a:ext cx="700" cy="1051"/>
            </a:xfrm>
            <a:custGeom>
              <a:avLst/>
              <a:gdLst>
                <a:gd name="T0" fmla="*/ 700 w 700"/>
                <a:gd name="T1" fmla="*/ 1051 h 1051"/>
                <a:gd name="T2" fmla="*/ 0 w 700"/>
                <a:gd name="T3" fmla="*/ 1051 h 1051"/>
                <a:gd name="T4" fmla="*/ 0 w 700"/>
                <a:gd name="T5" fmla="*/ 0 h 1051"/>
                <a:gd name="T6" fmla="*/ 0 60000 65536"/>
                <a:gd name="T7" fmla="*/ 0 60000 65536"/>
                <a:gd name="T8" fmla="*/ 0 60000 65536"/>
                <a:gd name="T9" fmla="*/ 0 w 700"/>
                <a:gd name="T10" fmla="*/ 0 h 1051"/>
                <a:gd name="T11" fmla="*/ 700 w 700"/>
                <a:gd name="T12" fmla="*/ 1051 h 105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00" h="1051">
                  <a:moveTo>
                    <a:pt x="700" y="1051"/>
                  </a:moveTo>
                  <a:lnTo>
                    <a:pt x="0" y="105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6" name="Group 244">
            <a:extLst>
              <a:ext uri="{FF2B5EF4-FFF2-40B4-BE49-F238E27FC236}">
                <a16:creationId xmlns:a16="http://schemas.microsoft.com/office/drawing/2014/main" id="{6657AD34-633E-419F-890C-2C2A3DDB7207}"/>
              </a:ext>
            </a:extLst>
          </p:cNvPr>
          <p:cNvGrpSpPr>
            <a:grpSpLocks/>
          </p:cNvGrpSpPr>
          <p:nvPr/>
        </p:nvGrpSpPr>
        <p:grpSpPr bwMode="auto">
          <a:xfrm>
            <a:off x="5351463" y="3494088"/>
            <a:ext cx="2921000" cy="1916112"/>
            <a:chOff x="3371" y="2124"/>
            <a:chExt cx="1840" cy="1207"/>
          </a:xfrm>
        </p:grpSpPr>
        <p:grpSp>
          <p:nvGrpSpPr>
            <p:cNvPr id="184383" name="Group 201">
              <a:extLst>
                <a:ext uri="{FF2B5EF4-FFF2-40B4-BE49-F238E27FC236}">
                  <a16:creationId xmlns:a16="http://schemas.microsoft.com/office/drawing/2014/main" id="{D5E0BF57-7BA7-43D0-A68E-CDAD018A0F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20" y="2796"/>
              <a:ext cx="1091" cy="535"/>
              <a:chOff x="4142" y="2802"/>
              <a:chExt cx="1091" cy="535"/>
            </a:xfrm>
          </p:grpSpPr>
          <p:sp>
            <p:nvSpPr>
              <p:cNvPr id="184385" name="Text Box 202">
                <a:extLst>
                  <a:ext uri="{FF2B5EF4-FFF2-40B4-BE49-F238E27FC236}">
                    <a16:creationId xmlns:a16="http://schemas.microsoft.com/office/drawing/2014/main" id="{7858C97E-E720-4128-A64E-22575688204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42" y="2956"/>
                <a:ext cx="1091" cy="3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ssthresh= cwnd/2</a:t>
                </a:r>
              </a:p>
              <a:p>
                <a:pPr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= ssthresh + 3</a:t>
                </a:r>
              </a:p>
              <a:p>
                <a:pPr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i="1">
                    <a:solidFill>
                      <a:srgbClr val="000099"/>
                    </a:solidFill>
                    <a:latin typeface="Arial" panose="020B0604020202020204" pitchFamily="34" charset="0"/>
                  </a:rPr>
                  <a:t>retransmit missing segment</a:t>
                </a:r>
              </a:p>
              <a:p>
                <a:pPr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200" i="1">
                  <a:latin typeface="Arial" panose="020B0604020202020204" pitchFamily="34" charset="0"/>
                </a:endParaRPr>
              </a:p>
            </p:txBody>
          </p:sp>
          <p:sp>
            <p:nvSpPr>
              <p:cNvPr id="184386" name="Line 203">
                <a:extLst>
                  <a:ext uri="{FF2B5EF4-FFF2-40B4-BE49-F238E27FC236}">
                    <a16:creationId xmlns:a16="http://schemas.microsoft.com/office/drawing/2014/main" id="{1C8BC250-6777-4588-B292-72BA0D2728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11" y="2950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4387" name="Text Box 204">
                <a:extLst>
                  <a:ext uri="{FF2B5EF4-FFF2-40B4-BE49-F238E27FC236}">
                    <a16:creationId xmlns:a16="http://schemas.microsoft.com/office/drawing/2014/main" id="{DFB4055E-70D9-4987-9433-E7B5EA9527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54" y="2802"/>
                <a:ext cx="78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 == 3</a:t>
                </a:r>
              </a:p>
            </p:txBody>
          </p:sp>
        </p:grpSp>
        <p:sp>
          <p:nvSpPr>
            <p:cNvPr id="184384" name="Freeform 227">
              <a:extLst>
                <a:ext uri="{FF2B5EF4-FFF2-40B4-BE49-F238E27FC236}">
                  <a16:creationId xmlns:a16="http://schemas.microsoft.com/office/drawing/2014/main" id="{41C9F52B-A809-4481-B9BB-1667A02A78D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371" y="2124"/>
              <a:ext cx="740" cy="1146"/>
            </a:xfrm>
            <a:custGeom>
              <a:avLst/>
              <a:gdLst>
                <a:gd name="T0" fmla="*/ 0 w 740"/>
                <a:gd name="T1" fmla="*/ 0 h 1146"/>
                <a:gd name="T2" fmla="*/ 0 w 740"/>
                <a:gd name="T3" fmla="*/ 1146 h 1146"/>
                <a:gd name="T4" fmla="*/ 740 w 740"/>
                <a:gd name="T5" fmla="*/ 1146 h 1146"/>
                <a:gd name="T6" fmla="*/ 0 60000 65536"/>
                <a:gd name="T7" fmla="*/ 0 60000 65536"/>
                <a:gd name="T8" fmla="*/ 0 60000 65536"/>
                <a:gd name="T9" fmla="*/ 0 w 740"/>
                <a:gd name="T10" fmla="*/ 0 h 1146"/>
                <a:gd name="T11" fmla="*/ 740 w 740"/>
                <a:gd name="T12" fmla="*/ 1146 h 114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40" h="1146">
                  <a:moveTo>
                    <a:pt x="0" y="0"/>
                  </a:moveTo>
                  <a:lnTo>
                    <a:pt x="0" y="1146"/>
                  </a:lnTo>
                  <a:lnTo>
                    <a:pt x="740" y="114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8" name="Group 243">
            <a:extLst>
              <a:ext uri="{FF2B5EF4-FFF2-40B4-BE49-F238E27FC236}">
                <a16:creationId xmlns:a16="http://schemas.microsoft.com/office/drawing/2014/main" id="{0B69A439-5A4C-43E0-893F-D7263E929276}"/>
              </a:ext>
            </a:extLst>
          </p:cNvPr>
          <p:cNvGrpSpPr>
            <a:grpSpLocks/>
          </p:cNvGrpSpPr>
          <p:nvPr/>
        </p:nvGrpSpPr>
        <p:grpSpPr bwMode="auto">
          <a:xfrm>
            <a:off x="5186363" y="3519488"/>
            <a:ext cx="1206500" cy="1668462"/>
            <a:chOff x="3267" y="2140"/>
            <a:chExt cx="760" cy="1051"/>
          </a:xfrm>
        </p:grpSpPr>
        <p:sp>
          <p:nvSpPr>
            <p:cNvPr id="184377" name="Freeform 228">
              <a:extLst>
                <a:ext uri="{FF2B5EF4-FFF2-40B4-BE49-F238E27FC236}">
                  <a16:creationId xmlns:a16="http://schemas.microsoft.com/office/drawing/2014/main" id="{E6BBE42B-E0FC-422D-93C1-E3B6F49848C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327" y="2140"/>
              <a:ext cx="700" cy="1051"/>
            </a:xfrm>
            <a:custGeom>
              <a:avLst/>
              <a:gdLst>
                <a:gd name="T0" fmla="*/ 700 w 700"/>
                <a:gd name="T1" fmla="*/ 1051 h 1051"/>
                <a:gd name="T2" fmla="*/ 0 w 700"/>
                <a:gd name="T3" fmla="*/ 1051 h 1051"/>
                <a:gd name="T4" fmla="*/ 0 w 700"/>
                <a:gd name="T5" fmla="*/ 0 h 1051"/>
                <a:gd name="T6" fmla="*/ 0 60000 65536"/>
                <a:gd name="T7" fmla="*/ 0 60000 65536"/>
                <a:gd name="T8" fmla="*/ 0 60000 65536"/>
                <a:gd name="T9" fmla="*/ 0 w 700"/>
                <a:gd name="T10" fmla="*/ 0 h 1051"/>
                <a:gd name="T11" fmla="*/ 700 w 700"/>
                <a:gd name="T12" fmla="*/ 1051 h 105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00" h="1051">
                  <a:moveTo>
                    <a:pt x="700" y="1051"/>
                  </a:moveTo>
                  <a:lnTo>
                    <a:pt x="0" y="1051"/>
                  </a:lnTo>
                  <a:lnTo>
                    <a:pt x="0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4378" name="Group 229">
              <a:extLst>
                <a:ext uri="{FF2B5EF4-FFF2-40B4-BE49-F238E27FC236}">
                  <a16:creationId xmlns:a16="http://schemas.microsoft.com/office/drawing/2014/main" id="{8E5E27B2-5CEB-4E77-A624-C5482FAD8F1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67" y="2649"/>
              <a:ext cx="741" cy="525"/>
              <a:chOff x="1059" y="3496"/>
              <a:chExt cx="741" cy="525"/>
            </a:xfrm>
          </p:grpSpPr>
          <p:sp>
            <p:nvSpPr>
              <p:cNvPr id="184379" name="Text Box 230">
                <a:extLst>
                  <a:ext uri="{FF2B5EF4-FFF2-40B4-BE49-F238E27FC236}">
                    <a16:creationId xmlns:a16="http://schemas.microsoft.com/office/drawing/2014/main" id="{48CB7BB0-8B73-4EA6-8022-4E15B6DF94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59" y="3640"/>
                <a:ext cx="741" cy="3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= ssthresh</a:t>
                </a:r>
              </a:p>
              <a:p>
                <a:pPr algn="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 = 0</a:t>
                </a:r>
              </a:p>
              <a:p>
                <a:pPr algn="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200">
                  <a:latin typeface="Arial" panose="020B0604020202020204" pitchFamily="34" charset="0"/>
                </a:endParaRPr>
              </a:p>
            </p:txBody>
          </p:sp>
          <p:grpSp>
            <p:nvGrpSpPr>
              <p:cNvPr id="184380" name="Group 231">
                <a:extLst>
                  <a:ext uri="{FF2B5EF4-FFF2-40B4-BE49-F238E27FC236}">
                    <a16:creationId xmlns:a16="http://schemas.microsoft.com/office/drawing/2014/main" id="{450FC8D6-4C46-4038-92B1-36132930534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90" y="3496"/>
                <a:ext cx="582" cy="154"/>
                <a:chOff x="1190" y="3496"/>
                <a:chExt cx="582" cy="154"/>
              </a:xfrm>
            </p:grpSpPr>
            <p:sp>
              <p:nvSpPr>
                <p:cNvPr id="184381" name="Line 232">
                  <a:extLst>
                    <a:ext uri="{FF2B5EF4-FFF2-40B4-BE49-F238E27FC236}">
                      <a16:creationId xmlns:a16="http://schemas.microsoft.com/office/drawing/2014/main" id="{77BF4F3F-7FBC-4A82-B197-1FB6DF42410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90" y="3641"/>
                  <a:ext cx="535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84382" name="Text Box 233">
                  <a:extLst>
                    <a:ext uri="{FF2B5EF4-FFF2-40B4-BE49-F238E27FC236}">
                      <a16:creationId xmlns:a16="http://schemas.microsoft.com/office/drawing/2014/main" id="{9111C14D-48AF-4B4D-8776-E6F8957E1D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10" y="3496"/>
                  <a:ext cx="462" cy="1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TW" sz="1000">
                      <a:latin typeface="Arial" panose="020B0604020202020204" pitchFamily="34" charset="0"/>
                    </a:rPr>
                    <a:t>New ACK</a:t>
                  </a:r>
                </a:p>
              </p:txBody>
            </p:sp>
          </p:grpSp>
        </p:grpSp>
      </p:grpSp>
      <p:grpSp>
        <p:nvGrpSpPr>
          <p:cNvPr id="21" name="Group 241">
            <a:extLst>
              <a:ext uri="{FF2B5EF4-FFF2-40B4-BE49-F238E27FC236}">
                <a16:creationId xmlns:a16="http://schemas.microsoft.com/office/drawing/2014/main" id="{72337117-6508-4D1C-8A44-63A158F6F2CD}"/>
              </a:ext>
            </a:extLst>
          </p:cNvPr>
          <p:cNvGrpSpPr>
            <a:grpSpLocks/>
          </p:cNvGrpSpPr>
          <p:nvPr/>
        </p:nvGrpSpPr>
        <p:grpSpPr bwMode="auto">
          <a:xfrm>
            <a:off x="820738" y="1485900"/>
            <a:ext cx="4865687" cy="2659063"/>
            <a:chOff x="517" y="859"/>
            <a:chExt cx="3065" cy="1675"/>
          </a:xfrm>
        </p:grpSpPr>
        <p:grpSp>
          <p:nvGrpSpPr>
            <p:cNvPr id="184354" name="Group 161">
              <a:extLst>
                <a:ext uri="{FF2B5EF4-FFF2-40B4-BE49-F238E27FC236}">
                  <a16:creationId xmlns:a16="http://schemas.microsoft.com/office/drawing/2014/main" id="{88BC5173-E696-4BE4-9DAA-4DF07C2760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9" y="1320"/>
              <a:ext cx="800" cy="754"/>
              <a:chOff x="996" y="1773"/>
              <a:chExt cx="800" cy="754"/>
            </a:xfrm>
          </p:grpSpPr>
          <p:sp>
            <p:nvSpPr>
              <p:cNvPr id="184375" name="Oval 162">
                <a:extLst>
                  <a:ext uri="{FF2B5EF4-FFF2-40B4-BE49-F238E27FC236}">
                    <a16:creationId xmlns:a16="http://schemas.microsoft.com/office/drawing/2014/main" id="{243C8F4C-A43B-491A-A831-F69649084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6" y="1773"/>
                <a:ext cx="800" cy="754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latin typeface="Tahoma" panose="020B0604030504040204" pitchFamily="34" charset="0"/>
                </a:endParaRPr>
              </a:p>
            </p:txBody>
          </p:sp>
          <p:sp>
            <p:nvSpPr>
              <p:cNvPr id="184376" name="Text Box 163">
                <a:extLst>
                  <a:ext uri="{FF2B5EF4-FFF2-40B4-BE49-F238E27FC236}">
                    <a16:creationId xmlns:a16="http://schemas.microsoft.com/office/drawing/2014/main" id="{5C0D369B-912C-421D-87DD-4364B14E235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79" y="1946"/>
                <a:ext cx="444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slow </a:t>
                </a:r>
              </a:p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start</a:t>
                </a:r>
              </a:p>
            </p:txBody>
          </p:sp>
        </p:grpSp>
        <p:grpSp>
          <p:nvGrpSpPr>
            <p:cNvPr id="184355" name="Group 177">
              <a:extLst>
                <a:ext uri="{FF2B5EF4-FFF2-40B4-BE49-F238E27FC236}">
                  <a16:creationId xmlns:a16="http://schemas.microsoft.com/office/drawing/2014/main" id="{4BD48CF7-3D32-4E86-BB80-A14B43E898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0" y="2026"/>
              <a:ext cx="1118" cy="508"/>
              <a:chOff x="418" y="2713"/>
              <a:chExt cx="1118" cy="508"/>
            </a:xfrm>
          </p:grpSpPr>
          <p:sp>
            <p:nvSpPr>
              <p:cNvPr id="184372" name="Text Box 178">
                <a:extLst>
                  <a:ext uri="{FF2B5EF4-FFF2-40B4-BE49-F238E27FC236}">
                    <a16:creationId xmlns:a16="http://schemas.microsoft.com/office/drawing/2014/main" id="{A085FE4C-643F-4C7A-A692-255936948E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77" y="2713"/>
                <a:ext cx="377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timeout</a:t>
                </a:r>
              </a:p>
            </p:txBody>
          </p:sp>
          <p:sp>
            <p:nvSpPr>
              <p:cNvPr id="184373" name="Text Box 179">
                <a:extLst>
                  <a:ext uri="{FF2B5EF4-FFF2-40B4-BE49-F238E27FC236}">
                    <a16:creationId xmlns:a16="http://schemas.microsoft.com/office/drawing/2014/main" id="{CD921D9C-4348-446B-8B88-B5DD5FB764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8" y="2840"/>
                <a:ext cx="1118" cy="3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ssthresh = cwnd/2 </a:t>
                </a:r>
              </a:p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= 1 MSS</a:t>
                </a:r>
              </a:p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 = 0</a:t>
                </a:r>
              </a:p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i="1">
                    <a:solidFill>
                      <a:srgbClr val="000099"/>
                    </a:solidFill>
                    <a:latin typeface="Arial" panose="020B0604020202020204" pitchFamily="34" charset="0"/>
                  </a:rPr>
                  <a:t>retransmit missing segment</a:t>
                </a:r>
                <a:r>
                  <a:rPr lang="en-US" altLang="zh-TW" sz="1200">
                    <a:latin typeface="Arial" panose="020B0604020202020204" pitchFamily="34" charset="0"/>
                  </a:rPr>
                  <a:t> </a:t>
                </a:r>
              </a:p>
            </p:txBody>
          </p:sp>
          <p:sp>
            <p:nvSpPr>
              <p:cNvPr id="184374" name="Line 180">
                <a:extLst>
                  <a:ext uri="{FF2B5EF4-FFF2-40B4-BE49-F238E27FC236}">
                    <a16:creationId xmlns:a16="http://schemas.microsoft.com/office/drawing/2014/main" id="{62BEAFC4-B2F6-40A5-A90C-CB48122831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09" y="2855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84356" name="Group 186">
              <a:extLst>
                <a:ext uri="{FF2B5EF4-FFF2-40B4-BE49-F238E27FC236}">
                  <a16:creationId xmlns:a16="http://schemas.microsoft.com/office/drawing/2014/main" id="{2B2587E9-2E5A-44CD-8672-3D425D58F2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73" y="960"/>
              <a:ext cx="1409" cy="527"/>
              <a:chOff x="2683" y="798"/>
              <a:chExt cx="1409" cy="527"/>
            </a:xfrm>
          </p:grpSpPr>
          <p:sp>
            <p:nvSpPr>
              <p:cNvPr id="184369" name="Text Box 187">
                <a:extLst>
                  <a:ext uri="{FF2B5EF4-FFF2-40B4-BE49-F238E27FC236}">
                    <a16:creationId xmlns:a16="http://schemas.microsoft.com/office/drawing/2014/main" id="{7AA7C878-E3AD-4164-8543-672D5AD93F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83" y="917"/>
                <a:ext cx="1409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dirty="0" err="1">
                    <a:latin typeface="Arial" panose="020B0604020202020204" pitchFamily="34" charset="0"/>
                  </a:rPr>
                  <a:t>cwnd</a:t>
                </a:r>
                <a:r>
                  <a:rPr lang="en-US" altLang="zh-TW" sz="1000" dirty="0">
                    <a:latin typeface="Arial" panose="020B0604020202020204" pitchFamily="34" charset="0"/>
                  </a:rPr>
                  <a:t> = </a:t>
                </a:r>
                <a:r>
                  <a:rPr lang="en-US" altLang="zh-TW" sz="1000" dirty="0" err="1">
                    <a:latin typeface="Arial" panose="020B0604020202020204" pitchFamily="34" charset="0"/>
                  </a:rPr>
                  <a:t>cwnd+MSS</a:t>
                </a:r>
                <a:endParaRPr lang="en-US" altLang="zh-TW" sz="1000" dirty="0">
                  <a:latin typeface="Arial" panose="020B0604020202020204" pitchFamily="34" charset="0"/>
                </a:endParaRPr>
              </a:p>
              <a:p>
                <a:pPr eaLnBrk="1" hangingPunct="1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dirty="0" err="1">
                    <a:latin typeface="Arial" panose="020B0604020202020204" pitchFamily="34" charset="0"/>
                  </a:rPr>
                  <a:t>dupACKcount</a:t>
                </a:r>
                <a:r>
                  <a:rPr lang="en-US" altLang="zh-TW" sz="1000" dirty="0">
                    <a:latin typeface="Arial" panose="020B0604020202020204" pitchFamily="34" charset="0"/>
                  </a:rPr>
                  <a:t> = 0</a:t>
                </a:r>
              </a:p>
              <a:p>
                <a:pPr eaLnBrk="1" hangingPunct="1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 i="1" dirty="0">
                    <a:solidFill>
                      <a:srgbClr val="000099"/>
                    </a:solidFill>
                    <a:latin typeface="Arial" panose="020B0604020202020204" pitchFamily="34" charset="0"/>
                  </a:rPr>
                  <a:t>transmit new segment(s), as allowed</a:t>
                </a:r>
              </a:p>
              <a:p>
                <a:pPr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2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184370" name="Line 188">
                <a:extLst>
                  <a:ext uri="{FF2B5EF4-FFF2-40B4-BE49-F238E27FC236}">
                    <a16:creationId xmlns:a16="http://schemas.microsoft.com/office/drawing/2014/main" id="{A41FAEA1-B652-4CD1-A3C4-FCA508CBF7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44" y="934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4371" name="Text Box 189">
                <a:extLst>
                  <a:ext uri="{FF2B5EF4-FFF2-40B4-BE49-F238E27FC236}">
                    <a16:creationId xmlns:a16="http://schemas.microsoft.com/office/drawing/2014/main" id="{3C85424B-D445-48C1-A129-CCCACA55E63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97" y="798"/>
                <a:ext cx="44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new ACK</a:t>
                </a:r>
              </a:p>
            </p:txBody>
          </p:sp>
        </p:grpSp>
        <p:sp>
          <p:nvSpPr>
            <p:cNvPr id="184357" name="Freeform 205">
              <a:extLst>
                <a:ext uri="{FF2B5EF4-FFF2-40B4-BE49-F238E27FC236}">
                  <a16:creationId xmlns:a16="http://schemas.microsoft.com/office/drawing/2014/main" id="{992B1224-FBA7-45AA-A68E-1439E237CF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" y="1129"/>
              <a:ext cx="313" cy="201"/>
            </a:xfrm>
            <a:custGeom>
              <a:avLst/>
              <a:gdLst>
                <a:gd name="T0" fmla="*/ 25 w 313"/>
                <a:gd name="T1" fmla="*/ 169 h 201"/>
                <a:gd name="T2" fmla="*/ 153 w 313"/>
                <a:gd name="T3" fmla="*/ 7 h 201"/>
                <a:gd name="T4" fmla="*/ 258 w 313"/>
                <a:gd name="T5" fmla="*/ 201 h 201"/>
                <a:gd name="T6" fmla="*/ 0 60000 65536"/>
                <a:gd name="T7" fmla="*/ 0 60000 65536"/>
                <a:gd name="T8" fmla="*/ 0 60000 65536"/>
                <a:gd name="T9" fmla="*/ 0 w 313"/>
                <a:gd name="T10" fmla="*/ 0 h 201"/>
                <a:gd name="T11" fmla="*/ 313 w 313"/>
                <a:gd name="T12" fmla="*/ 201 h 20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13" h="201">
                  <a:moveTo>
                    <a:pt x="25" y="169"/>
                  </a:moveTo>
                  <a:cubicBezTo>
                    <a:pt x="0" y="108"/>
                    <a:pt x="5" y="0"/>
                    <a:pt x="153" y="7"/>
                  </a:cubicBezTo>
                  <a:cubicBezTo>
                    <a:pt x="302" y="12"/>
                    <a:pt x="313" y="87"/>
                    <a:pt x="258" y="201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4358" name="Freeform 206">
              <a:extLst>
                <a:ext uri="{FF2B5EF4-FFF2-40B4-BE49-F238E27FC236}">
                  <a16:creationId xmlns:a16="http://schemas.microsoft.com/office/drawing/2014/main" id="{5304045C-B948-4A1C-912D-5239CD962407}"/>
                </a:ext>
              </a:extLst>
            </p:cNvPr>
            <p:cNvSpPr>
              <a:spLocks/>
            </p:cNvSpPr>
            <p:nvPr/>
          </p:nvSpPr>
          <p:spPr bwMode="auto">
            <a:xfrm rot="2575893">
              <a:off x="1950" y="1316"/>
              <a:ext cx="313" cy="201"/>
            </a:xfrm>
            <a:custGeom>
              <a:avLst/>
              <a:gdLst>
                <a:gd name="T0" fmla="*/ 25 w 313"/>
                <a:gd name="T1" fmla="*/ 169 h 201"/>
                <a:gd name="T2" fmla="*/ 153 w 313"/>
                <a:gd name="T3" fmla="*/ 7 h 201"/>
                <a:gd name="T4" fmla="*/ 258 w 313"/>
                <a:gd name="T5" fmla="*/ 201 h 201"/>
                <a:gd name="T6" fmla="*/ 0 60000 65536"/>
                <a:gd name="T7" fmla="*/ 0 60000 65536"/>
                <a:gd name="T8" fmla="*/ 0 60000 65536"/>
                <a:gd name="T9" fmla="*/ 0 w 313"/>
                <a:gd name="T10" fmla="*/ 0 h 201"/>
                <a:gd name="T11" fmla="*/ 313 w 313"/>
                <a:gd name="T12" fmla="*/ 201 h 20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13" h="201">
                  <a:moveTo>
                    <a:pt x="25" y="169"/>
                  </a:moveTo>
                  <a:cubicBezTo>
                    <a:pt x="0" y="108"/>
                    <a:pt x="5" y="0"/>
                    <a:pt x="153" y="7"/>
                  </a:cubicBezTo>
                  <a:cubicBezTo>
                    <a:pt x="302" y="12"/>
                    <a:pt x="313" y="87"/>
                    <a:pt x="258" y="201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4359" name="Group 207">
              <a:extLst>
                <a:ext uri="{FF2B5EF4-FFF2-40B4-BE49-F238E27FC236}">
                  <a16:creationId xmlns:a16="http://schemas.microsoft.com/office/drawing/2014/main" id="{3137AA50-29C8-4336-BA19-C00F79CED2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65" y="859"/>
              <a:ext cx="700" cy="367"/>
              <a:chOff x="4274" y="2922"/>
              <a:chExt cx="700" cy="367"/>
            </a:xfrm>
          </p:grpSpPr>
          <p:sp>
            <p:nvSpPr>
              <p:cNvPr id="184366" name="Text Box 208">
                <a:extLst>
                  <a:ext uri="{FF2B5EF4-FFF2-40B4-BE49-F238E27FC236}">
                    <a16:creationId xmlns:a16="http://schemas.microsoft.com/office/drawing/2014/main" id="{FBA73F25-8731-4461-BE70-F85681D115C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274" y="3062"/>
                <a:ext cx="700" cy="2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dupACKcount++</a:t>
                </a:r>
              </a:p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200">
                  <a:latin typeface="Arial" panose="020B0604020202020204" pitchFamily="34" charset="0"/>
                </a:endParaRPr>
              </a:p>
            </p:txBody>
          </p:sp>
          <p:sp>
            <p:nvSpPr>
              <p:cNvPr id="184367" name="Line 209">
                <a:extLst>
                  <a:ext uri="{FF2B5EF4-FFF2-40B4-BE49-F238E27FC236}">
                    <a16:creationId xmlns:a16="http://schemas.microsoft.com/office/drawing/2014/main" id="{9D7E80F8-E05F-41B2-848E-0866B7FE18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53" y="3071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4368" name="Text Box 210">
                <a:extLst>
                  <a:ext uri="{FF2B5EF4-FFF2-40B4-BE49-F238E27FC236}">
                    <a16:creationId xmlns:a16="http://schemas.microsoft.com/office/drawing/2014/main" id="{EC5EA464-D7EF-447E-9C30-9238DB2BAD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295" y="2922"/>
                <a:ext cx="62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duplicate ACK</a:t>
                </a:r>
              </a:p>
            </p:txBody>
          </p:sp>
        </p:grpSp>
        <p:sp>
          <p:nvSpPr>
            <p:cNvPr id="184360" name="Freeform 211">
              <a:extLst>
                <a:ext uri="{FF2B5EF4-FFF2-40B4-BE49-F238E27FC236}">
                  <a16:creationId xmlns:a16="http://schemas.microsoft.com/office/drawing/2014/main" id="{4E276973-841D-4D75-8B97-DC500CBFA375}"/>
                </a:ext>
              </a:extLst>
            </p:cNvPr>
            <p:cNvSpPr>
              <a:spLocks/>
            </p:cNvSpPr>
            <p:nvPr/>
          </p:nvSpPr>
          <p:spPr bwMode="auto">
            <a:xfrm rot="-8222029">
              <a:off x="1204" y="1903"/>
              <a:ext cx="313" cy="201"/>
            </a:xfrm>
            <a:custGeom>
              <a:avLst/>
              <a:gdLst>
                <a:gd name="T0" fmla="*/ 25 w 313"/>
                <a:gd name="T1" fmla="*/ 169 h 201"/>
                <a:gd name="T2" fmla="*/ 153 w 313"/>
                <a:gd name="T3" fmla="*/ 7 h 201"/>
                <a:gd name="T4" fmla="*/ 258 w 313"/>
                <a:gd name="T5" fmla="*/ 201 h 201"/>
                <a:gd name="T6" fmla="*/ 0 60000 65536"/>
                <a:gd name="T7" fmla="*/ 0 60000 65536"/>
                <a:gd name="T8" fmla="*/ 0 60000 65536"/>
                <a:gd name="T9" fmla="*/ 0 w 313"/>
                <a:gd name="T10" fmla="*/ 0 h 201"/>
                <a:gd name="T11" fmla="*/ 313 w 313"/>
                <a:gd name="T12" fmla="*/ 201 h 20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13" h="201">
                  <a:moveTo>
                    <a:pt x="25" y="169"/>
                  </a:moveTo>
                  <a:cubicBezTo>
                    <a:pt x="0" y="108"/>
                    <a:pt x="5" y="0"/>
                    <a:pt x="153" y="7"/>
                  </a:cubicBezTo>
                  <a:cubicBezTo>
                    <a:pt x="302" y="12"/>
                    <a:pt x="313" y="87"/>
                    <a:pt x="258" y="201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4361" name="Line 234">
              <a:extLst>
                <a:ext uri="{FF2B5EF4-FFF2-40B4-BE49-F238E27FC236}">
                  <a16:creationId xmlns:a16="http://schemas.microsoft.com/office/drawing/2014/main" id="{78D88E95-CDB2-49FC-8756-BAA72DDD36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6" y="1649"/>
              <a:ext cx="752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84362" name="Group 235">
              <a:extLst>
                <a:ext uri="{FF2B5EF4-FFF2-40B4-BE49-F238E27FC236}">
                  <a16:creationId xmlns:a16="http://schemas.microsoft.com/office/drawing/2014/main" id="{08F590AC-0267-4420-85EC-BCC01844B7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7" y="1255"/>
              <a:ext cx="741" cy="416"/>
              <a:chOff x="539" y="936"/>
              <a:chExt cx="741" cy="416"/>
            </a:xfrm>
          </p:grpSpPr>
          <p:sp>
            <p:nvSpPr>
              <p:cNvPr id="184363" name="Text Box 236">
                <a:extLst>
                  <a:ext uri="{FF2B5EF4-FFF2-40B4-BE49-F238E27FC236}">
                    <a16:creationId xmlns:a16="http://schemas.microsoft.com/office/drawing/2014/main" id="{900FE538-B81F-481A-9E8F-F861E75DA9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16" y="936"/>
                <a:ext cx="17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Symbol" panose="05050102010706020507" pitchFamily="18" charset="2"/>
                  </a:rPr>
                  <a:t>L</a:t>
                </a:r>
              </a:p>
            </p:txBody>
          </p:sp>
          <p:sp>
            <p:nvSpPr>
              <p:cNvPr id="184364" name="Text Box 237">
                <a:extLst>
                  <a:ext uri="{FF2B5EF4-FFF2-40B4-BE49-F238E27FC236}">
                    <a16:creationId xmlns:a16="http://schemas.microsoft.com/office/drawing/2014/main" id="{AF00B2D0-A5F3-4366-8F5E-402977D1293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9" y="1063"/>
                <a:ext cx="741" cy="28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cwnd = 1 MSS</a:t>
                </a:r>
              </a:p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ssthresh = 64 KB</a:t>
                </a:r>
              </a:p>
              <a:p>
                <a:pPr algn="ctr" eaLnBrk="1" hangingPunct="1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dupACKcount = 0</a:t>
                </a:r>
                <a:endParaRPr lang="en-US" altLang="zh-TW" sz="1200">
                  <a:latin typeface="Arial" panose="020B0604020202020204" pitchFamily="34" charset="0"/>
                </a:endParaRPr>
              </a:p>
            </p:txBody>
          </p:sp>
          <p:sp>
            <p:nvSpPr>
              <p:cNvPr id="184365" name="Line 238">
                <a:extLst>
                  <a:ext uri="{FF2B5EF4-FFF2-40B4-BE49-F238E27FC236}">
                    <a16:creationId xmlns:a16="http://schemas.microsoft.com/office/drawing/2014/main" id="{F30EC92D-A57D-4D92-BD94-33EFEDB8EB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1" y="1078"/>
                <a:ext cx="53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27" name="Group 255">
            <a:extLst>
              <a:ext uri="{FF2B5EF4-FFF2-40B4-BE49-F238E27FC236}">
                <a16:creationId xmlns:a16="http://schemas.microsoft.com/office/drawing/2014/main" id="{B8B42DB4-7D1F-4FB7-9A55-1E654760B56A}"/>
              </a:ext>
            </a:extLst>
          </p:cNvPr>
          <p:cNvGrpSpPr>
            <a:grpSpLocks/>
          </p:cNvGrpSpPr>
          <p:nvPr/>
        </p:nvGrpSpPr>
        <p:grpSpPr bwMode="auto">
          <a:xfrm>
            <a:off x="804863" y="2922588"/>
            <a:ext cx="3167062" cy="1312862"/>
            <a:chOff x="509" y="1766"/>
            <a:chExt cx="1995" cy="827"/>
          </a:xfrm>
        </p:grpSpPr>
        <p:pic>
          <p:nvPicPr>
            <p:cNvPr id="184351" name="Picture 252">
              <a:extLst>
                <a:ext uri="{FF2B5EF4-FFF2-40B4-BE49-F238E27FC236}">
                  <a16:creationId xmlns:a16="http://schemas.microsoft.com/office/drawing/2014/main" id="{484EC780-FAFC-4494-82A1-DEEA0B707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09" y="1992"/>
              <a:ext cx="262" cy="2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84352" name="Picture 253">
              <a:extLst>
                <a:ext uri="{FF2B5EF4-FFF2-40B4-BE49-F238E27FC236}">
                  <a16:creationId xmlns:a16="http://schemas.microsoft.com/office/drawing/2014/main" id="{A8D66659-7DEC-4C4D-8E6A-7D1BCA9916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242" y="1766"/>
              <a:ext cx="262" cy="2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84353" name="Picture 254">
              <a:extLst>
                <a:ext uri="{FF2B5EF4-FFF2-40B4-BE49-F238E27FC236}">
                  <a16:creationId xmlns:a16="http://schemas.microsoft.com/office/drawing/2014/main" id="{55062448-4EA1-4DB5-AF96-6DCB94533B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164" y="2348"/>
              <a:ext cx="262" cy="2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8" name="Group 297">
            <a:extLst>
              <a:ext uri="{FF2B5EF4-FFF2-40B4-BE49-F238E27FC236}">
                <a16:creationId xmlns:a16="http://schemas.microsoft.com/office/drawing/2014/main" id="{E0E1A209-A658-4275-85D8-1A769E683D2B}"/>
              </a:ext>
            </a:extLst>
          </p:cNvPr>
          <p:cNvGrpSpPr>
            <a:grpSpLocks/>
          </p:cNvGrpSpPr>
          <p:nvPr/>
        </p:nvGrpSpPr>
        <p:grpSpPr bwMode="auto">
          <a:xfrm>
            <a:off x="3502025" y="1149350"/>
            <a:ext cx="4333875" cy="3243263"/>
            <a:chOff x="2205" y="641"/>
            <a:chExt cx="2730" cy="2043"/>
          </a:xfrm>
        </p:grpSpPr>
        <p:grpSp>
          <p:nvGrpSpPr>
            <p:cNvPr id="184336" name="Group 282">
              <a:extLst>
                <a:ext uri="{FF2B5EF4-FFF2-40B4-BE49-F238E27FC236}">
                  <a16:creationId xmlns:a16="http://schemas.microsoft.com/office/drawing/2014/main" id="{722E2013-AEF8-4096-A05D-B398122EEE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81" y="2381"/>
              <a:ext cx="583" cy="303"/>
              <a:chOff x="1166" y="3601"/>
              <a:chExt cx="583" cy="303"/>
            </a:xfrm>
          </p:grpSpPr>
          <p:grpSp>
            <p:nvGrpSpPr>
              <p:cNvPr id="184347" name="Group 283">
                <a:extLst>
                  <a:ext uri="{FF2B5EF4-FFF2-40B4-BE49-F238E27FC236}">
                    <a16:creationId xmlns:a16="http://schemas.microsoft.com/office/drawing/2014/main" id="{64A80425-715A-480F-AF6D-0E367FA9CC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66" y="3601"/>
                <a:ext cx="583" cy="303"/>
                <a:chOff x="990" y="4570"/>
                <a:chExt cx="597" cy="380"/>
              </a:xfrm>
            </p:grpSpPr>
            <p:pic>
              <p:nvPicPr>
                <p:cNvPr id="184349" name="Picture 284">
                  <a:extLst>
                    <a:ext uri="{FF2B5EF4-FFF2-40B4-BE49-F238E27FC236}">
                      <a16:creationId xmlns:a16="http://schemas.microsoft.com/office/drawing/2014/main" id="{47FC1E75-0383-46E1-A074-F8A4FC65E2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90" y="4570"/>
                  <a:ext cx="597" cy="38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4350" name="Rectangle 285">
                  <a:extLst>
                    <a:ext uri="{FF2B5EF4-FFF2-40B4-BE49-F238E27FC236}">
                      <a16:creationId xmlns:a16="http://schemas.microsoft.com/office/drawing/2014/main" id="{5BCF1006-8D45-4D55-8ECF-CB95AFAA86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24" y="4679"/>
                  <a:ext cx="356" cy="148"/>
                </a:xfrm>
                <a:prstGeom prst="rect">
                  <a:avLst/>
                </a:prstGeom>
                <a:solidFill>
                  <a:srgbClr val="FFFF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84348" name="Text Box 286">
                <a:extLst>
                  <a:ext uri="{FF2B5EF4-FFF2-40B4-BE49-F238E27FC236}">
                    <a16:creationId xmlns:a16="http://schemas.microsoft.com/office/drawing/2014/main" id="{4992FE45-CC84-4E60-B58A-F32626732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74" y="3633"/>
                <a:ext cx="397" cy="2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 b="1" i="1">
                    <a:solidFill>
                      <a:schemeClr val="accent2"/>
                    </a:solidFill>
                    <a:latin typeface="Comic Sans MS" panose="030F0702030302020204" pitchFamily="66" charset="0"/>
                  </a:rPr>
                  <a:t>New</a:t>
                </a:r>
              </a:p>
              <a:p>
                <a:pPr algn="ctr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 b="1" i="1">
                    <a:solidFill>
                      <a:schemeClr val="accent2"/>
                    </a:solidFill>
                    <a:latin typeface="Comic Sans MS" panose="030F0702030302020204" pitchFamily="66" charset="0"/>
                  </a:rPr>
                  <a:t>ACK!</a:t>
                </a:r>
              </a:p>
            </p:txBody>
          </p:sp>
        </p:grpSp>
        <p:grpSp>
          <p:nvGrpSpPr>
            <p:cNvPr id="184337" name="Group 287">
              <a:extLst>
                <a:ext uri="{FF2B5EF4-FFF2-40B4-BE49-F238E27FC236}">
                  <a16:creationId xmlns:a16="http://schemas.microsoft.com/office/drawing/2014/main" id="{B757953C-4F2F-4E4F-952F-7082368715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5" y="700"/>
              <a:ext cx="583" cy="303"/>
              <a:chOff x="1166" y="3601"/>
              <a:chExt cx="583" cy="303"/>
            </a:xfrm>
          </p:grpSpPr>
          <p:grpSp>
            <p:nvGrpSpPr>
              <p:cNvPr id="184343" name="Group 288">
                <a:extLst>
                  <a:ext uri="{FF2B5EF4-FFF2-40B4-BE49-F238E27FC236}">
                    <a16:creationId xmlns:a16="http://schemas.microsoft.com/office/drawing/2014/main" id="{9663D5B4-DBE0-498E-9FC1-F9D68F13E9A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66" y="3601"/>
                <a:ext cx="583" cy="303"/>
                <a:chOff x="990" y="4570"/>
                <a:chExt cx="597" cy="380"/>
              </a:xfrm>
            </p:grpSpPr>
            <p:pic>
              <p:nvPicPr>
                <p:cNvPr id="184345" name="Picture 289">
                  <a:extLst>
                    <a:ext uri="{FF2B5EF4-FFF2-40B4-BE49-F238E27FC236}">
                      <a16:creationId xmlns:a16="http://schemas.microsoft.com/office/drawing/2014/main" id="{B40C223E-C8DF-434D-BA9C-D64BF2A6582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90" y="4570"/>
                  <a:ext cx="597" cy="38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4346" name="Rectangle 290">
                  <a:extLst>
                    <a:ext uri="{FF2B5EF4-FFF2-40B4-BE49-F238E27FC236}">
                      <a16:creationId xmlns:a16="http://schemas.microsoft.com/office/drawing/2014/main" id="{EA810428-2860-4E12-AA90-88D7532F37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24" y="4679"/>
                  <a:ext cx="356" cy="148"/>
                </a:xfrm>
                <a:prstGeom prst="rect">
                  <a:avLst/>
                </a:prstGeom>
                <a:solidFill>
                  <a:srgbClr val="FFFF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84344" name="Text Box 291">
                <a:extLst>
                  <a:ext uri="{FF2B5EF4-FFF2-40B4-BE49-F238E27FC236}">
                    <a16:creationId xmlns:a16="http://schemas.microsoft.com/office/drawing/2014/main" id="{1862E9A0-9C56-4A34-8C14-C2054BA2B8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74" y="3633"/>
                <a:ext cx="397" cy="2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 b="1" i="1">
                    <a:solidFill>
                      <a:schemeClr val="accent2"/>
                    </a:solidFill>
                    <a:latin typeface="Comic Sans MS" panose="030F0702030302020204" pitchFamily="66" charset="0"/>
                  </a:rPr>
                  <a:t>New</a:t>
                </a:r>
              </a:p>
              <a:p>
                <a:pPr algn="ctr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 b="1" i="1">
                    <a:solidFill>
                      <a:schemeClr val="accent2"/>
                    </a:solidFill>
                    <a:latin typeface="Comic Sans MS" panose="030F0702030302020204" pitchFamily="66" charset="0"/>
                  </a:rPr>
                  <a:t>ACK!</a:t>
                </a:r>
              </a:p>
            </p:txBody>
          </p:sp>
        </p:grpSp>
        <p:grpSp>
          <p:nvGrpSpPr>
            <p:cNvPr id="184338" name="Group 292">
              <a:extLst>
                <a:ext uri="{FF2B5EF4-FFF2-40B4-BE49-F238E27FC236}">
                  <a16:creationId xmlns:a16="http://schemas.microsoft.com/office/drawing/2014/main" id="{AADEBBEC-A838-4F49-A34F-FC139E0557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52" y="641"/>
              <a:ext cx="583" cy="303"/>
              <a:chOff x="1166" y="3601"/>
              <a:chExt cx="583" cy="303"/>
            </a:xfrm>
          </p:grpSpPr>
          <p:grpSp>
            <p:nvGrpSpPr>
              <p:cNvPr id="184339" name="Group 293">
                <a:extLst>
                  <a:ext uri="{FF2B5EF4-FFF2-40B4-BE49-F238E27FC236}">
                    <a16:creationId xmlns:a16="http://schemas.microsoft.com/office/drawing/2014/main" id="{46982240-96D1-49BE-ACCC-5D659B75C0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66" y="3601"/>
                <a:ext cx="583" cy="303"/>
                <a:chOff x="990" y="4570"/>
                <a:chExt cx="597" cy="380"/>
              </a:xfrm>
            </p:grpSpPr>
            <p:pic>
              <p:nvPicPr>
                <p:cNvPr id="184341" name="Picture 294">
                  <a:extLst>
                    <a:ext uri="{FF2B5EF4-FFF2-40B4-BE49-F238E27FC236}">
                      <a16:creationId xmlns:a16="http://schemas.microsoft.com/office/drawing/2014/main" id="{D2F21733-2C85-4E9F-A1E6-A09D4055CD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90" y="4570"/>
                  <a:ext cx="597" cy="38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4342" name="Rectangle 295">
                  <a:extLst>
                    <a:ext uri="{FF2B5EF4-FFF2-40B4-BE49-F238E27FC236}">
                      <a16:creationId xmlns:a16="http://schemas.microsoft.com/office/drawing/2014/main" id="{C400769C-234D-4EDC-B05F-79350D93B74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24" y="4679"/>
                  <a:ext cx="356" cy="148"/>
                </a:xfrm>
                <a:prstGeom prst="rect">
                  <a:avLst/>
                </a:prstGeom>
                <a:solidFill>
                  <a:srgbClr val="FFFF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60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84340" name="Text Box 296">
                <a:extLst>
                  <a:ext uri="{FF2B5EF4-FFF2-40B4-BE49-F238E27FC236}">
                    <a16:creationId xmlns:a16="http://schemas.microsoft.com/office/drawing/2014/main" id="{8C3A2067-CB0D-4A57-A7B1-480ED42F7F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74" y="3633"/>
                <a:ext cx="397" cy="2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 b="1" i="1">
                    <a:solidFill>
                      <a:schemeClr val="accent2"/>
                    </a:solidFill>
                    <a:latin typeface="Comic Sans MS" panose="030F0702030302020204" pitchFamily="66" charset="0"/>
                  </a:rPr>
                  <a:t>New</a:t>
                </a:r>
              </a:p>
              <a:p>
                <a:pPr algn="ctr"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 b="1" i="1">
                    <a:solidFill>
                      <a:schemeClr val="accent2"/>
                    </a:solidFill>
                    <a:latin typeface="Comic Sans MS" panose="030F0702030302020204" pitchFamily="66" charset="0"/>
                  </a:rPr>
                  <a:t>ACK!</a:t>
                </a:r>
              </a:p>
            </p:txBody>
          </p:sp>
        </p:grpSp>
      </p:grpSp>
      <p:pic>
        <p:nvPicPr>
          <p:cNvPr id="184335" name="Picture 298" descr="underline_base">
            <a:extLst>
              <a:ext uri="{FF2B5EF4-FFF2-40B4-BE49-F238E27FC236}">
                <a16:creationId xmlns:a16="http://schemas.microsoft.com/office/drawing/2014/main" id="{ED5DB17B-2A18-4ACC-AB89-35D8220E3476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238" y="828675"/>
            <a:ext cx="7313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Footer Placeholder 5">
            <a:extLst>
              <a:ext uri="{FF2B5EF4-FFF2-40B4-BE49-F238E27FC236}">
                <a16:creationId xmlns:a16="http://schemas.microsoft.com/office/drawing/2014/main" id="{6CB4EFBC-A16C-4D04-8857-7758FDB42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2275" name="Slide Number Placeholder 6">
            <a:extLst>
              <a:ext uri="{FF2B5EF4-FFF2-40B4-BE49-F238E27FC236}">
                <a16:creationId xmlns:a16="http://schemas.microsoft.com/office/drawing/2014/main" id="{F9E41391-27FD-4E1D-A2DC-4B5F96C9F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2B3C21A9-5085-474B-B362-FF641536165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82276" name="Picture 89" descr="underline_base">
            <a:extLst>
              <a:ext uri="{FF2B5EF4-FFF2-40B4-BE49-F238E27FC236}">
                <a16:creationId xmlns:a16="http://schemas.microsoft.com/office/drawing/2014/main" id="{7E33D216-9E10-4280-A269-1A93E9AB0D2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838" y="81756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05" name="Rectangle 2">
            <a:extLst>
              <a:ext uri="{FF2B5EF4-FFF2-40B4-BE49-F238E27FC236}">
                <a16:creationId xmlns:a16="http://schemas.microsoft.com/office/drawing/2014/main" id="{67ACEED2-60C9-4A2A-A6F7-89A3A3B9D8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9575" y="231775"/>
            <a:ext cx="7772400" cy="769938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Network-assisted Congestion Control</a:t>
            </a:r>
          </a:p>
        </p:txBody>
      </p:sp>
      <p:sp>
        <p:nvSpPr>
          <p:cNvPr id="102407" name="Rectangle 4">
            <a:extLst>
              <a:ext uri="{FF2B5EF4-FFF2-40B4-BE49-F238E27FC236}">
                <a16:creationId xmlns:a16="http://schemas.microsoft.com/office/drawing/2014/main" id="{785219D3-F1B9-4B9D-9CCE-4CCB6937655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631825" y="1412875"/>
            <a:ext cx="8143875" cy="295275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solidFill>
                  <a:srgbClr val="FF0000"/>
                </a:solidFill>
                <a:ea typeface="ＭＳ Ｐゴシック" charset="0"/>
                <a:cs typeface="+mn-cs"/>
              </a:rPr>
              <a:t>Explicit Congestion Notification (ECN)</a:t>
            </a:r>
            <a:r>
              <a:rPr lang="en-US" dirty="0">
                <a:ea typeface="ＭＳ Ｐゴシック" charset="0"/>
                <a:cs typeface="+mn-cs"/>
              </a:rPr>
              <a:t>: extensions to both IP and TCP that allow network to explicitly signal congestion to a TCP sender &amp; receiver.</a:t>
            </a:r>
          </a:p>
          <a:p>
            <a:pPr marL="457200" lvl="1" indent="0">
              <a:buNone/>
              <a:defRPr/>
            </a:pPr>
            <a:endParaRPr lang="en-US" altLang="zh-TW" dirty="0">
              <a:ea typeface="ＭＳ Ｐゴシック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021E7C3-2365-B585-5E48-06ED692602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876" y="2889250"/>
            <a:ext cx="6470248" cy="351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3259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Footer Placeholder 4">
            <a:extLst>
              <a:ext uri="{FF2B5EF4-FFF2-40B4-BE49-F238E27FC236}">
                <a16:creationId xmlns:a16="http://schemas.microsoft.com/office/drawing/2014/main" id="{7CBDBF88-8EA8-4F9A-A148-A318ABE84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5347" name="Slide Number Placeholder 5">
            <a:extLst>
              <a:ext uri="{FF2B5EF4-FFF2-40B4-BE49-F238E27FC236}">
                <a16:creationId xmlns:a16="http://schemas.microsoft.com/office/drawing/2014/main" id="{5160F6EC-83FD-4939-8C75-E4058CC0F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3-</a:t>
            </a:r>
            <a:fld id="{CC8A25D1-44E0-44E2-920D-C4E4E0C46BD5}" type="slidenum">
              <a:rPr lang="en-US" altLang="zh-TW" sz="1200" smtClean="0">
                <a:solidFill>
                  <a:srgbClr val="00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114</a:t>
            </a:fld>
            <a:endParaRPr lang="en-US" altLang="zh-TW" sz="1200">
              <a:solidFill>
                <a:srgbClr val="0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185348" name="Picture 5" descr="underline_base">
            <a:extLst>
              <a:ext uri="{FF2B5EF4-FFF2-40B4-BE49-F238E27FC236}">
                <a16:creationId xmlns:a16="http://schemas.microsoft.com/office/drawing/2014/main" id="{A42D578E-3AD4-46BF-93A7-B0A98C3F061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963" y="925513"/>
            <a:ext cx="3824287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7525" name="Rectangle 2">
            <a:extLst>
              <a:ext uri="{FF2B5EF4-FFF2-40B4-BE49-F238E27FC236}">
                <a16:creationId xmlns:a16="http://schemas.microsoft.com/office/drawing/2014/main" id="{AB715883-D552-4F29-A6A4-DC5154D66C4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4025" y="239713"/>
            <a:ext cx="7772400" cy="928687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throughput</a:t>
            </a:r>
          </a:p>
        </p:txBody>
      </p:sp>
      <p:sp>
        <p:nvSpPr>
          <p:cNvPr id="185350" name="Rectangle 3">
            <a:extLst>
              <a:ext uri="{FF2B5EF4-FFF2-40B4-BE49-F238E27FC236}">
                <a16:creationId xmlns:a16="http://schemas.microsoft.com/office/drawing/2014/main" id="{F8ECAD31-9D47-4B45-8217-FD87C676B5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12775" y="1362075"/>
            <a:ext cx="8269288" cy="4648200"/>
          </a:xfrm>
        </p:spPr>
        <p:txBody>
          <a:bodyPr/>
          <a:lstStyle/>
          <a:p>
            <a:r>
              <a:rPr lang="en-US" altLang="zh-TW" sz="2800" dirty="0"/>
              <a:t>Q. Can we express the avg. TCP throughput as </a:t>
            </a:r>
            <a:r>
              <a:rPr lang="en-US" altLang="zh-TW" sz="2800" dirty="0" err="1"/>
              <a:t>fcn</a:t>
            </a:r>
            <a:r>
              <a:rPr lang="en-US" altLang="zh-TW" sz="2800" dirty="0"/>
              <a:t>. of window size and RTT?</a:t>
            </a:r>
          </a:p>
          <a:p>
            <a:pPr lvl="1"/>
            <a:r>
              <a:rPr lang="en-US" altLang="zh-TW" sz="2400" dirty="0"/>
              <a:t>ignore slow start, assume always data to send</a:t>
            </a:r>
          </a:p>
          <a:p>
            <a:r>
              <a:rPr lang="en-US" altLang="zh-TW" sz="2800" dirty="0">
                <a:solidFill>
                  <a:srgbClr val="0070C0"/>
                </a:solidFill>
              </a:rPr>
              <a:t>W: window size </a:t>
            </a:r>
            <a:r>
              <a:rPr lang="en-US" altLang="zh-TW" sz="1600" dirty="0">
                <a:solidFill>
                  <a:srgbClr val="0070C0"/>
                </a:solidFill>
              </a:rPr>
              <a:t>(measured in bytes)</a:t>
            </a:r>
            <a:r>
              <a:rPr lang="en-US" altLang="zh-TW" sz="2800" dirty="0">
                <a:solidFill>
                  <a:srgbClr val="0070C0"/>
                </a:solidFill>
              </a:rPr>
              <a:t> where loss occurs</a:t>
            </a:r>
          </a:p>
          <a:p>
            <a:pPr lvl="1"/>
            <a:r>
              <a:rPr lang="en-US" altLang="zh-TW" sz="2400" dirty="0"/>
              <a:t>avg. window size (# in-flight bytes) is ¾ W</a:t>
            </a:r>
          </a:p>
          <a:p>
            <a:pPr lvl="1"/>
            <a:r>
              <a:rPr lang="en-US" altLang="zh-TW" sz="2400" dirty="0"/>
              <a:t>avg. throughput is 3/4W per RTT</a:t>
            </a:r>
          </a:p>
        </p:txBody>
      </p:sp>
      <p:grpSp>
        <p:nvGrpSpPr>
          <p:cNvPr id="185351" name="Group 35">
            <a:extLst>
              <a:ext uri="{FF2B5EF4-FFF2-40B4-BE49-F238E27FC236}">
                <a16:creationId xmlns:a16="http://schemas.microsoft.com/office/drawing/2014/main" id="{CEF28919-C465-42F4-AAA3-F10D2E3FC987}"/>
              </a:ext>
            </a:extLst>
          </p:cNvPr>
          <p:cNvGrpSpPr>
            <a:grpSpLocks/>
          </p:cNvGrpSpPr>
          <p:nvPr/>
        </p:nvGrpSpPr>
        <p:grpSpPr bwMode="auto">
          <a:xfrm>
            <a:off x="1830388" y="4362323"/>
            <a:ext cx="4873625" cy="1998662"/>
            <a:chOff x="279" y="2432"/>
            <a:chExt cx="3070" cy="1259"/>
          </a:xfrm>
        </p:grpSpPr>
        <p:sp>
          <p:nvSpPr>
            <p:cNvPr id="185362" name="Freeform 26">
              <a:extLst>
                <a:ext uri="{FF2B5EF4-FFF2-40B4-BE49-F238E27FC236}">
                  <a16:creationId xmlns:a16="http://schemas.microsoft.com/office/drawing/2014/main" id="{D2B66642-A5E9-466D-8788-C7CCB918390B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" y="2556"/>
              <a:ext cx="2481" cy="579"/>
            </a:xfrm>
            <a:custGeom>
              <a:avLst/>
              <a:gdLst>
                <a:gd name="T0" fmla="*/ 0 w 2481"/>
                <a:gd name="T1" fmla="*/ 573 h 579"/>
                <a:gd name="T2" fmla="*/ 414 w 2481"/>
                <a:gd name="T3" fmla="*/ 18 h 579"/>
                <a:gd name="T4" fmla="*/ 414 w 2481"/>
                <a:gd name="T5" fmla="*/ 579 h 579"/>
                <a:gd name="T6" fmla="*/ 819 w 2481"/>
                <a:gd name="T7" fmla="*/ 18 h 579"/>
                <a:gd name="T8" fmla="*/ 825 w 2481"/>
                <a:gd name="T9" fmla="*/ 579 h 579"/>
                <a:gd name="T10" fmla="*/ 1245 w 2481"/>
                <a:gd name="T11" fmla="*/ 15 h 579"/>
                <a:gd name="T12" fmla="*/ 1245 w 2481"/>
                <a:gd name="T13" fmla="*/ 576 h 579"/>
                <a:gd name="T14" fmla="*/ 1647 w 2481"/>
                <a:gd name="T15" fmla="*/ 6 h 579"/>
                <a:gd name="T16" fmla="*/ 1647 w 2481"/>
                <a:gd name="T17" fmla="*/ 570 h 579"/>
                <a:gd name="T18" fmla="*/ 2064 w 2481"/>
                <a:gd name="T19" fmla="*/ 6 h 579"/>
                <a:gd name="T20" fmla="*/ 2064 w 2481"/>
                <a:gd name="T21" fmla="*/ 564 h 579"/>
                <a:gd name="T22" fmla="*/ 2481 w 2481"/>
                <a:gd name="T23" fmla="*/ 0 h 57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2481"/>
                <a:gd name="T37" fmla="*/ 0 h 579"/>
                <a:gd name="T38" fmla="*/ 2481 w 2481"/>
                <a:gd name="T39" fmla="*/ 579 h 57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2481" h="579">
                  <a:moveTo>
                    <a:pt x="0" y="573"/>
                  </a:moveTo>
                  <a:lnTo>
                    <a:pt x="414" y="18"/>
                  </a:lnTo>
                  <a:lnTo>
                    <a:pt x="414" y="579"/>
                  </a:lnTo>
                  <a:lnTo>
                    <a:pt x="819" y="18"/>
                  </a:lnTo>
                  <a:lnTo>
                    <a:pt x="825" y="579"/>
                  </a:lnTo>
                  <a:lnTo>
                    <a:pt x="1245" y="15"/>
                  </a:lnTo>
                  <a:lnTo>
                    <a:pt x="1245" y="576"/>
                  </a:lnTo>
                  <a:lnTo>
                    <a:pt x="1647" y="6"/>
                  </a:lnTo>
                  <a:lnTo>
                    <a:pt x="1647" y="570"/>
                  </a:lnTo>
                  <a:lnTo>
                    <a:pt x="2064" y="6"/>
                  </a:lnTo>
                  <a:lnTo>
                    <a:pt x="2064" y="564"/>
                  </a:lnTo>
                  <a:lnTo>
                    <a:pt x="2481" y="0"/>
                  </a:lnTo>
                </a:path>
              </a:pathLst>
            </a:custGeom>
            <a:noFill/>
            <a:ln w="28575" cap="flat" cmpd="sng">
              <a:solidFill>
                <a:srgbClr val="CC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85363" name="Line 28">
              <a:extLst>
                <a:ext uri="{FF2B5EF4-FFF2-40B4-BE49-F238E27FC236}">
                  <a16:creationId xmlns:a16="http://schemas.microsoft.com/office/drawing/2014/main" id="{8759F899-1B79-4829-BE21-94641405DB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5" y="3685"/>
              <a:ext cx="267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85364" name="Line 29">
              <a:extLst>
                <a:ext uri="{FF2B5EF4-FFF2-40B4-BE49-F238E27FC236}">
                  <a16:creationId xmlns:a16="http://schemas.microsoft.com/office/drawing/2014/main" id="{E8CA56A0-8AB2-4B99-B8A3-42EE454373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2" y="2432"/>
              <a:ext cx="0" cy="125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85365" name="Line 31">
              <a:extLst>
                <a:ext uri="{FF2B5EF4-FFF2-40B4-BE49-F238E27FC236}">
                  <a16:creationId xmlns:a16="http://schemas.microsoft.com/office/drawing/2014/main" id="{476519B8-936C-4115-8753-665C3EB031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6" y="2571"/>
              <a:ext cx="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85366" name="Line 32">
              <a:extLst>
                <a:ext uri="{FF2B5EF4-FFF2-40B4-BE49-F238E27FC236}">
                  <a16:creationId xmlns:a16="http://schemas.microsoft.com/office/drawing/2014/main" id="{1697FB97-A2F8-45AF-A5FF-0F0D809668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6" y="3117"/>
              <a:ext cx="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85367" name="Text Box 33">
              <a:extLst>
                <a:ext uri="{FF2B5EF4-FFF2-40B4-BE49-F238E27FC236}">
                  <a16:creationId xmlns:a16="http://schemas.microsoft.com/office/drawing/2014/main" id="{0C5DE1D9-4F33-4102-873D-2BDE77C593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0" y="2453"/>
              <a:ext cx="23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Tahoma" panose="020B0604030504040204" pitchFamily="34" charset="0"/>
                </a:rPr>
                <a:t>W</a:t>
              </a:r>
            </a:p>
          </p:txBody>
        </p:sp>
        <p:sp>
          <p:nvSpPr>
            <p:cNvPr id="185368" name="Text Box 34">
              <a:extLst>
                <a:ext uri="{FF2B5EF4-FFF2-40B4-BE49-F238E27FC236}">
                  <a16:creationId xmlns:a16="http://schemas.microsoft.com/office/drawing/2014/main" id="{2F011AB9-BB14-4435-950D-E34EC6B818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9" y="3008"/>
              <a:ext cx="3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Tahoma" panose="020B0604030504040204" pitchFamily="34" charset="0"/>
                </a:rPr>
                <a:t>W/2</a:t>
              </a:r>
            </a:p>
          </p:txBody>
        </p:sp>
      </p:grpSp>
      <p:grpSp>
        <p:nvGrpSpPr>
          <p:cNvPr id="185352" name="Group 45">
            <a:extLst>
              <a:ext uri="{FF2B5EF4-FFF2-40B4-BE49-F238E27FC236}">
                <a16:creationId xmlns:a16="http://schemas.microsoft.com/office/drawing/2014/main" id="{230607B0-C65C-4861-9D08-36552947000E}"/>
              </a:ext>
            </a:extLst>
          </p:cNvPr>
          <p:cNvGrpSpPr>
            <a:grpSpLocks/>
          </p:cNvGrpSpPr>
          <p:nvPr/>
        </p:nvGrpSpPr>
        <p:grpSpPr bwMode="auto">
          <a:xfrm>
            <a:off x="2733675" y="3798463"/>
            <a:ext cx="3795713" cy="620712"/>
            <a:chOff x="1722" y="2139"/>
            <a:chExt cx="2391" cy="391"/>
          </a:xfrm>
        </p:grpSpPr>
        <p:sp>
          <p:nvSpPr>
            <p:cNvPr id="185353" name="Text Box 36">
              <a:extLst>
                <a:ext uri="{FF2B5EF4-FFF2-40B4-BE49-F238E27FC236}">
                  <a16:creationId xmlns:a16="http://schemas.microsoft.com/office/drawing/2014/main" id="{AC1A0438-FB2F-497C-8B2F-FD206A24470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2" y="2219"/>
              <a:ext cx="134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00"/>
                  </a:solidFill>
                  <a:latin typeface="Tahoma" panose="020B0604030504040204" pitchFamily="34" charset="0"/>
                </a:rPr>
                <a:t>avg TCP thruput = </a:t>
              </a:r>
            </a:p>
          </p:txBody>
        </p:sp>
        <p:grpSp>
          <p:nvGrpSpPr>
            <p:cNvPr id="185354" name="Group 44">
              <a:extLst>
                <a:ext uri="{FF2B5EF4-FFF2-40B4-BE49-F238E27FC236}">
                  <a16:creationId xmlns:a16="http://schemas.microsoft.com/office/drawing/2014/main" id="{1E6E248F-419A-43F4-9DE8-BAA9DE91CE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86" y="2139"/>
              <a:ext cx="1127" cy="391"/>
              <a:chOff x="3498" y="2153"/>
              <a:chExt cx="1127" cy="391"/>
            </a:xfrm>
          </p:grpSpPr>
          <p:sp>
            <p:nvSpPr>
              <p:cNvPr id="185355" name="Text Box 37">
                <a:extLst>
                  <a:ext uri="{FF2B5EF4-FFF2-40B4-BE49-F238E27FC236}">
                    <a16:creationId xmlns:a16="http://schemas.microsoft.com/office/drawing/2014/main" id="{C150E809-973D-4DCE-8E88-F5F8107F6D3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01" y="2153"/>
                <a:ext cx="195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solidFill>
                      <a:srgbClr val="000000"/>
                    </a:solidFill>
                    <a:latin typeface="Tahoma" panose="020B0604030504040204" pitchFamily="34" charset="0"/>
                  </a:rPr>
                  <a:t>3</a:t>
                </a:r>
              </a:p>
            </p:txBody>
          </p:sp>
          <p:sp>
            <p:nvSpPr>
              <p:cNvPr id="185356" name="Text Box 38">
                <a:extLst>
                  <a:ext uri="{FF2B5EF4-FFF2-40B4-BE49-F238E27FC236}">
                    <a16:creationId xmlns:a16="http://schemas.microsoft.com/office/drawing/2014/main" id="{B87D33AE-EA15-4545-AD5A-EC16CBCB1FE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98" y="2313"/>
                <a:ext cx="195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4</a:t>
                </a:r>
              </a:p>
            </p:txBody>
          </p:sp>
          <p:sp>
            <p:nvSpPr>
              <p:cNvPr id="185357" name="Line 39">
                <a:extLst>
                  <a:ext uri="{FF2B5EF4-FFF2-40B4-BE49-F238E27FC236}">
                    <a16:creationId xmlns:a16="http://schemas.microsoft.com/office/drawing/2014/main" id="{A1C451EC-B31D-4027-9935-FD1CD827CED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0" y="2352"/>
                <a:ext cx="88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85358" name="Text Box 40">
                <a:extLst>
                  <a:ext uri="{FF2B5EF4-FFF2-40B4-BE49-F238E27FC236}">
                    <a16:creationId xmlns:a16="http://schemas.microsoft.com/office/drawing/2014/main" id="{2C0B831D-9FEA-4D1D-BE41-56C7FEBDB19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2" y="2157"/>
                <a:ext cx="24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solidFill>
                      <a:srgbClr val="000000"/>
                    </a:solidFill>
                    <a:latin typeface="Tahoma" panose="020B0604030504040204" pitchFamily="34" charset="0"/>
                  </a:rPr>
                  <a:t>W</a:t>
                </a:r>
              </a:p>
            </p:txBody>
          </p:sp>
          <p:sp>
            <p:nvSpPr>
              <p:cNvPr id="185359" name="Text Box 41">
                <a:extLst>
                  <a:ext uri="{FF2B5EF4-FFF2-40B4-BE49-F238E27FC236}">
                    <a16:creationId xmlns:a16="http://schemas.microsoft.com/office/drawing/2014/main" id="{5ED2D9C6-1A99-4B26-A3B7-F86FB1AC8CA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8" y="2309"/>
                <a:ext cx="373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solidFill>
                      <a:srgbClr val="000000"/>
                    </a:solidFill>
                    <a:latin typeface="Tahoma" panose="020B0604030504040204" pitchFamily="34" charset="0"/>
                  </a:rPr>
                  <a:t>RTT</a:t>
                </a:r>
              </a:p>
            </p:txBody>
          </p:sp>
          <p:sp>
            <p:nvSpPr>
              <p:cNvPr id="185360" name="Line 42">
                <a:extLst>
                  <a:ext uri="{FF2B5EF4-FFF2-40B4-BE49-F238E27FC236}">
                    <a16:creationId xmlns:a16="http://schemas.microsoft.com/office/drawing/2014/main" id="{36A6E82C-F31D-4303-84C6-617F915C801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26" y="2352"/>
                <a:ext cx="21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85361" name="Text Box 43">
                <a:extLst>
                  <a:ext uri="{FF2B5EF4-FFF2-40B4-BE49-F238E27FC236}">
                    <a16:creationId xmlns:a16="http://schemas.microsoft.com/office/drawing/2014/main" id="{217B47C2-8F47-4F73-B3F1-E32074549C6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75" y="2243"/>
                <a:ext cx="6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rgbClr val="000000"/>
                    </a:solidFill>
                    <a:latin typeface="Tahoma" panose="020B0604030504040204" pitchFamily="34" charset="0"/>
                  </a:rPr>
                  <a:t>bytes/sec</a:t>
                </a:r>
              </a:p>
            </p:txBody>
          </p:sp>
        </p:grpSp>
      </p:grpSp>
      <p:sp>
        <p:nvSpPr>
          <p:cNvPr id="2" name="Rectangle 76">
            <a:extLst>
              <a:ext uri="{FF2B5EF4-FFF2-40B4-BE49-F238E27FC236}">
                <a16:creationId xmlns:a16="http://schemas.microsoft.com/office/drawing/2014/main" id="{43CC1052-857E-392A-CE0D-BDC7DB55E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1988" y="3800259"/>
            <a:ext cx="4072025" cy="642937"/>
          </a:xfrm>
          <a:prstGeom prst="rect">
            <a:avLst/>
          </a:prstGeom>
          <a:noFill/>
          <a:ln w="1270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Footer Placeholder 5">
            <a:extLst>
              <a:ext uri="{FF2B5EF4-FFF2-40B4-BE49-F238E27FC236}">
                <a16:creationId xmlns:a16="http://schemas.microsoft.com/office/drawing/2014/main" id="{BF07BBEB-908A-4B9E-A3DC-A1DFC0C84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8419" name="Slide Number Placeholder 6">
            <a:extLst>
              <a:ext uri="{FF2B5EF4-FFF2-40B4-BE49-F238E27FC236}">
                <a16:creationId xmlns:a16="http://schemas.microsoft.com/office/drawing/2014/main" id="{149C1924-FFE6-451F-A606-7C00DCE94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BB2C4DEE-E422-4E38-A8B2-841D85426C9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88420" name="Line 68">
            <a:extLst>
              <a:ext uri="{FF2B5EF4-FFF2-40B4-BE49-F238E27FC236}">
                <a16:creationId xmlns:a16="http://schemas.microsoft.com/office/drawing/2014/main" id="{6265EA0F-4470-435D-9AB0-9E224FB73095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7750" y="4229100"/>
            <a:ext cx="55880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188421" name="Group 59">
            <a:extLst>
              <a:ext uri="{FF2B5EF4-FFF2-40B4-BE49-F238E27FC236}">
                <a16:creationId xmlns:a16="http://schemas.microsoft.com/office/drawing/2014/main" id="{4C94A534-BFA4-4C28-B4DE-3375F7861239}"/>
              </a:ext>
            </a:extLst>
          </p:cNvPr>
          <p:cNvGrpSpPr>
            <a:grpSpLocks/>
          </p:cNvGrpSpPr>
          <p:nvPr/>
        </p:nvGrpSpPr>
        <p:grpSpPr bwMode="auto">
          <a:xfrm>
            <a:off x="3779838" y="3898900"/>
            <a:ext cx="1082675" cy="538163"/>
            <a:chOff x="2356" y="1300"/>
            <a:chExt cx="555" cy="194"/>
          </a:xfrm>
        </p:grpSpPr>
        <p:sp>
          <p:nvSpPr>
            <p:cNvPr id="188449" name="Oval 407">
              <a:extLst>
                <a:ext uri="{FF2B5EF4-FFF2-40B4-BE49-F238E27FC236}">
                  <a16:creationId xmlns:a16="http://schemas.microsoft.com/office/drawing/2014/main" id="{80A705FB-8399-45DC-8A86-E9BBD1420B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88450" name="Rectangle 410">
              <a:extLst>
                <a:ext uri="{FF2B5EF4-FFF2-40B4-BE49-F238E27FC236}">
                  <a16:creationId xmlns:a16="http://schemas.microsoft.com/office/drawing/2014/main" id="{56EEEC93-1383-411F-A8CA-803EFEA9AE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88451" name="Oval 411">
              <a:extLst>
                <a:ext uri="{FF2B5EF4-FFF2-40B4-BE49-F238E27FC236}">
                  <a16:creationId xmlns:a16="http://schemas.microsoft.com/office/drawing/2014/main" id="{7BE16A93-1E25-4AF6-9AEC-7366B9E807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188452" name="Group 63">
              <a:extLst>
                <a:ext uri="{FF2B5EF4-FFF2-40B4-BE49-F238E27FC236}">
                  <a16:creationId xmlns:a16="http://schemas.microsoft.com/office/drawing/2014/main" id="{4AF54916-73B6-45A4-BF9D-4FF6B991AD6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88455" name="Freeform 64">
                <a:extLst>
                  <a:ext uri="{FF2B5EF4-FFF2-40B4-BE49-F238E27FC236}">
                    <a16:creationId xmlns:a16="http://schemas.microsoft.com/office/drawing/2014/main" id="{92B05EA0-392E-4F89-B4F9-63D42F3299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8456" name="Freeform 65">
                <a:extLst>
                  <a:ext uri="{FF2B5EF4-FFF2-40B4-BE49-F238E27FC236}">
                    <a16:creationId xmlns:a16="http://schemas.microsoft.com/office/drawing/2014/main" id="{6EB20EFA-AD21-4BCF-932F-5558839AD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88453" name="Line 66">
              <a:extLst>
                <a:ext uri="{FF2B5EF4-FFF2-40B4-BE49-F238E27FC236}">
                  <a16:creationId xmlns:a16="http://schemas.microsoft.com/office/drawing/2014/main" id="{A9114734-3EFA-4EE2-A7E8-CEFEA125B6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8454" name="Line 67">
              <a:extLst>
                <a:ext uri="{FF2B5EF4-FFF2-40B4-BE49-F238E27FC236}">
                  <a16:creationId xmlns:a16="http://schemas.microsoft.com/office/drawing/2014/main" id="{5460F0AC-8FB4-4BC5-BCBC-1270EDD469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88422" name="Group 50">
            <a:extLst>
              <a:ext uri="{FF2B5EF4-FFF2-40B4-BE49-F238E27FC236}">
                <a16:creationId xmlns:a16="http://schemas.microsoft.com/office/drawing/2014/main" id="{29EFBFCE-CBD5-4D16-A3A5-820767F2D28A}"/>
              </a:ext>
            </a:extLst>
          </p:cNvPr>
          <p:cNvGrpSpPr>
            <a:grpSpLocks/>
          </p:cNvGrpSpPr>
          <p:nvPr/>
        </p:nvGrpSpPr>
        <p:grpSpPr bwMode="auto">
          <a:xfrm>
            <a:off x="5413375" y="3883025"/>
            <a:ext cx="1082675" cy="538163"/>
            <a:chOff x="2356" y="1300"/>
            <a:chExt cx="555" cy="194"/>
          </a:xfrm>
        </p:grpSpPr>
        <p:sp>
          <p:nvSpPr>
            <p:cNvPr id="188441" name="Oval 407">
              <a:extLst>
                <a:ext uri="{FF2B5EF4-FFF2-40B4-BE49-F238E27FC236}">
                  <a16:creationId xmlns:a16="http://schemas.microsoft.com/office/drawing/2014/main" id="{E9DD2F01-8278-4173-A449-E5DBEE62F6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88442" name="Rectangle 410">
              <a:extLst>
                <a:ext uri="{FF2B5EF4-FFF2-40B4-BE49-F238E27FC236}">
                  <a16:creationId xmlns:a16="http://schemas.microsoft.com/office/drawing/2014/main" id="{D296C9A4-71D4-4B4F-81CD-6C8D5C4B4A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88443" name="Oval 411">
              <a:extLst>
                <a:ext uri="{FF2B5EF4-FFF2-40B4-BE49-F238E27FC236}">
                  <a16:creationId xmlns:a16="http://schemas.microsoft.com/office/drawing/2014/main" id="{82C79C01-D04B-4933-8277-BBB6F8F256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188444" name="Group 54">
              <a:extLst>
                <a:ext uri="{FF2B5EF4-FFF2-40B4-BE49-F238E27FC236}">
                  <a16:creationId xmlns:a16="http://schemas.microsoft.com/office/drawing/2014/main" id="{1ACEBD75-9125-4945-9A14-F30CC4F555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88447" name="Freeform 55">
                <a:extLst>
                  <a:ext uri="{FF2B5EF4-FFF2-40B4-BE49-F238E27FC236}">
                    <a16:creationId xmlns:a16="http://schemas.microsoft.com/office/drawing/2014/main" id="{6D50DFE7-845E-40E5-811C-7A3635FF3C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88448" name="Freeform 56">
                <a:extLst>
                  <a:ext uri="{FF2B5EF4-FFF2-40B4-BE49-F238E27FC236}">
                    <a16:creationId xmlns:a16="http://schemas.microsoft.com/office/drawing/2014/main" id="{843367FE-B7A5-4F01-A2A7-0BD33C00F3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88445" name="Line 57">
              <a:extLst>
                <a:ext uri="{FF2B5EF4-FFF2-40B4-BE49-F238E27FC236}">
                  <a16:creationId xmlns:a16="http://schemas.microsoft.com/office/drawing/2014/main" id="{3DC41D1B-26E1-4463-B009-6B27E1DDEC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88446" name="Line 58">
              <a:extLst>
                <a:ext uri="{FF2B5EF4-FFF2-40B4-BE49-F238E27FC236}">
                  <a16:creationId xmlns:a16="http://schemas.microsoft.com/office/drawing/2014/main" id="{3CF8C662-8982-414E-B51B-EEA7CD5D70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09575" name="Rectangle 4">
            <a:extLst>
              <a:ext uri="{FF2B5EF4-FFF2-40B4-BE49-F238E27FC236}">
                <a16:creationId xmlns:a16="http://schemas.microsoft.com/office/drawing/2014/main" id="{EACB0397-410E-4101-B599-56921B9E78A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44513" y="1412875"/>
            <a:ext cx="7620000" cy="219075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fairness goal:</a:t>
            </a:r>
            <a:r>
              <a:rPr lang="en-US" dirty="0">
                <a:ea typeface="ＭＳ Ｐゴシック" charset="0"/>
                <a:cs typeface="+mn-cs"/>
              </a:rPr>
              <a:t> if K TCP sessions share same bottleneck link of bandwidth R, each should have average rate of R/K</a:t>
            </a:r>
          </a:p>
        </p:txBody>
      </p:sp>
      <p:sp>
        <p:nvSpPr>
          <p:cNvPr id="188424" name="Rectangle 25">
            <a:extLst>
              <a:ext uri="{FF2B5EF4-FFF2-40B4-BE49-F238E27FC236}">
                <a16:creationId xmlns:a16="http://schemas.microsoft.com/office/drawing/2014/main" id="{BF4116CD-A174-4A93-8677-6A87F1DBF4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8888" y="4025900"/>
            <a:ext cx="147637" cy="200025"/>
          </a:xfrm>
          <a:prstGeom prst="rect">
            <a:avLst/>
          </a:prstGeom>
          <a:solidFill>
            <a:srgbClr val="0099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88425" name="Rectangle 26">
            <a:extLst>
              <a:ext uri="{FF2B5EF4-FFF2-40B4-BE49-F238E27FC236}">
                <a16:creationId xmlns:a16="http://schemas.microsoft.com/office/drawing/2014/main" id="{C90299F7-E23A-4C0D-A041-29CBC0B18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8325" y="4087813"/>
            <a:ext cx="147638" cy="200025"/>
          </a:xfrm>
          <a:prstGeom prst="rect">
            <a:avLst/>
          </a:prstGeom>
          <a:solidFill>
            <a:srgbClr val="0099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88426" name="Rectangle 27">
            <a:extLst>
              <a:ext uri="{FF2B5EF4-FFF2-40B4-BE49-F238E27FC236}">
                <a16:creationId xmlns:a16="http://schemas.microsoft.com/office/drawing/2014/main" id="{FE395C4A-53FA-403A-96EA-B37D133E92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8838" y="4025900"/>
            <a:ext cx="147637" cy="200025"/>
          </a:xfrm>
          <a:prstGeom prst="rect">
            <a:avLst/>
          </a:prstGeom>
          <a:solidFill>
            <a:srgbClr val="0099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88427" name="Text Box 28">
            <a:extLst>
              <a:ext uri="{FF2B5EF4-FFF2-40B4-BE49-F238E27FC236}">
                <a16:creationId xmlns:a16="http://schemas.microsoft.com/office/drawing/2014/main" id="{0179D80C-D391-42B8-9E9A-9BF4236970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1888" y="3017838"/>
            <a:ext cx="2000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TCP connection 1</a:t>
            </a:r>
          </a:p>
        </p:txBody>
      </p:sp>
      <p:sp>
        <p:nvSpPr>
          <p:cNvPr id="188428" name="Text Box 29">
            <a:extLst>
              <a:ext uri="{FF2B5EF4-FFF2-40B4-BE49-F238E27FC236}">
                <a16:creationId xmlns:a16="http://schemas.microsoft.com/office/drawing/2014/main" id="{64D0FD0A-3C33-42F3-86D0-7E26A814B7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29013" y="4471988"/>
            <a:ext cx="12509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bottleneck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router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capacity R</a:t>
            </a:r>
          </a:p>
        </p:txBody>
      </p:sp>
      <p:sp>
        <p:nvSpPr>
          <p:cNvPr id="188429" name="Freeform 40">
            <a:extLst>
              <a:ext uri="{FF2B5EF4-FFF2-40B4-BE49-F238E27FC236}">
                <a16:creationId xmlns:a16="http://schemas.microsoft.com/office/drawing/2014/main" id="{20C45120-3ED2-4065-BA59-373B34B0C62F}"/>
              </a:ext>
            </a:extLst>
          </p:cNvPr>
          <p:cNvSpPr>
            <a:spLocks/>
          </p:cNvSpPr>
          <p:nvPr/>
        </p:nvSpPr>
        <p:spPr bwMode="auto">
          <a:xfrm>
            <a:off x="2863850" y="3502025"/>
            <a:ext cx="4003675" cy="719138"/>
          </a:xfrm>
          <a:custGeom>
            <a:avLst/>
            <a:gdLst>
              <a:gd name="T0" fmla="*/ 0 w 2412"/>
              <a:gd name="T1" fmla="*/ 0 h 453"/>
              <a:gd name="T2" fmla="*/ 2147483646 w 2412"/>
              <a:gd name="T3" fmla="*/ 2147483646 h 453"/>
              <a:gd name="T4" fmla="*/ 2147483646 w 2412"/>
              <a:gd name="T5" fmla="*/ 2147483646 h 453"/>
              <a:gd name="T6" fmla="*/ 0 60000 65536"/>
              <a:gd name="T7" fmla="*/ 0 60000 65536"/>
              <a:gd name="T8" fmla="*/ 0 60000 65536"/>
              <a:gd name="T9" fmla="*/ 0 w 2412"/>
              <a:gd name="T10" fmla="*/ 0 h 453"/>
              <a:gd name="T11" fmla="*/ 2412 w 2412"/>
              <a:gd name="T12" fmla="*/ 453 h 453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412" h="453">
                <a:moveTo>
                  <a:pt x="0" y="0"/>
                </a:moveTo>
                <a:cubicBezTo>
                  <a:pt x="93" y="65"/>
                  <a:pt x="156" y="318"/>
                  <a:pt x="558" y="390"/>
                </a:cubicBezTo>
                <a:cubicBezTo>
                  <a:pt x="959" y="453"/>
                  <a:pt x="2026" y="423"/>
                  <a:pt x="2412" y="432"/>
                </a:cubicBezTo>
              </a:path>
            </a:pathLst>
          </a:custGeom>
          <a:noFill/>
          <a:ln w="38100" cap="flat" cmpd="sng">
            <a:solidFill>
              <a:srgbClr val="0099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8430" name="Rectangle 41">
            <a:extLst>
              <a:ext uri="{FF2B5EF4-FFF2-40B4-BE49-F238E27FC236}">
                <a16:creationId xmlns:a16="http://schemas.microsoft.com/office/drawing/2014/main" id="{6BE710E3-2B70-4E46-933D-FB1710DD69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0250" y="4087813"/>
            <a:ext cx="147638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188431" name="Freeform 42">
            <a:extLst>
              <a:ext uri="{FF2B5EF4-FFF2-40B4-BE49-F238E27FC236}">
                <a16:creationId xmlns:a16="http://schemas.microsoft.com/office/drawing/2014/main" id="{62B84F6A-6F08-4365-8EC7-3033D026CB25}"/>
              </a:ext>
            </a:extLst>
          </p:cNvPr>
          <p:cNvSpPr>
            <a:spLocks/>
          </p:cNvSpPr>
          <p:nvPr/>
        </p:nvSpPr>
        <p:spPr bwMode="auto">
          <a:xfrm>
            <a:off x="2806700" y="4237038"/>
            <a:ext cx="4044950" cy="719137"/>
          </a:xfrm>
          <a:custGeom>
            <a:avLst/>
            <a:gdLst>
              <a:gd name="T0" fmla="*/ 0 w 2412"/>
              <a:gd name="T1" fmla="*/ 2147483646 h 453"/>
              <a:gd name="T2" fmla="*/ 2147483646 w 2412"/>
              <a:gd name="T3" fmla="*/ 2147483646 h 453"/>
              <a:gd name="T4" fmla="*/ 2147483646 w 2412"/>
              <a:gd name="T5" fmla="*/ 2147483646 h 453"/>
              <a:gd name="T6" fmla="*/ 0 60000 65536"/>
              <a:gd name="T7" fmla="*/ 0 60000 65536"/>
              <a:gd name="T8" fmla="*/ 0 60000 65536"/>
              <a:gd name="T9" fmla="*/ 0 w 2412"/>
              <a:gd name="T10" fmla="*/ 0 h 453"/>
              <a:gd name="T11" fmla="*/ 2412 w 2412"/>
              <a:gd name="T12" fmla="*/ 453 h 453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412" h="453">
                <a:moveTo>
                  <a:pt x="0" y="453"/>
                </a:moveTo>
                <a:cubicBezTo>
                  <a:pt x="93" y="388"/>
                  <a:pt x="156" y="134"/>
                  <a:pt x="558" y="63"/>
                </a:cubicBezTo>
                <a:cubicBezTo>
                  <a:pt x="959" y="0"/>
                  <a:pt x="2026" y="36"/>
                  <a:pt x="2412" y="29"/>
                </a:cubicBezTo>
              </a:path>
            </a:pathLst>
          </a:custGeom>
          <a:noFill/>
          <a:ln w="3810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9584" name="Rectangle 43">
            <a:extLst>
              <a:ext uri="{FF2B5EF4-FFF2-40B4-BE49-F238E27FC236}">
                <a16:creationId xmlns:a16="http://schemas.microsoft.com/office/drawing/2014/main" id="{C2975FC0-6C2F-4FFF-9602-9A10B458DF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5240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TCP Fairness</a:t>
            </a:r>
          </a:p>
        </p:txBody>
      </p:sp>
      <p:pic>
        <p:nvPicPr>
          <p:cNvPr id="188433" name="Picture 45" descr="underline_base">
            <a:extLst>
              <a:ext uri="{FF2B5EF4-FFF2-40B4-BE49-F238E27FC236}">
                <a16:creationId xmlns:a16="http://schemas.microsoft.com/office/drawing/2014/main" id="{8E7E2271-0C79-47F7-953E-DF3E8292F27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375" y="969963"/>
            <a:ext cx="3656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8434" name="Text Box 48">
            <a:extLst>
              <a:ext uri="{FF2B5EF4-FFF2-40B4-BE49-F238E27FC236}">
                <a16:creationId xmlns:a16="http://schemas.microsoft.com/office/drawing/2014/main" id="{BEE1D109-3278-4E8D-A225-15152BC7B9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5538" y="5146675"/>
            <a:ext cx="2000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TCP connection 2</a:t>
            </a:r>
          </a:p>
        </p:txBody>
      </p:sp>
      <p:grpSp>
        <p:nvGrpSpPr>
          <p:cNvPr id="188435" name="Group 69">
            <a:extLst>
              <a:ext uri="{FF2B5EF4-FFF2-40B4-BE49-F238E27FC236}">
                <a16:creationId xmlns:a16="http://schemas.microsoft.com/office/drawing/2014/main" id="{60A969D8-C511-4951-AAE8-63894859A1BB}"/>
              </a:ext>
            </a:extLst>
          </p:cNvPr>
          <p:cNvGrpSpPr>
            <a:grpSpLocks/>
          </p:cNvGrpSpPr>
          <p:nvPr/>
        </p:nvGrpSpPr>
        <p:grpSpPr bwMode="auto">
          <a:xfrm>
            <a:off x="2057400" y="3333750"/>
            <a:ext cx="766763" cy="704850"/>
            <a:chOff x="-44" y="1473"/>
            <a:chExt cx="981" cy="1105"/>
          </a:xfrm>
        </p:grpSpPr>
        <p:pic>
          <p:nvPicPr>
            <p:cNvPr id="188439" name="Picture 70" descr="desktop_computer_stylized_medium">
              <a:extLst>
                <a:ext uri="{FF2B5EF4-FFF2-40B4-BE49-F238E27FC236}">
                  <a16:creationId xmlns:a16="http://schemas.microsoft.com/office/drawing/2014/main" id="{069BDBA3-4B7E-49B0-AA22-A98240B12A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8440" name="Freeform 71">
              <a:extLst>
                <a:ext uri="{FF2B5EF4-FFF2-40B4-BE49-F238E27FC236}">
                  <a16:creationId xmlns:a16="http://schemas.microsoft.com/office/drawing/2014/main" id="{B0847D77-FFBC-4A24-AE10-8B866AB776B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88436" name="Group 72">
            <a:extLst>
              <a:ext uri="{FF2B5EF4-FFF2-40B4-BE49-F238E27FC236}">
                <a16:creationId xmlns:a16="http://schemas.microsoft.com/office/drawing/2014/main" id="{74B6A7A5-14E3-4297-8057-DDFD2A139115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4579938"/>
            <a:ext cx="766763" cy="704850"/>
            <a:chOff x="-44" y="1473"/>
            <a:chExt cx="981" cy="1105"/>
          </a:xfrm>
        </p:grpSpPr>
        <p:pic>
          <p:nvPicPr>
            <p:cNvPr id="188437" name="Picture 73" descr="desktop_computer_stylized_medium">
              <a:extLst>
                <a:ext uri="{FF2B5EF4-FFF2-40B4-BE49-F238E27FC236}">
                  <a16:creationId xmlns:a16="http://schemas.microsoft.com/office/drawing/2014/main" id="{491DCDBE-FECF-4600-85A3-2F84ED2338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8438" name="Freeform 74">
              <a:extLst>
                <a:ext uri="{FF2B5EF4-FFF2-40B4-BE49-F238E27FC236}">
                  <a16:creationId xmlns:a16="http://schemas.microsoft.com/office/drawing/2014/main" id="{2F0EBC0A-134C-49F3-86C3-C3212DE8E21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6298130 w 356"/>
                <a:gd name="T3" fmla="*/ 4810829 h 368"/>
                <a:gd name="T4" fmla="*/ 43059907 w 356"/>
                <a:gd name="T5" fmla="*/ 100260457 h 368"/>
                <a:gd name="T6" fmla="*/ 9489792 w 356"/>
                <a:gd name="T7" fmla="*/ 125386632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Footer Placeholder 5">
            <a:extLst>
              <a:ext uri="{FF2B5EF4-FFF2-40B4-BE49-F238E27FC236}">
                <a16:creationId xmlns:a16="http://schemas.microsoft.com/office/drawing/2014/main" id="{8A5D8CE0-DF5A-4E17-98A5-605607A4E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89443" name="Slide Number Placeholder 6">
            <a:extLst>
              <a:ext uri="{FF2B5EF4-FFF2-40B4-BE49-F238E27FC236}">
                <a16:creationId xmlns:a16="http://schemas.microsoft.com/office/drawing/2014/main" id="{75B65B19-AF12-43D9-9B76-79A310773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46A49517-C3A9-4B61-BA94-D79B870C61C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89444" name="Picture 26" descr="underline_base">
            <a:extLst>
              <a:ext uri="{FF2B5EF4-FFF2-40B4-BE49-F238E27FC236}">
                <a16:creationId xmlns:a16="http://schemas.microsoft.com/office/drawing/2014/main" id="{88DD01E6-0377-4686-8A89-893690C20C1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50" y="1027113"/>
            <a:ext cx="4113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0597" name="Rectangle 2">
            <a:extLst>
              <a:ext uri="{FF2B5EF4-FFF2-40B4-BE49-F238E27FC236}">
                <a16:creationId xmlns:a16="http://schemas.microsoft.com/office/drawing/2014/main" id="{BD653955-CFB8-430C-9BD7-8BB0248A72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Why is TCP fair?</a:t>
            </a:r>
          </a:p>
        </p:txBody>
      </p:sp>
      <p:sp>
        <p:nvSpPr>
          <p:cNvPr id="110598" name="Rectangle 3">
            <a:extLst>
              <a:ext uri="{FF2B5EF4-FFF2-40B4-BE49-F238E27FC236}">
                <a16:creationId xmlns:a16="http://schemas.microsoft.com/office/drawing/2014/main" id="{6A00361E-92C0-4DE6-AECD-2BD41F8C7FD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09600" y="1400175"/>
            <a:ext cx="8305800" cy="46482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  <a:cs typeface="+mn-cs"/>
              </a:rPr>
              <a:t>two competing sessions: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additive increase gives slope of 1, as throughout increases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multiplicative decrease decreases throughput proportionally </a:t>
            </a:r>
          </a:p>
        </p:txBody>
      </p:sp>
      <p:sp>
        <p:nvSpPr>
          <p:cNvPr id="189447" name="Line 4">
            <a:extLst>
              <a:ext uri="{FF2B5EF4-FFF2-40B4-BE49-F238E27FC236}">
                <a16:creationId xmlns:a16="http://schemas.microsoft.com/office/drawing/2014/main" id="{A888B721-405B-4E45-91E7-63205C87BE4F}"/>
              </a:ext>
            </a:extLst>
          </p:cNvPr>
          <p:cNvSpPr>
            <a:spLocks noChangeShapeType="1"/>
          </p:cNvSpPr>
          <p:nvPr/>
        </p:nvSpPr>
        <p:spPr bwMode="auto">
          <a:xfrm>
            <a:off x="2400300" y="5848350"/>
            <a:ext cx="36385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9448" name="Line 5">
            <a:extLst>
              <a:ext uri="{FF2B5EF4-FFF2-40B4-BE49-F238E27FC236}">
                <a16:creationId xmlns:a16="http://schemas.microsoft.com/office/drawing/2014/main" id="{89D87755-46AF-46F1-B277-448464FD340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00300" y="2752725"/>
            <a:ext cx="0" cy="30861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9449" name="Line 6">
            <a:extLst>
              <a:ext uri="{FF2B5EF4-FFF2-40B4-BE49-F238E27FC236}">
                <a16:creationId xmlns:a16="http://schemas.microsoft.com/office/drawing/2014/main" id="{EA00506E-7457-4EC8-BA6D-0EDAFA1F55CA}"/>
              </a:ext>
            </a:extLst>
          </p:cNvPr>
          <p:cNvSpPr>
            <a:spLocks noChangeShapeType="1"/>
          </p:cNvSpPr>
          <p:nvPr/>
        </p:nvSpPr>
        <p:spPr bwMode="auto">
          <a:xfrm rot="-2938105" flipH="1" flipV="1">
            <a:off x="1793875" y="4487863"/>
            <a:ext cx="3560763" cy="14287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9450" name="Line 7">
            <a:extLst>
              <a:ext uri="{FF2B5EF4-FFF2-40B4-BE49-F238E27FC236}">
                <a16:creationId xmlns:a16="http://schemas.microsoft.com/office/drawing/2014/main" id="{39EEA93C-0853-40E9-AB19-618E2A5ABA15}"/>
              </a:ext>
            </a:extLst>
          </p:cNvPr>
          <p:cNvSpPr>
            <a:spLocks noChangeShapeType="1"/>
          </p:cNvSpPr>
          <p:nvPr/>
        </p:nvSpPr>
        <p:spPr bwMode="auto">
          <a:xfrm>
            <a:off x="2381250" y="3000375"/>
            <a:ext cx="2819400" cy="2809875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89451" name="Text Box 8">
            <a:extLst>
              <a:ext uri="{FF2B5EF4-FFF2-40B4-BE49-F238E27FC236}">
                <a16:creationId xmlns:a16="http://schemas.microsoft.com/office/drawing/2014/main" id="{58318AEF-1103-4DC0-BEB9-4C2AB845A0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0413" y="2828925"/>
            <a:ext cx="403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189452" name="Text Box 9">
            <a:extLst>
              <a:ext uri="{FF2B5EF4-FFF2-40B4-BE49-F238E27FC236}">
                <a16:creationId xmlns:a16="http://schemas.microsoft.com/office/drawing/2014/main" id="{8BBF3346-A3C5-45E5-B92C-4C0D10184E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83163" y="5876925"/>
            <a:ext cx="403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189453" name="Text Box 10">
            <a:extLst>
              <a:ext uri="{FF2B5EF4-FFF2-40B4-BE49-F238E27FC236}">
                <a16:creationId xmlns:a16="http://schemas.microsoft.com/office/drawing/2014/main" id="{E8F0414F-BD9E-43DC-AEDC-A05F17F51D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9138" y="2819400"/>
            <a:ext cx="35464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equal bandwidth share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189454" name="Text Box 11">
            <a:extLst>
              <a:ext uri="{FF2B5EF4-FFF2-40B4-BE49-F238E27FC236}">
                <a16:creationId xmlns:a16="http://schemas.microsoft.com/office/drawing/2014/main" id="{3ED1B9DB-7247-45E8-9708-A032BC35BE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9913" y="5857875"/>
            <a:ext cx="35464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Connection 1 throughput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189455" name="Text Box 12">
            <a:extLst>
              <a:ext uri="{FF2B5EF4-FFF2-40B4-BE49-F238E27FC236}">
                <a16:creationId xmlns:a16="http://schemas.microsoft.com/office/drawing/2014/main" id="{684BF0A0-8773-4757-86C3-BEAA8F9F13E5}"/>
              </a:ext>
            </a:extLst>
          </p:cNvPr>
          <p:cNvSpPr txBox="1">
            <a:spLocks noChangeArrowheads="1"/>
          </p:cNvSpPr>
          <p:nvPr/>
        </p:nvSpPr>
        <p:spPr bwMode="auto">
          <a:xfrm rot="-5396642">
            <a:off x="424656" y="4396582"/>
            <a:ext cx="35464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Connection 2 throughput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215053" name="Line 13">
            <a:extLst>
              <a:ext uri="{FF2B5EF4-FFF2-40B4-BE49-F238E27FC236}">
                <a16:creationId xmlns:a16="http://schemas.microsoft.com/office/drawing/2014/main" id="{0CE57089-D35D-4F5B-B8C7-F74F1B809A92}"/>
              </a:ext>
            </a:extLst>
          </p:cNvPr>
          <p:cNvSpPr>
            <a:spLocks noChangeShapeType="1"/>
          </p:cNvSpPr>
          <p:nvPr/>
        </p:nvSpPr>
        <p:spPr bwMode="auto">
          <a:xfrm rot="-2938105" flipH="1" flipV="1">
            <a:off x="3503612" y="5105401"/>
            <a:ext cx="1293813" cy="4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5054" name="Text Box 14">
            <a:extLst>
              <a:ext uri="{FF2B5EF4-FFF2-40B4-BE49-F238E27FC236}">
                <a16:creationId xmlns:a16="http://schemas.microsoft.com/office/drawing/2014/main" id="{CFC96A18-4C1F-4F95-81CF-F7B73ADCB1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3538" y="4676775"/>
            <a:ext cx="45370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congestion avoidance: additive increase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215055" name="Line 15">
            <a:extLst>
              <a:ext uri="{FF2B5EF4-FFF2-40B4-BE49-F238E27FC236}">
                <a16:creationId xmlns:a16="http://schemas.microsoft.com/office/drawing/2014/main" id="{14A2AFE9-B9D3-46E5-9B6B-2275238F8B9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90900" y="4638675"/>
            <a:ext cx="1171575" cy="63182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5056" name="Text Box 16">
            <a:extLst>
              <a:ext uri="{FF2B5EF4-FFF2-40B4-BE49-F238E27FC236}">
                <a16:creationId xmlns:a16="http://schemas.microsoft.com/office/drawing/2014/main" id="{F94E165B-54EA-4699-A982-256DF209B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5350" y="4432300"/>
            <a:ext cx="3460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loss: decrease window by factor of 2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215057" name="Line 17">
            <a:extLst>
              <a:ext uri="{FF2B5EF4-FFF2-40B4-BE49-F238E27FC236}">
                <a16:creationId xmlns:a16="http://schemas.microsoft.com/office/drawing/2014/main" id="{7C7E5870-EF21-4169-979E-4BA17FC87D52}"/>
              </a:ext>
            </a:extLst>
          </p:cNvPr>
          <p:cNvSpPr>
            <a:spLocks noChangeShapeType="1"/>
          </p:cNvSpPr>
          <p:nvPr/>
        </p:nvSpPr>
        <p:spPr bwMode="auto">
          <a:xfrm rot="-2938105" flipH="1" flipV="1">
            <a:off x="3182938" y="4778375"/>
            <a:ext cx="1303337" cy="23813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5058" name="Text Box 18">
            <a:extLst>
              <a:ext uri="{FF2B5EF4-FFF2-40B4-BE49-F238E27FC236}">
                <a16:creationId xmlns:a16="http://schemas.microsoft.com/office/drawing/2014/main" id="{C8A3E95F-AF7E-459C-8436-E38B5F4F48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7788" y="4191000"/>
            <a:ext cx="45370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congestion avoidance: additive increase</a:t>
            </a:r>
            <a:endParaRPr lang="en-US" altLang="zh-TW" sz="1000">
              <a:latin typeface="Arial" panose="020B0604020202020204" pitchFamily="34" charset="0"/>
            </a:endParaRPr>
          </a:p>
        </p:txBody>
      </p:sp>
      <p:sp>
        <p:nvSpPr>
          <p:cNvPr id="215059" name="Line 19">
            <a:extLst>
              <a:ext uri="{FF2B5EF4-FFF2-40B4-BE49-F238E27FC236}">
                <a16:creationId xmlns:a16="http://schemas.microsoft.com/office/drawing/2014/main" id="{3753E1D8-6538-4659-9007-FE063257710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48025" y="4352925"/>
            <a:ext cx="981075" cy="7651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5060" name="Text Box 20">
            <a:extLst>
              <a:ext uri="{FF2B5EF4-FFF2-40B4-BE49-F238E27FC236}">
                <a16:creationId xmlns:a16="http://schemas.microsoft.com/office/drawing/2014/main" id="{D69243A2-4A15-44A7-AB9B-DB6BA3AC12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5300" y="3984625"/>
            <a:ext cx="3460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latin typeface="Arial" panose="020B0604020202020204" pitchFamily="34" charset="0"/>
              </a:rPr>
              <a:t>loss: decrease window by factor of 2</a:t>
            </a:r>
            <a:endParaRPr lang="en-US" altLang="zh-TW" sz="1000" dirty="0">
              <a:latin typeface="Arial" panose="020B0604020202020204" pitchFamily="34" charset="0"/>
            </a:endParaRPr>
          </a:p>
        </p:txBody>
      </p:sp>
      <p:sp>
        <p:nvSpPr>
          <p:cNvPr id="215061" name="Line 21">
            <a:extLst>
              <a:ext uri="{FF2B5EF4-FFF2-40B4-BE49-F238E27FC236}">
                <a16:creationId xmlns:a16="http://schemas.microsoft.com/office/drawing/2014/main" id="{73E79490-C17C-4E67-9024-4576C8040C85}"/>
              </a:ext>
            </a:extLst>
          </p:cNvPr>
          <p:cNvSpPr>
            <a:spLocks noChangeShapeType="1"/>
          </p:cNvSpPr>
          <p:nvPr/>
        </p:nvSpPr>
        <p:spPr bwMode="auto">
          <a:xfrm rot="-2938105" flipH="1" flipV="1">
            <a:off x="3039269" y="4631532"/>
            <a:ext cx="1279525" cy="14287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5062" name="Line 22">
            <a:extLst>
              <a:ext uri="{FF2B5EF4-FFF2-40B4-BE49-F238E27FC236}">
                <a16:creationId xmlns:a16="http://schemas.microsoft.com/office/drawing/2014/main" id="{033FCA30-F00E-4486-9412-F972D968E86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81350" y="4171950"/>
            <a:ext cx="911225" cy="8890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5063" name="Line 23">
            <a:extLst>
              <a:ext uri="{FF2B5EF4-FFF2-40B4-BE49-F238E27FC236}">
                <a16:creationId xmlns:a16="http://schemas.microsoft.com/office/drawing/2014/main" id="{00BF3BA8-3BD3-468D-912E-FF2A8477B20B}"/>
              </a:ext>
            </a:extLst>
          </p:cNvPr>
          <p:cNvSpPr>
            <a:spLocks noChangeShapeType="1"/>
          </p:cNvSpPr>
          <p:nvPr/>
        </p:nvSpPr>
        <p:spPr bwMode="auto">
          <a:xfrm rot="-2938105" flipH="1" flipV="1">
            <a:off x="2959894" y="4568032"/>
            <a:ext cx="1279525" cy="14287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5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1505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5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215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1505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5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15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1505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5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5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1506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215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 nodeType="clickPar">
                      <p:stCondLst>
                        <p:cond delay="indefinite"/>
                      </p:stCondLst>
                      <p:childTnLst>
                        <p:par>
                          <p:cTn id="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15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15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54" grpId="0" autoUpdateAnimBg="0"/>
      <p:bldP spid="215056" grpId="0" autoUpdateAnimBg="0"/>
      <p:bldP spid="215058" grpId="0" autoUpdateAnimBg="0"/>
      <p:bldP spid="215060" grpId="0" autoUpdateAnimBg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Footer Placeholder 5">
            <a:extLst>
              <a:ext uri="{FF2B5EF4-FFF2-40B4-BE49-F238E27FC236}">
                <a16:creationId xmlns:a16="http://schemas.microsoft.com/office/drawing/2014/main" id="{CE9E2F44-060D-4A3E-A96A-939654190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90467" name="Slide Number Placeholder 6">
            <a:extLst>
              <a:ext uri="{FF2B5EF4-FFF2-40B4-BE49-F238E27FC236}">
                <a16:creationId xmlns:a16="http://schemas.microsoft.com/office/drawing/2014/main" id="{98CF5651-7C71-4360-89B2-4F46E2E9A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D2F5B764-8B2D-4906-BD28-6B59A22AC33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90468" name="Picture 5" descr="underline_base">
            <a:extLst>
              <a:ext uri="{FF2B5EF4-FFF2-40B4-BE49-F238E27FC236}">
                <a16:creationId xmlns:a16="http://schemas.microsoft.com/office/drawing/2014/main" id="{ADCFA320-F5BE-4F8D-85F8-92FB094F7FE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63" y="822325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1621" name="Rectangle 2">
            <a:extLst>
              <a:ext uri="{FF2B5EF4-FFF2-40B4-BE49-F238E27FC236}">
                <a16:creationId xmlns:a16="http://schemas.microsoft.com/office/drawing/2014/main" id="{B0DB3CB1-D981-4B1B-93C0-A323F2F7F2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Fairness (more)</a:t>
            </a:r>
          </a:p>
        </p:txBody>
      </p:sp>
      <p:sp>
        <p:nvSpPr>
          <p:cNvPr id="190470" name="Rectangle 3">
            <a:extLst>
              <a:ext uri="{FF2B5EF4-FFF2-40B4-BE49-F238E27FC236}">
                <a16:creationId xmlns:a16="http://schemas.microsoft.com/office/drawing/2014/main" id="{DAB61A25-33FD-4E9E-8D6B-EC951DA3A65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69900" y="1219200"/>
            <a:ext cx="3810000" cy="4648200"/>
          </a:xfrm>
        </p:spPr>
        <p:txBody>
          <a:bodyPr/>
          <a:lstStyle/>
          <a:p>
            <a:r>
              <a:rPr lang="en-US" altLang="zh-TW" dirty="0">
                <a:solidFill>
                  <a:srgbClr val="0070C0"/>
                </a:solidFill>
              </a:rPr>
              <a:t>multimedia apps often do not use TCP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</a:rPr>
              <a:t>do not want rate throttled by congestion control</a:t>
            </a:r>
          </a:p>
          <a:p>
            <a:r>
              <a:rPr lang="en-US" altLang="zh-TW" dirty="0">
                <a:solidFill>
                  <a:srgbClr val="0070C0"/>
                </a:solidFill>
              </a:rPr>
              <a:t>instead use UDP:</a:t>
            </a:r>
          </a:p>
          <a:p>
            <a:pPr lvl="1"/>
            <a:r>
              <a:rPr lang="en-US" altLang="zh-TW" dirty="0"/>
              <a:t>send audio/video at constant rate, tolerate packet loss</a:t>
            </a:r>
          </a:p>
          <a:p>
            <a:endParaRPr lang="en-US" altLang="zh-TW" dirty="0"/>
          </a:p>
        </p:txBody>
      </p:sp>
      <p:sp>
        <p:nvSpPr>
          <p:cNvPr id="190471" name="Rectangle 4">
            <a:extLst>
              <a:ext uri="{FF2B5EF4-FFF2-40B4-BE49-F238E27FC236}">
                <a16:creationId xmlns:a16="http://schemas.microsoft.com/office/drawing/2014/main" id="{4CB98725-720A-432C-AD8E-F0EC9B663C5E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398963" y="1206500"/>
            <a:ext cx="4578350" cy="4648200"/>
          </a:xfrm>
        </p:spPr>
        <p:txBody>
          <a:bodyPr/>
          <a:lstStyle/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000099"/>
                </a:solidFill>
              </a:rPr>
              <a:t>Fairness of parallel TCP connections</a:t>
            </a:r>
          </a:p>
          <a:p>
            <a:pPr>
              <a:lnSpc>
                <a:spcPct val="90000"/>
              </a:lnSpc>
            </a:pPr>
            <a:r>
              <a:rPr lang="en-US" altLang="zh-TW" dirty="0">
                <a:solidFill>
                  <a:srgbClr val="0070C0"/>
                </a:solidFill>
              </a:rPr>
              <a:t>application can open multiple parallel connections</a:t>
            </a:r>
            <a:r>
              <a:rPr lang="en-US" altLang="zh-TW" dirty="0"/>
              <a:t> between two hosts</a:t>
            </a:r>
          </a:p>
          <a:p>
            <a:pPr>
              <a:lnSpc>
                <a:spcPct val="90000"/>
              </a:lnSpc>
            </a:pPr>
            <a:r>
              <a:rPr lang="en-US" altLang="zh-TW" dirty="0"/>
              <a:t>web browsers do this </a:t>
            </a:r>
          </a:p>
          <a:p>
            <a:pPr>
              <a:lnSpc>
                <a:spcPct val="90000"/>
              </a:lnSpc>
            </a:pPr>
            <a:r>
              <a:rPr lang="en-US" altLang="zh-TW" dirty="0"/>
              <a:t>e.g., link of rate R with 9 existing connections:</a:t>
            </a:r>
          </a:p>
          <a:p>
            <a:pPr lvl="1">
              <a:lnSpc>
                <a:spcPct val="90000"/>
              </a:lnSpc>
            </a:pPr>
            <a:r>
              <a:rPr lang="en-US" altLang="zh-TW" sz="2000" dirty="0"/>
              <a:t>new app asks for 1 TCP, gets rate R/10</a:t>
            </a:r>
          </a:p>
          <a:p>
            <a:pPr lvl="1">
              <a:lnSpc>
                <a:spcPct val="90000"/>
              </a:lnSpc>
            </a:pPr>
            <a:r>
              <a:rPr lang="en-US" altLang="zh-TW" sz="2000" dirty="0"/>
              <a:t>new app asks for 11 TCPs, gets &gt; R/2 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Footer Placeholder 5">
            <a:extLst>
              <a:ext uri="{FF2B5EF4-FFF2-40B4-BE49-F238E27FC236}">
                <a16:creationId xmlns:a16="http://schemas.microsoft.com/office/drawing/2014/main" id="{09C0541B-C185-4AA4-A926-0B67E3402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Transport</a:t>
            </a:r>
            <a:r>
              <a:rPr lang="en-US" altLang="zh-TW" sz="1400">
                <a:latin typeface="Tahoma" panose="020B0604030504040204" pitchFamily="34" charset="0"/>
              </a:rPr>
              <a:t> </a:t>
            </a:r>
            <a:r>
              <a:rPr lang="en-US" altLang="zh-TW" sz="1200">
                <a:latin typeface="Tahoma" panose="020B0604030504040204" pitchFamily="34" charset="0"/>
              </a:rPr>
              <a:t>Layer</a:t>
            </a:r>
          </a:p>
        </p:txBody>
      </p:sp>
      <p:sp>
        <p:nvSpPr>
          <p:cNvPr id="192515" name="Slide Number Placeholder 6">
            <a:extLst>
              <a:ext uri="{FF2B5EF4-FFF2-40B4-BE49-F238E27FC236}">
                <a16:creationId xmlns:a16="http://schemas.microsoft.com/office/drawing/2014/main" id="{681CA1DE-76C6-46E1-8F4E-405C42502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3-</a:t>
            </a:r>
            <a:fld id="{44333B4A-8509-4740-9ECB-F29A28FD937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92516" name="Picture 6" descr="underline_base">
            <a:extLst>
              <a:ext uri="{FF2B5EF4-FFF2-40B4-BE49-F238E27FC236}">
                <a16:creationId xmlns:a16="http://schemas.microsoft.com/office/drawing/2014/main" id="{A52820C3-6FA7-4764-BFF8-BB121258EB41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938" y="904875"/>
            <a:ext cx="5027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45" name="Rectangle 2">
            <a:extLst>
              <a:ext uri="{FF2B5EF4-FFF2-40B4-BE49-F238E27FC236}">
                <a16:creationId xmlns:a16="http://schemas.microsoft.com/office/drawing/2014/main" id="{545B209A-F6B1-4C12-9709-05F3962981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3063" y="188913"/>
            <a:ext cx="7772400" cy="98107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3: summary</a:t>
            </a:r>
          </a:p>
        </p:txBody>
      </p:sp>
      <p:sp>
        <p:nvSpPr>
          <p:cNvPr id="112646" name="Rectangle 3">
            <a:extLst>
              <a:ext uri="{FF2B5EF4-FFF2-40B4-BE49-F238E27FC236}">
                <a16:creationId xmlns:a16="http://schemas.microsoft.com/office/drawing/2014/main" id="{38E93986-D8F3-4412-9267-86910B3235D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33413" y="1360488"/>
            <a:ext cx="4398962" cy="395287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principles behind transport layer services: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>
                <a:ea typeface="ＭＳ Ｐゴシック" charset="0"/>
              </a:rPr>
              <a:t>multiplexing, demultiplexing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>
                <a:ea typeface="ＭＳ Ｐゴシック" charset="0"/>
              </a:rPr>
              <a:t>reliable data transfer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>
                <a:ea typeface="ＭＳ Ｐゴシック" charset="0"/>
              </a:rPr>
              <a:t>flow control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>
                <a:ea typeface="ＭＳ Ｐゴシック" charset="0"/>
              </a:rPr>
              <a:t>congestion control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ea typeface="ＭＳ Ｐゴシック" charset="0"/>
                <a:cs typeface="+mn-cs"/>
              </a:rPr>
              <a:t>instantiation, implementation in the Internet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UDP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TCP</a:t>
            </a:r>
          </a:p>
        </p:txBody>
      </p:sp>
      <p:sp>
        <p:nvSpPr>
          <p:cNvPr id="192519" name="Rectangle 4">
            <a:extLst>
              <a:ext uri="{FF2B5EF4-FFF2-40B4-BE49-F238E27FC236}">
                <a16:creationId xmlns:a16="http://schemas.microsoft.com/office/drawing/2014/main" id="{024912F4-BCA0-4F5F-91B7-71A6C2D5E98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495925" y="2389188"/>
            <a:ext cx="3333750" cy="24574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u="sng">
                <a:solidFill>
                  <a:srgbClr val="CC0000"/>
                </a:solidFill>
              </a:rPr>
              <a:t>next:</a:t>
            </a:r>
            <a:endParaRPr lang="en-US" altLang="zh-TW">
              <a:solidFill>
                <a:srgbClr val="CC0000"/>
              </a:solidFill>
            </a:endParaRPr>
          </a:p>
          <a:p>
            <a:r>
              <a:rPr lang="en-US" altLang="zh-TW"/>
              <a:t>leaving the network </a:t>
            </a:r>
            <a:r>
              <a:rPr lang="ja-JP" altLang="en-US"/>
              <a:t>“</a:t>
            </a:r>
            <a:r>
              <a:rPr lang="en-US" altLang="ja-JP"/>
              <a:t>edge</a:t>
            </a:r>
            <a:r>
              <a:rPr lang="ja-JP" altLang="en-US"/>
              <a:t>”</a:t>
            </a:r>
            <a:r>
              <a:rPr lang="en-US" altLang="ja-JP"/>
              <a:t> (application, transport layers)</a:t>
            </a:r>
          </a:p>
          <a:p>
            <a:r>
              <a:rPr lang="en-US" altLang="zh-TW"/>
              <a:t>into the network </a:t>
            </a:r>
            <a:r>
              <a:rPr lang="ja-JP" altLang="en-US"/>
              <a:t>“</a:t>
            </a:r>
            <a:r>
              <a:rPr lang="en-US" altLang="ja-JP"/>
              <a:t>core</a:t>
            </a:r>
            <a:r>
              <a:rPr lang="ja-JP" altLang="en-US"/>
              <a:t>”</a:t>
            </a:r>
            <a:endParaRPr lang="en-US" altLang="ja-JP"/>
          </a:p>
          <a:p>
            <a:endParaRPr lang="en-US" alt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7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>
          <a:noFill/>
        </a:ln>
        <a:extLs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wrap="none" anchor="ctr"/>
      <a:lstStyle>
        <a:defPPr algn="ctr">
          <a:lnSpc>
            <a:spcPct val="100000"/>
          </a:lnSpc>
          <a:spcBef>
            <a:spcPct val="0"/>
          </a:spcBef>
          <a:buClrTx/>
          <a:buSzTx/>
          <a:buFontTx/>
          <a:buNone/>
          <a:defRPr sz="1600">
            <a:solidFill>
              <a:srgbClr val="000000"/>
            </a:solidFill>
            <a:latin typeface="Tahoma" panose="020B060403050404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6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26868</TotalTime>
  <Words>9504</Words>
  <Application>Microsoft Office PowerPoint</Application>
  <PresentationFormat>如螢幕大小 (4:3)</PresentationFormat>
  <Paragraphs>2186</Paragraphs>
  <Slides>118</Slides>
  <Notes>110</Notes>
  <HiddenSlides>0</HiddenSlides>
  <MMClips>0</MMClips>
  <ScaleCrop>false</ScaleCrop>
  <HeadingPairs>
    <vt:vector size="8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3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118</vt:i4>
      </vt:variant>
    </vt:vector>
  </HeadingPairs>
  <TitlesOfParts>
    <vt:vector size="134" baseType="lpstr">
      <vt:lpstr>ＭＳ Ｐゴシック</vt:lpstr>
      <vt:lpstr>新細明體</vt:lpstr>
      <vt:lpstr>Arial</vt:lpstr>
      <vt:lpstr>Arial Narrow</vt:lpstr>
      <vt:lpstr>Comic Sans MS</vt:lpstr>
      <vt:lpstr>Courier New</vt:lpstr>
      <vt:lpstr>Gill Sans MT</vt:lpstr>
      <vt:lpstr>Symbol</vt:lpstr>
      <vt:lpstr>Tahoma</vt:lpstr>
      <vt:lpstr>Times New Roman</vt:lpstr>
      <vt:lpstr>Wingdings</vt:lpstr>
      <vt:lpstr>Wingdings 3</vt:lpstr>
      <vt:lpstr>Default Design</vt:lpstr>
      <vt:lpstr>7_Default Design</vt:lpstr>
      <vt:lpstr>6_Default Design</vt:lpstr>
      <vt:lpstr>Picture</vt:lpstr>
      <vt:lpstr>PowerPoint 簡報</vt:lpstr>
      <vt:lpstr>Chapter 3: Transport Layer</vt:lpstr>
      <vt:lpstr>Chapter 3 outline</vt:lpstr>
      <vt:lpstr>Transport services and protocols</vt:lpstr>
      <vt:lpstr>“Packet” at different layers</vt:lpstr>
      <vt:lpstr>Transport vs. network layer</vt:lpstr>
      <vt:lpstr>Internet transport-layer protocols</vt:lpstr>
      <vt:lpstr>Chapter 3 outline</vt:lpstr>
      <vt:lpstr>Multiplexing/demultiplexing</vt:lpstr>
      <vt:lpstr>How demultiplexing works</vt:lpstr>
      <vt:lpstr>UDP Connectionless demultiplexing</vt:lpstr>
      <vt:lpstr>Connectionless demux: example</vt:lpstr>
      <vt:lpstr>TCP Connection-oriented demux</vt:lpstr>
      <vt:lpstr>Connection-oriented demux: example</vt:lpstr>
      <vt:lpstr>Connection-oriented demux: example</vt:lpstr>
      <vt:lpstr>Chapter 3 outline</vt:lpstr>
      <vt:lpstr>UDP: User Datagram Protocol [RFC 768]</vt:lpstr>
      <vt:lpstr>UDP: segment header</vt:lpstr>
      <vt:lpstr>UDP checksum</vt:lpstr>
      <vt:lpstr>Internet checksum: example</vt:lpstr>
      <vt:lpstr>Chapter 3 outline</vt:lpstr>
      <vt:lpstr>Principles of reliable data transfer</vt:lpstr>
      <vt:lpstr>Principles of reliable data transfer</vt:lpstr>
      <vt:lpstr>Principles of reliable data transfer</vt:lpstr>
      <vt:lpstr>Reliable data transfer: getting started</vt:lpstr>
      <vt:lpstr>Reliable data transfer: getting started</vt:lpstr>
      <vt:lpstr>Reliable data transfer: getting started</vt:lpstr>
      <vt:lpstr>rdt1.0: reliable transfer over a reliable channel</vt:lpstr>
      <vt:lpstr>rdt2.0: channel with bit errors</vt:lpstr>
      <vt:lpstr>rdt2.0: channel with bit errors</vt:lpstr>
      <vt:lpstr>rdt2.0: FSM specification</vt:lpstr>
      <vt:lpstr>rdt2.0: operation with no errors</vt:lpstr>
      <vt:lpstr>rdt2.0: error scenario</vt:lpstr>
      <vt:lpstr>rdt2.0 has a fatal flaw!</vt:lpstr>
      <vt:lpstr>rdt2.1: sender, handles garbled ACK/NAKs</vt:lpstr>
      <vt:lpstr>rdt2.1: receiver, handles garbled ACK/NAKs</vt:lpstr>
      <vt:lpstr>rdt2.1: discussion</vt:lpstr>
      <vt:lpstr>rdt2.2: a NAK-free protocol</vt:lpstr>
      <vt:lpstr>rdt2.2: sender, receiver fragments</vt:lpstr>
      <vt:lpstr>rdt3.0: channels with errors and loss</vt:lpstr>
      <vt:lpstr>rdt3.0 sender</vt:lpstr>
      <vt:lpstr>rdt 3.0 (Summary)</vt:lpstr>
      <vt:lpstr>rdt3.0 in action</vt:lpstr>
      <vt:lpstr>rdt3.0 in action</vt:lpstr>
      <vt:lpstr>Performance of rdt3.0</vt:lpstr>
      <vt:lpstr>rdt3.0: stop-and-wait operation</vt:lpstr>
      <vt:lpstr>Pipelined protocols</vt:lpstr>
      <vt:lpstr>Pipelining: increased utilization</vt:lpstr>
      <vt:lpstr>Pipelined Protocols</vt:lpstr>
      <vt:lpstr>Pipelined protocols: overview</vt:lpstr>
      <vt:lpstr>Go-Back-N: sender</vt:lpstr>
      <vt:lpstr>GBN: sender extended FSM</vt:lpstr>
      <vt:lpstr>GBN: receiver extended FSM</vt:lpstr>
      <vt:lpstr>GBN: receiver extended FSM (cont’d)</vt:lpstr>
      <vt:lpstr>GBN in action</vt:lpstr>
      <vt:lpstr>Selective repeat</vt:lpstr>
      <vt:lpstr>Selective repeat: sender, receiver windows</vt:lpstr>
      <vt:lpstr>Selective repeat</vt:lpstr>
      <vt:lpstr>Selective repeat in action</vt:lpstr>
      <vt:lpstr>Chapter 3 outline</vt:lpstr>
      <vt:lpstr>TCP: Overview  RFCs: 793,1122,1323, 2018, 2581</vt:lpstr>
      <vt:lpstr>TCP segment structure</vt:lpstr>
      <vt:lpstr>TCP seq. numbers</vt:lpstr>
      <vt:lpstr>TCP ACKs</vt:lpstr>
      <vt:lpstr>TCP seq. numbers</vt:lpstr>
      <vt:lpstr>TCP seq. numbers, ACKs</vt:lpstr>
      <vt:lpstr>TCP seq. numbers, ACKs</vt:lpstr>
      <vt:lpstr>TCP round trip time, timeout</vt:lpstr>
      <vt:lpstr>TCP round trip time, timeout</vt:lpstr>
      <vt:lpstr>TCP round trip time, timeout</vt:lpstr>
      <vt:lpstr>Chapter 3 outline</vt:lpstr>
      <vt:lpstr>TCP reliable data transfer</vt:lpstr>
      <vt:lpstr>TCP sender (simplified)</vt:lpstr>
      <vt:lpstr>TCP sender events:</vt:lpstr>
      <vt:lpstr>TCP sender events:</vt:lpstr>
      <vt:lpstr>TCP: retransmission scenarios</vt:lpstr>
      <vt:lpstr>TCP: retransmission scenarios</vt:lpstr>
      <vt:lpstr>TCP fast retransmit</vt:lpstr>
      <vt:lpstr>TCP fast retransmit</vt:lpstr>
      <vt:lpstr>Chapter 3 outline</vt:lpstr>
      <vt:lpstr>TCP flow control</vt:lpstr>
      <vt:lpstr>TCP flow control</vt:lpstr>
      <vt:lpstr>Chapter 3 outline</vt:lpstr>
      <vt:lpstr>Connection Management</vt:lpstr>
      <vt:lpstr>TCP 3-way handshake</vt:lpstr>
      <vt:lpstr>TCP 3-way handshake: FSM</vt:lpstr>
      <vt:lpstr>TCP: closing a connection</vt:lpstr>
      <vt:lpstr>TCP: closing a connection (cont’d)</vt:lpstr>
      <vt:lpstr>Chapter 3 outline</vt:lpstr>
      <vt:lpstr>Principles of congestion control</vt:lpstr>
      <vt:lpstr>Causes/costs of congestion: scenario 1 </vt:lpstr>
      <vt:lpstr>Causes/costs of congestion: scenario 2 </vt:lpstr>
      <vt:lpstr>Causes/costs of congestion: scenario 2a </vt:lpstr>
      <vt:lpstr>Causes/costs of congestion: scenario 2b </vt:lpstr>
      <vt:lpstr>Causes/costs of congestion: scenario 2b </vt:lpstr>
      <vt:lpstr>Causes/costs of congestion: scenario 2c </vt:lpstr>
      <vt:lpstr>Causes/costs of congestion: scenario 2c </vt:lpstr>
      <vt:lpstr>Causes/costs of congestion: scenario 3 </vt:lpstr>
      <vt:lpstr>Causes/costs of congestion: scenario 3 </vt:lpstr>
      <vt:lpstr>Approaches towards congestion control</vt:lpstr>
      <vt:lpstr>Chapter 3 outline</vt:lpstr>
      <vt:lpstr>TCP congestion control: additive increase multiplicative decrease (AIMD)</vt:lpstr>
      <vt:lpstr>TCP Congestion Control: details</vt:lpstr>
      <vt:lpstr>TCP Congestion Control: details</vt:lpstr>
      <vt:lpstr>TCP Tahoe (Summary)</vt:lpstr>
      <vt:lpstr>Phase 1: Slow Start</vt:lpstr>
      <vt:lpstr>Phase 1: Slow Start</vt:lpstr>
      <vt:lpstr>Phase 2: Congestion Avoidance</vt:lpstr>
      <vt:lpstr>Transitions between SS and CA</vt:lpstr>
      <vt:lpstr>TCP Reno</vt:lpstr>
      <vt:lpstr>TCP Reno: Fast Recovery (FR)</vt:lpstr>
      <vt:lpstr>Summary: TCP Congestion Control</vt:lpstr>
      <vt:lpstr>Network-assisted Congestion Control</vt:lpstr>
      <vt:lpstr>TCP throughput</vt:lpstr>
      <vt:lpstr>TCP Fairness</vt:lpstr>
      <vt:lpstr>Why is TCP fair?</vt:lpstr>
      <vt:lpstr>Fairness (more)</vt:lpstr>
      <vt:lpstr>Chapter 3: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3rd Edition: Chapter 3</dc:title>
  <dc:creator>Jim Kurose &amp; Keith Ross</dc:creator>
  <cp:lastModifiedBy>Prof. CHEUNG Man Hon Michael</cp:lastModifiedBy>
  <cp:revision>582</cp:revision>
  <cp:lastPrinted>2018-02-09T10:25:28Z</cp:lastPrinted>
  <dcterms:created xsi:type="dcterms:W3CDTF">1999-10-08T19:08:27Z</dcterms:created>
  <dcterms:modified xsi:type="dcterms:W3CDTF">2025-10-25T03:09:25Z</dcterms:modified>
</cp:coreProperties>
</file>